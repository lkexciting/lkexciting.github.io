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515" r:id="rId1"/>
  </p:sldMasterIdLst>
  <p:notesMasterIdLst>
    <p:notesMasterId r:id="rId86"/>
  </p:notesMasterIdLst>
  <p:handoutMasterIdLst>
    <p:handoutMasterId r:id="rId87"/>
  </p:handoutMasterIdLst>
  <p:sldIdLst>
    <p:sldId id="336" r:id="rId2"/>
    <p:sldId id="1491" r:id="rId3"/>
    <p:sldId id="822" r:id="rId4"/>
    <p:sldId id="1135" r:id="rId5"/>
    <p:sldId id="1253" r:id="rId6"/>
    <p:sldId id="1254" r:id="rId7"/>
    <p:sldId id="1136" r:id="rId8"/>
    <p:sldId id="1473" r:id="rId9"/>
    <p:sldId id="1483" r:id="rId10"/>
    <p:sldId id="1039" r:id="rId11"/>
    <p:sldId id="1255" r:id="rId12"/>
    <p:sldId id="1350" r:id="rId13"/>
    <p:sldId id="1257" r:id="rId14"/>
    <p:sldId id="1351" r:id="rId15"/>
    <p:sldId id="1352" r:id="rId16"/>
    <p:sldId id="1353" r:id="rId17"/>
    <p:sldId id="1372" r:id="rId18"/>
    <p:sldId id="1477" r:id="rId19"/>
    <p:sldId id="1354" r:id="rId20"/>
    <p:sldId id="1355" r:id="rId21"/>
    <p:sldId id="1264" r:id="rId22"/>
    <p:sldId id="1357" r:id="rId23"/>
    <p:sldId id="1358" r:id="rId24"/>
    <p:sldId id="1484" r:id="rId25"/>
    <p:sldId id="1377" r:id="rId26"/>
    <p:sldId id="1378" r:id="rId27"/>
    <p:sldId id="1379" r:id="rId28"/>
    <p:sldId id="1380" r:id="rId29"/>
    <p:sldId id="1381" r:id="rId30"/>
    <p:sldId id="1382" r:id="rId31"/>
    <p:sldId id="1383" r:id="rId32"/>
    <p:sldId id="1384" r:id="rId33"/>
    <p:sldId id="1385" r:id="rId34"/>
    <p:sldId id="1488" r:id="rId35"/>
    <p:sldId id="1478" r:id="rId36"/>
    <p:sldId id="1387" r:id="rId37"/>
    <p:sldId id="1388" r:id="rId38"/>
    <p:sldId id="1485" r:id="rId39"/>
    <p:sldId id="1459" r:id="rId40"/>
    <p:sldId id="1460" r:id="rId41"/>
    <p:sldId id="1461" r:id="rId42"/>
    <p:sldId id="1462" r:id="rId43"/>
    <p:sldId id="1492" r:id="rId44"/>
    <p:sldId id="1486" r:id="rId45"/>
    <p:sldId id="1392" r:id="rId46"/>
    <p:sldId id="1394" r:id="rId47"/>
    <p:sldId id="1493" r:id="rId48"/>
    <p:sldId id="1495" r:id="rId49"/>
    <p:sldId id="1496" r:id="rId50"/>
    <p:sldId id="1398" r:id="rId51"/>
    <p:sldId id="1497" r:id="rId52"/>
    <p:sldId id="1401" r:id="rId53"/>
    <p:sldId id="1487" r:id="rId54"/>
    <p:sldId id="1435" r:id="rId55"/>
    <p:sldId id="1447" r:id="rId56"/>
    <p:sldId id="1437" r:id="rId57"/>
    <p:sldId id="1448" r:id="rId58"/>
    <p:sldId id="1450" r:id="rId59"/>
    <p:sldId id="1454" r:id="rId60"/>
    <p:sldId id="1498" r:id="rId61"/>
    <p:sldId id="1482" r:id="rId62"/>
    <p:sldId id="1402" r:id="rId63"/>
    <p:sldId id="1434" r:id="rId64"/>
    <p:sldId id="1405" r:id="rId65"/>
    <p:sldId id="1406" r:id="rId66"/>
    <p:sldId id="1407" r:id="rId67"/>
    <p:sldId id="1408" r:id="rId68"/>
    <p:sldId id="1409" r:id="rId69"/>
    <p:sldId id="1433" r:id="rId70"/>
    <p:sldId id="1489" r:id="rId71"/>
    <p:sldId id="1490" r:id="rId72"/>
    <p:sldId id="1421" r:id="rId73"/>
    <p:sldId id="1422" r:id="rId74"/>
    <p:sldId id="1423" r:id="rId75"/>
    <p:sldId id="1424" r:id="rId76"/>
    <p:sldId id="1425" r:id="rId77"/>
    <p:sldId id="1426" r:id="rId78"/>
    <p:sldId id="1464" r:id="rId79"/>
    <p:sldId id="1465" r:id="rId80"/>
    <p:sldId id="1429" r:id="rId81"/>
    <p:sldId id="1467" r:id="rId82"/>
    <p:sldId id="1470" r:id="rId83"/>
    <p:sldId id="1472" r:id="rId84"/>
    <p:sldId id="1471" r:id="rId85"/>
  </p:sldIdLst>
  <p:sldSz cx="9144000" cy="6858000" type="screen4x3"/>
  <p:notesSz cx="6858000" cy="9144000"/>
  <p:custDataLst>
    <p:tags r:id="rId88"/>
  </p:custDataLst>
  <p:defaultTextStyle>
    <a:defPPr>
      <a:defRPr lang="en-US"/>
    </a:defPPr>
    <a:lvl1pPr algn="l" rtl="0" fontAlgn="base">
      <a:spcBef>
        <a:spcPct val="0"/>
      </a:spcBef>
      <a:spcAft>
        <a:spcPct val="0"/>
      </a:spcAft>
      <a:defRPr sz="2400" kern="1200" baseline="-25000">
        <a:solidFill>
          <a:schemeClr val="tx1"/>
        </a:solidFill>
        <a:latin typeface="Arial" pitchFamily="34" charset="0"/>
        <a:ea typeface="宋体" pitchFamily="2" charset="-122"/>
        <a:cs typeface="+mn-cs"/>
      </a:defRPr>
    </a:lvl1pPr>
    <a:lvl2pPr marL="457200" algn="l" rtl="0" fontAlgn="base">
      <a:spcBef>
        <a:spcPct val="0"/>
      </a:spcBef>
      <a:spcAft>
        <a:spcPct val="0"/>
      </a:spcAft>
      <a:defRPr sz="2400" kern="1200" baseline="-25000">
        <a:solidFill>
          <a:schemeClr val="tx1"/>
        </a:solidFill>
        <a:latin typeface="Arial" pitchFamily="34" charset="0"/>
        <a:ea typeface="宋体" pitchFamily="2" charset="-122"/>
        <a:cs typeface="+mn-cs"/>
      </a:defRPr>
    </a:lvl2pPr>
    <a:lvl3pPr marL="914400" algn="l" rtl="0" fontAlgn="base">
      <a:spcBef>
        <a:spcPct val="0"/>
      </a:spcBef>
      <a:spcAft>
        <a:spcPct val="0"/>
      </a:spcAft>
      <a:defRPr sz="2400" kern="1200" baseline="-25000">
        <a:solidFill>
          <a:schemeClr val="tx1"/>
        </a:solidFill>
        <a:latin typeface="Arial" pitchFamily="34" charset="0"/>
        <a:ea typeface="宋体" pitchFamily="2" charset="-122"/>
        <a:cs typeface="+mn-cs"/>
      </a:defRPr>
    </a:lvl3pPr>
    <a:lvl4pPr marL="1371600" algn="l" rtl="0" fontAlgn="base">
      <a:spcBef>
        <a:spcPct val="0"/>
      </a:spcBef>
      <a:spcAft>
        <a:spcPct val="0"/>
      </a:spcAft>
      <a:defRPr sz="2400" kern="1200" baseline="-25000">
        <a:solidFill>
          <a:schemeClr val="tx1"/>
        </a:solidFill>
        <a:latin typeface="Arial" pitchFamily="34" charset="0"/>
        <a:ea typeface="宋体" pitchFamily="2" charset="-122"/>
        <a:cs typeface="+mn-cs"/>
      </a:defRPr>
    </a:lvl4pPr>
    <a:lvl5pPr marL="1828800" algn="l" rtl="0" fontAlgn="base">
      <a:spcBef>
        <a:spcPct val="0"/>
      </a:spcBef>
      <a:spcAft>
        <a:spcPct val="0"/>
      </a:spcAft>
      <a:defRPr sz="2400" kern="1200" baseline="-25000">
        <a:solidFill>
          <a:schemeClr val="tx1"/>
        </a:solidFill>
        <a:latin typeface="Arial" pitchFamily="34" charset="0"/>
        <a:ea typeface="宋体" pitchFamily="2" charset="-122"/>
        <a:cs typeface="+mn-cs"/>
      </a:defRPr>
    </a:lvl5pPr>
    <a:lvl6pPr marL="2286000" algn="l" defTabSz="914400" rtl="0" eaLnBrk="1" latinLnBrk="0" hangingPunct="1">
      <a:defRPr sz="2400" kern="1200" baseline="-25000">
        <a:solidFill>
          <a:schemeClr val="tx1"/>
        </a:solidFill>
        <a:latin typeface="Arial" pitchFamily="34" charset="0"/>
        <a:ea typeface="宋体" pitchFamily="2" charset="-122"/>
        <a:cs typeface="+mn-cs"/>
      </a:defRPr>
    </a:lvl6pPr>
    <a:lvl7pPr marL="2743200" algn="l" defTabSz="914400" rtl="0" eaLnBrk="1" latinLnBrk="0" hangingPunct="1">
      <a:defRPr sz="2400" kern="1200" baseline="-25000">
        <a:solidFill>
          <a:schemeClr val="tx1"/>
        </a:solidFill>
        <a:latin typeface="Arial" pitchFamily="34" charset="0"/>
        <a:ea typeface="宋体" pitchFamily="2" charset="-122"/>
        <a:cs typeface="+mn-cs"/>
      </a:defRPr>
    </a:lvl7pPr>
    <a:lvl8pPr marL="3200400" algn="l" defTabSz="914400" rtl="0" eaLnBrk="1" latinLnBrk="0" hangingPunct="1">
      <a:defRPr sz="2400" kern="1200" baseline="-25000">
        <a:solidFill>
          <a:schemeClr val="tx1"/>
        </a:solidFill>
        <a:latin typeface="Arial" pitchFamily="34" charset="0"/>
        <a:ea typeface="宋体" pitchFamily="2" charset="-122"/>
        <a:cs typeface="+mn-cs"/>
      </a:defRPr>
    </a:lvl8pPr>
    <a:lvl9pPr marL="3657600" algn="l" defTabSz="914400" rtl="0" eaLnBrk="1" latinLnBrk="0" hangingPunct="1">
      <a:defRPr sz="2400" kern="1200" baseline="-250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CC"/>
    <a:srgbClr val="111F65"/>
    <a:srgbClr val="E9EDF4"/>
    <a:srgbClr val="5F5F5F"/>
    <a:srgbClr val="333333"/>
    <a:srgbClr val="808080"/>
    <a:srgbClr val="FF3300"/>
    <a:srgbClr val="FF6600"/>
    <a:srgbClr val="EBE2D2"/>
    <a:srgbClr val="6A96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2" autoAdjust="0"/>
    <p:restoredTop sz="96340" autoAdjust="0"/>
  </p:normalViewPr>
  <p:slideViewPr>
    <p:cSldViewPr snapToGrid="0">
      <p:cViewPr varScale="1">
        <p:scale>
          <a:sx n="78" d="100"/>
          <a:sy n="78" d="100"/>
        </p:scale>
        <p:origin x="102" y="7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66" d="100"/>
          <a:sy n="66" d="100"/>
        </p:scale>
        <p:origin x="-2382" y="-22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gs" Target="tags/tag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75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57753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endParaRPr lang="en-US" altLang="zh-CN"/>
          </a:p>
        </p:txBody>
      </p:sp>
      <p:sp>
        <p:nvSpPr>
          <p:cNvPr id="57754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57754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fld id="{B6987093-2FA2-4B3E-A303-E109B2C659C7}" type="slidenum">
              <a:rPr lang="zh-CN" altLang="en-US"/>
              <a:pPr>
                <a:defRPr/>
              </a:pPr>
              <a:t>‹#›</a:t>
            </a:fld>
            <a:endParaRPr lang="en-US" altLang="zh-CN"/>
          </a:p>
        </p:txBody>
      </p:sp>
    </p:spTree>
    <p:extLst>
      <p:ext uri="{BB962C8B-B14F-4D97-AF65-F5344CB8AC3E}">
        <p14:creationId xmlns:p14="http://schemas.microsoft.com/office/powerpoint/2010/main" val="5907667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686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endParaRPr lang="en-US" altLang="zh-CN"/>
          </a:p>
        </p:txBody>
      </p:sp>
      <p:sp>
        <p:nvSpPr>
          <p:cNvPr id="829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86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defRPr sz="1200" baseline="0">
                <a:effectLst/>
                <a:latin typeface="Times New Roman" pitchFamily="18" charset="0"/>
                <a:ea typeface="+mn-ea"/>
              </a:defRPr>
            </a:lvl1pPr>
          </a:lstStyle>
          <a:p>
            <a:pPr>
              <a:defRPr/>
            </a:pPr>
            <a:endParaRPr lang="en-US" altLang="zh-CN"/>
          </a:p>
        </p:txBody>
      </p:sp>
      <p:sp>
        <p:nvSpPr>
          <p:cNvPr id="686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defRPr sz="1200" baseline="0">
                <a:effectLst/>
                <a:latin typeface="Times New Roman" pitchFamily="18" charset="0"/>
                <a:ea typeface="+mn-ea"/>
              </a:defRPr>
            </a:lvl1pPr>
          </a:lstStyle>
          <a:p>
            <a:pPr>
              <a:defRPr/>
            </a:pPr>
            <a:fld id="{C163974F-E2FC-4919-A1F7-1DAB2B1EEBC0}" type="slidenum">
              <a:rPr lang="zh-CN" altLang="en-US"/>
              <a:pPr>
                <a:defRPr/>
              </a:pPr>
              <a:t>‹#›</a:t>
            </a:fld>
            <a:endParaRPr lang="en-US" altLang="zh-CN"/>
          </a:p>
        </p:txBody>
      </p:sp>
    </p:spTree>
    <p:extLst>
      <p:ext uri="{BB962C8B-B14F-4D97-AF65-F5344CB8AC3E}">
        <p14:creationId xmlns:p14="http://schemas.microsoft.com/office/powerpoint/2010/main" val="92330817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p:txBody>
          <a:bodyPr/>
          <a:lstStyle>
            <a:lvl1pPr algn="ctr" eaLnBrk="0" hangingPunct="0">
              <a:spcBef>
                <a:spcPct val="50000"/>
              </a:spcBef>
              <a:buClr>
                <a:schemeClr val="bg1"/>
              </a:buClr>
              <a:buSzPct val="100000"/>
              <a:defRPr sz="2400" baseline="-25000">
                <a:solidFill>
                  <a:schemeClr val="tx1"/>
                </a:solidFill>
                <a:latin typeface="Arial" charset="0"/>
              </a:defRPr>
            </a:lvl1pPr>
            <a:lvl2pPr marL="742950" indent="-285750" algn="ctr" eaLnBrk="0" hangingPunct="0">
              <a:spcBef>
                <a:spcPct val="50000"/>
              </a:spcBef>
              <a:buClr>
                <a:schemeClr val="bg1"/>
              </a:buClr>
              <a:buSzPct val="100000"/>
              <a:defRPr sz="2400" baseline="-25000">
                <a:solidFill>
                  <a:schemeClr val="tx1"/>
                </a:solidFill>
                <a:latin typeface="Arial" charset="0"/>
              </a:defRPr>
            </a:lvl2pPr>
            <a:lvl3pPr marL="1143000" indent="-228600" algn="ctr" eaLnBrk="0" hangingPunct="0">
              <a:spcBef>
                <a:spcPct val="50000"/>
              </a:spcBef>
              <a:buClr>
                <a:schemeClr val="bg1"/>
              </a:buClr>
              <a:buSzPct val="100000"/>
              <a:defRPr sz="2400" baseline="-25000">
                <a:solidFill>
                  <a:schemeClr val="tx1"/>
                </a:solidFill>
                <a:latin typeface="Arial" charset="0"/>
              </a:defRPr>
            </a:lvl3pPr>
            <a:lvl4pPr marL="1600200" indent="-228600" algn="ctr" eaLnBrk="0" hangingPunct="0">
              <a:spcBef>
                <a:spcPct val="50000"/>
              </a:spcBef>
              <a:buClr>
                <a:schemeClr val="bg1"/>
              </a:buClr>
              <a:buSzPct val="100000"/>
              <a:defRPr sz="2400" baseline="-25000">
                <a:solidFill>
                  <a:schemeClr val="tx1"/>
                </a:solidFill>
                <a:latin typeface="Arial" charset="0"/>
              </a:defRPr>
            </a:lvl4pPr>
            <a:lvl5pPr marL="2057400" indent="-228600" algn="ctr" eaLnBrk="0" hangingPunct="0">
              <a:spcBef>
                <a:spcPct val="50000"/>
              </a:spcBef>
              <a:buClr>
                <a:schemeClr val="bg1"/>
              </a:buClr>
              <a:buSzPct val="100000"/>
              <a:defRPr sz="2400" baseline="-25000">
                <a:solidFill>
                  <a:schemeClr val="tx1"/>
                </a:solidFill>
                <a:latin typeface="Arial"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9pPr>
          </a:lstStyle>
          <a:p>
            <a:pPr algn="r" eaLnBrk="1" hangingPunct="1">
              <a:spcBef>
                <a:spcPct val="0"/>
              </a:spcBef>
              <a:buClrTx/>
              <a:buSzTx/>
              <a:defRPr/>
            </a:pPr>
            <a:fld id="{7ED47AB2-00CE-41E6-9820-72042BB36AE6}" type="slidenum">
              <a:rPr lang="zh-CN" altLang="en-US" sz="1200" baseline="0" smtClean="0">
                <a:latin typeface="Times New Roman" pitchFamily="18" charset="0"/>
              </a:rPr>
              <a:pPr algn="r" eaLnBrk="1" hangingPunct="1">
                <a:spcBef>
                  <a:spcPct val="0"/>
                </a:spcBef>
                <a:buClrTx/>
                <a:buSzTx/>
                <a:defRPr/>
              </a:pPr>
              <a:t>1</a:t>
            </a:fld>
            <a:endParaRPr lang="en-US" altLang="zh-CN" sz="1200" baseline="0" dirty="0">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latin typeface="Arial" pitchFamily="34" charset="0"/>
            </a:endParaRPr>
          </a:p>
        </p:txBody>
      </p:sp>
    </p:spTree>
    <p:extLst>
      <p:ext uri="{BB962C8B-B14F-4D97-AF65-F5344CB8AC3E}">
        <p14:creationId xmlns:p14="http://schemas.microsoft.com/office/powerpoint/2010/main" val="1639048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3</a:t>
            </a:fld>
            <a:endParaRPr lang="en-US" altLang="zh-CN"/>
          </a:p>
        </p:txBody>
      </p:sp>
    </p:spTree>
    <p:extLst>
      <p:ext uri="{BB962C8B-B14F-4D97-AF65-F5344CB8AC3E}">
        <p14:creationId xmlns:p14="http://schemas.microsoft.com/office/powerpoint/2010/main" val="151363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pPr>
                <a:defRPr/>
              </a:pPr>
              <a:t>4</a:t>
            </a:fld>
            <a:endParaRPr lang="en-US" altLang="zh-CN"/>
          </a:p>
        </p:txBody>
      </p:sp>
    </p:spTree>
    <p:extLst>
      <p:ext uri="{BB962C8B-B14F-4D97-AF65-F5344CB8AC3E}">
        <p14:creationId xmlns:p14="http://schemas.microsoft.com/office/powerpoint/2010/main" val="2250577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物联网操作系统运行在资源受限的节点上，内存占用与传统操作系统相比较小，一般只有几十</a:t>
            </a:r>
            <a:r>
              <a:rPr kumimoji="1" lang="en-US" altLang="zh-CN" dirty="0"/>
              <a:t>KB</a:t>
            </a:r>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5</a:t>
            </a:fld>
            <a:endParaRPr lang="en-US" altLang="zh-CN"/>
          </a:p>
        </p:txBody>
      </p:sp>
    </p:spTree>
    <p:extLst>
      <p:ext uri="{BB962C8B-B14F-4D97-AF65-F5344CB8AC3E}">
        <p14:creationId xmlns:p14="http://schemas.microsoft.com/office/powerpoint/2010/main" val="3270614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9</a:t>
            </a:fld>
            <a:endParaRPr lang="en-US" altLang="zh-CN"/>
          </a:p>
        </p:txBody>
      </p:sp>
    </p:spTree>
    <p:extLst>
      <p:ext uri="{BB962C8B-B14F-4D97-AF65-F5344CB8AC3E}">
        <p14:creationId xmlns:p14="http://schemas.microsoft.com/office/powerpoint/2010/main" val="2063329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10</a:t>
            </a:fld>
            <a:endParaRPr lang="en-US" altLang="zh-CN"/>
          </a:p>
        </p:txBody>
      </p:sp>
    </p:spTree>
    <p:extLst>
      <p:ext uri="{BB962C8B-B14F-4D97-AF65-F5344CB8AC3E}">
        <p14:creationId xmlns:p14="http://schemas.microsoft.com/office/powerpoint/2010/main" val="4071166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2142094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1423232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kumimoji="1" lang="en-US" altLang="zh-CN" sz="1200" b="0" i="0" kern="1200" dirty="0">
                <a:solidFill>
                  <a:schemeClr val="tx1"/>
                </a:solidFill>
                <a:effectLst/>
                <a:latin typeface="Arial" charset="0"/>
                <a:ea typeface="+mn-ea"/>
                <a:cs typeface="+mn-cs"/>
              </a:rPr>
              <a:t>Function pointer to get the size of the tree routing header</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1670437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65860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2782299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960544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960544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947014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1135615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2108832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22</a:t>
            </a:fld>
            <a:endParaRPr lang="en-US" altLang="zh-CN"/>
          </a:p>
        </p:txBody>
      </p:sp>
    </p:spTree>
    <p:extLst>
      <p:ext uri="{BB962C8B-B14F-4D97-AF65-F5344CB8AC3E}">
        <p14:creationId xmlns:p14="http://schemas.microsoft.com/office/powerpoint/2010/main" val="7669624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27112395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24</a:t>
            </a:fld>
            <a:endParaRPr lang="en-US" altLang="zh-CN"/>
          </a:p>
        </p:txBody>
      </p:sp>
    </p:spTree>
    <p:extLst>
      <p:ext uri="{BB962C8B-B14F-4D97-AF65-F5344CB8AC3E}">
        <p14:creationId xmlns:p14="http://schemas.microsoft.com/office/powerpoint/2010/main" val="3046804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9569751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3292501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336039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4547000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7585354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1579491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25244843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38</a:t>
            </a:fld>
            <a:endParaRPr lang="en-US" altLang="zh-CN"/>
          </a:p>
        </p:txBody>
      </p:sp>
    </p:spTree>
    <p:extLst>
      <p:ext uri="{BB962C8B-B14F-4D97-AF65-F5344CB8AC3E}">
        <p14:creationId xmlns:p14="http://schemas.microsoft.com/office/powerpoint/2010/main" val="6422280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44</a:t>
            </a:fld>
            <a:endParaRPr lang="en-US" altLang="zh-CN"/>
          </a:p>
        </p:txBody>
      </p:sp>
    </p:spTree>
    <p:extLst>
      <p:ext uri="{BB962C8B-B14F-4D97-AF65-F5344CB8AC3E}">
        <p14:creationId xmlns:p14="http://schemas.microsoft.com/office/powerpoint/2010/main" val="16848284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kumimoji="1" lang="zh-CN" altLang="zh-CN" sz="1200" kern="1200" dirty="0">
                <a:solidFill>
                  <a:schemeClr val="tx1"/>
                </a:solidFill>
                <a:effectLst/>
                <a:latin typeface="Arial" charset="0"/>
                <a:ea typeface="+mn-ea"/>
                <a:cs typeface="+mn-cs"/>
              </a:rPr>
              <a:t>板级支持包（</a:t>
            </a:r>
            <a:r>
              <a:rPr kumimoji="1" lang="en-US" altLang="zh-CN" sz="1200" kern="1200" dirty="0">
                <a:solidFill>
                  <a:schemeClr val="tx1"/>
                </a:solidFill>
                <a:effectLst/>
                <a:latin typeface="Arial" charset="0"/>
                <a:ea typeface="+mn-ea"/>
                <a:cs typeface="+mn-cs"/>
              </a:rPr>
              <a:t>BSP</a:t>
            </a:r>
            <a:r>
              <a:rPr kumimoji="1" lang="zh-CN" altLang="zh-CN" sz="1200" kern="1200" dirty="0">
                <a:solidFill>
                  <a:schemeClr val="tx1"/>
                </a:solidFill>
                <a:effectLst/>
                <a:latin typeface="Arial" charset="0"/>
                <a:ea typeface="+mn-ea"/>
                <a:cs typeface="+mn-cs"/>
              </a:rPr>
              <a:t>）：板级支持包主要由</a:t>
            </a:r>
            <a:r>
              <a:rPr kumimoji="1" lang="en-US" altLang="zh-CN" sz="1200" kern="1200" dirty="0" err="1">
                <a:solidFill>
                  <a:schemeClr val="tx1"/>
                </a:solidFill>
                <a:effectLst/>
                <a:latin typeface="Arial" charset="0"/>
                <a:ea typeface="+mn-ea"/>
                <a:cs typeface="+mn-cs"/>
              </a:rPr>
              <a:t>SoC</a:t>
            </a:r>
            <a:r>
              <a:rPr kumimoji="1" lang="zh-CN" altLang="zh-CN" sz="1200" kern="1200" dirty="0">
                <a:solidFill>
                  <a:schemeClr val="tx1"/>
                </a:solidFill>
                <a:effectLst/>
                <a:latin typeface="Arial" charset="0"/>
                <a:ea typeface="+mn-ea"/>
                <a:cs typeface="+mn-cs"/>
              </a:rPr>
              <a:t>供应商开发和维护；</a:t>
            </a:r>
          </a:p>
          <a:p>
            <a:pPr lvl="0"/>
            <a:r>
              <a:rPr kumimoji="1" lang="zh-CN" altLang="zh-CN" sz="1200" kern="1200" dirty="0">
                <a:solidFill>
                  <a:schemeClr val="tx1"/>
                </a:solidFill>
                <a:effectLst/>
                <a:latin typeface="Arial" charset="0"/>
                <a:ea typeface="+mn-ea"/>
                <a:cs typeface="+mn-cs"/>
              </a:rPr>
              <a:t>硬件抽象层（</a:t>
            </a:r>
            <a:r>
              <a:rPr kumimoji="1" lang="en-US" altLang="zh-CN" sz="1200" kern="1200" dirty="0">
                <a:solidFill>
                  <a:schemeClr val="tx1"/>
                </a:solidFill>
                <a:effectLst/>
                <a:latin typeface="Arial" charset="0"/>
                <a:ea typeface="+mn-ea"/>
                <a:cs typeface="+mn-cs"/>
              </a:rPr>
              <a:t>HAL</a:t>
            </a:r>
            <a:r>
              <a:rPr kumimoji="1" lang="zh-CN" altLang="zh-CN" sz="1200" kern="1200" dirty="0">
                <a:solidFill>
                  <a:schemeClr val="tx1"/>
                </a:solidFill>
                <a:effectLst/>
                <a:latin typeface="Arial" charset="0"/>
                <a:ea typeface="+mn-ea"/>
                <a:cs typeface="+mn-cs"/>
              </a:rPr>
              <a:t>）：如</a:t>
            </a:r>
            <a:r>
              <a:rPr kumimoji="1" lang="en-US" altLang="zh-CN" sz="1200" kern="1200" dirty="0" err="1">
                <a:solidFill>
                  <a:schemeClr val="tx1"/>
                </a:solidFill>
                <a:effectLst/>
                <a:latin typeface="Arial" charset="0"/>
                <a:ea typeface="+mn-ea"/>
                <a:cs typeface="+mn-cs"/>
              </a:rPr>
              <a:t>WiFi</a:t>
            </a:r>
            <a:r>
              <a:rPr kumimoji="1" lang="zh-CN" altLang="zh-CN" sz="1200" kern="1200" dirty="0">
                <a:solidFill>
                  <a:schemeClr val="tx1"/>
                </a:solidFill>
                <a:effectLst/>
                <a:latin typeface="Arial" charset="0"/>
                <a:ea typeface="+mn-ea"/>
                <a:cs typeface="+mn-cs"/>
              </a:rPr>
              <a:t>，</a:t>
            </a:r>
            <a:r>
              <a:rPr kumimoji="1" lang="en-US" altLang="zh-CN" sz="1200" kern="1200" dirty="0">
                <a:solidFill>
                  <a:schemeClr val="tx1"/>
                </a:solidFill>
                <a:effectLst/>
                <a:latin typeface="Arial" charset="0"/>
                <a:ea typeface="+mn-ea"/>
                <a:cs typeface="+mn-cs"/>
              </a:rPr>
              <a:t>UART</a:t>
            </a:r>
            <a:r>
              <a:rPr kumimoji="1" lang="zh-CN" altLang="zh-CN" sz="1200" kern="1200" dirty="0">
                <a:solidFill>
                  <a:schemeClr val="tx1"/>
                </a:solidFill>
                <a:effectLst/>
                <a:latin typeface="Arial" charset="0"/>
                <a:ea typeface="+mn-ea"/>
                <a:cs typeface="+mn-cs"/>
              </a:rPr>
              <a:t>等；</a:t>
            </a:r>
          </a:p>
          <a:p>
            <a:pPr lvl="0"/>
            <a:r>
              <a:rPr kumimoji="1" lang="zh-CN" altLang="zh-CN" sz="1200" kern="1200" dirty="0">
                <a:solidFill>
                  <a:schemeClr val="tx1"/>
                </a:solidFill>
                <a:effectLst/>
                <a:latin typeface="Arial" charset="0"/>
                <a:ea typeface="+mn-ea"/>
                <a:cs typeface="+mn-cs"/>
              </a:rPr>
              <a:t>内核（</a:t>
            </a:r>
            <a:r>
              <a:rPr kumimoji="1" lang="en-US" altLang="zh-CN" sz="1200" kern="1200" dirty="0">
                <a:solidFill>
                  <a:schemeClr val="tx1"/>
                </a:solidFill>
                <a:effectLst/>
                <a:latin typeface="Arial" charset="0"/>
                <a:ea typeface="+mn-ea"/>
                <a:cs typeface="+mn-cs"/>
              </a:rPr>
              <a:t>Kernel</a:t>
            </a:r>
            <a:r>
              <a:rPr kumimoji="1" lang="zh-CN" altLang="zh-CN" sz="1200" kern="1200" dirty="0">
                <a:solidFill>
                  <a:schemeClr val="tx1"/>
                </a:solidFill>
                <a:effectLst/>
                <a:latin typeface="Arial" charset="0"/>
                <a:ea typeface="+mn-ea"/>
                <a:cs typeface="+mn-cs"/>
              </a:rPr>
              <a:t>）：包括</a:t>
            </a:r>
            <a:r>
              <a:rPr kumimoji="1" lang="en-US" altLang="zh-CN" sz="1200" kern="1200" dirty="0">
                <a:solidFill>
                  <a:schemeClr val="tx1"/>
                </a:solidFill>
                <a:effectLst/>
                <a:latin typeface="Arial" charset="0"/>
                <a:ea typeface="+mn-ea"/>
                <a:cs typeface="+mn-cs"/>
              </a:rPr>
              <a:t>Rhino RTOS</a:t>
            </a:r>
            <a:r>
              <a:rPr kumimoji="1" lang="zh-CN" altLang="zh-CN" sz="1200" kern="1200" dirty="0">
                <a:solidFill>
                  <a:schemeClr val="tx1"/>
                </a:solidFill>
                <a:effectLst/>
                <a:latin typeface="Arial" charset="0"/>
                <a:ea typeface="+mn-ea"/>
                <a:cs typeface="+mn-cs"/>
              </a:rPr>
              <a:t>内核，</a:t>
            </a:r>
            <a:r>
              <a:rPr kumimoji="1" lang="en-US" altLang="zh-CN" sz="1200" kern="1200" dirty="0" err="1">
                <a:solidFill>
                  <a:schemeClr val="tx1"/>
                </a:solidFill>
                <a:effectLst/>
                <a:latin typeface="Arial" charset="0"/>
                <a:ea typeface="+mn-ea"/>
                <a:cs typeface="+mn-cs"/>
              </a:rPr>
              <a:t>Yloop</a:t>
            </a:r>
            <a:r>
              <a:rPr kumimoji="1" lang="zh-CN" altLang="zh-CN" sz="1200" kern="1200" dirty="0">
                <a:solidFill>
                  <a:schemeClr val="tx1"/>
                </a:solidFill>
                <a:effectLst/>
                <a:latin typeface="Arial" charset="0"/>
                <a:ea typeface="+mn-ea"/>
                <a:cs typeface="+mn-cs"/>
              </a:rPr>
              <a:t>，</a:t>
            </a:r>
            <a:r>
              <a:rPr kumimoji="1" lang="en-US" altLang="zh-CN" sz="1200" kern="1200" dirty="0">
                <a:solidFill>
                  <a:schemeClr val="tx1"/>
                </a:solidFill>
                <a:effectLst/>
                <a:latin typeface="Arial" charset="0"/>
                <a:ea typeface="+mn-ea"/>
                <a:cs typeface="+mn-cs"/>
              </a:rPr>
              <a:t>VFS</a:t>
            </a:r>
            <a:r>
              <a:rPr kumimoji="1" lang="zh-CN" altLang="zh-CN" sz="1200" kern="1200" dirty="0">
                <a:solidFill>
                  <a:schemeClr val="tx1"/>
                </a:solidFill>
                <a:effectLst/>
                <a:latin typeface="Arial" charset="0"/>
                <a:ea typeface="+mn-ea"/>
                <a:cs typeface="+mn-cs"/>
              </a:rPr>
              <a:t>，</a:t>
            </a:r>
            <a:r>
              <a:rPr kumimoji="1" lang="en-US" altLang="zh-CN" sz="1200" kern="1200" dirty="0">
                <a:solidFill>
                  <a:schemeClr val="tx1"/>
                </a:solidFill>
                <a:effectLst/>
                <a:latin typeface="Arial" charset="0"/>
                <a:ea typeface="+mn-ea"/>
                <a:cs typeface="+mn-cs"/>
              </a:rPr>
              <a:t>KV</a:t>
            </a:r>
            <a:r>
              <a:rPr kumimoji="1" lang="zh-CN" altLang="zh-CN" sz="1200" kern="1200" dirty="0">
                <a:solidFill>
                  <a:schemeClr val="tx1"/>
                </a:solidFill>
                <a:effectLst/>
                <a:latin typeface="Arial" charset="0"/>
                <a:ea typeface="+mn-ea"/>
                <a:cs typeface="+mn-cs"/>
              </a:rPr>
              <a:t>存储；</a:t>
            </a:r>
          </a:p>
          <a:p>
            <a:pPr lvl="0"/>
            <a:r>
              <a:rPr kumimoji="1" lang="zh-CN" altLang="zh-CN" sz="1200" kern="1200" dirty="0">
                <a:solidFill>
                  <a:schemeClr val="tx1"/>
                </a:solidFill>
                <a:effectLst/>
                <a:latin typeface="Arial" charset="0"/>
                <a:ea typeface="+mn-ea"/>
                <a:cs typeface="+mn-cs"/>
              </a:rPr>
              <a:t>协议栈（</a:t>
            </a:r>
            <a:r>
              <a:rPr kumimoji="1" lang="en-US" altLang="zh-CN" sz="1200" kern="1200" dirty="0">
                <a:solidFill>
                  <a:schemeClr val="tx1"/>
                </a:solidFill>
                <a:effectLst/>
                <a:latin typeface="Arial" charset="0"/>
                <a:ea typeface="+mn-ea"/>
                <a:cs typeface="+mn-cs"/>
              </a:rPr>
              <a:t>Protocol Stack</a:t>
            </a:r>
            <a:r>
              <a:rPr kumimoji="1" lang="zh-CN" altLang="zh-CN" sz="1200" kern="1200" dirty="0">
                <a:solidFill>
                  <a:schemeClr val="tx1"/>
                </a:solidFill>
                <a:effectLst/>
                <a:latin typeface="Arial" charset="0"/>
                <a:ea typeface="+mn-ea"/>
                <a:cs typeface="+mn-cs"/>
              </a:rPr>
              <a:t>）：包含</a:t>
            </a:r>
            <a:r>
              <a:rPr kumimoji="1" lang="en-US" altLang="zh-CN" sz="1200" kern="1200" dirty="0" err="1">
                <a:solidFill>
                  <a:schemeClr val="tx1"/>
                </a:solidFill>
                <a:effectLst/>
                <a:latin typeface="Arial" charset="0"/>
                <a:ea typeface="+mn-ea"/>
                <a:cs typeface="+mn-cs"/>
              </a:rPr>
              <a:t>LwIP</a:t>
            </a:r>
            <a:r>
              <a:rPr kumimoji="1" lang="en-US" altLang="zh-CN" sz="1200" kern="1200" dirty="0">
                <a:solidFill>
                  <a:schemeClr val="tx1"/>
                </a:solidFill>
                <a:effectLst/>
                <a:latin typeface="Arial" charset="0"/>
                <a:ea typeface="+mn-ea"/>
                <a:cs typeface="+mn-cs"/>
              </a:rPr>
              <a:t> TCPIP Stack</a:t>
            </a:r>
            <a:r>
              <a:rPr kumimoji="1" lang="zh-CN" altLang="zh-CN" sz="1200" kern="1200" dirty="0">
                <a:solidFill>
                  <a:schemeClr val="tx1"/>
                </a:solidFill>
                <a:effectLst/>
                <a:latin typeface="Arial" charset="0"/>
                <a:ea typeface="+mn-ea"/>
                <a:cs typeface="+mn-cs"/>
              </a:rPr>
              <a:t>，</a:t>
            </a:r>
            <a:r>
              <a:rPr kumimoji="1" lang="en-US" altLang="zh-CN" sz="1200" kern="1200" dirty="0" err="1">
                <a:solidFill>
                  <a:schemeClr val="tx1"/>
                </a:solidFill>
                <a:effectLst/>
                <a:latin typeface="Arial" charset="0"/>
                <a:ea typeface="+mn-ea"/>
                <a:cs typeface="+mn-cs"/>
              </a:rPr>
              <a:t>uMesh</a:t>
            </a:r>
            <a:r>
              <a:rPr kumimoji="1" lang="zh-CN" altLang="zh-CN" sz="1200" kern="1200" dirty="0">
                <a:solidFill>
                  <a:schemeClr val="tx1"/>
                </a:solidFill>
                <a:effectLst/>
                <a:latin typeface="Arial" charset="0"/>
                <a:ea typeface="+mn-ea"/>
                <a:cs typeface="+mn-cs"/>
              </a:rPr>
              <a:t>网状网络堆栈；</a:t>
            </a:r>
          </a:p>
          <a:p>
            <a:pPr lvl="0"/>
            <a:r>
              <a:rPr kumimoji="1" lang="zh-CN" altLang="zh-CN" sz="1200" kern="1200" dirty="0">
                <a:solidFill>
                  <a:schemeClr val="tx1"/>
                </a:solidFill>
                <a:effectLst/>
                <a:latin typeface="Arial" charset="0"/>
                <a:ea typeface="+mn-ea"/>
                <a:cs typeface="+mn-cs"/>
              </a:rPr>
              <a:t>安全性（</a:t>
            </a:r>
            <a:r>
              <a:rPr kumimoji="1" lang="en-US" altLang="zh-CN" sz="1200" kern="1200" dirty="0">
                <a:solidFill>
                  <a:schemeClr val="tx1"/>
                </a:solidFill>
                <a:effectLst/>
                <a:latin typeface="Arial" charset="0"/>
                <a:ea typeface="+mn-ea"/>
                <a:cs typeface="+mn-cs"/>
              </a:rPr>
              <a:t>Security</a:t>
            </a:r>
            <a:r>
              <a:rPr kumimoji="1" lang="zh-CN" altLang="zh-CN" sz="1200" kern="1200" dirty="0">
                <a:solidFill>
                  <a:schemeClr val="tx1"/>
                </a:solidFill>
                <a:effectLst/>
                <a:latin typeface="Arial" charset="0"/>
                <a:ea typeface="+mn-ea"/>
                <a:cs typeface="+mn-cs"/>
              </a:rPr>
              <a:t>）：</a:t>
            </a:r>
            <a:r>
              <a:rPr kumimoji="1" lang="en-US" altLang="zh-CN" sz="1200" kern="1200" dirty="0">
                <a:solidFill>
                  <a:schemeClr val="tx1"/>
                </a:solidFill>
                <a:effectLst/>
                <a:latin typeface="Arial" charset="0"/>
                <a:ea typeface="+mn-ea"/>
                <a:cs typeface="+mn-cs"/>
              </a:rPr>
              <a:t>TLS</a:t>
            </a:r>
            <a:r>
              <a:rPr kumimoji="1" lang="zh-CN" altLang="zh-CN" sz="1200" kern="1200" dirty="0">
                <a:solidFill>
                  <a:schemeClr val="tx1"/>
                </a:solidFill>
                <a:effectLst/>
                <a:latin typeface="Arial" charset="0"/>
                <a:ea typeface="+mn-ea"/>
                <a:cs typeface="+mn-cs"/>
              </a:rPr>
              <a:t>，</a:t>
            </a:r>
            <a:r>
              <a:rPr kumimoji="1" lang="en-US" altLang="zh-CN" sz="1200" kern="1200" dirty="0">
                <a:solidFill>
                  <a:schemeClr val="tx1"/>
                </a:solidFill>
                <a:effectLst/>
                <a:latin typeface="Arial" charset="0"/>
                <a:ea typeface="+mn-ea"/>
                <a:cs typeface="+mn-cs"/>
              </a:rPr>
              <a:t>TFS</a:t>
            </a:r>
            <a:r>
              <a:rPr kumimoji="1" lang="zh-CN" altLang="zh-CN" sz="1200" kern="1200" dirty="0">
                <a:solidFill>
                  <a:schemeClr val="tx1"/>
                </a:solidFill>
                <a:effectLst/>
                <a:latin typeface="Arial" charset="0"/>
                <a:ea typeface="+mn-ea"/>
                <a:cs typeface="+mn-cs"/>
              </a:rPr>
              <a:t>（可信框架服务），</a:t>
            </a:r>
            <a:r>
              <a:rPr kumimoji="1" lang="en-US" altLang="zh-CN" sz="1200" kern="1200" dirty="0">
                <a:solidFill>
                  <a:schemeClr val="tx1"/>
                </a:solidFill>
                <a:effectLst/>
                <a:latin typeface="Arial" charset="0"/>
                <a:ea typeface="+mn-ea"/>
                <a:cs typeface="+mn-cs"/>
              </a:rPr>
              <a:t>TEE</a:t>
            </a:r>
            <a:r>
              <a:rPr kumimoji="1" lang="zh-CN" altLang="zh-CN" sz="1200" kern="1200" dirty="0">
                <a:solidFill>
                  <a:schemeClr val="tx1"/>
                </a:solidFill>
                <a:effectLst/>
                <a:latin typeface="Arial" charset="0"/>
                <a:ea typeface="+mn-ea"/>
                <a:cs typeface="+mn-cs"/>
              </a:rPr>
              <a:t>（可信执行环境）；</a:t>
            </a:r>
          </a:p>
          <a:p>
            <a:pPr lvl="0"/>
            <a:r>
              <a:rPr kumimoji="1" lang="en-US" altLang="zh-CN" sz="1200" kern="1200" dirty="0">
                <a:solidFill>
                  <a:schemeClr val="tx1"/>
                </a:solidFill>
                <a:effectLst/>
                <a:latin typeface="Arial" charset="0"/>
                <a:ea typeface="+mn-ea"/>
                <a:cs typeface="+mn-cs"/>
              </a:rPr>
              <a:t>AliOS</a:t>
            </a:r>
            <a:r>
              <a:rPr kumimoji="1" lang="zh-CN" altLang="zh-CN" sz="1200" kern="1200" dirty="0">
                <a:solidFill>
                  <a:schemeClr val="tx1"/>
                </a:solidFill>
                <a:effectLst/>
                <a:latin typeface="Arial" charset="0"/>
                <a:ea typeface="+mn-ea"/>
                <a:cs typeface="+mn-cs"/>
              </a:rPr>
              <a:t>应用编程接口（</a:t>
            </a:r>
            <a:r>
              <a:rPr kumimoji="1" lang="en-US" altLang="zh-CN" sz="1200" kern="1200" dirty="0">
                <a:solidFill>
                  <a:schemeClr val="tx1"/>
                </a:solidFill>
                <a:effectLst/>
                <a:latin typeface="Arial" charset="0"/>
                <a:ea typeface="+mn-ea"/>
                <a:cs typeface="+mn-cs"/>
              </a:rPr>
              <a:t>API</a:t>
            </a:r>
            <a:r>
              <a:rPr kumimoji="1" lang="zh-CN" altLang="zh-CN" sz="1200" kern="1200" dirty="0">
                <a:solidFill>
                  <a:schemeClr val="tx1"/>
                </a:solidFill>
                <a:effectLst/>
                <a:latin typeface="Arial" charset="0"/>
                <a:ea typeface="+mn-ea"/>
                <a:cs typeface="+mn-cs"/>
              </a:rPr>
              <a:t>）：</a:t>
            </a:r>
            <a:r>
              <a:rPr kumimoji="1" lang="en-US" altLang="zh-CN" sz="1200" kern="1200" dirty="0">
                <a:solidFill>
                  <a:schemeClr val="tx1"/>
                </a:solidFill>
                <a:effectLst/>
                <a:latin typeface="Arial" charset="0"/>
                <a:ea typeface="+mn-ea"/>
                <a:cs typeface="+mn-cs"/>
              </a:rPr>
              <a:t>AliOS</a:t>
            </a:r>
            <a:r>
              <a:rPr kumimoji="1" lang="zh-CN" altLang="zh-CN" sz="1200" kern="1200" dirty="0">
                <a:solidFill>
                  <a:schemeClr val="tx1"/>
                </a:solidFill>
                <a:effectLst/>
                <a:latin typeface="Arial" charset="0"/>
                <a:ea typeface="+mn-ea"/>
                <a:cs typeface="+mn-cs"/>
              </a:rPr>
              <a:t>用于应用程序和中间件的公开</a:t>
            </a:r>
            <a:r>
              <a:rPr kumimoji="1" lang="en-US" altLang="zh-CN" sz="1200" kern="1200" dirty="0">
                <a:solidFill>
                  <a:schemeClr val="tx1"/>
                </a:solidFill>
                <a:effectLst/>
                <a:latin typeface="Arial" charset="0"/>
                <a:ea typeface="+mn-ea"/>
                <a:cs typeface="+mn-cs"/>
              </a:rPr>
              <a:t>API</a:t>
            </a:r>
            <a:r>
              <a:rPr kumimoji="1" lang="zh-CN" altLang="zh-CN" sz="1200" kern="1200" dirty="0">
                <a:solidFill>
                  <a:schemeClr val="tx1"/>
                </a:solidFill>
                <a:effectLst/>
                <a:latin typeface="Arial" charset="0"/>
                <a:ea typeface="+mn-ea"/>
                <a:cs typeface="+mn-cs"/>
              </a:rPr>
              <a:t>；</a:t>
            </a:r>
          </a:p>
          <a:p>
            <a:pPr lvl="0"/>
            <a:r>
              <a:rPr kumimoji="1" lang="zh-CN" altLang="zh-CN" sz="1200" kern="1200" dirty="0">
                <a:solidFill>
                  <a:schemeClr val="tx1"/>
                </a:solidFill>
                <a:effectLst/>
                <a:latin typeface="Arial" charset="0"/>
                <a:ea typeface="+mn-ea"/>
                <a:cs typeface="+mn-cs"/>
              </a:rPr>
              <a:t>中间件（</a:t>
            </a:r>
            <a:r>
              <a:rPr kumimoji="1" lang="en-US" altLang="zh-CN" sz="1200" kern="1200" dirty="0">
                <a:solidFill>
                  <a:schemeClr val="tx1"/>
                </a:solidFill>
                <a:effectLst/>
                <a:latin typeface="Arial" charset="0"/>
                <a:ea typeface="+mn-ea"/>
                <a:cs typeface="+mn-cs"/>
              </a:rPr>
              <a:t>Middleware</a:t>
            </a:r>
            <a:r>
              <a:rPr kumimoji="1" lang="zh-CN" altLang="zh-CN" sz="1200" kern="1200" dirty="0">
                <a:solidFill>
                  <a:schemeClr val="tx1"/>
                </a:solidFill>
                <a:effectLst/>
                <a:latin typeface="Arial" charset="0"/>
                <a:ea typeface="+mn-ea"/>
                <a:cs typeface="+mn-cs"/>
              </a:rPr>
              <a:t>）：阿里巴巴的增值和常见的物联网组件包括在内；</a:t>
            </a:r>
          </a:p>
          <a:p>
            <a:pPr lvl="0"/>
            <a:r>
              <a:rPr kumimoji="1" lang="zh-CN" altLang="zh-CN" sz="1200" kern="1200" dirty="0">
                <a:solidFill>
                  <a:schemeClr val="tx1"/>
                </a:solidFill>
                <a:effectLst/>
                <a:latin typeface="Arial" charset="0"/>
                <a:ea typeface="+mn-ea"/>
                <a:cs typeface="+mn-cs"/>
              </a:rPr>
              <a:t>案例与应用（</a:t>
            </a:r>
            <a:r>
              <a:rPr kumimoji="1" lang="en-US" altLang="zh-CN" sz="1200" kern="1200" dirty="0">
                <a:solidFill>
                  <a:schemeClr val="tx1"/>
                </a:solidFill>
                <a:effectLst/>
                <a:latin typeface="Arial" charset="0"/>
                <a:ea typeface="+mn-ea"/>
                <a:cs typeface="+mn-cs"/>
              </a:rPr>
              <a:t>Examples/Apps</a:t>
            </a:r>
            <a:r>
              <a:rPr kumimoji="1" lang="zh-CN" altLang="zh-CN" sz="1200" kern="1200" dirty="0">
                <a:solidFill>
                  <a:schemeClr val="tx1"/>
                </a:solidFill>
                <a:effectLst/>
                <a:latin typeface="Arial" charset="0"/>
                <a:ea typeface="+mn-ea"/>
                <a:cs typeface="+mn-cs"/>
              </a:rPr>
              <a:t>）：可用的示例代码，以及经过良好测试的应用程序。</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38003471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pPr>
                <a:defRPr/>
              </a:pPr>
              <a:t>53</a:t>
            </a:fld>
            <a:endParaRPr lang="en-US" altLang="zh-CN"/>
          </a:p>
        </p:txBody>
      </p:sp>
    </p:spTree>
    <p:extLst>
      <p:ext uri="{BB962C8B-B14F-4D97-AF65-F5344CB8AC3E}">
        <p14:creationId xmlns:p14="http://schemas.microsoft.com/office/powerpoint/2010/main" val="10534030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29970616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37041518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p:txBody>
          <a:bodyPr/>
          <a:lstStyle>
            <a:lvl1pPr algn="ctr" eaLnBrk="0" hangingPunct="0">
              <a:spcBef>
                <a:spcPct val="50000"/>
              </a:spcBef>
              <a:buClr>
                <a:schemeClr val="bg1"/>
              </a:buClr>
              <a:buSzPct val="100000"/>
              <a:defRPr sz="2400" baseline="-25000">
                <a:solidFill>
                  <a:schemeClr val="tx1"/>
                </a:solidFill>
                <a:latin typeface="Arial" charset="0"/>
              </a:defRPr>
            </a:lvl1pPr>
            <a:lvl2pPr marL="742950" indent="-285750" algn="ctr" eaLnBrk="0" hangingPunct="0">
              <a:spcBef>
                <a:spcPct val="50000"/>
              </a:spcBef>
              <a:buClr>
                <a:schemeClr val="bg1"/>
              </a:buClr>
              <a:buSzPct val="100000"/>
              <a:defRPr sz="2400" baseline="-25000">
                <a:solidFill>
                  <a:schemeClr val="tx1"/>
                </a:solidFill>
                <a:latin typeface="Arial" charset="0"/>
              </a:defRPr>
            </a:lvl2pPr>
            <a:lvl3pPr marL="1143000" indent="-228600" algn="ctr" eaLnBrk="0" hangingPunct="0">
              <a:spcBef>
                <a:spcPct val="50000"/>
              </a:spcBef>
              <a:buClr>
                <a:schemeClr val="bg1"/>
              </a:buClr>
              <a:buSzPct val="100000"/>
              <a:defRPr sz="2400" baseline="-25000">
                <a:solidFill>
                  <a:schemeClr val="tx1"/>
                </a:solidFill>
                <a:latin typeface="Arial" charset="0"/>
              </a:defRPr>
            </a:lvl3pPr>
            <a:lvl4pPr marL="1600200" indent="-228600" algn="ctr" eaLnBrk="0" hangingPunct="0">
              <a:spcBef>
                <a:spcPct val="50000"/>
              </a:spcBef>
              <a:buClr>
                <a:schemeClr val="bg1"/>
              </a:buClr>
              <a:buSzPct val="100000"/>
              <a:defRPr sz="2400" baseline="-25000">
                <a:solidFill>
                  <a:schemeClr val="tx1"/>
                </a:solidFill>
                <a:latin typeface="Arial" charset="0"/>
              </a:defRPr>
            </a:lvl4pPr>
            <a:lvl5pPr marL="2057400" indent="-228600" algn="ctr" eaLnBrk="0" hangingPunct="0">
              <a:spcBef>
                <a:spcPct val="50000"/>
              </a:spcBef>
              <a:buClr>
                <a:schemeClr val="bg1"/>
              </a:buClr>
              <a:buSzPct val="100000"/>
              <a:defRPr sz="2400" baseline="-25000">
                <a:solidFill>
                  <a:schemeClr val="tx1"/>
                </a:solidFill>
                <a:latin typeface="Arial"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6F23777-CEBB-41C8-8BE8-AF66406041A7}"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itchFamily="34" charset="0"/>
            </a:endParaRPr>
          </a:p>
        </p:txBody>
      </p:sp>
    </p:spTree>
    <p:extLst>
      <p:ext uri="{BB962C8B-B14F-4D97-AF65-F5344CB8AC3E}">
        <p14:creationId xmlns:p14="http://schemas.microsoft.com/office/powerpoint/2010/main" val="29164515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en-US" altLang="zh-CN" sz="1200" b="0" i="0" u="none" strike="noStrike" kern="1200" cap="none" spc="0" normalizeH="0" baseline="0" noProof="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23485843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en-US" altLang="zh-CN" sz="1200" b="0"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12488745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en-US" altLang="zh-CN" sz="1200" b="0"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36419904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en-US" altLang="zh-CN" sz="1200" b="0"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37451514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en-US" altLang="zh-CN" sz="1200" b="0"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14986786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0" lang="en-US" altLang="zh-CN" sz="1200" b="0" i="0" u="none" strike="noStrike" kern="1200" cap="none" spc="0" normalizeH="0" baseline="0" noProof="0" dirty="0">
              <a:ln>
                <a:noFill/>
              </a:ln>
              <a:solidFill>
                <a:srgbClr val="000000"/>
              </a:solidFill>
              <a:effectLst/>
              <a:uLnTx/>
              <a:uFillTx/>
              <a:latin typeface="Times New Roman" pitchFamily="18" charset="0"/>
              <a:ea typeface="宋体" panose="02010600030101010101" pitchFamily="2" charset="-122"/>
              <a:cs typeface="+mn-cs"/>
            </a:endParaRPr>
          </a:p>
        </p:txBody>
      </p:sp>
    </p:spTree>
    <p:extLst>
      <p:ext uri="{BB962C8B-B14F-4D97-AF65-F5344CB8AC3E}">
        <p14:creationId xmlns:p14="http://schemas.microsoft.com/office/powerpoint/2010/main" val="2112757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106" name="Rectangle 34"/>
          <p:cNvSpPr>
            <a:spLocks noGrp="1" noChangeArrowheads="1"/>
          </p:cNvSpPr>
          <p:nvPr>
            <p:ph type="ctrTitle" sz="quarter"/>
          </p:nvPr>
        </p:nvSpPr>
        <p:spPr>
          <a:xfrm>
            <a:off x="0" y="2209800"/>
            <a:ext cx="9144000" cy="1143000"/>
          </a:xfrm>
        </p:spPr>
        <p:txBody>
          <a:bodyPr/>
          <a:lstStyle>
            <a:lvl1pPr algn="ctr">
              <a:defRPr sz="4000" i="0">
                <a:solidFill>
                  <a:schemeClr val="tx1"/>
                </a:solidFill>
              </a:defRPr>
            </a:lvl1pPr>
          </a:lstStyle>
          <a:p>
            <a:r>
              <a:rPr lang="en-US" altLang="zh-CN" dirty="0"/>
              <a:t>Click to edit Master title style</a:t>
            </a:r>
          </a:p>
        </p:txBody>
      </p:sp>
      <p:sp>
        <p:nvSpPr>
          <p:cNvPr id="3107" name="Rectangle 35"/>
          <p:cNvSpPr>
            <a:spLocks noGrp="1" noChangeArrowheads="1"/>
          </p:cNvSpPr>
          <p:nvPr>
            <p:ph type="subTitle" sz="quarter" idx="1"/>
          </p:nvPr>
        </p:nvSpPr>
        <p:spPr>
          <a:xfrm>
            <a:off x="1638300" y="4648200"/>
            <a:ext cx="5867400" cy="1447800"/>
          </a:xfrm>
        </p:spPr>
        <p:txBody>
          <a:bodyPr lIns="92075" tIns="46038" rIns="92075" bIns="46038"/>
          <a:lstStyle>
            <a:lvl1pPr marL="0" indent="0" algn="ctr">
              <a:buFont typeface="Wingdings" panose="05000000000000000000" pitchFamily="2" charset="2"/>
              <a:buNone/>
              <a:defRPr sz="2400"/>
            </a:lvl1pPr>
          </a:lstStyle>
          <a:p>
            <a:r>
              <a:rPr lang="en-US" altLang="zh-CN" dirty="0"/>
              <a:t>Click to edit Master subtitle style</a:t>
            </a:r>
          </a:p>
        </p:txBody>
      </p:sp>
      <p:sp>
        <p:nvSpPr>
          <p:cNvPr id="2" name="AutoShape 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 name="AutoShape 4"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8" name="AutoShape 6"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8"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 name="AutoShape 10"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1" name="AutoShape 1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p:cNvSpPr>
            <a:spLocks noChangeAspect="1" noChangeArrowheads="1"/>
          </p:cNvSpPr>
          <p:nvPr userDrawn="1"/>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4" name="Line 40">
            <a:extLst>
              <a:ext uri="{FF2B5EF4-FFF2-40B4-BE49-F238E27FC236}">
                <a16:creationId xmlns:a16="http://schemas.microsoft.com/office/drawing/2014/main" id="{47E7A004-4C17-4E90-9B1F-A53079647C4E}"/>
              </a:ext>
            </a:extLst>
          </p:cNvPr>
          <p:cNvSpPr>
            <a:spLocks noChangeShapeType="1"/>
          </p:cNvSpPr>
          <p:nvPr userDrawn="1"/>
        </p:nvSpPr>
        <p:spPr bwMode="auto">
          <a:xfrm>
            <a:off x="0" y="1524000"/>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
        <p:nvSpPr>
          <p:cNvPr id="15" name="Line 41">
            <a:extLst>
              <a:ext uri="{FF2B5EF4-FFF2-40B4-BE49-F238E27FC236}">
                <a16:creationId xmlns:a16="http://schemas.microsoft.com/office/drawing/2014/main" id="{B182633B-CEA5-4820-AD5C-EDC070FBCE34}"/>
              </a:ext>
            </a:extLst>
          </p:cNvPr>
          <p:cNvSpPr>
            <a:spLocks noChangeShapeType="1"/>
          </p:cNvSpPr>
          <p:nvPr userDrawn="1"/>
        </p:nvSpPr>
        <p:spPr bwMode="auto">
          <a:xfrm>
            <a:off x="0" y="4114800"/>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Tree>
    <p:extLst>
      <p:ext uri="{BB962C8B-B14F-4D97-AF65-F5344CB8AC3E}">
        <p14:creationId xmlns:p14="http://schemas.microsoft.com/office/powerpoint/2010/main" val="92079707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rtl="0" eaLnBrk="0" fontAlgn="base" hangingPunct="0">
              <a:spcBef>
                <a:spcPct val="0"/>
              </a:spcBef>
              <a:spcAft>
                <a:spcPct val="0"/>
              </a:spcAft>
              <a:defRPr lang="zh-CN" altLang="en-US" sz="3600" b="1" i="0" dirty="0">
                <a:solidFill>
                  <a:srgbClr val="C00000"/>
                </a:solidFill>
                <a:effectLst/>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p>
        </p:txBody>
      </p:sp>
      <p:sp>
        <p:nvSpPr>
          <p:cNvPr id="4" name="Line 40"/>
          <p:cNvSpPr>
            <a:spLocks noChangeShapeType="1"/>
          </p:cNvSpPr>
          <p:nvPr userDrawn="1"/>
        </p:nvSpPr>
        <p:spPr bwMode="auto">
          <a:xfrm>
            <a:off x="0" y="853440"/>
            <a:ext cx="9144000" cy="0"/>
          </a:xfrm>
          <a:prstGeom prst="line">
            <a:avLst/>
          </a:prstGeom>
          <a:noFill/>
          <a:ln w="3175">
            <a:solidFill>
              <a:srgbClr val="CC3300"/>
            </a:solidFill>
            <a:rou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panose="020B0604020202020204" pitchFamily="34" charset="0"/>
              <a:ea typeface="+mn-ea"/>
            </a:endParaRPr>
          </a:p>
        </p:txBody>
      </p:sp>
      <p:sp>
        <p:nvSpPr>
          <p:cNvPr id="5" name="内容占位符 2">
            <a:extLst>
              <a:ext uri="{FF2B5EF4-FFF2-40B4-BE49-F238E27FC236}">
                <a16:creationId xmlns:a16="http://schemas.microsoft.com/office/drawing/2014/main" id="{B7C88507-B677-40BD-B132-C70BD327B809}"/>
              </a:ext>
            </a:extLst>
          </p:cNvPr>
          <p:cNvSpPr>
            <a:spLocks noGrp="1"/>
          </p:cNvSpPr>
          <p:nvPr>
            <p:ph idx="1" hasCustomPrompt="1"/>
          </p:nvPr>
        </p:nvSpPr>
        <p:spPr>
          <a:xfrm>
            <a:off x="457200" y="990600"/>
            <a:ext cx="8305800" cy="5410200"/>
          </a:xfrm>
        </p:spPr>
        <p:txBody>
          <a:bodyPr/>
          <a:lstStyle>
            <a:lvl1pPr marL="342900" indent="-342900">
              <a:lnSpc>
                <a:spcPct val="120000"/>
              </a:lnSpc>
              <a:buClr>
                <a:srgbClr val="C00000"/>
              </a:buClr>
              <a:buFont typeface="Wingdings" panose="05000000000000000000" pitchFamily="2" charset="2"/>
              <a:buChar char="q"/>
              <a:defRPr lang="zh-CN" altLang="en-US" sz="2400" b="1" baseline="0" dirty="0" smtClean="0">
                <a:solidFill>
                  <a:schemeClr val="tx1"/>
                </a:solidFill>
                <a:latin typeface="+mj-ea"/>
                <a:ea typeface="+mj-ea"/>
                <a:cs typeface="+mn-cs"/>
              </a:defRPr>
            </a:lvl1pPr>
            <a:lvl2pPr marL="742950" indent="-285750">
              <a:lnSpc>
                <a:spcPct val="120000"/>
              </a:lnSpc>
              <a:buClr>
                <a:srgbClr val="C00000"/>
              </a:buClr>
              <a:buFont typeface="Wingdings" panose="05000000000000000000" pitchFamily="2" charset="2"/>
              <a:buChar char="Ø"/>
              <a:defRPr sz="2000" b="0" i="0" strike="noStrike" baseline="0">
                <a:solidFill>
                  <a:schemeClr val="tx1"/>
                </a:solidFill>
                <a:effectLst/>
                <a:latin typeface="+mj-ea"/>
                <a:ea typeface="+mj-ea"/>
              </a:defRPr>
            </a:lvl2pPr>
            <a:lvl3pPr marL="1143000" indent="-228600">
              <a:lnSpc>
                <a:spcPct val="120000"/>
              </a:lnSpc>
              <a:buClr>
                <a:srgbClr val="C00000"/>
              </a:buClr>
              <a:buFont typeface="Wingdings" panose="05000000000000000000" pitchFamily="2" charset="2"/>
              <a:buChar char="l"/>
              <a:defRPr sz="1800" b="0" i="0" baseline="0">
                <a:solidFill>
                  <a:schemeClr val="tx1"/>
                </a:solidFill>
                <a:latin typeface="+mj-ea"/>
                <a:ea typeface="+mj-ea"/>
              </a:defRPr>
            </a:lvl3pPr>
            <a:lvl4pPr marL="1600200" indent="-228600">
              <a:lnSpc>
                <a:spcPct val="120000"/>
              </a:lnSpc>
              <a:buClr>
                <a:srgbClr val="C00000"/>
              </a:buClr>
              <a:buFont typeface="Wingdings" panose="05000000000000000000" pitchFamily="2" charset="2"/>
              <a:buChar char="ü"/>
              <a:defRPr sz="1600" b="0" baseline="0">
                <a:solidFill>
                  <a:schemeClr val="tx1"/>
                </a:solidFill>
                <a:latin typeface="+mj-ea"/>
                <a:ea typeface="+mj-ea"/>
              </a:defRPr>
            </a:lvl4pPr>
            <a:lvl5pPr marL="2057400" indent="-228600">
              <a:buClr>
                <a:srgbClr val="111F65"/>
              </a:buClr>
              <a:buFont typeface="Wingdings" panose="05000000000000000000" pitchFamily="2" charset="2"/>
              <a:buChar char="l"/>
              <a:defRPr baseline="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Tree>
    <p:extLst>
      <p:ext uri="{BB962C8B-B14F-4D97-AF65-F5344CB8AC3E}">
        <p14:creationId xmlns:p14="http://schemas.microsoft.com/office/powerpoint/2010/main" val="200579382"/>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2" name="Rectangle 34"/>
          <p:cNvSpPr>
            <a:spLocks noGrp="1" noChangeArrowheads="1"/>
          </p:cNvSpPr>
          <p:nvPr>
            <p:ph type="title"/>
          </p:nvPr>
        </p:nvSpPr>
        <p:spPr bwMode="auto">
          <a:xfrm>
            <a:off x="393700" y="38100"/>
            <a:ext cx="8242300" cy="914400"/>
          </a:xfrm>
          <a:prstGeom prst="rect">
            <a:avLst/>
          </a:prstGeom>
          <a:noFill/>
          <a:ln w="9525">
            <a:noFill/>
            <a:miter lim="800000"/>
          </a:ln>
          <a:effectLst/>
        </p:spPr>
        <p:txBody>
          <a:bodyPr vert="horz" wrap="square" lIns="92075" tIns="46038" rIns="92075" bIns="46038" numCol="1" anchor="ctr" anchorCtr="0" compatLnSpc="1"/>
          <a:lstStyle/>
          <a:p>
            <a:pPr lvl="0"/>
            <a:r>
              <a:rPr lang="en-US" altLang="zh-CN" dirty="0"/>
              <a:t>Click to edit Master title style</a:t>
            </a:r>
          </a:p>
        </p:txBody>
      </p:sp>
      <p:sp>
        <p:nvSpPr>
          <p:cNvPr id="2087" name="Rectangle 39"/>
          <p:cNvSpPr>
            <a:spLocks noGrp="1" noChangeArrowheads="1"/>
          </p:cNvSpPr>
          <p:nvPr>
            <p:ph type="body" idx="1"/>
          </p:nvPr>
        </p:nvSpPr>
        <p:spPr bwMode="auto">
          <a:xfrm>
            <a:off x="457200" y="990600"/>
            <a:ext cx="8305800" cy="5410200"/>
          </a:xfrm>
          <a:prstGeom prst="rect">
            <a:avLst/>
          </a:prstGeom>
          <a:noFill/>
          <a:ln w="9525">
            <a:noFill/>
            <a:miter lim="800000"/>
          </a:ln>
          <a:effectLst/>
        </p:spPr>
        <p:txBody>
          <a:bodyPr vert="horz" wrap="square" lIns="91440" tIns="45720" rIns="91440" bIns="45720" numCol="1" anchor="t" anchorCtr="0" compatLnSpc="1"/>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Tree>
    <p:extLst>
      <p:ext uri="{BB962C8B-B14F-4D97-AF65-F5344CB8AC3E}">
        <p14:creationId xmlns:p14="http://schemas.microsoft.com/office/powerpoint/2010/main" val="1389683775"/>
      </p:ext>
    </p:extLst>
  </p:cSld>
  <p:clrMap bg1="lt1" tx1="dk1" bg2="lt2" tx2="dk2" accent1="accent1" accent2="accent2" accent3="accent3" accent4="accent4" accent5="accent5" accent6="accent6" hlink="hlink" folHlink="folHlink"/>
  <p:sldLayoutIdLst>
    <p:sldLayoutId id="2147484516" r:id="rId1"/>
    <p:sldLayoutId id="2147484517" r:id="rId2"/>
  </p:sldLayoutIdLst>
  <p:transition/>
  <p:hf hdr="0" ftr="0" dt="0"/>
  <p:txStyles>
    <p:titleStyle>
      <a:lvl1pPr algn="l" rtl="0" eaLnBrk="0" fontAlgn="base" hangingPunct="0">
        <a:spcBef>
          <a:spcPct val="0"/>
        </a:spcBef>
        <a:spcAft>
          <a:spcPct val="0"/>
        </a:spcAft>
        <a:defRPr lang="en-US" altLang="zh-CN" sz="3600" b="1" i="0" dirty="0" smtClean="0">
          <a:solidFill>
            <a:srgbClr val="C00000"/>
          </a:solidFill>
          <a:effectLst/>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2pPr>
      <a:lvl3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3pPr>
      <a:lvl4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4pPr>
      <a:lvl5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5pPr>
      <a:lvl6pPr marL="4572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6pPr>
      <a:lvl7pPr marL="9144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7pPr>
      <a:lvl8pPr marL="13716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8pPr>
      <a:lvl9pPr marL="18288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9pPr>
    </p:titleStyle>
    <p:bodyStyle>
      <a:lvl1pPr marL="342900" indent="-342900" algn="l" rtl="0" eaLnBrk="0" fontAlgn="base" hangingPunct="0">
        <a:spcBef>
          <a:spcPct val="20000"/>
        </a:spcBef>
        <a:spcAft>
          <a:spcPct val="0"/>
        </a:spcAft>
        <a:buClrTx/>
        <a:buFont typeface="Wingdings" panose="05000000000000000000" pitchFamily="2" charset="2"/>
        <a:buChar char="l"/>
        <a:defRPr lang="en-US" altLang="zh-CN" sz="2400" b="1" baseline="0" dirty="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Tx/>
        <a:buFont typeface="Wingdings" panose="05000000000000000000" pitchFamily="2" charset="2"/>
        <a:buChar char="l"/>
        <a:defRPr lang="en-US" altLang="zh-CN" sz="2400" b="1" baseline="0" dirty="0">
          <a:solidFill>
            <a:schemeClr val="tx1"/>
          </a:solidFill>
          <a:effectLst/>
          <a:latin typeface="微软雅黑" panose="020B0503020204020204" pitchFamily="34" charset="-122"/>
          <a:ea typeface="微软雅黑" panose="020B0503020204020204" pitchFamily="34" charset="-122"/>
          <a:cs typeface="+mn-cs"/>
        </a:defRPr>
      </a:lvl2pPr>
      <a:lvl3pPr marL="1143000" indent="-228600" algn="l" rtl="0" eaLnBrk="0" fontAlgn="base" hangingPunct="0">
        <a:spcBef>
          <a:spcPct val="20000"/>
        </a:spcBef>
        <a:spcAft>
          <a:spcPct val="0"/>
        </a:spcAft>
        <a:buClrTx/>
        <a:buFont typeface="Wingdings" panose="05000000000000000000" pitchFamily="2" charset="2"/>
        <a:buChar char="l"/>
        <a:defRPr lang="en-US" altLang="zh-CN" sz="2400" b="1" i="1" baseline="0" dirty="0">
          <a:solidFill>
            <a:schemeClr val="tx1"/>
          </a:solidFill>
          <a:effectLst/>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baseline="0" dirty="0">
          <a:solidFill>
            <a:schemeClr val="tx1"/>
          </a:solidFill>
          <a:effectLst/>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ClrTx/>
        <a:buSzPct val="100000"/>
        <a:buFont typeface="Wingdings" panose="05000000000000000000" pitchFamily="2" charset="2"/>
        <a:buChar char="l"/>
        <a:defRPr lang="en-US" altLang="zh-CN" sz="2400" b="1" i="1" baseline="0" dirty="0">
          <a:solidFill>
            <a:schemeClr val="tx1"/>
          </a:solidFill>
          <a:effectLst/>
          <a:latin typeface="微软雅黑" panose="020B0503020204020204" pitchFamily="34" charset="-122"/>
          <a:ea typeface="微软雅黑" panose="020B0503020204020204" pitchFamily="34" charset="-122"/>
          <a:cs typeface="+mn-cs"/>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sz="quarter"/>
          </p:nvPr>
        </p:nvSpPr>
        <p:spPr>
          <a:xfrm>
            <a:off x="611823" y="2164080"/>
            <a:ext cx="7900987" cy="1524000"/>
          </a:xfrm>
        </p:spPr>
        <p:txBody>
          <a:bodyPr/>
          <a:lstStyle/>
          <a:p>
            <a:pPr eaLnBrk="1" hangingPunct="1">
              <a:lnSpc>
                <a:spcPct val="120000"/>
              </a:lnSpc>
            </a:pPr>
            <a:r>
              <a:rPr lang="zh-CN" altLang="en-US" sz="4800" dirty="0">
                <a:solidFill>
                  <a:srgbClr val="C00000"/>
                </a:solidFill>
              </a:rPr>
              <a:t>第三章：物联网操作系统</a:t>
            </a:r>
            <a:endParaRPr lang="en-US" altLang="zh-CN" sz="4800" b="1" dirty="0">
              <a:solidFill>
                <a:srgbClr val="C00000"/>
              </a:solidFill>
              <a:effectLst/>
              <a:latin typeface="微软雅黑" pitchFamily="34" charset="-122"/>
              <a:ea typeface="微软雅黑" pitchFamily="3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97A574-2B6E-4760-8CF1-56F95576E492}"/>
              </a:ext>
            </a:extLst>
          </p:cNvPr>
          <p:cNvSpPr>
            <a:spLocks noGrp="1"/>
          </p:cNvSpPr>
          <p:nvPr>
            <p:ph type="title"/>
          </p:nvPr>
        </p:nvSpPr>
        <p:spPr/>
        <p:txBody>
          <a:bodyPr/>
          <a:lstStyle/>
          <a:p>
            <a:r>
              <a:rPr lang="zh-CN" altLang="en-US" dirty="0"/>
              <a:t>学习目标</a:t>
            </a:r>
          </a:p>
        </p:txBody>
      </p:sp>
      <p:sp>
        <p:nvSpPr>
          <p:cNvPr id="3" name="内容占位符 2">
            <a:extLst>
              <a:ext uri="{FF2B5EF4-FFF2-40B4-BE49-F238E27FC236}">
                <a16:creationId xmlns:a16="http://schemas.microsoft.com/office/drawing/2014/main" id="{510C0A9B-C386-438B-8531-63EE2B04D00E}"/>
              </a:ext>
            </a:extLst>
          </p:cNvPr>
          <p:cNvSpPr>
            <a:spLocks noGrp="1"/>
          </p:cNvSpPr>
          <p:nvPr>
            <p:ph idx="1"/>
          </p:nvPr>
        </p:nvSpPr>
        <p:spPr/>
        <p:txBody>
          <a:bodyPr/>
          <a:lstStyle/>
          <a:p>
            <a:endParaRPr lang="en-US" altLang="zh-CN" dirty="0"/>
          </a:p>
          <a:p>
            <a:r>
              <a:rPr lang="zh-CN" altLang="en-US" dirty="0"/>
              <a:t>理解物联网操作系统的作用</a:t>
            </a:r>
          </a:p>
          <a:p>
            <a:r>
              <a:rPr lang="zh-CN" altLang="en-US" dirty="0"/>
              <a:t>理解物联网操作系统与传统操作系统的区别</a:t>
            </a:r>
          </a:p>
          <a:p>
            <a:r>
              <a:rPr lang="zh-CN" altLang="en-US" dirty="0">
                <a:solidFill>
                  <a:srgbClr val="C00000"/>
                </a:solidFill>
              </a:rPr>
              <a:t>掌握</a:t>
            </a:r>
            <a:r>
              <a:rPr lang="en-US" altLang="zh-CN" dirty="0"/>
              <a:t>Contiki OS</a:t>
            </a:r>
            <a:r>
              <a:rPr lang="zh-CN" altLang="en-US" dirty="0"/>
              <a:t>的</a:t>
            </a:r>
            <a:r>
              <a:rPr lang="en-US" altLang="zh-CN" dirty="0"/>
              <a:t>protothreads</a:t>
            </a:r>
            <a:r>
              <a:rPr lang="zh-CN" altLang="en-US" dirty="0"/>
              <a:t>编程模型</a:t>
            </a:r>
          </a:p>
          <a:p>
            <a:r>
              <a:rPr lang="zh-CN" altLang="en-US" dirty="0"/>
              <a:t>理解</a:t>
            </a:r>
            <a:r>
              <a:rPr lang="en-US" altLang="zh-CN" dirty="0" err="1"/>
              <a:t>AliOS</a:t>
            </a:r>
            <a:r>
              <a:rPr lang="en-US" altLang="zh-CN" dirty="0"/>
              <a:t> Things</a:t>
            </a:r>
            <a:r>
              <a:rPr lang="zh-CN" altLang="en-US" dirty="0"/>
              <a:t>和</a:t>
            </a:r>
            <a:r>
              <a:rPr lang="en-US" altLang="zh-CN" dirty="0" err="1"/>
              <a:t>HarmonyOS</a:t>
            </a:r>
            <a:r>
              <a:rPr lang="zh-CN" altLang="en-US" dirty="0"/>
              <a:t>的关键特性</a:t>
            </a:r>
          </a:p>
          <a:p>
            <a:r>
              <a:rPr lang="zh-CN" altLang="en-US" dirty="0">
                <a:solidFill>
                  <a:srgbClr val="C00000"/>
                </a:solidFill>
              </a:rPr>
              <a:t>掌握</a:t>
            </a:r>
            <a:r>
              <a:rPr lang="zh-CN" altLang="en-US" dirty="0"/>
              <a:t>基于</a:t>
            </a:r>
            <a:r>
              <a:rPr lang="en-US" altLang="zh-CN" dirty="0"/>
              <a:t>Contiki OS</a:t>
            </a:r>
            <a:r>
              <a:rPr lang="zh-CN" altLang="en-US" dirty="0"/>
              <a:t>和</a:t>
            </a:r>
            <a:r>
              <a:rPr lang="en-US" altLang="zh-CN" dirty="0" err="1"/>
              <a:t>AliOS</a:t>
            </a:r>
            <a:r>
              <a:rPr lang="en-US" altLang="zh-CN" dirty="0"/>
              <a:t> Things</a:t>
            </a:r>
            <a:r>
              <a:rPr lang="zh-CN" altLang="en-US" dirty="0"/>
              <a:t>的应用软件开发方法</a:t>
            </a:r>
          </a:p>
          <a:p>
            <a:r>
              <a:rPr lang="zh-CN" altLang="en-US" dirty="0">
                <a:solidFill>
                  <a:srgbClr val="C00000"/>
                </a:solidFill>
              </a:rPr>
              <a:t>掌握</a:t>
            </a:r>
            <a:r>
              <a:rPr lang="zh-CN" altLang="en-US" dirty="0"/>
              <a:t>根据应用需求选择物联网操作系统的基本方法</a:t>
            </a:r>
          </a:p>
          <a:p>
            <a:endParaRPr lang="zh-CN" altLang="en-US" dirty="0"/>
          </a:p>
        </p:txBody>
      </p:sp>
    </p:spTree>
    <p:extLst>
      <p:ext uri="{BB962C8B-B14F-4D97-AF65-F5344CB8AC3E}">
        <p14:creationId xmlns:p14="http://schemas.microsoft.com/office/powerpoint/2010/main" val="95561277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目录</a:t>
            </a:r>
            <a:endParaRPr lang="zh-CN" altLang="en-US" dirty="0"/>
          </a:p>
        </p:txBody>
      </p:sp>
      <p:sp>
        <p:nvSpPr>
          <p:cNvPr id="5" name="内容占位符 2"/>
          <p:cNvSpPr>
            <a:spLocks noGrp="1"/>
          </p:cNvSpPr>
          <p:nvPr>
            <p:ph idx="1"/>
          </p:nvPr>
        </p:nvSpPr>
        <p:spPr>
          <a:xfrm>
            <a:off x="457200" y="990600"/>
            <a:ext cx="8305800" cy="5410200"/>
          </a:xfrm>
        </p:spPr>
        <p:txBody>
          <a:bodyPr>
            <a:normAutofit/>
          </a:bodyPr>
          <a:lstStyle/>
          <a:p>
            <a:endParaRPr lang="en-US" altLang="zh-CN" sz="2800" dirty="0"/>
          </a:p>
          <a:p>
            <a:r>
              <a:rPr lang="zh-CN" altLang="en-US" sz="2800" dirty="0"/>
              <a:t>概述</a:t>
            </a:r>
            <a:endParaRPr lang="en-US" altLang="zh-CN" sz="2800" dirty="0"/>
          </a:p>
          <a:p>
            <a:r>
              <a:rPr lang="zh-CN" altLang="en-US" sz="2800" dirty="0"/>
              <a:t>关键特性</a:t>
            </a:r>
            <a:endParaRPr lang="en-US" altLang="zh-CN" sz="2800" dirty="0"/>
          </a:p>
          <a:p>
            <a:r>
              <a:rPr lang="zh-CN" altLang="en-US" sz="2800" dirty="0"/>
              <a:t>典型物联网操作系统</a:t>
            </a:r>
            <a:endParaRPr lang="en-US" altLang="zh-CN" sz="2800" dirty="0"/>
          </a:p>
          <a:p>
            <a:r>
              <a:rPr lang="zh-CN" altLang="en-US" sz="2800" dirty="0"/>
              <a:t>案例开发</a:t>
            </a:r>
            <a:endParaRPr lang="en-US" altLang="zh-CN" sz="2800" dirty="0"/>
          </a:p>
          <a:p>
            <a:r>
              <a:rPr lang="zh-CN" altLang="en-US" sz="2800" dirty="0"/>
              <a:t>学术研究进展</a:t>
            </a:r>
            <a:endParaRPr lang="en-US" altLang="zh-CN" sz="2800" dirty="0"/>
          </a:p>
        </p:txBody>
      </p:sp>
    </p:spTree>
    <p:extLst>
      <p:ext uri="{BB962C8B-B14F-4D97-AF65-F5344CB8AC3E}">
        <p14:creationId xmlns:p14="http://schemas.microsoft.com/office/powerpoint/2010/main" val="305690790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简介</a:t>
            </a:r>
            <a:endParaRPr lang="en-US" altLang="zh-CN" dirty="0"/>
          </a:p>
        </p:txBody>
      </p:sp>
      <p:sp>
        <p:nvSpPr>
          <p:cNvPr id="3" name="内容占位符 2"/>
          <p:cNvSpPr>
            <a:spLocks noGrp="1"/>
          </p:cNvSpPr>
          <p:nvPr>
            <p:ph idx="1"/>
          </p:nvPr>
        </p:nvSpPr>
        <p:spPr>
          <a:xfrm>
            <a:off x="457200" y="990600"/>
            <a:ext cx="8305800" cy="5410200"/>
          </a:xfrm>
        </p:spPr>
        <p:txBody>
          <a:bodyPr>
            <a:normAutofit lnSpcReduction="10000"/>
          </a:bodyPr>
          <a:lstStyle/>
          <a:p>
            <a:r>
              <a:rPr lang="zh-CN" altLang="en-US" dirty="0"/>
              <a:t>物联网操作系统</a:t>
            </a:r>
            <a:endParaRPr lang="en-US" altLang="zh-CN" dirty="0"/>
          </a:p>
          <a:p>
            <a:pPr lvl="1"/>
            <a:r>
              <a:rPr lang="zh-CN" altLang="en-US" dirty="0"/>
              <a:t>物联网操作系统是支撑物联网大规模发展的核心软件。</a:t>
            </a:r>
            <a:endParaRPr lang="en-US" altLang="zh-CN" dirty="0"/>
          </a:p>
          <a:p>
            <a:pPr lvl="1"/>
            <a:r>
              <a:rPr lang="zh-CN" altLang="en-US" dirty="0"/>
              <a:t>物联网操作系统屏蔽了物联网硬件开发的差异性，提供了</a:t>
            </a:r>
            <a:r>
              <a:rPr lang="zh-CN" altLang="en-US" b="1" dirty="0"/>
              <a:t>统一的编程接口</a:t>
            </a:r>
            <a:r>
              <a:rPr lang="zh-CN" altLang="en-US" dirty="0"/>
              <a:t>，为多个应用的执行提供了运行时环境，降低了物联网应用开发的成本和时间，</a:t>
            </a:r>
            <a:r>
              <a:rPr lang="zh-CN" altLang="en-US" b="1" dirty="0">
                <a:solidFill>
                  <a:srgbClr val="C00000"/>
                </a:solidFill>
              </a:rPr>
              <a:t>为物联网的统一管理奠定了基础</a:t>
            </a:r>
            <a:endParaRPr lang="en-US" altLang="zh-CN" b="1" dirty="0">
              <a:solidFill>
                <a:srgbClr val="C00000"/>
              </a:solidFill>
            </a:endParaRPr>
          </a:p>
          <a:p>
            <a:r>
              <a:rPr lang="zh-CN" altLang="en-US" dirty="0"/>
              <a:t>硬件抽象是操作系统核心功能之一</a:t>
            </a:r>
            <a:endParaRPr lang="en-US" altLang="zh-CN" dirty="0"/>
          </a:p>
          <a:p>
            <a:pPr lvl="1"/>
            <a:r>
              <a:rPr lang="zh-CN" altLang="en-US" dirty="0"/>
              <a:t>开发者可以基于统一的操作系统建议庞大的应用生态</a:t>
            </a:r>
            <a:endParaRPr lang="en-US" altLang="zh-CN" dirty="0"/>
          </a:p>
          <a:p>
            <a:pPr lvl="1"/>
            <a:r>
              <a:rPr lang="zh-CN" altLang="en-US" dirty="0"/>
              <a:t>对物联网操作系统尤为重要</a:t>
            </a:r>
            <a:endParaRPr lang="en-US" altLang="zh-CN" dirty="0"/>
          </a:p>
          <a:p>
            <a:r>
              <a:rPr lang="zh-CN" altLang="en-US" dirty="0"/>
              <a:t>物联网操作系统发展现状</a:t>
            </a:r>
            <a:endParaRPr lang="en-US" altLang="zh-CN" dirty="0"/>
          </a:p>
          <a:p>
            <a:pPr lvl="1"/>
            <a:r>
              <a:rPr lang="zh-CN" altLang="en-US" dirty="0"/>
              <a:t>数量众多，百家争鸣</a:t>
            </a:r>
            <a:endParaRPr lang="en-US" altLang="zh-CN" dirty="0"/>
          </a:p>
          <a:p>
            <a:pPr lvl="1"/>
            <a:r>
              <a:rPr lang="zh-CN" altLang="en-US" dirty="0"/>
              <a:t>包括谷歌（</a:t>
            </a:r>
            <a:r>
              <a:rPr lang="en-US" altLang="zh-CN" dirty="0"/>
              <a:t>Android Things</a:t>
            </a:r>
            <a:r>
              <a:rPr lang="zh-CN" altLang="en-US" dirty="0"/>
              <a:t>）、微软（</a:t>
            </a:r>
            <a:r>
              <a:rPr lang="en-US" altLang="zh-CN" dirty="0"/>
              <a:t>Windows 10 IoT Core</a:t>
            </a:r>
            <a:r>
              <a:rPr lang="zh-CN" altLang="en-US" dirty="0"/>
              <a:t>）、</a:t>
            </a:r>
            <a:r>
              <a:rPr lang="en-US" altLang="zh-CN" dirty="0"/>
              <a:t>ARM</a:t>
            </a:r>
            <a:r>
              <a:rPr lang="zh-CN" altLang="en-US" dirty="0"/>
              <a:t>（</a:t>
            </a:r>
            <a:r>
              <a:rPr lang="en-US" altLang="zh-CN" dirty="0" err="1"/>
              <a:t>mbed</a:t>
            </a:r>
            <a:r>
              <a:rPr lang="en-US" altLang="zh-CN" dirty="0"/>
              <a:t> OS</a:t>
            </a:r>
            <a:r>
              <a:rPr lang="zh-CN" altLang="en-US" dirty="0"/>
              <a:t>）、阿里巴巴（</a:t>
            </a:r>
            <a:r>
              <a:rPr lang="en-US" altLang="zh-CN" dirty="0" err="1"/>
              <a:t>AliOS</a:t>
            </a:r>
            <a:r>
              <a:rPr lang="en-US" altLang="zh-CN" dirty="0"/>
              <a:t> Things</a:t>
            </a:r>
            <a:r>
              <a:rPr lang="zh-CN" altLang="en-US" dirty="0"/>
              <a:t>）、华为（</a:t>
            </a:r>
            <a:r>
              <a:rPr lang="en-US" altLang="zh-CN" dirty="0"/>
              <a:t>Huawei </a:t>
            </a:r>
            <a:r>
              <a:rPr lang="en-US" altLang="zh-CN" dirty="0" err="1"/>
              <a:t>HarmonyOS</a:t>
            </a:r>
            <a:r>
              <a:rPr lang="zh-CN" altLang="en-US" dirty="0"/>
              <a:t>）等</a:t>
            </a:r>
            <a:endParaRPr lang="en-US" altLang="zh-CN" dirty="0"/>
          </a:p>
          <a:p>
            <a:endParaRPr lang="zh-CN" altLang="en-US" dirty="0"/>
          </a:p>
        </p:txBody>
      </p:sp>
      <p:sp>
        <p:nvSpPr>
          <p:cNvPr id="6" name="灯片编号占位符 4">
            <a:extLst>
              <a:ext uri="{FF2B5EF4-FFF2-40B4-BE49-F238E27FC236}">
                <a16:creationId xmlns:a16="http://schemas.microsoft.com/office/drawing/2014/main" id="{793F1C21-C827-48EC-A31C-4E3C78AECBC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5813373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简介</a:t>
            </a:r>
            <a:endParaRPr lang="en-US" altLang="zh-CN" dirty="0"/>
          </a:p>
        </p:txBody>
      </p:sp>
      <p:sp>
        <p:nvSpPr>
          <p:cNvPr id="3" name="内容占位符 2"/>
          <p:cNvSpPr>
            <a:spLocks noGrp="1"/>
          </p:cNvSpPr>
          <p:nvPr>
            <p:ph idx="1"/>
          </p:nvPr>
        </p:nvSpPr>
        <p:spPr>
          <a:xfrm>
            <a:off x="457200" y="990600"/>
            <a:ext cx="8305800" cy="5410200"/>
          </a:xfrm>
        </p:spPr>
        <p:txBody>
          <a:bodyPr/>
          <a:lstStyle/>
          <a:p>
            <a:r>
              <a:rPr lang="zh-CN" altLang="en-US" dirty="0"/>
              <a:t>物联网操作系统与传统操作系统区别</a:t>
            </a:r>
            <a:endParaRPr lang="en-US" altLang="zh-CN" dirty="0"/>
          </a:p>
          <a:p>
            <a:pPr lvl="1"/>
            <a:r>
              <a:rPr lang="zh-CN" altLang="en-US" dirty="0"/>
              <a:t>存储空间占用不同：物联网操作系统与传统操作系统相比内存占用较小，一般只有几十</a:t>
            </a:r>
            <a:r>
              <a:rPr lang="en-US" altLang="zh-CN" dirty="0"/>
              <a:t>KB</a:t>
            </a:r>
          </a:p>
          <a:p>
            <a:pPr lvl="2"/>
            <a:endParaRPr lang="en-US" altLang="zh-CN" dirty="0"/>
          </a:p>
          <a:p>
            <a:pPr lvl="2"/>
            <a:endParaRPr lang="en-US" altLang="zh-CN" dirty="0"/>
          </a:p>
          <a:p>
            <a:pPr lvl="2"/>
            <a:endParaRPr lang="en-US" altLang="zh-CN" dirty="0"/>
          </a:p>
          <a:p>
            <a:pPr lvl="2"/>
            <a:endParaRPr lang="en-US" altLang="zh-CN" dirty="0"/>
          </a:p>
          <a:p>
            <a:pPr lvl="2"/>
            <a:endParaRPr lang="en-US" altLang="zh-CN" dirty="0"/>
          </a:p>
          <a:p>
            <a:pPr lvl="2"/>
            <a:endParaRPr lang="en-US" altLang="zh-CN" dirty="0"/>
          </a:p>
          <a:p>
            <a:pPr lvl="2"/>
            <a:endParaRPr lang="en-US" altLang="zh-CN" dirty="0"/>
          </a:p>
          <a:p>
            <a:pPr lvl="2"/>
            <a:endParaRPr lang="en-US" altLang="zh-CN" dirty="0"/>
          </a:p>
          <a:p>
            <a:pPr lvl="1"/>
            <a:endParaRPr lang="en-US" altLang="zh-CN" dirty="0"/>
          </a:p>
          <a:p>
            <a:endParaRPr lang="zh-CN" altLang="en-US" dirty="0"/>
          </a:p>
        </p:txBody>
      </p:sp>
      <p:sp>
        <p:nvSpPr>
          <p:cNvPr id="15" name="灯片编号占位符 4">
            <a:extLst>
              <a:ext uri="{FF2B5EF4-FFF2-40B4-BE49-F238E27FC236}">
                <a16:creationId xmlns:a16="http://schemas.microsoft.com/office/drawing/2014/main" id="{E813E796-D937-48CA-83CF-8D3FA11446C8}"/>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a:t>
            </a:fld>
            <a:endParaRPr lang="zh-CN" altLang="zh-CN" sz="1800" baseline="0">
              <a:solidFill>
                <a:schemeClr val="folHlink"/>
              </a:solidFill>
              <a:latin typeface="Monotype Corsiva" panose="03010101010201010101" pitchFamily="66" charset="0"/>
            </a:endParaRPr>
          </a:p>
        </p:txBody>
      </p:sp>
      <p:pic>
        <p:nvPicPr>
          <p:cNvPr id="17" name="图片 16" descr="3-1">
            <a:extLst>
              <a:ext uri="{FF2B5EF4-FFF2-40B4-BE49-F238E27FC236}">
                <a16:creationId xmlns:a16="http://schemas.microsoft.com/office/drawing/2014/main" id="{0E640895-C566-42C3-BF37-E3B9BF2F54EF}"/>
              </a:ext>
            </a:extLst>
          </p:cNvPr>
          <p:cNvPicPr/>
          <p:nvPr/>
        </p:nvPicPr>
        <p:blipFill>
          <a:blip r:embed="rId3"/>
          <a:stretch>
            <a:fillRect/>
          </a:stretch>
        </p:blipFill>
        <p:spPr>
          <a:xfrm>
            <a:off x="1417529" y="2529840"/>
            <a:ext cx="6194642" cy="3909060"/>
          </a:xfrm>
          <a:prstGeom prst="rect">
            <a:avLst/>
          </a:prstGeom>
        </p:spPr>
      </p:pic>
    </p:spTree>
    <p:extLst>
      <p:ext uri="{BB962C8B-B14F-4D97-AF65-F5344CB8AC3E}">
        <p14:creationId xmlns:p14="http://schemas.microsoft.com/office/powerpoint/2010/main" val="356204106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a:t>简介</a:t>
            </a:r>
            <a:endParaRPr lang="en-US" altLang="zh-CN" dirty="0"/>
          </a:p>
        </p:txBody>
      </p:sp>
      <p:sp>
        <p:nvSpPr>
          <p:cNvPr id="3" name="内容占位符 2"/>
          <p:cNvSpPr>
            <a:spLocks noGrp="1"/>
          </p:cNvSpPr>
          <p:nvPr>
            <p:ph idx="1"/>
          </p:nvPr>
        </p:nvSpPr>
        <p:spPr>
          <a:xfrm>
            <a:off x="457200" y="990600"/>
            <a:ext cx="8305800" cy="5410200"/>
          </a:xfrm>
        </p:spPr>
        <p:txBody>
          <a:bodyPr/>
          <a:lstStyle/>
          <a:p>
            <a:r>
              <a:rPr lang="zh-CN" altLang="en-US" dirty="0"/>
              <a:t>物联网操作系统与传统操作系统区别</a:t>
            </a:r>
            <a:endParaRPr lang="en-US" altLang="zh-CN" dirty="0"/>
          </a:p>
          <a:p>
            <a:pPr lvl="1"/>
            <a:r>
              <a:rPr lang="zh-CN" altLang="en-US" dirty="0"/>
              <a:t>内存管理方式不同</a:t>
            </a:r>
            <a:endParaRPr lang="en-US" altLang="zh-CN" dirty="0"/>
          </a:p>
          <a:p>
            <a:pPr lvl="2"/>
            <a:r>
              <a:rPr lang="zh-CN" altLang="en-US" dirty="0"/>
              <a:t>传统操作系统一般运行在具有内存管理单元（</a:t>
            </a:r>
            <a:r>
              <a:rPr lang="en-US" altLang="zh-CN" dirty="0"/>
              <a:t>MMU</a:t>
            </a:r>
            <a:r>
              <a:rPr lang="zh-CN" altLang="en-US" dirty="0"/>
              <a:t>）的设备上，能够提供</a:t>
            </a:r>
            <a:r>
              <a:rPr lang="zh-CN" altLang="en-US" b="1" dirty="0"/>
              <a:t>地址翻译和内存保护</a:t>
            </a:r>
            <a:r>
              <a:rPr lang="zh-CN" altLang="en-US" dirty="0"/>
              <a:t>功能</a:t>
            </a:r>
            <a:endParaRPr lang="en-US" altLang="zh-CN" dirty="0"/>
          </a:p>
          <a:p>
            <a:pPr lvl="2"/>
            <a:r>
              <a:rPr lang="zh-CN" altLang="en-US" dirty="0"/>
              <a:t>物联网操作系统则</a:t>
            </a:r>
            <a:r>
              <a:rPr lang="zh-CN" altLang="en-US" b="1" dirty="0"/>
              <a:t>因设备而异</a:t>
            </a:r>
            <a:r>
              <a:rPr lang="zh-CN" altLang="en-US" dirty="0"/>
              <a:t>，当运行在缺乏</a:t>
            </a:r>
            <a:r>
              <a:rPr lang="en-US" altLang="zh-CN" dirty="0"/>
              <a:t>MMU</a:t>
            </a:r>
            <a:r>
              <a:rPr lang="zh-CN" altLang="en-US" dirty="0"/>
              <a:t>的设备上时，一般很难提供地址翻译和内存保护功能，当运行在具备</a:t>
            </a:r>
            <a:r>
              <a:rPr lang="en-US" altLang="zh-CN" dirty="0"/>
              <a:t>MMU</a:t>
            </a:r>
            <a:r>
              <a:rPr lang="zh-CN" altLang="en-US" dirty="0"/>
              <a:t>的设备上时，可以提供轻量级的地址翻译和内存保护功能</a:t>
            </a:r>
            <a:endParaRPr lang="en-US" altLang="zh-CN" dirty="0"/>
          </a:p>
          <a:p>
            <a:pPr lvl="1"/>
            <a:r>
              <a:rPr lang="en-US" altLang="zh-CN" dirty="0"/>
              <a:t>OS</a:t>
            </a:r>
            <a:r>
              <a:rPr lang="zh-CN" altLang="en-US" dirty="0"/>
              <a:t>特权模式不同</a:t>
            </a:r>
            <a:endParaRPr lang="en-US" altLang="zh-CN" dirty="0"/>
          </a:p>
          <a:p>
            <a:pPr lvl="2"/>
            <a:r>
              <a:rPr lang="zh-CN" altLang="zh-CN" sz="1800" kern="500" dirty="0">
                <a:solidFill>
                  <a:srgbClr val="000000"/>
                </a:solidFill>
                <a:effectLst/>
                <a:ea typeface="汉仪书宋二简"/>
                <a:cs typeface="Courier New" panose="02070309020205020404" pitchFamily="49" charset="0"/>
              </a:rPr>
              <a:t>传统操作系统一般运行在具有特权模式的</a:t>
            </a:r>
            <a:r>
              <a:rPr lang="en-US" altLang="zh-CN" sz="1800" kern="500" dirty="0">
                <a:solidFill>
                  <a:srgbClr val="000000"/>
                </a:solidFill>
                <a:effectLst/>
                <a:latin typeface="Times New Roman" panose="02020603050405020304" pitchFamily="18" charset="0"/>
                <a:ea typeface="汉仪书宋二简"/>
                <a:cs typeface="Courier New" panose="02070309020205020404" pitchFamily="49" charset="0"/>
              </a:rPr>
              <a:t>CPU</a:t>
            </a:r>
            <a:r>
              <a:rPr lang="zh-CN" altLang="zh-CN" sz="1800" kern="500" dirty="0">
                <a:solidFill>
                  <a:srgbClr val="000000"/>
                </a:solidFill>
                <a:effectLst/>
                <a:ea typeface="汉仪书宋二简"/>
                <a:cs typeface="Courier New" panose="02070309020205020404" pitchFamily="49" charset="0"/>
              </a:rPr>
              <a:t>上</a:t>
            </a:r>
            <a:endParaRPr lang="en-US" altLang="zh-CN" sz="1800" kern="500" dirty="0">
              <a:solidFill>
                <a:srgbClr val="000000"/>
              </a:solidFill>
              <a:effectLst/>
              <a:ea typeface="汉仪书宋二简"/>
              <a:cs typeface="Courier New" panose="02070309020205020404" pitchFamily="49" charset="0"/>
            </a:endParaRPr>
          </a:p>
          <a:p>
            <a:pPr lvl="2"/>
            <a:r>
              <a:rPr lang="zh-CN" altLang="zh-CN" sz="1800" kern="500" dirty="0">
                <a:solidFill>
                  <a:srgbClr val="000000"/>
                </a:solidFill>
                <a:effectLst/>
                <a:ea typeface="汉仪书宋二简"/>
                <a:cs typeface="Courier New" panose="02070309020205020404" pitchFamily="49" charset="0"/>
              </a:rPr>
              <a:t>很多物联网芯片不具有</a:t>
            </a:r>
            <a:r>
              <a:rPr lang="en-US" altLang="zh-CN" sz="1800" kern="500" dirty="0">
                <a:solidFill>
                  <a:srgbClr val="000000"/>
                </a:solidFill>
                <a:effectLst/>
                <a:latin typeface="Times New Roman" panose="02020603050405020304" pitchFamily="18" charset="0"/>
                <a:ea typeface="汉仪书宋二简"/>
                <a:cs typeface="Courier New" panose="02070309020205020404" pitchFamily="49" charset="0"/>
              </a:rPr>
              <a:t>CPU</a:t>
            </a:r>
            <a:r>
              <a:rPr lang="zh-CN" altLang="zh-CN" sz="1800" kern="500" dirty="0">
                <a:solidFill>
                  <a:srgbClr val="000000"/>
                </a:solidFill>
                <a:effectLst/>
                <a:ea typeface="汉仪书宋二简"/>
                <a:cs typeface="Courier New" panose="02070309020205020404" pitchFamily="49" charset="0"/>
              </a:rPr>
              <a:t>特权模式，所有的指令都能访问任何硬件资源</a:t>
            </a:r>
            <a:endParaRPr lang="en-US" altLang="zh-CN" kern="500" dirty="0">
              <a:solidFill>
                <a:srgbClr val="000000"/>
              </a:solidFill>
              <a:ea typeface="汉仪书宋二简"/>
              <a:cs typeface="Courier New" panose="02070309020205020404" pitchFamily="49" charset="0"/>
            </a:endParaRPr>
          </a:p>
          <a:p>
            <a:pPr lvl="3"/>
            <a:r>
              <a:rPr lang="zh-CN" altLang="en-US" b="0" dirty="0"/>
              <a:t>由于缺乏</a:t>
            </a:r>
            <a:r>
              <a:rPr lang="en-US" altLang="zh-CN" b="0" dirty="0"/>
              <a:t>CPU</a:t>
            </a:r>
            <a:r>
              <a:rPr lang="zh-CN" altLang="en-US" b="0" dirty="0"/>
              <a:t>特权模式，物联网操作系统很难解决</a:t>
            </a:r>
            <a:r>
              <a:rPr lang="zh-CN" altLang="en-US" b="1" dirty="0"/>
              <a:t>控制冒险</a:t>
            </a:r>
            <a:r>
              <a:rPr lang="en-US" altLang="zh-CN" b="1" dirty="0"/>
              <a:t>(Control hazards)</a:t>
            </a:r>
            <a:r>
              <a:rPr lang="zh-CN" altLang="en-US" b="0" dirty="0"/>
              <a:t>的问题，这是因为有</a:t>
            </a:r>
            <a:r>
              <a:rPr lang="en-US" altLang="zh-CN" b="0" dirty="0"/>
              <a:t>Bug</a:t>
            </a:r>
            <a:r>
              <a:rPr lang="zh-CN" altLang="en-US" b="0" dirty="0"/>
              <a:t>的程序可以在不受操作系统的控制下轻松地占用</a:t>
            </a:r>
            <a:r>
              <a:rPr lang="en-US" altLang="zh-CN" b="0" dirty="0"/>
              <a:t>CPU</a:t>
            </a:r>
            <a:r>
              <a:rPr lang="zh-CN" altLang="en-US" b="0" dirty="0"/>
              <a:t>周期，从而导致传感器节点没有响应</a:t>
            </a:r>
            <a:endParaRPr lang="en-US" altLang="zh-CN" dirty="0"/>
          </a:p>
          <a:p>
            <a:pPr lvl="2"/>
            <a:endParaRPr lang="en-US" altLang="zh-CN" dirty="0"/>
          </a:p>
          <a:p>
            <a:pPr lvl="1"/>
            <a:endParaRPr lang="en-US" altLang="zh-CN" dirty="0"/>
          </a:p>
          <a:p>
            <a:endParaRPr lang="zh-CN" altLang="en-US" dirty="0"/>
          </a:p>
        </p:txBody>
      </p:sp>
      <p:sp>
        <p:nvSpPr>
          <p:cNvPr id="6" name="灯片编号占位符 4">
            <a:extLst>
              <a:ext uri="{FF2B5EF4-FFF2-40B4-BE49-F238E27FC236}">
                <a16:creationId xmlns:a16="http://schemas.microsoft.com/office/drawing/2014/main" id="{29BAE820-24BD-42BF-8550-C411076EC7D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95486470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a:t>简介</a:t>
            </a:r>
            <a:r>
              <a:rPr lang="en-US" altLang="zh-CN"/>
              <a:t>-</a:t>
            </a:r>
            <a:r>
              <a:rPr lang="zh-CN" altLang="en-US"/>
              <a:t>系统构成</a:t>
            </a:r>
            <a:endParaRPr lang="zh-CN" altLang="en-US" dirty="0"/>
          </a:p>
        </p:txBody>
      </p:sp>
      <p:sp>
        <p:nvSpPr>
          <p:cNvPr id="3" name="内容占位符 2"/>
          <p:cNvSpPr>
            <a:spLocks noGrp="1"/>
          </p:cNvSpPr>
          <p:nvPr>
            <p:ph idx="1"/>
          </p:nvPr>
        </p:nvSpPr>
        <p:spPr>
          <a:xfrm>
            <a:off x="457200" y="990600"/>
            <a:ext cx="8305800" cy="5410200"/>
          </a:xfrm>
        </p:spPr>
        <p:txBody>
          <a:bodyPr>
            <a:normAutofit fontScale="92500" lnSpcReduction="10000"/>
          </a:bodyPr>
          <a:lstStyle/>
          <a:p>
            <a:r>
              <a:rPr lang="zh-CN" altLang="en-US" dirty="0"/>
              <a:t>任务调度</a:t>
            </a:r>
          </a:p>
          <a:p>
            <a:pPr lvl="1"/>
            <a:r>
              <a:rPr lang="zh-CN" altLang="en-US" dirty="0"/>
              <a:t>两种主要的任务调度方式：事件驱动任务调度、多线程任务调度</a:t>
            </a:r>
            <a:endParaRPr lang="en-US" altLang="zh-CN" dirty="0"/>
          </a:p>
          <a:p>
            <a:r>
              <a:rPr lang="zh-CN" altLang="en-US" dirty="0"/>
              <a:t>动态加载</a:t>
            </a:r>
          </a:p>
          <a:p>
            <a:pPr lvl="1"/>
            <a:r>
              <a:rPr lang="zh-CN" altLang="en-US" dirty="0"/>
              <a:t>允许模块动态加载，对物联网应用软件更新非常有用</a:t>
            </a:r>
            <a:endParaRPr lang="en-US" altLang="zh-CN" dirty="0"/>
          </a:p>
          <a:p>
            <a:r>
              <a:rPr lang="zh-CN" altLang="en-US" dirty="0"/>
              <a:t>存储空间管理</a:t>
            </a:r>
          </a:p>
          <a:p>
            <a:pPr lvl="1"/>
            <a:r>
              <a:rPr lang="zh-CN" altLang="en-US" dirty="0"/>
              <a:t>数据内存（随机存储器</a:t>
            </a:r>
            <a:r>
              <a:rPr lang="en-US" altLang="zh-CN" dirty="0"/>
              <a:t>RAM</a:t>
            </a:r>
            <a:r>
              <a:rPr lang="zh-CN" altLang="en-US" dirty="0"/>
              <a:t>）、程序闪存（</a:t>
            </a:r>
            <a:r>
              <a:rPr lang="en-US" altLang="zh-CN" dirty="0"/>
              <a:t>Flash</a:t>
            </a:r>
            <a:r>
              <a:rPr lang="zh-CN" altLang="en-US" dirty="0"/>
              <a:t>）</a:t>
            </a:r>
            <a:endParaRPr lang="en-US" altLang="zh-CN" dirty="0"/>
          </a:p>
          <a:p>
            <a:r>
              <a:rPr lang="zh-CN" altLang="en-US" dirty="0"/>
              <a:t>资源抽象</a:t>
            </a:r>
          </a:p>
          <a:p>
            <a:pPr lvl="1"/>
            <a:r>
              <a:rPr lang="zh-CN" altLang="en-US" dirty="0"/>
              <a:t>专用资源抽象、虚拟化资源抽象和共享资源抽象</a:t>
            </a:r>
            <a:endParaRPr lang="en-US" altLang="zh-CN" dirty="0"/>
          </a:p>
          <a:p>
            <a:r>
              <a:rPr lang="zh-CN" altLang="en-US" dirty="0"/>
              <a:t>传感器接口</a:t>
            </a:r>
            <a:endParaRPr lang="en-US" altLang="zh-CN" dirty="0"/>
          </a:p>
          <a:p>
            <a:pPr lvl="1"/>
            <a:r>
              <a:rPr lang="zh-CN" altLang="en-US" dirty="0"/>
              <a:t>为获取传感器读数提供了方便统一的方法</a:t>
            </a:r>
            <a:endParaRPr lang="en-US" altLang="zh-CN" dirty="0"/>
          </a:p>
          <a:p>
            <a:r>
              <a:rPr lang="zh-CN" altLang="en-US" dirty="0"/>
              <a:t>网络协议栈</a:t>
            </a:r>
          </a:p>
          <a:p>
            <a:pPr lvl="1"/>
            <a:r>
              <a:rPr lang="zh-CN" altLang="en-US" dirty="0"/>
              <a:t>支持高级服务：数据收集与分发</a:t>
            </a:r>
            <a:endParaRPr lang="en-US" altLang="zh-CN" dirty="0"/>
          </a:p>
          <a:p>
            <a:pPr lvl="1"/>
            <a:r>
              <a:rPr lang="zh-CN" altLang="en-US" dirty="0"/>
              <a:t>处理底层细节：无线芯片配置、介质访问控制和队列管理</a:t>
            </a:r>
          </a:p>
        </p:txBody>
      </p:sp>
      <p:sp>
        <p:nvSpPr>
          <p:cNvPr id="6" name="灯片编号占位符 4">
            <a:extLst>
              <a:ext uri="{FF2B5EF4-FFF2-40B4-BE49-F238E27FC236}">
                <a16:creationId xmlns:a16="http://schemas.microsoft.com/office/drawing/2014/main" id="{A6BD82C4-81D1-4E11-A07F-7350529D66A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58227220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a:t>思考题</a:t>
            </a:r>
            <a:endParaRPr lang="zh-CN" altLang="en-US" dirty="0"/>
          </a:p>
        </p:txBody>
      </p:sp>
      <p:sp>
        <p:nvSpPr>
          <p:cNvPr id="3" name="内容占位符 2"/>
          <p:cNvSpPr>
            <a:spLocks noGrp="1"/>
          </p:cNvSpPr>
          <p:nvPr>
            <p:ph idx="1"/>
          </p:nvPr>
        </p:nvSpPr>
        <p:spPr>
          <a:xfrm>
            <a:off x="457200" y="990600"/>
            <a:ext cx="8305800" cy="5410200"/>
          </a:xfrm>
        </p:spPr>
        <p:txBody>
          <a:bodyPr/>
          <a:lstStyle/>
          <a:p>
            <a:r>
              <a:rPr lang="zh-CN" altLang="zh-CN" dirty="0"/>
              <a:t>物联网操作系统与传统操作系统的不同，有什么作用？ </a:t>
            </a:r>
            <a:endParaRPr lang="zh-CN" altLang="en-US" dirty="0"/>
          </a:p>
        </p:txBody>
      </p:sp>
      <p:sp>
        <p:nvSpPr>
          <p:cNvPr id="6" name="灯片编号占位符 4">
            <a:extLst>
              <a:ext uri="{FF2B5EF4-FFF2-40B4-BE49-F238E27FC236}">
                <a16:creationId xmlns:a16="http://schemas.microsoft.com/office/drawing/2014/main" id="{F7F2ABE5-94B6-4744-8B67-3429081B286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6706385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目录</a:t>
            </a:r>
            <a:endParaRPr lang="zh-CN" altLang="en-US" dirty="0"/>
          </a:p>
        </p:txBody>
      </p:sp>
      <p:sp>
        <p:nvSpPr>
          <p:cNvPr id="5" name="内容占位符 2"/>
          <p:cNvSpPr>
            <a:spLocks noGrp="1"/>
          </p:cNvSpPr>
          <p:nvPr>
            <p:ph idx="1"/>
          </p:nvPr>
        </p:nvSpPr>
        <p:spPr>
          <a:xfrm>
            <a:off x="457200" y="990600"/>
            <a:ext cx="8305800" cy="5410200"/>
          </a:xfrm>
        </p:spPr>
        <p:txBody>
          <a:bodyPr>
            <a:normAutofit/>
          </a:bodyPr>
          <a:lstStyle/>
          <a:p>
            <a:endParaRPr lang="en-US" altLang="zh-CN" sz="2800" dirty="0"/>
          </a:p>
          <a:p>
            <a:r>
              <a:rPr lang="zh-CN" altLang="en-US" sz="2800" dirty="0"/>
              <a:t>概述</a:t>
            </a:r>
            <a:endParaRPr lang="en-US" altLang="zh-CN" sz="2800" dirty="0"/>
          </a:p>
          <a:p>
            <a:r>
              <a:rPr lang="zh-CN" altLang="en-US" sz="2800" dirty="0"/>
              <a:t>关键特性</a:t>
            </a:r>
            <a:endParaRPr lang="en-US" altLang="zh-CN" sz="2800" dirty="0"/>
          </a:p>
          <a:p>
            <a:r>
              <a:rPr lang="zh-CN" altLang="en-US" sz="2800" dirty="0"/>
              <a:t>典型物联网操作系统</a:t>
            </a:r>
            <a:endParaRPr lang="en-US" altLang="zh-CN" sz="2800" dirty="0"/>
          </a:p>
          <a:p>
            <a:r>
              <a:rPr lang="zh-CN" altLang="en-US" sz="2800" dirty="0"/>
              <a:t>案例开发</a:t>
            </a:r>
            <a:endParaRPr lang="en-US" altLang="zh-CN" sz="2800" dirty="0"/>
          </a:p>
          <a:p>
            <a:r>
              <a:rPr lang="zh-CN" altLang="en-US" sz="2800" dirty="0"/>
              <a:t>学术研究进展</a:t>
            </a:r>
            <a:endParaRPr lang="en-US" altLang="zh-CN" sz="2800" dirty="0"/>
          </a:p>
        </p:txBody>
      </p:sp>
    </p:spTree>
    <p:extLst>
      <p:ext uri="{BB962C8B-B14F-4D97-AF65-F5344CB8AC3E}">
        <p14:creationId xmlns:p14="http://schemas.microsoft.com/office/powerpoint/2010/main" val="341165421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关键特性</a:t>
            </a:r>
            <a:endParaRPr lang="en-US" altLang="zh-CN" dirty="0"/>
          </a:p>
        </p:txBody>
      </p:sp>
      <p:sp>
        <p:nvSpPr>
          <p:cNvPr id="5" name="内容占位符 2"/>
          <p:cNvSpPr>
            <a:spLocks noGrp="1"/>
          </p:cNvSpPr>
          <p:nvPr>
            <p:ph idx="1"/>
          </p:nvPr>
        </p:nvSpPr>
        <p:spPr>
          <a:xfrm>
            <a:off x="457200" y="990600"/>
            <a:ext cx="8305800" cy="5410200"/>
          </a:xfrm>
        </p:spPr>
        <p:txBody>
          <a:bodyPr/>
          <a:lstStyle/>
          <a:p>
            <a:endParaRPr lang="en-US" altLang="zh-CN" dirty="0"/>
          </a:p>
          <a:p>
            <a:r>
              <a:rPr lang="zh-CN" altLang="en-US" dirty="0"/>
              <a:t>编程模型</a:t>
            </a:r>
            <a:endParaRPr lang="en-US" altLang="zh-CN" dirty="0"/>
          </a:p>
          <a:p>
            <a:r>
              <a:rPr lang="zh-CN" altLang="en-US" dirty="0"/>
              <a:t>调度方式</a:t>
            </a:r>
            <a:endParaRPr lang="en-US" altLang="zh-CN" dirty="0"/>
          </a:p>
          <a:p>
            <a:r>
              <a:rPr lang="en-US" altLang="zh-CN" dirty="0"/>
              <a:t>I/O</a:t>
            </a:r>
            <a:r>
              <a:rPr lang="zh-CN" altLang="en-US" dirty="0"/>
              <a:t>操作方式</a:t>
            </a:r>
            <a:endParaRPr lang="en-US" altLang="zh-CN" dirty="0"/>
          </a:p>
          <a:p>
            <a:r>
              <a:rPr lang="zh-CN" altLang="en-US" dirty="0"/>
              <a:t>内存分配</a:t>
            </a:r>
            <a:endParaRPr lang="en-US" altLang="zh-CN" dirty="0"/>
          </a:p>
          <a:p>
            <a:r>
              <a:rPr lang="zh-CN" altLang="en-US" dirty="0"/>
              <a:t>软件更新</a:t>
            </a:r>
            <a:endParaRPr lang="en-US" altLang="zh-CN" dirty="0"/>
          </a:p>
          <a:p>
            <a:r>
              <a:rPr lang="zh-CN" altLang="en-US" dirty="0"/>
              <a:t>网络服务</a:t>
            </a:r>
            <a:endParaRPr lang="en-US" altLang="zh-CN" dirty="0"/>
          </a:p>
          <a:p>
            <a:endParaRPr lang="en-US" altLang="zh-CN" dirty="0"/>
          </a:p>
          <a:p>
            <a:endParaRPr lang="en-US" altLang="zh-CN" dirty="0"/>
          </a:p>
        </p:txBody>
      </p:sp>
      <p:sp>
        <p:nvSpPr>
          <p:cNvPr id="6" name="灯片编号占位符 4">
            <a:extLst>
              <a:ext uri="{FF2B5EF4-FFF2-40B4-BE49-F238E27FC236}">
                <a16:creationId xmlns:a16="http://schemas.microsoft.com/office/drawing/2014/main" id="{5891CDBC-8DA8-44EA-898E-F54448248E8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10</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33670660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编程模型</a:t>
            </a:r>
          </a:p>
        </p:txBody>
      </p:sp>
      <p:sp>
        <p:nvSpPr>
          <p:cNvPr id="3" name="内容占位符 2"/>
          <p:cNvSpPr>
            <a:spLocks noGrp="1"/>
          </p:cNvSpPr>
          <p:nvPr>
            <p:ph idx="1"/>
          </p:nvPr>
        </p:nvSpPr>
        <p:spPr>
          <a:xfrm>
            <a:off x="457200" y="990600"/>
            <a:ext cx="8305800" cy="5410200"/>
          </a:xfrm>
        </p:spPr>
        <p:txBody>
          <a:bodyPr/>
          <a:lstStyle/>
          <a:p>
            <a:r>
              <a:rPr lang="zh-CN" altLang="en-US" dirty="0"/>
              <a:t>依据程序结构分类：非模块化编程、模块化编程</a:t>
            </a:r>
            <a:endParaRPr lang="en-US" altLang="zh-CN" dirty="0"/>
          </a:p>
          <a:p>
            <a:pPr lvl="1"/>
            <a:r>
              <a:rPr lang="zh-CN" altLang="en-US" dirty="0"/>
              <a:t>非模块：在非模块化编程中，应用程序作为一个整体来进行设计、测试和调试</a:t>
            </a:r>
            <a:endParaRPr lang="en-US" altLang="zh-CN" dirty="0"/>
          </a:p>
          <a:p>
            <a:pPr lvl="1"/>
            <a:r>
              <a:rPr lang="zh-CN" altLang="en-US" dirty="0"/>
              <a:t>模块化：模块化编程强调将程序的功能分离为独立的、可互换的模块，使得每个模块执行某一具体功能</a:t>
            </a:r>
            <a:endParaRPr lang="en-US" altLang="zh-CN" dirty="0"/>
          </a:p>
          <a:p>
            <a:pPr lvl="2"/>
            <a:r>
              <a:rPr lang="zh-CN" altLang="en-US" dirty="0"/>
              <a:t>编码层面的模块化</a:t>
            </a:r>
            <a:r>
              <a:rPr lang="zh-CN" altLang="en-US" dirty="0">
                <a:solidFill>
                  <a:srgbClr val="C00000"/>
                </a:solidFill>
              </a:rPr>
              <a:t>（如</a:t>
            </a:r>
            <a:r>
              <a:rPr lang="en-US" altLang="zh-CN" dirty="0" err="1">
                <a:solidFill>
                  <a:srgbClr val="C00000"/>
                </a:solidFill>
              </a:rPr>
              <a:t>TinyOS</a:t>
            </a:r>
            <a:r>
              <a:rPr lang="zh-CN" altLang="en-US" dirty="0">
                <a:solidFill>
                  <a:srgbClr val="C00000"/>
                </a:solidFill>
              </a:rPr>
              <a:t>组件化编程）</a:t>
            </a:r>
            <a:endParaRPr lang="en-US" altLang="zh-CN" dirty="0">
              <a:solidFill>
                <a:srgbClr val="C00000"/>
              </a:solidFill>
            </a:endParaRPr>
          </a:p>
          <a:p>
            <a:pPr lvl="2"/>
            <a:r>
              <a:rPr lang="zh-CN" altLang="en-US" dirty="0"/>
              <a:t>二进制层面的模块化</a:t>
            </a:r>
            <a:r>
              <a:rPr lang="zh-CN" altLang="en-US" dirty="0">
                <a:solidFill>
                  <a:srgbClr val="C00000"/>
                </a:solidFill>
              </a:rPr>
              <a:t>（如</a:t>
            </a:r>
            <a:r>
              <a:rPr lang="en-US" altLang="zh-CN" dirty="0">
                <a:solidFill>
                  <a:srgbClr val="C00000"/>
                </a:solidFill>
              </a:rPr>
              <a:t>SOS</a:t>
            </a:r>
            <a:r>
              <a:rPr lang="zh-CN" altLang="en-US" dirty="0">
                <a:solidFill>
                  <a:srgbClr val="C00000"/>
                </a:solidFill>
              </a:rPr>
              <a:t>模块化编程）</a:t>
            </a:r>
            <a:endParaRPr lang="en-US" altLang="zh-CN" dirty="0">
              <a:solidFill>
                <a:srgbClr val="C00000"/>
              </a:solidFill>
            </a:endParaRPr>
          </a:p>
          <a:p>
            <a:r>
              <a:rPr lang="zh-CN" altLang="en-US" dirty="0"/>
              <a:t>依据执行逻辑分类：基于事件的编程、基于线程的编程</a:t>
            </a:r>
            <a:endParaRPr lang="en-US" altLang="zh-CN" dirty="0"/>
          </a:p>
          <a:p>
            <a:pPr lvl="1"/>
            <a:r>
              <a:rPr lang="zh-CN" altLang="en-US" dirty="0"/>
              <a:t>事件：应用程序会实时地处理或响应系统中的事件；应用程序由多个事件处理函数构成</a:t>
            </a:r>
          </a:p>
          <a:p>
            <a:pPr lvl="1"/>
            <a:r>
              <a:rPr lang="zh-CN" altLang="en-US" dirty="0"/>
              <a:t>线程：一个线程对应一个逻辑上的任务</a:t>
            </a:r>
          </a:p>
        </p:txBody>
      </p:sp>
      <p:sp>
        <p:nvSpPr>
          <p:cNvPr id="6" name="灯片编号占位符 4">
            <a:extLst>
              <a:ext uri="{FF2B5EF4-FFF2-40B4-BE49-F238E27FC236}">
                <a16:creationId xmlns:a16="http://schemas.microsoft.com/office/drawing/2014/main" id="{A67AA427-2015-45C1-8392-05E88A94F5A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11</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28080885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编程模型</a:t>
            </a:r>
          </a:p>
        </p:txBody>
      </p:sp>
      <p:sp>
        <p:nvSpPr>
          <p:cNvPr id="3" name="内容占位符 2"/>
          <p:cNvSpPr>
            <a:spLocks noGrp="1"/>
          </p:cNvSpPr>
          <p:nvPr>
            <p:ph idx="1"/>
          </p:nvPr>
        </p:nvSpPr>
        <p:spPr>
          <a:xfrm>
            <a:off x="457200" y="990600"/>
            <a:ext cx="8305800" cy="5410200"/>
          </a:xfrm>
        </p:spPr>
        <p:txBody>
          <a:bodyPr/>
          <a:lstStyle/>
          <a:p>
            <a:r>
              <a:rPr lang="en-US" altLang="zh-CN" dirty="0" err="1"/>
              <a:t>TinyOS</a:t>
            </a:r>
            <a:r>
              <a:rPr lang="zh-CN" altLang="en-US" dirty="0"/>
              <a:t>组件化编程</a:t>
            </a:r>
            <a:endParaRPr lang="en-US" altLang="zh-CN" dirty="0"/>
          </a:p>
          <a:p>
            <a:pPr lvl="1"/>
            <a:r>
              <a:rPr lang="zh-CN" altLang="en-US" dirty="0"/>
              <a:t>应用程序由多个组件灵活组合而构成</a:t>
            </a:r>
            <a:endParaRPr lang="en-US" altLang="zh-CN" dirty="0"/>
          </a:p>
          <a:p>
            <a:pPr lvl="1"/>
            <a:r>
              <a:rPr lang="zh-CN" altLang="en-US" dirty="0"/>
              <a:t>便于程序复用，便于程序移植</a:t>
            </a:r>
            <a:endParaRPr lang="en-US" altLang="zh-CN" dirty="0"/>
          </a:p>
          <a:p>
            <a:pPr lvl="1"/>
            <a:r>
              <a:rPr lang="zh-CN" altLang="en-US" dirty="0"/>
              <a:t>编译后的应用程序是单个二进制程序映像，不再保留组件化的信息</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538" t="4963" b="2703"/>
          <a:stretch/>
        </p:blipFill>
        <p:spPr bwMode="auto">
          <a:xfrm>
            <a:off x="13188" y="3151924"/>
            <a:ext cx="9003324" cy="26113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灯片编号占位符 4">
            <a:extLst>
              <a:ext uri="{FF2B5EF4-FFF2-40B4-BE49-F238E27FC236}">
                <a16:creationId xmlns:a16="http://schemas.microsoft.com/office/drawing/2014/main" id="{9E4C6CDB-4F91-4658-B60E-2D5D6A181F5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47267946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编程模型</a:t>
            </a:r>
          </a:p>
        </p:txBody>
      </p:sp>
      <p:sp>
        <p:nvSpPr>
          <p:cNvPr id="3" name="内容占位符 2"/>
          <p:cNvSpPr>
            <a:spLocks noGrp="1"/>
          </p:cNvSpPr>
          <p:nvPr>
            <p:ph idx="1"/>
          </p:nvPr>
        </p:nvSpPr>
        <p:spPr>
          <a:xfrm>
            <a:off x="457200" y="990600"/>
            <a:ext cx="8305800" cy="5410200"/>
          </a:xfrm>
        </p:spPr>
        <p:txBody>
          <a:bodyPr/>
          <a:lstStyle/>
          <a:p>
            <a:r>
              <a:rPr lang="en-US" altLang="zh-CN" dirty="0"/>
              <a:t>SOS</a:t>
            </a:r>
            <a:r>
              <a:rPr lang="zh-CN" altLang="en-US" dirty="0"/>
              <a:t>模块化编程</a:t>
            </a:r>
            <a:endParaRPr lang="en-US" altLang="zh-CN" dirty="0"/>
          </a:p>
          <a:p>
            <a:pPr lvl="1"/>
            <a:r>
              <a:rPr lang="zh-CN" altLang="en-US" dirty="0"/>
              <a:t>应用程序由一个或多个功能独立的模块组成</a:t>
            </a:r>
          </a:p>
          <a:p>
            <a:pPr lvl="1"/>
            <a:r>
              <a:rPr lang="zh-CN" altLang="en-US" dirty="0"/>
              <a:t>编译后的应用程序依然由多个模块组成</a:t>
            </a:r>
            <a:endParaRPr lang="en-US" altLang="zh-CN" dirty="0"/>
          </a:p>
          <a:p>
            <a:pPr lvl="1"/>
            <a:r>
              <a:rPr lang="en-US" altLang="zh-CN" dirty="0"/>
              <a:t>SOS</a:t>
            </a:r>
            <a:r>
              <a:rPr lang="zh-CN" altLang="en-US" dirty="0"/>
              <a:t>程序的模块化程度更高，且便于模块的动态修改，适用于程序更新频繁的应用</a:t>
            </a:r>
          </a:p>
          <a:p>
            <a:pPr lvl="1"/>
            <a:endParaRPr lang="en-US" altLang="zh-CN" dirty="0"/>
          </a:p>
          <a:p>
            <a:endParaRPr lang="zh-CN" altLang="en-US" dirty="0"/>
          </a:p>
        </p:txBody>
      </p:sp>
      <p:sp>
        <p:nvSpPr>
          <p:cNvPr id="7" name="灯片编号占位符 4">
            <a:extLst>
              <a:ext uri="{FF2B5EF4-FFF2-40B4-BE49-F238E27FC236}">
                <a16:creationId xmlns:a16="http://schemas.microsoft.com/office/drawing/2014/main" id="{8BDD6BB7-E9BF-4599-8E52-25405C56893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13</a:t>
            </a:fld>
            <a:endParaRPr lang="zh-CN" altLang="zh-CN" sz="1800" baseline="0">
              <a:solidFill>
                <a:schemeClr val="folHlink"/>
              </a:solidFill>
              <a:latin typeface="Monotype Corsiva" panose="03010101010201010101" pitchFamily="66" charset="0"/>
            </a:endParaRPr>
          </a:p>
        </p:txBody>
      </p:sp>
      <p:graphicFrame>
        <p:nvGraphicFramePr>
          <p:cNvPr id="10" name="Group 33">
            <a:extLst>
              <a:ext uri="{FF2B5EF4-FFF2-40B4-BE49-F238E27FC236}">
                <a16:creationId xmlns:a16="http://schemas.microsoft.com/office/drawing/2014/main" id="{367AFF09-866F-4D28-BA04-6A755E08850E}"/>
              </a:ext>
            </a:extLst>
          </p:cNvPr>
          <p:cNvGraphicFramePr>
            <a:graphicFrameLocks noGrp="1"/>
          </p:cNvGraphicFramePr>
          <p:nvPr>
            <p:extLst>
              <p:ext uri="{D42A27DB-BD31-4B8C-83A1-F6EECF244321}">
                <p14:modId xmlns:p14="http://schemas.microsoft.com/office/powerpoint/2010/main" val="4191544715"/>
              </p:ext>
            </p:extLst>
          </p:nvPr>
        </p:nvGraphicFramePr>
        <p:xfrm>
          <a:off x="256402" y="3230880"/>
          <a:ext cx="8631196" cy="3169920"/>
        </p:xfrm>
        <a:graphic>
          <a:graphicData uri="http://schemas.openxmlformats.org/drawingml/2006/table">
            <a:tbl>
              <a:tblPr/>
              <a:tblGrid>
                <a:gridCol w="8631196">
                  <a:extLst>
                    <a:ext uri="{9D8B030D-6E8A-4147-A177-3AD203B41FA5}">
                      <a16:colId xmlns:a16="http://schemas.microsoft.com/office/drawing/2014/main" val="1648926544"/>
                    </a:ext>
                  </a:extLst>
                </a:gridCol>
              </a:tblGrid>
              <a:tr h="2952750">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Times" panose="02020603050405020304" pitchFamily="18" charset="0"/>
                          <a:ea typeface="黑体" panose="02010609060101010101" pitchFamily="49"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Times" panose="02020603050405020304" pitchFamily="18" charset="0"/>
                          <a:ea typeface="黑体" panose="02010609060101010101" pitchFamily="49"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Times" panose="02020603050405020304" pitchFamily="18" charset="0"/>
                          <a:ea typeface="黑体" panose="02010609060101010101" pitchFamily="49"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Times" panose="02020603050405020304" pitchFamily="18" charset="0"/>
                          <a:ea typeface="黑体" panose="02010609060101010101" pitchFamily="49" charset="-122"/>
                        </a:defRPr>
                      </a:lvl4pPr>
                      <a:lvl5pPr marL="2057400" indent="-228600" eaLnBrk="0" hangingPunct="0">
                        <a:spcBef>
                          <a:spcPts val="375"/>
                        </a:spcBef>
                        <a:buClr>
                          <a:srgbClr val="A28E6A"/>
                        </a:buClr>
                        <a:defRPr>
                          <a:solidFill>
                            <a:schemeClr val="tx1"/>
                          </a:solidFill>
                          <a:latin typeface="Times" panose="02020603050405020304" pitchFamily="18" charset="0"/>
                          <a:ea typeface="黑体" panose="02010609060101010101" pitchFamily="49" charset="-122"/>
                        </a:defRPr>
                      </a:lvl5pPr>
                      <a:lvl6pPr marL="25146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6pPr>
                      <a:lvl7pPr marL="29718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7pPr>
                      <a:lvl8pPr marL="34290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8pPr>
                      <a:lvl9pPr marL="38862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static const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mod_header_t</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mod_header</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SOS_MODULE_HEADER = {</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mod_id</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SURGE_MOD_PID,  // </a:t>
                      </a: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模块的</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ID</a:t>
                      </a: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为</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SURGE_MOD_PID</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state_size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sizeof</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surge_state_t</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num_sub_func</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1,  // </a:t>
                      </a: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订阅服务的个数</a:t>
                      </a:r>
                      <a:endPar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num_prov_func</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0,</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platform_type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HW_TYPE,  // or PLATFORM_ANY</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processor_type</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MCU_TYPE,</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code_id</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ehtons</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(SURGE_MOD_PID),</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module_handler</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surge_module_handler</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funct</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  // </a:t>
                      </a: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订阅的服务</a:t>
                      </a:r>
                      <a:endPar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[0] = {error_8, "Cvv0", TREE_ROUTING_PID, MOD_GET_HDR_SIZE_FID},</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 SOS</a:t>
                      </a: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模块头部的例子</a:t>
                      </a:r>
                      <a:endPar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51624455"/>
                  </a:ext>
                </a:extLst>
              </a:tr>
            </a:tbl>
          </a:graphicData>
        </a:graphic>
      </p:graphicFrame>
    </p:spTree>
    <p:extLst>
      <p:ext uri="{BB962C8B-B14F-4D97-AF65-F5344CB8AC3E}">
        <p14:creationId xmlns:p14="http://schemas.microsoft.com/office/powerpoint/2010/main" val="15598769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编程模型</a:t>
            </a:r>
          </a:p>
        </p:txBody>
      </p:sp>
      <p:sp>
        <p:nvSpPr>
          <p:cNvPr id="3" name="内容占位符 2"/>
          <p:cNvSpPr>
            <a:spLocks noGrp="1"/>
          </p:cNvSpPr>
          <p:nvPr>
            <p:ph idx="1"/>
          </p:nvPr>
        </p:nvSpPr>
        <p:spPr>
          <a:xfrm>
            <a:off x="457200" y="990600"/>
            <a:ext cx="8305800" cy="5410200"/>
          </a:xfrm>
        </p:spPr>
        <p:txBody>
          <a:bodyPr/>
          <a:lstStyle/>
          <a:p>
            <a:r>
              <a:rPr lang="zh-CN" altLang="en-US" dirty="0"/>
              <a:t>基于事件的编程</a:t>
            </a:r>
            <a:endParaRPr lang="en-US" altLang="zh-CN" dirty="0"/>
          </a:p>
          <a:p>
            <a:pPr lvl="1"/>
            <a:r>
              <a:rPr lang="zh-CN" altLang="en-US" dirty="0"/>
              <a:t>应用程序会</a:t>
            </a:r>
            <a:r>
              <a:rPr lang="zh-CN" altLang="en-US" b="1" dirty="0"/>
              <a:t>实时</a:t>
            </a:r>
            <a:r>
              <a:rPr lang="zh-CN" altLang="en-US" dirty="0"/>
              <a:t>地处理或响应系统中的事件</a:t>
            </a:r>
            <a:endParaRPr lang="en-US" altLang="zh-CN" dirty="0"/>
          </a:p>
          <a:p>
            <a:pPr lvl="1"/>
            <a:r>
              <a:rPr lang="zh-CN" altLang="en-US" dirty="0"/>
              <a:t>基于事件的编程模型可以较好地保证系统的实时性和响应性</a:t>
            </a:r>
            <a:endParaRPr lang="en-US" altLang="zh-CN" dirty="0"/>
          </a:p>
          <a:p>
            <a:pPr lvl="1"/>
            <a:endParaRPr lang="en-US" altLang="zh-CN" dirty="0"/>
          </a:p>
          <a:p>
            <a:endParaRPr lang="zh-CN" altLang="en-US" dirty="0"/>
          </a:p>
        </p:txBody>
      </p:sp>
      <p:graphicFrame>
        <p:nvGraphicFramePr>
          <p:cNvPr id="5" name="Group 33"/>
          <p:cNvGraphicFramePr>
            <a:graphicFrameLocks noGrp="1"/>
          </p:cNvGraphicFramePr>
          <p:nvPr>
            <p:extLst>
              <p:ext uri="{D42A27DB-BD31-4B8C-83A1-F6EECF244321}">
                <p14:modId xmlns:p14="http://schemas.microsoft.com/office/powerpoint/2010/main" val="4186609169"/>
              </p:ext>
            </p:extLst>
          </p:nvPr>
        </p:nvGraphicFramePr>
        <p:xfrm>
          <a:off x="1537248" y="2384542"/>
          <a:ext cx="6069504" cy="3901440"/>
        </p:xfrm>
        <a:graphic>
          <a:graphicData uri="http://schemas.openxmlformats.org/drawingml/2006/table">
            <a:tbl>
              <a:tblPr/>
              <a:tblGrid>
                <a:gridCol w="6069504">
                  <a:extLst>
                    <a:ext uri="{9D8B030D-6E8A-4147-A177-3AD203B41FA5}">
                      <a16:colId xmlns:a16="http://schemas.microsoft.com/office/drawing/2014/main" val="1648926544"/>
                    </a:ext>
                  </a:extLst>
                </a:gridCol>
              </a:tblGrid>
              <a:tr h="2952750">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Times" panose="02020603050405020304" pitchFamily="18" charset="0"/>
                          <a:ea typeface="黑体" panose="02010609060101010101" pitchFamily="49"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Times" panose="02020603050405020304" pitchFamily="18" charset="0"/>
                          <a:ea typeface="黑体" panose="02010609060101010101" pitchFamily="49"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Times" panose="02020603050405020304" pitchFamily="18" charset="0"/>
                          <a:ea typeface="黑体" panose="02010609060101010101" pitchFamily="49"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Times" panose="02020603050405020304" pitchFamily="18" charset="0"/>
                          <a:ea typeface="黑体" panose="02010609060101010101" pitchFamily="49" charset="-122"/>
                        </a:defRPr>
                      </a:lvl4pPr>
                      <a:lvl5pPr marL="2057400" indent="-228600" eaLnBrk="0" hangingPunct="0">
                        <a:spcBef>
                          <a:spcPts val="375"/>
                        </a:spcBef>
                        <a:buClr>
                          <a:srgbClr val="A28E6A"/>
                        </a:buClr>
                        <a:defRPr>
                          <a:solidFill>
                            <a:schemeClr val="tx1"/>
                          </a:solidFill>
                          <a:latin typeface="Times" panose="02020603050405020304" pitchFamily="18" charset="0"/>
                          <a:ea typeface="黑体" panose="02010609060101010101" pitchFamily="49" charset="-122"/>
                        </a:defRPr>
                      </a:lvl5pPr>
                      <a:lvl6pPr marL="25146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6pPr>
                      <a:lvl7pPr marL="29718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7pPr>
                      <a:lvl8pPr marL="34290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8pPr>
                      <a:lvl9pPr marL="38862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radio_pkt</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radio_busy</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=FALSE;</a:t>
                      </a:r>
                    </a:p>
                    <a:p>
                      <a:pPr marL="0" marR="0" lvl="0" indent="0" algn="just" defTabSz="914400" rtl="0" eaLnBrk="1" fontAlgn="base" latinLnBrk="0" hangingPunct="1">
                        <a:lnSpc>
                          <a:spcPct val="100000"/>
                        </a:lnSpc>
                        <a:spcBef>
                          <a:spcPct val="0"/>
                        </a:spcBef>
                        <a:spcAft>
                          <a:spcPct val="0"/>
                        </a:spcAft>
                        <a:buClrTx/>
                        <a:buSzTx/>
                        <a:buFont typeface="+mj-lt"/>
                        <a:buNone/>
                        <a:tabLst/>
                      </a:pPr>
                      <a:endPar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
                          <a:schemeClr val="tx1"/>
                        </a:buClr>
                        <a:buSzTx/>
                        <a:buFont typeface="+mj-lt"/>
                        <a:buNone/>
                        <a:tabLst/>
                      </a:pPr>
                      <a:r>
                        <a:rPr kumimoji="0" lang="en-US" altLang="zh-CN" sz="1600" b="1"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event </a:t>
                      </a:r>
                      <a:r>
                        <a:rPr kumimoji="0" lang="en-US" altLang="zh-CN" sz="1600" b="1" i="0" u="none" strike="noStrike" cap="none" normalizeH="0" baseline="0" dirty="0" err="1">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timer_fired</a:t>
                      </a:r>
                      <a:r>
                        <a:rPr kumimoji="0" lang="en-US" altLang="zh-CN" sz="1600" b="1"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a:t>
                      </a:r>
                      <a:r>
                        <a:rPr kumimoji="0" lang="zh-CN" altLang="en-US" sz="1600" b="0"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计时完成事件</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light_sensor_read</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p>
                    <a:p>
                      <a:pPr marL="0" marR="0" lvl="0" indent="0" algn="just" defTabSz="914400" rtl="0" eaLnBrk="1" fontAlgn="base" latinLnBrk="0" hangingPunct="1">
                        <a:lnSpc>
                          <a:spcPct val="100000"/>
                        </a:lnSpc>
                        <a:spcBef>
                          <a:spcPct val="0"/>
                        </a:spcBef>
                        <a:spcAft>
                          <a:spcPct val="0"/>
                        </a:spcAft>
                        <a:buClr>
                          <a:schemeClr val="tx1"/>
                        </a:buClr>
                        <a:buSzTx/>
                        <a:buFont typeface="+mj-lt"/>
                        <a:buNone/>
                        <a:tabLst/>
                      </a:pPr>
                      <a:r>
                        <a:rPr kumimoji="0" lang="en-US" altLang="zh-CN" sz="1600" b="1"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event </a:t>
                      </a:r>
                      <a:r>
                        <a:rPr kumimoji="0" lang="en-US" altLang="zh-CN" sz="1600" b="1" i="0" u="none" strike="noStrike" cap="none" normalizeH="0" baseline="0" dirty="0" err="1">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light_senor_readDone</a:t>
                      </a:r>
                      <a:r>
                        <a:rPr kumimoji="0" lang="en-US" altLang="zh-CN" sz="1600" b="1"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a:t>
                      </a:r>
                      <a:r>
                        <a:rPr kumimoji="0" lang="zh-CN" altLang="en-US" sz="1600" b="0"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传感器读数完成事件</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radio_pkt</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&lt;-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sensor_reading</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post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sendTask</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提交传输读数的任务</a:t>
                      </a:r>
                      <a:endPar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
                          <a:schemeClr val="tx1"/>
                        </a:buClr>
                        <a:buSzTx/>
                        <a:buFont typeface="+mj-lt"/>
                        <a:buNone/>
                        <a:tabLst/>
                      </a:pPr>
                      <a:r>
                        <a:rPr kumimoji="0" lang="en-US" altLang="zh-CN" sz="1600" b="1"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event </a:t>
                      </a:r>
                      <a:r>
                        <a:rPr kumimoji="0" lang="en-US" altLang="zh-CN" sz="1600" b="1" i="0" u="none" strike="noStrike" cap="none" normalizeH="0" baseline="0" dirty="0" err="1">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radio_sendDone</a:t>
                      </a:r>
                      <a:r>
                        <a:rPr kumimoji="0" lang="en-US" altLang="zh-CN" sz="1600" b="1"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a:t>
                      </a:r>
                      <a:r>
                        <a:rPr kumimoji="0" lang="zh-CN" altLang="en-US" sz="1600" b="0" i="0" u="none" strike="noStrike" cap="none" normalizeH="0" baseline="0" dirty="0">
                          <a:ln>
                            <a:noFill/>
                          </a:ln>
                          <a:solidFill>
                            <a:srgbClr val="C00000"/>
                          </a:solidFill>
                          <a:effectLst/>
                          <a:latin typeface="Courier New" panose="02070309020205020404" pitchFamily="49" charset="0"/>
                          <a:ea typeface="宋体" panose="02010600030101010101" pitchFamily="2" charset="-122"/>
                          <a:cs typeface="Courier New" panose="02070309020205020404" pitchFamily="49" charset="0"/>
                        </a:rPr>
                        <a:t>传输任务完成事件</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if(not SUCCESS)           </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若未成功，则继续提交</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post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sendTask</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task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sendTask</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传输读数的任务</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if(not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radio_busy</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radio_send</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(DEST,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radio_pkt</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else      </a:t>
                      </a:r>
                    </a:p>
                    <a:p>
                      <a:pPr marL="0" marR="0" lvl="0" indent="0" algn="just" defTabSz="914400" rtl="0" eaLnBrk="1" fontAlgn="base" latinLnBrk="0" hangingPunct="1">
                        <a:lnSpc>
                          <a:spcPct val="100000"/>
                        </a:lnSpc>
                        <a:spcBef>
                          <a:spcPct val="0"/>
                        </a:spcBef>
                        <a:spcAft>
                          <a:spcPct val="0"/>
                        </a:spcAft>
                        <a:buClrTx/>
                        <a:buSzTx/>
                        <a:buFont typeface="+mj-lt"/>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post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sendTask</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51624455"/>
                  </a:ext>
                </a:extLst>
              </a:tr>
            </a:tbl>
          </a:graphicData>
        </a:graphic>
      </p:graphicFrame>
      <p:sp>
        <p:nvSpPr>
          <p:cNvPr id="7" name="灯片编号占位符 4">
            <a:extLst>
              <a:ext uri="{FF2B5EF4-FFF2-40B4-BE49-F238E27FC236}">
                <a16:creationId xmlns:a16="http://schemas.microsoft.com/office/drawing/2014/main" id="{1D09AA60-B446-4043-BAA2-D7C371CF217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14</a:t>
            </a:fld>
            <a:endParaRPr lang="zh-CN" altLang="zh-CN" sz="1800" baseline="0">
              <a:solidFill>
                <a:schemeClr val="folHlink"/>
              </a:solidFill>
              <a:latin typeface="Monotype Corsiva" panose="03010101010201010101" pitchFamily="66" charset="0"/>
            </a:endParaRPr>
          </a:p>
        </p:txBody>
      </p:sp>
      <p:sp>
        <p:nvSpPr>
          <p:cNvPr id="17" name="文本框 16">
            <a:extLst>
              <a:ext uri="{FF2B5EF4-FFF2-40B4-BE49-F238E27FC236}">
                <a16:creationId xmlns:a16="http://schemas.microsoft.com/office/drawing/2014/main" id="{8110D397-A4FA-44DD-8288-1DF1769C6B23}"/>
              </a:ext>
            </a:extLst>
          </p:cNvPr>
          <p:cNvSpPr txBox="1"/>
          <p:nvPr/>
        </p:nvSpPr>
        <p:spPr>
          <a:xfrm>
            <a:off x="1013254" y="6235125"/>
            <a:ext cx="7216346" cy="584775"/>
          </a:xfrm>
          <a:prstGeom prst="rect">
            <a:avLst/>
          </a:prstGeom>
          <a:noFill/>
        </p:spPr>
        <p:txBody>
          <a:bodyPr wrap="square">
            <a:spAutoFit/>
          </a:bodyPr>
          <a:lstStyle/>
          <a:p>
            <a:r>
              <a:rPr lang="zh-CN" altLang="en-US" dirty="0">
                <a:latin typeface="+mj-ea"/>
                <a:ea typeface="+mj-ea"/>
              </a:rPr>
              <a:t>周期性地采集传感器的读数，并通过无线通信芯片发送，应用程序实时地处理或响应系统中的事件的编程示例</a:t>
            </a:r>
          </a:p>
        </p:txBody>
      </p:sp>
    </p:spTree>
    <p:extLst>
      <p:ext uri="{BB962C8B-B14F-4D97-AF65-F5344CB8AC3E}">
        <p14:creationId xmlns:p14="http://schemas.microsoft.com/office/powerpoint/2010/main" val="357437503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编程模型</a:t>
            </a:r>
          </a:p>
        </p:txBody>
      </p:sp>
      <p:sp>
        <p:nvSpPr>
          <p:cNvPr id="3" name="内容占位符 2"/>
          <p:cNvSpPr>
            <a:spLocks noGrp="1"/>
          </p:cNvSpPr>
          <p:nvPr>
            <p:ph idx="1"/>
          </p:nvPr>
        </p:nvSpPr>
        <p:spPr>
          <a:xfrm>
            <a:off x="457200" y="990600"/>
            <a:ext cx="8305800" cy="5410200"/>
          </a:xfrm>
        </p:spPr>
        <p:txBody>
          <a:bodyPr/>
          <a:lstStyle/>
          <a:p>
            <a:r>
              <a:rPr lang="zh-CN" altLang="en-US" dirty="0"/>
              <a:t>基于线程的编程</a:t>
            </a:r>
            <a:endParaRPr lang="en-US" altLang="zh-CN" dirty="0"/>
          </a:p>
          <a:p>
            <a:pPr lvl="1"/>
            <a:r>
              <a:rPr lang="zh-CN" altLang="en-US" dirty="0"/>
              <a:t>一个线程对应逻辑上的一个任务</a:t>
            </a:r>
            <a:endParaRPr lang="en-US" altLang="zh-CN" dirty="0"/>
          </a:p>
          <a:p>
            <a:pPr lvl="1"/>
            <a:r>
              <a:rPr lang="zh-CN" altLang="en-US" dirty="0"/>
              <a:t>基于线程的编程模型能够更好地组织程序的结构，使代码的可读性更高</a:t>
            </a:r>
            <a:endParaRPr lang="en-US" altLang="zh-CN" dirty="0"/>
          </a:p>
          <a:p>
            <a:pPr lvl="1"/>
            <a:r>
              <a:rPr lang="zh-CN" altLang="en-US" dirty="0"/>
              <a:t>大大减少了由代码分片带来的额外代码量</a:t>
            </a:r>
            <a:endParaRPr lang="en-US" altLang="zh-CN" dirty="0"/>
          </a:p>
        </p:txBody>
      </p:sp>
      <p:graphicFrame>
        <p:nvGraphicFramePr>
          <p:cNvPr id="4" name="Group 34"/>
          <p:cNvGraphicFramePr>
            <a:graphicFrameLocks noGrp="1"/>
          </p:cNvGraphicFramePr>
          <p:nvPr>
            <p:extLst>
              <p:ext uri="{D42A27DB-BD31-4B8C-83A1-F6EECF244321}">
                <p14:modId xmlns:p14="http://schemas.microsoft.com/office/powerpoint/2010/main" val="3197929558"/>
              </p:ext>
            </p:extLst>
          </p:nvPr>
        </p:nvGraphicFramePr>
        <p:xfrm>
          <a:off x="1367631" y="3268362"/>
          <a:ext cx="6408737" cy="2926080"/>
        </p:xfrm>
        <a:graphic>
          <a:graphicData uri="http://schemas.openxmlformats.org/drawingml/2006/table">
            <a:tbl>
              <a:tblPr/>
              <a:tblGrid>
                <a:gridCol w="6408737">
                  <a:extLst>
                    <a:ext uri="{9D8B030D-6E8A-4147-A177-3AD203B41FA5}">
                      <a16:colId xmlns:a16="http://schemas.microsoft.com/office/drawing/2014/main" val="36840165"/>
                    </a:ext>
                  </a:extLst>
                </a:gridCol>
              </a:tblGrid>
              <a:tr h="2592388">
                <a:tc>
                  <a:txBody>
                    <a:bodyPr/>
                    <a:lstStyle>
                      <a:lvl1pPr eaLnBrk="0" hangingPunct="0">
                        <a:spcBef>
                          <a:spcPts val="575"/>
                        </a:spcBef>
                        <a:buClr>
                          <a:schemeClr val="accent1"/>
                        </a:buClr>
                        <a:buSzPct val="85000"/>
                        <a:buFont typeface="Wingdings 2" panose="05020102010507070707" pitchFamily="18" charset="2"/>
                        <a:defRPr sz="2200">
                          <a:solidFill>
                            <a:schemeClr val="tx1"/>
                          </a:solidFill>
                          <a:latin typeface="Times" panose="02020603050405020304" pitchFamily="18" charset="0"/>
                          <a:ea typeface="黑体" panose="02010609060101010101" pitchFamily="49" charset="-122"/>
                        </a:defRPr>
                      </a:lvl1pPr>
                      <a:lvl2pPr marL="742950" indent="-285750" eaLnBrk="0" hangingPunct="0">
                        <a:spcBef>
                          <a:spcPts val="375"/>
                        </a:spcBef>
                        <a:buClr>
                          <a:schemeClr val="accent2"/>
                        </a:buClr>
                        <a:buSzPct val="85000"/>
                        <a:buFont typeface="Wingdings 2" panose="05020102010507070707" pitchFamily="18" charset="2"/>
                        <a:defRPr sz="2000">
                          <a:solidFill>
                            <a:schemeClr val="tx1"/>
                          </a:solidFill>
                          <a:latin typeface="Times" panose="02020603050405020304" pitchFamily="18" charset="0"/>
                          <a:ea typeface="黑体" panose="02010609060101010101" pitchFamily="49" charset="-122"/>
                        </a:defRPr>
                      </a:lvl2pPr>
                      <a:lvl3pPr marL="1143000" indent="-228600" eaLnBrk="0" hangingPunct="0">
                        <a:spcBef>
                          <a:spcPts val="375"/>
                        </a:spcBef>
                        <a:buClr>
                          <a:srgbClr val="E6B1AB"/>
                        </a:buClr>
                        <a:buSzPct val="85000"/>
                        <a:buFont typeface="Wingdings 2" panose="05020102010507070707" pitchFamily="18" charset="2"/>
                        <a:defRPr>
                          <a:solidFill>
                            <a:schemeClr val="tx1"/>
                          </a:solidFill>
                          <a:latin typeface="Times" panose="02020603050405020304" pitchFamily="18" charset="0"/>
                          <a:ea typeface="黑体" panose="02010609060101010101" pitchFamily="49" charset="-122"/>
                        </a:defRPr>
                      </a:lvl3pPr>
                      <a:lvl4pPr marL="1600200" indent="-228600" eaLnBrk="0" hangingPunct="0">
                        <a:spcBef>
                          <a:spcPts val="375"/>
                        </a:spcBef>
                        <a:buClr>
                          <a:srgbClr val="A28E6A"/>
                        </a:buClr>
                        <a:buSzPct val="80000"/>
                        <a:buFont typeface="Wingdings 2" panose="05020102010507070707" pitchFamily="18" charset="2"/>
                        <a:defRPr>
                          <a:solidFill>
                            <a:schemeClr val="tx1"/>
                          </a:solidFill>
                          <a:latin typeface="Times" panose="02020603050405020304" pitchFamily="18" charset="0"/>
                          <a:ea typeface="黑体" panose="02010609060101010101" pitchFamily="49" charset="-122"/>
                        </a:defRPr>
                      </a:lvl4pPr>
                      <a:lvl5pPr marL="2057400" indent="-228600" eaLnBrk="0" hangingPunct="0">
                        <a:spcBef>
                          <a:spcPts val="375"/>
                        </a:spcBef>
                        <a:buClr>
                          <a:srgbClr val="A28E6A"/>
                        </a:buClr>
                        <a:defRPr>
                          <a:solidFill>
                            <a:schemeClr val="tx1"/>
                          </a:solidFill>
                          <a:latin typeface="Times" panose="02020603050405020304" pitchFamily="18" charset="0"/>
                          <a:ea typeface="黑体" panose="02010609060101010101" pitchFamily="49" charset="-122"/>
                        </a:defRPr>
                      </a:lvl5pPr>
                      <a:lvl6pPr marL="25146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6pPr>
                      <a:lvl7pPr marL="29718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7pPr>
                      <a:lvl8pPr marL="34290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8pPr>
                      <a:lvl9pPr marL="3886200" indent="-228600" eaLnBrk="0" fontAlgn="base" hangingPunct="0">
                        <a:spcBef>
                          <a:spcPts val="375"/>
                        </a:spcBef>
                        <a:spcAft>
                          <a:spcPct val="0"/>
                        </a:spcAft>
                        <a:buClr>
                          <a:srgbClr val="A28E6A"/>
                        </a:buClr>
                        <a:defRPr>
                          <a:solidFill>
                            <a:schemeClr val="tx1"/>
                          </a:solidFill>
                          <a:latin typeface="Times" panose="02020603050405020304" pitchFamily="18" charset="0"/>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send_thread</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zh-CN" altLang="en-US"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发送线程</a:t>
                      </a:r>
                      <a:endParaRPr kumimoji="0" lang="zh-CN" altLang="zh-CN" sz="1600"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radio_pkt</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sensor_reading</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FF"/>
                          </a:solidFill>
                          <a:effectLst/>
                          <a:latin typeface="Courier New" panose="02070309020205020404" pitchFamily="49" charset="0"/>
                          <a:ea typeface="宋体" panose="02010600030101010101" pitchFamily="2" charset="-122"/>
                          <a:cs typeface="Courier New" panose="02070309020205020404" pitchFamily="49" charset="0"/>
                        </a:rPr>
                        <a:t>  while</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(TRUE) {</a:t>
                      </a:r>
                      <a:endParaRPr kumimoji="0" lang="zh-CN"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temperature_sensor_read</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(&amp;temp);</a:t>
                      </a:r>
                      <a:endParaRPr kumimoji="0" lang="zh-CN"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humidity_sensor_read</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(&amp;humidity);</a:t>
                      </a:r>
                      <a:endParaRPr kumimoji="0" lang="zh-CN"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light_sensor_read</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(&amp;light);</a:t>
                      </a:r>
                      <a:endParaRPr kumimoji="0" lang="zh-CN"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radio_pkt</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sym typeface="Wingdings" panose="05000000000000000000" pitchFamily="2" charset="2"/>
                        </a:rPr>
                        <a:t></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temp | humidity | light;</a:t>
                      </a:r>
                      <a:endParaRPr kumimoji="0" lang="zh-CN"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radio_send</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(DEST,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radio_pkt</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cpu_sleep</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(PERIOD);</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87239294"/>
                  </a:ext>
                </a:extLst>
              </a:tr>
            </a:tbl>
          </a:graphicData>
        </a:graphic>
      </p:graphicFrame>
      <p:sp>
        <p:nvSpPr>
          <p:cNvPr id="7" name="灯片编号占位符 4">
            <a:extLst>
              <a:ext uri="{FF2B5EF4-FFF2-40B4-BE49-F238E27FC236}">
                <a16:creationId xmlns:a16="http://schemas.microsoft.com/office/drawing/2014/main" id="{894A3478-0432-4ABB-8070-DF791EB3587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15</a:t>
            </a:fld>
            <a:endParaRPr lang="zh-CN" altLang="zh-CN" sz="1800" baseline="0">
              <a:solidFill>
                <a:schemeClr val="folHlink"/>
              </a:solidFill>
              <a:latin typeface="Monotype Corsiva" panose="03010101010201010101" pitchFamily="66" charset="0"/>
            </a:endParaRPr>
          </a:p>
        </p:txBody>
      </p:sp>
      <p:sp>
        <p:nvSpPr>
          <p:cNvPr id="10" name="文本框 9">
            <a:extLst>
              <a:ext uri="{FF2B5EF4-FFF2-40B4-BE49-F238E27FC236}">
                <a16:creationId xmlns:a16="http://schemas.microsoft.com/office/drawing/2014/main" id="{F947F93B-F88A-4DBF-9F8D-255F29C759C1}"/>
              </a:ext>
            </a:extLst>
          </p:cNvPr>
          <p:cNvSpPr txBox="1"/>
          <p:nvPr/>
        </p:nvSpPr>
        <p:spPr>
          <a:xfrm>
            <a:off x="1013254" y="6235125"/>
            <a:ext cx="7216346" cy="584775"/>
          </a:xfrm>
          <a:prstGeom prst="rect">
            <a:avLst/>
          </a:prstGeom>
          <a:noFill/>
        </p:spPr>
        <p:txBody>
          <a:bodyPr wrap="square">
            <a:spAutoFit/>
          </a:bodyPr>
          <a:lstStyle/>
          <a:p>
            <a:r>
              <a:rPr lang="zh-CN" altLang="en-US" dirty="0">
                <a:latin typeface="+mj-ea"/>
                <a:ea typeface="+mj-ea"/>
              </a:rPr>
              <a:t>周期性地采集传感器的读数，并通过无线通信芯片发送，应用程序实时地处理或响应系统中的事件的编程示例</a:t>
            </a:r>
          </a:p>
        </p:txBody>
      </p:sp>
    </p:spTree>
    <p:extLst>
      <p:ext uri="{BB962C8B-B14F-4D97-AF65-F5344CB8AC3E}">
        <p14:creationId xmlns:p14="http://schemas.microsoft.com/office/powerpoint/2010/main" val="47291816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调度方式</a:t>
            </a:r>
          </a:p>
        </p:txBody>
      </p:sp>
      <p:sp>
        <p:nvSpPr>
          <p:cNvPr id="3" name="内容占位符 2"/>
          <p:cNvSpPr>
            <a:spLocks noGrp="1"/>
          </p:cNvSpPr>
          <p:nvPr>
            <p:ph idx="1"/>
          </p:nvPr>
        </p:nvSpPr>
        <p:spPr>
          <a:xfrm>
            <a:off x="457200" y="990600"/>
            <a:ext cx="8305800" cy="5410200"/>
          </a:xfrm>
        </p:spPr>
        <p:txBody>
          <a:bodyPr/>
          <a:lstStyle/>
          <a:p>
            <a:r>
              <a:rPr lang="zh-CN" altLang="en-US"/>
              <a:t>抢占式</a:t>
            </a:r>
            <a:endParaRPr lang="en-US" altLang="zh-CN"/>
          </a:p>
          <a:p>
            <a:pPr lvl="1"/>
            <a:r>
              <a:rPr lang="zh-CN" altLang="en-US"/>
              <a:t>高优先级线程会抢占低优先级线程的执行</a:t>
            </a:r>
            <a:endParaRPr lang="en-US" altLang="zh-CN"/>
          </a:p>
          <a:p>
            <a:r>
              <a:rPr lang="zh-CN" altLang="en-US"/>
              <a:t>非抢占式</a:t>
            </a:r>
            <a:endParaRPr lang="en-US" altLang="zh-CN"/>
          </a:p>
          <a:p>
            <a:pPr lvl="1"/>
            <a:r>
              <a:rPr lang="zh-CN" altLang="en-US"/>
              <a:t>系统一旦把处理器分配给就绪队列中的某线程后，该线程便一直执行下去，直至完成或阻塞</a:t>
            </a:r>
          </a:p>
          <a:p>
            <a:r>
              <a:rPr lang="zh-CN" altLang="en-US"/>
              <a:t>协作式</a:t>
            </a:r>
          </a:p>
          <a:p>
            <a:pPr lvl="1"/>
            <a:r>
              <a:rPr lang="zh-CN" altLang="en-US"/>
              <a:t>在协作式调度中，只有在线程主动交出</a:t>
            </a:r>
            <a:r>
              <a:rPr lang="en-US" altLang="zh-CN"/>
              <a:t>CPU</a:t>
            </a:r>
            <a:r>
              <a:rPr lang="zh-CN" altLang="en-US"/>
              <a:t>的控制权后，才可以让其他的线程得到</a:t>
            </a:r>
            <a:r>
              <a:rPr lang="en-US" altLang="zh-CN"/>
              <a:t>CPU</a:t>
            </a:r>
            <a:r>
              <a:rPr lang="zh-CN" altLang="en-US"/>
              <a:t>的控制权</a:t>
            </a:r>
            <a:endParaRPr lang="en-US" altLang="zh-CN"/>
          </a:p>
          <a:p>
            <a:r>
              <a:rPr lang="zh-CN" altLang="en-US"/>
              <a:t>时间片轮转</a:t>
            </a:r>
            <a:endParaRPr lang="en-US" altLang="zh-CN"/>
          </a:p>
          <a:p>
            <a:pPr lvl="1"/>
            <a:r>
              <a:rPr lang="zh-CN" altLang="en-US"/>
              <a:t>系统默认给每个线程分配了相同时间片的</a:t>
            </a:r>
            <a:r>
              <a:rPr lang="en-US" altLang="zh-CN"/>
              <a:t>CPU</a:t>
            </a:r>
            <a:r>
              <a:rPr lang="zh-CN" altLang="en-US"/>
              <a:t>资源，当某个线程的</a:t>
            </a:r>
            <a:r>
              <a:rPr lang="en-US" altLang="zh-CN"/>
              <a:t>CPU</a:t>
            </a:r>
            <a:r>
              <a:rPr lang="zh-CN" altLang="en-US"/>
              <a:t>时间片用完时，即使该线程的任务尚未执行完，也必须交出</a:t>
            </a:r>
            <a:r>
              <a:rPr lang="en-US" altLang="zh-CN"/>
              <a:t>CPU</a:t>
            </a:r>
            <a:r>
              <a:rPr lang="zh-CN" altLang="en-US"/>
              <a:t>的控制权，让其他线程执行</a:t>
            </a:r>
            <a:endParaRPr lang="en-US" altLang="zh-CN"/>
          </a:p>
          <a:p>
            <a:pPr lvl="1"/>
            <a:endParaRPr lang="en-US" altLang="zh-CN" dirty="0"/>
          </a:p>
        </p:txBody>
      </p:sp>
      <p:sp>
        <p:nvSpPr>
          <p:cNvPr id="6" name="灯片编号占位符 4">
            <a:extLst>
              <a:ext uri="{FF2B5EF4-FFF2-40B4-BE49-F238E27FC236}">
                <a16:creationId xmlns:a16="http://schemas.microsoft.com/office/drawing/2014/main" id="{B56F3BC9-9DF1-4B7D-A4A4-B743E4E4D06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16</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06858915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a:t>调度方式</a:t>
            </a:r>
            <a:endParaRPr lang="zh-CN" altLang="en-US" dirty="0"/>
          </a:p>
        </p:txBody>
      </p:sp>
      <p:sp>
        <p:nvSpPr>
          <p:cNvPr id="3" name="内容占位符 2"/>
          <p:cNvSpPr>
            <a:spLocks noGrp="1"/>
          </p:cNvSpPr>
          <p:nvPr>
            <p:ph idx="1"/>
          </p:nvPr>
        </p:nvSpPr>
        <p:spPr>
          <a:xfrm>
            <a:off x="457200" y="990600"/>
            <a:ext cx="8305800" cy="5410200"/>
          </a:xfrm>
        </p:spPr>
        <p:txBody>
          <a:bodyPr/>
          <a:lstStyle/>
          <a:p>
            <a:r>
              <a:rPr lang="zh-CN" altLang="en-US" dirty="0"/>
              <a:t>代码示例</a:t>
            </a:r>
            <a:endParaRPr lang="en-US" altLang="zh-CN" dirty="0"/>
          </a:p>
          <a:p>
            <a:pPr lvl="1"/>
            <a:r>
              <a:rPr lang="zh-CN" altLang="en-US" dirty="0"/>
              <a:t>在多个线程同时对变量</a:t>
            </a:r>
            <a:r>
              <a:rPr lang="en-US" altLang="zh-CN" dirty="0"/>
              <a:t>x </a:t>
            </a:r>
            <a:r>
              <a:rPr lang="zh-CN" altLang="en-US" dirty="0"/>
              <a:t>有操作权限的情况下，如何进行原子操作，才能使变量</a:t>
            </a:r>
            <a:r>
              <a:rPr lang="en-US" altLang="zh-CN" dirty="0"/>
              <a:t>x </a:t>
            </a:r>
            <a:r>
              <a:rPr lang="zh-CN" altLang="en-US" dirty="0"/>
              <a:t>的数值在</a:t>
            </a:r>
            <a:r>
              <a:rPr lang="en-US" altLang="zh-CN" dirty="0"/>
              <a:t>RAM </a:t>
            </a:r>
            <a:r>
              <a:rPr lang="zh-CN" altLang="en-US" dirty="0"/>
              <a:t>与外存之间能够保持一致</a:t>
            </a:r>
            <a:endParaRPr lang="en-US" altLang="zh-CN" dirty="0"/>
          </a:p>
        </p:txBody>
      </p:sp>
      <p:sp>
        <p:nvSpPr>
          <p:cNvPr id="4" name="矩形 3"/>
          <p:cNvSpPr/>
          <p:nvPr/>
        </p:nvSpPr>
        <p:spPr>
          <a:xfrm>
            <a:off x="821845" y="3788973"/>
            <a:ext cx="1940373" cy="1309756"/>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x++;</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write(x);</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endParaRPr>
          </a:p>
        </p:txBody>
      </p:sp>
      <p:sp>
        <p:nvSpPr>
          <p:cNvPr id="5" name="矩形 4"/>
          <p:cNvSpPr/>
          <p:nvPr/>
        </p:nvSpPr>
        <p:spPr>
          <a:xfrm>
            <a:off x="6114573" y="3002822"/>
            <a:ext cx="2019299" cy="2095907"/>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err="1">
                <a:ln>
                  <a:noFill/>
                </a:ln>
                <a:solidFill>
                  <a:srgbClr val="00B050"/>
                </a:solidFill>
                <a:effectLst/>
                <a:uLnTx/>
                <a:uFillTx/>
                <a:latin typeface="Courier New" panose="02070309020205020404" pitchFamily="49" charset="0"/>
                <a:ea typeface="Arial Unicode MS" panose="020B0604020202020204" pitchFamily="34" charset="-122"/>
                <a:cs typeface="Courier New" panose="02070309020205020404" pitchFamily="49" charset="0"/>
              </a:rPr>
              <a:t>mutex</a:t>
            </a: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Arial Unicode MS" panose="020B0604020202020204" pitchFamily="34" charset="-122"/>
                <a:cs typeface="Courier New" panose="02070309020205020404" pitchFamily="49" charset="0"/>
              </a:rPr>
              <a:t> m;</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err="1">
                <a:ln>
                  <a:noFill/>
                </a:ln>
                <a:solidFill>
                  <a:srgbClr val="00B050"/>
                </a:solidFill>
                <a:effectLst/>
                <a:uLnTx/>
                <a:uFillTx/>
                <a:latin typeface="Courier New" panose="02070309020205020404" pitchFamily="49" charset="0"/>
                <a:ea typeface="Arial Unicode MS" panose="020B0604020202020204" pitchFamily="34" charset="-122"/>
                <a:cs typeface="Courier New" panose="02070309020205020404" pitchFamily="49" charset="0"/>
              </a:rPr>
              <a:t>m.lock</a:t>
            </a: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Arial Unicode MS" panose="020B0604020202020204" pitchFamily="34" charset="-122"/>
                <a:cs typeface="Courier New" panose="02070309020205020404"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x++;</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write(x);</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err="1">
                <a:ln>
                  <a:noFill/>
                </a:ln>
                <a:solidFill>
                  <a:srgbClr val="00B050"/>
                </a:solidFill>
                <a:effectLst/>
                <a:uLnTx/>
                <a:uFillTx/>
                <a:latin typeface="Courier New" panose="02070309020205020404" pitchFamily="49" charset="0"/>
                <a:ea typeface="Arial Unicode MS" panose="020B0604020202020204" pitchFamily="34" charset="-122"/>
                <a:cs typeface="Courier New" panose="02070309020205020404" pitchFamily="49" charset="0"/>
              </a:rPr>
              <a:t>m.unlock</a:t>
            </a: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endParaRPr kumimoji="0" lang="zh-CN" altLang="en-US" sz="1800" b="1" i="0" u="none" strike="noStrike" kern="1200" cap="none" spc="0" normalizeH="0" baseline="0" noProof="0" dirty="0">
              <a:ln>
                <a:noFill/>
              </a:ln>
              <a:solidFill>
                <a:srgbClr val="00B050"/>
              </a:solidFill>
              <a:effectLst/>
              <a:uLnTx/>
              <a:uFillTx/>
              <a:latin typeface="Courier New" panose="02070309020205020404" pitchFamily="49" charset="0"/>
              <a:ea typeface="Arial Unicode MS" panose="020B0604020202020204" pitchFamily="34" charset="-122"/>
              <a:cs typeface="Courier New" panose="02070309020205020404" pitchFamily="49" charset="0"/>
            </a:endParaRPr>
          </a:p>
        </p:txBody>
      </p:sp>
      <p:sp>
        <p:nvSpPr>
          <p:cNvPr id="6" name="矩形 5"/>
          <p:cNvSpPr/>
          <p:nvPr/>
        </p:nvSpPr>
        <p:spPr>
          <a:xfrm>
            <a:off x="3341077" y="3341376"/>
            <a:ext cx="2163667" cy="1757354"/>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x++;</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Courier New" panose="02070309020205020404" pitchFamily="49" charset="0"/>
                <a:ea typeface="Arial Unicode MS" panose="020B0604020202020204" pitchFamily="34" charset="-122"/>
                <a:cs typeface="Courier New" panose="02070309020205020404" pitchFamily="49" charset="0"/>
              </a:rPr>
              <a:t>  Yield(); x</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write(x);</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Arial Unicode MS" panose="020B0604020202020204" pitchFamily="34" charset="-122"/>
                <a:cs typeface="Courier New" panose="02070309020205020404" pitchFamily="49" charset="0"/>
              </a:rPr>
              <a:t>  Yield(); </a:t>
            </a:r>
            <a:r>
              <a:rPr kumimoji="0" lang="zh-CN" altLang="en-US" sz="1800" b="1" i="0" u="none" strike="noStrike" kern="1200" cap="none" spc="0" normalizeH="0" baseline="0" noProof="0" dirty="0">
                <a:ln>
                  <a:noFill/>
                </a:ln>
                <a:solidFill>
                  <a:srgbClr val="00B050"/>
                </a:solidFill>
                <a:effectLst/>
                <a:uLnTx/>
                <a:uFillTx/>
                <a:latin typeface="Courier New" panose="02070309020205020404" pitchFamily="49" charset="0"/>
                <a:ea typeface="黑体"/>
                <a:cs typeface="Courier New" panose="02070309020205020404" pitchFamily="49" charset="0"/>
              </a:rPr>
              <a:t>√</a:t>
            </a:r>
            <a:endParaRPr kumimoji="0" lang="en-US" altLang="zh-CN" sz="1800" b="1" i="0" u="none" strike="noStrike" kern="1200" cap="none" spc="0" normalizeH="0" baseline="0" noProof="0" dirty="0">
              <a:ln>
                <a:noFill/>
              </a:ln>
              <a:solidFill>
                <a:srgbClr val="00B050"/>
              </a:solidFill>
              <a:effectLst/>
              <a:uLnTx/>
              <a:uFillTx/>
              <a:latin typeface="Courier New" panose="02070309020205020404" pitchFamily="49" charset="0"/>
              <a:ea typeface="Arial Unicode MS" panose="020B0604020202020204" pitchFamily="34"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endParaRPr kumimoji="0" lang="zh-CN" altLang="en-US" sz="1800" b="1"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endParaRPr>
          </a:p>
        </p:txBody>
      </p:sp>
      <p:sp>
        <p:nvSpPr>
          <p:cNvPr id="7" name="文本框 6"/>
          <p:cNvSpPr txBox="1"/>
          <p:nvPr/>
        </p:nvSpPr>
        <p:spPr>
          <a:xfrm>
            <a:off x="1289328" y="3445972"/>
            <a:ext cx="1005403"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600" baseline="0" dirty="0">
                <a:solidFill>
                  <a:prstClr val="black"/>
                </a:solidFill>
                <a:latin typeface="微软雅黑"/>
                <a:ea typeface="微软雅黑"/>
              </a:rPr>
              <a:t>非抢占式</a:t>
            </a:r>
          </a:p>
        </p:txBody>
      </p:sp>
      <p:sp>
        <p:nvSpPr>
          <p:cNvPr id="8" name="文本框 7"/>
          <p:cNvSpPr txBox="1"/>
          <p:nvPr/>
        </p:nvSpPr>
        <p:spPr>
          <a:xfrm>
            <a:off x="6102547" y="2664268"/>
            <a:ext cx="2031325"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抢占式或时间片轮转</a:t>
            </a:r>
          </a:p>
        </p:txBody>
      </p:sp>
      <p:sp>
        <p:nvSpPr>
          <p:cNvPr id="9" name="文本框 8"/>
          <p:cNvSpPr txBox="1"/>
          <p:nvPr/>
        </p:nvSpPr>
        <p:spPr>
          <a:xfrm>
            <a:off x="3956621" y="3002822"/>
            <a:ext cx="800219"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600" baseline="0" dirty="0">
                <a:solidFill>
                  <a:prstClr val="black"/>
                </a:solidFill>
                <a:latin typeface="微软雅黑"/>
                <a:ea typeface="微软雅黑"/>
              </a:rPr>
              <a:t>协作式</a:t>
            </a:r>
          </a:p>
        </p:txBody>
      </p:sp>
      <p:sp>
        <p:nvSpPr>
          <p:cNvPr id="12" name="灯片编号占位符 4">
            <a:extLst>
              <a:ext uri="{FF2B5EF4-FFF2-40B4-BE49-F238E27FC236}">
                <a16:creationId xmlns:a16="http://schemas.microsoft.com/office/drawing/2014/main" id="{28ACF678-BD5D-4C63-9C06-BC65653643E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17</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0996446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思考题</a:t>
            </a:r>
            <a:endParaRPr lang="zh-CN" altLang="en-US" dirty="0"/>
          </a:p>
        </p:txBody>
      </p:sp>
      <p:sp>
        <p:nvSpPr>
          <p:cNvPr id="5" name="内容占位符 2"/>
          <p:cNvSpPr>
            <a:spLocks noGrp="1"/>
          </p:cNvSpPr>
          <p:nvPr>
            <p:ph idx="1"/>
          </p:nvPr>
        </p:nvSpPr>
        <p:spPr>
          <a:xfrm>
            <a:off x="457200" y="990600"/>
            <a:ext cx="8305800" cy="5410200"/>
          </a:xfrm>
        </p:spPr>
        <p:txBody>
          <a:bodyPr>
            <a:normAutofit/>
          </a:bodyPr>
          <a:lstStyle/>
          <a:p>
            <a:r>
              <a:rPr lang="zh-CN" altLang="en-US" dirty="0"/>
              <a:t>给定三个线程</a:t>
            </a:r>
            <a:r>
              <a:rPr lang="en-US" altLang="zh-CN" dirty="0"/>
              <a:t>a</a:t>
            </a:r>
            <a:r>
              <a:rPr lang="zh-CN" altLang="en-US" dirty="0"/>
              <a:t>、</a:t>
            </a:r>
            <a:r>
              <a:rPr lang="en-US" altLang="zh-CN" dirty="0"/>
              <a:t>b</a:t>
            </a:r>
            <a:r>
              <a:rPr lang="zh-CN" altLang="en-US" dirty="0"/>
              <a:t>、</a:t>
            </a:r>
            <a:r>
              <a:rPr lang="en-US" altLang="zh-CN" dirty="0"/>
              <a:t>c</a:t>
            </a:r>
            <a:r>
              <a:rPr lang="zh-CN" altLang="en-US" dirty="0"/>
              <a:t>，它们单独执行完的时间分别为</a:t>
            </a:r>
            <a:r>
              <a:rPr lang="en-US" altLang="zh-CN" dirty="0"/>
              <a:t>10s</a:t>
            </a:r>
            <a:r>
              <a:rPr lang="zh-CN" altLang="en-US" dirty="0"/>
              <a:t>、</a:t>
            </a:r>
            <a:r>
              <a:rPr lang="en-US" altLang="zh-CN" dirty="0"/>
              <a:t>20s</a:t>
            </a:r>
            <a:r>
              <a:rPr lang="zh-CN" altLang="en-US" dirty="0"/>
              <a:t>、</a:t>
            </a:r>
            <a:r>
              <a:rPr lang="en-US" altLang="zh-CN" dirty="0"/>
              <a:t>30s</a:t>
            </a:r>
            <a:endParaRPr lang="zh-CN" altLang="en-US" dirty="0"/>
          </a:p>
          <a:p>
            <a:pPr lvl="1"/>
            <a:r>
              <a:rPr lang="zh-CN" altLang="en-US" dirty="0"/>
              <a:t>（</a:t>
            </a:r>
            <a:r>
              <a:rPr lang="en-US" altLang="zh-CN" dirty="0"/>
              <a:t>1</a:t>
            </a:r>
            <a:r>
              <a:rPr lang="zh-CN" altLang="en-US" dirty="0"/>
              <a:t>）在非抢占式的调度方式下，三个线程执行完时，各自花费了多少时间？</a:t>
            </a:r>
          </a:p>
          <a:p>
            <a:pPr lvl="1"/>
            <a:r>
              <a:rPr lang="zh-CN" altLang="en-US" dirty="0"/>
              <a:t>（</a:t>
            </a:r>
            <a:r>
              <a:rPr lang="en-US" altLang="zh-CN" dirty="0"/>
              <a:t>2</a:t>
            </a:r>
            <a:r>
              <a:rPr lang="zh-CN" altLang="en-US" dirty="0"/>
              <a:t>）在协同式和抢占式并存的调度方式下，线程的优先级为</a:t>
            </a:r>
            <a:r>
              <a:rPr lang="en-US" altLang="zh-CN" dirty="0"/>
              <a:t>c&gt;b&gt;a</a:t>
            </a:r>
            <a:r>
              <a:rPr lang="zh-CN" altLang="en-US" dirty="0"/>
              <a:t>，线程</a:t>
            </a:r>
            <a:r>
              <a:rPr lang="en-US" altLang="zh-CN" dirty="0"/>
              <a:t>a</a:t>
            </a:r>
            <a:r>
              <a:rPr lang="zh-CN" altLang="en-US" dirty="0"/>
              <a:t>、</a:t>
            </a:r>
            <a:r>
              <a:rPr lang="en-US" altLang="zh-CN" dirty="0"/>
              <a:t>b</a:t>
            </a:r>
            <a:r>
              <a:rPr lang="zh-CN" altLang="en-US" dirty="0"/>
              <a:t>、</a:t>
            </a:r>
            <a:r>
              <a:rPr lang="en-US" altLang="zh-CN" dirty="0"/>
              <a:t>c</a:t>
            </a:r>
            <a:r>
              <a:rPr lang="zh-CN" altLang="en-US" dirty="0"/>
              <a:t>的启动时间点分别为第</a:t>
            </a:r>
            <a:r>
              <a:rPr lang="en-US" altLang="zh-CN" dirty="0"/>
              <a:t>1s</a:t>
            </a:r>
            <a:r>
              <a:rPr lang="zh-CN" altLang="en-US" dirty="0"/>
              <a:t>、第</a:t>
            </a:r>
            <a:r>
              <a:rPr lang="en-US" altLang="zh-CN" dirty="0"/>
              <a:t>2s</a:t>
            </a:r>
            <a:r>
              <a:rPr lang="zh-CN" altLang="en-US" dirty="0"/>
              <a:t>、第</a:t>
            </a:r>
            <a:r>
              <a:rPr lang="en-US" altLang="zh-CN" dirty="0"/>
              <a:t>15s</a:t>
            </a:r>
            <a:r>
              <a:rPr lang="zh-CN" altLang="en-US" dirty="0"/>
              <a:t>，线程</a:t>
            </a:r>
            <a:r>
              <a:rPr lang="en-US" altLang="zh-CN" dirty="0"/>
              <a:t>b</a:t>
            </a:r>
            <a:r>
              <a:rPr lang="zh-CN" altLang="en-US" dirty="0"/>
              <a:t>执行完</a:t>
            </a:r>
            <a:r>
              <a:rPr lang="en-US" altLang="zh-CN" dirty="0"/>
              <a:t>4s</a:t>
            </a:r>
            <a:r>
              <a:rPr lang="zh-CN" altLang="en-US" dirty="0"/>
              <a:t>有</a:t>
            </a:r>
            <a:r>
              <a:rPr lang="en-US" altLang="zh-CN" dirty="0"/>
              <a:t>yield()</a:t>
            </a:r>
            <a:r>
              <a:rPr lang="zh-CN" altLang="en-US" dirty="0"/>
              <a:t>指令，则各自执行完花费的时间为多少？</a:t>
            </a:r>
          </a:p>
          <a:p>
            <a:pPr lvl="1"/>
            <a:r>
              <a:rPr lang="zh-CN" altLang="en-US" dirty="0"/>
              <a:t>（</a:t>
            </a:r>
            <a:r>
              <a:rPr lang="en-US" altLang="zh-CN" dirty="0"/>
              <a:t>3</a:t>
            </a:r>
            <a:r>
              <a:rPr lang="zh-CN" altLang="en-US" dirty="0"/>
              <a:t>）在时间片轮转的调度方式下，时间片的长度为</a:t>
            </a:r>
            <a:r>
              <a:rPr lang="en-US" altLang="zh-CN" dirty="0"/>
              <a:t>10s</a:t>
            </a:r>
            <a:r>
              <a:rPr lang="zh-CN" altLang="en-US" dirty="0"/>
              <a:t>，线程</a:t>
            </a:r>
            <a:r>
              <a:rPr lang="en-US" altLang="zh-CN" dirty="0"/>
              <a:t>a</a:t>
            </a:r>
            <a:r>
              <a:rPr lang="zh-CN" altLang="en-US" dirty="0"/>
              <a:t>、</a:t>
            </a:r>
            <a:r>
              <a:rPr lang="en-US" altLang="zh-CN" dirty="0"/>
              <a:t>b</a:t>
            </a:r>
            <a:r>
              <a:rPr lang="zh-CN" altLang="en-US" dirty="0"/>
              <a:t>、</a:t>
            </a:r>
            <a:r>
              <a:rPr lang="en-US" altLang="zh-CN" dirty="0"/>
              <a:t>c</a:t>
            </a:r>
            <a:r>
              <a:rPr lang="zh-CN" altLang="en-US" dirty="0"/>
              <a:t>的启动时间点分别为第</a:t>
            </a:r>
            <a:r>
              <a:rPr lang="en-US" altLang="zh-CN" dirty="0"/>
              <a:t>0s</a:t>
            </a:r>
            <a:r>
              <a:rPr lang="zh-CN" altLang="en-US" dirty="0"/>
              <a:t>、第</a:t>
            </a:r>
            <a:r>
              <a:rPr lang="en-US" altLang="zh-CN" dirty="0"/>
              <a:t>10s</a:t>
            </a:r>
            <a:r>
              <a:rPr lang="zh-CN" altLang="en-US" dirty="0"/>
              <a:t>、第</a:t>
            </a:r>
            <a:r>
              <a:rPr lang="en-US" altLang="zh-CN" dirty="0"/>
              <a:t>20s</a:t>
            </a:r>
            <a:r>
              <a:rPr lang="zh-CN" altLang="en-US" dirty="0"/>
              <a:t>，则各自执行完花费的时间为多少？</a:t>
            </a:r>
          </a:p>
          <a:p>
            <a:endParaRPr lang="zh-CN" altLang="en-US" dirty="0"/>
          </a:p>
        </p:txBody>
      </p:sp>
      <p:sp>
        <p:nvSpPr>
          <p:cNvPr id="7" name="灯片编号占位符 4">
            <a:extLst>
              <a:ext uri="{FF2B5EF4-FFF2-40B4-BE49-F238E27FC236}">
                <a16:creationId xmlns:a16="http://schemas.microsoft.com/office/drawing/2014/main" id="{0EA220CD-AC07-4FA1-A81A-0D2A9A8075B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18</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50736229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a:t>I/O</a:t>
            </a:r>
            <a:r>
              <a:rPr lang="zh-CN" altLang="en-US" dirty="0"/>
              <a:t>操作方式</a:t>
            </a:r>
          </a:p>
        </p:txBody>
      </p:sp>
      <p:sp>
        <p:nvSpPr>
          <p:cNvPr id="3" name="内容占位符 2"/>
          <p:cNvSpPr>
            <a:spLocks noGrp="1"/>
          </p:cNvSpPr>
          <p:nvPr>
            <p:ph idx="1"/>
          </p:nvPr>
        </p:nvSpPr>
        <p:spPr>
          <a:xfrm>
            <a:off x="457200" y="990600"/>
            <a:ext cx="8305800" cy="5410200"/>
          </a:xfrm>
        </p:spPr>
        <p:txBody>
          <a:bodyPr/>
          <a:lstStyle/>
          <a:p>
            <a:r>
              <a:rPr lang="zh-CN" altLang="en-US" dirty="0"/>
              <a:t>阻塞式</a:t>
            </a:r>
            <a:r>
              <a:rPr lang="en-US" altLang="zh-CN" dirty="0"/>
              <a:t>I/O</a:t>
            </a:r>
          </a:p>
          <a:p>
            <a:pPr lvl="1"/>
            <a:r>
              <a:rPr lang="zh-CN" altLang="en-US" dirty="0"/>
              <a:t>当程序调用一个</a:t>
            </a:r>
            <a:r>
              <a:rPr lang="en-US" altLang="zh-CN" dirty="0"/>
              <a:t>I/O </a:t>
            </a:r>
            <a:r>
              <a:rPr lang="zh-CN" altLang="en-US" dirty="0"/>
              <a:t>操作时，直到该</a:t>
            </a:r>
            <a:r>
              <a:rPr lang="en-US" altLang="zh-CN" dirty="0"/>
              <a:t>I/O</a:t>
            </a:r>
            <a:r>
              <a:rPr lang="zh-CN" altLang="en-US" dirty="0"/>
              <a:t>操作完成，这个调用才会返回；易于编程</a:t>
            </a:r>
            <a:endParaRPr lang="en-US" altLang="zh-CN" dirty="0"/>
          </a:p>
          <a:p>
            <a:r>
              <a:rPr lang="zh-CN" altLang="en-US" dirty="0"/>
              <a:t>分阶段</a:t>
            </a:r>
            <a:r>
              <a:rPr lang="en-US" altLang="zh-CN" dirty="0"/>
              <a:t>I/O</a:t>
            </a:r>
          </a:p>
          <a:p>
            <a:pPr lvl="1"/>
            <a:r>
              <a:rPr lang="zh-CN" altLang="en-US" dirty="0"/>
              <a:t>把</a:t>
            </a:r>
            <a:r>
              <a:rPr lang="en-US" altLang="zh-CN" dirty="0"/>
              <a:t>I/O </a:t>
            </a:r>
            <a:r>
              <a:rPr lang="zh-CN" altLang="en-US" dirty="0"/>
              <a:t>操作的调用和</a:t>
            </a:r>
            <a:r>
              <a:rPr lang="en-US" altLang="zh-CN" dirty="0"/>
              <a:t>I/O </a:t>
            </a:r>
            <a:r>
              <a:rPr lang="zh-CN" altLang="en-US" dirty="0"/>
              <a:t>操作的完成分成了两个独立的阶段</a:t>
            </a:r>
            <a:endParaRPr lang="en-US" altLang="zh-CN" dirty="0"/>
          </a:p>
          <a:p>
            <a:pPr lvl="1"/>
            <a:r>
              <a:rPr lang="zh-CN" altLang="en-US" dirty="0"/>
              <a:t>代码冗长，但可以保持系统的高响应性</a:t>
            </a:r>
          </a:p>
          <a:p>
            <a:endParaRPr lang="en-US" altLang="zh-CN" dirty="0"/>
          </a:p>
          <a:p>
            <a:endParaRPr lang="en-US" altLang="zh-CN" dirty="0"/>
          </a:p>
        </p:txBody>
      </p:sp>
      <p:sp>
        <p:nvSpPr>
          <p:cNvPr id="5" name="矩形 4"/>
          <p:cNvSpPr/>
          <p:nvPr/>
        </p:nvSpPr>
        <p:spPr>
          <a:xfrm>
            <a:off x="3807080" y="3842258"/>
            <a:ext cx="5108330" cy="2382695"/>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lvl="0"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pP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p>
          <a:p>
            <a:pPr lvl="0"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a:pP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call </a:t>
            </a:r>
            <a:r>
              <a:rPr lang="en-US" altLang="zh-CN" sz="1800" b="1" baseline="0" dirty="0" err="1">
                <a:solidFill>
                  <a:schemeClr val="tx1"/>
                </a:solidFill>
                <a:latin typeface="Courier New" panose="02070309020205020404" pitchFamily="49" charset="0"/>
                <a:ea typeface="宋体" panose="02010600030101010101" pitchFamily="2" charset="-122"/>
                <a:cs typeface="Courier New" panose="02070309020205020404" pitchFamily="49" charset="0"/>
              </a:rPr>
              <a:t>SubSend.send</a:t>
            </a: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 call phase</a:t>
            </a:r>
          </a:p>
          <a:p>
            <a:pPr lvl="0"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……//other tasks</a:t>
            </a:r>
          </a:p>
          <a:p>
            <a:pPr lvl="0"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p>
          <a:p>
            <a:pPr lvl="0"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event void </a:t>
            </a:r>
            <a:r>
              <a:rPr lang="en-US" altLang="zh-CN" sz="1800" b="1" baseline="0" dirty="0" err="1">
                <a:solidFill>
                  <a:schemeClr val="tx1"/>
                </a:solidFill>
                <a:latin typeface="Courier New" panose="02070309020205020404" pitchFamily="49" charset="0"/>
                <a:ea typeface="宋体" panose="02010600030101010101" pitchFamily="2" charset="-122"/>
                <a:cs typeface="Courier New" panose="02070309020205020404" pitchFamily="49" charset="0"/>
              </a:rPr>
              <a:t>sendDone</a:t>
            </a: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r>
              <a:rPr lang="en-US" altLang="zh-CN" sz="1800" b="1" baseline="0" dirty="0" err="1">
                <a:solidFill>
                  <a:schemeClr val="tx1"/>
                </a:solidFill>
                <a:latin typeface="Courier New" panose="02070309020205020404" pitchFamily="49" charset="0"/>
                <a:ea typeface="宋体" panose="02010600030101010101" pitchFamily="2" charset="-122"/>
                <a:cs typeface="Courier New" panose="02070309020205020404" pitchFamily="49" charset="0"/>
              </a:rPr>
              <a:t>error_t</a:t>
            </a: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err) {</a:t>
            </a:r>
          </a:p>
          <a:p>
            <a:pPr lvl="0"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if (err == SUCCESS) </a:t>
            </a:r>
          </a:p>
          <a:p>
            <a:pPr lvl="0"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r>
              <a:rPr lang="en-US" altLang="zh-CN" sz="1800" b="1" baseline="0" dirty="0" err="1">
                <a:solidFill>
                  <a:schemeClr val="tx1"/>
                </a:solidFill>
                <a:latin typeface="Courier New" panose="02070309020205020404" pitchFamily="49" charset="0"/>
                <a:ea typeface="宋体" panose="02010600030101010101" pitchFamily="2" charset="-122"/>
                <a:cs typeface="Courier New" panose="02070309020205020404" pitchFamily="49" charset="0"/>
              </a:rPr>
              <a:t>sendCount</a:t>
            </a: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p>
          <a:p>
            <a:pPr lvl="0"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p>
        </p:txBody>
      </p:sp>
      <p:sp>
        <p:nvSpPr>
          <p:cNvPr id="6" name="矩形 5"/>
          <p:cNvSpPr/>
          <p:nvPr/>
        </p:nvSpPr>
        <p:spPr>
          <a:xfrm>
            <a:off x="184652" y="4467813"/>
            <a:ext cx="3323772" cy="1757354"/>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lvl="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if (send() == SUCCESS) {</a:t>
            </a:r>
          </a:p>
          <a:p>
            <a:pPr lvl="0"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r>
              <a:rPr lang="en-US" altLang="zh-CN" sz="1800" b="1" baseline="0" dirty="0" err="1">
                <a:solidFill>
                  <a:schemeClr val="tx1"/>
                </a:solidFill>
                <a:latin typeface="Courier New" panose="02070309020205020404" pitchFamily="49" charset="0"/>
                <a:ea typeface="宋体" panose="02010600030101010101" pitchFamily="2" charset="-122"/>
                <a:cs typeface="Courier New" panose="02070309020205020404" pitchFamily="49" charset="0"/>
              </a:rPr>
              <a:t>sendCount</a:t>
            </a: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p>
          <a:p>
            <a:pPr lvl="0" eaLnBrk="0" hangingPunct="0">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zh-CN" sz="1800" b="1"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p>
        </p:txBody>
      </p:sp>
      <p:sp>
        <p:nvSpPr>
          <p:cNvPr id="7" name="文本框 7"/>
          <p:cNvSpPr txBox="1"/>
          <p:nvPr/>
        </p:nvSpPr>
        <p:spPr>
          <a:xfrm>
            <a:off x="5663820" y="3503705"/>
            <a:ext cx="1116011"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rPr>
              <a:t>分阶段</a:t>
            </a:r>
            <a:r>
              <a:rPr kumimoji="0" lang="en-US" altLang="zh-CN" sz="1600" b="0" i="0" u="none" strike="noStrike" kern="1200" cap="none" spc="0" normalizeH="0" baseline="0" noProof="0" dirty="0">
                <a:ln>
                  <a:noFill/>
                </a:ln>
                <a:solidFill>
                  <a:prstClr val="black"/>
                </a:solidFill>
                <a:effectLst/>
                <a:uLnTx/>
                <a:uFillTx/>
                <a:latin typeface="微软雅黑"/>
                <a:ea typeface="微软雅黑"/>
                <a:cs typeface="+mn-cs"/>
              </a:rPr>
              <a:t>I/O</a:t>
            </a:r>
            <a:endParaRPr kumimoji="0" lang="zh-CN" altLang="en-US" sz="1600" b="0" i="0" u="none" strike="noStrike" kern="1200" cap="none" spc="0" normalizeH="0" baseline="0" noProof="0" dirty="0">
              <a:ln>
                <a:noFill/>
              </a:ln>
              <a:solidFill>
                <a:prstClr val="black"/>
              </a:solidFill>
              <a:effectLst/>
              <a:uLnTx/>
              <a:uFillTx/>
              <a:latin typeface="微软雅黑"/>
              <a:ea typeface="微软雅黑"/>
              <a:cs typeface="+mn-cs"/>
            </a:endParaRPr>
          </a:p>
        </p:txBody>
      </p:sp>
      <p:sp>
        <p:nvSpPr>
          <p:cNvPr id="8" name="文本框 8"/>
          <p:cNvSpPr txBox="1"/>
          <p:nvPr/>
        </p:nvSpPr>
        <p:spPr>
          <a:xfrm>
            <a:off x="1283294" y="4134911"/>
            <a:ext cx="1116011"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1600" baseline="0" dirty="0">
                <a:solidFill>
                  <a:prstClr val="black"/>
                </a:solidFill>
                <a:latin typeface="微软雅黑"/>
                <a:ea typeface="微软雅黑"/>
              </a:rPr>
              <a:t>阻塞式</a:t>
            </a:r>
            <a:r>
              <a:rPr lang="en-US" altLang="zh-CN" sz="1600" baseline="0" dirty="0">
                <a:solidFill>
                  <a:prstClr val="black"/>
                </a:solidFill>
                <a:latin typeface="微软雅黑"/>
                <a:ea typeface="微软雅黑"/>
              </a:rPr>
              <a:t>I/O</a:t>
            </a:r>
            <a:endParaRPr lang="zh-CN" altLang="en-US" sz="1600" baseline="0" dirty="0">
              <a:solidFill>
                <a:prstClr val="black"/>
              </a:solidFill>
              <a:latin typeface="微软雅黑"/>
              <a:ea typeface="微软雅黑"/>
            </a:endParaRPr>
          </a:p>
        </p:txBody>
      </p:sp>
      <p:sp>
        <p:nvSpPr>
          <p:cNvPr id="10" name="灯片编号占位符 4">
            <a:extLst>
              <a:ext uri="{FF2B5EF4-FFF2-40B4-BE49-F238E27FC236}">
                <a16:creationId xmlns:a16="http://schemas.microsoft.com/office/drawing/2014/main" id="{0ADF6FCD-E4B8-4144-B245-173A6F402948}"/>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19</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44965817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dirty="0"/>
              <a:t>内存分配</a:t>
            </a:r>
          </a:p>
        </p:txBody>
      </p:sp>
      <p:sp>
        <p:nvSpPr>
          <p:cNvPr id="5" name="内容占位符 2"/>
          <p:cNvSpPr>
            <a:spLocks noGrp="1"/>
          </p:cNvSpPr>
          <p:nvPr>
            <p:ph idx="1"/>
          </p:nvPr>
        </p:nvSpPr>
        <p:spPr>
          <a:xfrm>
            <a:off x="457200" y="990600"/>
            <a:ext cx="8305800" cy="5410200"/>
          </a:xfrm>
        </p:spPr>
        <p:txBody>
          <a:bodyPr/>
          <a:lstStyle/>
          <a:p>
            <a:r>
              <a:rPr lang="zh-CN" altLang="en-US"/>
              <a:t>静态内存分配（如</a:t>
            </a:r>
            <a:r>
              <a:rPr lang="en-US" altLang="zh-CN"/>
              <a:t>TinyOS</a:t>
            </a:r>
            <a:r>
              <a:rPr lang="zh-CN" altLang="en-US"/>
              <a:t>）</a:t>
            </a:r>
            <a:endParaRPr lang="en-US" altLang="zh-CN"/>
          </a:p>
          <a:p>
            <a:pPr lvl="1"/>
            <a:r>
              <a:rPr lang="zh-CN" altLang="en-US"/>
              <a:t>静态内存区域在编译时确定，通常由未初始化数据段（</a:t>
            </a:r>
            <a:r>
              <a:rPr lang="en-US" altLang="zh-CN"/>
              <a:t>.bss</a:t>
            </a:r>
            <a:r>
              <a:rPr lang="zh-CN" altLang="en-US"/>
              <a:t>）和初始化数据段（</a:t>
            </a:r>
            <a:r>
              <a:rPr lang="en-US" altLang="zh-CN"/>
              <a:t>.data</a:t>
            </a:r>
            <a:r>
              <a:rPr lang="zh-CN" altLang="en-US"/>
              <a:t>）构成</a:t>
            </a:r>
            <a:endParaRPr lang="en-US" altLang="zh-CN"/>
          </a:p>
          <a:p>
            <a:pPr lvl="1"/>
            <a:r>
              <a:rPr lang="zh-CN" altLang="en-US"/>
              <a:t>静态内存分配可以通过静态数组的方式来实现</a:t>
            </a:r>
            <a:endParaRPr lang="en-US" altLang="zh-CN"/>
          </a:p>
          <a:p>
            <a:pPr lvl="1"/>
            <a:r>
              <a:rPr lang="zh-CN" altLang="en-US"/>
              <a:t>优点：效率高、内存池中无碎片</a:t>
            </a:r>
            <a:endParaRPr lang="en-US" altLang="zh-CN"/>
          </a:p>
          <a:p>
            <a:pPr lvl="1"/>
            <a:r>
              <a:rPr lang="zh-CN" altLang="en-US"/>
              <a:t>缺点：不能按需申请</a:t>
            </a:r>
            <a:endParaRPr lang="en-US" altLang="zh-CN"/>
          </a:p>
          <a:p>
            <a:r>
              <a:rPr lang="zh-CN" altLang="en-US"/>
              <a:t>动态内存分配（如</a:t>
            </a:r>
            <a:r>
              <a:rPr lang="en-US" altLang="zh-CN"/>
              <a:t>AliOS Things</a:t>
            </a:r>
            <a:r>
              <a:rPr lang="zh-CN" altLang="en-US"/>
              <a:t>）</a:t>
            </a:r>
            <a:endParaRPr lang="en-US" altLang="zh-CN"/>
          </a:p>
          <a:p>
            <a:pPr lvl="1"/>
            <a:r>
              <a:rPr lang="zh-CN" altLang="en-US"/>
              <a:t>动态内存区域在运行时确定</a:t>
            </a:r>
            <a:endParaRPr lang="en-US" altLang="zh-CN"/>
          </a:p>
          <a:p>
            <a:pPr lvl="1"/>
            <a:r>
              <a:rPr lang="zh-CN" altLang="en-US"/>
              <a:t>通过</a:t>
            </a:r>
            <a:r>
              <a:rPr lang="en-US" altLang="zh-CN"/>
              <a:t>malloc</a:t>
            </a:r>
            <a:r>
              <a:rPr lang="zh-CN" altLang="en-US"/>
              <a:t>申请，通过</a:t>
            </a:r>
            <a:r>
              <a:rPr lang="en-US" altLang="zh-CN"/>
              <a:t>free</a:t>
            </a:r>
            <a:r>
              <a:rPr lang="zh-CN" altLang="en-US"/>
              <a:t>释放（否则可能会造成系统安全隐患）</a:t>
            </a:r>
            <a:endParaRPr lang="en-US" altLang="zh-CN"/>
          </a:p>
          <a:p>
            <a:pPr lvl="1"/>
            <a:r>
              <a:rPr lang="zh-CN" altLang="en-US"/>
              <a:t>优点：可以按需分配</a:t>
            </a:r>
          </a:p>
          <a:p>
            <a:pPr lvl="1"/>
            <a:r>
              <a:rPr lang="zh-CN" altLang="en-US"/>
              <a:t>缺点：内存池中容易出现碎片、可能造成安全隐患</a:t>
            </a:r>
            <a:endParaRPr lang="en-US" altLang="zh-CN"/>
          </a:p>
          <a:p>
            <a:pPr lvl="1"/>
            <a:endParaRPr lang="en-US" altLang="zh-CN"/>
          </a:p>
          <a:p>
            <a:pPr lvl="1"/>
            <a:endParaRPr lang="en-US" altLang="zh-CN"/>
          </a:p>
          <a:p>
            <a:pPr lvl="1"/>
            <a:endParaRPr lang="en-US" altLang="zh-CN"/>
          </a:p>
          <a:p>
            <a:pPr lvl="1"/>
            <a:endParaRPr lang="en-US" altLang="zh-CN"/>
          </a:p>
          <a:p>
            <a:endParaRPr lang="en-US" altLang="zh-CN" dirty="0"/>
          </a:p>
        </p:txBody>
      </p:sp>
      <p:sp>
        <p:nvSpPr>
          <p:cNvPr id="6" name="灯片编号占位符 4">
            <a:extLst>
              <a:ext uri="{FF2B5EF4-FFF2-40B4-BE49-F238E27FC236}">
                <a16:creationId xmlns:a16="http://schemas.microsoft.com/office/drawing/2014/main" id="{C21BB9BE-B376-4132-A885-4C49ABEE1BE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20</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34847265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a:t>软件更新</a:t>
            </a:r>
            <a:endParaRPr lang="zh-CN" altLang="en-US" dirty="0"/>
          </a:p>
        </p:txBody>
      </p:sp>
      <p:sp>
        <p:nvSpPr>
          <p:cNvPr id="3" name="内容占位符 2"/>
          <p:cNvSpPr>
            <a:spLocks noGrp="1"/>
          </p:cNvSpPr>
          <p:nvPr>
            <p:ph idx="1"/>
          </p:nvPr>
        </p:nvSpPr>
        <p:spPr>
          <a:xfrm>
            <a:off x="457200" y="990600"/>
            <a:ext cx="8305800" cy="5410200"/>
          </a:xfrm>
        </p:spPr>
        <p:txBody>
          <a:bodyPr/>
          <a:lstStyle/>
          <a:p>
            <a:r>
              <a:rPr lang="zh-CN" altLang="en-US" dirty="0"/>
              <a:t>连接方式</a:t>
            </a:r>
            <a:endParaRPr lang="en-US" altLang="zh-CN" dirty="0"/>
          </a:p>
          <a:p>
            <a:pPr lvl="1"/>
            <a:r>
              <a:rPr lang="zh-CN" altLang="en-US" dirty="0"/>
              <a:t>有线连接：例如通过串口、以太网等</a:t>
            </a:r>
          </a:p>
          <a:p>
            <a:pPr lvl="1"/>
            <a:r>
              <a:rPr lang="zh-CN" altLang="en-US" dirty="0"/>
              <a:t>无线连接：例如通过</a:t>
            </a:r>
            <a:r>
              <a:rPr lang="en-US" altLang="zh-CN" dirty="0" err="1"/>
              <a:t>WiFi</a:t>
            </a:r>
            <a:r>
              <a:rPr lang="zh-CN" altLang="en-US" dirty="0"/>
              <a:t>、</a:t>
            </a:r>
            <a:r>
              <a:rPr lang="en-US" altLang="zh-CN" dirty="0"/>
              <a:t>ZigBee</a:t>
            </a:r>
            <a:r>
              <a:rPr lang="zh-CN" altLang="en-US" dirty="0"/>
              <a:t>等</a:t>
            </a:r>
          </a:p>
          <a:p>
            <a:r>
              <a:rPr lang="zh-CN" altLang="en-US" dirty="0"/>
              <a:t>更新步骤</a:t>
            </a:r>
            <a:endParaRPr lang="en-US" altLang="zh-CN" dirty="0"/>
          </a:p>
          <a:p>
            <a:pPr marL="914400" lvl="1" indent="-457200">
              <a:buFont typeface="+mj-ea"/>
              <a:buAutoNum type="circleNumDbPlain"/>
            </a:pPr>
            <a:r>
              <a:rPr lang="zh-CN" altLang="en-US" dirty="0"/>
              <a:t>在操作系统启动前，通过</a:t>
            </a:r>
            <a:r>
              <a:rPr lang="en-US" altLang="zh-CN" dirty="0" err="1"/>
              <a:t>BootLoader</a:t>
            </a:r>
            <a:r>
              <a:rPr lang="en-US" altLang="zh-CN" dirty="0"/>
              <a:t> </a:t>
            </a:r>
            <a:r>
              <a:rPr lang="zh-CN" altLang="en-US" dirty="0"/>
              <a:t>查找升级文件</a:t>
            </a:r>
            <a:endParaRPr lang="en-US" altLang="zh-CN" dirty="0"/>
          </a:p>
          <a:p>
            <a:pPr marL="914400" lvl="1" indent="-457200">
              <a:buFont typeface="+mj-ea"/>
              <a:buAutoNum type="circleNumDbPlain"/>
            </a:pPr>
            <a:r>
              <a:rPr lang="zh-CN" altLang="en-US" dirty="0"/>
              <a:t>找到文件后，擦除</a:t>
            </a:r>
            <a:r>
              <a:rPr lang="en-US" altLang="zh-CN" dirty="0"/>
              <a:t>Flash </a:t>
            </a:r>
            <a:r>
              <a:rPr lang="zh-CN" altLang="en-US" dirty="0"/>
              <a:t>中存储的旧文件</a:t>
            </a:r>
            <a:endParaRPr lang="en-US" altLang="zh-CN" dirty="0"/>
          </a:p>
          <a:p>
            <a:pPr marL="914400" lvl="1" indent="-457200">
              <a:buFont typeface="+mj-ea"/>
              <a:buAutoNum type="circleNumDbPlain"/>
            </a:pPr>
            <a:r>
              <a:rPr lang="zh-CN" altLang="en-US" dirty="0"/>
              <a:t>在</a:t>
            </a:r>
            <a:r>
              <a:rPr lang="en-US" altLang="zh-CN" dirty="0"/>
              <a:t>Flash </a:t>
            </a:r>
            <a:r>
              <a:rPr lang="zh-CN" altLang="en-US" dirty="0"/>
              <a:t>中写入升级的文件</a:t>
            </a:r>
            <a:endParaRPr lang="en-US" altLang="zh-CN" dirty="0"/>
          </a:p>
          <a:p>
            <a:pPr marL="914400" lvl="1" indent="-457200">
              <a:buFont typeface="+mj-ea"/>
              <a:buAutoNum type="circleNumDbPlain"/>
            </a:pPr>
            <a:r>
              <a:rPr lang="zh-CN" altLang="en-US" dirty="0"/>
              <a:t>检查新写入的文件是否正确</a:t>
            </a:r>
            <a:endParaRPr lang="en-US" altLang="zh-CN" dirty="0"/>
          </a:p>
          <a:p>
            <a:pPr lvl="1"/>
            <a:endParaRPr lang="en-US" altLang="zh-CN" dirty="0"/>
          </a:p>
          <a:p>
            <a:pPr lvl="2"/>
            <a:endParaRPr lang="en-US" altLang="zh-CN" dirty="0"/>
          </a:p>
        </p:txBody>
      </p:sp>
      <p:sp>
        <p:nvSpPr>
          <p:cNvPr id="8" name="灯片编号占位符 4">
            <a:extLst>
              <a:ext uri="{FF2B5EF4-FFF2-40B4-BE49-F238E27FC236}">
                <a16:creationId xmlns:a16="http://schemas.microsoft.com/office/drawing/2014/main" id="{B1DB4D47-8BF2-4B57-B770-55ECC977C74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21</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52898618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软件更新</a:t>
            </a:r>
          </a:p>
        </p:txBody>
      </p:sp>
      <p:sp>
        <p:nvSpPr>
          <p:cNvPr id="3" name="内容占位符 2"/>
          <p:cNvSpPr>
            <a:spLocks noGrp="1"/>
          </p:cNvSpPr>
          <p:nvPr>
            <p:ph idx="1"/>
          </p:nvPr>
        </p:nvSpPr>
        <p:spPr>
          <a:xfrm>
            <a:off x="457200" y="990600"/>
            <a:ext cx="8305800" cy="5410200"/>
          </a:xfrm>
        </p:spPr>
        <p:txBody>
          <a:bodyPr/>
          <a:lstStyle/>
          <a:p>
            <a:r>
              <a:rPr lang="zh-CN" altLang="en-US" dirty="0"/>
              <a:t>更新方法</a:t>
            </a:r>
            <a:endParaRPr lang="en-US" altLang="zh-CN" dirty="0"/>
          </a:p>
          <a:p>
            <a:pPr lvl="1"/>
            <a:r>
              <a:rPr lang="zh-CN" altLang="en-US" dirty="0"/>
              <a:t>基于整个镜像的软件更新：对软件系统的所有部分进行更新</a:t>
            </a:r>
            <a:endParaRPr lang="en-US" altLang="zh-CN" dirty="0"/>
          </a:p>
          <a:p>
            <a:pPr lvl="1"/>
            <a:r>
              <a:rPr lang="zh-CN" altLang="en-US" dirty="0"/>
              <a:t>基于模块化的软件更新：将软件镜像细分为各个模块，根据需求选择其中的某些模块进行更新</a:t>
            </a:r>
            <a:endParaRPr lang="en-US" altLang="zh-CN" dirty="0"/>
          </a:p>
          <a:p>
            <a:pPr lvl="1"/>
            <a:r>
              <a:rPr lang="zh-CN" altLang="en-US" dirty="0"/>
              <a:t>基于差分的软件更新：将旧版本与新版本的代码做差分，得到升级部分的补丁即差分文件；可以对整个镜像进行差分，也可以对模块进行差分</a:t>
            </a:r>
            <a:endParaRPr lang="en-US" altLang="zh-CN" dirty="0"/>
          </a:p>
          <a:p>
            <a:pPr lvl="2"/>
            <a:endParaRPr lang="en-US" altLang="zh-CN" dirty="0"/>
          </a:p>
          <a:p>
            <a:pPr lvl="1"/>
            <a:endParaRPr lang="zh-CN" altLang="en-US" dirty="0"/>
          </a:p>
        </p:txBody>
      </p:sp>
      <p:grpSp>
        <p:nvGrpSpPr>
          <p:cNvPr id="18" name="组合 17"/>
          <p:cNvGrpSpPr/>
          <p:nvPr/>
        </p:nvGrpSpPr>
        <p:grpSpPr>
          <a:xfrm>
            <a:off x="2507830" y="4429578"/>
            <a:ext cx="4200704" cy="2032769"/>
            <a:chOff x="1326913" y="1160330"/>
            <a:chExt cx="8481104" cy="3905156"/>
          </a:xfrm>
        </p:grpSpPr>
        <p:sp>
          <p:nvSpPr>
            <p:cNvPr id="19" name="矩形 18">
              <a:extLst>
                <a:ext uri="{FF2B5EF4-FFF2-40B4-BE49-F238E27FC236}">
                  <a16:creationId xmlns:a16="http://schemas.microsoft.com/office/drawing/2014/main" id="{1B1CC641-5A83-425E-BA8A-1887C201C77D}"/>
                </a:ext>
              </a:extLst>
            </p:cNvPr>
            <p:cNvSpPr/>
            <p:nvPr/>
          </p:nvSpPr>
          <p:spPr>
            <a:xfrm>
              <a:off x="1933932" y="2019302"/>
              <a:ext cx="1839781" cy="3046184"/>
            </a:xfrm>
            <a:prstGeom prst="rect">
              <a:avLst/>
            </a:prstGeom>
            <a:solidFill>
              <a:schemeClr val="accent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b="1" i="0" u="none" strike="noStrike" kern="1200" cap="none" spc="0" normalizeH="0" baseline="0" noProof="0" dirty="0">
                <a:ln>
                  <a:noFill/>
                </a:ln>
                <a:solidFill>
                  <a:prstClr val="black">
                    <a:lumMod val="95000"/>
                    <a:lumOff val="5000"/>
                  </a:prstClr>
                </a:solidFill>
                <a:effectLst/>
                <a:uLnTx/>
                <a:uFillTx/>
                <a:latin typeface="+mj-ea"/>
                <a:ea typeface="+mj-ea"/>
                <a:cs typeface="+mn-cs"/>
              </a:endParaRPr>
            </a:p>
          </p:txBody>
        </p:sp>
        <p:sp>
          <p:nvSpPr>
            <p:cNvPr id="20" name="矩形 19">
              <a:extLst>
                <a:ext uri="{FF2B5EF4-FFF2-40B4-BE49-F238E27FC236}">
                  <a16:creationId xmlns:a16="http://schemas.microsoft.com/office/drawing/2014/main" id="{5A2DCC84-4A3D-4BC1-9235-9A0FC03619F0}"/>
                </a:ext>
              </a:extLst>
            </p:cNvPr>
            <p:cNvSpPr/>
            <p:nvPr/>
          </p:nvSpPr>
          <p:spPr>
            <a:xfrm>
              <a:off x="1326913" y="1213859"/>
              <a:ext cx="2896894" cy="644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fontAlgn="auto">
                <a:spcBef>
                  <a:spcPts val="0"/>
                </a:spcBef>
                <a:spcAft>
                  <a:spcPts val="0"/>
                </a:spcAft>
                <a:defRPr/>
              </a:pPr>
              <a:r>
                <a:rPr lang="zh-CN" altLang="en-US" sz="1800" b="1" baseline="0" dirty="0">
                  <a:solidFill>
                    <a:prstClr val="black"/>
                  </a:solidFill>
                  <a:latin typeface="+mj-ea"/>
                  <a:ea typeface="+mj-ea"/>
                  <a:cs typeface="Calibri" panose="020F0502020204030204" pitchFamily="34" charset="0"/>
                </a:rPr>
                <a:t>新版本代码</a:t>
              </a:r>
              <a:endParaRPr kumimoji="0" lang="zh-CN" altLang="en-US" sz="1800" b="1" i="0" u="none" strike="noStrike" kern="1200" cap="none" spc="0" normalizeH="0" baseline="0" noProof="0" dirty="0">
                <a:ln>
                  <a:noFill/>
                </a:ln>
                <a:solidFill>
                  <a:prstClr val="black"/>
                </a:solidFill>
                <a:effectLst/>
                <a:uLnTx/>
                <a:uFillTx/>
                <a:latin typeface="+mj-ea"/>
                <a:ea typeface="+mj-ea"/>
                <a:cs typeface="Calibri" panose="020F0502020204030204" pitchFamily="34" charset="0"/>
              </a:endParaRPr>
            </a:p>
          </p:txBody>
        </p:sp>
        <p:sp>
          <p:nvSpPr>
            <p:cNvPr id="21" name="矩形 20">
              <a:extLst>
                <a:ext uri="{FF2B5EF4-FFF2-40B4-BE49-F238E27FC236}">
                  <a16:creationId xmlns:a16="http://schemas.microsoft.com/office/drawing/2014/main" id="{5A7DE55C-E03B-4244-8DC1-12270A0BE22A}"/>
                </a:ext>
              </a:extLst>
            </p:cNvPr>
            <p:cNvSpPr/>
            <p:nvPr/>
          </p:nvSpPr>
          <p:spPr>
            <a:xfrm>
              <a:off x="4463507" y="1160330"/>
              <a:ext cx="2814939" cy="7784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800" b="1" baseline="0" dirty="0">
                  <a:solidFill>
                    <a:prstClr val="black"/>
                  </a:solidFill>
                  <a:latin typeface="+mj-ea"/>
                  <a:ea typeface="+mj-ea"/>
                  <a:cs typeface="Calibri" panose="020F0502020204030204" pitchFamily="34" charset="0"/>
                </a:rPr>
                <a:t>旧版本代码</a:t>
              </a:r>
              <a:endParaRPr kumimoji="0" lang="zh-CN" altLang="en-US" sz="1800" b="1" i="0" u="none" strike="noStrike" kern="1200" cap="none" spc="0" normalizeH="0" baseline="0" noProof="0" dirty="0">
                <a:ln>
                  <a:noFill/>
                </a:ln>
                <a:solidFill>
                  <a:prstClr val="black"/>
                </a:solidFill>
                <a:effectLst/>
                <a:uLnTx/>
                <a:uFillTx/>
                <a:latin typeface="+mj-ea"/>
                <a:ea typeface="+mj-ea"/>
                <a:cs typeface="Calibri" panose="020F0502020204030204" pitchFamily="34" charset="0"/>
              </a:endParaRPr>
            </a:p>
          </p:txBody>
        </p:sp>
        <p:sp>
          <p:nvSpPr>
            <p:cNvPr id="22" name="矩形 21">
              <a:extLst>
                <a:ext uri="{FF2B5EF4-FFF2-40B4-BE49-F238E27FC236}">
                  <a16:creationId xmlns:a16="http://schemas.microsoft.com/office/drawing/2014/main" id="{F6B39960-0B0E-44E8-8AEE-0EB5F7964E82}"/>
                </a:ext>
              </a:extLst>
            </p:cNvPr>
            <p:cNvSpPr/>
            <p:nvPr/>
          </p:nvSpPr>
          <p:spPr>
            <a:xfrm>
              <a:off x="1933938" y="3238500"/>
              <a:ext cx="1839781" cy="617622"/>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baseline="0" dirty="0">
                  <a:solidFill>
                    <a:prstClr val="black"/>
                  </a:solidFill>
                  <a:latin typeface="+mj-ea"/>
                  <a:ea typeface="+mj-ea"/>
                </a:rPr>
                <a:t>差分文件</a:t>
              </a:r>
              <a:endParaRPr kumimoji="0" lang="zh-CN" altLang="en-US" sz="1400" b="1" i="0" u="none" strike="noStrike" kern="1200" cap="none" spc="0" normalizeH="0" baseline="0" noProof="0" dirty="0">
                <a:ln>
                  <a:noFill/>
                </a:ln>
                <a:solidFill>
                  <a:prstClr val="black"/>
                </a:solidFill>
                <a:effectLst/>
                <a:uLnTx/>
                <a:uFillTx/>
                <a:latin typeface="+mj-ea"/>
                <a:ea typeface="+mj-ea"/>
              </a:endParaRPr>
            </a:p>
          </p:txBody>
        </p:sp>
        <p:sp>
          <p:nvSpPr>
            <p:cNvPr id="23" name="矩形 22">
              <a:extLst>
                <a:ext uri="{FF2B5EF4-FFF2-40B4-BE49-F238E27FC236}">
                  <a16:creationId xmlns:a16="http://schemas.microsoft.com/office/drawing/2014/main" id="{4152D50C-EE68-4711-960A-F43C353E1D3B}"/>
                </a:ext>
              </a:extLst>
            </p:cNvPr>
            <p:cNvSpPr/>
            <p:nvPr/>
          </p:nvSpPr>
          <p:spPr>
            <a:xfrm>
              <a:off x="4951087" y="2328113"/>
              <a:ext cx="1839781" cy="2428562"/>
            </a:xfrm>
            <a:prstGeom prst="rect">
              <a:avLst/>
            </a:prstGeom>
            <a:solidFill>
              <a:schemeClr val="accent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b="1" i="0" u="none" strike="noStrike" kern="1200" cap="none" spc="0" normalizeH="0" baseline="0" noProof="0" dirty="0">
                <a:ln>
                  <a:noFill/>
                </a:ln>
                <a:solidFill>
                  <a:prstClr val="black">
                    <a:lumMod val="95000"/>
                    <a:lumOff val="5000"/>
                  </a:prstClr>
                </a:solidFill>
                <a:effectLst/>
                <a:uLnTx/>
                <a:uFillTx/>
                <a:latin typeface="+mj-ea"/>
                <a:ea typeface="+mj-ea"/>
                <a:cs typeface="+mn-cs"/>
              </a:endParaRPr>
            </a:p>
          </p:txBody>
        </p:sp>
        <p:sp>
          <p:nvSpPr>
            <p:cNvPr id="24" name="矩形 23">
              <a:extLst>
                <a:ext uri="{FF2B5EF4-FFF2-40B4-BE49-F238E27FC236}">
                  <a16:creationId xmlns:a16="http://schemas.microsoft.com/office/drawing/2014/main" id="{B76B7619-98C4-4C7C-ADCC-52CD22E45EF3}"/>
                </a:ext>
              </a:extLst>
            </p:cNvPr>
            <p:cNvSpPr/>
            <p:nvPr/>
          </p:nvSpPr>
          <p:spPr>
            <a:xfrm>
              <a:off x="3911676" y="3233583"/>
              <a:ext cx="901441" cy="6176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400" b="1" i="0" u="none" strike="noStrike" kern="1200" cap="none" spc="0" normalizeH="0" baseline="0" noProof="0" dirty="0">
                  <a:ln>
                    <a:noFill/>
                  </a:ln>
                  <a:solidFill>
                    <a:prstClr val="black"/>
                  </a:solidFill>
                  <a:effectLst/>
                  <a:uLnTx/>
                  <a:uFillTx/>
                  <a:latin typeface="+mj-ea"/>
                  <a:ea typeface="+mj-ea"/>
                  <a:cs typeface="+mn-cs"/>
                </a:rPr>
                <a:t>-</a:t>
              </a:r>
              <a:endParaRPr kumimoji="0" lang="zh-CN" altLang="en-US" sz="4400" b="1" i="0" u="none" strike="noStrike" kern="1200" cap="none" spc="0" normalizeH="0" baseline="0" noProof="0" dirty="0">
                <a:ln>
                  <a:noFill/>
                </a:ln>
                <a:solidFill>
                  <a:prstClr val="black"/>
                </a:solidFill>
                <a:effectLst/>
                <a:uLnTx/>
                <a:uFillTx/>
                <a:latin typeface="+mj-ea"/>
                <a:ea typeface="+mj-ea"/>
                <a:cs typeface="+mn-cs"/>
              </a:endParaRPr>
            </a:p>
          </p:txBody>
        </p:sp>
        <p:sp>
          <p:nvSpPr>
            <p:cNvPr id="25" name="矩形 24">
              <a:extLst>
                <a:ext uri="{FF2B5EF4-FFF2-40B4-BE49-F238E27FC236}">
                  <a16:creationId xmlns:a16="http://schemas.microsoft.com/office/drawing/2014/main" id="{9F5FCD5B-7926-4D21-9E2E-BD5A59B1C511}"/>
                </a:ext>
              </a:extLst>
            </p:cNvPr>
            <p:cNvSpPr/>
            <p:nvPr/>
          </p:nvSpPr>
          <p:spPr>
            <a:xfrm>
              <a:off x="6928838" y="3233583"/>
              <a:ext cx="901441" cy="6176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4400" b="1" i="0" u="none" strike="noStrike" kern="1200" cap="none" spc="0" normalizeH="0" baseline="0" noProof="0" dirty="0">
                  <a:ln>
                    <a:noFill/>
                  </a:ln>
                  <a:solidFill>
                    <a:prstClr val="black"/>
                  </a:solidFill>
                  <a:effectLst/>
                  <a:uLnTx/>
                  <a:uFillTx/>
                  <a:latin typeface="+mj-ea"/>
                  <a:ea typeface="+mj-ea"/>
                  <a:cs typeface="+mn-cs"/>
                </a:rPr>
                <a:t>=</a:t>
              </a:r>
              <a:endParaRPr kumimoji="0" lang="zh-CN" altLang="en-US" sz="4400" b="1" i="0" u="none" strike="noStrike" kern="1200" cap="none" spc="0" normalizeH="0" baseline="0" noProof="0" dirty="0">
                <a:ln>
                  <a:noFill/>
                </a:ln>
                <a:solidFill>
                  <a:prstClr val="black"/>
                </a:solidFill>
                <a:effectLst/>
                <a:uLnTx/>
                <a:uFillTx/>
                <a:latin typeface="+mj-ea"/>
                <a:ea typeface="+mj-ea"/>
                <a:cs typeface="+mn-cs"/>
              </a:endParaRPr>
            </a:p>
          </p:txBody>
        </p:sp>
        <p:sp>
          <p:nvSpPr>
            <p:cNvPr id="26" name="矩形 25">
              <a:extLst>
                <a:ext uri="{FF2B5EF4-FFF2-40B4-BE49-F238E27FC236}">
                  <a16:creationId xmlns:a16="http://schemas.microsoft.com/office/drawing/2014/main" id="{CC6855A5-A1B3-4571-B3DD-B3CB80AEB4AF}"/>
                </a:ext>
              </a:extLst>
            </p:cNvPr>
            <p:cNvSpPr/>
            <p:nvPr/>
          </p:nvSpPr>
          <p:spPr>
            <a:xfrm>
              <a:off x="7968236" y="3233583"/>
              <a:ext cx="1839781" cy="617622"/>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r>
                <a:rPr lang="zh-CN" altLang="en-US" sz="1400" b="1" baseline="0" dirty="0">
                  <a:solidFill>
                    <a:prstClr val="black"/>
                  </a:solidFill>
                  <a:latin typeface="+mj-ea"/>
                  <a:ea typeface="+mj-ea"/>
                </a:rPr>
                <a:t>差分文件</a:t>
              </a:r>
            </a:p>
          </p:txBody>
        </p:sp>
      </p:grpSp>
      <p:sp>
        <p:nvSpPr>
          <p:cNvPr id="15" name="灯片编号占位符 4">
            <a:extLst>
              <a:ext uri="{FF2B5EF4-FFF2-40B4-BE49-F238E27FC236}">
                <a16:creationId xmlns:a16="http://schemas.microsoft.com/office/drawing/2014/main" id="{BBCE2106-414E-4AE5-9E97-66816833B0C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36370002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dirty="0"/>
              <a:t>网络服务</a:t>
            </a:r>
          </a:p>
        </p:txBody>
      </p:sp>
      <p:sp>
        <p:nvSpPr>
          <p:cNvPr id="5" name="内容占位符 2"/>
          <p:cNvSpPr>
            <a:spLocks noGrp="1"/>
          </p:cNvSpPr>
          <p:nvPr>
            <p:ph idx="1"/>
          </p:nvPr>
        </p:nvSpPr>
        <p:spPr>
          <a:xfrm>
            <a:off x="457200" y="990600"/>
            <a:ext cx="8305800" cy="5410200"/>
          </a:xfrm>
        </p:spPr>
        <p:txBody>
          <a:bodyPr/>
          <a:lstStyle/>
          <a:p>
            <a:r>
              <a:rPr lang="zh-CN" altLang="en-US" dirty="0"/>
              <a:t>传统传感网的网络协议及服务</a:t>
            </a:r>
            <a:endParaRPr lang="en-US" altLang="zh-CN" dirty="0"/>
          </a:p>
          <a:p>
            <a:pPr lvl="1"/>
            <a:r>
              <a:rPr lang="zh-CN" altLang="en-US" dirty="0"/>
              <a:t>传感网主要关注多跳自组织的问题，这一类的网络协议大多是基于</a:t>
            </a:r>
            <a:r>
              <a:rPr lang="en-US" altLang="zh-CN" dirty="0"/>
              <a:t>IEEE 802.15.4</a:t>
            </a:r>
            <a:r>
              <a:rPr lang="zh-CN" altLang="en-US" dirty="0"/>
              <a:t>标准的低功耗局域网协议</a:t>
            </a:r>
            <a:endParaRPr lang="en-US" altLang="zh-CN" dirty="0"/>
          </a:p>
          <a:p>
            <a:pPr lvl="1"/>
            <a:r>
              <a:rPr lang="zh-CN" altLang="en-US" dirty="0"/>
              <a:t>典型的传感网网络协议有</a:t>
            </a:r>
            <a:r>
              <a:rPr lang="en-US" altLang="zh-CN" dirty="0"/>
              <a:t>CTP</a:t>
            </a:r>
            <a:r>
              <a:rPr lang="zh-CN" altLang="en-US" dirty="0"/>
              <a:t>、</a:t>
            </a:r>
            <a:r>
              <a:rPr lang="en-US" altLang="zh-CN" dirty="0"/>
              <a:t>FTSP</a:t>
            </a:r>
            <a:r>
              <a:rPr lang="zh-CN" altLang="en-US" dirty="0"/>
              <a:t>、</a:t>
            </a:r>
            <a:r>
              <a:rPr lang="en-US" altLang="zh-CN" dirty="0"/>
              <a:t>RPL</a:t>
            </a:r>
            <a:r>
              <a:rPr lang="zh-CN" altLang="en-US" dirty="0"/>
              <a:t>等</a:t>
            </a:r>
            <a:endParaRPr lang="en-US" altLang="zh-CN" dirty="0"/>
          </a:p>
          <a:p>
            <a:pPr lvl="1"/>
            <a:endParaRPr lang="en-US" altLang="zh-CN" dirty="0"/>
          </a:p>
          <a:p>
            <a:r>
              <a:rPr lang="zh-CN" altLang="en-US" dirty="0"/>
              <a:t>物联网的网络协议及服务</a:t>
            </a:r>
            <a:endParaRPr lang="en-US" altLang="zh-CN" dirty="0"/>
          </a:p>
          <a:p>
            <a:pPr lvl="1"/>
            <a:r>
              <a:rPr lang="zh-CN" altLang="en-US" dirty="0"/>
              <a:t>链路层协议增多：</a:t>
            </a:r>
            <a:r>
              <a:rPr lang="en-US" altLang="zh-CN" dirty="0"/>
              <a:t>BLE</a:t>
            </a:r>
            <a:r>
              <a:rPr lang="zh-CN" altLang="en-US" dirty="0"/>
              <a:t>、</a:t>
            </a:r>
            <a:r>
              <a:rPr lang="en-US" altLang="zh-CN" dirty="0"/>
              <a:t>ZigBee</a:t>
            </a:r>
            <a:r>
              <a:rPr lang="zh-CN" altLang="en-US" dirty="0"/>
              <a:t>、</a:t>
            </a:r>
            <a:r>
              <a:rPr lang="en-US" altLang="zh-CN" dirty="0" err="1"/>
              <a:t>WiFi</a:t>
            </a:r>
            <a:r>
              <a:rPr lang="en-US" altLang="zh-CN" dirty="0"/>
              <a:t> </a:t>
            </a:r>
            <a:r>
              <a:rPr lang="en-US" altLang="zh-CN" dirty="0" err="1"/>
              <a:t>HaLow</a:t>
            </a:r>
            <a:r>
              <a:rPr lang="zh-CN" altLang="en-US" dirty="0"/>
              <a:t>等</a:t>
            </a:r>
            <a:endParaRPr lang="en-US" altLang="zh-CN" dirty="0"/>
          </a:p>
          <a:p>
            <a:pPr lvl="1"/>
            <a:r>
              <a:rPr lang="zh-CN" altLang="en-US" dirty="0"/>
              <a:t>关注低功耗广域网：</a:t>
            </a:r>
            <a:r>
              <a:rPr lang="en-US" altLang="zh-CN" dirty="0" err="1"/>
              <a:t>LoRaWAN</a:t>
            </a:r>
            <a:r>
              <a:rPr lang="zh-CN" altLang="en-US" dirty="0"/>
              <a:t>、</a:t>
            </a:r>
            <a:r>
              <a:rPr lang="en-US" altLang="zh-CN" dirty="0"/>
              <a:t>NB-IoT</a:t>
            </a:r>
            <a:r>
              <a:rPr lang="zh-CN" altLang="en-US" dirty="0"/>
              <a:t>等</a:t>
            </a:r>
            <a:endParaRPr lang="en-US" altLang="zh-CN" dirty="0"/>
          </a:p>
          <a:p>
            <a:pPr lvl="1"/>
            <a:r>
              <a:rPr lang="zh-CN" altLang="en-US" dirty="0"/>
              <a:t>学术关注点：干扰共存、异构互联</a:t>
            </a:r>
            <a:endParaRPr lang="en-US" altLang="zh-CN" dirty="0"/>
          </a:p>
        </p:txBody>
      </p:sp>
      <p:sp>
        <p:nvSpPr>
          <p:cNvPr id="6" name="灯片编号占位符 4">
            <a:extLst>
              <a:ext uri="{FF2B5EF4-FFF2-40B4-BE49-F238E27FC236}">
                <a16:creationId xmlns:a16="http://schemas.microsoft.com/office/drawing/2014/main" id="{C398C87D-3281-469F-ACEA-5C998C1C281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23</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73624818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dirty="0"/>
              <a:t>目录</a:t>
            </a:r>
          </a:p>
        </p:txBody>
      </p:sp>
      <p:sp>
        <p:nvSpPr>
          <p:cNvPr id="5" name="内容占位符 2"/>
          <p:cNvSpPr>
            <a:spLocks noGrp="1"/>
          </p:cNvSpPr>
          <p:nvPr>
            <p:ph idx="1"/>
          </p:nvPr>
        </p:nvSpPr>
        <p:spPr>
          <a:xfrm>
            <a:off x="457200" y="990600"/>
            <a:ext cx="8305800" cy="5410200"/>
          </a:xfrm>
        </p:spPr>
        <p:txBody>
          <a:bodyPr>
            <a:normAutofit lnSpcReduction="10000"/>
          </a:bodyPr>
          <a:lstStyle/>
          <a:p>
            <a:endParaRPr lang="en-US" altLang="zh-CN" sz="2800" dirty="0"/>
          </a:p>
          <a:p>
            <a:r>
              <a:rPr lang="zh-CN" altLang="en-US" sz="2800" dirty="0"/>
              <a:t>概述</a:t>
            </a:r>
            <a:endParaRPr lang="en-US" altLang="zh-CN" sz="2800" dirty="0"/>
          </a:p>
          <a:p>
            <a:r>
              <a:rPr lang="zh-CN" altLang="en-US" sz="2800" dirty="0"/>
              <a:t>关键特性</a:t>
            </a:r>
            <a:endParaRPr lang="en-US" altLang="zh-CN" sz="2800" dirty="0"/>
          </a:p>
          <a:p>
            <a:r>
              <a:rPr lang="zh-CN" altLang="en-US" sz="2800" dirty="0"/>
              <a:t>典型物联网操作系统</a:t>
            </a:r>
            <a:endParaRPr lang="en-US" altLang="zh-CN" sz="2800" dirty="0"/>
          </a:p>
          <a:p>
            <a:pPr lvl="1"/>
            <a:r>
              <a:rPr lang="pt-BR" altLang="zh-CN" sz="2400" dirty="0">
                <a:solidFill>
                  <a:srgbClr val="C00000"/>
                </a:solidFill>
              </a:rPr>
              <a:t>Contiki OS</a:t>
            </a:r>
          </a:p>
          <a:p>
            <a:pPr lvl="1"/>
            <a:r>
              <a:rPr lang="pt-BR" altLang="zh-CN" sz="2400" dirty="0"/>
              <a:t>RIOT</a:t>
            </a:r>
          </a:p>
          <a:p>
            <a:pPr lvl="1"/>
            <a:r>
              <a:rPr lang="pt-BR" altLang="zh-CN" sz="2400" dirty="0"/>
              <a:t>AliOS Things</a:t>
            </a:r>
          </a:p>
          <a:p>
            <a:pPr lvl="1"/>
            <a:r>
              <a:rPr lang="pt-BR" altLang="zh-CN" sz="2400" dirty="0"/>
              <a:t>HarmonyOS</a:t>
            </a:r>
            <a:endParaRPr lang="en-US" altLang="zh-CN" sz="2400" dirty="0"/>
          </a:p>
          <a:p>
            <a:r>
              <a:rPr lang="zh-CN" altLang="en-US" sz="2800" dirty="0"/>
              <a:t>案例开发</a:t>
            </a:r>
            <a:endParaRPr lang="en-US" altLang="zh-CN" sz="2800" dirty="0"/>
          </a:p>
          <a:p>
            <a:r>
              <a:rPr lang="zh-CN" altLang="en-US" sz="2800" dirty="0"/>
              <a:t>学术研究进展</a:t>
            </a:r>
            <a:endParaRPr lang="en-US" altLang="zh-CN" sz="2800" dirty="0"/>
          </a:p>
        </p:txBody>
      </p:sp>
    </p:spTree>
    <p:extLst>
      <p:ext uri="{BB962C8B-B14F-4D97-AF65-F5344CB8AC3E}">
        <p14:creationId xmlns:p14="http://schemas.microsoft.com/office/powerpoint/2010/main" val="188809391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a:t>Contiki OS</a:t>
            </a:r>
            <a:endParaRPr lang="zh-CN" altLang="en-US" dirty="0"/>
          </a:p>
        </p:txBody>
      </p:sp>
      <p:sp>
        <p:nvSpPr>
          <p:cNvPr id="3" name="内容占位符 2"/>
          <p:cNvSpPr>
            <a:spLocks noGrp="1"/>
          </p:cNvSpPr>
          <p:nvPr>
            <p:ph idx="1"/>
          </p:nvPr>
        </p:nvSpPr>
        <p:spPr>
          <a:xfrm>
            <a:off x="457200" y="990600"/>
            <a:ext cx="8305800" cy="5410200"/>
          </a:xfrm>
        </p:spPr>
        <p:txBody>
          <a:bodyPr>
            <a:normAutofit fontScale="92500" lnSpcReduction="10000"/>
          </a:bodyPr>
          <a:lstStyle/>
          <a:p>
            <a:r>
              <a:rPr lang="zh-CN" altLang="en-US" dirty="0"/>
              <a:t>简介</a:t>
            </a:r>
            <a:endParaRPr lang="en-US" altLang="zh-CN" dirty="0"/>
          </a:p>
          <a:p>
            <a:pPr lvl="1"/>
            <a:r>
              <a:rPr lang="en-US" altLang="zh-CN" dirty="0"/>
              <a:t>Contiki OS</a:t>
            </a:r>
            <a:r>
              <a:rPr lang="zh-CN" altLang="en-US" dirty="0"/>
              <a:t>是一款</a:t>
            </a:r>
            <a:r>
              <a:rPr lang="zh-CN" altLang="en-US" b="1" dirty="0">
                <a:solidFill>
                  <a:srgbClr val="C00000"/>
                </a:solidFill>
              </a:rPr>
              <a:t>开源、高度便携、多任务</a:t>
            </a:r>
            <a:r>
              <a:rPr lang="zh-CN" altLang="en-US" dirty="0"/>
              <a:t>的操作系统</a:t>
            </a:r>
            <a:endParaRPr lang="en-US" altLang="zh-CN" dirty="0"/>
          </a:p>
          <a:p>
            <a:pPr lvl="1"/>
            <a:r>
              <a:rPr lang="zh-CN" altLang="en-US" dirty="0"/>
              <a:t>适用于资源有限的无线传感器网络</a:t>
            </a:r>
          </a:p>
          <a:p>
            <a:pPr lvl="1"/>
            <a:r>
              <a:rPr lang="en-US" altLang="zh-CN" dirty="0"/>
              <a:t>Contiki OS</a:t>
            </a:r>
            <a:r>
              <a:rPr lang="zh-CN" altLang="en-US" dirty="0"/>
              <a:t>专为具有少量内存的微控制器（</a:t>
            </a:r>
            <a:r>
              <a:rPr lang="en-US" altLang="zh-CN" dirty="0"/>
              <a:t>MCU</a:t>
            </a:r>
            <a:r>
              <a:rPr lang="zh-CN" altLang="en-US" dirty="0"/>
              <a:t>）而设计</a:t>
            </a:r>
            <a:endParaRPr lang="en-US" altLang="zh-CN" dirty="0"/>
          </a:p>
          <a:p>
            <a:r>
              <a:rPr lang="zh-CN" altLang="en-US" dirty="0"/>
              <a:t>发展历程</a:t>
            </a:r>
          </a:p>
          <a:p>
            <a:pPr lvl="1"/>
            <a:r>
              <a:rPr lang="zh-CN" altLang="en-US" dirty="0"/>
              <a:t>在</a:t>
            </a:r>
            <a:r>
              <a:rPr lang="en-US" altLang="zh-CN" dirty="0"/>
              <a:t>2002</a:t>
            </a:r>
            <a:r>
              <a:rPr lang="zh-CN" altLang="en-US" dirty="0"/>
              <a:t>年，瑞典计算机科学研究所的</a:t>
            </a:r>
            <a:r>
              <a:rPr lang="en-US" altLang="zh-CN" dirty="0"/>
              <a:t>Adam </a:t>
            </a:r>
            <a:r>
              <a:rPr lang="en-US" altLang="zh-CN" dirty="0" err="1"/>
              <a:t>Dunkels</a:t>
            </a:r>
            <a:r>
              <a:rPr lang="zh-CN" altLang="en-US" dirty="0"/>
              <a:t>等人提出了最早的</a:t>
            </a:r>
            <a:r>
              <a:rPr lang="en-US" altLang="zh-CN" dirty="0"/>
              <a:t>Contiki OS</a:t>
            </a:r>
          </a:p>
          <a:p>
            <a:pPr lvl="1"/>
            <a:r>
              <a:rPr lang="en-US" altLang="zh-CN" dirty="0"/>
              <a:t>2004 </a:t>
            </a:r>
            <a:r>
              <a:rPr lang="zh-CN" altLang="en-US" dirty="0"/>
              <a:t>年，</a:t>
            </a:r>
            <a:r>
              <a:rPr lang="en-US" altLang="zh-CN" dirty="0"/>
              <a:t>Contiki OS 2.0 </a:t>
            </a:r>
            <a:r>
              <a:rPr lang="zh-CN" altLang="en-US" dirty="0"/>
              <a:t>诞生，它加入了早期版本的网络模拟器</a:t>
            </a:r>
            <a:r>
              <a:rPr lang="en-US" altLang="zh-CN" dirty="0" err="1"/>
              <a:t>Cooja</a:t>
            </a:r>
            <a:r>
              <a:rPr lang="en-US" altLang="zh-CN" dirty="0"/>
              <a:t> </a:t>
            </a:r>
            <a:r>
              <a:rPr lang="zh-CN" altLang="en-US" dirty="0"/>
              <a:t>和轻量级的网络通信元语协议栈</a:t>
            </a:r>
            <a:r>
              <a:rPr lang="en-US" altLang="zh-CN" dirty="0"/>
              <a:t>Rime</a:t>
            </a:r>
          </a:p>
          <a:p>
            <a:pPr lvl="1"/>
            <a:r>
              <a:rPr lang="zh-CN" altLang="en-US" dirty="0"/>
              <a:t>在</a:t>
            </a:r>
            <a:r>
              <a:rPr lang="en-US" altLang="zh-CN" dirty="0"/>
              <a:t>2011 </a:t>
            </a:r>
            <a:r>
              <a:rPr lang="zh-CN" altLang="en-US" dirty="0"/>
              <a:t>年，丰富的网络协议添加到</a:t>
            </a:r>
            <a:r>
              <a:rPr lang="en-US" altLang="zh-CN" dirty="0"/>
              <a:t>Contiki OS </a:t>
            </a:r>
            <a:r>
              <a:rPr lang="zh-CN" altLang="en-US" dirty="0"/>
              <a:t>中，例如基于</a:t>
            </a:r>
            <a:r>
              <a:rPr lang="en-US" altLang="zh-CN" dirty="0"/>
              <a:t>IPv6 </a:t>
            </a:r>
            <a:r>
              <a:rPr lang="zh-CN" altLang="en-US" dirty="0"/>
              <a:t>的路由协议</a:t>
            </a:r>
            <a:r>
              <a:rPr lang="en-US" altLang="zh-CN" dirty="0"/>
              <a:t>Contiki OS RPL </a:t>
            </a:r>
            <a:r>
              <a:rPr lang="zh-CN" altLang="en-US" dirty="0"/>
              <a:t>和低功耗的</a:t>
            </a:r>
            <a:r>
              <a:rPr lang="en-US" altLang="zh-CN" dirty="0"/>
              <a:t>MAC </a:t>
            </a:r>
            <a:r>
              <a:rPr lang="zh-CN" altLang="en-US" dirty="0"/>
              <a:t>协议</a:t>
            </a:r>
            <a:r>
              <a:rPr lang="en-US" altLang="zh-CN" dirty="0"/>
              <a:t>Contiki OS MAC</a:t>
            </a:r>
          </a:p>
          <a:p>
            <a:pPr lvl="1"/>
            <a:r>
              <a:rPr lang="zh-CN" altLang="en-US" dirty="0"/>
              <a:t>从</a:t>
            </a:r>
            <a:r>
              <a:rPr lang="en-US" altLang="zh-CN" dirty="0"/>
              <a:t>2012 </a:t>
            </a:r>
            <a:r>
              <a:rPr lang="zh-CN" altLang="en-US" dirty="0"/>
              <a:t>年开始，瑞典的公司</a:t>
            </a:r>
            <a:r>
              <a:rPr lang="en-US" altLang="zh-CN" dirty="0" err="1"/>
              <a:t>Thingsquare</a:t>
            </a:r>
            <a:r>
              <a:rPr lang="zh-CN" altLang="en-US" dirty="0"/>
              <a:t>开始接受并维护</a:t>
            </a:r>
            <a:r>
              <a:rPr lang="en-US" altLang="zh-CN" dirty="0"/>
              <a:t>Contiki OS </a:t>
            </a:r>
            <a:r>
              <a:rPr lang="zh-CN" altLang="en-US" dirty="0"/>
              <a:t>的项目</a:t>
            </a:r>
            <a:endParaRPr lang="en-US" altLang="zh-CN" dirty="0"/>
          </a:p>
          <a:p>
            <a:pPr lvl="1"/>
            <a:r>
              <a:rPr lang="en-US" altLang="zh-CN" dirty="0"/>
              <a:t>2015 </a:t>
            </a:r>
            <a:r>
              <a:rPr lang="zh-CN" altLang="en-US" dirty="0"/>
              <a:t>年</a:t>
            </a:r>
            <a:r>
              <a:rPr lang="en-US" altLang="zh-CN" dirty="0"/>
              <a:t>8 </a:t>
            </a:r>
            <a:r>
              <a:rPr lang="zh-CN" altLang="en-US" dirty="0"/>
              <a:t>月，</a:t>
            </a:r>
            <a:r>
              <a:rPr lang="en-US" altLang="zh-CN" dirty="0"/>
              <a:t>Contiki OS 3.0 </a:t>
            </a:r>
            <a:r>
              <a:rPr lang="zh-CN" altLang="en-US" dirty="0"/>
              <a:t>发布出来</a:t>
            </a:r>
            <a:endParaRPr lang="en-US" altLang="zh-CN" dirty="0"/>
          </a:p>
        </p:txBody>
      </p:sp>
      <p:sp>
        <p:nvSpPr>
          <p:cNvPr id="6" name="灯片编号占位符 4">
            <a:extLst>
              <a:ext uri="{FF2B5EF4-FFF2-40B4-BE49-F238E27FC236}">
                <a16:creationId xmlns:a16="http://schemas.microsoft.com/office/drawing/2014/main" id="{87657F55-1150-4C9F-B2D5-659435C3D57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25</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27995892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a:t>Contiki OS-</a:t>
            </a:r>
            <a:r>
              <a:rPr lang="zh-CN" altLang="en-US" dirty="0"/>
              <a:t>关键特性</a:t>
            </a:r>
          </a:p>
        </p:txBody>
      </p:sp>
      <p:sp>
        <p:nvSpPr>
          <p:cNvPr id="3" name="内容占位符 2"/>
          <p:cNvSpPr>
            <a:spLocks noGrp="1"/>
          </p:cNvSpPr>
          <p:nvPr>
            <p:ph idx="1"/>
          </p:nvPr>
        </p:nvSpPr>
        <p:spPr>
          <a:xfrm>
            <a:off x="457200" y="990600"/>
            <a:ext cx="8305800" cy="5791200"/>
          </a:xfrm>
        </p:spPr>
        <p:txBody>
          <a:bodyPr>
            <a:normAutofit/>
          </a:bodyPr>
          <a:lstStyle/>
          <a:p>
            <a:r>
              <a:rPr lang="zh-CN" altLang="en-US" dirty="0"/>
              <a:t>编程模型</a:t>
            </a:r>
            <a:endParaRPr lang="en-US" altLang="zh-CN" dirty="0"/>
          </a:p>
          <a:p>
            <a:pPr lvl="1"/>
            <a:r>
              <a:rPr lang="en-US" altLang="zh-CN" dirty="0"/>
              <a:t>Contiki OS </a:t>
            </a:r>
            <a:r>
              <a:rPr lang="zh-CN" altLang="en-US" dirty="0"/>
              <a:t>采用</a:t>
            </a:r>
            <a:r>
              <a:rPr lang="zh-CN" altLang="en-US" b="1" dirty="0">
                <a:solidFill>
                  <a:srgbClr val="C00000"/>
                </a:solidFill>
              </a:rPr>
              <a:t>基于</a:t>
            </a:r>
            <a:r>
              <a:rPr lang="en-US" altLang="zh-CN" b="1" dirty="0">
                <a:solidFill>
                  <a:srgbClr val="C00000"/>
                </a:solidFill>
              </a:rPr>
              <a:t>protothreads </a:t>
            </a:r>
            <a:r>
              <a:rPr lang="zh-CN" altLang="en-US" b="1" dirty="0">
                <a:solidFill>
                  <a:srgbClr val="C00000"/>
                </a:solidFill>
              </a:rPr>
              <a:t>的编程模型</a:t>
            </a:r>
            <a:r>
              <a:rPr lang="zh-CN" altLang="en-US" dirty="0"/>
              <a:t>，支持多线程的编程风格</a:t>
            </a:r>
            <a:endParaRPr lang="en-US" altLang="zh-CN" dirty="0"/>
          </a:p>
          <a:p>
            <a:pPr lvl="1"/>
            <a:r>
              <a:rPr lang="zh-CN" altLang="en-US" dirty="0"/>
              <a:t>提供以多堆栈实现的</a:t>
            </a:r>
            <a:r>
              <a:rPr lang="zh-CN" altLang="en-US" b="1" dirty="0">
                <a:solidFill>
                  <a:srgbClr val="C00000"/>
                </a:solidFill>
              </a:rPr>
              <a:t>多线程库</a:t>
            </a:r>
            <a:r>
              <a:rPr lang="en-US" altLang="zh-CN" b="1" dirty="0" err="1">
                <a:solidFill>
                  <a:srgbClr val="C00000"/>
                </a:solidFill>
              </a:rPr>
              <a:t>mt_thread</a:t>
            </a:r>
            <a:endParaRPr lang="en-US" altLang="zh-CN" b="1" dirty="0">
              <a:solidFill>
                <a:srgbClr val="C00000"/>
              </a:solidFill>
            </a:endParaRPr>
          </a:p>
          <a:p>
            <a:r>
              <a:rPr lang="zh-CN" altLang="en-US" dirty="0"/>
              <a:t>任务调度：</a:t>
            </a:r>
            <a:r>
              <a:rPr lang="zh-CN" altLang="en-US" sz="2000" b="0" dirty="0"/>
              <a:t>采用基于优先级的事件和</a:t>
            </a:r>
            <a:r>
              <a:rPr lang="en-US" altLang="zh-CN" sz="2000" b="0" dirty="0"/>
              <a:t>protothreads </a:t>
            </a:r>
            <a:r>
              <a:rPr lang="zh-CN" altLang="en-US" sz="2000" b="0" dirty="0"/>
              <a:t>调度机制</a:t>
            </a:r>
            <a:endParaRPr lang="zh-CN" altLang="en-US" b="0" dirty="0"/>
          </a:p>
          <a:p>
            <a:r>
              <a:rPr lang="zh-CN" altLang="en-US" dirty="0"/>
              <a:t>内存分配：</a:t>
            </a:r>
            <a:r>
              <a:rPr lang="zh-CN" altLang="en-US" sz="2000" b="0" dirty="0"/>
              <a:t>两种轻量级内存分配机制，即静态内存分配和动态分配</a:t>
            </a:r>
            <a:endParaRPr lang="zh-CN" altLang="en-US" b="0" dirty="0"/>
          </a:p>
          <a:p>
            <a:r>
              <a:rPr lang="zh-CN" altLang="en-US" dirty="0"/>
              <a:t>软件更新：</a:t>
            </a:r>
            <a:r>
              <a:rPr lang="zh-CN" altLang="en-US" sz="2000" b="0" dirty="0"/>
              <a:t>基于模块化的软件更新方式，提升了软件更新的效率</a:t>
            </a:r>
            <a:endParaRPr lang="en-US" altLang="zh-CN" sz="2000" b="0" dirty="0"/>
          </a:p>
          <a:p>
            <a:r>
              <a:rPr lang="zh-CN" altLang="en-US" dirty="0">
                <a:solidFill>
                  <a:srgbClr val="C00000"/>
                </a:solidFill>
              </a:rPr>
              <a:t>网络服务</a:t>
            </a:r>
            <a:endParaRPr lang="en-US" altLang="zh-CN" dirty="0"/>
          </a:p>
          <a:p>
            <a:pPr lvl="1"/>
            <a:r>
              <a:rPr lang="zh-CN" altLang="en-US" dirty="0"/>
              <a:t>包括路由协议</a:t>
            </a:r>
            <a:r>
              <a:rPr lang="en-US" altLang="zh-CN" dirty="0"/>
              <a:t>Contiki OS RPL</a:t>
            </a:r>
            <a:r>
              <a:rPr lang="zh-CN" altLang="en-US" dirty="0"/>
              <a:t>、轻量级的网络层协议</a:t>
            </a:r>
            <a:r>
              <a:rPr lang="en-US" altLang="zh-CN" dirty="0" err="1"/>
              <a:t>uIP</a:t>
            </a:r>
            <a:r>
              <a:rPr lang="en-US" altLang="zh-CN" dirty="0"/>
              <a:t> </a:t>
            </a:r>
            <a:r>
              <a:rPr lang="zh-CN" altLang="en-US" dirty="0"/>
              <a:t>和</a:t>
            </a:r>
            <a:r>
              <a:rPr lang="en-US" altLang="zh-CN" dirty="0"/>
              <a:t>IPv6</a:t>
            </a:r>
            <a:r>
              <a:rPr lang="zh-CN" altLang="en-US" dirty="0"/>
              <a:t>地址压缩协议</a:t>
            </a:r>
            <a:r>
              <a:rPr lang="en-US" altLang="zh-CN" dirty="0"/>
              <a:t>6LowPAN</a:t>
            </a:r>
            <a:r>
              <a:rPr lang="zh-CN" altLang="en-US" dirty="0"/>
              <a:t>等</a:t>
            </a:r>
            <a:endParaRPr lang="en-US" altLang="zh-CN" dirty="0"/>
          </a:p>
          <a:p>
            <a:r>
              <a:rPr lang="zh-CN" altLang="en-US" dirty="0"/>
              <a:t>其他</a:t>
            </a:r>
            <a:endParaRPr lang="en-US" altLang="zh-CN" dirty="0"/>
          </a:p>
          <a:p>
            <a:pPr lvl="1"/>
            <a:r>
              <a:rPr lang="zh-CN" altLang="en-US" dirty="0"/>
              <a:t>提供</a:t>
            </a:r>
            <a:r>
              <a:rPr lang="zh-CN" altLang="en-US" dirty="0">
                <a:solidFill>
                  <a:srgbClr val="C00000"/>
                </a:solidFill>
              </a:rPr>
              <a:t>基于</a:t>
            </a:r>
            <a:r>
              <a:rPr lang="en-US" altLang="zh-CN" dirty="0">
                <a:solidFill>
                  <a:srgbClr val="C00000"/>
                </a:solidFill>
              </a:rPr>
              <a:t>shell </a:t>
            </a:r>
            <a:r>
              <a:rPr lang="zh-CN" altLang="en-US" dirty="0">
                <a:solidFill>
                  <a:srgbClr val="C00000"/>
                </a:solidFill>
              </a:rPr>
              <a:t>的交互式编程接口</a:t>
            </a:r>
            <a:endParaRPr lang="en-US" altLang="zh-CN" dirty="0"/>
          </a:p>
        </p:txBody>
      </p:sp>
      <p:sp>
        <p:nvSpPr>
          <p:cNvPr id="6" name="灯片编号占位符 4">
            <a:extLst>
              <a:ext uri="{FF2B5EF4-FFF2-40B4-BE49-F238E27FC236}">
                <a16:creationId xmlns:a16="http://schemas.microsoft.com/office/drawing/2014/main" id="{3CD47C1A-1B9F-470D-B975-61296ECBF3A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26</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22815033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a:t>protothreads</a:t>
            </a:r>
            <a:r>
              <a:rPr lang="zh-CN" altLang="en-US" dirty="0"/>
              <a:t>的编程模型</a:t>
            </a:r>
          </a:p>
        </p:txBody>
      </p:sp>
      <p:sp>
        <p:nvSpPr>
          <p:cNvPr id="3" name="内容占位符 2"/>
          <p:cNvSpPr>
            <a:spLocks noGrp="1"/>
          </p:cNvSpPr>
          <p:nvPr>
            <p:ph idx="1"/>
          </p:nvPr>
        </p:nvSpPr>
        <p:spPr>
          <a:xfrm>
            <a:off x="457200" y="990600"/>
            <a:ext cx="8305800" cy="5410200"/>
          </a:xfrm>
        </p:spPr>
        <p:txBody>
          <a:bodyPr/>
          <a:lstStyle/>
          <a:p>
            <a:r>
              <a:rPr lang="en-US" altLang="zh-CN" dirty="0"/>
              <a:t>protothreads</a:t>
            </a:r>
            <a:endParaRPr lang="zh-CN" altLang="en-US" dirty="0"/>
          </a:p>
          <a:p>
            <a:pPr lvl="1"/>
            <a:r>
              <a:rPr lang="zh-CN" altLang="en-US" dirty="0"/>
              <a:t>由瑞士计算机学院的</a:t>
            </a:r>
            <a:r>
              <a:rPr lang="en-US" altLang="zh-CN" dirty="0"/>
              <a:t>Adam </a:t>
            </a:r>
            <a:r>
              <a:rPr lang="en-US" altLang="zh-CN" dirty="0" err="1"/>
              <a:t>Dunkels</a:t>
            </a:r>
            <a:r>
              <a:rPr lang="zh-CN" altLang="en-US" dirty="0"/>
              <a:t>等人于</a:t>
            </a:r>
            <a:r>
              <a:rPr lang="en-US" altLang="zh-CN" dirty="0"/>
              <a:t>2006</a:t>
            </a:r>
            <a:r>
              <a:rPr lang="zh-CN" altLang="en-US" dirty="0"/>
              <a:t>年提出来的编程框架</a:t>
            </a:r>
          </a:p>
          <a:p>
            <a:pPr lvl="1"/>
            <a:r>
              <a:rPr lang="zh-CN" altLang="en-US" dirty="0"/>
              <a:t>基于协作式的调度模式</a:t>
            </a:r>
          </a:p>
          <a:p>
            <a:pPr lvl="1"/>
            <a:r>
              <a:rPr lang="zh-CN" altLang="en-US" dirty="0"/>
              <a:t>使用单个堆栈实现</a:t>
            </a:r>
          </a:p>
          <a:p>
            <a:pPr lvl="1"/>
            <a:r>
              <a:rPr lang="zh-CN" altLang="en-US" dirty="0"/>
              <a:t>不能使用局部变量</a:t>
            </a:r>
          </a:p>
        </p:txBody>
      </p:sp>
      <p:sp>
        <p:nvSpPr>
          <p:cNvPr id="6" name="灯片编号占位符 4">
            <a:extLst>
              <a:ext uri="{FF2B5EF4-FFF2-40B4-BE49-F238E27FC236}">
                <a16:creationId xmlns:a16="http://schemas.microsoft.com/office/drawing/2014/main" id="{C0A024E1-506D-48F7-8539-BA88ED9D2C8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27</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27261941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a:t>protothreads</a:t>
            </a:r>
            <a:r>
              <a:rPr lang="zh-CN" altLang="en-US" dirty="0"/>
              <a:t>的编程模型</a:t>
            </a:r>
          </a:p>
        </p:txBody>
      </p:sp>
      <p:sp>
        <p:nvSpPr>
          <p:cNvPr id="3" name="内容占位符 2"/>
          <p:cNvSpPr>
            <a:spLocks noGrp="1"/>
          </p:cNvSpPr>
          <p:nvPr>
            <p:ph idx="1"/>
          </p:nvPr>
        </p:nvSpPr>
        <p:spPr>
          <a:xfrm>
            <a:off x="457200" y="990600"/>
            <a:ext cx="8305800" cy="5410200"/>
          </a:xfrm>
        </p:spPr>
        <p:txBody>
          <a:bodyPr/>
          <a:lstStyle/>
          <a:p>
            <a:r>
              <a:rPr lang="zh-CN" altLang="en-US" dirty="0"/>
              <a:t>基本编程框架</a:t>
            </a:r>
            <a:endParaRPr lang="en-US" altLang="zh-CN" dirty="0"/>
          </a:p>
          <a:p>
            <a:pPr marL="457200" lvl="1" indent="0">
              <a:buNone/>
            </a:pPr>
            <a:endParaRPr lang="en-US" altLang="zh-CN" dirty="0"/>
          </a:p>
          <a:p>
            <a:endParaRPr lang="en-US" altLang="zh-CN" dirty="0"/>
          </a:p>
          <a:p>
            <a:endParaRPr lang="en-US" altLang="zh-CN" dirty="0"/>
          </a:p>
          <a:p>
            <a:endParaRPr lang="en-US" altLang="zh-CN" dirty="0"/>
          </a:p>
          <a:p>
            <a:pPr lvl="1"/>
            <a:endParaRPr lang="en-US" altLang="zh-CN" dirty="0"/>
          </a:p>
          <a:p>
            <a:pPr lvl="1"/>
            <a:r>
              <a:rPr lang="zh-CN" altLang="en-US" dirty="0"/>
              <a:t>所有的</a:t>
            </a:r>
            <a:r>
              <a:rPr lang="en-US" altLang="zh-CN" dirty="0"/>
              <a:t>Contiki OS</a:t>
            </a:r>
            <a:r>
              <a:rPr lang="zh-CN" altLang="en-US" dirty="0"/>
              <a:t>程序都必须以</a:t>
            </a:r>
            <a:r>
              <a:rPr lang="zh-CN" altLang="en-US" b="1" dirty="0">
                <a:solidFill>
                  <a:srgbClr val="C00000"/>
                </a:solidFill>
              </a:rPr>
              <a:t>宏</a:t>
            </a:r>
            <a:r>
              <a:rPr lang="en-US" altLang="zh-CN" b="1" dirty="0">
                <a:solidFill>
                  <a:srgbClr val="C00000"/>
                </a:solidFill>
              </a:rPr>
              <a:t>PROCESS()</a:t>
            </a:r>
            <a:r>
              <a:rPr lang="zh-CN" altLang="en-US" dirty="0"/>
              <a:t>开头</a:t>
            </a:r>
          </a:p>
          <a:p>
            <a:pPr lvl="1"/>
            <a:r>
              <a:rPr lang="zh-CN" altLang="en-US" b="1" dirty="0">
                <a:solidFill>
                  <a:srgbClr val="C00000"/>
                </a:solidFill>
              </a:rPr>
              <a:t>宏</a:t>
            </a:r>
            <a:r>
              <a:rPr lang="en-US" altLang="zh-CN" b="1" dirty="0">
                <a:solidFill>
                  <a:srgbClr val="C00000"/>
                </a:solidFill>
              </a:rPr>
              <a:t>AUTOSTART_PROCESSES()</a:t>
            </a:r>
            <a:r>
              <a:rPr lang="zh-CN" altLang="en-US" dirty="0"/>
              <a:t>用于在程序启动的时候自动地执行当前进程</a:t>
            </a:r>
          </a:p>
          <a:p>
            <a:pPr lvl="1"/>
            <a:r>
              <a:rPr lang="zh-CN" altLang="en-US" b="1" dirty="0">
                <a:solidFill>
                  <a:srgbClr val="C00000"/>
                </a:solidFill>
              </a:rPr>
              <a:t>宏</a:t>
            </a:r>
            <a:r>
              <a:rPr lang="en-US" altLang="zh-CN" b="1" dirty="0">
                <a:solidFill>
                  <a:srgbClr val="C00000"/>
                </a:solidFill>
              </a:rPr>
              <a:t>PROCESS_THREAD()</a:t>
            </a:r>
            <a:r>
              <a:rPr lang="zh-CN" altLang="en-US" dirty="0"/>
              <a:t>用来定义</a:t>
            </a:r>
            <a:r>
              <a:rPr lang="en-US" altLang="zh-CN" dirty="0"/>
              <a:t>protothread</a:t>
            </a:r>
            <a:r>
              <a:rPr lang="zh-CN" altLang="en-US" dirty="0"/>
              <a:t>的实现</a:t>
            </a:r>
            <a:endParaRPr lang="en-US" altLang="zh-CN" dirty="0"/>
          </a:p>
          <a:p>
            <a:pPr lvl="1"/>
            <a:r>
              <a:rPr lang="zh-CN" altLang="en-US" b="1" dirty="0">
                <a:solidFill>
                  <a:srgbClr val="C00000"/>
                </a:solidFill>
              </a:rPr>
              <a:t>宏</a:t>
            </a:r>
            <a:r>
              <a:rPr lang="en-US" altLang="zh-CN" b="1" dirty="0">
                <a:solidFill>
                  <a:srgbClr val="C00000"/>
                </a:solidFill>
              </a:rPr>
              <a:t>PROCESS_BEGIN()</a:t>
            </a:r>
            <a:r>
              <a:rPr lang="zh-CN" altLang="en-US" dirty="0"/>
              <a:t>必须在初始化的变量之后调用</a:t>
            </a:r>
            <a:endParaRPr lang="en-US" altLang="zh-CN" dirty="0"/>
          </a:p>
          <a:p>
            <a:pPr lvl="1"/>
            <a:r>
              <a:rPr lang="zh-CN" altLang="en-US" b="1" dirty="0">
                <a:solidFill>
                  <a:srgbClr val="C00000"/>
                </a:solidFill>
              </a:rPr>
              <a:t>宏</a:t>
            </a:r>
            <a:r>
              <a:rPr lang="en-US" altLang="zh-CN" b="1" dirty="0">
                <a:solidFill>
                  <a:srgbClr val="C00000"/>
                </a:solidFill>
              </a:rPr>
              <a:t>PROCESS_END()</a:t>
            </a:r>
            <a:r>
              <a:rPr lang="zh-CN" altLang="en-US" dirty="0"/>
              <a:t>的调用表示当前线程的终止</a:t>
            </a:r>
          </a:p>
        </p:txBody>
      </p:sp>
      <p:sp>
        <p:nvSpPr>
          <p:cNvPr id="5" name="文本框 4"/>
          <p:cNvSpPr txBox="1"/>
          <p:nvPr/>
        </p:nvSpPr>
        <p:spPr>
          <a:xfrm>
            <a:off x="902566" y="1560372"/>
            <a:ext cx="7338869" cy="2308324"/>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spcBef>
                <a:spcPts val="0"/>
              </a:spcBef>
              <a:defRPr/>
            </a:pP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PROCESS</a:t>
            </a: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(name, </a:t>
            </a:r>
            <a:r>
              <a:rPr kumimoji="0" lang="en-US" altLang="zh-CN" sz="1600" b="0" i="0" u="none" strike="noStrike" kern="1200" cap="none" spc="0" normalizeH="0" baseline="0" noProof="0" dirty="0" err="1">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strname</a:t>
            </a: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//name:</a:t>
            </a:r>
            <a:r>
              <a:rPr lang="zh-CN" altLang="en-US"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进程结构体</a:t>
            </a:r>
            <a:r>
              <a:rPr lang="en-US" altLang="zh-CN"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err="1">
                <a:solidFill>
                  <a:schemeClr val="tx1"/>
                </a:solidFill>
                <a:latin typeface="Courier New" panose="02070309020205020404" pitchFamily="49" charset="0"/>
                <a:ea typeface="宋体" panose="02010600030101010101" pitchFamily="2" charset="-122"/>
                <a:cs typeface="Courier New" panose="02070309020205020404" pitchFamily="49" charset="0"/>
              </a:rPr>
              <a:t>strname</a:t>
            </a:r>
            <a:r>
              <a:rPr lang="en-US" altLang="zh-CN"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r>
              <a:rPr lang="zh-CN" altLang="en-US"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进程名称</a:t>
            </a:r>
            <a:endParaRPr lang="zh-CN" altLang="zh-CN"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AUTOSTART_PROCESSES</a:t>
            </a: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kern="1200" cap="none" spc="0" normalizeH="0" baseline="0" noProof="0" dirty="0" err="1">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struct</a:t>
            </a: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 process &amp;name);</a:t>
            </a:r>
            <a:endParaRPr kumimoji="0" lang="zh-CN"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PROCESS_THREAD</a:t>
            </a: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(name, </a:t>
            </a:r>
            <a:r>
              <a:rPr kumimoji="0" lang="en-US" altLang="zh-CN" sz="1600" b="0" i="0" u="none" strike="noStrike" kern="1200" cap="none" spc="0" normalizeH="0" baseline="0" noProof="0" dirty="0" err="1">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process_event_t</a:t>
            </a: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process_data_t</a:t>
            </a: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a:spcBef>
                <a:spcPts val="0"/>
              </a:spcBef>
              <a:defRPr/>
            </a:pP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a:t>
            </a:r>
            <a:r>
              <a:rPr lang="en-US" altLang="zh-CN" sz="1600" baseline="0" dirty="0" err="1">
                <a:solidFill>
                  <a:schemeClr val="tx1"/>
                </a:solidFill>
                <a:latin typeface="Courier New" panose="02070309020205020404" pitchFamily="49" charset="0"/>
                <a:ea typeface="宋体" panose="02010600030101010101" pitchFamily="2" charset="-122"/>
                <a:cs typeface="Courier New" panose="02070309020205020404" pitchFamily="49" charset="0"/>
              </a:rPr>
              <a:t>process_event_t</a:t>
            </a:r>
            <a:r>
              <a:rPr lang="en-US" altLang="zh-CN"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事件</a:t>
            </a:r>
            <a:r>
              <a:rPr lang="en-US" altLang="zh-CN"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err="1">
                <a:solidFill>
                  <a:schemeClr val="tx1"/>
                </a:solidFill>
                <a:latin typeface="Courier New" panose="02070309020205020404" pitchFamily="49" charset="0"/>
                <a:ea typeface="宋体" panose="02010600030101010101" pitchFamily="2" charset="-122"/>
                <a:cs typeface="Courier New" panose="02070309020205020404" pitchFamily="49" charset="0"/>
              </a:rPr>
              <a:t>process_data_t</a:t>
            </a:r>
            <a:r>
              <a:rPr lang="en-US" altLang="zh-CN"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rPr>
              <a:t>传递的进程数据</a:t>
            </a:r>
            <a:endParaRPr lang="zh-CN" altLang="zh-CN" sz="1600" baseline="0" dirty="0">
              <a:solidFill>
                <a:schemeClr val="tx1"/>
              </a:solidFill>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    ----Initialization of required variables----</a:t>
            </a:r>
            <a:endParaRPr kumimoji="0" lang="zh-CN"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PROCESS_BEGIN</a:t>
            </a: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    ---Set of C statements---</a:t>
            </a:r>
            <a:endParaRPr kumimoji="0" lang="zh-CN"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PROCESS_END</a:t>
            </a: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1600" b="0" i="0" u="none" strike="noStrike" kern="1200" cap="none" spc="0" normalizeH="0" baseline="0" noProof="0" dirty="0">
              <a:ln>
                <a:noFill/>
              </a:ln>
              <a:solidFill>
                <a:schemeClr val="tx1"/>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7" name="灯片编号占位符 4">
            <a:extLst>
              <a:ext uri="{FF2B5EF4-FFF2-40B4-BE49-F238E27FC236}">
                <a16:creationId xmlns:a16="http://schemas.microsoft.com/office/drawing/2014/main" id="{B4A4C2AF-3044-4F4E-9BC2-59FAF9C0414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28</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66281535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a:t>protothreads</a:t>
            </a:r>
            <a:r>
              <a:rPr lang="zh-CN" altLang="en-US" dirty="0"/>
              <a:t>的编程模型</a:t>
            </a:r>
          </a:p>
        </p:txBody>
      </p:sp>
      <p:sp>
        <p:nvSpPr>
          <p:cNvPr id="3" name="内容占位符 2"/>
          <p:cNvSpPr>
            <a:spLocks noGrp="1"/>
          </p:cNvSpPr>
          <p:nvPr>
            <p:ph idx="1"/>
          </p:nvPr>
        </p:nvSpPr>
        <p:spPr>
          <a:xfrm>
            <a:off x="457200" y="990600"/>
            <a:ext cx="8305800" cy="5410200"/>
          </a:xfrm>
        </p:spPr>
        <p:txBody>
          <a:bodyPr/>
          <a:lstStyle/>
          <a:p>
            <a:r>
              <a:rPr lang="en-US" altLang="zh-CN" dirty="0"/>
              <a:t>protothreads</a:t>
            </a:r>
            <a:r>
              <a:rPr lang="zh-CN" altLang="en-US" dirty="0"/>
              <a:t>基础</a:t>
            </a:r>
            <a:endParaRPr lang="en-US" altLang="zh-CN" dirty="0"/>
          </a:p>
          <a:p>
            <a:pPr lvl="1"/>
            <a:r>
              <a:rPr lang="en-US" altLang="zh-CN" dirty="0"/>
              <a:t>protothreads</a:t>
            </a:r>
            <a:r>
              <a:rPr lang="zh-CN" altLang="en-US" dirty="0"/>
              <a:t>基于协作式的调度模式，仅用单个堆栈就能够实现</a:t>
            </a:r>
          </a:p>
        </p:txBody>
      </p:sp>
      <p:sp>
        <p:nvSpPr>
          <p:cNvPr id="5" name="文本框 4"/>
          <p:cNvSpPr txBox="1"/>
          <p:nvPr/>
        </p:nvSpPr>
        <p:spPr>
          <a:xfrm>
            <a:off x="114126" y="1905582"/>
            <a:ext cx="8915747" cy="4644000"/>
          </a:xfrm>
          <a:prstGeom prst="rect">
            <a:avLst/>
          </a:prstGeom>
          <a:noFill/>
        </p:spPr>
        <p:style>
          <a:lnRef idx="2">
            <a:schemeClr val="dk1"/>
          </a:lnRef>
          <a:fillRef idx="1">
            <a:schemeClr val="lt1"/>
          </a:fillRef>
          <a:effectRef idx="0">
            <a:schemeClr val="dk1"/>
          </a:effectRef>
          <a:fontRef idx="minor">
            <a:schemeClr val="dk1"/>
          </a:fontRef>
        </p:style>
        <p:txBody>
          <a:bodyPr wrap="square" numCol="2" spcCol="180000" rtlCol="0">
            <a:spAutoFit/>
          </a:bodyPr>
          <a:lstStyle/>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hello_one</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hello_one</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hello_two</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hello_two</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AUTOSTART_PROCESSES(&amp;hello_one,&amp;</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hello_two</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PROCESS_THREAD(</a:t>
            </a:r>
            <a:r>
              <a:rPr kumimoji="0" lang="en-US" altLang="zh-CN" sz="14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hello_one</a:t>
            </a:r>
            <a:r>
              <a:rPr kumimoji="0" lang="en-US" altLang="zh-CN" sz="14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ev</a:t>
            </a:r>
            <a:r>
              <a:rPr kumimoji="0" lang="en-US" altLang="zh-CN" sz="14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data){</a:t>
            </a:r>
            <a:endParaRPr kumimoji="0" lang="zh-CN" altLang="zh-CN" sz="14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static struct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PROCESS_BEGIN();</a:t>
            </a: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etimer_set</a:t>
            </a:r>
            <a:r>
              <a:rPr kumimoji="0" lang="en-US"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400" b="0" i="0" u="none" strike="noStrike" kern="100" cap="none" spc="0" normalizeH="0" baseline="0" noProof="0" dirty="0" err="1">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      CLOCK_CONF_SECOND); /* 1s*/</a:t>
            </a:r>
            <a:endParaRPr kumimoji="0" lang="zh-CN"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while (1)    {</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PROCESS_WAIT_EVENT_UNTIL(</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etimer_expired</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printf</a:t>
            </a:r>
            <a:r>
              <a:rPr kumimoji="0" lang="en-US"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(“Hello one.\n”);  </a:t>
            </a:r>
            <a:endParaRPr kumimoji="0" lang="zh-CN"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etimer_reset</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PROCESS_END();</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R="0" lvl="0" algn="just" defTabSz="914400" rtl="0" eaLnBrk="1" fontAlgn="base" latinLnBrk="0" hangingPunct="1">
              <a:lnSpc>
                <a:spcPct val="125000"/>
              </a:lnSpc>
              <a:spcBef>
                <a:spcPct val="0"/>
              </a:spcBef>
              <a:spcAft>
                <a:spcPts val="0"/>
              </a:spcAft>
              <a:buClrTx/>
              <a:buSzTx/>
              <a:tabLst/>
              <a:defRPr/>
            </a:pPr>
            <a:r>
              <a:rPr kumimoji="0" lang="en-US" altLang="zh-CN" sz="14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PROCESS_THREAD(</a:t>
            </a:r>
            <a:r>
              <a:rPr kumimoji="0" lang="en-US" altLang="zh-CN" sz="14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hello_two</a:t>
            </a:r>
            <a:r>
              <a:rPr kumimoji="0" lang="en-US" altLang="zh-CN" sz="14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1"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ev</a:t>
            </a:r>
            <a:r>
              <a:rPr kumimoji="0" lang="en-US" altLang="zh-CN" sz="14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data){</a:t>
            </a:r>
            <a:endParaRPr kumimoji="0" lang="zh-CN" altLang="zh-CN" sz="1400" b="1"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static struct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PROCESS_BEGIN();</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etimer_set</a:t>
            </a:r>
            <a:r>
              <a:rPr kumimoji="0" lang="en-US"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400" b="0" i="0" u="none" strike="noStrike" kern="100" cap="none" spc="0" normalizeH="0" baseline="0" noProof="0" dirty="0" err="1">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 CLOCK_CONF_SECOND*2); /* 2s*/</a:t>
            </a:r>
            <a:endParaRPr kumimoji="0" lang="zh-CN"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while (1)    {</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PROCESS_WAIT_EVENT_UNTIL(</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etimer_expired</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printf</a:t>
            </a:r>
            <a:r>
              <a:rPr kumimoji="0" lang="en-US"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(“Hello two.\n”);  </a:t>
            </a:r>
            <a:endParaRPr kumimoji="0" lang="zh-CN"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etimer_reset</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PROCESS_END();</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14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endParaRPr kumimoji="0" lang="zh-CN" altLang="en-US" sz="14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cxnSp>
        <p:nvCxnSpPr>
          <p:cNvPr id="9" name="直接箭头连接符 8"/>
          <p:cNvCxnSpPr>
            <a:cxnSpLocks/>
          </p:cNvCxnSpPr>
          <p:nvPr/>
        </p:nvCxnSpPr>
        <p:spPr bwMode="auto">
          <a:xfrm>
            <a:off x="3956538" y="3919867"/>
            <a:ext cx="0" cy="696095"/>
          </a:xfrm>
          <a:prstGeom prst="straightConnector1">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cxnSp>
        <p:nvCxnSpPr>
          <p:cNvPr id="11" name="直接箭头连接符 10"/>
          <p:cNvCxnSpPr>
            <a:cxnSpLocks/>
          </p:cNvCxnSpPr>
          <p:nvPr/>
        </p:nvCxnSpPr>
        <p:spPr bwMode="auto">
          <a:xfrm flipV="1">
            <a:off x="4651868" y="3661106"/>
            <a:ext cx="812981" cy="13644"/>
          </a:xfrm>
          <a:prstGeom prst="straightConnector1">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12" name="文本框 11"/>
          <p:cNvSpPr txBox="1"/>
          <p:nvPr/>
        </p:nvSpPr>
        <p:spPr>
          <a:xfrm>
            <a:off x="7406525" y="4709133"/>
            <a:ext cx="1593397" cy="1815882"/>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mj-ea"/>
                <a:ea typeface="+mj-ea"/>
                <a:cs typeface="+mn-cs"/>
              </a:rPr>
              <a:t>输出：</a:t>
            </a:r>
            <a:endParaRPr kumimoji="0" lang="en-US" altLang="zh-CN" sz="1600" b="0" i="0" u="none" strike="noStrike" kern="1200" cap="none" spc="0" normalizeH="0" baseline="0" noProof="0" dirty="0">
              <a:ln>
                <a:noFill/>
              </a:ln>
              <a:solidFill>
                <a:prstClr val="black"/>
              </a:solidFill>
              <a:effectLst/>
              <a:uLnTx/>
              <a:uFillTx/>
              <a:latin typeface="+mj-ea"/>
              <a:ea typeface="+mj-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mj-ea"/>
                <a:ea typeface="+mj-ea"/>
                <a:cs typeface="+mn-cs"/>
              </a:rPr>
              <a:t>Hello one.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mj-ea"/>
                <a:ea typeface="+mj-ea"/>
                <a:cs typeface="+mn-cs"/>
              </a:rPr>
              <a:t>Hello one.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mj-ea"/>
                <a:ea typeface="+mj-ea"/>
                <a:cs typeface="+mn-cs"/>
              </a:rPr>
              <a:t>Hello two.</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mj-ea"/>
                <a:ea typeface="+mj-ea"/>
                <a:cs typeface="+mn-cs"/>
              </a:rPr>
              <a:t>Hello one.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mj-ea"/>
                <a:ea typeface="+mj-ea"/>
                <a:cs typeface="+mn-cs"/>
              </a:rPr>
              <a:t>Hello one.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mj-ea"/>
                <a:ea typeface="+mj-ea"/>
                <a:cs typeface="+mn-cs"/>
              </a:rPr>
              <a:t>Hello two</a:t>
            </a:r>
            <a:endParaRPr kumimoji="0" lang="zh-CN" altLang="en-US" sz="1600" b="0" i="0" u="none" strike="noStrike" kern="1200" cap="none" spc="0" normalizeH="0" baseline="0" noProof="0" dirty="0">
              <a:ln>
                <a:noFill/>
              </a:ln>
              <a:solidFill>
                <a:prstClr val="black"/>
              </a:solidFill>
              <a:effectLst/>
              <a:uLnTx/>
              <a:uFillTx/>
              <a:latin typeface="+mj-ea"/>
              <a:ea typeface="+mj-ea"/>
              <a:cs typeface="+mn-cs"/>
            </a:endParaRPr>
          </a:p>
        </p:txBody>
      </p:sp>
      <p:sp>
        <p:nvSpPr>
          <p:cNvPr id="13" name="灯片编号占位符 4">
            <a:extLst>
              <a:ext uri="{FF2B5EF4-FFF2-40B4-BE49-F238E27FC236}">
                <a16:creationId xmlns:a16="http://schemas.microsoft.com/office/drawing/2014/main" id="{9E3CD4AF-4C97-45C4-ACD8-D96B82836F68}"/>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29</a:t>
            </a:fld>
            <a:endParaRPr lang="zh-CN" altLang="zh-CN" sz="1800" baseline="0">
              <a:solidFill>
                <a:schemeClr val="folHlink"/>
              </a:solidFill>
              <a:latin typeface="Monotype Corsiva" panose="03010101010201010101" pitchFamily="66" charset="0"/>
            </a:endParaRPr>
          </a:p>
        </p:txBody>
      </p:sp>
      <p:cxnSp>
        <p:nvCxnSpPr>
          <p:cNvPr id="20" name="直接连接符 19">
            <a:extLst>
              <a:ext uri="{FF2B5EF4-FFF2-40B4-BE49-F238E27FC236}">
                <a16:creationId xmlns:a16="http://schemas.microsoft.com/office/drawing/2014/main" id="{B27B45FC-047C-408C-A5EB-F0BA954229CB}"/>
              </a:ext>
            </a:extLst>
          </p:cNvPr>
          <p:cNvCxnSpPr>
            <a:stCxn id="5" idx="0"/>
            <a:endCxn id="5" idx="2"/>
          </p:cNvCxnSpPr>
          <p:nvPr/>
        </p:nvCxnSpPr>
        <p:spPr bwMode="auto">
          <a:xfrm>
            <a:off x="4572000" y="1905582"/>
            <a:ext cx="0" cy="4644000"/>
          </a:xfrm>
          <a:prstGeom prst="line">
            <a:avLst/>
          </a:prstGeom>
          <a:solidFill>
            <a:schemeClr val="accent1"/>
          </a:solidFill>
          <a:ln w="28575" cap="flat" cmpd="sng" algn="ctr">
            <a:solidFill>
              <a:schemeClr val="tx1"/>
            </a:solidFill>
            <a:prstDash val="solid"/>
            <a:round/>
            <a:headEnd type="none" w="med" len="med"/>
            <a:tailEnd type="none" w="med" len="med"/>
          </a:ln>
        </p:spPr>
      </p:cxnSp>
      <p:sp>
        <p:nvSpPr>
          <p:cNvPr id="16" name="文本框 15">
            <a:extLst>
              <a:ext uri="{FF2B5EF4-FFF2-40B4-BE49-F238E27FC236}">
                <a16:creationId xmlns:a16="http://schemas.microsoft.com/office/drawing/2014/main" id="{BB6BFF04-6F3C-4809-8C3F-E62B8DA5D70E}"/>
              </a:ext>
            </a:extLst>
          </p:cNvPr>
          <p:cNvSpPr txBox="1"/>
          <p:nvPr/>
        </p:nvSpPr>
        <p:spPr>
          <a:xfrm>
            <a:off x="2819616" y="5780901"/>
            <a:ext cx="3504768" cy="743793"/>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algn="ctr">
              <a:spcAft>
                <a:spcPts val="600"/>
              </a:spcAft>
            </a:pPr>
            <a:r>
              <a:rPr lang="zh-CN" altLang="zh-CN" sz="2400" kern="500" spc="-30" dirty="0">
                <a:solidFill>
                  <a:srgbClr val="000000"/>
                </a:solidFill>
                <a:effectLst/>
                <a:latin typeface="+mj-ea"/>
                <a:ea typeface="+mj-ea"/>
                <a:cs typeface="Courier New" panose="02070309020205020404" pitchFamily="49" charset="0"/>
              </a:rPr>
              <a:t>代码创建了两个</a:t>
            </a:r>
            <a:r>
              <a:rPr lang="en-US" altLang="zh-CN" sz="2400" kern="500" spc="-30" dirty="0">
                <a:solidFill>
                  <a:srgbClr val="000000"/>
                </a:solidFill>
                <a:effectLst/>
                <a:latin typeface="+mj-ea"/>
                <a:ea typeface="+mj-ea"/>
                <a:cs typeface="Courier New" panose="02070309020205020404" pitchFamily="49" charset="0"/>
              </a:rPr>
              <a:t>protothreads</a:t>
            </a:r>
            <a:r>
              <a:rPr lang="zh-CN" altLang="zh-CN" sz="2400" kern="500" spc="-30" dirty="0">
                <a:solidFill>
                  <a:srgbClr val="000000"/>
                </a:solidFill>
                <a:effectLst/>
                <a:latin typeface="+mj-ea"/>
                <a:ea typeface="+mj-ea"/>
                <a:cs typeface="Courier New" panose="02070309020205020404" pitchFamily="49" charset="0"/>
              </a:rPr>
              <a:t>，轮流输出“</a:t>
            </a:r>
            <a:r>
              <a:rPr lang="en-US" altLang="zh-CN" sz="2400" kern="500" spc="-30" dirty="0">
                <a:solidFill>
                  <a:srgbClr val="000000"/>
                </a:solidFill>
                <a:effectLst/>
                <a:latin typeface="+mj-ea"/>
                <a:ea typeface="+mj-ea"/>
                <a:cs typeface="Courier New" panose="02070309020205020404" pitchFamily="49" charset="0"/>
              </a:rPr>
              <a:t>Hello one</a:t>
            </a:r>
            <a:r>
              <a:rPr lang="zh-CN" altLang="zh-CN" sz="2400" kern="500" spc="-30" dirty="0">
                <a:solidFill>
                  <a:srgbClr val="000000"/>
                </a:solidFill>
                <a:effectLst/>
                <a:latin typeface="+mj-ea"/>
                <a:ea typeface="+mj-ea"/>
                <a:cs typeface="Courier New" panose="02070309020205020404" pitchFamily="49" charset="0"/>
              </a:rPr>
              <a:t>”和“</a:t>
            </a:r>
            <a:r>
              <a:rPr lang="en-US" altLang="zh-CN" sz="2400" kern="500" spc="-30" dirty="0">
                <a:solidFill>
                  <a:srgbClr val="000000"/>
                </a:solidFill>
                <a:effectLst/>
                <a:latin typeface="+mj-ea"/>
                <a:ea typeface="+mj-ea"/>
                <a:cs typeface="Courier New" panose="02070309020205020404" pitchFamily="49" charset="0"/>
              </a:rPr>
              <a:t>Hello two</a:t>
            </a:r>
            <a:r>
              <a:rPr lang="zh-CN" altLang="zh-CN" sz="2400" kern="500" spc="-30" dirty="0">
                <a:solidFill>
                  <a:srgbClr val="000000"/>
                </a:solidFill>
                <a:effectLst/>
                <a:latin typeface="+mj-ea"/>
                <a:ea typeface="+mj-ea"/>
                <a:cs typeface="Courier New" panose="02070309020205020404" pitchFamily="49" charset="0"/>
              </a:rPr>
              <a:t>”</a:t>
            </a:r>
            <a:endParaRPr lang="en-US" altLang="zh-CN" sz="2400" kern="500" spc="-30" dirty="0">
              <a:solidFill>
                <a:srgbClr val="000000"/>
              </a:solidFill>
              <a:effectLst/>
              <a:latin typeface="+mj-ea"/>
              <a:ea typeface="+mj-ea"/>
              <a:cs typeface="Courier New" panose="02070309020205020404" pitchFamily="49" charset="0"/>
            </a:endParaRPr>
          </a:p>
          <a:p>
            <a:pPr algn="ctr">
              <a:spcAft>
                <a:spcPts val="600"/>
              </a:spcAft>
            </a:pPr>
            <a:endParaRPr lang="zh-CN" altLang="en-US" sz="800" dirty="0">
              <a:latin typeface="+mj-ea"/>
              <a:ea typeface="+mj-ea"/>
            </a:endParaRPr>
          </a:p>
        </p:txBody>
      </p:sp>
      <p:sp>
        <p:nvSpPr>
          <p:cNvPr id="4" name="文本框 3"/>
          <p:cNvSpPr txBox="1"/>
          <p:nvPr/>
        </p:nvSpPr>
        <p:spPr>
          <a:xfrm>
            <a:off x="2501414" y="3550535"/>
            <a:ext cx="2150454"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i="0" u="none" strike="noStrike" kern="1200" cap="none" spc="0" normalizeH="0" baseline="0" noProof="0" dirty="0">
                <a:ln>
                  <a:noFill/>
                </a:ln>
                <a:solidFill>
                  <a:srgbClr val="00B050"/>
                </a:solidFill>
                <a:effectLst/>
                <a:uLnTx/>
                <a:uFillTx/>
                <a:latin typeface="Arial" panose="020B0604020202020204" pitchFamily="34" charset="0"/>
                <a:ea typeface="黑体"/>
                <a:cs typeface="Arial" panose="020B0604020202020204" pitchFamily="34" charset="0"/>
              </a:rPr>
              <a:t>If </a:t>
            </a:r>
            <a:r>
              <a:rPr lang="en-US" altLang="zh-CN" sz="1800" baseline="0" dirty="0">
                <a:solidFill>
                  <a:srgbClr val="00B050"/>
                </a:solidFill>
                <a:latin typeface="Arial" panose="020B0604020202020204" pitchFamily="34" charset="0"/>
                <a:ea typeface="黑体"/>
                <a:cs typeface="Arial" panose="020B0604020202020204" pitchFamily="34" charset="0"/>
              </a:rPr>
              <a:t>not expired</a:t>
            </a:r>
            <a:r>
              <a:rPr kumimoji="0" lang="en-US" altLang="zh-CN" sz="1800" i="0" u="none" strike="noStrike" kern="1200" cap="none" spc="0" normalizeH="0" baseline="0" noProof="0" dirty="0">
                <a:ln>
                  <a:noFill/>
                </a:ln>
                <a:solidFill>
                  <a:srgbClr val="00B050"/>
                </a:solidFill>
                <a:effectLst/>
                <a:uLnTx/>
                <a:uFillTx/>
                <a:latin typeface="Arial" panose="020B0604020202020204" pitchFamily="34" charset="0"/>
                <a:ea typeface="黑体"/>
                <a:cs typeface="Arial" panose="020B0604020202020204" pitchFamily="34" charset="0"/>
              </a:rPr>
              <a:t>: Yield</a:t>
            </a:r>
            <a:endParaRPr kumimoji="0" lang="zh-CN" altLang="en-US" sz="1800" i="0" u="none" strike="noStrike" kern="1200" cap="none" spc="0" normalizeH="0" baseline="0" noProof="0" dirty="0">
              <a:ln>
                <a:noFill/>
              </a:ln>
              <a:solidFill>
                <a:srgbClr val="00B050"/>
              </a:solidFill>
              <a:effectLst/>
              <a:uLnTx/>
              <a:uFillTx/>
              <a:latin typeface="Arial" panose="020B0604020202020204" pitchFamily="34" charset="0"/>
              <a:ea typeface="黑体"/>
              <a:cs typeface="Arial" panose="020B0604020202020204" pitchFamily="34" charset="0"/>
            </a:endParaRPr>
          </a:p>
        </p:txBody>
      </p:sp>
    </p:spTree>
    <p:extLst>
      <p:ext uri="{BB962C8B-B14F-4D97-AF65-F5344CB8AC3E}">
        <p14:creationId xmlns:p14="http://schemas.microsoft.com/office/powerpoint/2010/main" val="378684659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a:t>protothreads</a:t>
            </a:r>
            <a:r>
              <a:rPr lang="zh-CN" altLang="en-US" dirty="0"/>
              <a:t>的编程模型</a:t>
            </a:r>
          </a:p>
        </p:txBody>
      </p:sp>
      <p:sp>
        <p:nvSpPr>
          <p:cNvPr id="3" name="内容占位符 2"/>
          <p:cNvSpPr>
            <a:spLocks noGrp="1"/>
          </p:cNvSpPr>
          <p:nvPr>
            <p:ph idx="1"/>
          </p:nvPr>
        </p:nvSpPr>
        <p:spPr>
          <a:xfrm>
            <a:off x="457200" y="990600"/>
            <a:ext cx="8305800" cy="5410200"/>
          </a:xfrm>
        </p:spPr>
        <p:txBody>
          <a:bodyPr/>
          <a:lstStyle/>
          <a:p>
            <a:r>
              <a:rPr lang="en-US" altLang="zh-CN" dirty="0"/>
              <a:t>Protothreads</a:t>
            </a:r>
            <a:r>
              <a:rPr lang="zh-CN" altLang="en-US" dirty="0"/>
              <a:t>的实现机理</a:t>
            </a:r>
            <a:endParaRPr lang="en-US" altLang="zh-CN" sz="2000" dirty="0"/>
          </a:p>
          <a:p>
            <a:pPr lvl="1"/>
            <a:r>
              <a:rPr lang="zh-CN" altLang="en-US" kern="500" dirty="0">
                <a:solidFill>
                  <a:srgbClr val="000000"/>
                </a:solidFill>
                <a:cs typeface="Courier New" panose="02070309020205020404" pitchFamily="49" charset="0"/>
              </a:rPr>
              <a:t>声明了一个定时器</a:t>
            </a:r>
            <a:r>
              <a:rPr lang="en-US" altLang="zh-CN" kern="500" dirty="0" err="1">
                <a:solidFill>
                  <a:srgbClr val="000000"/>
                </a:solidFill>
                <a:cs typeface="Courier New" panose="02070309020205020404" pitchFamily="49" charset="0"/>
              </a:rPr>
              <a:t>wtimer</a:t>
            </a:r>
            <a:r>
              <a:rPr lang="zh-CN" altLang="en-US" kern="500" dirty="0">
                <a:solidFill>
                  <a:srgbClr val="000000"/>
                </a:solidFill>
                <a:cs typeface="Courier New" panose="02070309020205020404" pitchFamily="49" charset="0"/>
              </a:rPr>
              <a:t>，每隔</a:t>
            </a:r>
            <a:r>
              <a:rPr lang="en-US" altLang="zh-CN" kern="500" dirty="0">
                <a:solidFill>
                  <a:srgbClr val="000000"/>
                </a:solidFill>
                <a:cs typeface="Courier New" panose="02070309020205020404" pitchFamily="49" charset="0"/>
              </a:rPr>
              <a:t>2s</a:t>
            </a:r>
            <a:r>
              <a:rPr lang="zh-CN" altLang="en-US" kern="500" dirty="0">
                <a:solidFill>
                  <a:srgbClr val="000000"/>
                </a:solidFill>
                <a:cs typeface="Courier New" panose="02070309020205020404" pitchFamily="49" charset="0"/>
              </a:rPr>
              <a:t>就会输出指定的内容</a:t>
            </a:r>
          </a:p>
          <a:p>
            <a:pPr lvl="1"/>
            <a:endParaRPr lang="en-US" altLang="zh-CN" kern="500" dirty="0">
              <a:solidFill>
                <a:srgbClr val="000000"/>
              </a:solidFill>
              <a:cs typeface="Courier New" panose="02070309020205020404" pitchFamily="49" charset="0"/>
            </a:endParaRPr>
          </a:p>
          <a:p>
            <a:pPr lvl="1"/>
            <a:endParaRPr lang="en-US" altLang="zh-CN" sz="1800" kern="500" dirty="0">
              <a:solidFill>
                <a:srgbClr val="000000"/>
              </a:solidFill>
              <a:cs typeface="Courier New" panose="02070309020205020404" pitchFamily="49" charset="0"/>
            </a:endParaRPr>
          </a:p>
          <a:p>
            <a:pPr lvl="1"/>
            <a:endParaRPr lang="en-US" altLang="zh-CN" sz="1800" kern="500" dirty="0">
              <a:solidFill>
                <a:srgbClr val="000000"/>
              </a:solidFill>
              <a:cs typeface="Courier New" panose="02070309020205020404" pitchFamily="49" charset="0"/>
            </a:endParaRPr>
          </a:p>
          <a:p>
            <a:pPr lvl="1"/>
            <a:endParaRPr lang="en-US" altLang="zh-CN" sz="1800" kern="500" dirty="0">
              <a:solidFill>
                <a:srgbClr val="000000"/>
              </a:solidFill>
              <a:cs typeface="Courier New" panose="02070309020205020404" pitchFamily="49" charset="0"/>
            </a:endParaRPr>
          </a:p>
          <a:p>
            <a:pPr lvl="1"/>
            <a:endParaRPr lang="en-US" altLang="zh-CN" sz="1800" kern="500" dirty="0">
              <a:solidFill>
                <a:srgbClr val="000000"/>
              </a:solidFill>
              <a:cs typeface="Courier New" panose="02070309020205020404" pitchFamily="49" charset="0"/>
            </a:endParaRPr>
          </a:p>
          <a:p>
            <a:pPr lvl="1"/>
            <a:endParaRPr lang="en-US" altLang="zh-CN" sz="1800" kern="500" dirty="0">
              <a:solidFill>
                <a:srgbClr val="000000"/>
              </a:solidFill>
              <a:cs typeface="Courier New" panose="02070309020205020404" pitchFamily="49" charset="0"/>
            </a:endParaRPr>
          </a:p>
          <a:p>
            <a:pPr lvl="1"/>
            <a:endParaRPr lang="en-US" altLang="zh-CN" sz="1800" kern="500" dirty="0">
              <a:solidFill>
                <a:srgbClr val="000000"/>
              </a:solidFill>
              <a:cs typeface="Courier New" panose="02070309020205020404" pitchFamily="49" charset="0"/>
            </a:endParaRPr>
          </a:p>
          <a:p>
            <a:pPr lvl="1"/>
            <a:endParaRPr lang="en-US" altLang="zh-CN" sz="1800" kern="500" dirty="0">
              <a:solidFill>
                <a:srgbClr val="000000"/>
              </a:solidFill>
              <a:cs typeface="Courier New" panose="02070309020205020404" pitchFamily="49" charset="0"/>
            </a:endParaRPr>
          </a:p>
          <a:p>
            <a:pPr lvl="1"/>
            <a:endParaRPr lang="en-US" altLang="zh-CN" sz="1800" kern="500" dirty="0">
              <a:solidFill>
                <a:srgbClr val="000000"/>
              </a:solidFill>
              <a:cs typeface="Courier New" panose="02070309020205020404" pitchFamily="49" charset="0"/>
            </a:endParaRPr>
          </a:p>
        </p:txBody>
      </p:sp>
      <p:sp>
        <p:nvSpPr>
          <p:cNvPr id="6" name="文本框 7"/>
          <p:cNvSpPr txBox="1"/>
          <p:nvPr/>
        </p:nvSpPr>
        <p:spPr>
          <a:xfrm>
            <a:off x="629683" y="2100381"/>
            <a:ext cx="7960834" cy="407803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marR="0" lvl="0" algn="just" defTabSz="914400" rtl="0" eaLnBrk="1" fontAlgn="base" latinLnBrk="0" hangingPunct="1">
              <a:lnSpc>
                <a:spcPct val="125000"/>
              </a:lnSpc>
              <a:spcBef>
                <a:spcPct val="0"/>
              </a:spcBef>
              <a:spcAft>
                <a:spcPts val="0"/>
              </a:spcAft>
              <a:buClrTx/>
              <a:buSzTx/>
              <a:tabLst/>
              <a:defRPr/>
            </a:pPr>
            <a:r>
              <a:rPr kumimoji="0" lang="pt-BR"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PROCESS(Contiki_OS_program_process, "Contiki_OS Program Demo");</a:t>
            </a:r>
          </a:p>
          <a:p>
            <a:pPr marR="0" lvl="0" algn="just" defTabSz="914400" rtl="0" eaLnBrk="1" fontAlgn="base" latinLnBrk="0" hangingPunct="1">
              <a:lnSpc>
                <a:spcPct val="125000"/>
              </a:lnSpc>
              <a:spcBef>
                <a:spcPct val="0"/>
              </a:spcBef>
              <a:spcAft>
                <a:spcPts val="0"/>
              </a:spcAft>
              <a:buClrTx/>
              <a:buSzTx/>
              <a:tabLst/>
              <a:defRPr/>
            </a:pPr>
            <a:r>
              <a:rPr kumimoji="0" lang="pt-BR"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AUTOSTART_PROCESSES(&amp;Contiki_OS_program_process);</a:t>
            </a:r>
          </a:p>
          <a:p>
            <a:pPr marR="0" lvl="0" algn="just" defTabSz="914400" rtl="0" eaLnBrk="1" fontAlgn="base" latinLnBrk="0" hangingPunct="1">
              <a:lnSpc>
                <a:spcPct val="125000"/>
              </a:lnSpc>
              <a:spcBef>
                <a:spcPct val="0"/>
              </a:spcBef>
              <a:spcAft>
                <a:spcPts val="0"/>
              </a:spcAft>
              <a:buClrTx/>
              <a:buSzTx/>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PROCESS_THREAD(</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contiki_program_process</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ev</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data){</a:t>
            </a:r>
            <a:endParaRPr kumimoji="0" lang="zh-CN"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static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struct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
                <a:schemeClr val="tx1"/>
              </a:buClr>
              <a:buSzTx/>
              <a:tabLst/>
              <a:defRPr/>
            </a:pPr>
            <a:r>
              <a:rPr kumimoji="0" lang="en-US" altLang="zh-CN" sz="16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PROCESS_BEGIN();</a:t>
            </a:r>
            <a:endParaRPr kumimoji="0" lang="zh-CN" altLang="zh-CN" sz="16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etimer_set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CLOCK_CONF_SECOND * 2); /* 2s*/</a:t>
            </a:r>
            <a:endParaRPr kumimoji="0" lang="zh-CN"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while (1)    {</a:t>
            </a:r>
            <a:endParaRPr kumimoji="0" lang="zh-CN"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
                <a:schemeClr val="tx1"/>
              </a:buClr>
              <a:buSzTx/>
              <a:tabLst/>
              <a:defRPr/>
            </a:pPr>
            <a:r>
              <a:rPr kumimoji="0" lang="en-US" altLang="zh-CN" sz="16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PROCESS_WAIT_EVENT_UNTIL(</a:t>
            </a:r>
            <a:r>
              <a:rPr kumimoji="0" lang="en-US" altLang="zh-CN" sz="1600" b="0" i="0" u="none" strike="noStrike" kern="1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etimer_expired</a:t>
            </a:r>
            <a:r>
              <a:rPr kumimoji="0" lang="en-US" altLang="zh-CN" sz="16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6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16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printf</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(“demo. \n”);  </a:t>
            </a:r>
            <a:endParaRPr kumimoji="0" lang="zh-CN"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etimer_reset</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6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
                <a:schemeClr val="tx1"/>
              </a:buClr>
              <a:buSzTx/>
              <a:tabLst/>
              <a:defRPr/>
            </a:pPr>
            <a:r>
              <a:rPr kumimoji="0" lang="en-US" altLang="zh-CN" sz="16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PROCESS_END();</a:t>
            </a:r>
            <a:endParaRPr kumimoji="0" lang="zh-CN" altLang="zh-CN" sz="16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6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7" name="灯片编号占位符 4">
            <a:extLst>
              <a:ext uri="{FF2B5EF4-FFF2-40B4-BE49-F238E27FC236}">
                <a16:creationId xmlns:a16="http://schemas.microsoft.com/office/drawing/2014/main" id="{31D9F4F4-6BD8-412A-839F-5389B984699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30</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92252956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a:t>protothreads</a:t>
            </a:r>
            <a:r>
              <a:rPr lang="zh-CN" altLang="en-US" dirty="0"/>
              <a:t>的编程模型</a:t>
            </a:r>
          </a:p>
        </p:txBody>
      </p:sp>
      <p:sp>
        <p:nvSpPr>
          <p:cNvPr id="3" name="内容占位符 2"/>
          <p:cNvSpPr>
            <a:spLocks noGrp="1"/>
          </p:cNvSpPr>
          <p:nvPr>
            <p:ph idx="1"/>
          </p:nvPr>
        </p:nvSpPr>
        <p:spPr>
          <a:xfrm>
            <a:off x="457200" y="990600"/>
            <a:ext cx="8305800" cy="5410200"/>
          </a:xfrm>
        </p:spPr>
        <p:txBody>
          <a:bodyPr/>
          <a:lstStyle/>
          <a:p>
            <a:r>
              <a:rPr lang="zh-CN" altLang="en-US" dirty="0"/>
              <a:t>理解</a:t>
            </a:r>
            <a:r>
              <a:rPr lang="en-US" altLang="zh-CN" dirty="0"/>
              <a:t>protothreads</a:t>
            </a:r>
            <a:r>
              <a:rPr lang="zh-CN" altLang="en-US" dirty="0"/>
              <a:t>实现：宏展开</a:t>
            </a:r>
            <a:endParaRPr lang="en-US" altLang="zh-CN" dirty="0"/>
          </a:p>
          <a:p>
            <a:pPr lvl="1"/>
            <a:r>
              <a:rPr lang="zh-CN" altLang="en-US" dirty="0"/>
              <a:t>情况 </a:t>
            </a:r>
            <a:r>
              <a:rPr lang="en-US" altLang="zh-CN" dirty="0"/>
              <a:t>1: </a:t>
            </a:r>
            <a:r>
              <a:rPr lang="en-US" altLang="zh-CN" dirty="0" err="1"/>
              <a:t>wtimer</a:t>
            </a:r>
            <a:r>
              <a:rPr lang="en-US" altLang="zh-CN" dirty="0"/>
              <a:t> </a:t>
            </a:r>
            <a:r>
              <a:rPr lang="zh-CN" altLang="en-US" dirty="0"/>
              <a:t>没有</a:t>
            </a:r>
            <a:r>
              <a:rPr lang="en-US" altLang="zh-CN" dirty="0"/>
              <a:t>expired, </a:t>
            </a:r>
            <a:r>
              <a:rPr lang="zh-CN" altLang="en-US" dirty="0"/>
              <a:t>执行了</a:t>
            </a:r>
            <a:r>
              <a:rPr lang="en-US" altLang="zh-CN" dirty="0"/>
              <a:t>case 0, case 8, </a:t>
            </a:r>
            <a:r>
              <a:rPr lang="zh-CN" altLang="en-US" dirty="0"/>
              <a:t>返回</a:t>
            </a:r>
            <a:r>
              <a:rPr lang="en-US" altLang="zh-CN" dirty="0"/>
              <a:t>1, yield</a:t>
            </a:r>
          </a:p>
          <a:p>
            <a:pPr lvl="1"/>
            <a:r>
              <a:rPr lang="zh-CN" altLang="en-US" dirty="0"/>
              <a:t>情况 </a:t>
            </a:r>
            <a:r>
              <a:rPr lang="en-US" altLang="zh-CN" dirty="0"/>
              <a:t>2: </a:t>
            </a:r>
            <a:r>
              <a:rPr lang="en-US" altLang="zh-CN" dirty="0" err="1"/>
              <a:t>wtimer</a:t>
            </a:r>
            <a:r>
              <a:rPr lang="en-US" altLang="zh-CN" dirty="0"/>
              <a:t> expired, </a:t>
            </a:r>
            <a:r>
              <a:rPr lang="zh-CN" altLang="en-US" dirty="0"/>
              <a:t>执行了</a:t>
            </a:r>
            <a:r>
              <a:rPr lang="en-US" altLang="zh-CN" dirty="0"/>
              <a:t>case 8, </a:t>
            </a:r>
            <a:r>
              <a:rPr lang="zh-CN" altLang="en-US" dirty="0"/>
              <a:t>执行了</a:t>
            </a:r>
            <a:r>
              <a:rPr lang="en-US" altLang="zh-CN" dirty="0" err="1"/>
              <a:t>printf</a:t>
            </a:r>
            <a:endParaRPr lang="en-US" altLang="zh-CN" dirty="0"/>
          </a:p>
          <a:p>
            <a:endParaRPr lang="en-US" altLang="zh-CN" dirty="0"/>
          </a:p>
          <a:p>
            <a:endParaRPr lang="en-US" altLang="zh-CN" dirty="0"/>
          </a:p>
          <a:p>
            <a:endParaRPr lang="en-US" altLang="zh-CN" dirty="0"/>
          </a:p>
        </p:txBody>
      </p:sp>
      <p:sp>
        <p:nvSpPr>
          <p:cNvPr id="8" name="文本框 7"/>
          <p:cNvSpPr txBox="1"/>
          <p:nvPr/>
        </p:nvSpPr>
        <p:spPr>
          <a:xfrm>
            <a:off x="113723" y="2451548"/>
            <a:ext cx="8916554" cy="411843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PROCESS_THREAD(</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contiki_program_process</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ev</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data){</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static struct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char PT_YIELD_FLAG = 1; switch((</a:t>
            </a:r>
            <a:r>
              <a:rPr kumimoji="0" lang="en-US" altLang="zh-CN" sz="1400" b="0" i="0" u="none" strike="noStrike" kern="1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process_pt</a:t>
            </a: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)-&gt;lc) {  // PROCESS_BEGIN()</a:t>
            </a:r>
          </a:p>
          <a:p>
            <a:pPr marR="0" lvl="0" algn="just" defTabSz="914400" rtl="0" eaLnBrk="1" fontAlgn="base" latinLnBrk="0" hangingPunct="1">
              <a:lnSpc>
                <a:spcPct val="125000"/>
              </a:lnSpc>
              <a:spcBef>
                <a:spcPct val="0"/>
              </a:spcBef>
              <a:spcAft>
                <a:spcPts val="0"/>
              </a:spcAft>
              <a:buClrTx/>
              <a:buSzTx/>
              <a:tabLst/>
              <a:defRPr/>
            </a:pPr>
            <a:r>
              <a:rPr lang="en-US" altLang="zh-CN" sz="1400" kern="100" baseline="0" dirty="0">
                <a:solidFill>
                  <a:srgbClr val="C00000"/>
                </a:solidFill>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case 0:;</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etimer_set</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CLOCK_CONF_SECOND * 2); //2s</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while(1){</a:t>
            </a:r>
            <a:endParaRPr lang="en-US" altLang="zh-CN" sz="1400" kern="1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PT_YIELD_FLAG = 0;(</a:t>
            </a:r>
            <a:r>
              <a:rPr kumimoji="0" lang="en-US" altLang="zh-CN" sz="1400" b="0" i="0" u="none" strike="noStrike" kern="1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process_pt</a:t>
            </a: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)-&gt;lc = 8;  // PROCESS_WAIT_EVENT_UNTIL()</a:t>
            </a: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case 8:;  </a:t>
            </a:r>
          </a:p>
          <a:p>
            <a:pPr marR="0" lvl="0" algn="just" defTabSz="914400" rtl="0" eaLnBrk="1" fontAlgn="base" latinLnBrk="0" hangingPunct="1">
              <a:lnSpc>
                <a:spcPct val="125000"/>
              </a:lnSpc>
              <a:spcBef>
                <a:spcPct val="0"/>
              </a:spcBef>
              <a:spcAft>
                <a:spcPts val="0"/>
              </a:spcAft>
              <a:buClrTx/>
              <a:buSzTx/>
              <a:tabLst/>
              <a:defRPr/>
            </a:pPr>
            <a:r>
              <a:rPr lang="en-US" altLang="zh-CN" sz="1400" kern="100" baseline="0" dirty="0">
                <a:solidFill>
                  <a:srgbClr val="C00000"/>
                </a:solidFill>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if((PT_YIELD_FLAG == 0) || !(</a:t>
            </a:r>
            <a:r>
              <a:rPr kumimoji="0" lang="en-US" altLang="zh-CN" sz="1400" b="0" i="0" u="none" strike="noStrike" kern="1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etimer_expired</a:t>
            </a: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p>
          <a:p>
            <a:pPr marR="0" lvl="0" algn="just" defTabSz="914400" rtl="0" eaLnBrk="1" fontAlgn="base" latinLnBrk="0" hangingPunct="1">
              <a:lnSpc>
                <a:spcPct val="125000"/>
              </a:lnSpc>
              <a:spcBef>
                <a:spcPct val="0"/>
              </a:spcBef>
              <a:spcAft>
                <a:spcPts val="0"/>
              </a:spcAft>
              <a:buClrTx/>
              <a:buSzTx/>
              <a:tabLst/>
              <a:defRPr/>
            </a:pPr>
            <a:r>
              <a:rPr lang="en-US" altLang="zh-CN" sz="1400" kern="100" baseline="0" dirty="0">
                <a:solidFill>
                  <a:srgbClr val="C00000"/>
                </a:solidFill>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return 1; }</a:t>
            </a:r>
            <a:endParaRPr kumimoji="0" lang="zh-CN"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printf</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(“demo. \n”);  </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etimer_reset</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400" b="0" i="0" u="none" strike="noStrike" kern="1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wtimer</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Tx/>
              <a:buSzTx/>
              <a:tabLst/>
              <a:defRPr/>
            </a:pPr>
            <a:r>
              <a:rPr lang="en-US" altLang="zh-CN" sz="1400" kern="1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just" defTabSz="914400" rtl="0" eaLnBrk="1" fontAlgn="base" latinLnBrk="0" hangingPunct="1">
              <a:lnSpc>
                <a:spcPct val="125000"/>
              </a:lnSpc>
              <a:spcBef>
                <a:spcPct val="0"/>
              </a:spcBef>
              <a:spcAft>
                <a:spcPts val="0"/>
              </a:spcAft>
              <a:buClr>
                <a:schemeClr val="tx1"/>
              </a:buClr>
              <a:buSzTx/>
              <a:tabLst/>
              <a:defRPr/>
            </a:pPr>
            <a:r>
              <a:rPr kumimoji="0" lang="en-US" altLang="zh-CN" sz="1400" b="0" i="0" u="none" strike="noStrike" kern="100" cap="none" spc="0" normalizeH="0" baseline="0" noProof="0" dirty="0">
                <a:ln>
                  <a:noFill/>
                </a:ln>
                <a:solidFill>
                  <a:srgbClr val="FF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PT_YIELD_FLAG = 0; (</a:t>
            </a:r>
            <a:r>
              <a:rPr kumimoji="0" lang="en-US" altLang="zh-CN" sz="1400" b="0" i="0" u="none" strike="noStrike" kern="1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process_pt</a:t>
            </a:r>
            <a:r>
              <a:rPr kumimoji="0" lang="en-US" altLang="zh-CN" sz="1400" b="0" i="0" u="none" strike="noStrike" kern="1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)-&gt;lc = 0;; return 3; }; // PROCESS_END()</a:t>
            </a:r>
          </a:p>
          <a:p>
            <a:pPr marR="0" lvl="0" algn="just" defTabSz="914400" rtl="0" eaLnBrk="1" fontAlgn="base" latinLnBrk="0" hangingPunct="1">
              <a:lnSpc>
                <a:spcPct val="125000"/>
              </a:lnSpc>
              <a:spcBef>
                <a:spcPct val="0"/>
              </a:spcBef>
              <a:spcAft>
                <a:spcPts val="0"/>
              </a:spcAft>
              <a:buClrTx/>
              <a:buSzTx/>
              <a:tabLst/>
              <a:defRPr/>
            </a:pPr>
            <a:r>
              <a:rPr kumimoji="0" lang="en-US" altLang="zh-CN" sz="1400" b="0" i="0" u="none" strike="noStrike" kern="1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en-US" sz="14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9" name="灯片编号占位符 4">
            <a:extLst>
              <a:ext uri="{FF2B5EF4-FFF2-40B4-BE49-F238E27FC236}">
                <a16:creationId xmlns:a16="http://schemas.microsoft.com/office/drawing/2014/main" id="{6A24CCB3-6AB6-4C96-B31A-49322141A3F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31</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49510131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多线程库</a:t>
            </a:r>
            <a:r>
              <a:rPr lang="en-US" altLang="zh-CN" dirty="0" err="1"/>
              <a:t>mt_thread</a:t>
            </a:r>
            <a:endParaRPr lang="zh-CN" altLang="en-US" dirty="0"/>
          </a:p>
        </p:txBody>
      </p:sp>
      <p:sp>
        <p:nvSpPr>
          <p:cNvPr id="3" name="内容占位符 2"/>
          <p:cNvSpPr>
            <a:spLocks noGrp="1"/>
          </p:cNvSpPr>
          <p:nvPr>
            <p:ph idx="1"/>
          </p:nvPr>
        </p:nvSpPr>
        <p:spPr>
          <a:xfrm>
            <a:off x="457200" y="990600"/>
            <a:ext cx="8305800" cy="5410200"/>
          </a:xfrm>
        </p:spPr>
        <p:txBody>
          <a:bodyPr/>
          <a:lstStyle/>
          <a:p>
            <a:r>
              <a:rPr lang="en-US" altLang="zh-CN" dirty="0"/>
              <a:t>protothreads</a:t>
            </a:r>
            <a:r>
              <a:rPr lang="zh-CN" altLang="en-US" dirty="0"/>
              <a:t>是基于单个堆栈的，</a:t>
            </a:r>
            <a:r>
              <a:rPr lang="en-US" altLang="zh-CN" dirty="0" err="1"/>
              <a:t>mt_thread</a:t>
            </a:r>
            <a:r>
              <a:rPr lang="zh-CN" altLang="en-US" dirty="0"/>
              <a:t>是基于多个堆栈的</a:t>
            </a:r>
            <a:endParaRPr lang="en-US" altLang="zh-CN" dirty="0"/>
          </a:p>
          <a:p>
            <a:r>
              <a:rPr lang="en-US" altLang="zh-CN" dirty="0" err="1"/>
              <a:t>mt_thread</a:t>
            </a:r>
            <a:r>
              <a:rPr lang="zh-CN" altLang="en-US" dirty="0"/>
              <a:t>支持协作式调度（主动</a:t>
            </a:r>
            <a:r>
              <a:rPr lang="en-US" altLang="zh-CN" dirty="0"/>
              <a:t>yield</a:t>
            </a:r>
            <a:r>
              <a:rPr lang="zh-CN" altLang="en-US" dirty="0"/>
              <a:t>）和抢占式调度（系统负责抢占）</a:t>
            </a:r>
            <a:endParaRPr lang="en-US" altLang="zh-CN" dirty="0"/>
          </a:p>
        </p:txBody>
      </p:sp>
      <p:sp>
        <p:nvSpPr>
          <p:cNvPr id="4" name="文本框 3"/>
          <p:cNvSpPr txBox="1"/>
          <p:nvPr/>
        </p:nvSpPr>
        <p:spPr>
          <a:xfrm>
            <a:off x="76201" y="3106441"/>
            <a:ext cx="5059067" cy="304698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t>
            </a:r>
            <a:r>
              <a:rPr lang="zh-CN"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初始化库</a:t>
            </a:r>
            <a:endPar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mt_init</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t>
            </a:r>
            <a:r>
              <a:rPr lang="zh-CN"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启动一个线程</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mt_start</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struct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mt_thread</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thread</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b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b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void</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function</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 data</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t>
            </a:r>
            <a:r>
              <a:rPr lang="zh-CN"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退出一个线程</a:t>
            </a:r>
            <a:endPar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a:p>
            <a:pPr>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mt_exit</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t>
            </a:r>
            <a:r>
              <a:rPr lang="zh-CN"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执行线程</a:t>
            </a:r>
            <a:endPar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mt_exec</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struct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mt_thread</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thread</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t>
            </a:r>
            <a:r>
              <a:rPr lang="zh-CN"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终止一个线程</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mt_stop</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struct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mt_thread</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thread</a:t>
            </a:r>
            <a:r>
              <a:rPr kumimoji="0" lang="zh-CN"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p:txBody>
      </p:sp>
      <p:pic>
        <p:nvPicPr>
          <p:cNvPr id="5" name="图片 4"/>
          <p:cNvPicPr>
            <a:picLocks noChangeAspect="1"/>
          </p:cNvPicPr>
          <p:nvPr/>
        </p:nvPicPr>
        <p:blipFill rotWithShape="1">
          <a:blip r:embed="rId3"/>
          <a:srcRect l="4455" r="1456"/>
          <a:stretch/>
        </p:blipFill>
        <p:spPr>
          <a:xfrm>
            <a:off x="5222631" y="3242249"/>
            <a:ext cx="3921369" cy="2625151"/>
          </a:xfrm>
          <a:prstGeom prst="rect">
            <a:avLst/>
          </a:prstGeom>
        </p:spPr>
      </p:pic>
      <p:sp>
        <p:nvSpPr>
          <p:cNvPr id="8" name="灯片编号占位符 4">
            <a:extLst>
              <a:ext uri="{FF2B5EF4-FFF2-40B4-BE49-F238E27FC236}">
                <a16:creationId xmlns:a16="http://schemas.microsoft.com/office/drawing/2014/main" id="{8D31E430-01B5-4225-97BB-C6CDCF0F688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32</a:t>
            </a:fld>
            <a:endParaRPr lang="zh-CN" altLang="zh-CN" sz="1800" baseline="0">
              <a:solidFill>
                <a:schemeClr val="folHlink"/>
              </a:solidFill>
              <a:latin typeface="Monotype Corsiva" panose="03010101010201010101" pitchFamily="66" charset="0"/>
            </a:endParaRPr>
          </a:p>
        </p:txBody>
      </p:sp>
      <p:sp>
        <p:nvSpPr>
          <p:cNvPr id="12" name="文本框 11">
            <a:extLst>
              <a:ext uri="{FF2B5EF4-FFF2-40B4-BE49-F238E27FC236}">
                <a16:creationId xmlns:a16="http://schemas.microsoft.com/office/drawing/2014/main" id="{EAD5DB81-BA48-4150-9125-65532FC29481}"/>
              </a:ext>
            </a:extLst>
          </p:cNvPr>
          <p:cNvSpPr txBox="1"/>
          <p:nvPr/>
        </p:nvSpPr>
        <p:spPr>
          <a:xfrm>
            <a:off x="3481523" y="6185932"/>
            <a:ext cx="2956348" cy="338554"/>
          </a:xfrm>
          <a:prstGeom prst="rect">
            <a:avLst/>
          </a:prstGeom>
          <a:noFill/>
        </p:spPr>
        <p:txBody>
          <a:bodyPr wrap="square">
            <a:spAutoFit/>
          </a:bodyPr>
          <a:lstStyle/>
          <a:p>
            <a:r>
              <a:rPr lang="en-US" altLang="zh-CN" dirty="0" err="1">
                <a:latin typeface="+mj-ea"/>
                <a:ea typeface="+mj-ea"/>
              </a:rPr>
              <a:t>mt_thread</a:t>
            </a:r>
            <a:r>
              <a:rPr lang="zh-CN" altLang="en-US" dirty="0">
                <a:latin typeface="+mj-ea"/>
                <a:ea typeface="+mj-ea"/>
              </a:rPr>
              <a:t>主要</a:t>
            </a:r>
            <a:r>
              <a:rPr lang="en-US" altLang="zh-CN" dirty="0">
                <a:latin typeface="+mj-ea"/>
                <a:ea typeface="+mj-ea"/>
              </a:rPr>
              <a:t>API</a:t>
            </a:r>
            <a:r>
              <a:rPr lang="zh-CN" altLang="en-US" dirty="0">
                <a:latin typeface="+mj-ea"/>
                <a:ea typeface="+mj-ea"/>
              </a:rPr>
              <a:t>及状态转移</a:t>
            </a:r>
          </a:p>
        </p:txBody>
      </p:sp>
    </p:spTree>
    <p:extLst>
      <p:ext uri="{BB962C8B-B14F-4D97-AF65-F5344CB8AC3E}">
        <p14:creationId xmlns:p14="http://schemas.microsoft.com/office/powerpoint/2010/main" val="1680318626"/>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多线程库</a:t>
            </a:r>
            <a:r>
              <a:rPr lang="en-US" altLang="zh-CN" dirty="0" err="1"/>
              <a:t>mt_thread</a:t>
            </a:r>
            <a:endParaRPr lang="zh-CN" altLang="en-US" dirty="0"/>
          </a:p>
        </p:txBody>
      </p:sp>
      <p:sp>
        <p:nvSpPr>
          <p:cNvPr id="3" name="内容占位符 2"/>
          <p:cNvSpPr>
            <a:spLocks noGrp="1"/>
          </p:cNvSpPr>
          <p:nvPr>
            <p:ph idx="1"/>
          </p:nvPr>
        </p:nvSpPr>
        <p:spPr>
          <a:xfrm>
            <a:off x="457200" y="990600"/>
            <a:ext cx="8305800" cy="5410200"/>
          </a:xfrm>
        </p:spPr>
        <p:txBody>
          <a:bodyPr/>
          <a:lstStyle/>
          <a:p>
            <a:r>
              <a:rPr lang="zh-CN" altLang="en-US" dirty="0"/>
              <a:t>编程示例：创建两个线程，轮流输出</a:t>
            </a:r>
            <a:r>
              <a:rPr lang="en-US" altLang="zh-CN" dirty="0"/>
              <a:t>one</a:t>
            </a:r>
            <a:r>
              <a:rPr lang="zh-CN" altLang="en-US" dirty="0"/>
              <a:t>、</a:t>
            </a:r>
            <a:r>
              <a:rPr lang="en-US" altLang="zh-CN" dirty="0"/>
              <a:t>two</a:t>
            </a:r>
            <a:endParaRPr lang="zh-CN" altLang="en-US" dirty="0"/>
          </a:p>
        </p:txBody>
      </p:sp>
      <p:sp>
        <p:nvSpPr>
          <p:cNvPr id="7" name="文本框 6"/>
          <p:cNvSpPr txBox="1"/>
          <p:nvPr/>
        </p:nvSpPr>
        <p:spPr>
          <a:xfrm>
            <a:off x="381000" y="1536442"/>
            <a:ext cx="7183883" cy="501675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PROCESS_THREAD(</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multi_threading_process</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ev</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data){</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static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struct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mt_thread</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alpha_thread</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static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struct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mt_thread</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count_thread</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static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c1, c2;</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PROCESS_BEGIN();</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mt_init</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R="0" lvl="0" algn="l" defTabSz="914400" rtl="0" eaLnBrk="1" fontAlgn="base" latinLnBrk="0" hangingPunct="1">
              <a:lnSpc>
                <a:spcPct val="100000"/>
              </a:lnSpc>
              <a:spcBef>
                <a:spcPct val="0"/>
              </a:spcBef>
              <a:spcAft>
                <a:spcPct val="0"/>
              </a:spcAft>
              <a:buClr>
                <a:schemeClr val="tx1"/>
              </a:buClr>
              <a:buSzTx/>
              <a:tabLst/>
              <a:defRPr/>
            </a:pP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mt_start</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alpha_thread</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thread_main</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“one”);</a:t>
            </a:r>
            <a:r>
              <a:rPr lang="en-US" altLang="zh-CN" sz="1600" baseline="0" dirty="0">
                <a:solidFill>
                  <a:srgbClr val="C00000"/>
                </a:solidFill>
                <a:latin typeface="Courier New" panose="02070309020205020404" pitchFamily="49" charset="0"/>
                <a:ea typeface="宋体" panose="02010600030101010101" pitchFamily="2" charset="-122"/>
                <a:cs typeface="Courier New" panose="02070309020205020404" pitchFamily="49" charset="0"/>
              </a:rPr>
              <a:t>//</a:t>
            </a:r>
            <a:r>
              <a:rPr lang="zh-CN" altLang="en-US" sz="1600" baseline="0" dirty="0">
                <a:solidFill>
                  <a:srgbClr val="C00000"/>
                </a:solidFill>
                <a:latin typeface="Courier New" panose="02070309020205020404" pitchFamily="49" charset="0"/>
                <a:ea typeface="宋体" panose="02010600030101010101" pitchFamily="2" charset="-122"/>
                <a:cs typeface="Courier New" panose="02070309020205020404" pitchFamily="49" charset="0"/>
              </a:rPr>
              <a:t>初始化线程</a:t>
            </a:r>
            <a:endPar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l" defTabSz="914400" rtl="0" eaLnBrk="1" fontAlgn="base" latinLnBrk="0" hangingPunct="1">
              <a:lnSpc>
                <a:spcPct val="100000"/>
              </a:lnSpc>
              <a:spcBef>
                <a:spcPct val="0"/>
              </a:spcBef>
              <a:spcAft>
                <a:spcPct val="0"/>
              </a:spcAft>
              <a:buClr>
                <a:schemeClr val="tx1"/>
              </a:buClr>
              <a:buSzTx/>
              <a:tabLst/>
              <a:defRPr/>
            </a:pP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mt_start</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count_thread</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thread_main</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“two");</a:t>
            </a:r>
          </a:p>
          <a:p>
            <a:pPr marR="0" lvl="0" algn="l" defTabSz="914400" rtl="0" eaLnBrk="1" fontAlgn="base" latinLnBrk="0" hangingPunct="1">
              <a:lnSpc>
                <a:spcPct val="100000"/>
              </a:lnSpc>
              <a:spcBef>
                <a:spcPct val="0"/>
              </a:spcBef>
              <a:spcAft>
                <a:spcPct val="0"/>
              </a:spcAft>
              <a:buClr>
                <a:schemeClr val="tx1"/>
              </a:buClr>
              <a:buSzTx/>
              <a:tabLst/>
              <a:defRPr/>
            </a:pP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mt_exec</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alpha_thread</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a:solidFill>
                  <a:srgbClr val="C00000"/>
                </a:solidFill>
                <a:latin typeface="Courier New" panose="02070309020205020404" pitchFamily="49" charset="0"/>
                <a:ea typeface="宋体" panose="02010600030101010101" pitchFamily="2" charset="-122"/>
                <a:cs typeface="Courier New" panose="02070309020205020404" pitchFamily="49" charset="0"/>
              </a:rPr>
              <a:t>//</a:t>
            </a:r>
            <a:r>
              <a:rPr lang="zh-CN" altLang="en-US" sz="1600" baseline="0" dirty="0">
                <a:solidFill>
                  <a:srgbClr val="C00000"/>
                </a:solidFill>
                <a:latin typeface="Courier New" panose="02070309020205020404" pitchFamily="49" charset="0"/>
                <a:ea typeface="宋体" panose="02010600030101010101" pitchFamily="2" charset="-122"/>
                <a:cs typeface="Courier New" panose="02070309020205020404" pitchFamily="49" charset="0"/>
              </a:rPr>
              <a:t> 启动线程</a:t>
            </a:r>
            <a:endPar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l" defTabSz="914400" rtl="0" eaLnBrk="1" fontAlgn="base" latinLnBrk="0" hangingPunct="1">
              <a:lnSpc>
                <a:spcPct val="100000"/>
              </a:lnSpc>
              <a:spcBef>
                <a:spcPct val="0"/>
              </a:spcBef>
              <a:spcAft>
                <a:spcPct val="0"/>
              </a:spcAft>
              <a:buClr>
                <a:schemeClr val="tx1"/>
              </a:buClr>
              <a:buSzTx/>
              <a:tabLst/>
              <a:defRPr/>
            </a:pP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mt_exec</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count_thread</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while(1) {</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c1++;c2++;</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if(c1&gt;5 &amp;&amp; c2 &gt; 5){  // </a:t>
            </a:r>
            <a:r>
              <a:rPr kumimoji="0" lang="zh-CN" altLang="en-US"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当计数器大于</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5</a:t>
            </a:r>
            <a:r>
              <a:rPr kumimoji="0" lang="zh-CN" altLang="en-US"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时，停止线程</a:t>
            </a:r>
            <a:endPar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R="0" lvl="0" algn="l" defTabSz="914400" rtl="0" eaLnBrk="1" fontAlgn="base" latinLnBrk="0" hangingPunct="1">
              <a:lnSpc>
                <a:spcPct val="100000"/>
              </a:lnSpc>
              <a:spcBef>
                <a:spcPct val="0"/>
              </a:spcBef>
              <a:spcAft>
                <a:spcPct val="0"/>
              </a:spcAft>
              <a:buClr>
                <a:schemeClr val="tx1"/>
              </a:buClr>
              <a:buSzTx/>
              <a:tabLst/>
              <a:defRPr/>
            </a:pP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mt_stop</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alpha_thread</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R="0" lvl="0" algn="l" defTabSz="914400" rtl="0" eaLnBrk="1" fontAlgn="base" latinLnBrk="0" hangingPunct="1">
              <a:lnSpc>
                <a:spcPct val="100000"/>
              </a:lnSpc>
              <a:spcBef>
                <a:spcPct val="0"/>
              </a:spcBef>
              <a:spcAft>
                <a:spcPct val="0"/>
              </a:spcAft>
              <a:buClr>
                <a:schemeClr val="tx1"/>
              </a:buClr>
              <a:buSzTx/>
              <a:tabLst/>
              <a:defRPr/>
            </a:pP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mt_stop</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1600" b="0" i="0" u="none" strike="noStrike" kern="1200" cap="none" spc="0" normalizeH="0" baseline="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count_thread</a:t>
            </a:r>
            <a:r>
              <a:rPr kumimoji="0" lang="en-US" altLang="zh-CN" sz="1600" b="0" i="0" u="none" strike="noStrike" kern="1200" cap="none" spc="0" normalizeH="0" baseline="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break;</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PROCESS_END();</a:t>
            </a:r>
          </a:p>
          <a:p>
            <a:pPr marR="0" lvl="0" algn="l" defTabSz="914400" rtl="0" eaLnBrk="1" fontAlgn="base" latinLnBrk="0" hangingPunct="1">
              <a:lnSpc>
                <a:spcPct val="100000"/>
              </a:lnSpc>
              <a:spcBef>
                <a:spcPct val="0"/>
              </a:spcBef>
              <a:spcAft>
                <a:spcPct val="0"/>
              </a:spcAft>
              <a:buClrTx/>
              <a:buSzTx/>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p:txBody>
      </p:sp>
      <p:sp>
        <p:nvSpPr>
          <p:cNvPr id="5" name="文本框 4"/>
          <p:cNvSpPr txBox="1"/>
          <p:nvPr/>
        </p:nvSpPr>
        <p:spPr>
          <a:xfrm>
            <a:off x="6677435" y="3429000"/>
            <a:ext cx="2439613" cy="206210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static void </a:t>
            </a:r>
            <a:r>
              <a:rPr kumimoji="0" lang="en-US" altLang="zh-CN" sz="16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thread_main</a:t>
            </a: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(void *data)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while(1)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puts(data);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endParaRPr kumimoji="0" lang="zh-CN" altLang="en-US" sz="16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endParaRPr>
          </a:p>
        </p:txBody>
      </p:sp>
      <p:sp>
        <p:nvSpPr>
          <p:cNvPr id="8" name="灯片编号占位符 4">
            <a:extLst>
              <a:ext uri="{FF2B5EF4-FFF2-40B4-BE49-F238E27FC236}">
                <a16:creationId xmlns:a16="http://schemas.microsoft.com/office/drawing/2014/main" id="{37E27235-4413-45F8-BF6D-489B4DD55B7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33</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65067170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FFCD3F-0530-467D-A058-9440986C9FB8}"/>
              </a:ext>
            </a:extLst>
          </p:cNvPr>
          <p:cNvSpPr>
            <a:spLocks noGrp="1"/>
          </p:cNvSpPr>
          <p:nvPr>
            <p:ph type="title"/>
          </p:nvPr>
        </p:nvSpPr>
        <p:spPr>
          <a:xfrm>
            <a:off x="393700" y="38100"/>
            <a:ext cx="8242300" cy="914400"/>
          </a:xfrm>
        </p:spPr>
        <p:txBody>
          <a:bodyPr/>
          <a:lstStyle/>
          <a:p>
            <a:r>
              <a:rPr lang="zh-CN" altLang="en-US" dirty="0"/>
              <a:t>网络服务</a:t>
            </a:r>
          </a:p>
        </p:txBody>
      </p:sp>
      <p:sp>
        <p:nvSpPr>
          <p:cNvPr id="3" name="内容占位符 2">
            <a:extLst>
              <a:ext uri="{FF2B5EF4-FFF2-40B4-BE49-F238E27FC236}">
                <a16:creationId xmlns:a16="http://schemas.microsoft.com/office/drawing/2014/main" id="{8F5DD063-1BA1-4959-BBF8-DF78778B20A2}"/>
              </a:ext>
            </a:extLst>
          </p:cNvPr>
          <p:cNvSpPr>
            <a:spLocks noGrp="1"/>
          </p:cNvSpPr>
          <p:nvPr>
            <p:ph idx="1"/>
          </p:nvPr>
        </p:nvSpPr>
        <p:spPr>
          <a:xfrm>
            <a:off x="457200" y="990600"/>
            <a:ext cx="8305800" cy="5410200"/>
          </a:xfrm>
        </p:spPr>
        <p:txBody>
          <a:bodyPr/>
          <a:lstStyle/>
          <a:p>
            <a:r>
              <a:rPr lang="zh-CN" altLang="en-US" dirty="0"/>
              <a:t>基于</a:t>
            </a:r>
            <a:r>
              <a:rPr lang="en-US" altLang="zh-CN" dirty="0" err="1"/>
              <a:t>uIP</a:t>
            </a:r>
            <a:r>
              <a:rPr lang="en-US" altLang="zh-CN" dirty="0"/>
              <a:t> </a:t>
            </a:r>
            <a:r>
              <a:rPr lang="zh-CN" altLang="en-US" dirty="0"/>
              <a:t>的</a:t>
            </a:r>
            <a:r>
              <a:rPr lang="en-US" altLang="zh-CN" dirty="0"/>
              <a:t>TCP/IP </a:t>
            </a:r>
            <a:r>
              <a:rPr lang="zh-CN" altLang="en-US" dirty="0"/>
              <a:t>协议栈：</a:t>
            </a:r>
            <a:r>
              <a:rPr lang="en-US" altLang="zh-CN" sz="2000" b="0" dirty="0" err="1"/>
              <a:t>uIP</a:t>
            </a:r>
            <a:r>
              <a:rPr lang="en-US" altLang="zh-CN" sz="2000" b="0" dirty="0"/>
              <a:t> </a:t>
            </a:r>
            <a:r>
              <a:rPr lang="zh-CN" altLang="en-US" sz="2000" b="0" dirty="0"/>
              <a:t>将</a:t>
            </a:r>
            <a:r>
              <a:rPr lang="en-US" altLang="zh-CN" sz="2000" b="0" dirty="0"/>
              <a:t>TCP/IP </a:t>
            </a:r>
            <a:r>
              <a:rPr lang="zh-CN" altLang="en-US" sz="2000" b="0" dirty="0"/>
              <a:t>协议栈精简为必须的最小的功能集合，减少内存占用</a:t>
            </a:r>
            <a:endParaRPr lang="zh-CN" altLang="en-US" b="0" dirty="0"/>
          </a:p>
          <a:p>
            <a:r>
              <a:rPr lang="en-US" altLang="zh-CN" dirty="0"/>
              <a:t>6LowPAN</a:t>
            </a:r>
            <a:r>
              <a:rPr lang="zh-CN" altLang="en-US" dirty="0"/>
              <a:t>：</a:t>
            </a:r>
            <a:r>
              <a:rPr lang="zh-CN" altLang="en-US" sz="2000" b="0" dirty="0"/>
              <a:t>功能主要包括数据包的分割重组、</a:t>
            </a:r>
            <a:r>
              <a:rPr lang="en-US" altLang="zh-CN" sz="2000" b="0" dirty="0"/>
              <a:t>IPv6 </a:t>
            </a:r>
            <a:r>
              <a:rPr lang="zh-CN" altLang="en-US" sz="2000" b="0" dirty="0"/>
              <a:t>包头的压缩和</a:t>
            </a:r>
            <a:r>
              <a:rPr lang="en-US" altLang="zh-CN" sz="2000" b="0" dirty="0"/>
              <a:t>UDP </a:t>
            </a:r>
            <a:r>
              <a:rPr lang="zh-CN" altLang="en-US" sz="2000" b="0" dirty="0"/>
              <a:t>包头的压缩</a:t>
            </a:r>
            <a:endParaRPr lang="zh-CN" altLang="en-US" b="0" dirty="0"/>
          </a:p>
          <a:p>
            <a:r>
              <a:rPr lang="en-US" altLang="zh-CN" dirty="0"/>
              <a:t>RPL: </a:t>
            </a:r>
            <a:r>
              <a:rPr lang="zh-CN" altLang="en-US" sz="2000" b="0" dirty="0"/>
              <a:t>一种针对低功耗有损网络设计的</a:t>
            </a:r>
            <a:r>
              <a:rPr lang="en-US" altLang="zh-CN" sz="2000" b="0" dirty="0"/>
              <a:t>IPv6</a:t>
            </a:r>
            <a:r>
              <a:rPr lang="zh-CN" altLang="en-US" sz="2000" b="0" dirty="0"/>
              <a:t>距离矢量路由协议。它支持多种网络通信模式，例如一对多（数据分发模式）、多对一（数据收集模式）和一对一（点对点模式）</a:t>
            </a:r>
          </a:p>
          <a:p>
            <a:endParaRPr lang="zh-CN" altLang="en-US" dirty="0"/>
          </a:p>
        </p:txBody>
      </p:sp>
      <p:sp>
        <p:nvSpPr>
          <p:cNvPr id="7" name="灯片编号占位符 4">
            <a:extLst>
              <a:ext uri="{FF2B5EF4-FFF2-40B4-BE49-F238E27FC236}">
                <a16:creationId xmlns:a16="http://schemas.microsoft.com/office/drawing/2014/main" id="{C6C62427-7B27-4E43-8656-C09BCDF356A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34</a:t>
            </a:fld>
            <a:endParaRPr lang="zh-CN" altLang="zh-CN" sz="1800" baseline="0">
              <a:solidFill>
                <a:schemeClr val="folHlink"/>
              </a:solidFill>
              <a:latin typeface="Monotype Corsiva" panose="03010101010201010101" pitchFamily="66" charset="0"/>
            </a:endParaRPr>
          </a:p>
        </p:txBody>
      </p:sp>
      <p:graphicFrame>
        <p:nvGraphicFramePr>
          <p:cNvPr id="10" name="表格 9">
            <a:extLst>
              <a:ext uri="{FF2B5EF4-FFF2-40B4-BE49-F238E27FC236}">
                <a16:creationId xmlns:a16="http://schemas.microsoft.com/office/drawing/2014/main" id="{899CC5AD-92CF-46FB-880E-DE7B1EE41354}"/>
              </a:ext>
            </a:extLst>
          </p:cNvPr>
          <p:cNvGraphicFramePr>
            <a:graphicFrameLocks noGrp="1"/>
          </p:cNvGraphicFramePr>
          <p:nvPr>
            <p:extLst>
              <p:ext uri="{D42A27DB-BD31-4B8C-83A1-F6EECF244321}">
                <p14:modId xmlns:p14="http://schemas.microsoft.com/office/powerpoint/2010/main" val="1807720239"/>
              </p:ext>
            </p:extLst>
          </p:nvPr>
        </p:nvGraphicFramePr>
        <p:xfrm>
          <a:off x="830874" y="4259358"/>
          <a:ext cx="7482253" cy="2141440"/>
        </p:xfrm>
        <a:graphic>
          <a:graphicData uri="http://schemas.openxmlformats.org/drawingml/2006/table">
            <a:tbl>
              <a:tblPr firstRow="1" firstCol="1" bandRow="1">
                <a:tableStyleId>{93296810-A885-4BE3-A3E7-6D5BEEA58F35}</a:tableStyleId>
              </a:tblPr>
              <a:tblGrid>
                <a:gridCol w="2936050">
                  <a:extLst>
                    <a:ext uri="{9D8B030D-6E8A-4147-A177-3AD203B41FA5}">
                      <a16:colId xmlns:a16="http://schemas.microsoft.com/office/drawing/2014/main" val="4064596448"/>
                    </a:ext>
                  </a:extLst>
                </a:gridCol>
                <a:gridCol w="1408182">
                  <a:extLst>
                    <a:ext uri="{9D8B030D-6E8A-4147-A177-3AD203B41FA5}">
                      <a16:colId xmlns:a16="http://schemas.microsoft.com/office/drawing/2014/main" val="235351968"/>
                    </a:ext>
                  </a:extLst>
                </a:gridCol>
                <a:gridCol w="3138021">
                  <a:extLst>
                    <a:ext uri="{9D8B030D-6E8A-4147-A177-3AD203B41FA5}">
                      <a16:colId xmlns:a16="http://schemas.microsoft.com/office/drawing/2014/main" val="1504945694"/>
                    </a:ext>
                  </a:extLst>
                </a:gridCol>
              </a:tblGrid>
              <a:tr h="428288">
                <a:tc>
                  <a:txBody>
                    <a:bodyPr/>
                    <a:lstStyle/>
                    <a:p>
                      <a:pPr algn="ctr"/>
                      <a:r>
                        <a:rPr lang="zh-CN" sz="2000" kern="500">
                          <a:effectLst/>
                          <a:latin typeface="+mj-ea"/>
                          <a:ea typeface="+mj-ea"/>
                        </a:rPr>
                        <a:t>网络服务</a:t>
                      </a:r>
                      <a:endParaRPr lang="zh-CN" sz="2000" kern="100">
                        <a:effectLst/>
                        <a:latin typeface="+mj-ea"/>
                        <a:ea typeface="+mj-ea"/>
                      </a:endParaRPr>
                    </a:p>
                  </a:txBody>
                  <a:tcPr marL="36195" marR="36195" marT="0" marB="0" anchor="ctr"/>
                </a:tc>
                <a:tc>
                  <a:txBody>
                    <a:bodyPr/>
                    <a:lstStyle/>
                    <a:p>
                      <a:pPr algn="ctr"/>
                      <a:r>
                        <a:rPr lang="zh-CN" sz="2000" kern="500">
                          <a:effectLst/>
                          <a:latin typeface="+mj-ea"/>
                          <a:ea typeface="+mj-ea"/>
                        </a:rPr>
                        <a:t>协议名称</a:t>
                      </a:r>
                      <a:endParaRPr lang="zh-CN" sz="2000" kern="100">
                        <a:effectLst/>
                        <a:latin typeface="+mj-ea"/>
                        <a:ea typeface="+mj-ea"/>
                      </a:endParaRPr>
                    </a:p>
                  </a:txBody>
                  <a:tcPr marL="36195" marR="36195" marT="0" marB="0" anchor="ctr"/>
                </a:tc>
                <a:tc>
                  <a:txBody>
                    <a:bodyPr/>
                    <a:lstStyle/>
                    <a:p>
                      <a:pPr algn="ctr"/>
                      <a:r>
                        <a:rPr lang="zh-CN" sz="2000" kern="500">
                          <a:effectLst/>
                          <a:latin typeface="+mj-ea"/>
                          <a:ea typeface="+mj-ea"/>
                        </a:rPr>
                        <a:t>提供服务</a:t>
                      </a:r>
                      <a:endParaRPr lang="zh-CN" sz="2000" kern="100">
                        <a:effectLst/>
                        <a:latin typeface="+mj-ea"/>
                        <a:ea typeface="+mj-ea"/>
                      </a:endParaRPr>
                    </a:p>
                  </a:txBody>
                  <a:tcPr marL="36195" marR="36195" marT="0" marB="0" anchor="ctr"/>
                </a:tc>
                <a:extLst>
                  <a:ext uri="{0D108BD9-81ED-4DB2-BD59-A6C34878D82A}">
                    <a16:rowId xmlns:a16="http://schemas.microsoft.com/office/drawing/2014/main" val="1309843157"/>
                  </a:ext>
                </a:extLst>
              </a:tr>
              <a:tr h="428288">
                <a:tc>
                  <a:txBody>
                    <a:bodyPr/>
                    <a:lstStyle/>
                    <a:p>
                      <a:pPr algn="ctr"/>
                      <a:r>
                        <a:rPr lang="zh-CN" sz="2000" kern="500">
                          <a:effectLst/>
                          <a:latin typeface="+mj-ea"/>
                          <a:ea typeface="+mj-ea"/>
                        </a:rPr>
                        <a:t>精简的</a:t>
                      </a:r>
                      <a:r>
                        <a:rPr lang="en-US" sz="2000" kern="500">
                          <a:effectLst/>
                          <a:latin typeface="+mj-ea"/>
                          <a:ea typeface="+mj-ea"/>
                        </a:rPr>
                        <a:t>TCP/IP</a:t>
                      </a:r>
                      <a:r>
                        <a:rPr lang="zh-CN" sz="2000" kern="500">
                          <a:effectLst/>
                          <a:latin typeface="+mj-ea"/>
                          <a:ea typeface="+mj-ea"/>
                        </a:rPr>
                        <a:t>协议栈</a:t>
                      </a:r>
                      <a:endParaRPr lang="zh-CN" sz="2000" kern="100">
                        <a:effectLst/>
                        <a:latin typeface="+mj-ea"/>
                        <a:ea typeface="+mj-ea"/>
                      </a:endParaRPr>
                    </a:p>
                  </a:txBody>
                  <a:tcPr marL="36195" marR="36195" marT="0" marB="0" anchor="ctr"/>
                </a:tc>
                <a:tc>
                  <a:txBody>
                    <a:bodyPr/>
                    <a:lstStyle/>
                    <a:p>
                      <a:pPr algn="ctr"/>
                      <a:r>
                        <a:rPr lang="en-US" sz="2000" kern="500">
                          <a:effectLst/>
                          <a:latin typeface="+mj-ea"/>
                          <a:ea typeface="+mj-ea"/>
                        </a:rPr>
                        <a:t>uIP</a:t>
                      </a:r>
                      <a:endParaRPr lang="zh-CN" sz="2000" kern="100">
                        <a:effectLst/>
                        <a:latin typeface="+mj-ea"/>
                        <a:ea typeface="+mj-ea"/>
                      </a:endParaRPr>
                    </a:p>
                  </a:txBody>
                  <a:tcPr marL="36195" marR="36195" marT="0" marB="0" anchor="ctr"/>
                </a:tc>
                <a:tc>
                  <a:txBody>
                    <a:bodyPr/>
                    <a:lstStyle/>
                    <a:p>
                      <a:pPr algn="ctr"/>
                      <a:r>
                        <a:rPr lang="en-US" sz="2000" kern="500">
                          <a:effectLst/>
                          <a:latin typeface="+mj-ea"/>
                          <a:ea typeface="+mj-ea"/>
                        </a:rPr>
                        <a:t>TCP</a:t>
                      </a:r>
                      <a:r>
                        <a:rPr lang="zh-CN" sz="2000" kern="500">
                          <a:effectLst/>
                          <a:latin typeface="+mj-ea"/>
                          <a:ea typeface="+mj-ea"/>
                        </a:rPr>
                        <a:t>、</a:t>
                      </a:r>
                      <a:r>
                        <a:rPr lang="en-US" sz="2000" kern="500">
                          <a:effectLst/>
                          <a:latin typeface="+mj-ea"/>
                          <a:ea typeface="+mj-ea"/>
                        </a:rPr>
                        <a:t>UDP</a:t>
                      </a:r>
                      <a:r>
                        <a:rPr lang="zh-CN" sz="2000" kern="500">
                          <a:effectLst/>
                          <a:latin typeface="+mj-ea"/>
                          <a:ea typeface="+mj-ea"/>
                        </a:rPr>
                        <a:t>、</a:t>
                      </a:r>
                      <a:r>
                        <a:rPr lang="en-US" sz="2000" kern="500">
                          <a:effectLst/>
                          <a:latin typeface="+mj-ea"/>
                          <a:ea typeface="+mj-ea"/>
                        </a:rPr>
                        <a:t>ICMP</a:t>
                      </a:r>
                      <a:r>
                        <a:rPr lang="zh-CN" sz="2000" kern="500">
                          <a:effectLst/>
                          <a:latin typeface="+mj-ea"/>
                          <a:ea typeface="+mj-ea"/>
                        </a:rPr>
                        <a:t>、</a:t>
                      </a:r>
                      <a:r>
                        <a:rPr lang="en-US" sz="2000" kern="500">
                          <a:effectLst/>
                          <a:latin typeface="+mj-ea"/>
                          <a:ea typeface="+mj-ea"/>
                        </a:rPr>
                        <a:t>IP</a:t>
                      </a:r>
                      <a:endParaRPr lang="zh-CN" sz="2000" kern="100">
                        <a:effectLst/>
                        <a:latin typeface="+mj-ea"/>
                        <a:ea typeface="+mj-ea"/>
                      </a:endParaRPr>
                    </a:p>
                  </a:txBody>
                  <a:tcPr marL="36195" marR="36195" marT="0" marB="0" anchor="ctr"/>
                </a:tc>
                <a:extLst>
                  <a:ext uri="{0D108BD9-81ED-4DB2-BD59-A6C34878D82A}">
                    <a16:rowId xmlns:a16="http://schemas.microsoft.com/office/drawing/2014/main" val="2042691467"/>
                  </a:ext>
                </a:extLst>
              </a:tr>
              <a:tr h="856576">
                <a:tc>
                  <a:txBody>
                    <a:bodyPr/>
                    <a:lstStyle/>
                    <a:p>
                      <a:pPr algn="ctr"/>
                      <a:r>
                        <a:rPr lang="en-US" sz="2000" kern="500">
                          <a:effectLst/>
                          <a:latin typeface="+mj-ea"/>
                          <a:ea typeface="+mj-ea"/>
                        </a:rPr>
                        <a:t>IPv6</a:t>
                      </a:r>
                      <a:r>
                        <a:rPr lang="zh-CN" sz="2000" kern="500">
                          <a:effectLst/>
                          <a:latin typeface="+mj-ea"/>
                          <a:ea typeface="+mj-ea"/>
                        </a:rPr>
                        <a:t>层的适配层服务</a:t>
                      </a:r>
                      <a:endParaRPr lang="zh-CN" sz="2000" kern="100">
                        <a:effectLst/>
                        <a:latin typeface="+mj-ea"/>
                        <a:ea typeface="+mj-ea"/>
                      </a:endParaRPr>
                    </a:p>
                  </a:txBody>
                  <a:tcPr marL="36195" marR="36195" marT="0" marB="0" anchor="ctr"/>
                </a:tc>
                <a:tc>
                  <a:txBody>
                    <a:bodyPr/>
                    <a:lstStyle/>
                    <a:p>
                      <a:pPr algn="ctr"/>
                      <a:r>
                        <a:rPr lang="en-US" sz="2000" kern="500">
                          <a:effectLst/>
                          <a:latin typeface="+mj-ea"/>
                          <a:ea typeface="+mj-ea"/>
                        </a:rPr>
                        <a:t>6LowPAN</a:t>
                      </a:r>
                      <a:endParaRPr lang="zh-CN" sz="2000" kern="100">
                        <a:effectLst/>
                        <a:latin typeface="+mj-ea"/>
                        <a:ea typeface="+mj-ea"/>
                      </a:endParaRPr>
                    </a:p>
                  </a:txBody>
                  <a:tcPr marL="36195" marR="36195" marT="0" marB="0" anchor="ctr"/>
                </a:tc>
                <a:tc>
                  <a:txBody>
                    <a:bodyPr/>
                    <a:lstStyle/>
                    <a:p>
                      <a:pPr algn="ctr"/>
                      <a:r>
                        <a:rPr lang="en-US" sz="2000" kern="500">
                          <a:effectLst/>
                          <a:latin typeface="+mj-ea"/>
                          <a:ea typeface="+mj-ea"/>
                        </a:rPr>
                        <a:t>IPv6</a:t>
                      </a:r>
                      <a:r>
                        <a:rPr lang="zh-CN" sz="2000" kern="500">
                          <a:effectLst/>
                          <a:latin typeface="+mj-ea"/>
                          <a:ea typeface="+mj-ea"/>
                        </a:rPr>
                        <a:t>数据包的分割重组和包头压缩</a:t>
                      </a:r>
                      <a:endParaRPr lang="zh-CN" sz="2000" kern="100">
                        <a:effectLst/>
                        <a:latin typeface="+mj-ea"/>
                        <a:ea typeface="+mj-ea"/>
                      </a:endParaRPr>
                    </a:p>
                  </a:txBody>
                  <a:tcPr marL="36195" marR="36195" marT="0" marB="0" anchor="ctr"/>
                </a:tc>
                <a:extLst>
                  <a:ext uri="{0D108BD9-81ED-4DB2-BD59-A6C34878D82A}">
                    <a16:rowId xmlns:a16="http://schemas.microsoft.com/office/drawing/2014/main" val="2468976102"/>
                  </a:ext>
                </a:extLst>
              </a:tr>
              <a:tr h="428288">
                <a:tc>
                  <a:txBody>
                    <a:bodyPr/>
                    <a:lstStyle/>
                    <a:p>
                      <a:pPr algn="ctr"/>
                      <a:r>
                        <a:rPr lang="zh-CN" sz="2000" kern="500">
                          <a:effectLst/>
                          <a:latin typeface="+mj-ea"/>
                          <a:ea typeface="+mj-ea"/>
                        </a:rPr>
                        <a:t>数据分发和收集服务</a:t>
                      </a:r>
                      <a:endParaRPr lang="zh-CN" sz="2000" kern="100">
                        <a:effectLst/>
                        <a:latin typeface="+mj-ea"/>
                        <a:ea typeface="+mj-ea"/>
                      </a:endParaRPr>
                    </a:p>
                  </a:txBody>
                  <a:tcPr marL="36195" marR="36195" marT="0" marB="0" anchor="ctr"/>
                </a:tc>
                <a:tc>
                  <a:txBody>
                    <a:bodyPr/>
                    <a:lstStyle/>
                    <a:p>
                      <a:pPr algn="ctr"/>
                      <a:r>
                        <a:rPr lang="en-US" sz="2000" kern="500">
                          <a:effectLst/>
                          <a:latin typeface="+mj-ea"/>
                          <a:ea typeface="+mj-ea"/>
                        </a:rPr>
                        <a:t>RPL</a:t>
                      </a:r>
                      <a:endParaRPr lang="zh-CN" sz="2000" kern="100">
                        <a:effectLst/>
                        <a:latin typeface="+mj-ea"/>
                        <a:ea typeface="+mj-ea"/>
                      </a:endParaRPr>
                    </a:p>
                  </a:txBody>
                  <a:tcPr marL="36195" marR="36195" marT="0" marB="0" anchor="ctr"/>
                </a:tc>
                <a:tc>
                  <a:txBody>
                    <a:bodyPr/>
                    <a:lstStyle/>
                    <a:p>
                      <a:pPr algn="ctr"/>
                      <a:r>
                        <a:rPr lang="zh-CN" sz="2000" kern="500" dirty="0">
                          <a:effectLst/>
                          <a:latin typeface="+mj-ea"/>
                          <a:ea typeface="+mj-ea"/>
                        </a:rPr>
                        <a:t>多种数据的收集和分发</a:t>
                      </a:r>
                      <a:endParaRPr lang="zh-CN" sz="2000" kern="100" dirty="0">
                        <a:effectLst/>
                        <a:latin typeface="+mj-ea"/>
                        <a:ea typeface="+mj-ea"/>
                      </a:endParaRPr>
                    </a:p>
                  </a:txBody>
                  <a:tcPr marL="36195" marR="36195" marT="0" marB="0" anchor="ctr"/>
                </a:tc>
                <a:extLst>
                  <a:ext uri="{0D108BD9-81ED-4DB2-BD59-A6C34878D82A}">
                    <a16:rowId xmlns:a16="http://schemas.microsoft.com/office/drawing/2014/main" val="1866272551"/>
                  </a:ext>
                </a:extLst>
              </a:tr>
            </a:tbl>
          </a:graphicData>
        </a:graphic>
      </p:graphicFrame>
    </p:spTree>
    <p:extLst>
      <p:ext uri="{BB962C8B-B14F-4D97-AF65-F5344CB8AC3E}">
        <p14:creationId xmlns:p14="http://schemas.microsoft.com/office/powerpoint/2010/main" val="427287494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思考题</a:t>
            </a:r>
            <a:endParaRPr lang="zh-CN" altLang="en-US" dirty="0"/>
          </a:p>
        </p:txBody>
      </p:sp>
      <p:sp>
        <p:nvSpPr>
          <p:cNvPr id="5" name="内容占位符 2"/>
          <p:cNvSpPr>
            <a:spLocks noGrp="1"/>
          </p:cNvSpPr>
          <p:nvPr>
            <p:ph idx="1"/>
          </p:nvPr>
        </p:nvSpPr>
        <p:spPr>
          <a:xfrm>
            <a:off x="457200" y="990600"/>
            <a:ext cx="8305800" cy="5410200"/>
          </a:xfrm>
        </p:spPr>
        <p:txBody>
          <a:bodyPr/>
          <a:lstStyle/>
          <a:p>
            <a:r>
              <a:rPr lang="zh-CN" altLang="en-US" dirty="0"/>
              <a:t>从提供的服务角度来看，</a:t>
            </a:r>
            <a:r>
              <a:rPr lang="en-US" altLang="zh-CN" dirty="0"/>
              <a:t>CTP</a:t>
            </a:r>
            <a:r>
              <a:rPr lang="zh-CN" altLang="en-US" dirty="0"/>
              <a:t>和</a:t>
            </a:r>
            <a:r>
              <a:rPr lang="en-US" altLang="zh-CN" dirty="0"/>
              <a:t>RPL</a:t>
            </a:r>
            <a:r>
              <a:rPr lang="zh-CN" altLang="en-US" dirty="0"/>
              <a:t>有什么区别？</a:t>
            </a:r>
            <a:endParaRPr lang="en-US" altLang="zh-CN" dirty="0"/>
          </a:p>
          <a:p>
            <a:pPr lvl="1"/>
            <a:endParaRPr lang="en-US" altLang="zh-CN" dirty="0"/>
          </a:p>
          <a:p>
            <a:pPr lvl="1"/>
            <a:endParaRPr lang="en-US" altLang="zh-CN" dirty="0"/>
          </a:p>
          <a:p>
            <a:pPr lvl="1"/>
            <a:endParaRPr lang="en-US" altLang="zh-CN" dirty="0"/>
          </a:p>
          <a:p>
            <a:pPr lvl="1"/>
            <a:endParaRPr lang="zh-CN" altLang="en-US" dirty="0"/>
          </a:p>
          <a:p>
            <a:pPr lvl="3"/>
            <a:endParaRPr lang="en-US" altLang="zh-CN" dirty="0"/>
          </a:p>
        </p:txBody>
      </p:sp>
      <p:sp>
        <p:nvSpPr>
          <p:cNvPr id="7" name="灯片编号占位符 4">
            <a:extLst>
              <a:ext uri="{FF2B5EF4-FFF2-40B4-BE49-F238E27FC236}">
                <a16:creationId xmlns:a16="http://schemas.microsoft.com/office/drawing/2014/main" id="{78444A33-57C7-41D8-874A-1C79C1589FF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35</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087165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a:t>shell</a:t>
            </a:r>
            <a:r>
              <a:rPr lang="zh-CN" altLang="en-US" dirty="0"/>
              <a:t>的交互式编程</a:t>
            </a:r>
          </a:p>
        </p:txBody>
      </p:sp>
      <p:sp>
        <p:nvSpPr>
          <p:cNvPr id="3" name="内容占位符 2"/>
          <p:cNvSpPr>
            <a:spLocks noGrp="1"/>
          </p:cNvSpPr>
          <p:nvPr>
            <p:ph idx="1"/>
          </p:nvPr>
        </p:nvSpPr>
        <p:spPr>
          <a:xfrm>
            <a:off x="457200" y="990600"/>
            <a:ext cx="8305800" cy="5410200"/>
          </a:xfrm>
        </p:spPr>
        <p:txBody>
          <a:bodyPr/>
          <a:lstStyle/>
          <a:p>
            <a:r>
              <a:rPr lang="en-US" altLang="zh-CN" dirty="0"/>
              <a:t>Contiki OS </a:t>
            </a:r>
            <a:r>
              <a:rPr lang="zh-CN" altLang="en-US" dirty="0"/>
              <a:t>的</a:t>
            </a:r>
            <a:r>
              <a:rPr lang="en-US" altLang="zh-CN" dirty="0"/>
              <a:t>sky-shell</a:t>
            </a:r>
            <a:r>
              <a:rPr lang="zh-CN" altLang="en-US" dirty="0"/>
              <a:t>的样例中，默认提供了多种交互式命令</a:t>
            </a:r>
            <a:endParaRPr lang="en-US" altLang="zh-CN" dirty="0"/>
          </a:p>
          <a:p>
            <a:pPr lvl="1"/>
            <a:r>
              <a:rPr lang="zh-CN" altLang="en-US" dirty="0"/>
              <a:t>当把样例程序烧录在节点上之后，能够登录到节点中，执行传感数据采集（</a:t>
            </a:r>
            <a:r>
              <a:rPr lang="en-US" altLang="zh-CN" dirty="0"/>
              <a:t>sense</a:t>
            </a:r>
            <a:r>
              <a:rPr lang="zh-CN" altLang="en-US" dirty="0"/>
              <a:t>）、改变发送能量（</a:t>
            </a:r>
            <a:r>
              <a:rPr lang="en-US" altLang="zh-CN" dirty="0" err="1"/>
              <a:t>txpower</a:t>
            </a:r>
            <a:r>
              <a:rPr lang="zh-CN" altLang="en-US" dirty="0"/>
              <a:t>）和改变通信信道（</a:t>
            </a:r>
            <a:r>
              <a:rPr lang="en-US" altLang="zh-CN" dirty="0" err="1"/>
              <a:t>rfchannel</a:t>
            </a:r>
            <a:r>
              <a:rPr lang="zh-CN" altLang="en-US" dirty="0"/>
              <a:t>）等操作</a:t>
            </a:r>
          </a:p>
        </p:txBody>
      </p:sp>
      <p:sp>
        <p:nvSpPr>
          <p:cNvPr id="7" name="灯片编号占位符 4">
            <a:extLst>
              <a:ext uri="{FF2B5EF4-FFF2-40B4-BE49-F238E27FC236}">
                <a16:creationId xmlns:a16="http://schemas.microsoft.com/office/drawing/2014/main" id="{63CE0754-2CA9-4935-AEAE-DB028029E97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36</a:t>
            </a:fld>
            <a:endParaRPr lang="zh-CN" altLang="zh-CN" sz="1800" baseline="0">
              <a:solidFill>
                <a:schemeClr val="folHlink"/>
              </a:solidFill>
              <a:latin typeface="Monotype Corsiva" panose="03010101010201010101" pitchFamily="66" charset="0"/>
            </a:endParaRPr>
          </a:p>
        </p:txBody>
      </p:sp>
      <p:sp>
        <p:nvSpPr>
          <p:cNvPr id="8" name="文本框 7">
            <a:extLst>
              <a:ext uri="{FF2B5EF4-FFF2-40B4-BE49-F238E27FC236}">
                <a16:creationId xmlns:a16="http://schemas.microsoft.com/office/drawing/2014/main" id="{F64FFAC7-05FE-4BA2-81B6-53E42FC38A1D}"/>
              </a:ext>
            </a:extLst>
          </p:cNvPr>
          <p:cNvSpPr txBox="1"/>
          <p:nvPr/>
        </p:nvSpPr>
        <p:spPr>
          <a:xfrm>
            <a:off x="915430" y="3429000"/>
            <a:ext cx="7313140" cy="255454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 make TARGET=sky sky-</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shell.upload</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savetarget</a:t>
            </a:r>
            <a:endPar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 make login</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$ 5.0: Contiki OS&gt;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sense|senseconv</a:t>
            </a:r>
            <a:endPar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SEND 16 bytes</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Light 1 4</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Light 2 13</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Temperature 23.2</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Relative humidity 79 </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RSSI 8</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Voltage 2.5</a:t>
            </a:r>
          </a:p>
        </p:txBody>
      </p:sp>
    </p:spTree>
    <p:extLst>
      <p:ext uri="{BB962C8B-B14F-4D97-AF65-F5344CB8AC3E}">
        <p14:creationId xmlns:p14="http://schemas.microsoft.com/office/powerpoint/2010/main" val="279810104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a:t>shell</a:t>
            </a:r>
            <a:r>
              <a:rPr lang="zh-CN" altLang="en-US" dirty="0"/>
              <a:t>的交互式编程</a:t>
            </a:r>
          </a:p>
        </p:txBody>
      </p:sp>
      <p:sp>
        <p:nvSpPr>
          <p:cNvPr id="3" name="内容占位符 2"/>
          <p:cNvSpPr>
            <a:spLocks noGrp="1"/>
          </p:cNvSpPr>
          <p:nvPr>
            <p:ph idx="1"/>
          </p:nvPr>
        </p:nvSpPr>
        <p:spPr>
          <a:xfrm>
            <a:off x="457200" y="990600"/>
            <a:ext cx="8305800" cy="5410200"/>
          </a:xfrm>
        </p:spPr>
        <p:txBody>
          <a:bodyPr/>
          <a:lstStyle/>
          <a:p>
            <a:r>
              <a:rPr lang="zh-CN" altLang="en-US" dirty="0"/>
              <a:t>编写自定义的</a:t>
            </a:r>
            <a:r>
              <a:rPr lang="en-US" altLang="zh-CN" dirty="0" err="1"/>
              <a:t>echoT</a:t>
            </a:r>
            <a:r>
              <a:rPr lang="zh-CN" altLang="en-US" dirty="0"/>
              <a:t>命令</a:t>
            </a:r>
          </a:p>
        </p:txBody>
      </p:sp>
      <p:sp>
        <p:nvSpPr>
          <p:cNvPr id="9" name="灯片编号占位符 4">
            <a:extLst>
              <a:ext uri="{FF2B5EF4-FFF2-40B4-BE49-F238E27FC236}">
                <a16:creationId xmlns:a16="http://schemas.microsoft.com/office/drawing/2014/main" id="{38AB067C-0929-4594-B393-36DC84AFD60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37</a:t>
            </a:fld>
            <a:endParaRPr lang="zh-CN" altLang="zh-CN" sz="1800" baseline="0">
              <a:solidFill>
                <a:schemeClr val="folHlink"/>
              </a:solidFill>
              <a:latin typeface="Monotype Corsiva" panose="03010101010201010101" pitchFamily="66" charset="0"/>
            </a:endParaRPr>
          </a:p>
        </p:txBody>
      </p:sp>
      <p:sp>
        <p:nvSpPr>
          <p:cNvPr id="10" name="文本框 9">
            <a:extLst>
              <a:ext uri="{FF2B5EF4-FFF2-40B4-BE49-F238E27FC236}">
                <a16:creationId xmlns:a16="http://schemas.microsoft.com/office/drawing/2014/main" id="{31062655-6827-4AE1-BD90-DF991770E99A}"/>
              </a:ext>
            </a:extLst>
          </p:cNvPr>
          <p:cNvSpPr txBox="1"/>
          <p:nvPr/>
        </p:nvSpPr>
        <p:spPr>
          <a:xfrm>
            <a:off x="623276" y="1661984"/>
            <a:ext cx="7950200" cy="403187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void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shell_echoT_init</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(void)//</a:t>
            </a:r>
            <a:r>
              <a:rPr lang="zh-CN" altLang="en-US"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注册</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echoT</a:t>
            </a:r>
            <a:r>
              <a:rPr lang="zh-CN" altLang="en-US"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命令</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shell_register_command</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(&amp;echo2_command);</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实现</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echoT</a:t>
            </a:r>
            <a:r>
              <a:rPr lang="zh-CN" altLang="en-US"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命令*</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PROCESS(shell_echo2_process, "echo2");</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SHELL_COMMAND(echo2_command, "echo2",</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"echo2: echoes back entered text twice",</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&amp;shell_echo2_process);</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PROCESS_THREAD(shell_echo2_process,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ev</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data)</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PROCESS_BEGIN();  </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shell_output</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(&amp;echo2_command, data, (int)</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strlen</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(data), data, (int)</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strlen</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(data));</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PROCESS_END();</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t>
            </a:r>
          </a:p>
        </p:txBody>
      </p:sp>
    </p:spTree>
    <p:extLst>
      <p:ext uri="{BB962C8B-B14F-4D97-AF65-F5344CB8AC3E}">
        <p14:creationId xmlns:p14="http://schemas.microsoft.com/office/powerpoint/2010/main" val="132057128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dirty="0"/>
              <a:t>目录</a:t>
            </a:r>
          </a:p>
        </p:txBody>
      </p:sp>
      <p:sp>
        <p:nvSpPr>
          <p:cNvPr id="5" name="内容占位符 2"/>
          <p:cNvSpPr>
            <a:spLocks noGrp="1"/>
          </p:cNvSpPr>
          <p:nvPr>
            <p:ph idx="1"/>
          </p:nvPr>
        </p:nvSpPr>
        <p:spPr>
          <a:xfrm>
            <a:off x="457200" y="990600"/>
            <a:ext cx="8305800" cy="5410200"/>
          </a:xfrm>
        </p:spPr>
        <p:txBody>
          <a:bodyPr>
            <a:normAutofit lnSpcReduction="10000"/>
          </a:bodyPr>
          <a:lstStyle/>
          <a:p>
            <a:endParaRPr lang="en-US" altLang="zh-CN" sz="2800" dirty="0"/>
          </a:p>
          <a:p>
            <a:r>
              <a:rPr lang="zh-CN" altLang="en-US" sz="2800" dirty="0"/>
              <a:t>概述</a:t>
            </a:r>
            <a:endParaRPr lang="en-US" altLang="zh-CN" sz="2800" dirty="0"/>
          </a:p>
          <a:p>
            <a:r>
              <a:rPr lang="zh-CN" altLang="en-US" sz="2800" dirty="0"/>
              <a:t>关键特性</a:t>
            </a:r>
            <a:endParaRPr lang="en-US" altLang="zh-CN" sz="2800" dirty="0"/>
          </a:p>
          <a:p>
            <a:r>
              <a:rPr lang="zh-CN" altLang="en-US" sz="2800" dirty="0"/>
              <a:t>典型物联网操作系统</a:t>
            </a:r>
            <a:endParaRPr lang="en-US" altLang="zh-CN" sz="2800" dirty="0"/>
          </a:p>
          <a:p>
            <a:pPr lvl="1"/>
            <a:r>
              <a:rPr lang="pt-BR" altLang="zh-CN" sz="2400" dirty="0"/>
              <a:t>Contiki OS</a:t>
            </a:r>
          </a:p>
          <a:p>
            <a:pPr lvl="1"/>
            <a:r>
              <a:rPr lang="pt-BR" altLang="zh-CN" sz="2400" dirty="0">
                <a:solidFill>
                  <a:srgbClr val="C00000"/>
                </a:solidFill>
              </a:rPr>
              <a:t>RIOT</a:t>
            </a:r>
          </a:p>
          <a:p>
            <a:pPr lvl="1"/>
            <a:r>
              <a:rPr lang="pt-BR" altLang="zh-CN" sz="2400" dirty="0"/>
              <a:t>AliOS Things</a:t>
            </a:r>
          </a:p>
          <a:p>
            <a:pPr lvl="1"/>
            <a:r>
              <a:rPr lang="pt-BR" altLang="zh-CN" sz="2400" dirty="0"/>
              <a:t>HarmonyOS</a:t>
            </a:r>
            <a:endParaRPr lang="en-US" altLang="zh-CN" sz="2400" dirty="0"/>
          </a:p>
          <a:p>
            <a:r>
              <a:rPr lang="zh-CN" altLang="en-US" sz="2800" dirty="0"/>
              <a:t>案例开发</a:t>
            </a:r>
            <a:endParaRPr lang="en-US" altLang="zh-CN" sz="2800" dirty="0"/>
          </a:p>
          <a:p>
            <a:r>
              <a:rPr lang="zh-CN" altLang="en-US" sz="2800" dirty="0"/>
              <a:t>学术研究进展</a:t>
            </a:r>
            <a:endParaRPr lang="en-US" altLang="zh-CN" sz="2800" dirty="0"/>
          </a:p>
        </p:txBody>
      </p:sp>
    </p:spTree>
    <p:extLst>
      <p:ext uri="{BB962C8B-B14F-4D97-AF65-F5344CB8AC3E}">
        <p14:creationId xmlns:p14="http://schemas.microsoft.com/office/powerpoint/2010/main" val="176480872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a:t>RIOT</a:t>
            </a:r>
            <a:endParaRPr lang="zh-CN" altLang="en-US" dirty="0"/>
          </a:p>
        </p:txBody>
      </p:sp>
      <p:sp>
        <p:nvSpPr>
          <p:cNvPr id="3" name="内容占位符 2"/>
          <p:cNvSpPr>
            <a:spLocks noGrp="1"/>
          </p:cNvSpPr>
          <p:nvPr>
            <p:ph idx="1"/>
          </p:nvPr>
        </p:nvSpPr>
        <p:spPr>
          <a:xfrm>
            <a:off x="457200" y="990600"/>
            <a:ext cx="8305800" cy="5410200"/>
          </a:xfrm>
        </p:spPr>
        <p:txBody>
          <a:bodyPr>
            <a:normAutofit lnSpcReduction="10000"/>
          </a:bodyPr>
          <a:lstStyle/>
          <a:p>
            <a:r>
              <a:rPr lang="zh-CN" altLang="en-US" dirty="0"/>
              <a:t>简介</a:t>
            </a:r>
            <a:endParaRPr lang="en-US" altLang="zh-CN" dirty="0"/>
          </a:p>
          <a:p>
            <a:pPr lvl="1"/>
            <a:r>
              <a:rPr lang="en-US" altLang="zh-CN" dirty="0"/>
              <a:t>RIOT</a:t>
            </a:r>
            <a:r>
              <a:rPr lang="zh-CN" altLang="zh-CN" dirty="0"/>
              <a:t>是一个专门面向物联网场景的实时多线程操作系统</a:t>
            </a:r>
            <a:endParaRPr lang="en-US" altLang="zh-CN" dirty="0"/>
          </a:p>
          <a:p>
            <a:pPr lvl="1"/>
            <a:r>
              <a:rPr lang="en-US" altLang="zh-CN" dirty="0"/>
              <a:t>RIOT OS</a:t>
            </a:r>
            <a:r>
              <a:rPr lang="zh-CN" altLang="zh-CN" dirty="0"/>
              <a:t>基于微内核实现，所有的系统服务包括时钟、网络协议栈、网络服务等，都是通过创建独立的线程来实现其最初由柏林自由大学开发维护</a:t>
            </a:r>
            <a:endParaRPr lang="en-US" altLang="zh-CN" dirty="0"/>
          </a:p>
          <a:p>
            <a:pPr lvl="1"/>
            <a:r>
              <a:rPr lang="en-US" altLang="zh-CN" dirty="0"/>
              <a:t>2008</a:t>
            </a:r>
            <a:r>
              <a:rPr lang="zh-CN" altLang="zh-CN" dirty="0"/>
              <a:t>年，</a:t>
            </a:r>
            <a:r>
              <a:rPr lang="en-US" altLang="zh-CN" dirty="0"/>
              <a:t>RIOT OS</a:t>
            </a:r>
            <a:r>
              <a:rPr lang="zh-CN" altLang="zh-CN" dirty="0"/>
              <a:t>启动了其开源社区，目前已经发展成为一个拥有</a:t>
            </a:r>
            <a:r>
              <a:rPr lang="en-US" altLang="zh-CN" dirty="0"/>
              <a:t>293</a:t>
            </a:r>
            <a:r>
              <a:rPr lang="zh-CN" altLang="zh-CN" dirty="0"/>
              <a:t>个贡献者的庞大社区。得益于活跃的社区支持，</a:t>
            </a:r>
            <a:r>
              <a:rPr lang="en-US" altLang="zh-CN" dirty="0"/>
              <a:t>RIOT OS</a:t>
            </a:r>
            <a:r>
              <a:rPr lang="zh-CN" altLang="zh-CN" dirty="0"/>
              <a:t>对开发板的支持非常全面，目前已支持</a:t>
            </a:r>
            <a:r>
              <a:rPr lang="en-US" altLang="zh-CN" dirty="0"/>
              <a:t>67</a:t>
            </a:r>
            <a:r>
              <a:rPr lang="zh-CN" altLang="zh-CN" dirty="0"/>
              <a:t>种不同的处理器型号以及</a:t>
            </a:r>
            <a:r>
              <a:rPr lang="en-US" altLang="zh-CN" dirty="0"/>
              <a:t>237</a:t>
            </a:r>
            <a:r>
              <a:rPr lang="zh-CN" altLang="zh-CN" dirty="0"/>
              <a:t>款开发板</a:t>
            </a:r>
            <a:r>
              <a:rPr lang="zh-CN" altLang="en-US" dirty="0"/>
              <a:t>。</a:t>
            </a:r>
            <a:endParaRPr lang="en-US" altLang="zh-CN" dirty="0"/>
          </a:p>
          <a:p>
            <a:r>
              <a:rPr lang="zh-CN" altLang="zh-CN" dirty="0"/>
              <a:t>作为一个广受欢迎的操作系统，</a:t>
            </a:r>
            <a:r>
              <a:rPr lang="en-US" altLang="zh-CN" dirty="0"/>
              <a:t>RIOT OS</a:t>
            </a:r>
            <a:r>
              <a:rPr lang="zh-CN" altLang="zh-CN" dirty="0"/>
              <a:t>拥有三个特征：</a:t>
            </a:r>
            <a:endParaRPr lang="en-US" altLang="zh-CN" dirty="0"/>
          </a:p>
          <a:p>
            <a:pPr lvl="1"/>
            <a:r>
              <a:rPr lang="zh-CN" altLang="zh-CN" dirty="0"/>
              <a:t>开发者友好</a:t>
            </a:r>
          </a:p>
          <a:p>
            <a:pPr lvl="1"/>
            <a:r>
              <a:rPr lang="zh-CN" altLang="zh-CN" dirty="0"/>
              <a:t>资源友好</a:t>
            </a:r>
          </a:p>
          <a:p>
            <a:pPr lvl="1"/>
            <a:r>
              <a:rPr lang="zh-CN" altLang="zh-CN" dirty="0"/>
              <a:t>物联网友好</a:t>
            </a:r>
          </a:p>
          <a:p>
            <a:endParaRPr lang="zh-CN" altLang="zh-CN" dirty="0"/>
          </a:p>
        </p:txBody>
      </p:sp>
      <p:sp>
        <p:nvSpPr>
          <p:cNvPr id="6" name="灯片编号占位符 4">
            <a:extLst>
              <a:ext uri="{FF2B5EF4-FFF2-40B4-BE49-F238E27FC236}">
                <a16:creationId xmlns:a16="http://schemas.microsoft.com/office/drawing/2014/main" id="{0B6D5069-F1D3-4764-90A5-0D24D0F6629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39</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6613710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a:t>RIOT</a:t>
            </a:r>
            <a:r>
              <a:rPr lang="zh-CN" altLang="en-US"/>
              <a:t>主要特性</a:t>
            </a:r>
            <a:endParaRPr lang="zh-CN" altLang="en-US" dirty="0"/>
          </a:p>
        </p:txBody>
      </p:sp>
      <p:sp>
        <p:nvSpPr>
          <p:cNvPr id="3" name="内容占位符 2"/>
          <p:cNvSpPr>
            <a:spLocks noGrp="1"/>
          </p:cNvSpPr>
          <p:nvPr>
            <p:ph idx="1"/>
          </p:nvPr>
        </p:nvSpPr>
        <p:spPr>
          <a:xfrm>
            <a:off x="457200" y="990600"/>
            <a:ext cx="8305800" cy="5410200"/>
          </a:xfrm>
        </p:spPr>
        <p:txBody>
          <a:bodyPr/>
          <a:lstStyle/>
          <a:p>
            <a:r>
              <a:rPr lang="zh-CN" altLang="zh-CN"/>
              <a:t>多线程编程</a:t>
            </a:r>
            <a:endParaRPr lang="en-US" altLang="zh-CN"/>
          </a:p>
          <a:p>
            <a:pPr lvl="1"/>
            <a:r>
              <a:rPr lang="en-US" altLang="zh-CN"/>
              <a:t>RIOT OS</a:t>
            </a:r>
            <a:r>
              <a:rPr lang="zh-CN" altLang="zh-CN"/>
              <a:t>的多线程编程方式与桌面级的多线程编程方式非常类似。一个简单的线程的例子如代码所示。</a:t>
            </a:r>
            <a:endParaRPr lang="en-US" altLang="zh-CN" dirty="0"/>
          </a:p>
        </p:txBody>
      </p:sp>
      <p:sp>
        <p:nvSpPr>
          <p:cNvPr id="7" name="灯片编号占位符 4">
            <a:extLst>
              <a:ext uri="{FF2B5EF4-FFF2-40B4-BE49-F238E27FC236}">
                <a16:creationId xmlns:a16="http://schemas.microsoft.com/office/drawing/2014/main" id="{D9747096-B43B-4172-9A46-0738E50C8E5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40</a:t>
            </a:fld>
            <a:endParaRPr lang="zh-CN" altLang="zh-CN" sz="1800" baseline="0">
              <a:solidFill>
                <a:schemeClr val="folHlink"/>
              </a:solidFill>
              <a:latin typeface="Monotype Corsiva" panose="03010101010201010101" pitchFamily="66" charset="0"/>
            </a:endParaRPr>
          </a:p>
        </p:txBody>
      </p:sp>
      <p:sp>
        <p:nvSpPr>
          <p:cNvPr id="8" name="文本框 7">
            <a:extLst>
              <a:ext uri="{FF2B5EF4-FFF2-40B4-BE49-F238E27FC236}">
                <a16:creationId xmlns:a16="http://schemas.microsoft.com/office/drawing/2014/main" id="{DAECE05E-1A4A-46B3-B2A2-377494E118C7}"/>
              </a:ext>
            </a:extLst>
          </p:cNvPr>
          <p:cNvSpPr txBox="1"/>
          <p:nvPr/>
        </p:nvSpPr>
        <p:spPr>
          <a:xfrm>
            <a:off x="298938" y="2289986"/>
            <a:ext cx="8464062" cy="280076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uint8_t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thread_stack</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[1024];</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void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thread_func</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(void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args</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t>
            </a:r>
            <a:r>
              <a:rPr lang="zh-CN" altLang="en-US"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线程运行代码</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int main(void){</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kernel_pid_t</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pid</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thread_create</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thread_stack</a:t>
            </a:r>
            <a:endPar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1024,  // </a:t>
            </a:r>
            <a:r>
              <a:rPr lang="zh-CN" altLang="en-US"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对应为该栈内存的大小</a:t>
            </a:r>
            <a:endPar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8,  // </a:t>
            </a:r>
            <a:r>
              <a:rPr lang="zh-CN" altLang="en-US"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线程优先级</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(0-15)</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THREAD_CREATE_STACKTEST,  //</a:t>
            </a:r>
            <a:r>
              <a:rPr lang="zh-CN" altLang="en-US"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flag</a:t>
            </a:r>
            <a:r>
              <a:rPr lang="zh-CN" altLang="en-US"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字段</a:t>
            </a:r>
            <a:endPar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collection_thread_func</a:t>
            </a: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zh-CN" altLang="en-US"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线程的运行函数</a:t>
            </a:r>
            <a:endPar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NULL,  //</a:t>
            </a:r>
            <a:r>
              <a:rPr lang="zh-CN" altLang="en-US"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输入至函数的参数</a:t>
            </a:r>
            <a:endPar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"thread name");</a:t>
            </a: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t>
            </a:r>
          </a:p>
        </p:txBody>
      </p:sp>
      <p:graphicFrame>
        <p:nvGraphicFramePr>
          <p:cNvPr id="9" name="表格 8">
            <a:extLst>
              <a:ext uri="{FF2B5EF4-FFF2-40B4-BE49-F238E27FC236}">
                <a16:creationId xmlns:a16="http://schemas.microsoft.com/office/drawing/2014/main" id="{80A60005-E966-45EE-B14B-F490847D4FB3}"/>
              </a:ext>
            </a:extLst>
          </p:cNvPr>
          <p:cNvGraphicFramePr>
            <a:graphicFrameLocks noGrp="1"/>
          </p:cNvGraphicFramePr>
          <p:nvPr>
            <p:extLst>
              <p:ext uri="{D42A27DB-BD31-4B8C-83A1-F6EECF244321}">
                <p14:modId xmlns:p14="http://schemas.microsoft.com/office/powerpoint/2010/main" val="3451089185"/>
              </p:ext>
            </p:extLst>
          </p:nvPr>
        </p:nvGraphicFramePr>
        <p:xfrm>
          <a:off x="1040292" y="5207985"/>
          <a:ext cx="7092593" cy="1497624"/>
        </p:xfrm>
        <a:graphic>
          <a:graphicData uri="http://schemas.openxmlformats.org/drawingml/2006/table">
            <a:tbl>
              <a:tblPr firstRow="1" firstCol="1" bandRow="1">
                <a:tableStyleId>{5940675A-B579-460E-94D1-54222C63F5DA}</a:tableStyleId>
              </a:tblPr>
              <a:tblGrid>
                <a:gridCol w="2952644">
                  <a:extLst>
                    <a:ext uri="{9D8B030D-6E8A-4147-A177-3AD203B41FA5}">
                      <a16:colId xmlns:a16="http://schemas.microsoft.com/office/drawing/2014/main" val="265659713"/>
                    </a:ext>
                  </a:extLst>
                </a:gridCol>
                <a:gridCol w="4139949">
                  <a:extLst>
                    <a:ext uri="{9D8B030D-6E8A-4147-A177-3AD203B41FA5}">
                      <a16:colId xmlns:a16="http://schemas.microsoft.com/office/drawing/2014/main" val="3553794618"/>
                    </a:ext>
                  </a:extLst>
                </a:gridCol>
              </a:tblGrid>
              <a:tr h="374406">
                <a:tc>
                  <a:txBody>
                    <a:bodyPr/>
                    <a:lstStyle/>
                    <a:p>
                      <a:pPr algn="ctr"/>
                      <a:r>
                        <a:rPr lang="en-US" sz="1400" kern="500" dirty="0">
                          <a:effectLst/>
                          <a:latin typeface="+mj-ea"/>
                          <a:ea typeface="+mj-ea"/>
                        </a:rPr>
                        <a:t>Flag</a:t>
                      </a:r>
                      <a:endParaRPr lang="zh-CN" sz="2400" kern="100" dirty="0">
                        <a:effectLst/>
                        <a:latin typeface="+mj-ea"/>
                        <a:ea typeface="+mj-ea"/>
                      </a:endParaRPr>
                    </a:p>
                  </a:txBody>
                  <a:tcPr marL="36195" marR="36195" marT="0" marB="0" anchor="ctr"/>
                </a:tc>
                <a:tc>
                  <a:txBody>
                    <a:bodyPr/>
                    <a:lstStyle/>
                    <a:p>
                      <a:pPr algn="ctr"/>
                      <a:r>
                        <a:rPr lang="zh-CN" sz="1400" kern="500" dirty="0">
                          <a:effectLst/>
                          <a:latin typeface="+mj-ea"/>
                          <a:ea typeface="+mj-ea"/>
                        </a:rPr>
                        <a:t>描述</a:t>
                      </a:r>
                      <a:endParaRPr lang="zh-CN" sz="2400" kern="100" dirty="0">
                        <a:effectLst/>
                        <a:latin typeface="+mj-ea"/>
                        <a:ea typeface="+mj-ea"/>
                      </a:endParaRPr>
                    </a:p>
                  </a:txBody>
                  <a:tcPr marL="36195" marR="36195" marT="0" marB="0" anchor="ctr"/>
                </a:tc>
                <a:extLst>
                  <a:ext uri="{0D108BD9-81ED-4DB2-BD59-A6C34878D82A}">
                    <a16:rowId xmlns:a16="http://schemas.microsoft.com/office/drawing/2014/main" val="431337186"/>
                  </a:ext>
                </a:extLst>
              </a:tr>
              <a:tr h="374406">
                <a:tc>
                  <a:txBody>
                    <a:bodyPr/>
                    <a:lstStyle/>
                    <a:p>
                      <a:pPr algn="ctr"/>
                      <a:r>
                        <a:rPr lang="en-US" sz="1400" kern="500">
                          <a:effectLst/>
                          <a:latin typeface="+mj-ea"/>
                          <a:ea typeface="+mj-ea"/>
                        </a:rPr>
                        <a:t>THREAD_CREATE_SLEEPING</a:t>
                      </a:r>
                      <a:endParaRPr lang="zh-CN" sz="2400" kern="100">
                        <a:effectLst/>
                        <a:latin typeface="+mj-ea"/>
                        <a:ea typeface="+mj-ea"/>
                      </a:endParaRPr>
                    </a:p>
                  </a:txBody>
                  <a:tcPr marL="36195" marR="36195" marT="0" marB="0" anchor="ctr"/>
                </a:tc>
                <a:tc>
                  <a:txBody>
                    <a:bodyPr/>
                    <a:lstStyle/>
                    <a:p>
                      <a:pPr algn="ctr"/>
                      <a:r>
                        <a:rPr lang="zh-CN" sz="1400" kern="500" dirty="0">
                          <a:effectLst/>
                          <a:latin typeface="+mj-ea"/>
                          <a:ea typeface="+mj-ea"/>
                        </a:rPr>
                        <a:t>线程创建后立刻进入休眠状态</a:t>
                      </a:r>
                      <a:endParaRPr lang="zh-CN" sz="2400" kern="100" dirty="0">
                        <a:effectLst/>
                        <a:latin typeface="+mj-ea"/>
                        <a:ea typeface="+mj-ea"/>
                      </a:endParaRPr>
                    </a:p>
                  </a:txBody>
                  <a:tcPr marL="36195" marR="36195" marT="0" marB="0" anchor="ctr"/>
                </a:tc>
                <a:extLst>
                  <a:ext uri="{0D108BD9-81ED-4DB2-BD59-A6C34878D82A}">
                    <a16:rowId xmlns:a16="http://schemas.microsoft.com/office/drawing/2014/main" val="1147746509"/>
                  </a:ext>
                </a:extLst>
              </a:tr>
              <a:tr h="374406">
                <a:tc>
                  <a:txBody>
                    <a:bodyPr/>
                    <a:lstStyle/>
                    <a:p>
                      <a:pPr algn="ctr"/>
                      <a:r>
                        <a:rPr lang="en-US" sz="1400" kern="500">
                          <a:effectLst/>
                          <a:latin typeface="+mj-ea"/>
                          <a:ea typeface="+mj-ea"/>
                        </a:rPr>
                        <a:t>THREAD_CREATE_WOUT_YIELD</a:t>
                      </a:r>
                      <a:endParaRPr lang="zh-CN" sz="2400" kern="100">
                        <a:effectLst/>
                        <a:latin typeface="+mj-ea"/>
                        <a:ea typeface="+mj-ea"/>
                      </a:endParaRPr>
                    </a:p>
                  </a:txBody>
                  <a:tcPr marL="36195" marR="36195" marT="0" marB="0" anchor="ctr"/>
                </a:tc>
                <a:tc>
                  <a:txBody>
                    <a:bodyPr/>
                    <a:lstStyle/>
                    <a:p>
                      <a:pPr algn="ctr"/>
                      <a:r>
                        <a:rPr lang="zh-CN" sz="1400" kern="500" dirty="0">
                          <a:effectLst/>
                          <a:latin typeface="+mj-ea"/>
                          <a:ea typeface="+mj-ea"/>
                        </a:rPr>
                        <a:t>线程创建后可能不会立即执行，将等待系统的调度</a:t>
                      </a:r>
                      <a:endParaRPr lang="zh-CN" sz="2400" kern="100" dirty="0">
                        <a:effectLst/>
                        <a:latin typeface="+mj-ea"/>
                        <a:ea typeface="+mj-ea"/>
                      </a:endParaRPr>
                    </a:p>
                  </a:txBody>
                  <a:tcPr marL="36195" marR="36195" marT="0" marB="0" anchor="ctr"/>
                </a:tc>
                <a:extLst>
                  <a:ext uri="{0D108BD9-81ED-4DB2-BD59-A6C34878D82A}">
                    <a16:rowId xmlns:a16="http://schemas.microsoft.com/office/drawing/2014/main" val="1358658848"/>
                  </a:ext>
                </a:extLst>
              </a:tr>
              <a:tr h="374406">
                <a:tc>
                  <a:txBody>
                    <a:bodyPr/>
                    <a:lstStyle/>
                    <a:p>
                      <a:pPr algn="ctr"/>
                      <a:r>
                        <a:rPr lang="en-US" sz="1400" kern="500">
                          <a:effectLst/>
                          <a:latin typeface="+mj-ea"/>
                          <a:ea typeface="+mj-ea"/>
                        </a:rPr>
                        <a:t>THREAD_CREATE_STACKTEST</a:t>
                      </a:r>
                      <a:endParaRPr lang="zh-CN" sz="2400" kern="100">
                        <a:effectLst/>
                        <a:latin typeface="+mj-ea"/>
                        <a:ea typeface="+mj-ea"/>
                      </a:endParaRPr>
                    </a:p>
                  </a:txBody>
                  <a:tcPr marL="36195" marR="36195" marT="0" marB="0" anchor="ctr"/>
                </a:tc>
                <a:tc>
                  <a:txBody>
                    <a:bodyPr/>
                    <a:lstStyle/>
                    <a:p>
                      <a:pPr algn="ctr"/>
                      <a:r>
                        <a:rPr lang="zh-CN" sz="1400" kern="500" dirty="0">
                          <a:effectLst/>
                          <a:latin typeface="+mj-ea"/>
                          <a:ea typeface="+mj-ea"/>
                        </a:rPr>
                        <a:t>线程创建后将立即执行并测试内存占用量</a:t>
                      </a:r>
                      <a:endParaRPr lang="zh-CN" sz="2400" kern="100" dirty="0">
                        <a:effectLst/>
                        <a:latin typeface="+mj-ea"/>
                        <a:ea typeface="+mj-ea"/>
                      </a:endParaRPr>
                    </a:p>
                  </a:txBody>
                  <a:tcPr marL="36195" marR="36195" marT="0" marB="0" anchor="ctr"/>
                </a:tc>
                <a:extLst>
                  <a:ext uri="{0D108BD9-81ED-4DB2-BD59-A6C34878D82A}">
                    <a16:rowId xmlns:a16="http://schemas.microsoft.com/office/drawing/2014/main" val="3642854622"/>
                  </a:ext>
                </a:extLst>
              </a:tr>
            </a:tbl>
          </a:graphicData>
        </a:graphic>
      </p:graphicFrame>
    </p:spTree>
    <p:extLst>
      <p:ext uri="{BB962C8B-B14F-4D97-AF65-F5344CB8AC3E}">
        <p14:creationId xmlns:p14="http://schemas.microsoft.com/office/powerpoint/2010/main" val="126865447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a:t>RIOT</a:t>
            </a:r>
            <a:r>
              <a:rPr lang="zh-CN" altLang="en-US" dirty="0"/>
              <a:t>主要特性</a:t>
            </a:r>
          </a:p>
        </p:txBody>
      </p:sp>
      <p:sp>
        <p:nvSpPr>
          <p:cNvPr id="3" name="内容占位符 2"/>
          <p:cNvSpPr>
            <a:spLocks noGrp="1"/>
          </p:cNvSpPr>
          <p:nvPr>
            <p:ph idx="1"/>
          </p:nvPr>
        </p:nvSpPr>
        <p:spPr>
          <a:xfrm>
            <a:off x="457200" y="990600"/>
            <a:ext cx="8305800" cy="5410200"/>
          </a:xfrm>
        </p:spPr>
        <p:txBody>
          <a:bodyPr/>
          <a:lstStyle/>
          <a:p>
            <a:r>
              <a:rPr lang="zh-CN" altLang="zh-CN" dirty="0"/>
              <a:t>模块化系统设计 </a:t>
            </a:r>
            <a:endParaRPr lang="en-US" altLang="zh-CN" dirty="0"/>
          </a:p>
          <a:p>
            <a:pPr lvl="1"/>
            <a:r>
              <a:rPr lang="en-US" altLang="zh-CN" dirty="0"/>
              <a:t>RIOT OS</a:t>
            </a:r>
            <a:r>
              <a:rPr lang="zh-CN" altLang="zh-CN" dirty="0"/>
              <a:t>采用模块化设计。模块在</a:t>
            </a:r>
            <a:r>
              <a:rPr lang="en-US" altLang="zh-CN" dirty="0"/>
              <a:t>RIOT OS</a:t>
            </a:r>
            <a:r>
              <a:rPr lang="zh-CN" altLang="zh-CN" dirty="0"/>
              <a:t>的代码目录中表现为文件夹的形式。开发者根据用户需求将模块加载至应用程序中 </a:t>
            </a:r>
            <a:endParaRPr lang="en-US" altLang="zh-CN" dirty="0"/>
          </a:p>
          <a:p>
            <a:pPr lvl="1"/>
            <a:r>
              <a:rPr lang="zh-CN" altLang="zh-CN" dirty="0"/>
              <a:t>同时，几乎所有的硬件设备同样被抽象成了模块，如</a:t>
            </a:r>
            <a:r>
              <a:rPr lang="en-US" altLang="zh-CN" dirty="0"/>
              <a:t>CPU</a:t>
            </a:r>
            <a:r>
              <a:rPr lang="zh-CN" altLang="zh-CN" dirty="0"/>
              <a:t>、外设等</a:t>
            </a:r>
            <a:endParaRPr lang="en-US" altLang="zh-CN" dirty="0"/>
          </a:p>
          <a:p>
            <a:pPr lvl="1"/>
            <a:r>
              <a:rPr lang="zh-CN" altLang="zh-CN" dirty="0"/>
              <a:t>当需要将</a:t>
            </a:r>
            <a:r>
              <a:rPr lang="en-US" altLang="zh-CN" dirty="0"/>
              <a:t>RIOT OS</a:t>
            </a:r>
            <a:r>
              <a:rPr lang="zh-CN" altLang="zh-CN" dirty="0"/>
              <a:t>移植至新开发板时，开发者仅需开发响应的</a:t>
            </a:r>
            <a:r>
              <a:rPr lang="en-US" altLang="zh-CN" dirty="0"/>
              <a:t>CPU</a:t>
            </a:r>
            <a:r>
              <a:rPr lang="zh-CN" altLang="zh-CN" dirty="0"/>
              <a:t>模块即可。模块的使用方法如代码所示</a:t>
            </a:r>
            <a:endParaRPr lang="en-US" altLang="zh-CN" dirty="0"/>
          </a:p>
          <a:p>
            <a:pPr lvl="1"/>
            <a:endParaRPr lang="en-US" altLang="zh-CN" dirty="0"/>
          </a:p>
          <a:p>
            <a:pPr lvl="1"/>
            <a:endParaRPr lang="en-US" altLang="zh-CN" dirty="0"/>
          </a:p>
          <a:p>
            <a:pPr lvl="1"/>
            <a:r>
              <a:rPr lang="zh-CN" altLang="zh-CN" dirty="0"/>
              <a:t>在本案例中导入了</a:t>
            </a:r>
            <a:r>
              <a:rPr lang="en-US" altLang="zh-CN" dirty="0" err="1"/>
              <a:t>dht</a:t>
            </a:r>
            <a:r>
              <a:rPr lang="zh-CN" altLang="zh-CN" dirty="0"/>
              <a:t>温湿度传感器的模块以及系统的计时器模块</a:t>
            </a:r>
            <a:r>
              <a:rPr lang="en-US" altLang="zh-CN" dirty="0" err="1"/>
              <a:t>xtimer</a:t>
            </a:r>
            <a:endParaRPr lang="en-US" altLang="zh-CN" dirty="0"/>
          </a:p>
        </p:txBody>
      </p:sp>
      <p:sp>
        <p:nvSpPr>
          <p:cNvPr id="7" name="灯片编号占位符 4">
            <a:extLst>
              <a:ext uri="{FF2B5EF4-FFF2-40B4-BE49-F238E27FC236}">
                <a16:creationId xmlns:a16="http://schemas.microsoft.com/office/drawing/2014/main" id="{8410FDA3-244D-4017-8110-0E2E0262584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41</a:t>
            </a:fld>
            <a:endParaRPr lang="zh-CN" altLang="zh-CN" sz="1800" baseline="0">
              <a:solidFill>
                <a:schemeClr val="folHlink"/>
              </a:solidFill>
              <a:latin typeface="Monotype Corsiva" panose="03010101010201010101" pitchFamily="66" charset="0"/>
            </a:endParaRPr>
          </a:p>
        </p:txBody>
      </p:sp>
      <p:sp>
        <p:nvSpPr>
          <p:cNvPr id="8" name="文本框 7">
            <a:extLst>
              <a:ext uri="{FF2B5EF4-FFF2-40B4-BE49-F238E27FC236}">
                <a16:creationId xmlns:a16="http://schemas.microsoft.com/office/drawing/2014/main" id="{C6BBD49B-F8CE-48D6-A70E-CB0B649AF001}"/>
              </a:ext>
            </a:extLst>
          </p:cNvPr>
          <p:cNvSpPr txBox="1"/>
          <p:nvPr/>
        </p:nvSpPr>
        <p:spPr>
          <a:xfrm>
            <a:off x="1285102" y="3596846"/>
            <a:ext cx="6734433"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USEMODULE +=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dht</a:t>
            </a:r>
            <a:endPar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a:p>
            <a:pPr>
              <a:defRPr/>
            </a:pPr>
            <a:r>
              <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USEMODULE += </a:t>
            </a:r>
            <a:r>
              <a:rPr lang="en-US" altLang="zh-CN" sz="16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xtimer</a:t>
            </a:r>
            <a:endParaRPr lang="en-US" altLang="zh-CN" sz="16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164900892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a:t>RIOT</a:t>
            </a:r>
            <a:r>
              <a:rPr lang="zh-CN" altLang="en-US" dirty="0"/>
              <a:t>主要特性</a:t>
            </a:r>
          </a:p>
        </p:txBody>
      </p:sp>
      <p:sp>
        <p:nvSpPr>
          <p:cNvPr id="3" name="内容占位符 2"/>
          <p:cNvSpPr>
            <a:spLocks noGrp="1"/>
          </p:cNvSpPr>
          <p:nvPr>
            <p:ph idx="1"/>
          </p:nvPr>
        </p:nvSpPr>
        <p:spPr>
          <a:xfrm>
            <a:off x="457200" y="990600"/>
            <a:ext cx="8305800" cy="5410200"/>
          </a:xfrm>
        </p:spPr>
        <p:txBody>
          <a:bodyPr/>
          <a:lstStyle/>
          <a:p>
            <a:pPr>
              <a:spcBef>
                <a:spcPts val="0"/>
              </a:spcBef>
            </a:pPr>
            <a:r>
              <a:rPr lang="en-US" altLang="zh-CN" dirty="0"/>
              <a:t>RIOT OS</a:t>
            </a:r>
            <a:r>
              <a:rPr lang="zh-CN" altLang="zh-CN" dirty="0"/>
              <a:t>网络协议栈</a:t>
            </a:r>
          </a:p>
          <a:p>
            <a:pPr lvl="1">
              <a:spcBef>
                <a:spcPts val="0"/>
              </a:spcBef>
            </a:pPr>
            <a:r>
              <a:rPr lang="en-US" altLang="zh-CN" dirty="0"/>
              <a:t>RIOT OS</a:t>
            </a:r>
            <a:r>
              <a:rPr lang="zh-CN" altLang="zh-CN" dirty="0"/>
              <a:t>中包含了</a:t>
            </a:r>
            <a:r>
              <a:rPr lang="en-US" altLang="zh-CN" dirty="0"/>
              <a:t>GNRC</a:t>
            </a:r>
            <a:r>
              <a:rPr lang="zh-CN" altLang="zh-CN" dirty="0"/>
              <a:t>协议栈（</a:t>
            </a:r>
            <a:r>
              <a:rPr lang="en-US" altLang="zh-CN" dirty="0"/>
              <a:t>Generic network stack</a:t>
            </a:r>
            <a:r>
              <a:rPr lang="zh-CN" altLang="zh-CN" dirty="0"/>
              <a:t>）</a:t>
            </a:r>
            <a:endParaRPr lang="en-US" altLang="zh-CN" dirty="0"/>
          </a:p>
          <a:p>
            <a:pPr lvl="1">
              <a:spcBef>
                <a:spcPts val="0"/>
              </a:spcBef>
            </a:pPr>
            <a:r>
              <a:rPr lang="zh-CN" altLang="zh-CN" dirty="0"/>
              <a:t>其中最底层的</a:t>
            </a:r>
            <a:r>
              <a:rPr lang="en-US" altLang="zh-CN" dirty="0" err="1"/>
              <a:t>gnrc_netdev</a:t>
            </a:r>
            <a:r>
              <a:rPr lang="zh-CN" altLang="zh-CN" dirty="0"/>
              <a:t>时对下层的各类网络协议的一个抽象</a:t>
            </a:r>
            <a:endParaRPr lang="en-US" altLang="zh-CN" dirty="0"/>
          </a:p>
          <a:p>
            <a:pPr lvl="1">
              <a:spcBef>
                <a:spcPts val="0"/>
              </a:spcBef>
            </a:pPr>
            <a:r>
              <a:rPr lang="zh-CN" altLang="zh-CN" dirty="0"/>
              <a:t>通过该层抽象，</a:t>
            </a:r>
            <a:r>
              <a:rPr lang="en-US" altLang="zh-CN" dirty="0"/>
              <a:t>GNRC</a:t>
            </a:r>
            <a:r>
              <a:rPr lang="zh-CN" altLang="zh-CN" dirty="0"/>
              <a:t>可以兼容大量的链路层协议而无需对其代码进行修改</a:t>
            </a:r>
            <a:endParaRPr lang="en-US" altLang="zh-CN" dirty="0"/>
          </a:p>
          <a:p>
            <a:pPr lvl="1">
              <a:spcBef>
                <a:spcPts val="0"/>
              </a:spcBef>
            </a:pPr>
            <a:r>
              <a:rPr lang="en-US" altLang="zh-CN" dirty="0"/>
              <a:t>GNRC</a:t>
            </a:r>
            <a:r>
              <a:rPr lang="zh-CN" altLang="zh-CN" dirty="0"/>
              <a:t>完全实现了</a:t>
            </a:r>
            <a:r>
              <a:rPr lang="en-US" altLang="zh-CN" dirty="0"/>
              <a:t>6LowPAN</a:t>
            </a:r>
            <a:r>
              <a:rPr lang="zh-CN" altLang="zh-CN" dirty="0"/>
              <a:t>协议。基于此，其向上提供了对</a:t>
            </a:r>
            <a:r>
              <a:rPr lang="en-US" altLang="zh-CN" dirty="0"/>
              <a:t>IPv6</a:t>
            </a:r>
            <a:r>
              <a:rPr lang="zh-CN" altLang="zh-CN" dirty="0"/>
              <a:t>、</a:t>
            </a:r>
            <a:r>
              <a:rPr lang="en-US" altLang="zh-CN" dirty="0"/>
              <a:t>UDP</a:t>
            </a:r>
            <a:r>
              <a:rPr lang="zh-CN" altLang="zh-CN" dirty="0"/>
              <a:t>以及</a:t>
            </a:r>
            <a:r>
              <a:rPr lang="en-US" altLang="zh-CN" dirty="0"/>
              <a:t>TCP</a:t>
            </a:r>
            <a:r>
              <a:rPr lang="zh-CN" altLang="zh-CN" dirty="0"/>
              <a:t>的支持</a:t>
            </a:r>
            <a:endParaRPr lang="en-US" altLang="zh-CN" dirty="0"/>
          </a:p>
          <a:p>
            <a:pPr lvl="1">
              <a:spcBef>
                <a:spcPts val="0"/>
              </a:spcBef>
            </a:pPr>
            <a:r>
              <a:rPr lang="zh-CN" altLang="zh-CN" dirty="0"/>
              <a:t>在应用层，开发者可以使用</a:t>
            </a:r>
            <a:r>
              <a:rPr lang="en-US" altLang="zh-CN" dirty="0"/>
              <a:t>socket API</a:t>
            </a:r>
            <a:r>
              <a:rPr lang="zh-CN" altLang="zh-CN" dirty="0"/>
              <a:t>访问</a:t>
            </a:r>
            <a:r>
              <a:rPr lang="en-US" altLang="zh-CN" dirty="0"/>
              <a:t>GNRC</a:t>
            </a:r>
            <a:r>
              <a:rPr lang="zh-CN" altLang="zh-CN" dirty="0"/>
              <a:t>协议栈的功能</a:t>
            </a:r>
          </a:p>
        </p:txBody>
      </p:sp>
      <p:pic>
        <p:nvPicPr>
          <p:cNvPr id="5" name="图片 4">
            <a:extLst>
              <a:ext uri="{FF2B5EF4-FFF2-40B4-BE49-F238E27FC236}">
                <a16:creationId xmlns:a16="http://schemas.microsoft.com/office/drawing/2014/main" id="{A7BC903E-F5FA-5644-9B85-B556F2038A65}"/>
              </a:ext>
            </a:extLst>
          </p:cNvPr>
          <p:cNvPicPr>
            <a:picLocks noChangeAspect="1"/>
          </p:cNvPicPr>
          <p:nvPr/>
        </p:nvPicPr>
        <p:blipFill>
          <a:blip r:embed="rId2"/>
          <a:stretch>
            <a:fillRect/>
          </a:stretch>
        </p:blipFill>
        <p:spPr>
          <a:xfrm>
            <a:off x="2545492" y="4021209"/>
            <a:ext cx="4053016" cy="2760591"/>
          </a:xfrm>
          <a:prstGeom prst="rect">
            <a:avLst/>
          </a:prstGeom>
        </p:spPr>
      </p:pic>
      <p:sp>
        <p:nvSpPr>
          <p:cNvPr id="7" name="灯片编号占位符 4">
            <a:extLst>
              <a:ext uri="{FF2B5EF4-FFF2-40B4-BE49-F238E27FC236}">
                <a16:creationId xmlns:a16="http://schemas.microsoft.com/office/drawing/2014/main" id="{0FBCA95F-AF0C-4E38-A36E-840135CD529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42</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84973516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83436-6D64-4DDD-9CEE-6273A683D6BE}"/>
              </a:ext>
            </a:extLst>
          </p:cNvPr>
          <p:cNvSpPr>
            <a:spLocks noGrp="1"/>
          </p:cNvSpPr>
          <p:nvPr>
            <p:ph type="title"/>
          </p:nvPr>
        </p:nvSpPr>
        <p:spPr/>
        <p:txBody>
          <a:bodyPr/>
          <a:lstStyle/>
          <a:p>
            <a:r>
              <a:rPr lang="en-US" altLang="zh-CN" dirty="0"/>
              <a:t>RIOT</a:t>
            </a:r>
            <a:r>
              <a:rPr lang="zh-CN" altLang="en-US" dirty="0"/>
              <a:t>主要特性</a:t>
            </a:r>
          </a:p>
        </p:txBody>
      </p:sp>
      <p:sp>
        <p:nvSpPr>
          <p:cNvPr id="3" name="内容占位符 2">
            <a:extLst>
              <a:ext uri="{FF2B5EF4-FFF2-40B4-BE49-F238E27FC236}">
                <a16:creationId xmlns:a16="http://schemas.microsoft.com/office/drawing/2014/main" id="{956399C3-6C04-43F7-8E91-CA4452A61C12}"/>
              </a:ext>
            </a:extLst>
          </p:cNvPr>
          <p:cNvSpPr>
            <a:spLocks noGrp="1"/>
          </p:cNvSpPr>
          <p:nvPr>
            <p:ph idx="1"/>
          </p:nvPr>
        </p:nvSpPr>
        <p:spPr/>
        <p:txBody>
          <a:bodyPr/>
          <a:lstStyle/>
          <a:p>
            <a:r>
              <a:rPr lang="zh-CN" altLang="en-US" dirty="0"/>
              <a:t>传感器及执行器抽象层</a:t>
            </a:r>
            <a:endParaRPr lang="en-US" altLang="zh-CN" dirty="0"/>
          </a:p>
          <a:p>
            <a:pPr lvl="1"/>
            <a:r>
              <a:rPr lang="en-US" altLang="zh-CN" dirty="0"/>
              <a:t>RIOT OS</a:t>
            </a:r>
            <a:r>
              <a:rPr lang="zh-CN" altLang="en-US" dirty="0"/>
              <a:t>支持大量的传感器和执行器</a:t>
            </a:r>
            <a:endParaRPr lang="en-US" altLang="zh-CN" dirty="0"/>
          </a:p>
          <a:p>
            <a:pPr lvl="1"/>
            <a:r>
              <a:rPr lang="en-US" altLang="zh-CN" dirty="0"/>
              <a:t>RIOT OS</a:t>
            </a:r>
            <a:r>
              <a:rPr lang="zh-CN" altLang="en-US" dirty="0"/>
              <a:t>在设备的驱动和用户之间增加了一个传感器及执行器抽象层（</a:t>
            </a:r>
            <a:r>
              <a:rPr lang="en-US" altLang="zh-CN" dirty="0"/>
              <a:t>SAUL</a:t>
            </a:r>
            <a:r>
              <a:rPr lang="zh-CN" altLang="en-US" dirty="0"/>
              <a:t>）。通过</a:t>
            </a:r>
            <a:r>
              <a:rPr lang="en-US" altLang="zh-CN" dirty="0"/>
              <a:t>SAUL</a:t>
            </a:r>
            <a:r>
              <a:rPr lang="zh-CN" altLang="en-US" dirty="0"/>
              <a:t>，用户可以使用统一的代码对各类的传感器和执行器进行数据读取和控制</a:t>
            </a:r>
            <a:endParaRPr lang="en-US" altLang="zh-CN" dirty="0"/>
          </a:p>
          <a:p>
            <a:pPr lvl="2"/>
            <a:r>
              <a:rPr lang="zh-CN" altLang="en-US" dirty="0"/>
              <a:t>每个外围设备在</a:t>
            </a:r>
            <a:r>
              <a:rPr lang="en-US" altLang="zh-CN" dirty="0"/>
              <a:t>SAUL</a:t>
            </a:r>
            <a:r>
              <a:rPr lang="zh-CN" altLang="en-US" dirty="0"/>
              <a:t>中使用了</a:t>
            </a:r>
            <a:r>
              <a:rPr lang="en-US" altLang="zh-CN" dirty="0" err="1"/>
              <a:t>saul_reg_t</a:t>
            </a:r>
            <a:r>
              <a:rPr lang="zh-CN" altLang="en-US" dirty="0"/>
              <a:t>类型的数据结构进行抽象</a:t>
            </a:r>
            <a:endParaRPr lang="en-US" altLang="zh-CN" dirty="0"/>
          </a:p>
          <a:p>
            <a:pPr lvl="2"/>
            <a:r>
              <a:rPr lang="en-US" altLang="zh-CN" dirty="0"/>
              <a:t>SAUL</a:t>
            </a:r>
            <a:r>
              <a:rPr lang="zh-CN" altLang="en-US" dirty="0"/>
              <a:t>提供一个名为</a:t>
            </a:r>
            <a:r>
              <a:rPr lang="en-US" altLang="zh-CN" dirty="0" err="1"/>
              <a:t>saul_driver_t</a:t>
            </a:r>
            <a:r>
              <a:rPr lang="zh-CN" altLang="en-US" dirty="0"/>
              <a:t>的数据结构并包含在设备抽象中</a:t>
            </a:r>
            <a:endParaRPr lang="en-US" altLang="zh-CN" dirty="0"/>
          </a:p>
          <a:p>
            <a:pPr lvl="2"/>
            <a:r>
              <a:rPr lang="en-US" altLang="zh-CN" dirty="0"/>
              <a:t>SAUL</a:t>
            </a:r>
            <a:r>
              <a:rPr lang="zh-CN" altLang="en-US" dirty="0"/>
              <a:t>的驱动提供统一的读写接口，也同时提供了统一的</a:t>
            </a:r>
            <a:r>
              <a:rPr lang="en-US" altLang="zh-CN" dirty="0" err="1"/>
              <a:t>phydat_t</a:t>
            </a:r>
            <a:r>
              <a:rPr lang="zh-CN" altLang="en-US" dirty="0"/>
              <a:t>数据类型用于存储传感器数据和用于控制执行器的参数</a:t>
            </a:r>
            <a:endParaRPr lang="en-US" altLang="zh-CN" dirty="0"/>
          </a:p>
          <a:p>
            <a:pPr lvl="2"/>
            <a:r>
              <a:rPr lang="zh-CN" altLang="en-US" dirty="0"/>
              <a:t>通过</a:t>
            </a:r>
            <a:r>
              <a:rPr lang="en-US" altLang="zh-CN" dirty="0"/>
              <a:t>SAUL</a:t>
            </a:r>
            <a:r>
              <a:rPr lang="zh-CN" altLang="en-US" dirty="0"/>
              <a:t>对开发板上所有传感器进行数据读取的代码：</a:t>
            </a:r>
          </a:p>
        </p:txBody>
      </p:sp>
      <p:sp>
        <p:nvSpPr>
          <p:cNvPr id="4" name="文本框 3">
            <a:extLst>
              <a:ext uri="{FF2B5EF4-FFF2-40B4-BE49-F238E27FC236}">
                <a16:creationId xmlns:a16="http://schemas.microsoft.com/office/drawing/2014/main" id="{4EAEA361-08A5-4AE5-8B82-525289E7AD5D}"/>
              </a:ext>
            </a:extLst>
          </p:cNvPr>
          <p:cNvSpPr txBox="1"/>
          <p:nvPr/>
        </p:nvSpPr>
        <p:spPr>
          <a:xfrm>
            <a:off x="1717589" y="4980682"/>
            <a:ext cx="5523470" cy="160043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defRPr/>
            </a:pP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en-US" altLang="zh-CN" sz="14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phydat_t</a:t>
            </a: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res;</a:t>
            </a:r>
          </a:p>
          <a:p>
            <a:pPr>
              <a:defRPr/>
            </a:pP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en-US" altLang="zh-CN" sz="14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saul_reg_t</a:t>
            </a: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*dev = </a:t>
            </a:r>
            <a:r>
              <a:rPr lang="en-US" altLang="zh-CN" sz="14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saul_reg</a:t>
            </a: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t>
            </a:r>
          </a:p>
          <a:p>
            <a:pPr>
              <a:defRPr/>
            </a:pP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expect(dev != NULL);</a:t>
            </a:r>
          </a:p>
          <a:p>
            <a:pPr>
              <a:defRPr/>
            </a:pP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while (dev) {</a:t>
            </a:r>
          </a:p>
          <a:p>
            <a:pPr>
              <a:defRPr/>
            </a:pP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int dim = </a:t>
            </a:r>
            <a:r>
              <a:rPr lang="en-US" altLang="zh-CN" sz="14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saul_reg_read</a:t>
            </a: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(dev, &amp;res);</a:t>
            </a:r>
          </a:p>
          <a:p>
            <a:pPr>
              <a:defRPr/>
            </a:pP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a:t>
            </a:r>
            <a:r>
              <a:rPr lang="en-US" altLang="zh-CN" sz="1400" baseline="0" dirty="0" err="1">
                <a:solidFill>
                  <a:prstClr val="black"/>
                </a:solidFill>
                <a:latin typeface="Courier New" panose="02070309020205020404" pitchFamily="49" charset="0"/>
                <a:ea typeface="宋体" panose="02010600030101010101" pitchFamily="2" charset="-122"/>
                <a:cs typeface="Courier New" panose="02070309020205020404" pitchFamily="49" charset="0"/>
              </a:rPr>
              <a:t>phydat_dump</a:t>
            </a: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(&amp;res, dim);</a:t>
            </a:r>
          </a:p>
          <a:p>
            <a:pPr>
              <a:defRPr/>
            </a:pPr>
            <a:r>
              <a:rPr lang="en-US" altLang="zh-CN" sz="1400" baseline="0" dirty="0">
                <a:solidFill>
                  <a:prstClr val="black"/>
                </a:solidFill>
                <a:latin typeface="Courier New" panose="02070309020205020404" pitchFamily="49" charset="0"/>
                <a:ea typeface="宋体" panose="02010600030101010101" pitchFamily="2" charset="-122"/>
                <a:cs typeface="Courier New" panose="02070309020205020404" pitchFamily="49" charset="0"/>
              </a:rPr>
              <a:t>        dev = dev-&gt;next;8	}</a:t>
            </a:r>
          </a:p>
        </p:txBody>
      </p:sp>
      <p:sp>
        <p:nvSpPr>
          <p:cNvPr id="5" name="灯片编号占位符 4">
            <a:extLst>
              <a:ext uri="{FF2B5EF4-FFF2-40B4-BE49-F238E27FC236}">
                <a16:creationId xmlns:a16="http://schemas.microsoft.com/office/drawing/2014/main" id="{70D0F08D-8180-435D-84DE-65E47776185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43</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705920500"/>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dirty="0"/>
              <a:t>目录</a:t>
            </a:r>
          </a:p>
        </p:txBody>
      </p:sp>
      <p:sp>
        <p:nvSpPr>
          <p:cNvPr id="5" name="内容占位符 2"/>
          <p:cNvSpPr>
            <a:spLocks noGrp="1"/>
          </p:cNvSpPr>
          <p:nvPr>
            <p:ph idx="1"/>
          </p:nvPr>
        </p:nvSpPr>
        <p:spPr>
          <a:xfrm>
            <a:off x="457200" y="990600"/>
            <a:ext cx="8305800" cy="5410200"/>
          </a:xfrm>
        </p:spPr>
        <p:txBody>
          <a:bodyPr>
            <a:normAutofit lnSpcReduction="10000"/>
          </a:bodyPr>
          <a:lstStyle/>
          <a:p>
            <a:endParaRPr lang="en-US" altLang="zh-CN" sz="2800" dirty="0"/>
          </a:p>
          <a:p>
            <a:r>
              <a:rPr lang="zh-CN" altLang="en-US" sz="2800" dirty="0"/>
              <a:t>概述</a:t>
            </a:r>
            <a:endParaRPr lang="en-US" altLang="zh-CN" sz="2800" dirty="0"/>
          </a:p>
          <a:p>
            <a:r>
              <a:rPr lang="zh-CN" altLang="en-US" sz="2800" dirty="0"/>
              <a:t>关键特性</a:t>
            </a:r>
            <a:endParaRPr lang="en-US" altLang="zh-CN" sz="2800" dirty="0"/>
          </a:p>
          <a:p>
            <a:r>
              <a:rPr lang="zh-CN" altLang="en-US" sz="2800" dirty="0"/>
              <a:t>典型物联网操作系统</a:t>
            </a:r>
            <a:endParaRPr lang="en-US" altLang="zh-CN" sz="2800" dirty="0"/>
          </a:p>
          <a:p>
            <a:pPr lvl="1"/>
            <a:r>
              <a:rPr lang="pt-BR" altLang="zh-CN" sz="2400" dirty="0"/>
              <a:t>Contiki OS</a:t>
            </a:r>
          </a:p>
          <a:p>
            <a:pPr lvl="1"/>
            <a:r>
              <a:rPr lang="pt-BR" altLang="zh-CN" sz="2400" dirty="0"/>
              <a:t>RIOT</a:t>
            </a:r>
          </a:p>
          <a:p>
            <a:pPr lvl="1"/>
            <a:r>
              <a:rPr lang="pt-BR" altLang="zh-CN" sz="2400" dirty="0">
                <a:solidFill>
                  <a:srgbClr val="C00000"/>
                </a:solidFill>
              </a:rPr>
              <a:t>AliOS Things</a:t>
            </a:r>
          </a:p>
          <a:p>
            <a:pPr lvl="1"/>
            <a:r>
              <a:rPr lang="pt-BR" altLang="zh-CN" sz="2400" dirty="0"/>
              <a:t>HarmonyOS</a:t>
            </a:r>
            <a:endParaRPr lang="en-US" altLang="zh-CN" sz="2400" dirty="0"/>
          </a:p>
          <a:p>
            <a:r>
              <a:rPr lang="zh-CN" altLang="en-US" sz="2800" dirty="0"/>
              <a:t>案例开发</a:t>
            </a:r>
            <a:endParaRPr lang="en-US" altLang="zh-CN" sz="2800" dirty="0"/>
          </a:p>
          <a:p>
            <a:r>
              <a:rPr lang="zh-CN" altLang="en-US" sz="2800" dirty="0"/>
              <a:t>学术研究进展</a:t>
            </a:r>
            <a:endParaRPr lang="en-US" altLang="zh-CN" sz="2800" dirty="0"/>
          </a:p>
        </p:txBody>
      </p:sp>
    </p:spTree>
    <p:extLst>
      <p:ext uri="{BB962C8B-B14F-4D97-AF65-F5344CB8AC3E}">
        <p14:creationId xmlns:p14="http://schemas.microsoft.com/office/powerpoint/2010/main" val="37712415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descr="First slid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2453" t="13117" r="10578" b="14933"/>
          <a:stretch/>
        </p:blipFill>
        <p:spPr bwMode="auto">
          <a:xfrm>
            <a:off x="2849" y="3508369"/>
            <a:ext cx="9141151" cy="3352799"/>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393700" y="38100"/>
            <a:ext cx="8242300" cy="914400"/>
          </a:xfrm>
        </p:spPr>
        <p:txBody>
          <a:bodyPr/>
          <a:lstStyle/>
          <a:p>
            <a:r>
              <a:rPr lang="en-US" altLang="zh-CN" dirty="0" err="1"/>
              <a:t>AliOS</a:t>
            </a:r>
            <a:r>
              <a:rPr lang="en-US" altLang="zh-CN" dirty="0"/>
              <a:t> Things</a:t>
            </a:r>
            <a:endParaRPr lang="zh-CN" altLang="en-US" dirty="0"/>
          </a:p>
        </p:txBody>
      </p:sp>
      <p:sp>
        <p:nvSpPr>
          <p:cNvPr id="3" name="内容占位符 2"/>
          <p:cNvSpPr>
            <a:spLocks noGrp="1"/>
          </p:cNvSpPr>
          <p:nvPr>
            <p:ph idx="1"/>
          </p:nvPr>
        </p:nvSpPr>
        <p:spPr>
          <a:xfrm>
            <a:off x="457200" y="990600"/>
            <a:ext cx="8305800" cy="5410200"/>
          </a:xfrm>
        </p:spPr>
        <p:txBody>
          <a:bodyPr/>
          <a:lstStyle/>
          <a:p>
            <a:r>
              <a:rPr lang="zh-CN" altLang="en-US" dirty="0"/>
              <a:t>简介</a:t>
            </a:r>
            <a:endParaRPr lang="en-US" altLang="zh-CN" dirty="0"/>
          </a:p>
          <a:p>
            <a:pPr lvl="1"/>
            <a:r>
              <a:rPr lang="zh-CN" altLang="en-US" dirty="0"/>
              <a:t>由阿里巴巴集团研发的智能终端操作系统</a:t>
            </a:r>
            <a:endParaRPr lang="en-US" altLang="zh-CN" dirty="0"/>
          </a:p>
          <a:p>
            <a:pPr lvl="1"/>
            <a:r>
              <a:rPr lang="zh-CN" altLang="en-US" dirty="0"/>
              <a:t>以驱动万物智能为目标，可应用于汽车、智能家居、手机等智能终端</a:t>
            </a:r>
            <a:endParaRPr lang="en-US" altLang="zh-CN" dirty="0"/>
          </a:p>
          <a:p>
            <a:pPr lvl="1"/>
            <a:r>
              <a:rPr lang="zh-CN" altLang="en-US" dirty="0"/>
              <a:t>为各行各业提供一站式的物联网解决方案，构建物联网云端一体化生态，使物联网终端更加智能</a:t>
            </a:r>
            <a:endParaRPr lang="zh-CN" altLang="en-US" dirty="0">
              <a:solidFill>
                <a:schemeClr val="bg1"/>
              </a:solidFill>
            </a:endParaRPr>
          </a:p>
        </p:txBody>
      </p:sp>
      <p:sp>
        <p:nvSpPr>
          <p:cNvPr id="7" name="灯片编号占位符 4">
            <a:extLst>
              <a:ext uri="{FF2B5EF4-FFF2-40B4-BE49-F238E27FC236}">
                <a16:creationId xmlns:a16="http://schemas.microsoft.com/office/drawing/2014/main" id="{98A010DD-ADEB-4764-B84A-01F49F44922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45</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62257525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err="1"/>
              <a:t>AliOS</a:t>
            </a:r>
            <a:r>
              <a:rPr lang="en-US" altLang="zh-CN" dirty="0"/>
              <a:t> Things</a:t>
            </a:r>
            <a:endParaRPr lang="zh-CN" altLang="en-US" dirty="0"/>
          </a:p>
        </p:txBody>
      </p:sp>
      <p:sp>
        <p:nvSpPr>
          <p:cNvPr id="6" name="内容占位符 5">
            <a:extLst>
              <a:ext uri="{FF2B5EF4-FFF2-40B4-BE49-F238E27FC236}">
                <a16:creationId xmlns:a16="http://schemas.microsoft.com/office/drawing/2014/main" id="{DA9901F4-BE0F-4330-AB82-A285188F31CF}"/>
              </a:ext>
            </a:extLst>
          </p:cNvPr>
          <p:cNvSpPr>
            <a:spLocks noGrp="1"/>
          </p:cNvSpPr>
          <p:nvPr>
            <p:ph idx="1"/>
          </p:nvPr>
        </p:nvSpPr>
        <p:spPr/>
        <p:txBody>
          <a:bodyPr/>
          <a:lstStyle/>
          <a:p>
            <a:r>
              <a:rPr lang="zh-CN" altLang="en-US" dirty="0"/>
              <a:t>系统架构</a:t>
            </a:r>
          </a:p>
        </p:txBody>
      </p:sp>
      <p:pic>
        <p:nvPicPr>
          <p:cNvPr id="4" name="图片 3" descr="3-5">
            <a:extLst>
              <a:ext uri="{FF2B5EF4-FFF2-40B4-BE49-F238E27FC236}">
                <a16:creationId xmlns:a16="http://schemas.microsoft.com/office/drawing/2014/main" id="{7B6387D4-E122-124F-870D-F6647A5E557B}"/>
              </a:ext>
            </a:extLst>
          </p:cNvPr>
          <p:cNvPicPr>
            <a:picLocks noChangeAspect="1"/>
          </p:cNvPicPr>
          <p:nvPr/>
        </p:nvPicPr>
        <p:blipFill>
          <a:blip r:embed="rId3"/>
          <a:stretch>
            <a:fillRect/>
          </a:stretch>
        </p:blipFill>
        <p:spPr>
          <a:xfrm>
            <a:off x="1266611" y="1511257"/>
            <a:ext cx="6610777" cy="4889543"/>
          </a:xfrm>
          <a:prstGeom prst="rect">
            <a:avLst/>
          </a:prstGeom>
        </p:spPr>
      </p:pic>
      <p:sp>
        <p:nvSpPr>
          <p:cNvPr id="5" name="灯片编号占位符 4">
            <a:extLst>
              <a:ext uri="{FF2B5EF4-FFF2-40B4-BE49-F238E27FC236}">
                <a16:creationId xmlns:a16="http://schemas.microsoft.com/office/drawing/2014/main" id="{F1240193-A8F8-4B4E-8024-14E791CB3B3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46</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55417518"/>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508BE7-F744-4467-86D8-2C7F330E7897}"/>
              </a:ext>
            </a:extLst>
          </p:cNvPr>
          <p:cNvSpPr>
            <a:spLocks noGrp="1"/>
          </p:cNvSpPr>
          <p:nvPr>
            <p:ph type="title"/>
          </p:nvPr>
        </p:nvSpPr>
        <p:spPr/>
        <p:txBody>
          <a:bodyPr/>
          <a:lstStyle/>
          <a:p>
            <a:r>
              <a:rPr lang="en-US" altLang="zh-CN" dirty="0" err="1"/>
              <a:t>AliOS</a:t>
            </a:r>
            <a:r>
              <a:rPr lang="en-US" altLang="zh-CN" dirty="0"/>
              <a:t> Things-</a:t>
            </a:r>
            <a:r>
              <a:rPr lang="zh-CN" altLang="en-US" dirty="0"/>
              <a:t>关键特性</a:t>
            </a:r>
          </a:p>
        </p:txBody>
      </p:sp>
      <p:sp>
        <p:nvSpPr>
          <p:cNvPr id="3" name="内容占位符 2">
            <a:extLst>
              <a:ext uri="{FF2B5EF4-FFF2-40B4-BE49-F238E27FC236}">
                <a16:creationId xmlns:a16="http://schemas.microsoft.com/office/drawing/2014/main" id="{03C1C2A7-F691-4452-96AB-50C7623E816A}"/>
              </a:ext>
            </a:extLst>
          </p:cNvPr>
          <p:cNvSpPr>
            <a:spLocks noGrp="1"/>
          </p:cNvSpPr>
          <p:nvPr>
            <p:ph idx="1"/>
          </p:nvPr>
        </p:nvSpPr>
        <p:spPr/>
        <p:txBody>
          <a:bodyPr/>
          <a:lstStyle/>
          <a:p>
            <a:r>
              <a:rPr lang="zh-CN" altLang="en-US" dirty="0"/>
              <a:t>简易开发和多种开发环境</a:t>
            </a:r>
            <a:endParaRPr lang="en-US" altLang="zh-CN" dirty="0"/>
          </a:p>
          <a:p>
            <a:pPr lvl="1"/>
            <a:r>
              <a:rPr lang="zh-CN" altLang="en-US" dirty="0"/>
              <a:t>支持多种开发语言：</a:t>
            </a:r>
            <a:r>
              <a:rPr lang="en-US" altLang="zh-CN" dirty="0"/>
              <a:t>C</a:t>
            </a:r>
            <a:r>
              <a:rPr lang="zh-CN" altLang="en-US" dirty="0"/>
              <a:t>、</a:t>
            </a:r>
            <a:r>
              <a:rPr lang="en-US" altLang="zh-CN" dirty="0"/>
              <a:t>JavaScript</a:t>
            </a:r>
            <a:r>
              <a:rPr lang="zh-CN" altLang="en-US" dirty="0"/>
              <a:t>、</a:t>
            </a:r>
            <a:r>
              <a:rPr lang="en-US" altLang="zh-CN" dirty="0"/>
              <a:t>Python</a:t>
            </a:r>
          </a:p>
          <a:p>
            <a:pPr lvl="1"/>
            <a:r>
              <a:rPr lang="zh-CN" altLang="en-US" dirty="0"/>
              <a:t>提供强大的</a:t>
            </a:r>
            <a:r>
              <a:rPr lang="en-US" altLang="zh-CN" dirty="0"/>
              <a:t>IDE</a:t>
            </a:r>
            <a:r>
              <a:rPr lang="zh-CN" altLang="en-US" dirty="0"/>
              <a:t>，支持代码编辑与编译、 调试、内存泄漏检测</a:t>
            </a:r>
          </a:p>
          <a:p>
            <a:pPr lvl="1"/>
            <a:r>
              <a:rPr lang="zh-CN" altLang="en-US" dirty="0"/>
              <a:t>支持多种常用</a:t>
            </a:r>
            <a:r>
              <a:rPr lang="en-US" altLang="zh-CN" dirty="0"/>
              <a:t>Linux</a:t>
            </a:r>
            <a:r>
              <a:rPr lang="zh-CN" altLang="en-US" dirty="0"/>
              <a:t>平台工具</a:t>
            </a:r>
          </a:p>
          <a:p>
            <a:pPr lvl="2"/>
            <a:r>
              <a:rPr lang="zh-CN" altLang="en-US" dirty="0"/>
              <a:t>调试工具</a:t>
            </a:r>
            <a:r>
              <a:rPr lang="en-US" altLang="zh-CN" dirty="0"/>
              <a:t>GDB</a:t>
            </a:r>
            <a:r>
              <a:rPr lang="zh-CN" altLang="en-US" dirty="0"/>
              <a:t>、测试工具</a:t>
            </a:r>
            <a:r>
              <a:rPr lang="en-US" altLang="zh-CN" dirty="0" err="1"/>
              <a:t>Valgrind</a:t>
            </a:r>
            <a:r>
              <a:rPr lang="zh-CN" altLang="en-US" dirty="0"/>
              <a:t>与</a:t>
            </a:r>
            <a:r>
              <a:rPr lang="en-US" altLang="zh-CN" dirty="0"/>
              <a:t>Perf</a:t>
            </a:r>
          </a:p>
          <a:p>
            <a:pPr lvl="1"/>
            <a:r>
              <a:rPr lang="zh-CN" altLang="en-US" dirty="0"/>
              <a:t>支持组件式开发</a:t>
            </a:r>
            <a:endParaRPr lang="en-US" altLang="zh-CN" dirty="0"/>
          </a:p>
          <a:p>
            <a:pPr lvl="1"/>
            <a:r>
              <a:rPr lang="zh-CN" altLang="zh-CN" kern="500" dirty="0">
                <a:solidFill>
                  <a:srgbClr val="000000"/>
                </a:solidFill>
                <a:effectLst/>
                <a:cs typeface="Courier New" panose="02070309020205020404" pitchFamily="49" charset="0"/>
              </a:rPr>
              <a:t>支持</a:t>
            </a:r>
            <a:r>
              <a:rPr lang="en-US" altLang="zh-CN" kern="500" dirty="0">
                <a:solidFill>
                  <a:srgbClr val="000000"/>
                </a:solidFill>
                <a:effectLst/>
                <a:cs typeface="Courier New" panose="02070309020205020404" pitchFamily="49" charset="0"/>
              </a:rPr>
              <a:t>SoC I/O</a:t>
            </a:r>
            <a:r>
              <a:rPr lang="zh-CN" altLang="zh-CN" kern="500" dirty="0">
                <a:solidFill>
                  <a:srgbClr val="000000"/>
                </a:solidFill>
                <a:effectLst/>
                <a:cs typeface="Courier New" panose="02070309020205020404" pitchFamily="49" charset="0"/>
              </a:rPr>
              <a:t>接口标准定义</a:t>
            </a:r>
            <a:endParaRPr lang="en-US" altLang="zh-CN" kern="500" dirty="0">
              <a:solidFill>
                <a:srgbClr val="000000"/>
              </a:solidFill>
              <a:effectLst/>
              <a:cs typeface="Courier New" panose="02070309020205020404" pitchFamily="49" charset="0"/>
            </a:endParaRPr>
          </a:p>
          <a:p>
            <a:pPr lvl="1"/>
            <a:r>
              <a:rPr lang="zh-CN" altLang="en-US" dirty="0"/>
              <a:t>支持云端一体在线开发环境，提供</a:t>
            </a:r>
            <a:r>
              <a:rPr lang="en-US" altLang="zh-CN" dirty="0"/>
              <a:t>IoT</a:t>
            </a:r>
            <a:r>
              <a:rPr lang="zh-CN" altLang="en-US" dirty="0"/>
              <a:t>全链路开发、模拟和部署支持，让开发者能够全栈一体化地开发物联网应用</a:t>
            </a:r>
            <a:endParaRPr lang="en-US" altLang="zh-CN" dirty="0"/>
          </a:p>
          <a:p>
            <a:pPr lvl="1"/>
            <a:endParaRPr lang="en-US" altLang="zh-CN" dirty="0"/>
          </a:p>
          <a:p>
            <a:pPr marL="457200" lvl="1" indent="0">
              <a:buNone/>
            </a:pPr>
            <a:endParaRPr lang="en-US" altLang="zh-CN" dirty="0"/>
          </a:p>
          <a:p>
            <a:pPr marL="457200" lvl="1" indent="0">
              <a:buNone/>
            </a:pPr>
            <a:endParaRPr lang="zh-CN" altLang="en-US" dirty="0"/>
          </a:p>
        </p:txBody>
      </p:sp>
      <p:sp>
        <p:nvSpPr>
          <p:cNvPr id="4" name="灯片编号占位符 4">
            <a:extLst>
              <a:ext uri="{FF2B5EF4-FFF2-40B4-BE49-F238E27FC236}">
                <a16:creationId xmlns:a16="http://schemas.microsoft.com/office/drawing/2014/main" id="{40BE83BC-C481-4656-8DBD-B55505E7C69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47</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53331853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508BE7-F744-4467-86D8-2C7F330E7897}"/>
              </a:ext>
            </a:extLst>
          </p:cNvPr>
          <p:cNvSpPr>
            <a:spLocks noGrp="1"/>
          </p:cNvSpPr>
          <p:nvPr>
            <p:ph type="title"/>
          </p:nvPr>
        </p:nvSpPr>
        <p:spPr>
          <a:xfrm>
            <a:off x="393700" y="38100"/>
            <a:ext cx="8242300" cy="914400"/>
          </a:xfrm>
        </p:spPr>
        <p:txBody>
          <a:bodyPr/>
          <a:lstStyle/>
          <a:p>
            <a:r>
              <a:rPr lang="en-US" altLang="zh-CN" dirty="0" err="1"/>
              <a:t>AliOS</a:t>
            </a:r>
            <a:r>
              <a:rPr lang="en-US" altLang="zh-CN" dirty="0"/>
              <a:t> Things-</a:t>
            </a:r>
            <a:r>
              <a:rPr lang="zh-CN" altLang="en-US" dirty="0"/>
              <a:t>关键特性</a:t>
            </a:r>
          </a:p>
        </p:txBody>
      </p:sp>
      <p:sp>
        <p:nvSpPr>
          <p:cNvPr id="3" name="内容占位符 2">
            <a:extLst>
              <a:ext uri="{FF2B5EF4-FFF2-40B4-BE49-F238E27FC236}">
                <a16:creationId xmlns:a16="http://schemas.microsoft.com/office/drawing/2014/main" id="{03C1C2A7-F691-4452-96AB-50C7623E816A}"/>
              </a:ext>
            </a:extLst>
          </p:cNvPr>
          <p:cNvSpPr>
            <a:spLocks noGrp="1"/>
          </p:cNvSpPr>
          <p:nvPr>
            <p:ph idx="1"/>
          </p:nvPr>
        </p:nvSpPr>
        <p:spPr>
          <a:xfrm>
            <a:off x="457200" y="990600"/>
            <a:ext cx="8305800" cy="5410200"/>
          </a:xfrm>
        </p:spPr>
        <p:txBody>
          <a:bodyPr/>
          <a:lstStyle/>
          <a:p>
            <a:r>
              <a:rPr lang="zh-CN" altLang="en-US" dirty="0"/>
              <a:t>高度优化的性能</a:t>
            </a:r>
            <a:endParaRPr lang="en-US" altLang="zh-CN" dirty="0"/>
          </a:p>
          <a:p>
            <a:pPr lvl="1"/>
            <a:r>
              <a:rPr lang="zh-CN" altLang="en-US" dirty="0"/>
              <a:t>内存占用小</a:t>
            </a:r>
            <a:endParaRPr lang="en-US" altLang="zh-CN" dirty="0"/>
          </a:p>
          <a:p>
            <a:pPr lvl="2"/>
            <a:r>
              <a:rPr lang="en-US" altLang="zh-CN" dirty="0" err="1"/>
              <a:t>AliOS</a:t>
            </a:r>
            <a:r>
              <a:rPr lang="en-US" altLang="zh-CN" dirty="0"/>
              <a:t> Things</a:t>
            </a:r>
            <a:r>
              <a:rPr lang="zh-CN" altLang="zh-CN" dirty="0"/>
              <a:t>的内核是基于</a:t>
            </a:r>
            <a:r>
              <a:rPr lang="en-US" altLang="zh-CN" dirty="0"/>
              <a:t>Rhino</a:t>
            </a:r>
            <a:r>
              <a:rPr lang="zh-CN" altLang="zh-CN" dirty="0"/>
              <a:t>的实时操作系统进行研发的</a:t>
            </a:r>
            <a:r>
              <a:rPr lang="zh-CN" altLang="en-US" dirty="0"/>
              <a:t>，</a:t>
            </a:r>
            <a:endParaRPr lang="en-US" altLang="zh-CN" dirty="0"/>
          </a:p>
          <a:p>
            <a:pPr lvl="2"/>
            <a:r>
              <a:rPr lang="en-US" altLang="zh-CN" dirty="0"/>
              <a:t>Rhino</a:t>
            </a:r>
            <a:r>
              <a:rPr lang="zh-CN" altLang="en-US" dirty="0"/>
              <a:t>为内核对象提供静态和动态两种内存分配方式，</a:t>
            </a:r>
            <a:r>
              <a:rPr lang="zh-CN" altLang="zh-CN" dirty="0"/>
              <a:t>是专为小内存块管理而设计的内存分配器</a:t>
            </a:r>
            <a:endParaRPr lang="en-US" altLang="zh-CN" dirty="0"/>
          </a:p>
          <a:p>
            <a:pPr lvl="2"/>
            <a:r>
              <a:rPr lang="zh-CN" altLang="zh-CN" dirty="0"/>
              <a:t>由于能够对组件进行自由组装，</a:t>
            </a:r>
            <a:r>
              <a:rPr lang="en-US" altLang="zh-CN" dirty="0"/>
              <a:t>Rhino</a:t>
            </a:r>
            <a:r>
              <a:rPr lang="zh-CN" altLang="zh-CN" dirty="0"/>
              <a:t>可以使最终镜像尽可能小</a:t>
            </a:r>
            <a:endParaRPr lang="en-US" altLang="zh-CN" dirty="0"/>
          </a:p>
          <a:p>
            <a:pPr lvl="1"/>
            <a:r>
              <a:rPr lang="zh-CN" altLang="zh-CN" dirty="0"/>
              <a:t>低功耗</a:t>
            </a:r>
            <a:endParaRPr lang="en-US" altLang="zh-CN" dirty="0"/>
          </a:p>
          <a:p>
            <a:pPr lvl="2"/>
            <a:r>
              <a:rPr lang="en-US" altLang="zh-CN" dirty="0"/>
              <a:t>Rhino</a:t>
            </a:r>
            <a:r>
              <a:rPr lang="zh-CN" altLang="zh-CN" dirty="0"/>
              <a:t>内核提供了空闲</a:t>
            </a:r>
            <a:r>
              <a:rPr lang="en-US" altLang="zh-CN" dirty="0"/>
              <a:t>CPU</a:t>
            </a:r>
            <a:r>
              <a:rPr lang="zh-CN" altLang="zh-CN" dirty="0"/>
              <a:t>模式，帮助系统节省电量并延长其使用时间</a:t>
            </a:r>
            <a:endParaRPr lang="en-US" altLang="zh-CN" dirty="0"/>
          </a:p>
          <a:p>
            <a:pPr lvl="1"/>
            <a:r>
              <a:rPr lang="zh-CN" altLang="zh-CN" dirty="0"/>
              <a:t>实时性与多任务</a:t>
            </a:r>
            <a:endParaRPr lang="en-US" altLang="zh-CN" dirty="0"/>
          </a:p>
          <a:p>
            <a:pPr lvl="2"/>
            <a:r>
              <a:rPr lang="en-US" altLang="zh-CN" dirty="0"/>
              <a:t>Rhino</a:t>
            </a:r>
            <a:r>
              <a:rPr lang="zh-CN" altLang="zh-CN" dirty="0"/>
              <a:t>提供了两种调度策略：基于优先级的抢占式调度和循环调度</a:t>
            </a:r>
            <a:endParaRPr lang="en-US" altLang="zh-CN" dirty="0"/>
          </a:p>
          <a:p>
            <a:pPr lvl="1"/>
            <a:endParaRPr lang="en-US" altLang="zh-CN" dirty="0"/>
          </a:p>
          <a:p>
            <a:pPr lvl="1"/>
            <a:endParaRPr lang="zh-CN" altLang="en-US" dirty="0"/>
          </a:p>
        </p:txBody>
      </p:sp>
      <p:sp>
        <p:nvSpPr>
          <p:cNvPr id="8" name="灯片编号占位符 4">
            <a:extLst>
              <a:ext uri="{FF2B5EF4-FFF2-40B4-BE49-F238E27FC236}">
                <a16:creationId xmlns:a16="http://schemas.microsoft.com/office/drawing/2014/main" id="{A78EFE44-FD6E-404A-81AD-9632CFC8C89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48</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68584200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979547-480C-4ADF-B82B-F094D52FA5C9}"/>
              </a:ext>
            </a:extLst>
          </p:cNvPr>
          <p:cNvSpPr>
            <a:spLocks noGrp="1"/>
          </p:cNvSpPr>
          <p:nvPr>
            <p:ph type="title"/>
          </p:nvPr>
        </p:nvSpPr>
        <p:spPr>
          <a:xfrm>
            <a:off x="393700" y="38100"/>
            <a:ext cx="8242300" cy="914400"/>
          </a:xfrm>
        </p:spPr>
        <p:txBody>
          <a:bodyPr/>
          <a:lstStyle/>
          <a:p>
            <a:r>
              <a:rPr lang="en-US" altLang="zh-CN" dirty="0" err="1"/>
              <a:t>AliOS</a:t>
            </a:r>
            <a:r>
              <a:rPr lang="en-US" altLang="zh-CN" dirty="0"/>
              <a:t> Things-</a:t>
            </a:r>
            <a:r>
              <a:rPr lang="zh-CN" altLang="en-US" dirty="0"/>
              <a:t>关键特性</a:t>
            </a:r>
          </a:p>
        </p:txBody>
      </p:sp>
      <p:sp>
        <p:nvSpPr>
          <p:cNvPr id="3" name="内容占位符 2">
            <a:extLst>
              <a:ext uri="{FF2B5EF4-FFF2-40B4-BE49-F238E27FC236}">
                <a16:creationId xmlns:a16="http://schemas.microsoft.com/office/drawing/2014/main" id="{3F913797-D0AB-4828-9DE5-DB9F72FED66D}"/>
              </a:ext>
            </a:extLst>
          </p:cNvPr>
          <p:cNvSpPr>
            <a:spLocks noGrp="1"/>
          </p:cNvSpPr>
          <p:nvPr>
            <p:ph idx="1"/>
          </p:nvPr>
        </p:nvSpPr>
        <p:spPr>
          <a:xfrm>
            <a:off x="457200" y="990600"/>
            <a:ext cx="8305800" cy="5410200"/>
          </a:xfrm>
        </p:spPr>
        <p:txBody>
          <a:bodyPr/>
          <a:lstStyle/>
          <a:p>
            <a:r>
              <a:rPr lang="zh-CN" altLang="zh-CN" dirty="0"/>
              <a:t>细粒度软件更新</a:t>
            </a:r>
            <a:endParaRPr lang="en-US" altLang="zh-CN" dirty="0"/>
          </a:p>
          <a:p>
            <a:pPr lvl="1"/>
            <a:r>
              <a:rPr lang="zh-CN" altLang="en-US" dirty="0"/>
              <a:t>支持</a:t>
            </a:r>
            <a:r>
              <a:rPr lang="zh-CN" altLang="zh-CN" dirty="0"/>
              <a:t>无线固件升级（</a:t>
            </a:r>
            <a:r>
              <a:rPr lang="en-US" altLang="zh-CN" dirty="0"/>
              <a:t>firmware over-the-air</a:t>
            </a:r>
            <a:r>
              <a:rPr lang="zh-CN" altLang="zh-CN" dirty="0"/>
              <a:t>，</a:t>
            </a:r>
            <a:r>
              <a:rPr lang="en-US" altLang="zh-CN" dirty="0"/>
              <a:t>FOTA</a:t>
            </a:r>
            <a:r>
              <a:rPr lang="zh-CN" altLang="zh-CN" dirty="0"/>
              <a:t>）</a:t>
            </a:r>
            <a:endParaRPr lang="en-US" altLang="zh-CN" dirty="0"/>
          </a:p>
          <a:p>
            <a:pPr lvl="1"/>
            <a:r>
              <a:rPr lang="zh-CN" altLang="zh-CN" dirty="0"/>
              <a:t>支持应用的独立更新，以减少传输和储存的开销</a:t>
            </a:r>
            <a:endParaRPr lang="en-US" altLang="zh-CN" dirty="0"/>
          </a:p>
          <a:p>
            <a:pPr lvl="1"/>
            <a:r>
              <a:rPr lang="zh-CN" altLang="zh-CN" dirty="0"/>
              <a:t>支持差分更新和</a:t>
            </a:r>
            <a:r>
              <a:rPr lang="en-US" altLang="zh-CN" dirty="0"/>
              <a:t>A/B</a:t>
            </a:r>
            <a:r>
              <a:rPr lang="zh-CN" altLang="zh-CN" dirty="0"/>
              <a:t>系统更新等</a:t>
            </a:r>
            <a:endParaRPr lang="en-US" altLang="zh-CN" dirty="0"/>
          </a:p>
          <a:p>
            <a:r>
              <a:rPr lang="zh-CN" altLang="zh-CN" dirty="0"/>
              <a:t>丰富的组件和</a:t>
            </a:r>
            <a:r>
              <a:rPr lang="zh-CN" altLang="zh-CN" dirty="0">
                <a:solidFill>
                  <a:srgbClr val="C00000"/>
                </a:solidFill>
              </a:rPr>
              <a:t>网络服务</a:t>
            </a:r>
            <a:endParaRPr lang="en-US" altLang="zh-CN" dirty="0">
              <a:solidFill>
                <a:srgbClr val="C00000"/>
              </a:solidFill>
            </a:endParaRPr>
          </a:p>
          <a:p>
            <a:pPr lvl="1"/>
            <a:r>
              <a:rPr lang="zh-CN" altLang="en-US" dirty="0"/>
              <a:t>可以让开发者在不同网络层选择不同的方式来连接物联网，包括</a:t>
            </a:r>
            <a:r>
              <a:rPr lang="en-US" altLang="zh-CN" dirty="0" err="1"/>
              <a:t>uMesh</a:t>
            </a:r>
            <a:r>
              <a:rPr lang="zh-CN" altLang="en-US" dirty="0"/>
              <a:t>即插即用网络组件、套接字适配层（</a:t>
            </a:r>
            <a:r>
              <a:rPr lang="en-US" altLang="zh-CN" dirty="0"/>
              <a:t>SAL</a:t>
            </a:r>
            <a:r>
              <a:rPr lang="zh-CN" altLang="en-US" dirty="0"/>
              <a:t>）、</a:t>
            </a:r>
            <a:r>
              <a:rPr lang="en-US" altLang="zh-CN" dirty="0"/>
              <a:t>TCP/IP</a:t>
            </a:r>
            <a:r>
              <a:rPr lang="zh-CN" altLang="en-US" dirty="0"/>
              <a:t>网络协议栈（</a:t>
            </a:r>
            <a:r>
              <a:rPr lang="en-US" altLang="zh-CN" dirty="0" err="1"/>
              <a:t>LwIP</a:t>
            </a:r>
            <a:r>
              <a:rPr lang="zh-CN" altLang="en-US" dirty="0"/>
              <a:t>）和多种连接协议（例如</a:t>
            </a:r>
            <a:r>
              <a:rPr lang="en-US" altLang="zh-CN" dirty="0" err="1"/>
              <a:t>WiFi</a:t>
            </a:r>
            <a:r>
              <a:rPr lang="zh-CN" altLang="en-US" dirty="0"/>
              <a:t>、</a:t>
            </a:r>
            <a:r>
              <a:rPr lang="en-US" altLang="zh-CN" dirty="0"/>
              <a:t>BLE</a:t>
            </a:r>
            <a:r>
              <a:rPr lang="zh-CN" altLang="en-US" dirty="0"/>
              <a:t>、</a:t>
            </a:r>
            <a:r>
              <a:rPr lang="en-US" altLang="zh-CN" dirty="0" err="1"/>
              <a:t>LoRaWAN</a:t>
            </a:r>
            <a:r>
              <a:rPr lang="zh-CN" altLang="en-US" dirty="0"/>
              <a:t>、</a:t>
            </a:r>
            <a:r>
              <a:rPr lang="en-US" altLang="zh-CN" dirty="0"/>
              <a:t>GPRS</a:t>
            </a:r>
            <a:r>
              <a:rPr lang="zh-CN" altLang="en-US" dirty="0"/>
              <a:t>、</a:t>
            </a:r>
            <a:r>
              <a:rPr lang="en-US" altLang="zh-CN" dirty="0"/>
              <a:t>NB-IoT</a:t>
            </a:r>
            <a:r>
              <a:rPr lang="zh-CN" altLang="en-US" dirty="0"/>
              <a:t>等）</a:t>
            </a:r>
          </a:p>
        </p:txBody>
      </p:sp>
      <p:sp>
        <p:nvSpPr>
          <p:cNvPr id="6" name="灯片编号占位符 4">
            <a:extLst>
              <a:ext uri="{FF2B5EF4-FFF2-40B4-BE49-F238E27FC236}">
                <a16:creationId xmlns:a16="http://schemas.microsoft.com/office/drawing/2014/main" id="{99A5928C-092C-41AD-9E90-EEB78EFF532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49</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10472899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err="1"/>
              <a:t>AliOS</a:t>
            </a:r>
            <a:r>
              <a:rPr lang="en-US" altLang="zh-CN" dirty="0"/>
              <a:t> Things-</a:t>
            </a:r>
            <a:r>
              <a:rPr lang="zh-CN" altLang="zh-CN" dirty="0"/>
              <a:t>网络服务</a:t>
            </a:r>
            <a:endParaRPr lang="zh-CN" altLang="en-US" dirty="0"/>
          </a:p>
        </p:txBody>
      </p:sp>
      <p:sp>
        <p:nvSpPr>
          <p:cNvPr id="3" name="内容占位符 2"/>
          <p:cNvSpPr>
            <a:spLocks noGrp="1"/>
          </p:cNvSpPr>
          <p:nvPr>
            <p:ph idx="1"/>
          </p:nvPr>
        </p:nvSpPr>
        <p:spPr>
          <a:xfrm>
            <a:off x="457200" y="990600"/>
            <a:ext cx="8305800" cy="5410200"/>
          </a:xfrm>
        </p:spPr>
        <p:txBody>
          <a:bodyPr/>
          <a:lstStyle/>
          <a:p>
            <a:r>
              <a:rPr lang="zh-CN" altLang="en-US" dirty="0"/>
              <a:t>自组织网络协议</a:t>
            </a:r>
            <a:r>
              <a:rPr lang="en-US" altLang="zh-CN" dirty="0" err="1"/>
              <a:t>uMesh</a:t>
            </a:r>
            <a:r>
              <a:rPr lang="en-US" altLang="zh-CN" dirty="0"/>
              <a:t> </a:t>
            </a:r>
          </a:p>
          <a:p>
            <a:pPr lvl="1"/>
            <a:r>
              <a:rPr lang="zh-CN" altLang="zh-CN" dirty="0"/>
              <a:t>为</a:t>
            </a:r>
            <a:r>
              <a:rPr lang="en-US" altLang="zh-CN" dirty="0" err="1"/>
              <a:t>AliOS</a:t>
            </a:r>
            <a:r>
              <a:rPr lang="en-US" altLang="zh-CN" dirty="0"/>
              <a:t> Things</a:t>
            </a:r>
            <a:r>
              <a:rPr lang="zh-CN" altLang="zh-CN" dirty="0"/>
              <a:t>提供了自组织网络和实现设备间本地互联的能力</a:t>
            </a:r>
            <a:endParaRPr lang="en-US" altLang="zh-CN" dirty="0"/>
          </a:p>
          <a:p>
            <a:pPr lvl="1"/>
            <a:r>
              <a:rPr lang="zh-CN" altLang="en-US" dirty="0"/>
              <a:t>特点是自组织、自我修复和多跳，适用于需要大规模部署的场景</a:t>
            </a:r>
            <a:endParaRPr lang="en-US" altLang="zh-CN" dirty="0"/>
          </a:p>
          <a:p>
            <a:pPr lvl="1"/>
            <a:r>
              <a:rPr lang="zh-CN" altLang="zh-CN" dirty="0"/>
              <a:t>由三部分组成：协议的核心部分、连接协议抽象层和</a:t>
            </a:r>
            <a:r>
              <a:rPr lang="en-US" altLang="zh-CN" dirty="0"/>
              <a:t>IP</a:t>
            </a:r>
            <a:r>
              <a:rPr lang="zh-CN" altLang="zh-CN" dirty="0"/>
              <a:t>适配层</a:t>
            </a:r>
            <a:endParaRPr lang="en-US" altLang="zh-CN" dirty="0"/>
          </a:p>
        </p:txBody>
      </p:sp>
      <p:sp>
        <p:nvSpPr>
          <p:cNvPr id="6" name="灯片编号占位符 4">
            <a:extLst>
              <a:ext uri="{FF2B5EF4-FFF2-40B4-BE49-F238E27FC236}">
                <a16:creationId xmlns:a16="http://schemas.microsoft.com/office/drawing/2014/main" id="{9A4AEDCE-077F-4DC9-BA93-DDB788D961D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50</a:t>
            </a:fld>
            <a:endParaRPr lang="zh-CN" altLang="zh-CN" sz="1800" baseline="0">
              <a:solidFill>
                <a:schemeClr val="folHlink"/>
              </a:solidFill>
              <a:latin typeface="Monotype Corsiva" panose="03010101010201010101" pitchFamily="66" charset="0"/>
            </a:endParaRPr>
          </a:p>
        </p:txBody>
      </p:sp>
      <p:pic>
        <p:nvPicPr>
          <p:cNvPr id="9" name="图片 8">
            <a:extLst>
              <a:ext uri="{FF2B5EF4-FFF2-40B4-BE49-F238E27FC236}">
                <a16:creationId xmlns:a16="http://schemas.microsoft.com/office/drawing/2014/main" id="{0CD35DD0-C966-4EBE-9F32-8438CF7EFE06}"/>
              </a:ext>
            </a:extLst>
          </p:cNvPr>
          <p:cNvPicPr>
            <a:picLocks noChangeAspect="1"/>
          </p:cNvPicPr>
          <p:nvPr/>
        </p:nvPicPr>
        <p:blipFill>
          <a:blip r:embed="rId2"/>
          <a:stretch>
            <a:fillRect/>
          </a:stretch>
        </p:blipFill>
        <p:spPr>
          <a:xfrm>
            <a:off x="381000" y="2912448"/>
            <a:ext cx="5280726" cy="3488352"/>
          </a:xfrm>
          <a:prstGeom prst="rect">
            <a:avLst/>
          </a:prstGeom>
        </p:spPr>
      </p:pic>
      <p:sp>
        <p:nvSpPr>
          <p:cNvPr id="10" name="内容占位符 8">
            <a:extLst>
              <a:ext uri="{FF2B5EF4-FFF2-40B4-BE49-F238E27FC236}">
                <a16:creationId xmlns:a16="http://schemas.microsoft.com/office/drawing/2014/main" id="{A4921078-6170-46AD-9771-9DCA1EDE38D6}"/>
              </a:ext>
            </a:extLst>
          </p:cNvPr>
          <p:cNvSpPr txBox="1">
            <a:spLocks/>
          </p:cNvSpPr>
          <p:nvPr/>
        </p:nvSpPr>
        <p:spPr bwMode="auto">
          <a:xfrm>
            <a:off x="5171574" y="2790311"/>
            <a:ext cx="3898284" cy="5410200"/>
          </a:xfrm>
          <a:prstGeom prst="rect">
            <a:avLst/>
          </a:prstGeom>
          <a:noFill/>
          <a:ln w="9525">
            <a:noFill/>
            <a:miter lim="800000"/>
          </a:ln>
          <a:effectLst/>
        </p:spPr>
        <p:txBody>
          <a:bodyPr vert="horz" wrap="square" lIns="91440" tIns="45720" rIns="91440" bIns="45720" numCol="1" anchor="t" anchorCtr="0" compatLnSpc="1"/>
          <a:lstStyle>
            <a:lvl1pPr marL="342900" indent="-342900" algn="l" rtl="0" eaLnBrk="0" fontAlgn="base" hangingPunct="0">
              <a:lnSpc>
                <a:spcPct val="120000"/>
              </a:lnSpc>
              <a:spcBef>
                <a:spcPct val="20000"/>
              </a:spcBef>
              <a:spcAft>
                <a:spcPct val="0"/>
              </a:spcAft>
              <a:buClr>
                <a:srgbClr val="C00000"/>
              </a:buClr>
              <a:buFont typeface="Wingdings" panose="05000000000000000000" pitchFamily="2" charset="2"/>
              <a:buChar char="q"/>
              <a:defRPr lang="zh-CN" altLang="en-US" sz="2400" b="1" baseline="0" dirty="0" smtClean="0">
                <a:solidFill>
                  <a:schemeClr val="tx1"/>
                </a:solidFill>
                <a:latin typeface="+mj-ea"/>
                <a:ea typeface="+mj-ea"/>
                <a:cs typeface="+mn-cs"/>
              </a:defRPr>
            </a:lvl1pPr>
            <a:lvl2pPr marL="742950" indent="-285750" algn="l" rtl="0" eaLnBrk="0" fontAlgn="base" hangingPunct="0">
              <a:lnSpc>
                <a:spcPct val="120000"/>
              </a:lnSpc>
              <a:spcBef>
                <a:spcPct val="20000"/>
              </a:spcBef>
              <a:spcAft>
                <a:spcPct val="0"/>
              </a:spcAft>
              <a:buClr>
                <a:srgbClr val="C00000"/>
              </a:buClr>
              <a:buFont typeface="Wingdings" panose="05000000000000000000" pitchFamily="2" charset="2"/>
              <a:buChar char="Ø"/>
              <a:defRPr lang="en-US" altLang="zh-CN" sz="2000" b="0" i="0" strike="noStrike" baseline="0">
                <a:solidFill>
                  <a:schemeClr val="tx1"/>
                </a:solidFill>
                <a:effectLst/>
                <a:latin typeface="+mj-ea"/>
                <a:ea typeface="+mj-ea"/>
                <a:cs typeface="+mn-cs"/>
              </a:defRPr>
            </a:lvl2pPr>
            <a:lvl3pPr marL="1143000" indent="-228600" algn="l" rtl="0" eaLnBrk="0" fontAlgn="base" hangingPunct="0">
              <a:lnSpc>
                <a:spcPct val="120000"/>
              </a:lnSpc>
              <a:spcBef>
                <a:spcPct val="20000"/>
              </a:spcBef>
              <a:spcAft>
                <a:spcPct val="0"/>
              </a:spcAft>
              <a:buClr>
                <a:srgbClr val="C00000"/>
              </a:buClr>
              <a:buFont typeface="Wingdings" panose="05000000000000000000" pitchFamily="2" charset="2"/>
              <a:buChar char="l"/>
              <a:defRPr lang="en-US" altLang="zh-CN" sz="1800" b="0" i="0" baseline="0">
                <a:solidFill>
                  <a:schemeClr val="tx1"/>
                </a:solidFill>
                <a:effectLst/>
                <a:latin typeface="+mj-ea"/>
                <a:ea typeface="+mj-ea"/>
                <a:cs typeface="+mn-cs"/>
              </a:defRPr>
            </a:lvl3pPr>
            <a:lvl4pPr marL="1600200" indent="-228600" algn="l" rtl="0" eaLnBrk="0" fontAlgn="base" hangingPunct="0">
              <a:lnSpc>
                <a:spcPct val="120000"/>
              </a:lnSpc>
              <a:spcBef>
                <a:spcPct val="20000"/>
              </a:spcBef>
              <a:spcAft>
                <a:spcPct val="0"/>
              </a:spcAft>
              <a:buClr>
                <a:srgbClr val="C00000"/>
              </a:buClr>
              <a:buSzPct val="100000"/>
              <a:buFont typeface="Wingdings" panose="05000000000000000000" pitchFamily="2" charset="2"/>
              <a:buChar char="ü"/>
              <a:defRPr lang="en-US" altLang="zh-CN" sz="1600" b="0" baseline="0">
                <a:solidFill>
                  <a:schemeClr val="tx1"/>
                </a:solidFill>
                <a:effectLst/>
                <a:latin typeface="+mj-ea"/>
                <a:ea typeface="+mj-ea"/>
                <a:cs typeface="+mn-cs"/>
              </a:defRPr>
            </a:lvl4pPr>
            <a:lvl5pPr marL="2057400" indent="-228600" algn="l" rtl="0" eaLnBrk="0" fontAlgn="base" hangingPunct="0">
              <a:spcBef>
                <a:spcPct val="20000"/>
              </a:spcBef>
              <a:spcAft>
                <a:spcPct val="0"/>
              </a:spcAft>
              <a:buClr>
                <a:srgbClr val="111F65"/>
              </a:buClr>
              <a:buSzPct val="100000"/>
              <a:buFont typeface="Wingdings" panose="05000000000000000000" pitchFamily="2" charset="2"/>
              <a:buChar char="l"/>
              <a:defRPr lang="en-US" altLang="zh-CN" sz="2400" b="1" i="1" baseline="0">
                <a:solidFill>
                  <a:schemeClr val="tx1"/>
                </a:solidFill>
                <a:effectLst/>
                <a:latin typeface="微软雅黑" panose="020B0503020204020204" pitchFamily="34" charset="-122"/>
                <a:ea typeface="微软雅黑" panose="020B0503020204020204" pitchFamily="34" charset="-122"/>
                <a:cs typeface="+mn-cs"/>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a:lstStyle>
          <a:p>
            <a:pPr lvl="1">
              <a:spcBef>
                <a:spcPts val="0"/>
              </a:spcBef>
            </a:pPr>
            <a:r>
              <a:rPr lang="zh-CN" altLang="en-US" kern="0" dirty="0"/>
              <a:t>主要功能</a:t>
            </a:r>
            <a:endParaRPr lang="en-US" altLang="zh-CN" kern="0" dirty="0"/>
          </a:p>
          <a:p>
            <a:pPr lvl="2">
              <a:spcBef>
                <a:spcPts val="0"/>
              </a:spcBef>
            </a:pPr>
            <a:r>
              <a:rPr lang="zh-CN" altLang="en-US" kern="0" dirty="0"/>
              <a:t>支持</a:t>
            </a:r>
            <a:r>
              <a:rPr lang="en-US" altLang="zh-CN" kern="0" dirty="0"/>
              <a:t>IPv4</a:t>
            </a:r>
            <a:r>
              <a:rPr lang="zh-CN" altLang="en-US" kern="0" dirty="0"/>
              <a:t>、</a:t>
            </a:r>
            <a:r>
              <a:rPr lang="en-US" altLang="zh-CN" kern="0" dirty="0"/>
              <a:t>IPv6</a:t>
            </a:r>
            <a:endParaRPr lang="zh-CN" altLang="en-US" kern="0" dirty="0"/>
          </a:p>
          <a:p>
            <a:pPr lvl="2">
              <a:spcBef>
                <a:spcPts val="0"/>
              </a:spcBef>
            </a:pPr>
            <a:r>
              <a:rPr lang="zh-CN" altLang="en-US" kern="0" dirty="0"/>
              <a:t>支持多种链路层协议，如</a:t>
            </a:r>
            <a:r>
              <a:rPr lang="en-US" altLang="zh-CN" kern="0" dirty="0" err="1"/>
              <a:t>WiFi</a:t>
            </a:r>
            <a:r>
              <a:rPr lang="zh-CN" altLang="en-US" kern="0" dirty="0"/>
              <a:t>、</a:t>
            </a:r>
            <a:r>
              <a:rPr lang="en-US" altLang="zh-CN" kern="0" dirty="0"/>
              <a:t>BLE</a:t>
            </a:r>
            <a:r>
              <a:rPr lang="zh-CN" altLang="en-US" kern="0" dirty="0"/>
              <a:t>、</a:t>
            </a:r>
            <a:r>
              <a:rPr lang="en-US" altLang="zh-CN" kern="0" dirty="0"/>
              <a:t>802.15.4</a:t>
            </a:r>
            <a:endParaRPr lang="zh-CN" altLang="en-US" kern="0" dirty="0"/>
          </a:p>
          <a:p>
            <a:pPr lvl="2">
              <a:spcBef>
                <a:spcPts val="0"/>
              </a:spcBef>
            </a:pPr>
            <a:r>
              <a:rPr lang="zh-CN" altLang="en-US" kern="0" dirty="0"/>
              <a:t>支持不同通信介质之间的异构网络</a:t>
            </a:r>
          </a:p>
          <a:p>
            <a:pPr lvl="2">
              <a:spcBef>
                <a:spcPts val="0"/>
              </a:spcBef>
            </a:pPr>
            <a:r>
              <a:rPr lang="zh-CN" altLang="en-US" kern="0" dirty="0"/>
              <a:t>支持树状拓扑和网状拓扑</a:t>
            </a:r>
          </a:p>
          <a:p>
            <a:pPr lvl="2">
              <a:spcBef>
                <a:spcPts val="0"/>
              </a:spcBef>
            </a:pPr>
            <a:r>
              <a:rPr lang="zh-CN" altLang="en-US" kern="0" dirty="0"/>
              <a:t>支持低功耗</a:t>
            </a:r>
          </a:p>
          <a:p>
            <a:pPr lvl="2">
              <a:spcBef>
                <a:spcPts val="0"/>
              </a:spcBef>
            </a:pPr>
            <a:r>
              <a:rPr lang="zh-CN" altLang="en-US" kern="0" dirty="0"/>
              <a:t>可使用</a:t>
            </a:r>
            <a:r>
              <a:rPr lang="en-US" altLang="zh-CN" kern="0" dirty="0"/>
              <a:t>ID²</a:t>
            </a:r>
            <a:r>
              <a:rPr lang="zh-CN" altLang="en-US" kern="0" dirty="0"/>
              <a:t>对设备进行认证，并通过</a:t>
            </a:r>
            <a:r>
              <a:rPr lang="en-US" altLang="zh-CN" kern="0" dirty="0"/>
              <a:t>AES-128 </a:t>
            </a:r>
            <a:r>
              <a:rPr lang="zh-CN" altLang="en-US" kern="0" dirty="0"/>
              <a:t>加密数据</a:t>
            </a:r>
          </a:p>
          <a:p>
            <a:pPr lvl="1">
              <a:spcBef>
                <a:spcPts val="0"/>
              </a:spcBef>
            </a:pPr>
            <a:endParaRPr lang="zh-CN" altLang="en-US" kern="0" dirty="0"/>
          </a:p>
        </p:txBody>
      </p:sp>
    </p:spTree>
    <p:extLst>
      <p:ext uri="{BB962C8B-B14F-4D97-AF65-F5344CB8AC3E}">
        <p14:creationId xmlns:p14="http://schemas.microsoft.com/office/powerpoint/2010/main" val="332392451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878C3B-7298-4A65-B88A-B023080BBAAF}"/>
              </a:ext>
            </a:extLst>
          </p:cNvPr>
          <p:cNvSpPr>
            <a:spLocks noGrp="1"/>
          </p:cNvSpPr>
          <p:nvPr>
            <p:ph type="title"/>
          </p:nvPr>
        </p:nvSpPr>
        <p:spPr>
          <a:xfrm>
            <a:off x="393700" y="38100"/>
            <a:ext cx="8242300" cy="914400"/>
          </a:xfrm>
        </p:spPr>
        <p:txBody>
          <a:bodyPr/>
          <a:lstStyle/>
          <a:p>
            <a:r>
              <a:rPr lang="en-US" altLang="zh-CN" dirty="0" err="1"/>
              <a:t>AliOS</a:t>
            </a:r>
            <a:r>
              <a:rPr lang="en-US" altLang="zh-CN" dirty="0"/>
              <a:t> Things-</a:t>
            </a:r>
            <a:r>
              <a:rPr lang="zh-CN" altLang="zh-CN" dirty="0"/>
              <a:t>网络服务</a:t>
            </a:r>
            <a:endParaRPr lang="zh-CN" altLang="en-US" dirty="0"/>
          </a:p>
        </p:txBody>
      </p:sp>
      <p:sp>
        <p:nvSpPr>
          <p:cNvPr id="3" name="内容占位符 2">
            <a:extLst>
              <a:ext uri="{FF2B5EF4-FFF2-40B4-BE49-F238E27FC236}">
                <a16:creationId xmlns:a16="http://schemas.microsoft.com/office/drawing/2014/main" id="{BF913215-B770-452D-91DB-523D6BA0F754}"/>
              </a:ext>
            </a:extLst>
          </p:cNvPr>
          <p:cNvSpPr>
            <a:spLocks noGrp="1"/>
          </p:cNvSpPr>
          <p:nvPr>
            <p:ph idx="1"/>
          </p:nvPr>
        </p:nvSpPr>
        <p:spPr>
          <a:xfrm>
            <a:off x="457200" y="990600"/>
            <a:ext cx="8305800" cy="5410200"/>
          </a:xfrm>
        </p:spPr>
        <p:txBody>
          <a:bodyPr/>
          <a:lstStyle/>
          <a:p>
            <a:r>
              <a:rPr lang="zh-CN" altLang="en-US" dirty="0"/>
              <a:t>套接字适配层（</a:t>
            </a:r>
            <a:r>
              <a:rPr lang="en-US" altLang="zh-CN" dirty="0"/>
              <a:t>SAL</a:t>
            </a:r>
            <a:r>
              <a:rPr lang="zh-CN" altLang="en-US" dirty="0"/>
              <a:t>）</a:t>
            </a:r>
            <a:endParaRPr lang="en-US" altLang="zh-CN" dirty="0"/>
          </a:p>
          <a:p>
            <a:pPr lvl="1"/>
            <a:r>
              <a:rPr lang="en-US" altLang="zh-CN" dirty="0"/>
              <a:t>SAL </a:t>
            </a:r>
            <a:r>
              <a:rPr lang="zh-CN" altLang="en-US" dirty="0"/>
              <a:t>可用于加速具有不同连接能力的</a:t>
            </a:r>
            <a:r>
              <a:rPr lang="en-US" altLang="zh-CN" dirty="0"/>
              <a:t>MCU</a:t>
            </a:r>
            <a:r>
              <a:rPr lang="zh-CN" altLang="en-US" dirty="0"/>
              <a:t>通信芯片的开发</a:t>
            </a:r>
            <a:endParaRPr lang="en-US" altLang="zh-CN" dirty="0"/>
          </a:p>
          <a:p>
            <a:pPr lvl="1"/>
            <a:r>
              <a:rPr lang="en-US" altLang="zh-CN" dirty="0"/>
              <a:t>MCU</a:t>
            </a:r>
            <a:r>
              <a:rPr lang="zh-CN" altLang="en-US" dirty="0"/>
              <a:t>与通信芯片之间的通信可以通过</a:t>
            </a:r>
            <a:r>
              <a:rPr lang="en-US" altLang="zh-CN" dirty="0"/>
              <a:t>AT</a:t>
            </a:r>
            <a:r>
              <a:rPr lang="zh-CN" altLang="en-US" dirty="0"/>
              <a:t>命令通道或其他专用协议通道实现</a:t>
            </a:r>
            <a:endParaRPr lang="en-US" altLang="zh-CN" dirty="0"/>
          </a:p>
          <a:p>
            <a:r>
              <a:rPr lang="en-US" altLang="zh-CN" dirty="0"/>
              <a:t>TCP/IP </a:t>
            </a:r>
            <a:r>
              <a:rPr lang="zh-CN" altLang="en-US" dirty="0"/>
              <a:t>网络协议栈（</a:t>
            </a:r>
            <a:r>
              <a:rPr lang="en-US" altLang="zh-CN" dirty="0" err="1"/>
              <a:t>LwIP</a:t>
            </a:r>
            <a:r>
              <a:rPr lang="zh-CN" altLang="en-US" dirty="0"/>
              <a:t>）</a:t>
            </a:r>
            <a:endParaRPr lang="en-US" altLang="zh-CN" dirty="0"/>
          </a:p>
          <a:p>
            <a:pPr lvl="1"/>
            <a:r>
              <a:rPr lang="en-US" altLang="zh-CN" dirty="0" err="1"/>
              <a:t>AliOS</a:t>
            </a:r>
            <a:r>
              <a:rPr lang="en-US" altLang="zh-CN" dirty="0"/>
              <a:t> Things </a:t>
            </a:r>
            <a:r>
              <a:rPr lang="zh-CN" altLang="en-US" dirty="0"/>
              <a:t>的</a:t>
            </a:r>
            <a:r>
              <a:rPr lang="en-US" altLang="zh-CN" dirty="0"/>
              <a:t>TCP/IP </a:t>
            </a:r>
            <a:r>
              <a:rPr lang="zh-CN" altLang="en-US" dirty="0"/>
              <a:t>网络协议栈是基于</a:t>
            </a:r>
            <a:r>
              <a:rPr lang="en-US" altLang="zh-CN" dirty="0"/>
              <a:t>LwIP2.0.0 </a:t>
            </a:r>
            <a:r>
              <a:rPr lang="zh-CN" altLang="en-US" dirty="0"/>
              <a:t>深度定制和优化的协议栈</a:t>
            </a:r>
            <a:endParaRPr lang="en-US" altLang="zh-CN" dirty="0"/>
          </a:p>
          <a:p>
            <a:pPr lvl="1"/>
            <a:r>
              <a:rPr lang="zh-CN" altLang="en-US" dirty="0"/>
              <a:t>支持</a:t>
            </a:r>
            <a:r>
              <a:rPr lang="en-US" altLang="zh-CN" dirty="0"/>
              <a:t>IPv4/IPv6</a:t>
            </a:r>
            <a:r>
              <a:rPr lang="zh-CN" altLang="en-US" dirty="0"/>
              <a:t>、</a:t>
            </a:r>
            <a:r>
              <a:rPr lang="en-US" altLang="zh-CN" dirty="0"/>
              <a:t>TCP/UDP</a:t>
            </a:r>
            <a:r>
              <a:rPr lang="zh-CN" altLang="en-US" dirty="0"/>
              <a:t>、</a:t>
            </a:r>
            <a:r>
              <a:rPr lang="en-US" altLang="zh-CN" dirty="0"/>
              <a:t>ICMP</a:t>
            </a:r>
            <a:r>
              <a:rPr lang="zh-CN" altLang="en-US" dirty="0"/>
              <a:t>、</a:t>
            </a:r>
            <a:r>
              <a:rPr lang="en-US" altLang="zh-CN" dirty="0"/>
              <a:t>ARP</a:t>
            </a:r>
            <a:r>
              <a:rPr lang="zh-CN" altLang="en-US" dirty="0"/>
              <a:t>、</a:t>
            </a:r>
            <a:r>
              <a:rPr lang="en-US" altLang="zh-CN" dirty="0"/>
              <a:t>DHCP</a:t>
            </a:r>
            <a:r>
              <a:rPr lang="zh-CN" altLang="en-US" dirty="0"/>
              <a:t>等协议</a:t>
            </a:r>
            <a:endParaRPr lang="en-US" altLang="zh-CN" dirty="0"/>
          </a:p>
          <a:p>
            <a:r>
              <a:rPr lang="en-US" altLang="zh-CN" dirty="0" err="1"/>
              <a:t>LoRaWAN</a:t>
            </a:r>
            <a:r>
              <a:rPr lang="zh-CN" altLang="en-US" dirty="0"/>
              <a:t>连接协议</a:t>
            </a:r>
            <a:endParaRPr lang="en-US" altLang="zh-CN" dirty="0"/>
          </a:p>
          <a:p>
            <a:pPr lvl="1"/>
            <a:r>
              <a:rPr lang="en-US" altLang="zh-CN" dirty="0" err="1"/>
              <a:t>AliOS</a:t>
            </a:r>
            <a:r>
              <a:rPr lang="en-US" altLang="zh-CN" dirty="0"/>
              <a:t> Things </a:t>
            </a:r>
            <a:r>
              <a:rPr lang="zh-CN" altLang="en-US" dirty="0"/>
              <a:t>可以支持</a:t>
            </a:r>
            <a:r>
              <a:rPr lang="en-US" altLang="zh-CN" dirty="0" err="1"/>
              <a:t>LoRaWAN</a:t>
            </a:r>
            <a:r>
              <a:rPr lang="en-US" altLang="zh-CN" dirty="0"/>
              <a:t> </a:t>
            </a:r>
            <a:r>
              <a:rPr lang="zh-CN" altLang="en-US" dirty="0"/>
              <a:t>的双向传输终端（</a:t>
            </a:r>
            <a:r>
              <a:rPr lang="en-US" altLang="zh-CN" dirty="0"/>
              <a:t>Class A</a:t>
            </a:r>
            <a:r>
              <a:rPr lang="zh-CN" altLang="en-US" dirty="0"/>
              <a:t>）和最大化接收时隙的双向传输终端（</a:t>
            </a:r>
            <a:r>
              <a:rPr lang="en-US" altLang="zh-CN" dirty="0"/>
              <a:t>Class C</a:t>
            </a:r>
            <a:r>
              <a:rPr lang="zh-CN" altLang="en-US" dirty="0"/>
              <a:t>）两种模式的开发</a:t>
            </a:r>
            <a:endParaRPr lang="en-US" altLang="zh-CN" dirty="0"/>
          </a:p>
          <a:p>
            <a:pPr lvl="1"/>
            <a:r>
              <a:rPr lang="zh-CN" altLang="en-US" dirty="0"/>
              <a:t>可以通过</a:t>
            </a:r>
            <a:r>
              <a:rPr lang="en-US" altLang="zh-CN" dirty="0" err="1"/>
              <a:t>AliOS</a:t>
            </a:r>
            <a:r>
              <a:rPr lang="en-US" altLang="zh-CN" dirty="0"/>
              <a:t> Things</a:t>
            </a:r>
            <a:r>
              <a:rPr lang="zh-CN" altLang="en-US" dirty="0"/>
              <a:t>和</a:t>
            </a:r>
            <a:r>
              <a:rPr lang="en-US" altLang="zh-CN" dirty="0" err="1"/>
              <a:t>LoRaWAN</a:t>
            </a:r>
            <a:r>
              <a:rPr lang="zh-CN" altLang="en-US" dirty="0"/>
              <a:t>来完成</a:t>
            </a:r>
            <a:r>
              <a:rPr lang="en-US" altLang="zh-CN" dirty="0"/>
              <a:t>LoRa</a:t>
            </a:r>
            <a:r>
              <a:rPr lang="zh-CN" altLang="en-US" dirty="0"/>
              <a:t>网关和服务器之间的基本连接和通信</a:t>
            </a:r>
            <a:endParaRPr lang="en-US" altLang="zh-CN" dirty="0"/>
          </a:p>
          <a:p>
            <a:endParaRPr lang="zh-CN" altLang="en-US" dirty="0"/>
          </a:p>
        </p:txBody>
      </p:sp>
      <p:sp>
        <p:nvSpPr>
          <p:cNvPr id="6" name="灯片编号占位符 4">
            <a:extLst>
              <a:ext uri="{FF2B5EF4-FFF2-40B4-BE49-F238E27FC236}">
                <a16:creationId xmlns:a16="http://schemas.microsoft.com/office/drawing/2014/main" id="{FA727FD1-290A-42AB-B755-99549053BD7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51</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588714832"/>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err="1"/>
              <a:t>AliOS</a:t>
            </a:r>
            <a:r>
              <a:rPr lang="en-US" altLang="zh-CN" dirty="0"/>
              <a:t> Things-</a:t>
            </a:r>
            <a:r>
              <a:rPr lang="zh-CN" altLang="en-US" dirty="0"/>
              <a:t>关键特性</a:t>
            </a:r>
          </a:p>
        </p:txBody>
      </p:sp>
      <p:sp>
        <p:nvSpPr>
          <p:cNvPr id="3" name="内容占位符 2"/>
          <p:cNvSpPr>
            <a:spLocks noGrp="1"/>
          </p:cNvSpPr>
          <p:nvPr>
            <p:ph idx="1"/>
          </p:nvPr>
        </p:nvSpPr>
        <p:spPr>
          <a:xfrm>
            <a:off x="457200" y="990600"/>
            <a:ext cx="8305800" cy="5410200"/>
          </a:xfrm>
        </p:spPr>
        <p:txBody>
          <a:bodyPr/>
          <a:lstStyle/>
          <a:p>
            <a:r>
              <a:rPr lang="zh-CN" altLang="en-US" dirty="0"/>
              <a:t>全方位安全防护</a:t>
            </a:r>
            <a:endParaRPr lang="en-US" altLang="zh-CN" dirty="0"/>
          </a:p>
          <a:p>
            <a:pPr lvl="1"/>
            <a:r>
              <a:rPr lang="en-US" altLang="zh-CN" dirty="0" err="1"/>
              <a:t>AliOS</a:t>
            </a:r>
            <a:r>
              <a:rPr lang="en-US" altLang="zh-CN" dirty="0"/>
              <a:t> Things</a:t>
            </a:r>
            <a:r>
              <a:rPr lang="zh-CN" altLang="zh-CN" dirty="0"/>
              <a:t>既提供系统级别的安全保护，也提供芯片级别的安全保护</a:t>
            </a:r>
            <a:endParaRPr lang="en-US" altLang="zh-CN" dirty="0"/>
          </a:p>
          <a:p>
            <a:pPr lvl="1"/>
            <a:r>
              <a:rPr lang="zh-CN" altLang="en-US" dirty="0"/>
              <a:t>同时支持可信运行环境、设备身份认证</a:t>
            </a:r>
            <a:r>
              <a:rPr lang="en-US" altLang="zh-CN" dirty="0"/>
              <a:t>Link ID²</a:t>
            </a:r>
            <a:r>
              <a:rPr lang="zh-CN" altLang="en-US" dirty="0"/>
              <a:t>和非对称密钥，以及基于此的可信连接和安全服务</a:t>
            </a:r>
            <a:endParaRPr lang="en-US" altLang="zh-CN" dirty="0"/>
          </a:p>
          <a:p>
            <a:r>
              <a:rPr lang="zh-CN" altLang="zh-CN" dirty="0"/>
              <a:t>阿里云</a:t>
            </a:r>
            <a:r>
              <a:rPr lang="en-US" altLang="zh-CN" dirty="0"/>
              <a:t>Link ID</a:t>
            </a:r>
            <a:r>
              <a:rPr lang="zh-CN" altLang="zh-CN" dirty="0"/>
              <a:t>²（</a:t>
            </a:r>
            <a:r>
              <a:rPr lang="en-US" altLang="zh-CN" dirty="0"/>
              <a:t>Internet Device ID</a:t>
            </a:r>
            <a:r>
              <a:rPr lang="zh-CN" altLang="zh-CN" dirty="0"/>
              <a:t>）</a:t>
            </a:r>
            <a:endParaRPr lang="en-US" altLang="zh-CN" dirty="0"/>
          </a:p>
          <a:p>
            <a:pPr lvl="1"/>
            <a:r>
              <a:rPr lang="zh-CN" altLang="zh-CN" dirty="0"/>
              <a:t>物联网设备的可信身份标识</a:t>
            </a:r>
            <a:r>
              <a:rPr lang="zh-CN" altLang="en-US" dirty="0"/>
              <a:t>，</a:t>
            </a:r>
            <a:r>
              <a:rPr lang="zh-CN" altLang="zh-CN" dirty="0"/>
              <a:t>具备不可篡改、不可伪造、全球唯一的安全属性</a:t>
            </a:r>
            <a:endParaRPr lang="en-US" altLang="zh-CN" dirty="0"/>
          </a:p>
        </p:txBody>
      </p:sp>
      <p:pic>
        <p:nvPicPr>
          <p:cNvPr id="4" name="图片 3"/>
          <p:cNvPicPr>
            <a:picLocks noChangeAspect="1"/>
          </p:cNvPicPr>
          <p:nvPr/>
        </p:nvPicPr>
        <p:blipFill>
          <a:blip r:embed="rId2"/>
          <a:stretch>
            <a:fillRect/>
          </a:stretch>
        </p:blipFill>
        <p:spPr>
          <a:xfrm>
            <a:off x="1644078" y="4405976"/>
            <a:ext cx="5932043" cy="2071024"/>
          </a:xfrm>
          <a:prstGeom prst="rect">
            <a:avLst/>
          </a:prstGeom>
        </p:spPr>
      </p:pic>
      <p:sp>
        <p:nvSpPr>
          <p:cNvPr id="7" name="灯片编号占位符 4">
            <a:extLst>
              <a:ext uri="{FF2B5EF4-FFF2-40B4-BE49-F238E27FC236}">
                <a16:creationId xmlns:a16="http://schemas.microsoft.com/office/drawing/2014/main" id="{33089A91-B77A-4672-B386-C335085FEA9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952042098"/>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dirty="0"/>
              <a:t>目录</a:t>
            </a:r>
          </a:p>
        </p:txBody>
      </p:sp>
      <p:sp>
        <p:nvSpPr>
          <p:cNvPr id="5" name="内容占位符 2"/>
          <p:cNvSpPr>
            <a:spLocks noGrp="1"/>
          </p:cNvSpPr>
          <p:nvPr>
            <p:ph idx="1"/>
          </p:nvPr>
        </p:nvSpPr>
        <p:spPr>
          <a:xfrm>
            <a:off x="457200" y="990600"/>
            <a:ext cx="8305800" cy="5410200"/>
          </a:xfrm>
        </p:spPr>
        <p:txBody>
          <a:bodyPr>
            <a:normAutofit lnSpcReduction="10000"/>
          </a:bodyPr>
          <a:lstStyle/>
          <a:p>
            <a:endParaRPr lang="en-US" altLang="zh-CN" sz="2800" dirty="0"/>
          </a:p>
          <a:p>
            <a:r>
              <a:rPr lang="zh-CN" altLang="en-US" sz="2800" dirty="0"/>
              <a:t>概述</a:t>
            </a:r>
            <a:endParaRPr lang="en-US" altLang="zh-CN" sz="2800" dirty="0"/>
          </a:p>
          <a:p>
            <a:r>
              <a:rPr lang="zh-CN" altLang="en-US" sz="2800" dirty="0"/>
              <a:t>关键特性</a:t>
            </a:r>
            <a:endParaRPr lang="en-US" altLang="zh-CN" sz="2800" dirty="0"/>
          </a:p>
          <a:p>
            <a:r>
              <a:rPr lang="zh-CN" altLang="en-US" sz="2800" dirty="0"/>
              <a:t>典型物联网操作系统</a:t>
            </a:r>
            <a:endParaRPr lang="en-US" altLang="zh-CN" sz="2800" dirty="0"/>
          </a:p>
          <a:p>
            <a:pPr lvl="1"/>
            <a:r>
              <a:rPr lang="pt-BR" altLang="zh-CN" sz="2400" dirty="0"/>
              <a:t>Contiki OS</a:t>
            </a:r>
          </a:p>
          <a:p>
            <a:pPr lvl="1"/>
            <a:r>
              <a:rPr lang="pt-BR" altLang="zh-CN" sz="2400" dirty="0"/>
              <a:t>RIOT</a:t>
            </a:r>
          </a:p>
          <a:p>
            <a:pPr lvl="1"/>
            <a:r>
              <a:rPr lang="pt-BR" altLang="zh-CN" sz="2400" dirty="0"/>
              <a:t>AliOS Things</a:t>
            </a:r>
          </a:p>
          <a:p>
            <a:pPr lvl="1"/>
            <a:r>
              <a:rPr lang="pt-BR" altLang="zh-CN" sz="2400" dirty="0">
                <a:solidFill>
                  <a:srgbClr val="C00000"/>
                </a:solidFill>
              </a:rPr>
              <a:t>HarmonyOS</a:t>
            </a:r>
            <a:endParaRPr lang="en-US" altLang="zh-CN" sz="2400" dirty="0">
              <a:solidFill>
                <a:srgbClr val="C00000"/>
              </a:solidFill>
            </a:endParaRPr>
          </a:p>
          <a:p>
            <a:r>
              <a:rPr lang="zh-CN" altLang="en-US" sz="2800" dirty="0"/>
              <a:t>案例开发</a:t>
            </a:r>
            <a:endParaRPr lang="en-US" altLang="zh-CN" sz="2800" dirty="0"/>
          </a:p>
          <a:p>
            <a:r>
              <a:rPr lang="zh-CN" altLang="en-US" sz="2800" dirty="0"/>
              <a:t>学术研究进展</a:t>
            </a:r>
            <a:endParaRPr lang="en-US" altLang="zh-CN" sz="2800" dirty="0"/>
          </a:p>
        </p:txBody>
      </p:sp>
    </p:spTree>
    <p:extLst>
      <p:ext uri="{BB962C8B-B14F-4D97-AF65-F5344CB8AC3E}">
        <p14:creationId xmlns:p14="http://schemas.microsoft.com/office/powerpoint/2010/main" val="301172654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a:t>HarmonyOS</a:t>
            </a:r>
            <a:endParaRPr lang="zh-CN" altLang="en-US" dirty="0"/>
          </a:p>
        </p:txBody>
      </p:sp>
      <p:sp>
        <p:nvSpPr>
          <p:cNvPr id="3" name="内容占位符 2"/>
          <p:cNvSpPr>
            <a:spLocks noGrp="1"/>
          </p:cNvSpPr>
          <p:nvPr>
            <p:ph idx="1"/>
          </p:nvPr>
        </p:nvSpPr>
        <p:spPr>
          <a:xfrm>
            <a:off x="457200" y="990600"/>
            <a:ext cx="8305800" cy="5410200"/>
          </a:xfrm>
        </p:spPr>
        <p:txBody>
          <a:bodyPr>
            <a:normAutofit lnSpcReduction="10000"/>
          </a:bodyPr>
          <a:lstStyle/>
          <a:p>
            <a:r>
              <a:rPr lang="zh-CN" altLang="en-US"/>
              <a:t>简介</a:t>
            </a:r>
            <a:endParaRPr lang="en-US" altLang="zh-CN"/>
          </a:p>
          <a:p>
            <a:pPr lvl="1"/>
            <a:r>
              <a:rPr lang="en-US" altLang="zh-CN"/>
              <a:t>HarmonyOS</a:t>
            </a:r>
            <a:r>
              <a:rPr lang="zh-CN" altLang="en-US"/>
              <a:t>是一套由华为公司开发的，面向全场景的分布式操作系统，适用于移动办公、运动健康、社交通信、媒体娱乐等各类场景。</a:t>
            </a:r>
            <a:endParaRPr lang="en-US" altLang="zh-CN"/>
          </a:p>
          <a:p>
            <a:r>
              <a:rPr lang="zh-CN" altLang="en-US"/>
              <a:t>设计目标</a:t>
            </a:r>
            <a:endParaRPr lang="en-US" altLang="zh-CN"/>
          </a:p>
          <a:p>
            <a:pPr lvl="1"/>
            <a:r>
              <a:rPr lang="zh-CN" altLang="en-US"/>
              <a:t>面向消费者：将生活场景中的各类终端进行能力整合，实现不同的终端设备之间的快速连接、能力互补、资源共享，匹配合适的设备、提供流畅的全场景体验。</a:t>
            </a:r>
          </a:p>
          <a:p>
            <a:pPr lvl="1"/>
            <a:r>
              <a:rPr lang="zh-CN" altLang="en-US"/>
              <a:t>面向应用开发者：采用多种分布式技术，使得应用程序的开发实现与不同终端设备的形态差异无关。让开发者聚焦上层业务逻辑，更加便捷、高效地开发应用。</a:t>
            </a:r>
          </a:p>
          <a:p>
            <a:pPr lvl="1"/>
            <a:r>
              <a:rPr lang="zh-CN" altLang="en-US"/>
              <a:t>面向设备开发者：采用组件化的设计方案，根据设备的资源能力和业务特征进行灵活裁剪，满足不同形态的终端设备对于操作系统的要求。</a:t>
            </a:r>
            <a:endParaRPr lang="zh-CN" altLang="en-US" dirty="0"/>
          </a:p>
        </p:txBody>
      </p:sp>
      <p:sp>
        <p:nvSpPr>
          <p:cNvPr id="6" name="灯片编号占位符 4">
            <a:extLst>
              <a:ext uri="{FF2B5EF4-FFF2-40B4-BE49-F238E27FC236}">
                <a16:creationId xmlns:a16="http://schemas.microsoft.com/office/drawing/2014/main" id="{3DBEC73E-7D2A-4833-A812-072D4215A81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54</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564136418"/>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err="1"/>
              <a:t>HarmonyOS</a:t>
            </a:r>
            <a:r>
              <a:rPr lang="en-US" altLang="zh-CN" dirty="0"/>
              <a:t>-</a:t>
            </a:r>
            <a:r>
              <a:rPr lang="zh-CN" altLang="en-US" dirty="0"/>
              <a:t>关键特性</a:t>
            </a:r>
          </a:p>
        </p:txBody>
      </p:sp>
      <p:sp>
        <p:nvSpPr>
          <p:cNvPr id="3" name="内容占位符 2"/>
          <p:cNvSpPr>
            <a:spLocks noGrp="1"/>
          </p:cNvSpPr>
          <p:nvPr>
            <p:ph idx="1"/>
          </p:nvPr>
        </p:nvSpPr>
        <p:spPr>
          <a:xfrm>
            <a:off x="457200" y="990600"/>
            <a:ext cx="8305800" cy="5791200"/>
          </a:xfrm>
        </p:spPr>
        <p:txBody>
          <a:bodyPr>
            <a:normAutofit fontScale="92500" lnSpcReduction="10000"/>
          </a:bodyPr>
          <a:lstStyle/>
          <a:p>
            <a:r>
              <a:rPr lang="zh-CN" altLang="en-US" dirty="0"/>
              <a:t>多内核设计</a:t>
            </a:r>
            <a:endParaRPr lang="en-US" altLang="zh-CN" dirty="0"/>
          </a:p>
          <a:p>
            <a:pPr lvl="1"/>
            <a:r>
              <a:rPr lang="en-US" altLang="zh-CN" dirty="0" err="1"/>
              <a:t>HarmonyOS</a:t>
            </a:r>
            <a:r>
              <a:rPr lang="zh-CN" altLang="en-US" dirty="0"/>
              <a:t>主要分为内核层、系统服务层、框架层和应用层，支持根据实际需求裁剪某些非必要的子系统或功能</a:t>
            </a:r>
            <a:r>
              <a:rPr lang="en-US" altLang="zh-CN" dirty="0"/>
              <a:t>/</a:t>
            </a:r>
            <a:r>
              <a:rPr lang="zh-CN" altLang="en-US" dirty="0"/>
              <a:t>模块</a:t>
            </a:r>
            <a:endParaRPr lang="en-US" altLang="zh-CN" dirty="0"/>
          </a:p>
          <a:p>
            <a:pPr lvl="1"/>
            <a:r>
              <a:rPr lang="zh-CN" altLang="en-US" dirty="0"/>
              <a:t>在内核层，</a:t>
            </a:r>
            <a:r>
              <a:rPr lang="en-US" altLang="zh-CN" dirty="0" err="1"/>
              <a:t>HarmonyOS</a:t>
            </a:r>
            <a:r>
              <a:rPr lang="zh-CN" altLang="en-US" dirty="0"/>
              <a:t>采用多内核设计，支持针对不同资源受限设备选用适合的</a:t>
            </a:r>
            <a:r>
              <a:rPr lang="en-US" altLang="zh-CN" dirty="0"/>
              <a:t>OS</a:t>
            </a:r>
            <a:r>
              <a:rPr lang="zh-CN" altLang="en-US" dirty="0"/>
              <a:t>内核</a:t>
            </a:r>
            <a:endParaRPr lang="en-US" altLang="zh-CN" dirty="0"/>
          </a:p>
          <a:p>
            <a:pPr lvl="1"/>
            <a:r>
              <a:rPr lang="zh-CN" altLang="en-US" dirty="0"/>
              <a:t>内核抽象层（</a:t>
            </a:r>
            <a:r>
              <a:rPr lang="en-US" altLang="zh-CN" dirty="0"/>
              <a:t>KAL</a:t>
            </a:r>
            <a:r>
              <a:rPr lang="zh-CN" altLang="en-US" dirty="0"/>
              <a:t>，</a:t>
            </a:r>
            <a:r>
              <a:rPr lang="en-US" altLang="zh-CN" dirty="0"/>
              <a:t>Kernel Abstraction Layer</a:t>
            </a:r>
            <a:r>
              <a:rPr lang="zh-CN" altLang="en-US" dirty="0"/>
              <a:t>）通过屏蔽多内核差异，对上层提供基础的内核能力</a:t>
            </a:r>
            <a:endParaRPr lang="en-US" altLang="zh-CN" dirty="0"/>
          </a:p>
          <a:p>
            <a:r>
              <a:rPr lang="zh-CN" altLang="en-US" dirty="0"/>
              <a:t>分布式软总线</a:t>
            </a:r>
            <a:endParaRPr lang="en-US" altLang="zh-CN" dirty="0"/>
          </a:p>
          <a:p>
            <a:pPr lvl="1"/>
            <a:r>
              <a:rPr lang="en-US" altLang="zh-CN" dirty="0" err="1"/>
              <a:t>HarmonyOS</a:t>
            </a:r>
            <a:r>
              <a:rPr lang="zh-CN" altLang="en-US" dirty="0"/>
              <a:t>的使命和目标是将不同设备的串联起来，成为设备的“万能语言”，实现万物互联的终极目标</a:t>
            </a:r>
            <a:endParaRPr lang="en-US" altLang="zh-CN" dirty="0"/>
          </a:p>
          <a:p>
            <a:pPr lvl="1"/>
            <a:r>
              <a:rPr lang="zh-CN" altLang="en-US" dirty="0"/>
              <a:t>基于华为多年的通信技术积累，</a:t>
            </a:r>
            <a:r>
              <a:rPr lang="en-US" altLang="zh-CN" dirty="0" err="1"/>
              <a:t>HarmonyOS</a:t>
            </a:r>
            <a:r>
              <a:rPr lang="zh-CN" altLang="en-US" dirty="0"/>
              <a:t>提出了分布式软总线的概念，参考计算机硬件总线，在</a:t>
            </a:r>
            <a:r>
              <a:rPr lang="en-US" altLang="zh-CN" dirty="0"/>
              <a:t>1+8+N</a:t>
            </a:r>
            <a:r>
              <a:rPr lang="zh-CN" altLang="en-US" dirty="0"/>
              <a:t>设备间搭建一条“无形”的总线，具备自发现、自组网、高带宽低时延的特点</a:t>
            </a:r>
            <a:endParaRPr lang="en-US" altLang="zh-CN" dirty="0"/>
          </a:p>
          <a:p>
            <a:pPr lvl="1"/>
            <a:r>
              <a:rPr lang="zh-CN" altLang="en-US" dirty="0"/>
              <a:t>全场景设备间可以基于软总线完成设备虚拟化、跨设备服务调用、多屏协同、文件分享等分布式业务</a:t>
            </a:r>
            <a:endParaRPr lang="en-US" altLang="zh-CN" dirty="0"/>
          </a:p>
        </p:txBody>
      </p:sp>
      <p:sp>
        <p:nvSpPr>
          <p:cNvPr id="6" name="灯片编号占位符 4">
            <a:extLst>
              <a:ext uri="{FF2B5EF4-FFF2-40B4-BE49-F238E27FC236}">
                <a16:creationId xmlns:a16="http://schemas.microsoft.com/office/drawing/2014/main" id="{B81C6564-746E-4F59-B469-D5D70B92157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55</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691471120"/>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err="1"/>
              <a:t>HarmonyOS</a:t>
            </a:r>
            <a:r>
              <a:rPr lang="en-US" altLang="zh-CN" dirty="0"/>
              <a:t>-</a:t>
            </a:r>
            <a:r>
              <a:rPr lang="zh-CN" altLang="en-US" dirty="0"/>
              <a:t>关键特性</a:t>
            </a:r>
          </a:p>
        </p:txBody>
      </p:sp>
      <p:sp>
        <p:nvSpPr>
          <p:cNvPr id="3" name="内容占位符 2"/>
          <p:cNvSpPr>
            <a:spLocks noGrp="1"/>
          </p:cNvSpPr>
          <p:nvPr>
            <p:ph idx="1"/>
          </p:nvPr>
        </p:nvSpPr>
        <p:spPr>
          <a:xfrm>
            <a:off x="457200" y="990600"/>
            <a:ext cx="8305800" cy="5410200"/>
          </a:xfrm>
        </p:spPr>
        <p:txBody>
          <a:bodyPr/>
          <a:lstStyle/>
          <a:p>
            <a:r>
              <a:rPr lang="zh-CN" altLang="en-US" dirty="0"/>
              <a:t>多内核设计</a:t>
            </a:r>
            <a:endParaRPr lang="en-US" altLang="zh-CN" dirty="0"/>
          </a:p>
          <a:p>
            <a:pPr lvl="1"/>
            <a:r>
              <a:rPr lang="zh-CN" altLang="zh-CN" dirty="0"/>
              <a:t>手机端设备主要使用</a:t>
            </a:r>
            <a:r>
              <a:rPr lang="en-US" altLang="zh-CN" dirty="0"/>
              <a:t>Linux</a:t>
            </a:r>
            <a:r>
              <a:rPr lang="zh-CN" altLang="zh-CN" dirty="0"/>
              <a:t>内核</a:t>
            </a:r>
            <a:endParaRPr lang="en-US" altLang="zh-CN" dirty="0"/>
          </a:p>
          <a:p>
            <a:pPr lvl="1"/>
            <a:r>
              <a:rPr lang="en-US" altLang="zh-CN" dirty="0"/>
              <a:t>IoT</a:t>
            </a:r>
            <a:r>
              <a:rPr lang="zh-CN" altLang="zh-CN" dirty="0"/>
              <a:t>领域的设备，</a:t>
            </a:r>
            <a:r>
              <a:rPr lang="en-US" altLang="zh-CN" dirty="0" err="1"/>
              <a:t>HarmonyOS</a:t>
            </a:r>
            <a:r>
              <a:rPr lang="zh-CN" altLang="zh-CN" dirty="0"/>
              <a:t>有</a:t>
            </a:r>
            <a:r>
              <a:rPr lang="en-US" altLang="zh-CN" dirty="0" err="1"/>
              <a:t>LiteOS</a:t>
            </a:r>
            <a:r>
              <a:rPr lang="en-US" altLang="zh-CN" dirty="0"/>
              <a:t>-A </a:t>
            </a:r>
            <a:r>
              <a:rPr lang="zh-CN" altLang="zh-CN" dirty="0"/>
              <a:t>和 </a:t>
            </a:r>
            <a:r>
              <a:rPr lang="en-US" altLang="zh-CN" dirty="0" err="1"/>
              <a:t>LiteOS</a:t>
            </a:r>
            <a:r>
              <a:rPr lang="en-US" altLang="zh-CN" dirty="0"/>
              <a:t>-M</a:t>
            </a:r>
            <a:r>
              <a:rPr lang="zh-CN" altLang="zh-CN" dirty="0"/>
              <a:t>两个内核可以使用，其中</a:t>
            </a:r>
            <a:endParaRPr lang="en-US" altLang="zh-CN" dirty="0"/>
          </a:p>
          <a:p>
            <a:pPr lvl="2"/>
            <a:r>
              <a:rPr lang="en-US" altLang="zh-CN" dirty="0" err="1"/>
              <a:t>LiteOS</a:t>
            </a:r>
            <a:r>
              <a:rPr lang="en-US" altLang="zh-CN" dirty="0"/>
              <a:t>-A</a:t>
            </a:r>
            <a:r>
              <a:rPr lang="zh-CN" altLang="zh-CN" dirty="0"/>
              <a:t>主要针对标准设备（参考内存</a:t>
            </a:r>
            <a:r>
              <a:rPr lang="en-US" altLang="zh-CN" dirty="0"/>
              <a:t>≥128MB</a:t>
            </a:r>
            <a:r>
              <a:rPr lang="zh-CN" altLang="zh-CN" dirty="0"/>
              <a:t>），可以支持有</a:t>
            </a:r>
            <a:r>
              <a:rPr lang="en-US" altLang="zh-CN" dirty="0"/>
              <a:t>MMU</a:t>
            </a:r>
            <a:r>
              <a:rPr lang="zh-CN" altLang="zh-CN" dirty="0"/>
              <a:t>的设备进行虚拟内存映射</a:t>
            </a:r>
            <a:endParaRPr lang="en-US" altLang="zh-CN" dirty="0"/>
          </a:p>
          <a:p>
            <a:pPr lvl="2"/>
            <a:r>
              <a:rPr lang="en-US" altLang="zh-CN" dirty="0" err="1"/>
              <a:t>LiteOS</a:t>
            </a:r>
            <a:r>
              <a:rPr lang="en-US" altLang="zh-CN" dirty="0"/>
              <a:t>-M</a:t>
            </a:r>
            <a:r>
              <a:rPr lang="zh-CN" altLang="zh-CN" dirty="0"/>
              <a:t>则主要针对微设备（参考内存</a:t>
            </a:r>
            <a:r>
              <a:rPr lang="en-US" altLang="zh-CN" dirty="0"/>
              <a:t>≥1MB</a:t>
            </a:r>
            <a:r>
              <a:rPr lang="zh-CN" altLang="zh-CN" dirty="0"/>
              <a:t>）及迷你设备（参考内存</a:t>
            </a:r>
            <a:r>
              <a:rPr lang="en-US" altLang="zh-CN" dirty="0"/>
              <a:t>≥128KB</a:t>
            </a:r>
            <a:r>
              <a:rPr lang="zh-CN" altLang="zh-CN" dirty="0"/>
              <a:t>）这类没有通常</a:t>
            </a:r>
            <a:r>
              <a:rPr lang="en-US" altLang="zh-CN" dirty="0"/>
              <a:t>MMU</a:t>
            </a:r>
            <a:r>
              <a:rPr lang="zh-CN" altLang="zh-CN" dirty="0"/>
              <a:t>的设备</a:t>
            </a:r>
          </a:p>
        </p:txBody>
      </p:sp>
      <p:sp>
        <p:nvSpPr>
          <p:cNvPr id="6" name="灯片编号占位符 4">
            <a:extLst>
              <a:ext uri="{FF2B5EF4-FFF2-40B4-BE49-F238E27FC236}">
                <a16:creationId xmlns:a16="http://schemas.microsoft.com/office/drawing/2014/main" id="{D45CE164-8073-4C08-9B3B-51BDF21BC22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56</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36371829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err="1"/>
              <a:t>HarmonyOS</a:t>
            </a:r>
            <a:r>
              <a:rPr lang="en-US" altLang="zh-CN" dirty="0"/>
              <a:t>-</a:t>
            </a:r>
            <a:r>
              <a:rPr lang="zh-CN" altLang="en-US" dirty="0"/>
              <a:t>关键特性</a:t>
            </a:r>
          </a:p>
        </p:txBody>
      </p:sp>
      <p:sp>
        <p:nvSpPr>
          <p:cNvPr id="3" name="内容占位符 2"/>
          <p:cNvSpPr>
            <a:spLocks noGrp="1"/>
          </p:cNvSpPr>
          <p:nvPr>
            <p:ph idx="1"/>
          </p:nvPr>
        </p:nvSpPr>
        <p:spPr>
          <a:xfrm>
            <a:off x="457200" y="990600"/>
            <a:ext cx="8305800" cy="5410200"/>
          </a:xfrm>
        </p:spPr>
        <p:txBody>
          <a:bodyPr/>
          <a:lstStyle/>
          <a:p>
            <a:r>
              <a:rPr lang="en-US" altLang="zh-CN" dirty="0" err="1"/>
              <a:t>LiteOS</a:t>
            </a:r>
            <a:r>
              <a:rPr lang="en-US" altLang="zh-CN" dirty="0"/>
              <a:t>-A</a:t>
            </a:r>
            <a:r>
              <a:rPr lang="zh-CN" altLang="en-US" dirty="0"/>
              <a:t>内核</a:t>
            </a:r>
            <a:endParaRPr lang="en-US" altLang="zh-CN" dirty="0"/>
          </a:p>
          <a:p>
            <a:pPr lvl="1"/>
            <a:r>
              <a:rPr lang="en-US" altLang="zh-CN" dirty="0" err="1"/>
              <a:t>LiteOS</a:t>
            </a:r>
            <a:r>
              <a:rPr lang="en-US" altLang="zh-CN" dirty="0"/>
              <a:t>-A</a:t>
            </a:r>
            <a:r>
              <a:rPr lang="zh-CN" altLang="en-US" dirty="0"/>
              <a:t>内核是基于</a:t>
            </a:r>
            <a:r>
              <a:rPr lang="en-US" altLang="zh-CN" dirty="0"/>
              <a:t>Huawei </a:t>
            </a:r>
            <a:r>
              <a:rPr lang="en-US" altLang="zh-CN" dirty="0" err="1"/>
              <a:t>LiteOS</a:t>
            </a:r>
            <a:r>
              <a:rPr lang="zh-CN" altLang="en-US" dirty="0"/>
              <a:t>内核演进发展的新一代内核</a:t>
            </a:r>
            <a:endParaRPr lang="en-US" altLang="zh-CN" dirty="0"/>
          </a:p>
          <a:p>
            <a:pPr lvl="1"/>
            <a:r>
              <a:rPr lang="zh-CN" altLang="en-US" dirty="0"/>
              <a:t>小体积、低功耗、高性能以及统一开放的生态系统能力</a:t>
            </a:r>
            <a:endParaRPr lang="en-US" altLang="zh-CN" dirty="0"/>
          </a:p>
          <a:p>
            <a:pPr lvl="1"/>
            <a:r>
              <a:rPr lang="zh-CN" altLang="en-US" dirty="0"/>
              <a:t>新增了丰富的内核机制、更加全面的</a:t>
            </a:r>
            <a:r>
              <a:rPr lang="en-US" altLang="zh-CN" dirty="0"/>
              <a:t>POSIX</a:t>
            </a:r>
            <a:r>
              <a:rPr lang="zh-CN" altLang="en-US" dirty="0"/>
              <a:t>标准接口以及统一驱动框架</a:t>
            </a:r>
            <a:r>
              <a:rPr lang="en-US" altLang="zh-CN" dirty="0"/>
              <a:t>HDF</a:t>
            </a:r>
            <a:r>
              <a:rPr lang="zh-CN" altLang="en-US" dirty="0"/>
              <a:t>等</a:t>
            </a:r>
            <a:endParaRPr lang="zh-CN" altLang="zh-CN" dirty="0"/>
          </a:p>
        </p:txBody>
      </p:sp>
      <p:pic>
        <p:nvPicPr>
          <p:cNvPr id="6" name="图片 5">
            <a:extLst>
              <a:ext uri="{FF2B5EF4-FFF2-40B4-BE49-F238E27FC236}">
                <a16:creationId xmlns:a16="http://schemas.microsoft.com/office/drawing/2014/main" id="{00F50867-91FF-8A41-B3C9-691908BDBB06}"/>
              </a:ext>
            </a:extLst>
          </p:cNvPr>
          <p:cNvPicPr>
            <a:picLocks noChangeAspect="1"/>
          </p:cNvPicPr>
          <p:nvPr/>
        </p:nvPicPr>
        <p:blipFill>
          <a:blip r:embed="rId2"/>
          <a:stretch>
            <a:fillRect/>
          </a:stretch>
        </p:blipFill>
        <p:spPr>
          <a:xfrm>
            <a:off x="2842054" y="2806205"/>
            <a:ext cx="5793946" cy="3861296"/>
          </a:xfrm>
          <a:prstGeom prst="rect">
            <a:avLst/>
          </a:prstGeom>
        </p:spPr>
      </p:pic>
      <p:sp>
        <p:nvSpPr>
          <p:cNvPr id="7" name="矩形 6">
            <a:extLst>
              <a:ext uri="{FF2B5EF4-FFF2-40B4-BE49-F238E27FC236}">
                <a16:creationId xmlns:a16="http://schemas.microsoft.com/office/drawing/2014/main" id="{AB3BF6BC-B4DE-41AC-9F20-A98D1BD7E57B}"/>
              </a:ext>
            </a:extLst>
          </p:cNvPr>
          <p:cNvSpPr/>
          <p:nvPr/>
        </p:nvSpPr>
        <p:spPr>
          <a:xfrm>
            <a:off x="1135557" y="5836503"/>
            <a:ext cx="1817708" cy="830997"/>
          </a:xfrm>
          <a:prstGeom prst="rect">
            <a:avLst/>
          </a:prstGeom>
        </p:spPr>
        <p:txBody>
          <a:bodyPr wrap="square">
            <a:spAutoFit/>
          </a:bodyPr>
          <a:lstStyle/>
          <a:p>
            <a:r>
              <a:rPr lang="en-US" altLang="zh-CN" dirty="0" err="1">
                <a:latin typeface="+mj-ea"/>
                <a:ea typeface="+mj-ea"/>
              </a:rPr>
              <a:t>OpenHarmony</a:t>
            </a:r>
            <a:r>
              <a:rPr lang="en-US" altLang="zh-CN" dirty="0">
                <a:latin typeface="+mj-ea"/>
                <a:ea typeface="+mj-ea"/>
              </a:rPr>
              <a:t> </a:t>
            </a:r>
            <a:r>
              <a:rPr lang="en-US" altLang="zh-CN" dirty="0" err="1">
                <a:latin typeface="+mj-ea"/>
                <a:ea typeface="+mj-ea"/>
              </a:rPr>
              <a:t>LiteOS</a:t>
            </a:r>
            <a:r>
              <a:rPr lang="en-US" altLang="zh-CN" dirty="0">
                <a:latin typeface="+mj-ea"/>
                <a:ea typeface="+mj-ea"/>
              </a:rPr>
              <a:t>-A</a:t>
            </a:r>
            <a:r>
              <a:rPr lang="zh-CN" altLang="en-US" dirty="0">
                <a:latin typeface="+mj-ea"/>
                <a:ea typeface="+mj-ea"/>
              </a:rPr>
              <a:t>的内核架构图</a:t>
            </a:r>
          </a:p>
        </p:txBody>
      </p:sp>
      <p:sp>
        <p:nvSpPr>
          <p:cNvPr id="8" name="灯片编号占位符 4">
            <a:extLst>
              <a:ext uri="{FF2B5EF4-FFF2-40B4-BE49-F238E27FC236}">
                <a16:creationId xmlns:a16="http://schemas.microsoft.com/office/drawing/2014/main" id="{81098788-E143-407E-BD24-410A2711246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57</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652704340"/>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HarmonyOS</a:t>
            </a:r>
            <a:r>
              <a:rPr lang="en-US" altLang="zh-CN" dirty="0"/>
              <a:t>-</a:t>
            </a:r>
            <a:r>
              <a:rPr lang="zh-CN" altLang="en-US" dirty="0"/>
              <a:t>关键特性</a:t>
            </a:r>
          </a:p>
        </p:txBody>
      </p:sp>
      <p:sp>
        <p:nvSpPr>
          <p:cNvPr id="3" name="内容占位符 2"/>
          <p:cNvSpPr>
            <a:spLocks noGrp="1"/>
          </p:cNvSpPr>
          <p:nvPr>
            <p:ph idx="4294967295"/>
          </p:nvPr>
        </p:nvSpPr>
        <p:spPr>
          <a:xfrm>
            <a:off x="457200" y="990600"/>
            <a:ext cx="8305800" cy="5829300"/>
          </a:xfrm>
        </p:spPr>
        <p:txBody>
          <a:bodyPr>
            <a:normAutofit/>
          </a:bodyPr>
          <a:lstStyle/>
          <a:p>
            <a:r>
              <a:rPr lang="en-US" altLang="zh-CN" dirty="0" err="1"/>
              <a:t>LiteOS</a:t>
            </a:r>
            <a:r>
              <a:rPr lang="en-US" altLang="zh-CN" dirty="0"/>
              <a:t>-M</a:t>
            </a:r>
            <a:r>
              <a:rPr lang="zh-CN" altLang="en-US" dirty="0"/>
              <a:t>内核</a:t>
            </a:r>
            <a:endParaRPr lang="en-US" altLang="zh-CN" dirty="0"/>
          </a:p>
          <a:p>
            <a:pPr lvl="1"/>
            <a:r>
              <a:rPr lang="zh-CN" altLang="en-US" dirty="0"/>
              <a:t>面向</a:t>
            </a:r>
            <a:r>
              <a:rPr lang="en-US" altLang="zh-CN" dirty="0"/>
              <a:t>IoT</a:t>
            </a:r>
            <a:r>
              <a:rPr lang="zh-CN" altLang="en-US" dirty="0"/>
              <a:t>领域构建的轻量级物联网操作系统内核</a:t>
            </a:r>
            <a:endParaRPr lang="en-US" altLang="zh-CN" dirty="0"/>
          </a:p>
          <a:p>
            <a:pPr lvl="1"/>
            <a:r>
              <a:rPr lang="zh-CN" altLang="en-US" dirty="0"/>
              <a:t>小体积、低功耗、高性能</a:t>
            </a:r>
            <a:endParaRPr lang="en-US" altLang="zh-CN" dirty="0"/>
          </a:p>
          <a:p>
            <a:pPr lvl="1"/>
            <a:r>
              <a:rPr lang="en-US" altLang="zh-CN" dirty="0" err="1"/>
              <a:t>LiteOS</a:t>
            </a:r>
            <a:r>
              <a:rPr lang="en-US" altLang="zh-CN" dirty="0"/>
              <a:t>-M</a:t>
            </a:r>
            <a:r>
              <a:rPr lang="zh-CN" altLang="en-US" dirty="0"/>
              <a:t>代码结构简单，分为硬件相关层以及硬件无关层</a:t>
            </a:r>
            <a:endParaRPr lang="en-US" altLang="zh-CN" dirty="0"/>
          </a:p>
          <a:p>
            <a:pPr lvl="1"/>
            <a:r>
              <a:rPr lang="zh-CN" altLang="en-US" dirty="0"/>
              <a:t>硬件相关层提供统一的</a:t>
            </a:r>
            <a:r>
              <a:rPr lang="en-US" altLang="zh-CN" dirty="0"/>
              <a:t>HAL</a:t>
            </a:r>
          </a:p>
          <a:p>
            <a:pPr lvl="1" indent="0">
              <a:buNone/>
            </a:pPr>
            <a:r>
              <a:rPr lang="zh-CN" altLang="en-US" dirty="0"/>
              <a:t>（</a:t>
            </a:r>
            <a:r>
              <a:rPr lang="en-US" altLang="zh-CN" dirty="0"/>
              <a:t>Hardware Abstraction</a:t>
            </a:r>
          </a:p>
          <a:p>
            <a:pPr lvl="1" indent="0">
              <a:buNone/>
            </a:pPr>
            <a:r>
              <a:rPr lang="en-US" altLang="zh-CN" dirty="0"/>
              <a:t> Layer</a:t>
            </a:r>
            <a:r>
              <a:rPr lang="zh-CN" altLang="en-US" dirty="0"/>
              <a:t>）接口，提升硬件</a:t>
            </a:r>
            <a:endParaRPr lang="en-US" altLang="zh-CN" dirty="0"/>
          </a:p>
          <a:p>
            <a:pPr lvl="1" indent="0">
              <a:buNone/>
            </a:pPr>
            <a:r>
              <a:rPr lang="zh-CN" altLang="en-US" dirty="0"/>
              <a:t>易适配性，不同编译工具</a:t>
            </a:r>
            <a:endParaRPr lang="en-US" altLang="zh-CN" dirty="0"/>
          </a:p>
          <a:p>
            <a:pPr lvl="1" indent="0">
              <a:buNone/>
            </a:pPr>
            <a:r>
              <a:rPr lang="zh-CN" altLang="en-US" dirty="0"/>
              <a:t>链和芯片架构的组合分类，</a:t>
            </a:r>
            <a:endParaRPr lang="en-US" altLang="zh-CN" dirty="0"/>
          </a:p>
          <a:p>
            <a:pPr lvl="1" indent="0">
              <a:buNone/>
            </a:pPr>
            <a:r>
              <a:rPr lang="zh-CN" altLang="en-US" dirty="0"/>
              <a:t>满足</a:t>
            </a:r>
            <a:r>
              <a:rPr lang="en-US" altLang="zh-CN" dirty="0" err="1"/>
              <a:t>AIoT</a:t>
            </a:r>
            <a:r>
              <a:rPr lang="zh-CN" altLang="en-US" dirty="0"/>
              <a:t>类型丰富的硬件</a:t>
            </a:r>
            <a:endParaRPr lang="en-US" altLang="zh-CN" dirty="0"/>
          </a:p>
          <a:p>
            <a:pPr lvl="1" indent="0">
              <a:buNone/>
            </a:pPr>
            <a:r>
              <a:rPr lang="zh-CN" altLang="en-US" dirty="0"/>
              <a:t>和编译工具链的拓展</a:t>
            </a:r>
          </a:p>
        </p:txBody>
      </p:sp>
      <p:pic>
        <p:nvPicPr>
          <p:cNvPr id="5" name="图片 4">
            <a:extLst>
              <a:ext uri="{FF2B5EF4-FFF2-40B4-BE49-F238E27FC236}">
                <a16:creationId xmlns:a16="http://schemas.microsoft.com/office/drawing/2014/main" id="{C87B3BD7-C3A1-CD49-BBAA-679082851C48}"/>
              </a:ext>
            </a:extLst>
          </p:cNvPr>
          <p:cNvPicPr>
            <a:picLocks noChangeAspect="1"/>
          </p:cNvPicPr>
          <p:nvPr/>
        </p:nvPicPr>
        <p:blipFill>
          <a:blip r:embed="rId2"/>
          <a:stretch>
            <a:fillRect/>
          </a:stretch>
        </p:blipFill>
        <p:spPr>
          <a:xfrm>
            <a:off x="4384801" y="2755212"/>
            <a:ext cx="4492499" cy="3546121"/>
          </a:xfrm>
          <a:prstGeom prst="rect">
            <a:avLst/>
          </a:prstGeom>
        </p:spPr>
      </p:pic>
      <p:sp>
        <p:nvSpPr>
          <p:cNvPr id="7" name="灯片编号占位符 4">
            <a:extLst>
              <a:ext uri="{FF2B5EF4-FFF2-40B4-BE49-F238E27FC236}">
                <a16:creationId xmlns:a16="http://schemas.microsoft.com/office/drawing/2014/main" id="{3A3C6FB4-95C9-4FAB-8E84-CF8F96B0DB0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58</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451665260"/>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err="1"/>
              <a:t>HarmonyOS</a:t>
            </a:r>
            <a:r>
              <a:rPr lang="en-US" altLang="zh-CN" dirty="0"/>
              <a:t>-</a:t>
            </a:r>
            <a:r>
              <a:rPr lang="zh-CN" altLang="en-US" dirty="0"/>
              <a:t>关键特性</a:t>
            </a:r>
          </a:p>
        </p:txBody>
      </p:sp>
      <p:sp>
        <p:nvSpPr>
          <p:cNvPr id="3" name="内容占位符 2"/>
          <p:cNvSpPr>
            <a:spLocks noGrp="1"/>
          </p:cNvSpPr>
          <p:nvPr>
            <p:ph idx="1"/>
          </p:nvPr>
        </p:nvSpPr>
        <p:spPr>
          <a:xfrm>
            <a:off x="457200" y="990600"/>
            <a:ext cx="8305800" cy="5410200"/>
          </a:xfrm>
        </p:spPr>
        <p:txBody>
          <a:bodyPr/>
          <a:lstStyle/>
          <a:p>
            <a:r>
              <a:rPr lang="en-US" altLang="zh-CN" dirty="0" err="1"/>
              <a:t>HarmonyOS</a:t>
            </a:r>
            <a:r>
              <a:rPr lang="zh-CN" altLang="zh-CN" dirty="0"/>
              <a:t>提出的分布式软总线具体设想</a:t>
            </a:r>
            <a:endParaRPr lang="en-US" altLang="zh-CN" dirty="0"/>
          </a:p>
          <a:p>
            <a:pPr lvl="1"/>
            <a:r>
              <a:rPr lang="zh-CN" altLang="zh-CN" dirty="0"/>
              <a:t>分布式软总线</a:t>
            </a:r>
            <a:endParaRPr lang="en-US" altLang="zh-CN" dirty="0"/>
          </a:p>
          <a:p>
            <a:pPr lvl="2"/>
            <a:r>
              <a:rPr lang="zh-CN" altLang="zh-CN" dirty="0"/>
              <a:t>分布式软总线是多设备终端的统一基座，为多设备间无缝互联提供了统一的分布式通信能力</a:t>
            </a:r>
            <a:endParaRPr lang="en-US" altLang="zh-CN" dirty="0"/>
          </a:p>
          <a:p>
            <a:pPr lvl="2"/>
            <a:r>
              <a:rPr lang="zh-CN" altLang="zh-CN" dirty="0"/>
              <a:t>能够快速发现并连接设备，高效地传输任务和数据</a:t>
            </a:r>
            <a:endParaRPr lang="en-US" altLang="zh-CN" dirty="0"/>
          </a:p>
          <a:p>
            <a:pPr lvl="2"/>
            <a:r>
              <a:rPr lang="zh-CN" altLang="zh-CN" dirty="0"/>
              <a:t>用异构网络组网的方式来解决设备间不同协议如何交互的问</a:t>
            </a:r>
            <a:r>
              <a:rPr lang="zh-CN" altLang="en-US" dirty="0"/>
              <a:t>题</a:t>
            </a:r>
            <a:endParaRPr lang="en-US" altLang="zh-CN" dirty="0"/>
          </a:p>
          <a:p>
            <a:pPr lvl="2"/>
            <a:r>
              <a:rPr lang="en-US" altLang="zh-CN" dirty="0" err="1"/>
              <a:t>HarmonyOS</a:t>
            </a:r>
            <a:r>
              <a:rPr lang="zh-CN" altLang="zh-CN" dirty="0"/>
              <a:t>在</a:t>
            </a:r>
            <a:r>
              <a:rPr lang="en-US" altLang="zh-CN" dirty="0"/>
              <a:t>1+8+N</a:t>
            </a:r>
            <a:r>
              <a:rPr lang="zh-CN" altLang="zh-CN" dirty="0"/>
              <a:t>设备间搭建一条“无形”的总线，具备自发现、自组网、高带宽低时延的特点</a:t>
            </a:r>
            <a:endParaRPr lang="en-US" altLang="zh-CN" dirty="0"/>
          </a:p>
          <a:p>
            <a:pPr lvl="1"/>
            <a:r>
              <a:rPr lang="zh-CN" altLang="zh-CN" dirty="0"/>
              <a:t>分布式数据管理</a:t>
            </a:r>
            <a:endParaRPr lang="en-US" altLang="zh-CN" dirty="0"/>
          </a:p>
          <a:p>
            <a:pPr lvl="2"/>
            <a:r>
              <a:rPr lang="zh-CN" altLang="zh-CN" dirty="0"/>
              <a:t>分布式数据管理位于分布式软总线之上，实现了应用程序数据和用户数据的分布式管理</a:t>
            </a:r>
            <a:endParaRPr lang="en-US" altLang="zh-CN" dirty="0"/>
          </a:p>
          <a:p>
            <a:pPr lvl="2"/>
            <a:r>
              <a:rPr lang="zh-CN" altLang="zh-CN" dirty="0"/>
              <a:t>用户数据不再与单一物理设备绑定，业务逻辑与数据存储分离，应用跨设备运行时数据无缝衔接，为打造一致、流畅的用户体验创造了基础</a:t>
            </a:r>
            <a:r>
              <a:rPr lang="zh-CN" altLang="en-US" dirty="0"/>
              <a:t>条件</a:t>
            </a:r>
            <a:endParaRPr lang="zh-CN" altLang="zh-CN" dirty="0"/>
          </a:p>
          <a:p>
            <a:endParaRPr lang="zh-CN" altLang="zh-CN" dirty="0"/>
          </a:p>
          <a:p>
            <a:pPr lvl="1"/>
            <a:endParaRPr lang="zh-CN" altLang="zh-CN" dirty="0"/>
          </a:p>
        </p:txBody>
      </p:sp>
      <p:sp>
        <p:nvSpPr>
          <p:cNvPr id="6" name="灯片编号占位符 4">
            <a:extLst>
              <a:ext uri="{FF2B5EF4-FFF2-40B4-BE49-F238E27FC236}">
                <a16:creationId xmlns:a16="http://schemas.microsoft.com/office/drawing/2014/main" id="{272A7E63-F02E-42D3-ADA0-B5602159DB0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59</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507656285"/>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FC114-848F-403D-B425-E65D16E68DC9}"/>
              </a:ext>
            </a:extLst>
          </p:cNvPr>
          <p:cNvSpPr>
            <a:spLocks noGrp="1"/>
          </p:cNvSpPr>
          <p:nvPr>
            <p:ph type="title"/>
          </p:nvPr>
        </p:nvSpPr>
        <p:spPr/>
        <p:txBody>
          <a:bodyPr/>
          <a:lstStyle/>
          <a:p>
            <a:r>
              <a:rPr lang="en-US" altLang="zh-CN" dirty="0" err="1"/>
              <a:t>HarmonyOS</a:t>
            </a:r>
            <a:r>
              <a:rPr lang="en-US" altLang="zh-CN" dirty="0"/>
              <a:t>-</a:t>
            </a:r>
            <a:r>
              <a:rPr lang="zh-CN" altLang="en-US" dirty="0"/>
              <a:t>关键特性</a:t>
            </a:r>
          </a:p>
        </p:txBody>
      </p:sp>
      <p:sp>
        <p:nvSpPr>
          <p:cNvPr id="3" name="内容占位符 2">
            <a:extLst>
              <a:ext uri="{FF2B5EF4-FFF2-40B4-BE49-F238E27FC236}">
                <a16:creationId xmlns:a16="http://schemas.microsoft.com/office/drawing/2014/main" id="{5BC0C1AD-6119-4611-B42A-C2586B876B08}"/>
              </a:ext>
            </a:extLst>
          </p:cNvPr>
          <p:cNvSpPr>
            <a:spLocks noGrp="1"/>
          </p:cNvSpPr>
          <p:nvPr>
            <p:ph idx="1"/>
          </p:nvPr>
        </p:nvSpPr>
        <p:spPr/>
        <p:txBody>
          <a:bodyPr/>
          <a:lstStyle/>
          <a:p>
            <a:r>
              <a:rPr lang="en-US" altLang="zh-CN" dirty="0" err="1"/>
              <a:t>HarmonyOS</a:t>
            </a:r>
            <a:r>
              <a:rPr lang="zh-CN" altLang="zh-CN" dirty="0"/>
              <a:t>提出的分布式软总线具体设想</a:t>
            </a:r>
            <a:endParaRPr lang="en-US" altLang="zh-CN" dirty="0"/>
          </a:p>
          <a:p>
            <a:pPr lvl="1"/>
            <a:r>
              <a:rPr lang="zh-CN" altLang="en-US" dirty="0"/>
              <a:t>分布式任务调度</a:t>
            </a:r>
            <a:endParaRPr lang="en-US" altLang="zh-CN" dirty="0"/>
          </a:p>
          <a:p>
            <a:pPr lvl="2"/>
            <a:r>
              <a:rPr lang="zh-CN" altLang="en-US" dirty="0"/>
              <a:t>基于分布式软总线、分布式数据管理、分布式</a:t>
            </a:r>
            <a:r>
              <a:rPr lang="en-US" altLang="zh-CN" dirty="0"/>
              <a:t>Profile</a:t>
            </a:r>
            <a:r>
              <a:rPr lang="zh-CN" altLang="en-US" dirty="0"/>
              <a:t>等技术特性</a:t>
            </a:r>
            <a:endParaRPr lang="en-US" altLang="zh-CN" dirty="0"/>
          </a:p>
          <a:p>
            <a:pPr lvl="2"/>
            <a:r>
              <a:rPr lang="zh-CN" altLang="en-US" dirty="0"/>
              <a:t>构建统一的分布式服务管理（发现、同步、注册、调用）机制，支持对跨设备应用进行远程启动、远程调用、绑定</a:t>
            </a:r>
            <a:r>
              <a:rPr lang="en-US" altLang="zh-CN" dirty="0"/>
              <a:t>/</a:t>
            </a:r>
            <a:r>
              <a:rPr lang="zh-CN" altLang="en-US" dirty="0"/>
              <a:t>解绑、以及迁移等操作</a:t>
            </a:r>
            <a:endParaRPr lang="en-US" altLang="zh-CN" dirty="0"/>
          </a:p>
          <a:p>
            <a:pPr lvl="2"/>
            <a:r>
              <a:rPr lang="zh-CN" altLang="en-US" dirty="0"/>
              <a:t>能够根据不同设备的能力、位置、业务运行状态、资源使用情况并结合用户的习惯和意图，选择最合适的设备运行分布式任务</a:t>
            </a:r>
            <a:endParaRPr lang="en-US" altLang="zh-CN" dirty="0"/>
          </a:p>
          <a:p>
            <a:pPr lvl="1"/>
            <a:r>
              <a:rPr lang="zh-CN" altLang="en-US" dirty="0"/>
              <a:t>设备虚拟化</a:t>
            </a:r>
            <a:endParaRPr lang="en-US" altLang="zh-CN" dirty="0"/>
          </a:p>
          <a:p>
            <a:pPr lvl="2"/>
            <a:r>
              <a:rPr lang="zh-CN" altLang="en-US" dirty="0"/>
              <a:t>分布式设备虚拟化平台可以实现不同设备的资源融合、设备管理、数据处理，将周边设备作为手机的延伸，共同形成一个超级虚拟终端</a:t>
            </a:r>
            <a:endParaRPr lang="en-US" altLang="zh-CN" dirty="0"/>
          </a:p>
          <a:p>
            <a:r>
              <a:rPr lang="en-US" altLang="zh-CN" dirty="0" err="1"/>
              <a:t>HarmonyOS</a:t>
            </a:r>
            <a:r>
              <a:rPr lang="zh-CN" altLang="en-US" dirty="0"/>
              <a:t>设想的分布式软总线目前可以实现的能力</a:t>
            </a:r>
            <a:endParaRPr lang="en-US" altLang="zh-CN" dirty="0"/>
          </a:p>
          <a:p>
            <a:pPr lvl="1"/>
            <a:r>
              <a:rPr lang="zh-CN" altLang="en-US" dirty="0"/>
              <a:t>服务发布、数据传输、安全（通信数据的加密）</a:t>
            </a:r>
            <a:endParaRPr lang="en-US" altLang="zh-CN" dirty="0"/>
          </a:p>
          <a:p>
            <a:pPr marL="0" indent="0">
              <a:buNone/>
            </a:pPr>
            <a:endParaRPr lang="zh-CN" altLang="en-US" dirty="0"/>
          </a:p>
        </p:txBody>
      </p:sp>
      <p:sp>
        <p:nvSpPr>
          <p:cNvPr id="4" name="灯片编号占位符 4">
            <a:extLst>
              <a:ext uri="{FF2B5EF4-FFF2-40B4-BE49-F238E27FC236}">
                <a16:creationId xmlns:a16="http://schemas.microsoft.com/office/drawing/2014/main" id="{3B05A5A1-853C-4EAA-810F-68F580B9A1D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60</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645104408"/>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思考题</a:t>
            </a:r>
            <a:endParaRPr lang="zh-CN" altLang="en-US" dirty="0"/>
          </a:p>
        </p:txBody>
      </p:sp>
      <p:sp>
        <p:nvSpPr>
          <p:cNvPr id="5" name="内容占位符 2"/>
          <p:cNvSpPr>
            <a:spLocks noGrp="1"/>
          </p:cNvSpPr>
          <p:nvPr>
            <p:ph idx="1"/>
          </p:nvPr>
        </p:nvSpPr>
        <p:spPr>
          <a:xfrm>
            <a:off x="457200" y="990600"/>
            <a:ext cx="8305800" cy="5410200"/>
          </a:xfrm>
        </p:spPr>
        <p:txBody>
          <a:bodyPr/>
          <a:lstStyle/>
          <a:p>
            <a:r>
              <a:rPr lang="en-US" altLang="zh-CN" dirty="0" err="1"/>
              <a:t>HarmonyOS</a:t>
            </a:r>
            <a:r>
              <a:rPr lang="zh-CN" altLang="en-US" dirty="0"/>
              <a:t>提出的</a:t>
            </a:r>
            <a:r>
              <a:rPr lang="en-US" altLang="zh-CN" dirty="0"/>
              <a:t>1+8+N</a:t>
            </a:r>
            <a:r>
              <a:rPr lang="zh-CN" altLang="en-US" dirty="0"/>
              <a:t>指代哪些设备？</a:t>
            </a:r>
            <a:endParaRPr lang="en-US" altLang="zh-CN" dirty="0"/>
          </a:p>
          <a:p>
            <a:endParaRPr lang="en-US" altLang="zh-CN" dirty="0"/>
          </a:p>
        </p:txBody>
      </p:sp>
      <p:sp>
        <p:nvSpPr>
          <p:cNvPr id="6" name="灯片编号占位符 4">
            <a:extLst>
              <a:ext uri="{FF2B5EF4-FFF2-40B4-BE49-F238E27FC236}">
                <a16:creationId xmlns:a16="http://schemas.microsoft.com/office/drawing/2014/main" id="{22A0EAF5-212D-4507-9A61-16BD7D6A02A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61</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6275977"/>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物联网操作系统关键特性总结</a:t>
            </a:r>
          </a:p>
        </p:txBody>
      </p:sp>
      <p:graphicFrame>
        <p:nvGraphicFramePr>
          <p:cNvPr id="4" name="内容占位符 3"/>
          <p:cNvGraphicFramePr>
            <a:graphicFrameLocks/>
          </p:cNvGraphicFramePr>
          <p:nvPr>
            <p:extLst>
              <p:ext uri="{D42A27DB-BD31-4B8C-83A1-F6EECF244321}">
                <p14:modId xmlns:p14="http://schemas.microsoft.com/office/powerpoint/2010/main" val="1163621258"/>
              </p:ext>
            </p:extLst>
          </p:nvPr>
        </p:nvGraphicFramePr>
        <p:xfrm>
          <a:off x="159249" y="1075788"/>
          <a:ext cx="8825503" cy="5357653"/>
        </p:xfrm>
        <a:graphic>
          <a:graphicData uri="http://schemas.openxmlformats.org/drawingml/2006/table">
            <a:tbl>
              <a:tblPr firstRow="1" firstCol="1"/>
              <a:tblGrid>
                <a:gridCol w="708917">
                  <a:extLst>
                    <a:ext uri="{9D8B030D-6E8A-4147-A177-3AD203B41FA5}">
                      <a16:colId xmlns:a16="http://schemas.microsoft.com/office/drawing/2014/main" val="393836667"/>
                    </a:ext>
                  </a:extLst>
                </a:gridCol>
                <a:gridCol w="1156073">
                  <a:extLst>
                    <a:ext uri="{9D8B030D-6E8A-4147-A177-3AD203B41FA5}">
                      <a16:colId xmlns:a16="http://schemas.microsoft.com/office/drawing/2014/main" val="984286165"/>
                    </a:ext>
                  </a:extLst>
                </a:gridCol>
                <a:gridCol w="1443289">
                  <a:extLst>
                    <a:ext uri="{9D8B030D-6E8A-4147-A177-3AD203B41FA5}">
                      <a16:colId xmlns:a16="http://schemas.microsoft.com/office/drawing/2014/main" val="3958877374"/>
                    </a:ext>
                  </a:extLst>
                </a:gridCol>
                <a:gridCol w="1140431">
                  <a:extLst>
                    <a:ext uri="{9D8B030D-6E8A-4147-A177-3AD203B41FA5}">
                      <a16:colId xmlns:a16="http://schemas.microsoft.com/office/drawing/2014/main" val="3296473275"/>
                    </a:ext>
                  </a:extLst>
                </a:gridCol>
                <a:gridCol w="750014">
                  <a:extLst>
                    <a:ext uri="{9D8B030D-6E8A-4147-A177-3AD203B41FA5}">
                      <a16:colId xmlns:a16="http://schemas.microsoft.com/office/drawing/2014/main" val="1159173477"/>
                    </a:ext>
                  </a:extLst>
                </a:gridCol>
                <a:gridCol w="1326679">
                  <a:extLst>
                    <a:ext uri="{9D8B030D-6E8A-4147-A177-3AD203B41FA5}">
                      <a16:colId xmlns:a16="http://schemas.microsoft.com/office/drawing/2014/main" val="2929096940"/>
                    </a:ext>
                  </a:extLst>
                </a:gridCol>
                <a:gridCol w="2300100">
                  <a:extLst>
                    <a:ext uri="{9D8B030D-6E8A-4147-A177-3AD203B41FA5}">
                      <a16:colId xmlns:a16="http://schemas.microsoft.com/office/drawing/2014/main" val="1322026602"/>
                    </a:ext>
                  </a:extLst>
                </a:gridCol>
              </a:tblGrid>
              <a:tr h="788265">
                <a:tc>
                  <a:txBody>
                    <a:bodyPr/>
                    <a:lstStyle/>
                    <a:p>
                      <a:pPr marL="0" algn="ctr" defTabSz="914400" rtl="0" eaLnBrk="1" fontAlgn="ctr" latinLnBrk="0" hangingPunct="1"/>
                      <a:r>
                        <a:rPr lang="zh-CN" altLang="en-US" sz="1600" u="none" strike="noStrike" kern="1200" dirty="0">
                          <a:effectLst/>
                          <a:latin typeface="+mj-ea"/>
                          <a:ea typeface="+mj-ea"/>
                          <a:cs typeface="Times New Roman" panose="02020603050405020304" pitchFamily="18" charset="0"/>
                        </a:rPr>
                        <a:t>操作系统</a:t>
                      </a:r>
                      <a:endParaRPr lang="zh-CN" altLang="en-US" sz="1600" b="1" u="none" strike="noStrike" kern="1200" dirty="0">
                        <a:solidFill>
                          <a:schemeClr val="tx1"/>
                        </a:solidFill>
                        <a:effectLst/>
                        <a:latin typeface="+mj-ea"/>
                        <a:ea typeface="+mj-ea"/>
                        <a:cs typeface="Times New Roman" panose="02020603050405020304" pitchFamily="18" charset="0"/>
                      </a:endParaRPr>
                    </a:p>
                  </a:txBody>
                  <a:tcPr marL="8874" marR="8874" marT="8874" marB="0" anchor="ctr"/>
                </a:tc>
                <a:tc>
                  <a:txBody>
                    <a:bodyPr/>
                    <a:lstStyle/>
                    <a:p>
                      <a:pPr marL="0" algn="ctr" defTabSz="914400" rtl="0" eaLnBrk="1" fontAlgn="ctr" latinLnBrk="0" hangingPunct="1"/>
                      <a:r>
                        <a:rPr lang="zh-CN" altLang="en-US" sz="1600" u="none" strike="noStrike" kern="1200" dirty="0">
                          <a:effectLst/>
                          <a:latin typeface="+mj-ea"/>
                          <a:ea typeface="+mj-ea"/>
                          <a:cs typeface="Times New Roman" panose="02020603050405020304" pitchFamily="18" charset="0"/>
                        </a:rPr>
                        <a:t>编程模型</a:t>
                      </a:r>
                      <a:endParaRPr lang="zh-CN" altLang="en-US" sz="1600" b="1" u="none" strike="noStrike" kern="1200" dirty="0">
                        <a:solidFill>
                          <a:schemeClr val="tx1"/>
                        </a:solidFill>
                        <a:effectLst/>
                        <a:latin typeface="+mj-ea"/>
                        <a:ea typeface="+mj-ea"/>
                        <a:cs typeface="Times New Roman" panose="02020603050405020304" pitchFamily="18" charset="0"/>
                      </a:endParaRPr>
                    </a:p>
                  </a:txBody>
                  <a:tcPr marL="8874" marR="8874" marT="8874" marB="0" anchor="ctr"/>
                </a:tc>
                <a:tc>
                  <a:txBody>
                    <a:bodyPr/>
                    <a:lstStyle/>
                    <a:p>
                      <a:pPr marL="0" algn="ctr" defTabSz="914400" rtl="0" eaLnBrk="1" fontAlgn="ctr" latinLnBrk="0" hangingPunct="1"/>
                      <a:r>
                        <a:rPr lang="zh-CN" altLang="en-US" sz="1600" u="none" strike="noStrike" kern="1200" dirty="0">
                          <a:effectLst/>
                          <a:latin typeface="+mj-ea"/>
                          <a:ea typeface="+mj-ea"/>
                          <a:cs typeface="Times New Roman" panose="02020603050405020304" pitchFamily="18" charset="0"/>
                        </a:rPr>
                        <a:t>任务调度</a:t>
                      </a:r>
                      <a:endParaRPr lang="en-US" altLang="zh-CN" sz="1600" b="1" u="none" strike="noStrike" kern="1200" dirty="0">
                        <a:solidFill>
                          <a:schemeClr val="tx1"/>
                        </a:solidFill>
                        <a:effectLst/>
                        <a:latin typeface="+mj-ea"/>
                        <a:ea typeface="+mj-ea"/>
                        <a:cs typeface="Times New Roman" panose="02020603050405020304" pitchFamily="18" charset="0"/>
                      </a:endParaRPr>
                    </a:p>
                  </a:txBody>
                  <a:tcPr marL="8874" marR="8874" marT="8874" marB="0" anchor="ctr"/>
                </a:tc>
                <a:tc>
                  <a:txBody>
                    <a:bodyPr/>
                    <a:lstStyle/>
                    <a:p>
                      <a:pPr marL="0" algn="ctr" defTabSz="914400" rtl="0" eaLnBrk="1" fontAlgn="ctr" latinLnBrk="0" hangingPunct="1"/>
                      <a:r>
                        <a:rPr lang="en-US" sz="1600" u="none" strike="noStrike" kern="1200" dirty="0">
                          <a:effectLst/>
                          <a:latin typeface="+mj-ea"/>
                          <a:ea typeface="+mj-ea"/>
                          <a:cs typeface="Times New Roman" panose="02020603050405020304" pitchFamily="18" charset="0"/>
                        </a:rPr>
                        <a:t>I/O</a:t>
                      </a:r>
                      <a:r>
                        <a:rPr lang="zh-CN" altLang="en-US" sz="1600" u="none" strike="noStrike" kern="1200" dirty="0">
                          <a:effectLst/>
                          <a:latin typeface="+mj-ea"/>
                          <a:ea typeface="+mj-ea"/>
                          <a:cs typeface="Times New Roman" panose="02020603050405020304" pitchFamily="18" charset="0"/>
                        </a:rPr>
                        <a:t>操作方式</a:t>
                      </a:r>
                      <a:endParaRPr lang="zh-CN" altLang="en-US" sz="1600" b="1" u="none" strike="noStrike" kern="1200" dirty="0">
                        <a:solidFill>
                          <a:schemeClr val="tx1"/>
                        </a:solidFill>
                        <a:effectLst/>
                        <a:latin typeface="+mj-ea"/>
                        <a:ea typeface="+mj-ea"/>
                        <a:cs typeface="Times New Roman" panose="02020603050405020304" pitchFamily="18" charset="0"/>
                      </a:endParaRPr>
                    </a:p>
                  </a:txBody>
                  <a:tcPr marL="8874" marR="8874" marT="8874" marB="0" anchor="ctr"/>
                </a:tc>
                <a:tc>
                  <a:txBody>
                    <a:bodyPr/>
                    <a:lstStyle/>
                    <a:p>
                      <a:pPr marL="0" algn="ctr" defTabSz="914400" rtl="0" eaLnBrk="1" fontAlgn="ctr" latinLnBrk="0" hangingPunct="1"/>
                      <a:r>
                        <a:rPr lang="zh-CN" altLang="en-US" sz="1600" u="none" strike="noStrike" kern="1200" dirty="0">
                          <a:effectLst/>
                          <a:latin typeface="+mj-ea"/>
                          <a:ea typeface="+mj-ea"/>
                          <a:cs typeface="Times New Roman" panose="02020603050405020304" pitchFamily="18" charset="0"/>
                        </a:rPr>
                        <a:t>内存</a:t>
                      </a:r>
                      <a:endParaRPr lang="en-US" altLang="zh-CN" sz="1600" u="none" strike="noStrike" kern="1200" dirty="0">
                        <a:effectLst/>
                        <a:latin typeface="+mj-ea"/>
                        <a:ea typeface="+mj-ea"/>
                        <a:cs typeface="Times New Roman" panose="02020603050405020304" pitchFamily="18" charset="0"/>
                      </a:endParaRPr>
                    </a:p>
                    <a:p>
                      <a:pPr marL="0" algn="ctr" defTabSz="914400" rtl="0" eaLnBrk="1" fontAlgn="ctr" latinLnBrk="0" hangingPunct="1"/>
                      <a:r>
                        <a:rPr lang="zh-CN" altLang="en-US" sz="1600" u="none" strike="noStrike" kern="1200" dirty="0">
                          <a:effectLst/>
                          <a:latin typeface="+mj-ea"/>
                          <a:ea typeface="+mj-ea"/>
                          <a:cs typeface="Times New Roman" panose="02020603050405020304" pitchFamily="18" charset="0"/>
                        </a:rPr>
                        <a:t>分配</a:t>
                      </a:r>
                      <a:endParaRPr lang="zh-CN" altLang="en-US" sz="1600" b="1" u="none" strike="noStrike" kern="1200" dirty="0">
                        <a:solidFill>
                          <a:schemeClr val="tx1"/>
                        </a:solidFill>
                        <a:effectLst/>
                        <a:latin typeface="+mj-ea"/>
                        <a:ea typeface="+mj-ea"/>
                        <a:cs typeface="Times New Roman" panose="02020603050405020304" pitchFamily="18" charset="0"/>
                      </a:endParaRPr>
                    </a:p>
                  </a:txBody>
                  <a:tcPr marL="8874" marR="8874" marT="8874" marB="0" anchor="ctr"/>
                </a:tc>
                <a:tc>
                  <a:txBody>
                    <a:bodyPr/>
                    <a:lstStyle/>
                    <a:p>
                      <a:pPr marL="0" algn="ctr" defTabSz="914400" rtl="0" eaLnBrk="1" fontAlgn="ctr" latinLnBrk="0" hangingPunct="1"/>
                      <a:r>
                        <a:rPr lang="zh-CN" altLang="en-US" sz="1600" u="none" strike="noStrike" kern="1200" dirty="0">
                          <a:effectLst/>
                          <a:latin typeface="+mj-ea"/>
                          <a:ea typeface="+mj-ea"/>
                          <a:cs typeface="Times New Roman" panose="02020603050405020304" pitchFamily="18" charset="0"/>
                        </a:rPr>
                        <a:t>软件更新</a:t>
                      </a:r>
                      <a:endParaRPr lang="zh-CN" altLang="en-US" sz="1600" b="1" u="none" strike="noStrike" kern="1200" dirty="0">
                        <a:solidFill>
                          <a:schemeClr val="tx1"/>
                        </a:solidFill>
                        <a:effectLst/>
                        <a:latin typeface="+mj-ea"/>
                        <a:ea typeface="+mj-ea"/>
                        <a:cs typeface="Times New Roman" panose="02020603050405020304" pitchFamily="18" charset="0"/>
                      </a:endParaRPr>
                    </a:p>
                  </a:txBody>
                  <a:tcPr marL="8874" marR="8874" marT="8874" marB="0" anchor="ctr"/>
                </a:tc>
                <a:tc>
                  <a:txBody>
                    <a:bodyPr/>
                    <a:lstStyle/>
                    <a:p>
                      <a:pPr marL="0" algn="ctr" defTabSz="914400" rtl="0" eaLnBrk="1" fontAlgn="ctr" latinLnBrk="0" hangingPunct="1"/>
                      <a:r>
                        <a:rPr lang="zh-CN" altLang="en-US" sz="1600" u="none" strike="noStrike" kern="1200" dirty="0">
                          <a:effectLst/>
                          <a:latin typeface="+mj-ea"/>
                          <a:ea typeface="+mj-ea"/>
                          <a:cs typeface="Times New Roman" panose="02020603050405020304" pitchFamily="18" charset="0"/>
                        </a:rPr>
                        <a:t>安全机制</a:t>
                      </a:r>
                      <a:endParaRPr lang="zh-CN" altLang="en-US" sz="1600" b="1" u="none" strike="noStrike" kern="1200" dirty="0">
                        <a:solidFill>
                          <a:schemeClr val="tx1"/>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938159999"/>
                  </a:ext>
                </a:extLst>
              </a:tr>
              <a:tr h="1092641">
                <a:tc>
                  <a:txBody>
                    <a:bodyPr/>
                    <a:lstStyle/>
                    <a:p>
                      <a:pPr algn="ctr" rtl="0" fontAlgn="ctr"/>
                      <a:r>
                        <a:rPr lang="en-US" sz="1600" u="none" strike="noStrike" dirty="0" err="1">
                          <a:effectLst/>
                          <a:latin typeface="+mj-ea"/>
                          <a:ea typeface="+mj-ea"/>
                          <a:cs typeface="Times New Roman" panose="02020603050405020304" pitchFamily="18" charset="0"/>
                        </a:rPr>
                        <a:t>Contiki</a:t>
                      </a:r>
                      <a:r>
                        <a:rPr lang="en-US" sz="1600" u="none" strike="noStrike" dirty="0">
                          <a:effectLst/>
                          <a:latin typeface="+mj-ea"/>
                          <a:ea typeface="+mj-ea"/>
                          <a:cs typeface="Times New Roman" panose="02020603050405020304" pitchFamily="18" charset="0"/>
                        </a:rPr>
                        <a:t> OS</a:t>
                      </a:r>
                      <a:endParaRPr 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kern="1200" dirty="0" err="1">
                          <a:effectLst/>
                          <a:latin typeface="+mj-ea"/>
                          <a:ea typeface="+mj-ea"/>
                          <a:cs typeface="Times New Roman" panose="02020603050405020304" pitchFamily="18" charset="0"/>
                        </a:rPr>
                        <a:t>protothreads</a:t>
                      </a:r>
                      <a:r>
                        <a:rPr lang="zh-CN" altLang="en-US" sz="1600" u="none" strike="noStrike" kern="1200" dirty="0">
                          <a:effectLst/>
                          <a:latin typeface="+mj-ea"/>
                          <a:ea typeface="+mj-ea"/>
                          <a:cs typeface="Times New Roman" panose="02020603050405020304" pitchFamily="18" charset="0"/>
                        </a:rPr>
                        <a:t>（核心）</a:t>
                      </a:r>
                    </a:p>
                    <a:p>
                      <a:pPr algn="ctr" rtl="0" fontAlgn="ctr"/>
                      <a:r>
                        <a:rPr lang="en-US" altLang="zh-CN" sz="1600" u="none" strike="noStrike" kern="1200" dirty="0" err="1">
                          <a:effectLst/>
                          <a:latin typeface="+mj-ea"/>
                          <a:ea typeface="+mj-ea"/>
                          <a:cs typeface="Times New Roman" panose="02020603050405020304" pitchFamily="18" charset="0"/>
                        </a:rPr>
                        <a:t>mt_thread</a:t>
                      </a:r>
                      <a:r>
                        <a:rPr lang="zh-CN" altLang="en-US" sz="1600" u="none" strike="noStrike" kern="1200" dirty="0">
                          <a:effectLst/>
                          <a:latin typeface="+mj-ea"/>
                          <a:ea typeface="+mj-ea"/>
                          <a:cs typeface="Times New Roman" panose="02020603050405020304" pitchFamily="18" charset="0"/>
                        </a:rPr>
                        <a:t>（扩展）</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kern="1200" dirty="0" err="1">
                          <a:effectLst/>
                          <a:latin typeface="+mj-ea"/>
                          <a:ea typeface="+mj-ea"/>
                          <a:cs typeface="Times New Roman" panose="02020603050405020304" pitchFamily="18" charset="0"/>
                        </a:rPr>
                        <a:t>protothreads</a:t>
                      </a:r>
                      <a:r>
                        <a:rPr lang="zh-CN" altLang="en-US" sz="1600" u="none" strike="noStrike" kern="1200" dirty="0">
                          <a:effectLst/>
                          <a:latin typeface="+mj-ea"/>
                          <a:ea typeface="+mj-ea"/>
                          <a:cs typeface="Times New Roman" panose="02020603050405020304" pitchFamily="18" charset="0"/>
                        </a:rPr>
                        <a:t>：协作式</a:t>
                      </a:r>
                    </a:p>
                    <a:p>
                      <a:pPr algn="ctr" rtl="0" fontAlgn="ctr"/>
                      <a:r>
                        <a:rPr lang="en-US" altLang="zh-CN" sz="1600" u="none" strike="noStrike" kern="1200" dirty="0" err="1">
                          <a:effectLst/>
                          <a:latin typeface="+mj-ea"/>
                          <a:ea typeface="+mj-ea"/>
                          <a:cs typeface="Times New Roman" panose="02020603050405020304" pitchFamily="18" charset="0"/>
                        </a:rPr>
                        <a:t>mt_thread</a:t>
                      </a:r>
                      <a:r>
                        <a:rPr lang="zh-CN" altLang="en-US" sz="1600" u="none" strike="noStrike" kern="1200" dirty="0">
                          <a:effectLst/>
                          <a:latin typeface="+mj-ea"/>
                          <a:ea typeface="+mj-ea"/>
                          <a:cs typeface="Times New Roman" panose="02020603050405020304" pitchFamily="18" charset="0"/>
                        </a:rPr>
                        <a:t>：协作式</a:t>
                      </a:r>
                      <a:r>
                        <a:rPr lang="en-US" altLang="zh-CN" sz="1600" u="none" strike="noStrike" kern="1200" dirty="0">
                          <a:effectLst/>
                          <a:latin typeface="+mj-ea"/>
                          <a:ea typeface="+mj-ea"/>
                          <a:cs typeface="Times New Roman" panose="02020603050405020304" pitchFamily="18" charset="0"/>
                        </a:rPr>
                        <a:t>/</a:t>
                      </a:r>
                      <a:r>
                        <a:rPr lang="zh-CN" altLang="en-US" sz="1600" u="none" strike="noStrike" kern="1200" dirty="0">
                          <a:effectLst/>
                          <a:latin typeface="+mj-ea"/>
                          <a:ea typeface="+mj-ea"/>
                          <a:cs typeface="Times New Roman" panose="02020603050405020304" pitchFamily="18" charset="0"/>
                        </a:rPr>
                        <a:t>抢占式</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阻塞式</a:t>
                      </a:r>
                      <a:r>
                        <a:rPr lang="en-US" altLang="zh-CN" sz="1600" u="none" strike="noStrike" kern="1200" dirty="0">
                          <a:effectLst/>
                          <a:latin typeface="+mj-ea"/>
                          <a:ea typeface="+mj-ea"/>
                          <a:cs typeface="Times New Roman" panose="02020603050405020304" pitchFamily="18" charset="0"/>
                        </a:rPr>
                        <a:t>I/O </a:t>
                      </a:r>
                      <a:endParaRPr lang="zh-CN" altLang="en-US" sz="1600" u="none" strike="noStrike" kern="1200" dirty="0">
                        <a:effectLst/>
                        <a:latin typeface="+mj-ea"/>
                        <a:ea typeface="+mj-ea"/>
                        <a:cs typeface="Times New Roman" panose="02020603050405020304" pitchFamily="18" charset="0"/>
                      </a:endParaRPr>
                    </a:p>
                    <a:p>
                      <a:pPr algn="ctr" fontAlgn="ctr"/>
                      <a:r>
                        <a:rPr lang="zh-CN" altLang="en-US" sz="1600" u="none" strike="noStrike" kern="1200" dirty="0">
                          <a:effectLst/>
                          <a:latin typeface="+mj-ea"/>
                          <a:ea typeface="+mj-ea"/>
                          <a:cs typeface="Times New Roman" panose="02020603050405020304" pitchFamily="18" charset="0"/>
                        </a:rPr>
                        <a:t>分阶段</a:t>
                      </a:r>
                      <a:r>
                        <a:rPr lang="en-US" altLang="zh-CN" sz="1600" u="none" strike="noStrike" kern="1200" dirty="0">
                          <a:effectLst/>
                          <a:latin typeface="+mj-ea"/>
                          <a:ea typeface="+mj-ea"/>
                          <a:cs typeface="Times New Roman" panose="02020603050405020304" pitchFamily="18" charset="0"/>
                        </a:rPr>
                        <a:t>I/O </a:t>
                      </a:r>
                      <a:r>
                        <a:rPr lang="zh-CN" altLang="en-US" sz="1600" u="none" strike="noStrike" kern="1200" dirty="0">
                          <a:effectLst/>
                          <a:latin typeface="+mj-ea"/>
                          <a:ea typeface="+mj-ea"/>
                          <a:cs typeface="Times New Roman" panose="02020603050405020304" pitchFamily="18" charset="0"/>
                        </a:rPr>
                        <a:t>　</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静态</a:t>
                      </a:r>
                      <a:r>
                        <a:rPr lang="en-US" altLang="zh-CN" sz="1600" u="none" strike="noStrike" kern="1200" dirty="0">
                          <a:effectLst/>
                          <a:latin typeface="+mj-ea"/>
                          <a:ea typeface="+mj-ea"/>
                          <a:cs typeface="Times New Roman" panose="02020603050405020304" pitchFamily="18" charset="0"/>
                        </a:rPr>
                        <a:t>(</a:t>
                      </a:r>
                      <a:r>
                        <a:rPr lang="zh-CN" altLang="en-US" sz="1600" u="none" strike="noStrike" kern="1200" dirty="0">
                          <a:effectLst/>
                          <a:latin typeface="+mj-ea"/>
                          <a:ea typeface="+mj-ea"/>
                          <a:cs typeface="Times New Roman" panose="02020603050405020304" pitchFamily="18" charset="0"/>
                        </a:rPr>
                        <a:t>默认</a:t>
                      </a:r>
                      <a:r>
                        <a:rPr lang="en-US" altLang="zh-CN" sz="1600" u="none" strike="noStrike" kern="1200" dirty="0">
                          <a:effectLst/>
                          <a:latin typeface="+mj-ea"/>
                          <a:ea typeface="+mj-ea"/>
                          <a:cs typeface="Times New Roman" panose="02020603050405020304" pitchFamily="18" charset="0"/>
                        </a:rPr>
                        <a:t>)</a:t>
                      </a:r>
                      <a:endParaRPr lang="zh-CN" altLang="en-US" sz="1600" u="none" strike="noStrike" kern="1200" dirty="0">
                        <a:effectLst/>
                        <a:latin typeface="+mj-ea"/>
                        <a:ea typeface="+mj-ea"/>
                        <a:cs typeface="Times New Roman" panose="02020603050405020304" pitchFamily="18"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kern="1200" dirty="0">
                          <a:effectLst/>
                          <a:latin typeface="+mj-ea"/>
                          <a:ea typeface="+mj-ea"/>
                          <a:cs typeface="Times New Roman" panose="02020603050405020304" pitchFamily="18" charset="0"/>
                        </a:rPr>
                        <a:t>动态</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模块化升级</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en-US" altLang="zh-CN" sz="1600" u="none" strike="noStrike" kern="1200" dirty="0">
                          <a:effectLst/>
                          <a:latin typeface="+mj-ea"/>
                          <a:ea typeface="+mj-ea"/>
                          <a:cs typeface="Times New Roman" panose="02020603050405020304" pitchFamily="18" charset="0"/>
                        </a:rPr>
                        <a:t>Harbor</a:t>
                      </a:r>
                      <a:r>
                        <a:rPr lang="zh-CN" altLang="en-US" sz="1600" u="none" strike="noStrike" kern="1200" dirty="0">
                          <a:effectLst/>
                          <a:latin typeface="+mj-ea"/>
                          <a:ea typeface="+mj-ea"/>
                          <a:cs typeface="Times New Roman" panose="02020603050405020304" pitchFamily="18" charset="0"/>
                        </a:rPr>
                        <a:t>沙盒技术：</a:t>
                      </a:r>
                      <a:endParaRPr lang="en-US" altLang="zh-CN" sz="1600" u="none" strike="noStrike" kern="1200" dirty="0">
                        <a:effectLst/>
                        <a:latin typeface="+mj-ea"/>
                        <a:ea typeface="+mj-ea"/>
                        <a:cs typeface="Times New Roman" panose="02020603050405020304" pitchFamily="18" charset="0"/>
                      </a:endParaRPr>
                    </a:p>
                    <a:p>
                      <a:pPr algn="ctr" rtl="0" fontAlgn="ctr"/>
                      <a:r>
                        <a:rPr lang="zh-CN" altLang="en-US" sz="1600" u="none" strike="noStrike" kern="1200" dirty="0">
                          <a:effectLst/>
                          <a:latin typeface="+mj-ea"/>
                          <a:ea typeface="+mj-ea"/>
                          <a:cs typeface="Times New Roman" panose="02020603050405020304" pitchFamily="18" charset="0"/>
                        </a:rPr>
                        <a:t>动态内存保护</a:t>
                      </a:r>
                      <a:endParaRPr lang="en-US" altLang="zh-CN"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121604294"/>
                  </a:ext>
                </a:extLst>
              </a:tr>
              <a:tr h="1094649">
                <a:tc>
                  <a:txBody>
                    <a:bodyPr/>
                    <a:lstStyle/>
                    <a:p>
                      <a:pPr algn="ctr" rtl="0" fontAlgn="ctr"/>
                      <a:r>
                        <a:rPr lang="en-US" altLang="zh-CN" sz="1600" b="0" i="0" u="none" strike="noStrike" dirty="0">
                          <a:solidFill>
                            <a:srgbClr val="000000"/>
                          </a:solidFill>
                          <a:effectLst/>
                          <a:latin typeface="+mj-ea"/>
                          <a:ea typeface="+mj-ea"/>
                          <a:cs typeface="Times New Roman" panose="02020603050405020304" pitchFamily="18" charset="0"/>
                        </a:rPr>
                        <a:t>RIOT</a:t>
                      </a:r>
                      <a:endParaRPr 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kern="1200" dirty="0">
                          <a:solidFill>
                            <a:schemeClr val="dk1"/>
                          </a:solidFill>
                          <a:effectLst/>
                          <a:latin typeface="+mj-ea"/>
                          <a:ea typeface="+mj-ea"/>
                          <a:cs typeface="Times New Roman" panose="02020603050405020304" pitchFamily="18" charset="0"/>
                        </a:rPr>
                        <a:t>模块化</a:t>
                      </a:r>
                    </a:p>
                    <a:p>
                      <a:pPr algn="ctr" rtl="0" fontAlgn="ctr"/>
                      <a:r>
                        <a:rPr lang="zh-CN" altLang="en-US" sz="1600" u="none" strike="noStrike" kern="1200" dirty="0">
                          <a:solidFill>
                            <a:schemeClr val="dk1"/>
                          </a:solidFill>
                          <a:effectLst/>
                          <a:latin typeface="+mj-ea"/>
                          <a:ea typeface="+mj-ea"/>
                          <a:cs typeface="Times New Roman" panose="02020603050405020304" pitchFamily="18" charset="0"/>
                        </a:rPr>
                        <a:t>多线程</a:t>
                      </a:r>
                      <a:endParaRPr lang="en-US" altLang="zh-CN"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kern="1200" dirty="0">
                          <a:solidFill>
                            <a:schemeClr val="dk1"/>
                          </a:solidFill>
                          <a:effectLst/>
                          <a:latin typeface="+mj-ea"/>
                          <a:ea typeface="+mj-ea"/>
                          <a:cs typeface="Times New Roman" panose="02020603050405020304" pitchFamily="18" charset="0"/>
                        </a:rPr>
                        <a:t>基于优先级的线程调度</a:t>
                      </a: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阻塞式</a:t>
                      </a:r>
                      <a:r>
                        <a:rPr lang="en-US" altLang="zh-CN" sz="1600" u="none" strike="noStrike" kern="1200" dirty="0">
                          <a:effectLst/>
                          <a:latin typeface="+mj-ea"/>
                          <a:ea typeface="+mj-ea"/>
                          <a:cs typeface="Times New Roman" panose="02020603050405020304" pitchFamily="18" charset="0"/>
                        </a:rPr>
                        <a:t>I/O </a:t>
                      </a:r>
                      <a:endParaRPr lang="zh-CN" altLang="en-US" sz="1600" u="none" strike="noStrike" kern="1200" dirty="0">
                        <a:effectLst/>
                        <a:latin typeface="+mj-ea"/>
                        <a:ea typeface="+mj-ea"/>
                        <a:cs typeface="Times New Roman" panose="02020603050405020304" pitchFamily="18" charset="0"/>
                      </a:endParaRPr>
                    </a:p>
                    <a:p>
                      <a:pPr algn="ctr" fontAlgn="ctr"/>
                      <a:r>
                        <a:rPr lang="zh-CN" altLang="en-US" sz="1600" u="none" strike="noStrike" kern="1200" dirty="0">
                          <a:effectLst/>
                          <a:latin typeface="+mj-ea"/>
                          <a:ea typeface="+mj-ea"/>
                          <a:cs typeface="Times New Roman" panose="02020603050405020304" pitchFamily="18" charset="0"/>
                        </a:rPr>
                        <a:t>分阶段</a:t>
                      </a:r>
                      <a:r>
                        <a:rPr lang="en-US" altLang="zh-CN" sz="1600" u="none" strike="noStrike" kern="1200" dirty="0">
                          <a:effectLst/>
                          <a:latin typeface="+mj-ea"/>
                          <a:ea typeface="+mj-ea"/>
                          <a:cs typeface="Times New Roman" panose="02020603050405020304" pitchFamily="18" charset="0"/>
                        </a:rPr>
                        <a:t>I/O </a:t>
                      </a:r>
                      <a:r>
                        <a:rPr lang="zh-CN" altLang="en-US" sz="1600" u="none" strike="noStrike" kern="1200" dirty="0">
                          <a:effectLst/>
                          <a:latin typeface="+mj-ea"/>
                          <a:ea typeface="+mj-ea"/>
                          <a:cs typeface="Times New Roman" panose="02020603050405020304" pitchFamily="18" charset="0"/>
                        </a:rPr>
                        <a:t>　</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静态</a:t>
                      </a:r>
                    </a:p>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kern="1200" dirty="0">
                          <a:effectLst/>
                          <a:latin typeface="+mj-ea"/>
                          <a:ea typeface="+mj-ea"/>
                          <a:cs typeface="Times New Roman" panose="02020603050405020304" pitchFamily="18" charset="0"/>
                        </a:rPr>
                        <a:t>动态</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整个镜像升级</a:t>
                      </a:r>
                    </a:p>
                  </a:txBody>
                  <a:tcPr marL="8874" marR="8874" marT="887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kern="1200" dirty="0">
                          <a:solidFill>
                            <a:schemeClr val="dk1"/>
                          </a:solidFill>
                          <a:effectLst/>
                          <a:latin typeface="+mj-ea"/>
                          <a:ea typeface="+mj-ea"/>
                          <a:cs typeface="Times New Roman" panose="02020603050405020304" pitchFamily="18" charset="0"/>
                        </a:rPr>
                        <a:t> DTLS, </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600" u="none" strike="noStrike" kern="1200" dirty="0">
                          <a:solidFill>
                            <a:schemeClr val="dk1"/>
                          </a:solidFill>
                          <a:effectLst/>
                          <a:latin typeface="+mj-ea"/>
                          <a:ea typeface="+mj-ea"/>
                          <a:cs typeface="Times New Roman" panose="02020603050405020304" pitchFamily="18" charset="0"/>
                        </a:rPr>
                        <a:t>IEEE 802.15.4 </a:t>
                      </a:r>
                      <a:r>
                        <a:rPr lang="zh-CN" altLang="en-US" sz="1600" u="none" strike="noStrike" kern="1200" dirty="0">
                          <a:solidFill>
                            <a:schemeClr val="dk1"/>
                          </a:solidFill>
                          <a:effectLst/>
                          <a:latin typeface="+mj-ea"/>
                          <a:ea typeface="+mj-ea"/>
                          <a:cs typeface="Times New Roman" panose="02020603050405020304" pitchFamily="18" charset="0"/>
                        </a:rPr>
                        <a:t>加密</a:t>
                      </a:r>
                      <a:r>
                        <a:rPr lang="en-US" altLang="zh-CN" sz="1600" u="none" strike="noStrike" kern="1200" dirty="0">
                          <a:solidFill>
                            <a:schemeClr val="dk1"/>
                          </a:solidFill>
                          <a:effectLst/>
                          <a:latin typeface="+mj-ea"/>
                          <a:ea typeface="+mj-ea"/>
                          <a:cs typeface="Times New Roman" panose="02020603050405020304" pitchFamily="18" charset="0"/>
                        </a:rPr>
                        <a:t>, Secure Firmware Updates (SUIT)</a:t>
                      </a:r>
                    </a:p>
                  </a:txBody>
                  <a:tcPr marL="8874" marR="8874" marT="8874" marB="0" anchor="ctr"/>
                </a:tc>
                <a:extLst>
                  <a:ext uri="{0D108BD9-81ED-4DB2-BD59-A6C34878D82A}">
                    <a16:rowId xmlns:a16="http://schemas.microsoft.com/office/drawing/2014/main" val="2662703449"/>
                  </a:ext>
                </a:extLst>
              </a:tr>
              <a:tr h="1229572">
                <a:tc>
                  <a:txBody>
                    <a:bodyPr/>
                    <a:lstStyle/>
                    <a:p>
                      <a:pPr algn="ctr" rtl="0" fontAlgn="ctr"/>
                      <a:r>
                        <a:rPr lang="en-US" sz="1600" u="none" strike="noStrike" dirty="0" err="1">
                          <a:effectLst/>
                          <a:latin typeface="+mj-ea"/>
                          <a:ea typeface="+mj-ea"/>
                          <a:cs typeface="Times New Roman" panose="02020603050405020304" pitchFamily="18" charset="0"/>
                        </a:rPr>
                        <a:t>AliOS</a:t>
                      </a:r>
                      <a:r>
                        <a:rPr lang="en-US" sz="1600" u="none" strike="noStrike" dirty="0">
                          <a:effectLst/>
                          <a:latin typeface="+mj-ea"/>
                          <a:ea typeface="+mj-ea"/>
                          <a:cs typeface="Times New Roman" panose="02020603050405020304" pitchFamily="18" charset="0"/>
                        </a:rPr>
                        <a:t> T</a:t>
                      </a:r>
                      <a:r>
                        <a:rPr lang="en-US" altLang="zh-CN" sz="1600" u="none" strike="noStrike" dirty="0">
                          <a:effectLst/>
                          <a:latin typeface="+mj-ea"/>
                          <a:ea typeface="+mj-ea"/>
                          <a:cs typeface="Times New Roman" panose="02020603050405020304" pitchFamily="18" charset="0"/>
                        </a:rPr>
                        <a:t>hings</a:t>
                      </a:r>
                      <a:endParaRPr 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模块化</a:t>
                      </a:r>
                    </a:p>
                    <a:p>
                      <a:pPr algn="ctr" rtl="0" fontAlgn="ctr"/>
                      <a:r>
                        <a:rPr lang="zh-CN" altLang="en-US" sz="1600" u="none" strike="noStrike" kern="1200" dirty="0">
                          <a:effectLst/>
                          <a:latin typeface="+mj-ea"/>
                          <a:ea typeface="+mj-ea"/>
                          <a:cs typeface="Times New Roman" panose="02020603050405020304" pitchFamily="18" charset="0"/>
                        </a:rPr>
                        <a:t>事件驱动</a:t>
                      </a:r>
                    </a:p>
                    <a:p>
                      <a:pPr algn="ctr" rtl="0" fontAlgn="ctr"/>
                      <a:r>
                        <a:rPr lang="zh-CN" altLang="en-US" sz="1600" u="none" strike="noStrike" kern="1200" dirty="0">
                          <a:effectLst/>
                          <a:latin typeface="+mj-ea"/>
                          <a:ea typeface="+mj-ea"/>
                          <a:cs typeface="Times New Roman" panose="02020603050405020304" pitchFamily="18" charset="0"/>
                        </a:rPr>
                        <a:t>多线程</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抢占式</a:t>
                      </a:r>
                    </a:p>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kern="1200" dirty="0">
                          <a:effectLst/>
                          <a:latin typeface="+mj-ea"/>
                          <a:ea typeface="+mj-ea"/>
                          <a:cs typeface="Times New Roman" panose="02020603050405020304" pitchFamily="18" charset="0"/>
                        </a:rPr>
                        <a:t>时间片轮转</a:t>
                      </a: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阻塞式</a:t>
                      </a:r>
                      <a:r>
                        <a:rPr lang="en-US" altLang="zh-CN" sz="1600" u="none" strike="noStrike" kern="1200" dirty="0">
                          <a:effectLst/>
                          <a:latin typeface="+mj-ea"/>
                          <a:ea typeface="+mj-ea"/>
                          <a:cs typeface="Times New Roman" panose="02020603050405020304" pitchFamily="18" charset="0"/>
                        </a:rPr>
                        <a:t>I/O </a:t>
                      </a:r>
                      <a:endParaRPr lang="zh-CN" altLang="en-US" sz="1600" u="none" strike="noStrike" kern="1200" dirty="0">
                        <a:effectLst/>
                        <a:latin typeface="+mj-ea"/>
                        <a:ea typeface="+mj-ea"/>
                        <a:cs typeface="Times New Roman" panose="02020603050405020304" pitchFamily="18" charset="0"/>
                      </a:endParaRPr>
                    </a:p>
                    <a:p>
                      <a:pPr algn="ctr" fontAlgn="ctr"/>
                      <a:r>
                        <a:rPr lang="zh-CN" altLang="en-US" sz="1600" u="none" strike="noStrike" kern="1200" dirty="0">
                          <a:effectLst/>
                          <a:latin typeface="+mj-ea"/>
                          <a:ea typeface="+mj-ea"/>
                          <a:cs typeface="Times New Roman" panose="02020603050405020304" pitchFamily="18" charset="0"/>
                        </a:rPr>
                        <a:t>分阶段</a:t>
                      </a:r>
                      <a:r>
                        <a:rPr lang="en-US" altLang="zh-CN" sz="1600" u="none" strike="noStrike" kern="1200" dirty="0">
                          <a:effectLst/>
                          <a:latin typeface="+mj-ea"/>
                          <a:ea typeface="+mj-ea"/>
                          <a:cs typeface="Times New Roman" panose="02020603050405020304" pitchFamily="18" charset="0"/>
                        </a:rPr>
                        <a:t>I/O </a:t>
                      </a:r>
                      <a:r>
                        <a:rPr lang="zh-CN" altLang="en-US" sz="1600" u="none" strike="noStrike" kern="1200" dirty="0">
                          <a:effectLst/>
                          <a:latin typeface="+mj-ea"/>
                          <a:ea typeface="+mj-ea"/>
                          <a:cs typeface="Times New Roman" panose="02020603050405020304" pitchFamily="18" charset="0"/>
                        </a:rPr>
                        <a:t>　</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静态</a:t>
                      </a:r>
                    </a:p>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kern="1200" dirty="0">
                          <a:effectLst/>
                          <a:latin typeface="+mj-ea"/>
                          <a:ea typeface="+mj-ea"/>
                          <a:cs typeface="Times New Roman" panose="02020603050405020304" pitchFamily="18" charset="0"/>
                        </a:rPr>
                        <a:t>动态</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整个镜像升级</a:t>
                      </a:r>
                    </a:p>
                    <a:p>
                      <a:pPr algn="ctr" rtl="0" fontAlgn="ctr"/>
                      <a:r>
                        <a:rPr lang="zh-CN" altLang="en-US" sz="1600" u="none" strike="noStrike" kern="1200" dirty="0">
                          <a:effectLst/>
                          <a:latin typeface="+mj-ea"/>
                          <a:ea typeface="+mj-ea"/>
                          <a:cs typeface="Times New Roman" panose="02020603050405020304" pitchFamily="18" charset="0"/>
                        </a:rPr>
                        <a:t>模块化升级</a:t>
                      </a:r>
                    </a:p>
                    <a:p>
                      <a:pPr algn="ctr" rtl="0" fontAlgn="ctr"/>
                      <a:r>
                        <a:rPr lang="zh-CN" altLang="en-US" sz="1600" u="none" strike="noStrike" kern="1200" dirty="0">
                          <a:effectLst/>
                          <a:latin typeface="+mj-ea"/>
                          <a:ea typeface="+mj-ea"/>
                          <a:cs typeface="Times New Roman" panose="02020603050405020304" pitchFamily="18" charset="0"/>
                        </a:rPr>
                        <a:t>差分升级</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可信执行环境</a:t>
                      </a:r>
                      <a:r>
                        <a:rPr lang="en-US" altLang="zh-CN" sz="1600" u="none" strike="noStrike" kern="1200" dirty="0" err="1">
                          <a:effectLst/>
                          <a:latin typeface="+mj-ea"/>
                          <a:ea typeface="+mj-ea"/>
                          <a:cs typeface="Times New Roman" panose="02020603050405020304" pitchFamily="18" charset="0"/>
                        </a:rPr>
                        <a:t>LinkTEE</a:t>
                      </a:r>
                      <a:r>
                        <a:rPr lang="zh-CN" altLang="en-US" sz="1600" u="none" strike="noStrike" kern="1200" dirty="0">
                          <a:effectLst/>
                          <a:latin typeface="+mj-ea"/>
                          <a:ea typeface="+mj-ea"/>
                          <a:cs typeface="Times New Roman" panose="02020603050405020304" pitchFamily="18" charset="0"/>
                        </a:rPr>
                        <a:t>：</a:t>
                      </a:r>
                      <a:endParaRPr lang="en-US" altLang="zh-CN" sz="1600" u="none" strike="noStrike" kern="1200" dirty="0">
                        <a:effectLst/>
                        <a:latin typeface="+mj-ea"/>
                        <a:ea typeface="+mj-ea"/>
                        <a:cs typeface="Times New Roman" panose="02020603050405020304" pitchFamily="18" charset="0"/>
                      </a:endParaRPr>
                    </a:p>
                    <a:p>
                      <a:pPr algn="ctr" rtl="0" fontAlgn="ctr"/>
                      <a:r>
                        <a:rPr lang="zh-CN" altLang="en-US" sz="1600" u="none" strike="noStrike" kern="1200" dirty="0">
                          <a:effectLst/>
                          <a:latin typeface="+mj-ea"/>
                          <a:ea typeface="+mj-ea"/>
                          <a:cs typeface="Times New Roman" panose="02020603050405020304" pitchFamily="18" charset="0"/>
                        </a:rPr>
                        <a:t>系统级别</a:t>
                      </a:r>
                    </a:p>
                    <a:p>
                      <a:pPr algn="ctr" rtl="0" fontAlgn="ctr"/>
                      <a:r>
                        <a:rPr lang="zh-CN" altLang="en-US" sz="1600" u="none" strike="noStrike" kern="1200" dirty="0">
                          <a:effectLst/>
                          <a:latin typeface="+mj-ea"/>
                          <a:ea typeface="+mj-ea"/>
                          <a:cs typeface="Times New Roman" panose="02020603050405020304" pitchFamily="18" charset="0"/>
                        </a:rPr>
                        <a:t>可信</a:t>
                      </a:r>
                      <a:r>
                        <a:rPr lang="zh-CN" altLang="zh-CN" sz="1600" u="none" strike="noStrike" kern="1200" dirty="0">
                          <a:effectLst/>
                          <a:latin typeface="+mj-ea"/>
                          <a:ea typeface="+mj-ea"/>
                          <a:cs typeface="Times New Roman" panose="02020603050405020304" pitchFamily="18" charset="0"/>
                        </a:rPr>
                        <a:t>身份</a:t>
                      </a:r>
                      <a:r>
                        <a:rPr lang="zh-CN" altLang="en-US" sz="1600" u="none" strike="noStrike" kern="1200" dirty="0">
                          <a:effectLst/>
                          <a:latin typeface="+mj-ea"/>
                          <a:ea typeface="+mj-ea"/>
                          <a:cs typeface="Times New Roman" panose="02020603050405020304" pitchFamily="18" charset="0"/>
                        </a:rPr>
                        <a:t>认证</a:t>
                      </a:r>
                      <a:r>
                        <a:rPr lang="en-US" altLang="zh-CN" sz="1600" u="none" strike="noStrike" kern="1200" dirty="0">
                          <a:effectLst/>
                          <a:latin typeface="+mj-ea"/>
                          <a:ea typeface="+mj-ea"/>
                          <a:cs typeface="Times New Roman" panose="02020603050405020304" pitchFamily="18" charset="0"/>
                        </a:rPr>
                        <a:t>Link ID²</a:t>
                      </a:r>
                      <a:r>
                        <a:rPr lang="zh-CN" altLang="en-US" sz="1600" u="none" strike="noStrike" kern="1200" dirty="0">
                          <a:effectLst/>
                          <a:latin typeface="+mj-ea"/>
                          <a:ea typeface="+mj-ea"/>
                          <a:cs typeface="Times New Roman" panose="02020603050405020304" pitchFamily="18" charset="0"/>
                        </a:rPr>
                        <a:t>：</a:t>
                      </a:r>
                      <a:endParaRPr lang="en-US" altLang="zh-CN" sz="1600" u="none" strike="noStrike" kern="1200" dirty="0">
                        <a:effectLst/>
                        <a:latin typeface="+mj-ea"/>
                        <a:ea typeface="+mj-ea"/>
                        <a:cs typeface="Times New Roman" panose="02020603050405020304" pitchFamily="18" charset="0"/>
                      </a:endParaRPr>
                    </a:p>
                    <a:p>
                      <a:pPr algn="ctr" rtl="0" fontAlgn="ctr"/>
                      <a:r>
                        <a:rPr lang="zh-CN" altLang="zh-CN" sz="1600" u="none" strike="noStrike" kern="1200" dirty="0">
                          <a:effectLst/>
                          <a:latin typeface="+mj-ea"/>
                          <a:ea typeface="+mj-ea"/>
                          <a:cs typeface="Times New Roman" panose="02020603050405020304" pitchFamily="18" charset="0"/>
                        </a:rPr>
                        <a:t>芯片级别</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356318774"/>
                  </a:ext>
                </a:extLst>
              </a:tr>
              <a:tr h="1152526">
                <a:tc>
                  <a:txBody>
                    <a:bodyPr/>
                    <a:lstStyle/>
                    <a:p>
                      <a:pPr algn="ctr" rtl="0" fontAlgn="ctr"/>
                      <a:r>
                        <a:rPr lang="en-US" sz="1600" b="0" i="0" u="none" strike="noStrike" dirty="0" err="1">
                          <a:solidFill>
                            <a:srgbClr val="000000"/>
                          </a:solidFill>
                          <a:effectLst/>
                          <a:latin typeface="+mj-ea"/>
                          <a:ea typeface="+mj-ea"/>
                          <a:cs typeface="Times New Roman" panose="02020603050405020304" pitchFamily="18" charset="0"/>
                        </a:rPr>
                        <a:t>HarmonyOS</a:t>
                      </a:r>
                      <a:endParaRPr lang="en-US" sz="1600" b="0" i="0" u="none" strike="noStrike" dirty="0">
                        <a:solidFill>
                          <a:srgbClr val="000000"/>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solidFill>
                            <a:schemeClr val="dk1"/>
                          </a:solidFill>
                          <a:effectLst/>
                          <a:latin typeface="+mj-ea"/>
                          <a:ea typeface="+mj-ea"/>
                          <a:cs typeface="Times New Roman" panose="02020603050405020304" pitchFamily="18" charset="0"/>
                        </a:rPr>
                        <a:t>多线程</a:t>
                      </a: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抢占式</a:t>
                      </a:r>
                    </a:p>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kern="1200" dirty="0">
                          <a:effectLst/>
                          <a:latin typeface="+mj-ea"/>
                          <a:ea typeface="+mj-ea"/>
                          <a:cs typeface="Times New Roman" panose="02020603050405020304" pitchFamily="18" charset="0"/>
                        </a:rPr>
                        <a:t>时间片轮转</a:t>
                      </a: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阻塞式</a:t>
                      </a:r>
                      <a:r>
                        <a:rPr lang="en-US" altLang="zh-CN" sz="1600" u="none" strike="noStrike" kern="1200" dirty="0">
                          <a:effectLst/>
                          <a:latin typeface="+mj-ea"/>
                          <a:ea typeface="+mj-ea"/>
                          <a:cs typeface="Times New Roman" panose="02020603050405020304" pitchFamily="18" charset="0"/>
                        </a:rPr>
                        <a:t>I/O </a:t>
                      </a:r>
                      <a:endParaRPr lang="zh-CN" altLang="en-US" sz="1600" u="none" strike="noStrike" kern="1200" dirty="0">
                        <a:effectLst/>
                        <a:latin typeface="+mj-ea"/>
                        <a:ea typeface="+mj-ea"/>
                        <a:cs typeface="Times New Roman" panose="02020603050405020304" pitchFamily="18" charset="0"/>
                      </a:endParaRPr>
                    </a:p>
                    <a:p>
                      <a:pPr algn="ctr" fontAlgn="ctr"/>
                      <a:r>
                        <a:rPr lang="zh-CN" altLang="en-US" sz="1600" u="none" strike="noStrike" kern="1200" dirty="0">
                          <a:effectLst/>
                          <a:latin typeface="+mj-ea"/>
                          <a:ea typeface="+mj-ea"/>
                          <a:cs typeface="Times New Roman" panose="02020603050405020304" pitchFamily="18" charset="0"/>
                        </a:rPr>
                        <a:t>分阶段</a:t>
                      </a:r>
                      <a:r>
                        <a:rPr lang="en-US" altLang="zh-CN" sz="1600" u="none" strike="noStrike" kern="1200" dirty="0">
                          <a:effectLst/>
                          <a:latin typeface="+mj-ea"/>
                          <a:ea typeface="+mj-ea"/>
                          <a:cs typeface="Times New Roman" panose="02020603050405020304" pitchFamily="18" charset="0"/>
                        </a:rPr>
                        <a:t>I/O </a:t>
                      </a:r>
                      <a:r>
                        <a:rPr lang="zh-CN" altLang="en-US" sz="1600" u="none" strike="noStrike" kern="1200" dirty="0">
                          <a:effectLst/>
                          <a:latin typeface="+mj-ea"/>
                          <a:ea typeface="+mj-ea"/>
                          <a:cs typeface="Times New Roman" panose="02020603050405020304" pitchFamily="18" charset="0"/>
                        </a:rPr>
                        <a:t>　</a:t>
                      </a:r>
                      <a:endParaRPr lang="zh-CN" altLang="en-US" sz="1600" u="none" strike="noStrike" kern="1200" dirty="0">
                        <a:solidFill>
                          <a:schemeClr val="dk1"/>
                        </a:solidFill>
                        <a:effectLst/>
                        <a:latin typeface="+mj-ea"/>
                        <a:ea typeface="+mj-ea"/>
                        <a:cs typeface="Times New Roman" panose="02020603050405020304" pitchFamily="18" charset="0"/>
                      </a:endParaRPr>
                    </a:p>
                    <a:p>
                      <a:pPr algn="ctr" fontAlgn="ct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静态</a:t>
                      </a:r>
                    </a:p>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kern="1200" dirty="0">
                          <a:effectLst/>
                          <a:latin typeface="+mj-ea"/>
                          <a:ea typeface="+mj-ea"/>
                          <a:cs typeface="Times New Roman" panose="02020603050405020304" pitchFamily="18" charset="0"/>
                        </a:rPr>
                        <a:t>动态</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algn="ctr" rtl="0" fontAlgn="ctr"/>
                      <a:r>
                        <a:rPr lang="zh-CN" altLang="en-US" sz="1600" u="none" strike="noStrike" kern="1200" dirty="0">
                          <a:effectLst/>
                          <a:latin typeface="+mj-ea"/>
                          <a:ea typeface="+mj-ea"/>
                          <a:cs typeface="Times New Roman" panose="02020603050405020304" pitchFamily="18" charset="0"/>
                        </a:rPr>
                        <a:t>差分升级</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zh-CN" altLang="en-US" sz="1600" u="none" strike="noStrike" kern="1200" dirty="0">
                          <a:solidFill>
                            <a:schemeClr val="dk1"/>
                          </a:solidFill>
                          <a:effectLst/>
                          <a:latin typeface="+mj-ea"/>
                          <a:ea typeface="+mj-ea"/>
                          <a:cs typeface="Times New Roman" panose="02020603050405020304" pitchFamily="18" charset="0"/>
                        </a:rPr>
                        <a:t>双向认证、</a:t>
                      </a:r>
                      <a:r>
                        <a:rPr lang="en-US" altLang="zh-CN" sz="1600" u="none" strike="noStrike" kern="1200" dirty="0">
                          <a:solidFill>
                            <a:schemeClr val="dk1"/>
                          </a:solidFill>
                          <a:effectLst/>
                          <a:latin typeface="+mj-ea"/>
                          <a:ea typeface="+mj-ea"/>
                          <a:cs typeface="Times New Roman" panose="02020603050405020304" pitchFamily="18" charset="0"/>
                        </a:rPr>
                        <a:t>FOTA</a:t>
                      </a:r>
                      <a:r>
                        <a:rPr lang="zh-CN" altLang="en-US" sz="1600" u="none" strike="noStrike" kern="1200" dirty="0">
                          <a:solidFill>
                            <a:schemeClr val="dk1"/>
                          </a:solidFill>
                          <a:effectLst/>
                          <a:latin typeface="+mj-ea"/>
                          <a:ea typeface="+mj-ea"/>
                          <a:cs typeface="Times New Roman" panose="02020603050405020304" pitchFamily="18" charset="0"/>
                        </a:rPr>
                        <a:t>固件差分升级，</a:t>
                      </a:r>
                      <a:r>
                        <a:rPr lang="en-US" altLang="zh-CN" sz="1600" u="none" strike="noStrike" kern="1200" dirty="0">
                          <a:solidFill>
                            <a:schemeClr val="dk1"/>
                          </a:solidFill>
                          <a:effectLst/>
                          <a:latin typeface="+mj-ea"/>
                          <a:ea typeface="+mj-ea"/>
                          <a:cs typeface="Times New Roman" panose="02020603050405020304" pitchFamily="18" charset="0"/>
                        </a:rPr>
                        <a:t>DTLS/DTLS+</a:t>
                      </a:r>
                      <a:endParaRPr lang="zh-CN" altLang="en-US" sz="1600" u="none" strike="noStrike" kern="1200" dirty="0">
                        <a:solidFill>
                          <a:schemeClr val="dk1"/>
                        </a:solidFill>
                        <a:effectLst/>
                        <a:latin typeface="+mj-ea"/>
                        <a:ea typeface="+mj-ea"/>
                        <a:cs typeface="Times New Roman" panose="02020603050405020304" pitchFamily="18" charset="0"/>
                      </a:endParaRPr>
                    </a:p>
                  </a:txBody>
                  <a:tcPr marL="8874" marR="8874" marT="8874" marB="0" anchor="ctr"/>
                </a:tc>
                <a:extLst>
                  <a:ext uri="{0D108BD9-81ED-4DB2-BD59-A6C34878D82A}">
                    <a16:rowId xmlns:a16="http://schemas.microsoft.com/office/drawing/2014/main" val="3585822818"/>
                  </a:ext>
                </a:extLst>
              </a:tr>
            </a:tbl>
          </a:graphicData>
        </a:graphic>
      </p:graphicFrame>
      <p:sp>
        <p:nvSpPr>
          <p:cNvPr id="6" name="灯片编号占位符 4">
            <a:extLst>
              <a:ext uri="{FF2B5EF4-FFF2-40B4-BE49-F238E27FC236}">
                <a16:creationId xmlns:a16="http://schemas.microsoft.com/office/drawing/2014/main" id="{24AB6141-0FBD-45E3-ACAD-68220190BCD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72274438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dirty="0"/>
              <a:t>目录</a:t>
            </a:r>
          </a:p>
        </p:txBody>
      </p:sp>
      <p:sp>
        <p:nvSpPr>
          <p:cNvPr id="5" name="内容占位符 2"/>
          <p:cNvSpPr>
            <a:spLocks noGrp="1"/>
          </p:cNvSpPr>
          <p:nvPr>
            <p:ph idx="1"/>
          </p:nvPr>
        </p:nvSpPr>
        <p:spPr>
          <a:xfrm>
            <a:off x="457200" y="990600"/>
            <a:ext cx="8305800" cy="5410200"/>
          </a:xfrm>
        </p:spPr>
        <p:txBody>
          <a:bodyPr>
            <a:normAutofit lnSpcReduction="10000"/>
          </a:bodyPr>
          <a:lstStyle/>
          <a:p>
            <a:endParaRPr lang="en-US" altLang="zh-CN" sz="2800" dirty="0"/>
          </a:p>
          <a:p>
            <a:r>
              <a:rPr lang="zh-CN" altLang="en-US" sz="2800" dirty="0"/>
              <a:t>概述</a:t>
            </a:r>
            <a:endParaRPr lang="en-US" altLang="zh-CN" sz="2800" dirty="0"/>
          </a:p>
          <a:p>
            <a:r>
              <a:rPr lang="zh-CN" altLang="en-US" sz="2800" dirty="0"/>
              <a:t>关键特性</a:t>
            </a:r>
            <a:endParaRPr lang="en-US" altLang="zh-CN" sz="2800" dirty="0"/>
          </a:p>
          <a:p>
            <a:r>
              <a:rPr lang="zh-CN" altLang="en-US" sz="2800" dirty="0"/>
              <a:t>典型物联网操作系统</a:t>
            </a:r>
            <a:endParaRPr lang="en-US" altLang="zh-CN" sz="2800" dirty="0"/>
          </a:p>
          <a:p>
            <a:pPr lvl="1"/>
            <a:r>
              <a:rPr lang="en-US" altLang="zh-CN" sz="2400" dirty="0"/>
              <a:t>3.3.1 Contiki OS</a:t>
            </a:r>
          </a:p>
          <a:p>
            <a:pPr lvl="1"/>
            <a:r>
              <a:rPr lang="en-US" altLang="zh-CN" sz="2400" dirty="0"/>
              <a:t>3.3.2</a:t>
            </a:r>
            <a:r>
              <a:rPr lang="zh-CN" altLang="en-US" sz="2400" dirty="0"/>
              <a:t> </a:t>
            </a:r>
            <a:r>
              <a:rPr lang="en-US" altLang="zh-CN" sz="2400" dirty="0"/>
              <a:t>RIOT</a:t>
            </a:r>
          </a:p>
          <a:p>
            <a:pPr lvl="1"/>
            <a:r>
              <a:rPr lang="en-US" altLang="zh-CN" sz="2400" dirty="0"/>
              <a:t>3.3.3 </a:t>
            </a:r>
            <a:r>
              <a:rPr lang="en-US" altLang="zh-CN" sz="2400" dirty="0" err="1"/>
              <a:t>AliOS</a:t>
            </a:r>
            <a:r>
              <a:rPr lang="en-US" altLang="zh-CN" sz="2400" dirty="0"/>
              <a:t> Things</a:t>
            </a:r>
          </a:p>
          <a:p>
            <a:pPr lvl="1"/>
            <a:r>
              <a:rPr lang="en-US" altLang="zh-CN" sz="2400" dirty="0"/>
              <a:t>3.3.4 </a:t>
            </a:r>
            <a:r>
              <a:rPr lang="en-US" altLang="zh-CN" sz="2400" dirty="0" err="1"/>
              <a:t>HarmonyOS</a:t>
            </a:r>
            <a:endParaRPr lang="en-US" altLang="zh-CN" sz="2400" dirty="0"/>
          </a:p>
          <a:p>
            <a:r>
              <a:rPr lang="zh-CN" altLang="en-US" sz="2800" dirty="0"/>
              <a:t>案例开发</a:t>
            </a:r>
            <a:endParaRPr lang="en-US" altLang="zh-CN" sz="2800" dirty="0"/>
          </a:p>
          <a:p>
            <a:r>
              <a:rPr lang="zh-CN" altLang="en-US" sz="2800" dirty="0"/>
              <a:t>学术研究前沿</a:t>
            </a:r>
            <a:endParaRPr lang="en-US" altLang="zh-CN" sz="2800" dirty="0"/>
          </a:p>
        </p:txBody>
      </p:sp>
    </p:spTree>
    <p:extLst>
      <p:ext uri="{BB962C8B-B14F-4D97-AF65-F5344CB8AC3E}">
        <p14:creationId xmlns:p14="http://schemas.microsoft.com/office/powerpoint/2010/main" val="721621356"/>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a:t>学术研究前沿</a:t>
            </a:r>
            <a:endParaRPr lang="zh-CN" altLang="en-US" dirty="0"/>
          </a:p>
        </p:txBody>
      </p:sp>
      <p:sp>
        <p:nvSpPr>
          <p:cNvPr id="3" name="内容占位符 2"/>
          <p:cNvSpPr>
            <a:spLocks noGrp="1"/>
          </p:cNvSpPr>
          <p:nvPr>
            <p:ph idx="1"/>
          </p:nvPr>
        </p:nvSpPr>
        <p:spPr>
          <a:xfrm>
            <a:off x="457200" y="990600"/>
            <a:ext cx="8305800" cy="5410200"/>
          </a:xfrm>
        </p:spPr>
        <p:txBody>
          <a:bodyPr/>
          <a:lstStyle/>
          <a:p>
            <a:r>
              <a:rPr lang="zh-CN" altLang="en-US"/>
              <a:t>在物联网领域中，操作系统的研究一直在持续推进之中</a:t>
            </a:r>
            <a:endParaRPr lang="en-US" altLang="zh-CN"/>
          </a:p>
          <a:p>
            <a:r>
              <a:rPr lang="zh-CN" altLang="en-US"/>
              <a:t>学术关注点</a:t>
            </a:r>
            <a:endParaRPr lang="en-US" altLang="zh-CN"/>
          </a:p>
          <a:p>
            <a:pPr lvl="1"/>
            <a:r>
              <a:rPr lang="zh-CN" altLang="en-US"/>
              <a:t>高安全性：物联网节点通常无人值守</a:t>
            </a:r>
            <a:r>
              <a:rPr lang="en-US" altLang="zh-CN"/>
              <a:t>,</a:t>
            </a:r>
            <a:r>
              <a:rPr lang="zh-CN" altLang="en-US"/>
              <a:t>且容易被俘获，系统的安全性一直是物联网操作系统考虑的重要方面</a:t>
            </a:r>
            <a:endParaRPr lang="en-US" altLang="zh-CN"/>
          </a:p>
          <a:p>
            <a:pPr lvl="1"/>
            <a:r>
              <a:rPr lang="zh-CN" altLang="en-US"/>
              <a:t>高拓展性：对多种语言、多种协议的支持</a:t>
            </a:r>
            <a:endParaRPr lang="en-US" altLang="zh-CN"/>
          </a:p>
          <a:p>
            <a:pPr lvl="1"/>
            <a:r>
              <a:rPr lang="zh-CN" altLang="en-US"/>
              <a:t>环境自适应性：硬件技术的发展使得某类物联网节点（如</a:t>
            </a:r>
            <a:r>
              <a:rPr lang="en-US" altLang="zh-CN"/>
              <a:t>WISP</a:t>
            </a:r>
            <a:r>
              <a:rPr lang="zh-CN" altLang="en-US"/>
              <a:t>）可以直接从环境中采集微弱能量（太阳能、无线电等）来运行</a:t>
            </a:r>
            <a:endParaRPr lang="en-US" altLang="zh-CN" dirty="0"/>
          </a:p>
        </p:txBody>
      </p:sp>
      <p:sp>
        <p:nvSpPr>
          <p:cNvPr id="6" name="灯片编号占位符 4">
            <a:extLst>
              <a:ext uri="{FF2B5EF4-FFF2-40B4-BE49-F238E27FC236}">
                <a16:creationId xmlns:a16="http://schemas.microsoft.com/office/drawing/2014/main" id="{7490D041-CC72-4CD0-B61A-29089AE65C2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64</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719046609"/>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学术研究前沿</a:t>
            </a:r>
            <a:r>
              <a:rPr lang="en-US" altLang="zh-CN" dirty="0"/>
              <a:t>-</a:t>
            </a:r>
            <a:r>
              <a:rPr lang="zh-CN" altLang="en-US" dirty="0"/>
              <a:t>安全性</a:t>
            </a:r>
          </a:p>
        </p:txBody>
      </p:sp>
      <p:sp>
        <p:nvSpPr>
          <p:cNvPr id="3" name="内容占位符 2"/>
          <p:cNvSpPr>
            <a:spLocks noGrp="1"/>
          </p:cNvSpPr>
          <p:nvPr>
            <p:ph idx="1"/>
          </p:nvPr>
        </p:nvSpPr>
        <p:spPr>
          <a:xfrm>
            <a:off x="457200" y="990600"/>
            <a:ext cx="8305800" cy="5410200"/>
          </a:xfrm>
        </p:spPr>
        <p:txBody>
          <a:bodyPr/>
          <a:lstStyle/>
          <a:p>
            <a:r>
              <a:rPr lang="en-US" altLang="zh-CN" dirty="0"/>
              <a:t>[SOSP 17] Multiprogramming a 64 kB Computer</a:t>
            </a:r>
            <a:br>
              <a:rPr lang="en-US" altLang="zh-CN" dirty="0"/>
            </a:br>
            <a:r>
              <a:rPr lang="en-US" altLang="zh-CN" dirty="0"/>
              <a:t>Safely and Efficiently</a:t>
            </a:r>
          </a:p>
          <a:p>
            <a:pPr lvl="1"/>
            <a:r>
              <a:rPr lang="zh-CN" altLang="en-US" dirty="0"/>
              <a:t>为嵌入式设备提供了一个新的软件系统</a:t>
            </a:r>
            <a:r>
              <a:rPr lang="en-US" altLang="zh-CN" dirty="0"/>
              <a:t>Tock</a:t>
            </a:r>
            <a:r>
              <a:rPr lang="zh-CN" altLang="en-US" dirty="0"/>
              <a:t>，它能够隔离软件错误、提供内存保护和有效的管理内存。</a:t>
            </a:r>
            <a:endParaRPr lang="en-US" altLang="zh-CN" dirty="0"/>
          </a:p>
          <a:p>
            <a:pPr lvl="1"/>
            <a:r>
              <a:rPr lang="zh-CN" altLang="en-US" dirty="0"/>
              <a:t>基于类型安全语言</a:t>
            </a:r>
            <a:r>
              <a:rPr lang="en-US" altLang="zh-CN" dirty="0"/>
              <a:t>Rust</a:t>
            </a:r>
            <a:r>
              <a:rPr lang="zh-CN" altLang="en-US" dirty="0"/>
              <a:t>编写的内核，能够隔离错误、保护内存</a:t>
            </a:r>
            <a:br>
              <a:rPr lang="en-US" altLang="zh-CN" dirty="0"/>
            </a:br>
            <a:br>
              <a:rPr lang="en-US" altLang="zh-CN" dirty="0"/>
            </a:br>
            <a:endParaRPr lang="zh-CN" altLang="en-US" dirty="0"/>
          </a:p>
        </p:txBody>
      </p:sp>
      <p:pic>
        <p:nvPicPr>
          <p:cNvPr id="4" name="图片 3"/>
          <p:cNvPicPr>
            <a:picLocks noChangeAspect="1"/>
          </p:cNvPicPr>
          <p:nvPr/>
        </p:nvPicPr>
        <p:blipFill>
          <a:blip r:embed="rId2"/>
          <a:stretch>
            <a:fillRect/>
          </a:stretch>
        </p:blipFill>
        <p:spPr>
          <a:xfrm>
            <a:off x="2213285" y="3450468"/>
            <a:ext cx="4793629" cy="2950332"/>
          </a:xfrm>
          <a:prstGeom prst="rect">
            <a:avLst/>
          </a:prstGeom>
        </p:spPr>
      </p:pic>
      <p:sp>
        <p:nvSpPr>
          <p:cNvPr id="5" name="文本框 4"/>
          <p:cNvSpPr txBox="1"/>
          <p:nvPr/>
        </p:nvSpPr>
        <p:spPr>
          <a:xfrm>
            <a:off x="3490595" y="6400800"/>
            <a:ext cx="2048510"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Tock</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rPr>
              <a:t>系统架构</a:t>
            </a:r>
          </a:p>
        </p:txBody>
      </p:sp>
      <p:sp>
        <p:nvSpPr>
          <p:cNvPr id="8" name="灯片编号占位符 4">
            <a:extLst>
              <a:ext uri="{FF2B5EF4-FFF2-40B4-BE49-F238E27FC236}">
                <a16:creationId xmlns:a16="http://schemas.microsoft.com/office/drawing/2014/main" id="{6BC2D676-96D7-4612-B56A-68079DA14AE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65</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773200510"/>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学术研究前沿</a:t>
            </a:r>
            <a:r>
              <a:rPr lang="en-US" altLang="zh-CN" dirty="0"/>
              <a:t>-</a:t>
            </a:r>
            <a:r>
              <a:rPr lang="zh-CN" altLang="en-US" dirty="0"/>
              <a:t>多语言、多协议支持</a:t>
            </a:r>
          </a:p>
        </p:txBody>
      </p:sp>
      <p:sp>
        <p:nvSpPr>
          <p:cNvPr id="3" name="内容占位符 2"/>
          <p:cNvSpPr>
            <a:spLocks noGrp="1"/>
          </p:cNvSpPr>
          <p:nvPr>
            <p:ph idx="1"/>
          </p:nvPr>
        </p:nvSpPr>
        <p:spPr>
          <a:xfrm>
            <a:off x="457200" y="990600"/>
            <a:ext cx="8305800" cy="5410200"/>
          </a:xfrm>
        </p:spPr>
        <p:txBody>
          <a:bodyPr/>
          <a:lstStyle/>
          <a:p>
            <a:r>
              <a:rPr lang="en-US" altLang="zh-CN"/>
              <a:t>[IPSN 16] System Design for a Synergistic, Low Power Mote/BLE Embedded Platform</a:t>
            </a:r>
          </a:p>
          <a:p>
            <a:pPr lvl="1"/>
            <a:r>
              <a:rPr lang="zh-CN" altLang="en-US"/>
              <a:t>设计了基于</a:t>
            </a:r>
            <a:r>
              <a:rPr lang="en-US" altLang="zh-CN"/>
              <a:t>32</a:t>
            </a:r>
            <a:r>
              <a:rPr lang="zh-CN" altLang="en-US"/>
              <a:t>位 </a:t>
            </a:r>
            <a:r>
              <a:rPr lang="en-US" altLang="zh-CN"/>
              <a:t>ARM Cortex M4</a:t>
            </a:r>
            <a:r>
              <a:rPr lang="zh-CN" altLang="en-US"/>
              <a:t>的低功耗硬件平台</a:t>
            </a:r>
            <a:r>
              <a:rPr lang="en-US" altLang="zh-CN"/>
              <a:t>FireStorm</a:t>
            </a:r>
            <a:r>
              <a:rPr lang="zh-CN" altLang="en-US"/>
              <a:t>，并基于</a:t>
            </a:r>
            <a:r>
              <a:rPr lang="en-US" altLang="zh-CN"/>
              <a:t>TinyOS</a:t>
            </a:r>
            <a:r>
              <a:rPr lang="zh-CN" altLang="en-US"/>
              <a:t>开发了新的系统</a:t>
            </a:r>
            <a:endParaRPr lang="en-US" altLang="zh-CN"/>
          </a:p>
          <a:p>
            <a:pPr lvl="1"/>
            <a:r>
              <a:rPr lang="zh-CN" altLang="en-US"/>
              <a:t>利用</a:t>
            </a:r>
            <a:r>
              <a:rPr lang="en-US" altLang="zh-CN"/>
              <a:t>Lua</a:t>
            </a:r>
            <a:r>
              <a:rPr lang="zh-CN" altLang="en-US"/>
              <a:t>语言的高可拓展的特性，支持基于</a:t>
            </a:r>
            <a:r>
              <a:rPr lang="en-US" altLang="zh-CN"/>
              <a:t>libC</a:t>
            </a:r>
            <a:r>
              <a:rPr lang="zh-CN" altLang="en-US"/>
              <a:t>的语言的移植，如</a:t>
            </a:r>
            <a:r>
              <a:rPr lang="en-US" altLang="zh-CN"/>
              <a:t>C/C++</a:t>
            </a:r>
            <a:r>
              <a:rPr lang="zh-CN" altLang="en-US"/>
              <a:t>，支持多种通信协议如</a:t>
            </a:r>
            <a:r>
              <a:rPr lang="en-US" altLang="zh-CN"/>
              <a:t>BLE</a:t>
            </a:r>
            <a:r>
              <a:rPr lang="zh-CN" altLang="en-US"/>
              <a:t>，</a:t>
            </a:r>
            <a:r>
              <a:rPr lang="en-US" altLang="zh-CN"/>
              <a:t>802.15.4</a:t>
            </a:r>
            <a:r>
              <a:rPr lang="zh-CN" altLang="en-US"/>
              <a:t>等</a:t>
            </a:r>
            <a:endParaRPr lang="en-US" altLang="zh-CN"/>
          </a:p>
          <a:p>
            <a:endParaRPr lang="en-US" altLang="zh-CN"/>
          </a:p>
          <a:p>
            <a:br>
              <a:rPr lang="en-US" altLang="zh-CN"/>
            </a:br>
            <a:br>
              <a:rPr lang="en-US" altLang="zh-CN"/>
            </a:br>
            <a:endParaRPr lang="zh-CN" altLang="en-US" dirty="0"/>
          </a:p>
        </p:txBody>
      </p:sp>
      <p:pic>
        <p:nvPicPr>
          <p:cNvPr id="4" name="图片 3"/>
          <p:cNvPicPr>
            <a:picLocks noChangeAspect="1"/>
          </p:cNvPicPr>
          <p:nvPr/>
        </p:nvPicPr>
        <p:blipFill>
          <a:blip r:embed="rId2"/>
          <a:stretch>
            <a:fillRect/>
          </a:stretch>
        </p:blipFill>
        <p:spPr>
          <a:xfrm>
            <a:off x="393700" y="3923291"/>
            <a:ext cx="8240486" cy="2564175"/>
          </a:xfrm>
          <a:prstGeom prst="rect">
            <a:avLst/>
          </a:prstGeom>
        </p:spPr>
      </p:pic>
      <p:sp>
        <p:nvSpPr>
          <p:cNvPr id="7" name="灯片编号占位符 4">
            <a:extLst>
              <a:ext uri="{FF2B5EF4-FFF2-40B4-BE49-F238E27FC236}">
                <a16:creationId xmlns:a16="http://schemas.microsoft.com/office/drawing/2014/main" id="{1BD1E4BF-7319-48D1-8D62-F9578994EEA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66</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065320145"/>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a:t>学术研究前沿</a:t>
            </a:r>
            <a:r>
              <a:rPr lang="en-US" altLang="zh-CN"/>
              <a:t>-</a:t>
            </a:r>
            <a:r>
              <a:rPr lang="zh-CN" altLang="en-US"/>
              <a:t>能量自适应性</a:t>
            </a:r>
            <a:endParaRPr lang="zh-CN" altLang="en-US" dirty="0"/>
          </a:p>
        </p:txBody>
      </p:sp>
      <p:sp>
        <p:nvSpPr>
          <p:cNvPr id="3" name="内容占位符 2"/>
          <p:cNvSpPr>
            <a:spLocks noGrp="1"/>
          </p:cNvSpPr>
          <p:nvPr>
            <p:ph idx="1"/>
          </p:nvPr>
        </p:nvSpPr>
        <p:spPr>
          <a:xfrm>
            <a:off x="457200" y="990600"/>
            <a:ext cx="8305800" cy="5410200"/>
          </a:xfrm>
        </p:spPr>
        <p:txBody>
          <a:bodyPr/>
          <a:lstStyle/>
          <a:p>
            <a:r>
              <a:rPr lang="en-US" altLang="zh-CN" dirty="0"/>
              <a:t>[</a:t>
            </a:r>
            <a:r>
              <a:rPr lang="en-US" altLang="zh-CN" dirty="0" err="1"/>
              <a:t>SenSys</a:t>
            </a:r>
            <a:r>
              <a:rPr lang="en-US" altLang="zh-CN" dirty="0"/>
              <a:t> 18] </a:t>
            </a:r>
            <a:r>
              <a:rPr lang="en-US" altLang="zh-CN" dirty="0" err="1"/>
              <a:t>InK</a:t>
            </a:r>
            <a:r>
              <a:rPr lang="en-US" altLang="zh-CN" dirty="0"/>
              <a:t>: Reactive Kernel for Tiny </a:t>
            </a:r>
            <a:r>
              <a:rPr lang="en-US" altLang="zh-CN" dirty="0" err="1"/>
              <a:t>Batteryless</a:t>
            </a:r>
            <a:r>
              <a:rPr lang="en-US" altLang="zh-CN" dirty="0"/>
              <a:t> Sensors</a:t>
            </a:r>
          </a:p>
          <a:p>
            <a:pPr lvl="1"/>
            <a:r>
              <a:rPr lang="zh-CN" altLang="en-US" dirty="0"/>
              <a:t>针对通过能量搜集（太阳能）获取能量的物联网设备，设计了操作系统内核</a:t>
            </a:r>
            <a:r>
              <a:rPr lang="en-US" altLang="zh-CN" dirty="0" err="1"/>
              <a:t>InK</a:t>
            </a:r>
            <a:endParaRPr lang="en-US" altLang="zh-CN" dirty="0"/>
          </a:p>
          <a:p>
            <a:pPr lvl="1"/>
            <a:r>
              <a:rPr lang="en-US" altLang="zh-CN" dirty="0" err="1"/>
              <a:t>InK</a:t>
            </a:r>
            <a:r>
              <a:rPr lang="zh-CN" altLang="en-US" dirty="0"/>
              <a:t>可以感知系统能量，在能量用尽之前将必要信息保存，确保内存内存一致性以及程序正常恢复</a:t>
            </a:r>
            <a:endParaRPr lang="en-US" altLang="zh-CN" dirty="0"/>
          </a:p>
          <a:p>
            <a:pPr marL="0" indent="0">
              <a:buNone/>
            </a:pPr>
            <a:br>
              <a:rPr lang="en-US" altLang="zh-CN" dirty="0"/>
            </a:br>
            <a:br>
              <a:rPr lang="en-US" altLang="zh-CN" dirty="0"/>
            </a:br>
            <a:endParaRPr lang="zh-CN" altLang="en-US" dirty="0"/>
          </a:p>
        </p:txBody>
      </p:sp>
      <p:pic>
        <p:nvPicPr>
          <p:cNvPr id="4" name="图片 3"/>
          <p:cNvPicPr>
            <a:picLocks noChangeAspect="1"/>
          </p:cNvPicPr>
          <p:nvPr/>
        </p:nvPicPr>
        <p:blipFill>
          <a:blip r:embed="rId2"/>
          <a:stretch>
            <a:fillRect/>
          </a:stretch>
        </p:blipFill>
        <p:spPr>
          <a:xfrm>
            <a:off x="2111240" y="3536417"/>
            <a:ext cx="4921519" cy="3283483"/>
          </a:xfrm>
          <a:prstGeom prst="rect">
            <a:avLst/>
          </a:prstGeom>
        </p:spPr>
      </p:pic>
      <p:sp>
        <p:nvSpPr>
          <p:cNvPr id="7" name="灯片编号占位符 4">
            <a:extLst>
              <a:ext uri="{FF2B5EF4-FFF2-40B4-BE49-F238E27FC236}">
                <a16:creationId xmlns:a16="http://schemas.microsoft.com/office/drawing/2014/main" id="{8A507AD4-E960-4C1A-94DD-642F5F84219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67</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601085861"/>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403224" y="2309663"/>
            <a:ext cx="8532813" cy="923330"/>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aseline="-25000">
                <a:solidFill>
                  <a:schemeClr val="tx1"/>
                </a:solidFill>
                <a:latin typeface="Arial" charset="0"/>
                <a:ea typeface="宋体" charset="-122"/>
              </a:defRPr>
            </a:lvl1pPr>
            <a:lvl2pPr marL="742950" indent="-285750" eaLnBrk="0" hangingPunct="0">
              <a:defRPr sz="2400" baseline="-25000">
                <a:solidFill>
                  <a:schemeClr val="tx1"/>
                </a:solidFill>
                <a:latin typeface="Arial" charset="0"/>
                <a:ea typeface="宋体" charset="-122"/>
              </a:defRPr>
            </a:lvl2pPr>
            <a:lvl3pPr marL="1143000" indent="-228600" eaLnBrk="0" hangingPunct="0">
              <a:defRPr sz="2400" baseline="-25000">
                <a:solidFill>
                  <a:schemeClr val="tx1"/>
                </a:solidFill>
                <a:latin typeface="Arial" charset="0"/>
                <a:ea typeface="宋体" charset="-122"/>
              </a:defRPr>
            </a:lvl3pPr>
            <a:lvl4pPr marL="1600200" indent="-228600" eaLnBrk="0" hangingPunct="0">
              <a:defRPr sz="2400" baseline="-25000">
                <a:solidFill>
                  <a:schemeClr val="tx1"/>
                </a:solidFill>
                <a:latin typeface="Arial" charset="0"/>
                <a:ea typeface="宋体" charset="-122"/>
              </a:defRPr>
            </a:lvl4pPr>
            <a:lvl5pPr marL="2057400" indent="-228600" eaLnBrk="0" hangingPunct="0">
              <a:defRPr sz="2400" baseline="-25000">
                <a:solidFill>
                  <a:schemeClr val="tx1"/>
                </a:solidFill>
                <a:latin typeface="Arial" charset="0"/>
                <a:ea typeface="宋体" charset="-122"/>
              </a:defRPr>
            </a:lvl5pPr>
            <a:lvl6pPr marL="2514600" indent="-228600" eaLnBrk="0" fontAlgn="base" hangingPunct="0">
              <a:spcBef>
                <a:spcPct val="0"/>
              </a:spcBef>
              <a:spcAft>
                <a:spcPct val="0"/>
              </a:spcAft>
              <a:defRPr sz="2400" baseline="-25000">
                <a:solidFill>
                  <a:schemeClr val="tx1"/>
                </a:solidFill>
                <a:latin typeface="Arial" charset="0"/>
                <a:ea typeface="宋体" charset="-122"/>
              </a:defRPr>
            </a:lvl6pPr>
            <a:lvl7pPr marL="2971800" indent="-228600" eaLnBrk="0" fontAlgn="base" hangingPunct="0">
              <a:spcBef>
                <a:spcPct val="0"/>
              </a:spcBef>
              <a:spcAft>
                <a:spcPct val="0"/>
              </a:spcAft>
              <a:defRPr sz="2400" baseline="-25000">
                <a:solidFill>
                  <a:schemeClr val="tx1"/>
                </a:solidFill>
                <a:latin typeface="Arial" charset="0"/>
                <a:ea typeface="宋体" charset="-122"/>
              </a:defRPr>
            </a:lvl7pPr>
            <a:lvl8pPr marL="3429000" indent="-228600" eaLnBrk="0" fontAlgn="base" hangingPunct="0">
              <a:spcBef>
                <a:spcPct val="0"/>
              </a:spcBef>
              <a:spcAft>
                <a:spcPct val="0"/>
              </a:spcAft>
              <a:defRPr sz="2400" baseline="-25000">
                <a:solidFill>
                  <a:schemeClr val="tx1"/>
                </a:solidFill>
                <a:latin typeface="Arial" charset="0"/>
                <a:ea typeface="宋体" charset="-122"/>
              </a:defRPr>
            </a:lvl8pPr>
            <a:lvl9pPr marL="3886200" indent="-228600" eaLnBrk="0" fontAlgn="base" hangingPunct="0">
              <a:spcBef>
                <a:spcPct val="0"/>
              </a:spcBef>
              <a:spcAft>
                <a:spcPct val="0"/>
              </a:spcAft>
              <a:defRPr sz="2400" baseline="-25000">
                <a:solidFill>
                  <a:schemeClr val="tx1"/>
                </a:solidFill>
                <a:latin typeface="Arial" charset="0"/>
                <a:ea typeface="宋体" charset="-122"/>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zh-CN" altLang="en-US" sz="5400" b="1" i="0" u="none" strike="noStrike" kern="1200" cap="none" spc="0" normalizeH="0" baseline="0" noProof="0" dirty="0">
                <a:ln>
                  <a:noFill/>
                </a:ln>
                <a:solidFill>
                  <a:srgbClr val="C00000"/>
                </a:solidFill>
                <a:effectLst/>
                <a:uLnTx/>
                <a:uFillTx/>
                <a:latin typeface="黑体" pitchFamily="49" charset="-122"/>
                <a:ea typeface="黑体" pitchFamily="49" charset="-122"/>
                <a:cs typeface="+mn-cs"/>
              </a:rPr>
              <a:t>谢谢！</a:t>
            </a:r>
            <a:endParaRPr kumimoji="0" lang="en-US" altLang="zh-CN" sz="5400" b="1" i="0" u="none" strike="noStrike" kern="1200" cap="none" spc="0" normalizeH="0" baseline="0" noProof="0" dirty="0">
              <a:ln>
                <a:noFill/>
              </a:ln>
              <a:solidFill>
                <a:srgbClr val="C00000"/>
              </a:solidFill>
              <a:effectLst/>
              <a:uLnTx/>
              <a:uFillTx/>
              <a:latin typeface="黑体" pitchFamily="49" charset="-122"/>
              <a:ea typeface="黑体" pitchFamily="49" charset="-122"/>
              <a:cs typeface="+mn-cs"/>
            </a:endParaRPr>
          </a:p>
        </p:txBody>
      </p:sp>
    </p:spTree>
    <p:extLst>
      <p:ext uri="{BB962C8B-B14F-4D97-AF65-F5344CB8AC3E}">
        <p14:creationId xmlns:p14="http://schemas.microsoft.com/office/powerpoint/2010/main" val="2295150055"/>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dirty="0"/>
              <a:t>目录</a:t>
            </a:r>
          </a:p>
        </p:txBody>
      </p:sp>
      <p:sp>
        <p:nvSpPr>
          <p:cNvPr id="5" name="内容占位符 2"/>
          <p:cNvSpPr>
            <a:spLocks noGrp="1"/>
          </p:cNvSpPr>
          <p:nvPr>
            <p:ph idx="1"/>
          </p:nvPr>
        </p:nvSpPr>
        <p:spPr>
          <a:xfrm>
            <a:off x="457200" y="990600"/>
            <a:ext cx="8305800" cy="5410200"/>
          </a:xfrm>
        </p:spPr>
        <p:txBody>
          <a:bodyPr>
            <a:normAutofit/>
          </a:bodyPr>
          <a:lstStyle/>
          <a:p>
            <a:endParaRPr lang="en-US" altLang="zh-CN" sz="2800" dirty="0"/>
          </a:p>
          <a:p>
            <a:r>
              <a:rPr lang="zh-CN" altLang="en-US" sz="2800" dirty="0"/>
              <a:t>概述</a:t>
            </a:r>
            <a:endParaRPr lang="en-US" altLang="zh-CN" sz="2800" dirty="0"/>
          </a:p>
          <a:p>
            <a:r>
              <a:rPr lang="zh-CN" altLang="en-US" sz="2800" dirty="0"/>
              <a:t>关键特性</a:t>
            </a:r>
            <a:endParaRPr lang="en-US" altLang="zh-CN" sz="2800" dirty="0"/>
          </a:p>
          <a:p>
            <a:r>
              <a:rPr lang="zh-CN" altLang="en-US" sz="2800" dirty="0"/>
              <a:t>典型物联网操作系统</a:t>
            </a:r>
            <a:endParaRPr lang="en-US" altLang="zh-CN" sz="2800" dirty="0"/>
          </a:p>
          <a:p>
            <a:pPr lvl="1"/>
            <a:r>
              <a:rPr lang="en-US" altLang="zh-CN" sz="2400" dirty="0" err="1"/>
              <a:t>TinyOS</a:t>
            </a:r>
            <a:endParaRPr lang="en-US" altLang="zh-CN" sz="2400" dirty="0"/>
          </a:p>
          <a:p>
            <a:pPr lvl="1"/>
            <a:r>
              <a:rPr lang="en-US" altLang="zh-CN" sz="2400" dirty="0" err="1"/>
              <a:t>Contiki</a:t>
            </a:r>
            <a:r>
              <a:rPr lang="en-US" altLang="zh-CN" sz="2400" dirty="0"/>
              <a:t> OS</a:t>
            </a:r>
          </a:p>
          <a:p>
            <a:pPr lvl="1"/>
            <a:r>
              <a:rPr lang="en-US" altLang="zh-CN" sz="2400" dirty="0" err="1"/>
              <a:t>AliOS</a:t>
            </a:r>
            <a:r>
              <a:rPr lang="en-US" altLang="zh-CN" sz="2400" dirty="0"/>
              <a:t> Things</a:t>
            </a:r>
          </a:p>
          <a:p>
            <a:r>
              <a:rPr lang="zh-CN" altLang="en-US" sz="2800" dirty="0">
                <a:solidFill>
                  <a:srgbClr val="C00000"/>
                </a:solidFill>
              </a:rPr>
              <a:t>案例开发</a:t>
            </a:r>
            <a:endParaRPr lang="en-US" altLang="zh-CN" sz="2800" dirty="0">
              <a:solidFill>
                <a:srgbClr val="C00000"/>
              </a:solidFill>
            </a:endParaRPr>
          </a:p>
          <a:p>
            <a:r>
              <a:rPr lang="zh-CN" altLang="en-US" sz="2800" dirty="0"/>
              <a:t>学术研究前沿</a:t>
            </a:r>
            <a:endParaRPr lang="en-US" altLang="zh-CN" sz="2800" dirty="0"/>
          </a:p>
        </p:txBody>
      </p:sp>
    </p:spTree>
    <p:extLst>
      <p:ext uri="{BB962C8B-B14F-4D97-AF65-F5344CB8AC3E}">
        <p14:creationId xmlns:p14="http://schemas.microsoft.com/office/powerpoint/2010/main" val="2907153933"/>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AE105D-A01B-4848-90C9-89B92F24AFE3}"/>
              </a:ext>
            </a:extLst>
          </p:cNvPr>
          <p:cNvSpPr>
            <a:spLocks noGrp="1"/>
          </p:cNvSpPr>
          <p:nvPr>
            <p:ph type="title"/>
          </p:nvPr>
        </p:nvSpPr>
        <p:spPr>
          <a:xfrm>
            <a:off x="393700" y="38100"/>
            <a:ext cx="8242300" cy="914400"/>
          </a:xfrm>
        </p:spPr>
        <p:txBody>
          <a:bodyPr/>
          <a:lstStyle/>
          <a:p>
            <a:r>
              <a:rPr lang="en-US" altLang="zh-CN" dirty="0" err="1"/>
              <a:t>AntiTheft</a:t>
            </a:r>
            <a:r>
              <a:rPr lang="zh-CN" altLang="en-US" dirty="0"/>
              <a:t>应用编程实例：增强版</a:t>
            </a:r>
          </a:p>
        </p:txBody>
      </p:sp>
      <p:sp>
        <p:nvSpPr>
          <p:cNvPr id="3" name="内容占位符 2">
            <a:extLst>
              <a:ext uri="{FF2B5EF4-FFF2-40B4-BE49-F238E27FC236}">
                <a16:creationId xmlns:a16="http://schemas.microsoft.com/office/drawing/2014/main" id="{E58066E7-1DEC-48D6-8B0F-3D76AF9C90A3}"/>
              </a:ext>
            </a:extLst>
          </p:cNvPr>
          <p:cNvSpPr>
            <a:spLocks noGrp="1"/>
          </p:cNvSpPr>
          <p:nvPr>
            <p:ph idx="1"/>
          </p:nvPr>
        </p:nvSpPr>
        <p:spPr>
          <a:xfrm>
            <a:off x="457200" y="990600"/>
            <a:ext cx="8305800" cy="5410200"/>
          </a:xfrm>
        </p:spPr>
        <p:txBody>
          <a:bodyPr/>
          <a:lstStyle/>
          <a:p>
            <a:r>
              <a:rPr lang="zh-CN" altLang="en-US" dirty="0"/>
              <a:t>案例具体功能描述</a:t>
            </a:r>
          </a:p>
          <a:p>
            <a:pPr lvl="1"/>
            <a:r>
              <a:rPr lang="zh-CN" altLang="en-US" dirty="0"/>
              <a:t>设计算法，检测传感器节点是否被偷</a:t>
            </a:r>
          </a:p>
          <a:p>
            <a:r>
              <a:rPr lang="zh-CN" altLang="en-US" dirty="0"/>
              <a:t>简单版</a:t>
            </a:r>
            <a:r>
              <a:rPr lang="en-US" altLang="zh-CN" dirty="0" err="1"/>
              <a:t>AntiTheft</a:t>
            </a:r>
            <a:r>
              <a:rPr lang="zh-CN" altLang="en-US" dirty="0"/>
              <a:t>应用解法</a:t>
            </a:r>
          </a:p>
          <a:p>
            <a:pPr lvl="1"/>
            <a:r>
              <a:rPr lang="zh-CN" altLang="en-US" dirty="0"/>
              <a:t>假设：小偷将节点放在口袋里，因此“黑暗”的节点就代表被偷了</a:t>
            </a:r>
          </a:p>
          <a:p>
            <a:pPr lvl="1"/>
            <a:r>
              <a:rPr lang="zh-CN" altLang="en-US" dirty="0"/>
              <a:t>小偷发现算法：每隔</a:t>
            </a:r>
            <a:r>
              <a:rPr lang="en-US" altLang="zh-CN" dirty="0"/>
              <a:t>N </a:t>
            </a:r>
            <a:r>
              <a:rPr lang="en-US" altLang="zh-CN" dirty="0" err="1"/>
              <a:t>ms</a:t>
            </a:r>
            <a:r>
              <a:rPr lang="zh-CN" altLang="en-US" dirty="0"/>
              <a:t>检查光照传感器读数是否低于某阈值</a:t>
            </a:r>
          </a:p>
          <a:p>
            <a:pPr lvl="1"/>
            <a:r>
              <a:rPr lang="zh-CN" altLang="en-US" dirty="0"/>
              <a:t>小偷警告算法：点亮红色的</a:t>
            </a:r>
            <a:r>
              <a:rPr lang="en-US" altLang="zh-CN" dirty="0"/>
              <a:t>LED</a:t>
            </a:r>
            <a:r>
              <a:rPr lang="zh-CN" altLang="en-US" dirty="0"/>
              <a:t>灯并持续一段时间</a:t>
            </a:r>
          </a:p>
          <a:p>
            <a:endParaRPr lang="zh-CN" altLang="en-US" dirty="0"/>
          </a:p>
          <a:p>
            <a:endParaRPr lang="zh-CN" altLang="en-US" dirty="0"/>
          </a:p>
          <a:p>
            <a:endParaRPr lang="zh-CN" altLang="en-US" dirty="0"/>
          </a:p>
        </p:txBody>
      </p:sp>
      <p:sp>
        <p:nvSpPr>
          <p:cNvPr id="5" name="灯片编号占位符 4">
            <a:extLst>
              <a:ext uri="{FF2B5EF4-FFF2-40B4-BE49-F238E27FC236}">
                <a16:creationId xmlns:a16="http://schemas.microsoft.com/office/drawing/2014/main" id="{168FE653-933E-4B77-94AD-ADF1C306DA4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70</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335198386"/>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711EF6-28F2-47D3-8825-1E2C2DC84AA2}"/>
              </a:ext>
            </a:extLst>
          </p:cNvPr>
          <p:cNvSpPr>
            <a:spLocks noGrp="1"/>
          </p:cNvSpPr>
          <p:nvPr>
            <p:ph type="title"/>
          </p:nvPr>
        </p:nvSpPr>
        <p:spPr>
          <a:xfrm>
            <a:off x="393700" y="38100"/>
            <a:ext cx="8242300" cy="914400"/>
          </a:xfrm>
        </p:spPr>
        <p:txBody>
          <a:bodyPr/>
          <a:lstStyle/>
          <a:p>
            <a:r>
              <a:rPr lang="en-US" altLang="zh-CN" dirty="0" err="1"/>
              <a:t>AntiTheft</a:t>
            </a:r>
            <a:r>
              <a:rPr lang="zh-CN" altLang="en-US" dirty="0"/>
              <a:t>应用编程实例：增强版</a:t>
            </a:r>
          </a:p>
        </p:txBody>
      </p:sp>
      <p:sp>
        <p:nvSpPr>
          <p:cNvPr id="3" name="内容占位符 2">
            <a:extLst>
              <a:ext uri="{FF2B5EF4-FFF2-40B4-BE49-F238E27FC236}">
                <a16:creationId xmlns:a16="http://schemas.microsoft.com/office/drawing/2014/main" id="{D6BEBCFD-7F4E-4850-ADF5-FD25339229FB}"/>
              </a:ext>
            </a:extLst>
          </p:cNvPr>
          <p:cNvSpPr>
            <a:spLocks noGrp="1"/>
          </p:cNvSpPr>
          <p:nvPr>
            <p:ph idx="1"/>
          </p:nvPr>
        </p:nvSpPr>
        <p:spPr>
          <a:xfrm>
            <a:off x="457200" y="990600"/>
            <a:ext cx="8305800" cy="5410200"/>
          </a:xfrm>
        </p:spPr>
        <p:txBody>
          <a:bodyPr/>
          <a:lstStyle/>
          <a:p>
            <a:r>
              <a:rPr lang="zh-CN" altLang="en-US" dirty="0"/>
              <a:t>简单版</a:t>
            </a:r>
            <a:r>
              <a:rPr lang="en-US" altLang="zh-CN" dirty="0" err="1"/>
              <a:t>AntiTheft</a:t>
            </a:r>
            <a:r>
              <a:rPr lang="zh-CN" altLang="en-US" dirty="0"/>
              <a:t>应用存在的问题</a:t>
            </a:r>
          </a:p>
          <a:p>
            <a:pPr lvl="1"/>
            <a:r>
              <a:rPr lang="zh-CN" altLang="en-US" dirty="0"/>
              <a:t>一个聪明的小偷偷节点的时候可能不装到口袋里，这样简单版</a:t>
            </a:r>
            <a:r>
              <a:rPr lang="en-US" altLang="zh-CN" dirty="0" err="1"/>
              <a:t>AntiTheft</a:t>
            </a:r>
            <a:r>
              <a:rPr lang="zh-CN" altLang="en-US" dirty="0"/>
              <a:t>应用就不能判断节点是否被偷</a:t>
            </a:r>
          </a:p>
          <a:p>
            <a:r>
              <a:rPr lang="zh-CN" altLang="en-US" dirty="0"/>
              <a:t>增强版</a:t>
            </a:r>
            <a:r>
              <a:rPr lang="en-US" altLang="zh-CN" dirty="0" err="1"/>
              <a:t>AntiTheft</a:t>
            </a:r>
            <a:r>
              <a:rPr lang="zh-CN" altLang="en-US" dirty="0"/>
              <a:t>应用解法切入点</a:t>
            </a:r>
          </a:p>
          <a:p>
            <a:pPr lvl="1"/>
            <a:r>
              <a:rPr lang="zh-CN" altLang="en-US" dirty="0"/>
              <a:t>小偷拿起节点时，节点的加速度会发生突变</a:t>
            </a:r>
          </a:p>
          <a:p>
            <a:r>
              <a:rPr lang="zh-CN" altLang="en-US" dirty="0"/>
              <a:t>增强版</a:t>
            </a:r>
            <a:r>
              <a:rPr lang="en-US" altLang="zh-CN" dirty="0" err="1"/>
              <a:t>AntiTheft</a:t>
            </a:r>
            <a:r>
              <a:rPr lang="zh-CN" altLang="en-US" dirty="0"/>
              <a:t>应用解法</a:t>
            </a:r>
          </a:p>
          <a:p>
            <a:pPr lvl="1"/>
            <a:r>
              <a:rPr lang="zh-CN" altLang="en-US" dirty="0"/>
              <a:t>具体解法：每隔</a:t>
            </a:r>
            <a:r>
              <a:rPr lang="en-US" altLang="zh-CN" dirty="0"/>
              <a:t>1s</a:t>
            </a:r>
            <a:r>
              <a:rPr lang="zh-CN" altLang="en-US" dirty="0"/>
              <a:t>，以</a:t>
            </a:r>
            <a:r>
              <a:rPr lang="en-US" altLang="zh-CN" dirty="0"/>
              <a:t>100Hz</a:t>
            </a:r>
            <a:r>
              <a:rPr lang="zh-CN" altLang="en-US" dirty="0"/>
              <a:t>的频率采集加速度读数，检查方差是否超出给定阈值。如果超出阈值，则判断节点被盗，点亮节点上红色的</a:t>
            </a:r>
            <a:r>
              <a:rPr lang="en-US" altLang="zh-CN" dirty="0"/>
              <a:t>LED </a:t>
            </a:r>
            <a:r>
              <a:rPr lang="zh-CN" altLang="en-US" dirty="0"/>
              <a:t>灯并持续一段时间</a:t>
            </a:r>
          </a:p>
          <a:p>
            <a:endParaRPr lang="zh-CN" altLang="en-US" dirty="0"/>
          </a:p>
          <a:p>
            <a:endParaRPr lang="zh-CN" altLang="en-US" dirty="0"/>
          </a:p>
          <a:p>
            <a:endParaRPr lang="zh-CN" altLang="en-US" dirty="0"/>
          </a:p>
        </p:txBody>
      </p:sp>
      <p:sp>
        <p:nvSpPr>
          <p:cNvPr id="4" name="灯片编号占位符 4">
            <a:extLst>
              <a:ext uri="{FF2B5EF4-FFF2-40B4-BE49-F238E27FC236}">
                <a16:creationId xmlns:a16="http://schemas.microsoft.com/office/drawing/2014/main" id="{F99B2D03-5A69-43B7-831D-CFA6B24905E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71</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599152371"/>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a:t>Contiki-OS</a:t>
            </a:r>
            <a:r>
              <a:rPr lang="zh-CN" altLang="en-US" dirty="0"/>
              <a:t>的开发</a:t>
            </a:r>
            <a:r>
              <a:rPr lang="en-US" altLang="zh-CN" dirty="0"/>
              <a:t>-</a:t>
            </a:r>
            <a:r>
              <a:rPr lang="zh-CN" altLang="en-US" dirty="0"/>
              <a:t>环境搭建</a:t>
            </a:r>
          </a:p>
        </p:txBody>
      </p:sp>
      <p:sp>
        <p:nvSpPr>
          <p:cNvPr id="3" name="内容占位符 2"/>
          <p:cNvSpPr>
            <a:spLocks noGrp="1"/>
          </p:cNvSpPr>
          <p:nvPr>
            <p:ph idx="1"/>
          </p:nvPr>
        </p:nvSpPr>
        <p:spPr>
          <a:xfrm>
            <a:off x="457200" y="990600"/>
            <a:ext cx="8305800" cy="5867400"/>
          </a:xfrm>
        </p:spPr>
        <p:txBody>
          <a:bodyPr>
            <a:normAutofit fontScale="92500" lnSpcReduction="20000"/>
          </a:bodyPr>
          <a:lstStyle/>
          <a:p>
            <a:r>
              <a:rPr lang="en-US" altLang="zh-CN" dirty="0"/>
              <a:t>Contiki-OS</a:t>
            </a:r>
            <a:r>
              <a:rPr lang="zh-CN" altLang="en-US" dirty="0"/>
              <a:t>配置教程</a:t>
            </a:r>
            <a:endParaRPr lang="en-US" altLang="zh-CN" dirty="0"/>
          </a:p>
          <a:p>
            <a:pPr lvl="1"/>
            <a:r>
              <a:rPr lang="en-US" altLang="zh-CN" dirty="0"/>
              <a:t>http://anrg.usc.edu/Contiki-OS/index.php/Installation</a:t>
            </a:r>
          </a:p>
          <a:p>
            <a:r>
              <a:rPr lang="en-US" altLang="zh-CN" dirty="0"/>
              <a:t>Contiki-OS</a:t>
            </a:r>
            <a:r>
              <a:rPr lang="zh-CN" altLang="en-US" dirty="0"/>
              <a:t>的源代码</a:t>
            </a:r>
            <a:endParaRPr lang="en-US" altLang="zh-CN" dirty="0"/>
          </a:p>
          <a:p>
            <a:pPr lvl="1"/>
            <a:r>
              <a:rPr lang="en-US" altLang="zh-CN" dirty="0"/>
              <a:t>https://github.com/Contiki-OS-os/Contiki-OS/releases</a:t>
            </a:r>
          </a:p>
          <a:p>
            <a:r>
              <a:rPr lang="en-US" altLang="zh-CN" dirty="0"/>
              <a:t>Windows</a:t>
            </a:r>
            <a:r>
              <a:rPr lang="zh-CN" altLang="en-US" dirty="0"/>
              <a:t>上部署</a:t>
            </a:r>
            <a:r>
              <a:rPr lang="en-US" altLang="zh-CN" dirty="0"/>
              <a:t>Contiki-OS</a:t>
            </a:r>
          </a:p>
          <a:p>
            <a:pPr lvl="1"/>
            <a:r>
              <a:rPr lang="zh-CN" altLang="en-US" dirty="0"/>
              <a:t>需要首先安装</a:t>
            </a:r>
            <a:r>
              <a:rPr lang="en-US" altLang="zh-CN" dirty="0"/>
              <a:t>Cygwin</a:t>
            </a:r>
            <a:r>
              <a:rPr lang="zh-CN" altLang="en-US" dirty="0"/>
              <a:t>来模拟</a:t>
            </a:r>
            <a:r>
              <a:rPr lang="en-US" altLang="zh-CN" dirty="0"/>
              <a:t>UNIX </a:t>
            </a:r>
            <a:r>
              <a:rPr lang="zh-CN" altLang="en-US" dirty="0"/>
              <a:t>环境</a:t>
            </a:r>
            <a:endParaRPr lang="en-US" altLang="zh-CN" dirty="0"/>
          </a:p>
          <a:p>
            <a:r>
              <a:rPr lang="en-US" altLang="zh-CN" dirty="0"/>
              <a:t>Linux</a:t>
            </a:r>
            <a:r>
              <a:rPr lang="zh-CN" altLang="en-US" dirty="0"/>
              <a:t>平台上部署</a:t>
            </a:r>
            <a:r>
              <a:rPr lang="en-US" altLang="zh-CN" dirty="0"/>
              <a:t>Contiki-OS</a:t>
            </a:r>
            <a:r>
              <a:rPr lang="zh-CN" altLang="en-US" dirty="0"/>
              <a:t>（以</a:t>
            </a:r>
            <a:r>
              <a:rPr lang="en-US" altLang="zh-CN" dirty="0"/>
              <a:t>Contiki-OS 3.0</a:t>
            </a:r>
            <a:r>
              <a:rPr lang="zh-CN" altLang="en-US" dirty="0"/>
              <a:t>为例）</a:t>
            </a:r>
            <a:endParaRPr lang="en-US" altLang="zh-CN" dirty="0"/>
          </a:p>
          <a:p>
            <a:pPr lvl="1"/>
            <a:r>
              <a:rPr lang="zh-CN" altLang="en-US" dirty="0"/>
              <a:t>下载</a:t>
            </a:r>
            <a:r>
              <a:rPr lang="en-US" altLang="zh-CN" dirty="0"/>
              <a:t>Contiki</a:t>
            </a:r>
            <a:r>
              <a:rPr lang="zh-CN" altLang="en-US" dirty="0"/>
              <a:t>的源代码，并安装依赖库</a:t>
            </a:r>
            <a:endParaRPr lang="en-US" altLang="zh-CN" dirty="0"/>
          </a:p>
          <a:p>
            <a:pPr lvl="2"/>
            <a:r>
              <a:rPr lang="en-US" altLang="zh-CN" dirty="0" err="1"/>
              <a:t>wget</a:t>
            </a:r>
            <a:r>
              <a:rPr lang="en-US" altLang="zh-CN" dirty="0"/>
              <a:t> https://github.com/contiki-os/contiki/archive/3.0.zip</a:t>
            </a:r>
          </a:p>
          <a:p>
            <a:pPr lvl="2"/>
            <a:r>
              <a:rPr lang="en-US" altLang="zh-CN" dirty="0"/>
              <a:t>unzip 3.0.zip</a:t>
            </a:r>
          </a:p>
          <a:p>
            <a:pPr lvl="2"/>
            <a:r>
              <a:rPr lang="en-US" altLang="zh-CN" dirty="0"/>
              <a:t>mv contiki-3.0 </a:t>
            </a:r>
            <a:r>
              <a:rPr lang="en-US" altLang="zh-CN" dirty="0" err="1"/>
              <a:t>contiki</a:t>
            </a:r>
            <a:endParaRPr lang="en-US" altLang="zh-CN" dirty="0"/>
          </a:p>
          <a:p>
            <a:pPr lvl="2"/>
            <a:r>
              <a:rPr lang="en-US" altLang="zh-CN" dirty="0" err="1"/>
              <a:t>sudo</a:t>
            </a:r>
            <a:r>
              <a:rPr lang="en-US" altLang="zh-CN" dirty="0"/>
              <a:t> apt-get install build-essential binutils-msp430 gcc-msp430 msp430-libc msp430mcu </a:t>
            </a:r>
            <a:r>
              <a:rPr lang="en-US" altLang="zh-CN" dirty="0" err="1"/>
              <a:t>mspdebug</a:t>
            </a:r>
            <a:r>
              <a:rPr lang="en-US" altLang="zh-CN" dirty="0"/>
              <a:t> </a:t>
            </a:r>
            <a:r>
              <a:rPr lang="en-US" altLang="zh-CN" dirty="0" err="1"/>
              <a:t>gcc</a:t>
            </a:r>
            <a:r>
              <a:rPr lang="en-US" altLang="zh-CN" dirty="0"/>
              <a:t>-arm-none-</a:t>
            </a:r>
            <a:r>
              <a:rPr lang="en-US" altLang="zh-CN" dirty="0" err="1"/>
              <a:t>eabi</a:t>
            </a:r>
            <a:r>
              <a:rPr lang="en-US" altLang="zh-CN" dirty="0"/>
              <a:t> </a:t>
            </a:r>
            <a:r>
              <a:rPr lang="en-US" altLang="zh-CN" dirty="0" err="1"/>
              <a:t>gdb</a:t>
            </a:r>
            <a:r>
              <a:rPr lang="en-US" altLang="zh-CN" dirty="0"/>
              <a:t>-arm-none-</a:t>
            </a:r>
            <a:r>
              <a:rPr lang="en-US" altLang="zh-CN" dirty="0" err="1"/>
              <a:t>eabi</a:t>
            </a:r>
            <a:r>
              <a:rPr lang="en-US" altLang="zh-CN" dirty="0"/>
              <a:t> openjdk-8-jdk openjdk-8-jre ant libncurses5-dev</a:t>
            </a:r>
          </a:p>
          <a:p>
            <a:pPr lvl="1"/>
            <a:r>
              <a:rPr lang="zh-CN" altLang="en-US" dirty="0"/>
              <a:t>进入目录</a:t>
            </a:r>
            <a:r>
              <a:rPr lang="en-US" altLang="zh-CN" dirty="0" err="1"/>
              <a:t>contiki</a:t>
            </a:r>
            <a:r>
              <a:rPr lang="en-US" altLang="zh-CN" dirty="0"/>
              <a:t>/example/hello-world/</a:t>
            </a:r>
            <a:r>
              <a:rPr lang="zh-CN" altLang="en-US" dirty="0"/>
              <a:t>测试验证</a:t>
            </a:r>
            <a:endParaRPr lang="en-US" altLang="zh-CN" dirty="0"/>
          </a:p>
          <a:p>
            <a:pPr lvl="2"/>
            <a:r>
              <a:rPr lang="en-US" altLang="zh-CN" dirty="0"/>
              <a:t>$make TARGET=native</a:t>
            </a:r>
          </a:p>
          <a:p>
            <a:pPr lvl="2"/>
            <a:r>
              <a:rPr lang="en-US" altLang="zh-CN" dirty="0"/>
              <a:t>$./hello-world</a:t>
            </a:r>
            <a:endParaRPr lang="zh-CN" altLang="en-US" dirty="0"/>
          </a:p>
        </p:txBody>
      </p:sp>
      <p:sp>
        <p:nvSpPr>
          <p:cNvPr id="6" name="灯片编号占位符 4">
            <a:extLst>
              <a:ext uri="{FF2B5EF4-FFF2-40B4-BE49-F238E27FC236}">
                <a16:creationId xmlns:a16="http://schemas.microsoft.com/office/drawing/2014/main" id="{F2E9C068-51E3-49AC-9FFE-8ABCCC59BC7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356925311"/>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a:t>Contiki-OS</a:t>
            </a:r>
            <a:r>
              <a:rPr lang="zh-CN" altLang="en-US" dirty="0"/>
              <a:t>的开发</a:t>
            </a:r>
            <a:r>
              <a:rPr lang="en-US" altLang="zh-CN" dirty="0"/>
              <a:t>-</a:t>
            </a:r>
            <a:r>
              <a:rPr lang="zh-CN" altLang="en-US" dirty="0"/>
              <a:t>程序编写</a:t>
            </a:r>
          </a:p>
        </p:txBody>
      </p:sp>
      <p:sp>
        <p:nvSpPr>
          <p:cNvPr id="3" name="内容占位符 2"/>
          <p:cNvSpPr>
            <a:spLocks noGrp="1"/>
          </p:cNvSpPr>
          <p:nvPr>
            <p:ph idx="1"/>
          </p:nvPr>
        </p:nvSpPr>
        <p:spPr>
          <a:xfrm>
            <a:off x="457200" y="990600"/>
            <a:ext cx="8305800" cy="5410200"/>
          </a:xfrm>
        </p:spPr>
        <p:txBody>
          <a:bodyPr/>
          <a:lstStyle/>
          <a:p>
            <a:r>
              <a:rPr lang="zh-CN" altLang="en-US"/>
              <a:t>在主文件中</a:t>
            </a:r>
            <a:r>
              <a:rPr lang="en-US" altLang="zh-CN"/>
              <a:t>anti-theft.c</a:t>
            </a:r>
            <a:r>
              <a:rPr lang="zh-CN" altLang="en-US"/>
              <a:t>编写加速度采集的线程</a:t>
            </a:r>
            <a:endParaRPr lang="zh-CN" altLang="en-US" dirty="0"/>
          </a:p>
        </p:txBody>
      </p:sp>
      <p:sp>
        <p:nvSpPr>
          <p:cNvPr id="5" name="文本框 4"/>
          <p:cNvSpPr txBox="1"/>
          <p:nvPr/>
        </p:nvSpPr>
        <p:spPr>
          <a:xfrm>
            <a:off x="277402" y="1469567"/>
            <a:ext cx="7361514" cy="5283498"/>
          </a:xfrm>
          <a:prstGeom prst="rect">
            <a:avLst/>
          </a:prstGeom>
          <a:solidFill>
            <a:schemeClr val="bg1">
              <a:lumMod val="95000"/>
            </a:schemeClr>
          </a:solidFill>
          <a:ln>
            <a:no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accel_sample_process</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accel_sample</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zh-CN"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该线程用来加速度的采样</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AUTOSTART_PROCESSES( &amp;</a:t>
            </a:r>
            <a:r>
              <a:rPr kumimoji="0" lang="en-US" altLang="zh-CN" sz="2200" b="0" i="0" u="none" strike="noStrike" kern="1200" cap="none" spc="0" normalizeH="0" baseline="-25000" noProof="0" dirty="0" err="1">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accel_sample_process</a:t>
            </a:r>
            <a:r>
              <a:rPr kumimoji="0" lang="en-US" altLang="zh-CN"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PROCESS_THREAD(</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accel_sample_process</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ev</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data)</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static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struct</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etm</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PROCESS_BEGIN();</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while(1){</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etimer_set</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etm</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ACCEL_INTERVAL);</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PROCESS_WAIT_EVENT_UNTIL(</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etimer_expired</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etm</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if(</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currentIndex</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&lt; ACCEL_SAMPLES){ </a:t>
            </a:r>
            <a:r>
              <a:rPr kumimoji="0" lang="en-US" altLang="zh-CN"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zh-CN"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如果没有超出</a:t>
            </a:r>
            <a:r>
              <a:rPr kumimoji="0" lang="zh-CN" altLang="en-US"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采样</a:t>
            </a:r>
            <a:r>
              <a:rPr kumimoji="0" lang="zh-CN" altLang="zh-CN"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窗口范围</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accelSamples</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currentIndex</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get_accx</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currentIndex</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else{</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sample_move</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zh-CN"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采集的数据超过窗口范围，移动</a:t>
            </a:r>
            <a:r>
              <a:rPr kumimoji="0" lang="zh-CN" altLang="en-US"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数据</a:t>
            </a:r>
            <a:endParaRPr kumimoji="0" lang="zh-CN" altLang="zh-CN" sz="22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currentIndex</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ACCEL_SAMPLES - 1;</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accelSamples</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currentIndex</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get_accx</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etimer_reset</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a:t>
            </a:r>
            <a:r>
              <a:rPr kumimoji="0" lang="en-US" altLang="zh-CN" sz="22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etm</a:t>
            </a: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PROCESS_END(); </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2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7" name="文本框 6"/>
          <p:cNvSpPr txBox="1"/>
          <p:nvPr/>
        </p:nvSpPr>
        <p:spPr>
          <a:xfrm>
            <a:off x="7783719" y="3551864"/>
            <a:ext cx="1360281" cy="181588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25000" noProof="0" dirty="0">
                <a:ln>
                  <a:noFill/>
                </a:ln>
                <a:solidFill>
                  <a:prstClr val="black"/>
                </a:solidFill>
                <a:effectLst/>
                <a:uLnTx/>
                <a:uFillTx/>
                <a:latin typeface="微软雅黑"/>
                <a:ea typeface="微软雅黑"/>
                <a:cs typeface="+mn-cs"/>
              </a:rPr>
              <a:t>添加一个缓冲区，每隔</a:t>
            </a:r>
            <a:r>
              <a:rPr kumimoji="0" lang="en-US" altLang="zh-CN" sz="2400" i="0" u="none" strike="noStrike" kern="1200" cap="none" spc="0" normalizeH="0" baseline="-25000" noProof="0" dirty="0">
                <a:ln>
                  <a:noFill/>
                </a:ln>
                <a:solidFill>
                  <a:prstClr val="black"/>
                </a:solidFill>
                <a:effectLst/>
                <a:uLnTx/>
                <a:uFillTx/>
                <a:latin typeface="微软雅黑"/>
                <a:ea typeface="微软雅黑"/>
                <a:cs typeface="+mn-cs"/>
              </a:rPr>
              <a:t>1s</a:t>
            </a:r>
            <a:r>
              <a:rPr kumimoji="0" lang="zh-CN" altLang="en-US" sz="2400" i="0" u="none" strike="noStrike" kern="1200" cap="none" spc="0" normalizeH="0" baseline="-25000" noProof="0" dirty="0">
                <a:ln>
                  <a:noFill/>
                </a:ln>
                <a:solidFill>
                  <a:prstClr val="black"/>
                </a:solidFill>
                <a:effectLst/>
                <a:uLnTx/>
                <a:uFillTx/>
                <a:latin typeface="微软雅黑"/>
                <a:ea typeface="微软雅黑"/>
                <a:cs typeface="+mn-cs"/>
              </a:rPr>
              <a:t>以</a:t>
            </a:r>
            <a:r>
              <a:rPr kumimoji="0" lang="en-US" altLang="zh-CN" sz="2400" i="0" u="none" strike="noStrike" kern="1200" cap="none" spc="0" normalizeH="0" baseline="-25000" noProof="0" dirty="0">
                <a:ln>
                  <a:noFill/>
                </a:ln>
                <a:solidFill>
                  <a:prstClr val="black"/>
                </a:solidFill>
                <a:effectLst/>
                <a:uLnTx/>
                <a:uFillTx/>
                <a:latin typeface="微软雅黑"/>
                <a:ea typeface="微软雅黑"/>
                <a:cs typeface="+mn-cs"/>
              </a:rPr>
              <a:t>100Hz</a:t>
            </a:r>
            <a:r>
              <a:rPr kumimoji="0" lang="zh-CN" altLang="en-US" sz="2400" i="0" u="none" strike="noStrike" kern="1200" cap="none" spc="0" normalizeH="0" baseline="-25000" noProof="0" dirty="0">
                <a:ln>
                  <a:noFill/>
                </a:ln>
                <a:solidFill>
                  <a:prstClr val="black"/>
                </a:solidFill>
                <a:effectLst/>
                <a:uLnTx/>
                <a:uFillTx/>
                <a:latin typeface="微软雅黑"/>
                <a:ea typeface="微软雅黑"/>
                <a:cs typeface="+mn-cs"/>
              </a:rPr>
              <a:t>的频率循环读取传感器数据</a:t>
            </a:r>
            <a:endParaRPr kumimoji="0" lang="en-US" altLang="zh-CN" sz="2400" i="0" u="none" strike="noStrike" kern="1200" cap="none" spc="0" normalizeH="0" baseline="-25000" noProof="0" dirty="0">
              <a:ln>
                <a:noFill/>
              </a:ln>
              <a:solidFill>
                <a:prstClr val="black"/>
              </a:solidFill>
              <a:effectLst/>
              <a:uLnTx/>
              <a:uFillTx/>
              <a:latin typeface="微软雅黑"/>
              <a:ea typeface="微软雅黑"/>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25000" noProof="0" dirty="0">
              <a:ln>
                <a:noFill/>
              </a:ln>
              <a:solidFill>
                <a:prstClr val="black"/>
              </a:solidFill>
              <a:effectLst/>
              <a:uLnTx/>
              <a:uFillTx/>
              <a:latin typeface="微软雅黑"/>
              <a:ea typeface="微软雅黑"/>
              <a:cs typeface="+mn-cs"/>
            </a:endParaRPr>
          </a:p>
        </p:txBody>
      </p:sp>
      <p:sp>
        <p:nvSpPr>
          <p:cNvPr id="8" name="右大括号 7"/>
          <p:cNvSpPr/>
          <p:nvPr/>
        </p:nvSpPr>
        <p:spPr bwMode="auto">
          <a:xfrm>
            <a:off x="7385799" y="3589964"/>
            <a:ext cx="305373" cy="1077218"/>
          </a:xfrm>
          <a:prstGeom prst="rightBrace">
            <a:avLst>
              <a:gd name="adj1" fmla="val 14571"/>
              <a:gd name="adj2" fmla="val 50000"/>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
                <a:prstClr val="white"/>
              </a:buClr>
              <a:buSzPct val="100000"/>
              <a:buFontTx/>
              <a:buNone/>
              <a:tabLst/>
              <a:defRPr/>
            </a:pPr>
            <a:endParaRPr kumimoji="0" lang="zh-CN" altLang="en-US" sz="2400" b="0" i="0" u="none" strike="noStrike" kern="1200" cap="none" spc="0" normalizeH="0" baseline="-25000" noProof="0">
              <a:ln>
                <a:noFill/>
              </a:ln>
              <a:solidFill>
                <a:prstClr val="black"/>
              </a:solidFill>
              <a:effectLst>
                <a:outerShdw blurRad="38100" dist="38100" dir="2700000" algn="tl">
                  <a:srgbClr val="000000">
                    <a:alpha val="43137"/>
                  </a:srgbClr>
                </a:outerShdw>
              </a:effectLst>
              <a:uLnTx/>
              <a:uFillTx/>
              <a:latin typeface="Arial" charset="0"/>
              <a:ea typeface="宋体" pitchFamily="2" charset="-122"/>
              <a:cs typeface="+mn-cs"/>
            </a:endParaRPr>
          </a:p>
        </p:txBody>
      </p:sp>
      <p:sp>
        <p:nvSpPr>
          <p:cNvPr id="9" name="灯片编号占位符 4">
            <a:extLst>
              <a:ext uri="{FF2B5EF4-FFF2-40B4-BE49-F238E27FC236}">
                <a16:creationId xmlns:a16="http://schemas.microsoft.com/office/drawing/2014/main" id="{06FD1FF7-9AF1-4BC5-9B2D-96A859D0DE3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73</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1448904"/>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a:t>Contiki-OS</a:t>
            </a:r>
            <a:r>
              <a:rPr lang="zh-CN" altLang="en-US" dirty="0"/>
              <a:t>的开发</a:t>
            </a:r>
            <a:r>
              <a:rPr lang="en-US" altLang="zh-CN" dirty="0"/>
              <a:t>-</a:t>
            </a:r>
            <a:r>
              <a:rPr lang="zh-CN" altLang="en-US" dirty="0"/>
              <a:t>程序编写</a:t>
            </a:r>
          </a:p>
        </p:txBody>
      </p:sp>
      <p:sp>
        <p:nvSpPr>
          <p:cNvPr id="3" name="内容占位符 2"/>
          <p:cNvSpPr>
            <a:spLocks noGrp="1"/>
          </p:cNvSpPr>
          <p:nvPr>
            <p:ph idx="1"/>
          </p:nvPr>
        </p:nvSpPr>
        <p:spPr>
          <a:xfrm>
            <a:off x="457200" y="990600"/>
            <a:ext cx="8305800" cy="5410200"/>
          </a:xfrm>
        </p:spPr>
        <p:txBody>
          <a:bodyPr/>
          <a:lstStyle/>
          <a:p>
            <a:r>
              <a:rPr lang="zh-CN" altLang="en-US"/>
              <a:t>在主文件中</a:t>
            </a:r>
            <a:r>
              <a:rPr lang="en-US" altLang="zh-CN"/>
              <a:t>anti-theft.c</a:t>
            </a:r>
            <a:r>
              <a:rPr lang="zh-CN" altLang="en-US"/>
              <a:t>编写检测任务</a:t>
            </a:r>
            <a:endParaRPr lang="zh-CN" altLang="en-US" dirty="0"/>
          </a:p>
        </p:txBody>
      </p:sp>
      <p:sp>
        <p:nvSpPr>
          <p:cNvPr id="5" name="文本框 4"/>
          <p:cNvSpPr txBox="1"/>
          <p:nvPr/>
        </p:nvSpPr>
        <p:spPr>
          <a:xfrm>
            <a:off x="323589" y="1596597"/>
            <a:ext cx="7777661" cy="4278094"/>
          </a:xfrm>
          <a:prstGeom prst="rect">
            <a:avLst/>
          </a:prstGeom>
          <a:solidFill>
            <a:schemeClr val="bg1">
              <a:lumMod val="95000"/>
            </a:schemeClr>
          </a:solidFill>
          <a:ln>
            <a:no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Enum</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ACCEL_SAMPLES = 10;     </a:t>
            </a:r>
            <a:r>
              <a:rPr lang="en-US" altLang="zh-CN" dirty="0">
                <a:solidFill>
                  <a:srgbClr val="C00000"/>
                </a:solidFill>
                <a:latin typeface="Courier New" panose="02070309020205020404" pitchFamily="49" charset="0"/>
                <a:ea typeface="宋体" panose="02010600030101010101" pitchFamily="2" charset="-122"/>
                <a:cs typeface="Courier New" panose="02070309020205020404" pitchFamily="49" charset="0"/>
              </a:rPr>
              <a:t>//</a:t>
            </a:r>
            <a:r>
              <a:rPr lang="zh-CN" altLang="zh-CN" dirty="0">
                <a:solidFill>
                  <a:srgbClr val="C00000"/>
                </a:solidFill>
                <a:latin typeface="Courier New" panose="02070309020205020404" pitchFamily="49" charset="0"/>
                <a:ea typeface="宋体" panose="02010600030101010101" pitchFamily="2" charset="-122"/>
                <a:cs typeface="Courier New" panose="02070309020205020404" pitchFamily="49" charset="0"/>
              </a:rPr>
              <a:t>加速度样本数量</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ACCEL_INTERVAL = CLOCK_SECOND / 100;</a:t>
            </a:r>
            <a:r>
              <a:rPr lang="en-US" altLang="zh-CN" dirty="0">
                <a:solidFill>
                  <a:srgbClr val="C00000"/>
                </a:solidFill>
                <a:latin typeface="Courier New" panose="02070309020205020404" pitchFamily="49" charset="0"/>
                <a:ea typeface="宋体" panose="02010600030101010101" pitchFamily="2" charset="-122"/>
                <a:cs typeface="Courier New" panose="02070309020205020404" pitchFamily="49" charset="0"/>
              </a:rPr>
              <a:t>//</a:t>
            </a:r>
            <a:r>
              <a:rPr lang="zh-CN" altLang="zh-CN" dirty="0">
                <a:solidFill>
                  <a:srgbClr val="C00000"/>
                </a:solidFill>
                <a:latin typeface="Courier New" panose="02070309020205020404" pitchFamily="49" charset="0"/>
                <a:ea typeface="宋体" panose="02010600030101010101" pitchFamily="2" charset="-122"/>
                <a:cs typeface="Courier New" panose="02070309020205020404" pitchFamily="49" charset="0"/>
              </a:rPr>
              <a:t>加速度计的采样频率</a:t>
            </a:r>
            <a:r>
              <a:rPr lang="en-US" altLang="zh-CN" dirty="0">
                <a:solidFill>
                  <a:srgbClr val="C00000"/>
                </a:solidFill>
                <a:latin typeface="Courier New" panose="02070309020205020404" pitchFamily="49" charset="0"/>
                <a:ea typeface="宋体" panose="02010600030101010101" pitchFamily="2" charset="-122"/>
                <a:cs typeface="Courier New" panose="02070309020205020404" pitchFamily="49" charset="0"/>
              </a:rPr>
              <a:t>10 </a:t>
            </a:r>
            <a:r>
              <a:rPr lang="en-US" altLang="zh-CN" dirty="0" err="1">
                <a:solidFill>
                  <a:srgbClr val="C00000"/>
                </a:solidFill>
                <a:latin typeface="Courier New" panose="02070309020205020404" pitchFamily="49" charset="0"/>
                <a:ea typeface="宋体" panose="02010600030101010101" pitchFamily="2" charset="-122"/>
                <a:cs typeface="Courier New" panose="02070309020205020404" pitchFamily="49" charset="0"/>
              </a:rPr>
              <a:t>ms</a:t>
            </a:r>
            <a:r>
              <a:rPr lang="en-US" altLang="zh-CN" dirty="0">
                <a:solidFill>
                  <a:srgbClr val="C00000"/>
                </a:solidFill>
                <a:latin typeface="Courier New" panose="02070309020205020404" pitchFamily="49" charset="0"/>
                <a:ea typeface="宋体" panose="02010600030101010101" pitchFamily="2" charset="-122"/>
                <a:cs typeface="Courier New" panose="02070309020205020404" pitchFamily="49" charset="0"/>
              </a:rPr>
              <a:t> </a:t>
            </a:r>
            <a:endParaRPr lang="zh-CN" altLang="zh-CN" dirty="0">
              <a:solidFill>
                <a:srgbClr val="C00000"/>
              </a:solidFill>
              <a:latin typeface="Courier New" panose="02070309020205020404" pitchFamily="49" charset="0"/>
              <a:ea typeface="宋体" panose="02010600030101010101" pitchFamily="2" charset="-122"/>
              <a:cs typeface="Courier New" panose="02070309020205020404" pitchFamily="49" charset="0"/>
            </a:endParaRPr>
          </a:p>
          <a:p>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CHECK_INTERVAL = CLOCK_SECOND;         </a:t>
            </a:r>
            <a:r>
              <a:rPr kumimoji="0" lang="en-US" altLang="zh-CN" sz="2400"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lang="en-US" altLang="zh-CN" dirty="0">
                <a:solidFill>
                  <a:srgbClr val="C00000"/>
                </a:solidFill>
                <a:latin typeface="Courier New" panose="02070309020205020404" pitchFamily="49" charset="0"/>
                <a:ea typeface="宋体" panose="02010600030101010101" pitchFamily="2" charset="-122"/>
                <a:cs typeface="Courier New" panose="02070309020205020404" pitchFamily="49" charset="0"/>
              </a:rPr>
              <a:t>//</a:t>
            </a:r>
            <a:r>
              <a:rPr lang="zh-CN" altLang="zh-CN" dirty="0">
                <a:solidFill>
                  <a:srgbClr val="C00000"/>
                </a:solidFill>
                <a:latin typeface="Courier New" panose="02070309020205020404" pitchFamily="49" charset="0"/>
                <a:ea typeface="宋体" panose="02010600030101010101" pitchFamily="2" charset="-122"/>
                <a:cs typeface="Courier New" panose="02070309020205020404" pitchFamily="49" charset="0"/>
              </a:rPr>
              <a:t>小偷检测的频率</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static uint16_t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accelSamples</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[ACCEL_SAMPLES];</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static void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checkAccelation</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uint16_t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avg</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var</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for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avg</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0,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0;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&lt; ACCEL_SAMPLES;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avg</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accelSamples</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avg</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ACCEL_SAMPLES;</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for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var</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0,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0;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&lt; ACCEL_SAMPLES;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int16_t diff =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accelSamples</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avg</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var</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diff * diff;</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if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var</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&gt; 4 * ACCEL_SAMPLES) </a:t>
            </a:r>
            <a:r>
              <a:rPr kumimoji="0" lang="en-US" altLang="zh-CN" sz="2400"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leds_on</a:t>
            </a: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(LEDS_RED);</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sz="2400"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p:txBody>
      </p:sp>
      <p:sp>
        <p:nvSpPr>
          <p:cNvPr id="7" name="文本框 6"/>
          <p:cNvSpPr txBox="1"/>
          <p:nvPr/>
        </p:nvSpPr>
        <p:spPr>
          <a:xfrm>
            <a:off x="7471168" y="4814306"/>
            <a:ext cx="1404846" cy="132343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25000" noProof="0" dirty="0">
                <a:ln>
                  <a:noFill/>
                </a:ln>
                <a:solidFill>
                  <a:prstClr val="black"/>
                </a:solidFill>
                <a:effectLst/>
                <a:uLnTx/>
                <a:uFillTx/>
                <a:latin typeface="微软雅黑"/>
                <a:ea typeface="微软雅黑"/>
                <a:cs typeface="+mn-cs"/>
              </a:rPr>
              <a:t>检测加速度数据是否超出一定阈值，若是，则亮红灯</a:t>
            </a:r>
            <a:endParaRPr kumimoji="0" lang="en-US" altLang="zh-CN" sz="2400" b="1" i="0" u="none" strike="noStrike" kern="1200" cap="none" spc="0" normalizeH="0" baseline="-25000" noProof="0" dirty="0">
              <a:ln>
                <a:noFill/>
              </a:ln>
              <a:solidFill>
                <a:prstClr val="black"/>
              </a:solidFill>
              <a:effectLst/>
              <a:uLnTx/>
              <a:uFillTx/>
              <a:latin typeface="微软雅黑"/>
              <a:ea typeface="微软雅黑"/>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0" i="0" u="none" strike="noStrike" kern="1200" cap="none" spc="0" normalizeH="0" baseline="-25000" noProof="0" dirty="0">
              <a:ln>
                <a:noFill/>
              </a:ln>
              <a:solidFill>
                <a:prstClr val="black"/>
              </a:solidFill>
              <a:effectLst/>
              <a:uLnTx/>
              <a:uFillTx/>
              <a:latin typeface="微软雅黑"/>
              <a:ea typeface="微软雅黑"/>
              <a:cs typeface="+mn-cs"/>
            </a:endParaRPr>
          </a:p>
        </p:txBody>
      </p:sp>
      <p:sp>
        <p:nvSpPr>
          <p:cNvPr id="8" name="右大括号 7"/>
          <p:cNvSpPr/>
          <p:nvPr/>
        </p:nvSpPr>
        <p:spPr bwMode="auto">
          <a:xfrm>
            <a:off x="7087821" y="5056552"/>
            <a:ext cx="288999" cy="720796"/>
          </a:xfrm>
          <a:prstGeom prst="rightBrace">
            <a:avLst>
              <a:gd name="adj1" fmla="val 14571"/>
              <a:gd name="adj2" fmla="val 50000"/>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
                <a:prstClr val="white"/>
              </a:buClr>
              <a:buSzPct val="100000"/>
              <a:buFontTx/>
              <a:buNone/>
              <a:tabLst/>
              <a:defRPr/>
            </a:pPr>
            <a:endParaRPr kumimoji="0" lang="zh-CN" altLang="en-US" sz="2400" b="0" i="0" u="none" strike="noStrike" kern="1200" cap="none" spc="0" normalizeH="0" baseline="-25000" noProof="0">
              <a:ln>
                <a:noFill/>
              </a:ln>
              <a:solidFill>
                <a:prstClr val="black"/>
              </a:solidFill>
              <a:effectLst>
                <a:outerShdw blurRad="38100" dist="38100" dir="2700000" algn="tl">
                  <a:srgbClr val="000000">
                    <a:alpha val="43137"/>
                  </a:srgbClr>
                </a:outerShdw>
              </a:effectLst>
              <a:uLnTx/>
              <a:uFillTx/>
              <a:latin typeface="Arial" charset="0"/>
              <a:ea typeface="宋体" pitchFamily="2" charset="-122"/>
              <a:cs typeface="+mn-cs"/>
            </a:endParaRPr>
          </a:p>
        </p:txBody>
      </p:sp>
      <p:sp>
        <p:nvSpPr>
          <p:cNvPr id="9" name="灯片编号占位符 4">
            <a:extLst>
              <a:ext uri="{FF2B5EF4-FFF2-40B4-BE49-F238E27FC236}">
                <a16:creationId xmlns:a16="http://schemas.microsoft.com/office/drawing/2014/main" id="{EC19EE99-74A9-4E72-BDE0-D64AE4C1852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74</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755553374"/>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a:t>Contiki-OS</a:t>
            </a:r>
            <a:r>
              <a:rPr lang="zh-CN" altLang="en-US" dirty="0"/>
              <a:t>的开发</a:t>
            </a:r>
            <a:r>
              <a:rPr lang="en-US" altLang="zh-CN" dirty="0"/>
              <a:t>-</a:t>
            </a:r>
            <a:r>
              <a:rPr lang="zh-CN" altLang="en-US" dirty="0"/>
              <a:t>程序编写</a:t>
            </a:r>
          </a:p>
        </p:txBody>
      </p:sp>
      <p:sp>
        <p:nvSpPr>
          <p:cNvPr id="3" name="内容占位符 2"/>
          <p:cNvSpPr>
            <a:spLocks noGrp="1"/>
          </p:cNvSpPr>
          <p:nvPr>
            <p:ph idx="1"/>
          </p:nvPr>
        </p:nvSpPr>
        <p:spPr>
          <a:xfrm>
            <a:off x="457200" y="990600"/>
            <a:ext cx="8305800" cy="5410200"/>
          </a:xfrm>
        </p:spPr>
        <p:txBody>
          <a:bodyPr/>
          <a:lstStyle/>
          <a:p>
            <a:r>
              <a:rPr lang="zh-CN" altLang="en-US"/>
              <a:t>在主文件中</a:t>
            </a:r>
            <a:r>
              <a:rPr lang="en-US" altLang="zh-CN"/>
              <a:t>anti-theft.c</a:t>
            </a:r>
            <a:r>
              <a:rPr lang="zh-CN" altLang="en-US"/>
              <a:t>编写检测小偷线程</a:t>
            </a:r>
            <a:endParaRPr lang="zh-CN" altLang="en-US" dirty="0"/>
          </a:p>
        </p:txBody>
      </p:sp>
      <p:sp>
        <p:nvSpPr>
          <p:cNvPr id="5" name="文本框 4"/>
          <p:cNvSpPr txBox="1"/>
          <p:nvPr/>
        </p:nvSpPr>
        <p:spPr>
          <a:xfrm>
            <a:off x="352150" y="1602215"/>
            <a:ext cx="7777661" cy="4524315"/>
          </a:xfrm>
          <a:prstGeom prst="rect">
            <a:avLst/>
          </a:prstGeom>
          <a:solidFill>
            <a:schemeClr val="bg1">
              <a:lumMod val="95000"/>
            </a:schemeClr>
          </a:solidFill>
          <a:ln>
            <a:no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antitheft_process</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“Anti-theft”);	</a:t>
            </a:r>
            <a:r>
              <a:rPr kumimoji="0" lang="en-US" altLang="zh-CN" b="0" i="0" u="none" strike="noStrike" kern="1200" cap="none" spc="0" normalizeH="0" baseline="-25000" noProof="0" dirty="0">
                <a:ln>
                  <a:noFill/>
                </a:ln>
                <a:solidFill>
                  <a:srgbClr val="00B05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zh-CN" altLang="en-US"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负责周期性检测小偷的线程</a:t>
            </a:r>
            <a:endParaRPr kumimoji="0" lang="en-US" altLang="zh-CN"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AUTOSTART_PROCESSES(&amp;</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antitheft_process</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&amp;</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accel_sample_process</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PROCESS_THREAD(</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antitheft_process</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ev</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data)</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static </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struct</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et;</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static </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int</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val</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PROCESS_BEGIN();</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while(1){</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etimer_set</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(&amp;et, CHECK_INTERVAL);</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SENSORS_ACTIVATE(</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light_sensor</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PROCESS_WAIT_EVENT_UNTIL(</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etimer_expired</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(&amp;et));</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checkAccelation</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zh-CN" altLang="zh-CN" b="0" i="0" u="none" strike="noStrike" kern="1200" cap="none" spc="0" normalizeH="0" baseline="-25000" noProof="0" dirty="0">
                <a:ln>
                  <a:noFill/>
                </a:ln>
                <a:solidFill>
                  <a:srgbClr val="C00000"/>
                </a:solidFill>
                <a:effectLst/>
                <a:uLnTx/>
                <a:uFillTx/>
                <a:latin typeface="Courier New" panose="02070309020205020404" pitchFamily="49" charset="0"/>
                <a:ea typeface="宋体" panose="02010600030101010101" pitchFamily="2" charset="-122"/>
                <a:cs typeface="Courier New" panose="02070309020205020404" pitchFamily="49" charset="0"/>
              </a:rPr>
              <a:t>执行小偷行为的检测，根据加速度数据</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b="0" i="0" u="none" strike="noStrike" kern="1200" cap="none" spc="0" normalizeH="0" baseline="-2500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etimer_reset</a:t>
            </a: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(&amp;et);</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PROCESS_END();</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endParaRPr kumimoji="0" lang="zh-CN" altLang="zh-CN" b="0" i="0" u="none" strike="noStrike" kern="1200" cap="none" spc="0" normalizeH="0" baseline="-2500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zh-CN" sz="2400" b="0" i="0" u="none" strike="noStrike" kern="1200" cap="none" spc="0" normalizeH="0" baseline="-25000" noProof="0" dirty="0">
              <a:ln>
                <a:noFill/>
              </a:ln>
              <a:solidFill>
                <a:prstClr val="black"/>
              </a:solidFill>
              <a:effectLst/>
              <a:uLnTx/>
              <a:uFillTx/>
              <a:latin typeface="Arial" panose="020B0604020202020204" pitchFamily="34" charset="0"/>
              <a:ea typeface="黑体"/>
              <a:cs typeface="Arial" panose="020B0604020202020204" pitchFamily="34" charset="0"/>
            </a:endParaRPr>
          </a:p>
        </p:txBody>
      </p:sp>
      <p:sp>
        <p:nvSpPr>
          <p:cNvPr id="7" name="文本框 6"/>
          <p:cNvSpPr txBox="1"/>
          <p:nvPr/>
        </p:nvSpPr>
        <p:spPr>
          <a:xfrm>
            <a:off x="7799538" y="4043014"/>
            <a:ext cx="1068512" cy="83099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25000" noProof="0" dirty="0">
                <a:ln>
                  <a:noFill/>
                </a:ln>
                <a:solidFill>
                  <a:prstClr val="black"/>
                </a:solidFill>
                <a:effectLst/>
                <a:uLnTx/>
                <a:uFillTx/>
                <a:latin typeface="微软雅黑"/>
                <a:ea typeface="微软雅黑"/>
                <a:cs typeface="+mn-cs"/>
              </a:rPr>
              <a:t>每隔一秒检测加速度数据</a:t>
            </a:r>
            <a:endParaRPr kumimoji="0" lang="zh-CN" altLang="en-US" sz="2400" b="0" i="0" u="none" strike="noStrike" kern="1200" cap="none" spc="0" normalizeH="0" baseline="-25000" noProof="0" dirty="0">
              <a:ln>
                <a:noFill/>
              </a:ln>
              <a:solidFill>
                <a:prstClr val="black"/>
              </a:solidFill>
              <a:effectLst/>
              <a:uLnTx/>
              <a:uFillTx/>
              <a:latin typeface="微软雅黑"/>
              <a:ea typeface="微软雅黑"/>
              <a:cs typeface="+mn-cs"/>
            </a:endParaRPr>
          </a:p>
        </p:txBody>
      </p:sp>
      <p:sp>
        <p:nvSpPr>
          <p:cNvPr id="8" name="右大括号 7"/>
          <p:cNvSpPr/>
          <p:nvPr/>
        </p:nvSpPr>
        <p:spPr bwMode="auto">
          <a:xfrm>
            <a:off x="7478566" y="3853626"/>
            <a:ext cx="268447" cy="1188281"/>
          </a:xfrm>
          <a:prstGeom prst="rightBrace">
            <a:avLst>
              <a:gd name="adj1" fmla="val 14571"/>
              <a:gd name="adj2" fmla="val 50000"/>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
                <a:prstClr val="white"/>
              </a:buClr>
              <a:buSzPct val="100000"/>
              <a:buFontTx/>
              <a:buNone/>
              <a:tabLst/>
              <a:defRPr/>
            </a:pPr>
            <a:endParaRPr kumimoji="0" lang="zh-CN" altLang="en-US" sz="2400" b="0" i="0" u="none" strike="noStrike" kern="1200" cap="none" spc="0" normalizeH="0" baseline="-25000" noProof="0">
              <a:ln>
                <a:noFill/>
              </a:ln>
              <a:solidFill>
                <a:prstClr val="black"/>
              </a:solidFill>
              <a:effectLst>
                <a:outerShdw blurRad="38100" dist="38100" dir="2700000" algn="tl">
                  <a:srgbClr val="000000">
                    <a:alpha val="43137"/>
                  </a:srgbClr>
                </a:outerShdw>
              </a:effectLst>
              <a:uLnTx/>
              <a:uFillTx/>
              <a:latin typeface="Arial" charset="0"/>
              <a:ea typeface="宋体" pitchFamily="2" charset="-122"/>
              <a:cs typeface="+mn-cs"/>
            </a:endParaRPr>
          </a:p>
        </p:txBody>
      </p:sp>
      <p:sp>
        <p:nvSpPr>
          <p:cNvPr id="9" name="灯片编号占位符 4">
            <a:extLst>
              <a:ext uri="{FF2B5EF4-FFF2-40B4-BE49-F238E27FC236}">
                <a16:creationId xmlns:a16="http://schemas.microsoft.com/office/drawing/2014/main" id="{E492D69C-CFB6-4C86-A4C8-6F1DF141519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75</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920100100"/>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490808" cy="914400"/>
          </a:xfrm>
        </p:spPr>
        <p:txBody>
          <a:bodyPr/>
          <a:lstStyle/>
          <a:p>
            <a:r>
              <a:rPr lang="zh-CN" altLang="en-US" dirty="0"/>
              <a:t>基于</a:t>
            </a:r>
            <a:r>
              <a:rPr lang="en-US" altLang="zh-CN" dirty="0"/>
              <a:t>Contiki-OS</a:t>
            </a:r>
            <a:r>
              <a:rPr lang="zh-CN" altLang="en-US" dirty="0"/>
              <a:t>的开发</a:t>
            </a:r>
            <a:r>
              <a:rPr lang="en-US" altLang="zh-CN" dirty="0"/>
              <a:t>-</a:t>
            </a:r>
            <a:r>
              <a:rPr lang="zh-CN" altLang="en-US" dirty="0"/>
              <a:t>编译及烧录程序</a:t>
            </a:r>
          </a:p>
        </p:txBody>
      </p:sp>
      <p:sp>
        <p:nvSpPr>
          <p:cNvPr id="3" name="内容占位符 2"/>
          <p:cNvSpPr>
            <a:spLocks noGrp="1"/>
          </p:cNvSpPr>
          <p:nvPr>
            <p:ph idx="1"/>
          </p:nvPr>
        </p:nvSpPr>
        <p:spPr>
          <a:xfrm>
            <a:off x="457200" y="990600"/>
            <a:ext cx="8305800" cy="5410200"/>
          </a:xfrm>
        </p:spPr>
        <p:txBody>
          <a:bodyPr>
            <a:normAutofit/>
          </a:bodyPr>
          <a:lstStyle/>
          <a:p>
            <a:r>
              <a:rPr lang="zh-CN" altLang="en-US" dirty="0"/>
              <a:t>编写</a:t>
            </a:r>
            <a:r>
              <a:rPr lang="en-US" altLang="zh-CN" dirty="0" err="1"/>
              <a:t>MakeFile</a:t>
            </a:r>
            <a:r>
              <a:rPr lang="zh-CN" altLang="en-US" dirty="0"/>
              <a:t>文件</a:t>
            </a:r>
            <a:endParaRPr lang="en-US" altLang="zh-CN" dirty="0"/>
          </a:p>
          <a:p>
            <a:endParaRPr lang="en-US" altLang="zh-CN" dirty="0"/>
          </a:p>
          <a:p>
            <a:endParaRPr lang="en-US" altLang="zh-CN" dirty="0"/>
          </a:p>
          <a:p>
            <a:r>
              <a:rPr lang="zh-CN" altLang="en-US" dirty="0"/>
              <a:t>编译程序</a:t>
            </a:r>
            <a:endParaRPr lang="en-US" altLang="zh-CN" dirty="0"/>
          </a:p>
          <a:p>
            <a:endParaRPr lang="en-US" altLang="zh-CN" dirty="0"/>
          </a:p>
          <a:p>
            <a:r>
              <a:rPr lang="zh-CN" altLang="en-US" dirty="0"/>
              <a:t>使用</a:t>
            </a:r>
            <a:r>
              <a:rPr lang="en-US" altLang="zh-CN" dirty="0" err="1"/>
              <a:t>motelist</a:t>
            </a:r>
            <a:r>
              <a:rPr lang="zh-CN" altLang="en-US" dirty="0"/>
              <a:t>命令发现节点的串口为</a:t>
            </a:r>
            <a:r>
              <a:rPr lang="en-US" altLang="zh-CN" dirty="0"/>
              <a:t>/dev/ttyUSB0</a:t>
            </a:r>
            <a:r>
              <a:rPr lang="zh-CN" altLang="en-US" dirty="0"/>
              <a:t>，使用以下命令烧写程序</a:t>
            </a:r>
            <a:endParaRPr lang="en-US" altLang="zh-CN" dirty="0"/>
          </a:p>
          <a:p>
            <a:endParaRPr lang="en-US" altLang="zh-CN" dirty="0"/>
          </a:p>
          <a:p>
            <a:r>
              <a:rPr lang="zh-CN" altLang="en-US" dirty="0"/>
              <a:t>案例测试</a:t>
            </a:r>
            <a:endParaRPr lang="en-US" altLang="zh-CN" dirty="0"/>
          </a:p>
          <a:p>
            <a:pPr lvl="1"/>
            <a:r>
              <a:rPr lang="zh-CN" altLang="en-US" dirty="0"/>
              <a:t>将烧写完程序的节点放在静止的桌面上，从桌面上拿起节点，观察红色的</a:t>
            </a:r>
            <a:r>
              <a:rPr lang="en-US" altLang="zh-CN" dirty="0"/>
              <a:t>LED </a:t>
            </a:r>
            <a:r>
              <a:rPr lang="zh-CN" altLang="en-US" dirty="0"/>
              <a:t>灯是否亮起</a:t>
            </a:r>
            <a:endParaRPr lang="en-US" altLang="zh-CN" dirty="0"/>
          </a:p>
          <a:p>
            <a:pPr lvl="1"/>
            <a:endParaRPr lang="zh-CN" altLang="en-US" dirty="0"/>
          </a:p>
        </p:txBody>
      </p:sp>
      <p:sp>
        <p:nvSpPr>
          <p:cNvPr id="4" name="文本框 3"/>
          <p:cNvSpPr txBox="1"/>
          <p:nvPr/>
        </p:nvSpPr>
        <p:spPr>
          <a:xfrm>
            <a:off x="643890" y="1482778"/>
            <a:ext cx="7992110" cy="107721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Arial" panose="020B0604020202020204" pitchFamily="34" charset="0"/>
                <a:ea typeface="Arial Unicode MS" panose="020B0604020202020204" pitchFamily="34" charset="-122"/>
                <a:cs typeface="Arial" panose="020B0604020202020204" pitchFamily="34" charset="0"/>
              </a:rPr>
              <a:t>CONTIKI_PROJECT = anti-theft-demo</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Arial" panose="020B0604020202020204" pitchFamily="34" charset="0"/>
                <a:ea typeface="Arial Unicode MS" panose="020B0604020202020204" pitchFamily="34" charset="-122"/>
                <a:cs typeface="Arial" panose="020B0604020202020204" pitchFamily="34" charset="0"/>
              </a:rPr>
              <a:t>all: $(CONTIKI_PROJECT)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Arial" panose="020B0604020202020204" pitchFamily="34" charset="0"/>
                <a:ea typeface="Arial Unicode MS" panose="020B0604020202020204" pitchFamily="34" charset="-122"/>
                <a:cs typeface="Arial" panose="020B0604020202020204" pitchFamily="34" charset="0"/>
              </a:rPr>
              <a:t>CONTIKI =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Arial" panose="020B0604020202020204" pitchFamily="34" charset="0"/>
                <a:ea typeface="Arial Unicode MS" panose="020B0604020202020204" pitchFamily="34" charset="-122"/>
                <a:cs typeface="Arial" panose="020B0604020202020204" pitchFamily="34" charset="0"/>
              </a:rPr>
              <a:t>include $(CONTIKI)/</a:t>
            </a:r>
            <a:r>
              <a:rPr kumimoji="0" lang="en-US" altLang="zh-CN" sz="2400" b="0" i="0" u="none" strike="noStrike" kern="1200" cap="none" spc="0" normalizeH="0" baseline="-25000" noProof="0" dirty="0" err="1">
                <a:ln>
                  <a:noFill/>
                </a:ln>
                <a:solidFill>
                  <a:prstClr val="black"/>
                </a:solidFill>
                <a:effectLst/>
                <a:uLnTx/>
                <a:uFillTx/>
                <a:latin typeface="Arial" panose="020B0604020202020204" pitchFamily="34" charset="0"/>
                <a:ea typeface="Arial Unicode MS" panose="020B0604020202020204" pitchFamily="34" charset="-122"/>
                <a:cs typeface="Arial" panose="020B0604020202020204" pitchFamily="34" charset="0"/>
              </a:rPr>
              <a:t>Makefile.include</a:t>
            </a:r>
            <a:endParaRPr kumimoji="0" lang="zh-CN" altLang="en-US" sz="2400" b="0" i="0" u="none" strike="noStrike" kern="1200" cap="none" spc="0" normalizeH="0" baseline="-25000" noProof="0" dirty="0">
              <a:ln>
                <a:noFill/>
              </a:ln>
              <a:solidFill>
                <a:prstClr val="black"/>
              </a:solidFill>
              <a:effectLst/>
              <a:uLnTx/>
              <a:uFillTx/>
              <a:latin typeface="Arial" panose="020B0604020202020204" pitchFamily="34" charset="0"/>
              <a:ea typeface="Arial Unicode MS" panose="020B0604020202020204" pitchFamily="34" charset="-122"/>
              <a:cs typeface="Arial" panose="020B0604020202020204" pitchFamily="34" charset="0"/>
            </a:endParaRPr>
          </a:p>
        </p:txBody>
      </p:sp>
      <p:sp>
        <p:nvSpPr>
          <p:cNvPr id="5" name="文本框 4"/>
          <p:cNvSpPr txBox="1"/>
          <p:nvPr/>
        </p:nvSpPr>
        <p:spPr>
          <a:xfrm>
            <a:off x="619760" y="2995024"/>
            <a:ext cx="8016240" cy="461665"/>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Arial" panose="020B0604020202020204" pitchFamily="34" charset="0"/>
                <a:ea typeface="黑体"/>
                <a:cs typeface="Arial" panose="020B0604020202020204" pitchFamily="34" charset="0"/>
              </a:rPr>
              <a:t>$ make TARGET=sky anti-theft</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黑体"/>
              <a:cs typeface="Arial" panose="020B0604020202020204" pitchFamily="34" charset="0"/>
            </a:endParaRPr>
          </a:p>
        </p:txBody>
      </p:sp>
      <p:sp>
        <p:nvSpPr>
          <p:cNvPr id="8" name="文本框 7"/>
          <p:cNvSpPr txBox="1"/>
          <p:nvPr/>
        </p:nvSpPr>
        <p:spPr>
          <a:xfrm>
            <a:off x="619760" y="4564420"/>
            <a:ext cx="8016240" cy="338554"/>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25000" noProof="0" dirty="0">
                <a:ln>
                  <a:noFill/>
                </a:ln>
                <a:solidFill>
                  <a:prstClr val="black"/>
                </a:solidFill>
                <a:effectLst/>
                <a:uLnTx/>
                <a:uFillTx/>
                <a:latin typeface="Arial" panose="020B0604020202020204" pitchFamily="34" charset="0"/>
                <a:ea typeface="黑体"/>
                <a:cs typeface="Arial" panose="020B0604020202020204" pitchFamily="34" charset="0"/>
              </a:rPr>
              <a:t>$ make TARGET=sky MOTES=/</a:t>
            </a:r>
            <a:r>
              <a:rPr kumimoji="0" lang="en-US" altLang="zh-CN" sz="2400" b="0" i="0" u="none" strike="noStrike" kern="1200" cap="none" spc="0" normalizeH="0" baseline="-25000" noProof="0" dirty="0" err="1">
                <a:ln>
                  <a:noFill/>
                </a:ln>
                <a:solidFill>
                  <a:prstClr val="black"/>
                </a:solidFill>
                <a:effectLst/>
                <a:uLnTx/>
                <a:uFillTx/>
                <a:latin typeface="Arial" panose="020B0604020202020204" pitchFamily="34" charset="0"/>
                <a:ea typeface="黑体"/>
                <a:cs typeface="Arial" panose="020B0604020202020204" pitchFamily="34" charset="0"/>
              </a:rPr>
              <a:t>dev</a:t>
            </a:r>
            <a:r>
              <a:rPr kumimoji="0" lang="en-US" altLang="zh-CN" sz="2400" b="0" i="0" u="none" strike="noStrike" kern="1200" cap="none" spc="0" normalizeH="0" baseline="-25000" noProof="0" dirty="0">
                <a:ln>
                  <a:noFill/>
                </a:ln>
                <a:solidFill>
                  <a:prstClr val="black"/>
                </a:solidFill>
                <a:effectLst/>
                <a:uLnTx/>
                <a:uFillTx/>
                <a:latin typeface="Arial" panose="020B0604020202020204" pitchFamily="34" charset="0"/>
                <a:ea typeface="黑体"/>
                <a:cs typeface="Arial" panose="020B0604020202020204" pitchFamily="34" charset="0"/>
              </a:rPr>
              <a:t>/ttyUSB0 anti-</a:t>
            </a:r>
            <a:r>
              <a:rPr kumimoji="0" lang="en-US" altLang="zh-CN" sz="2400" b="0" i="0" u="none" strike="noStrike" kern="1200" cap="none" spc="0" normalizeH="0" baseline="-25000" noProof="0" dirty="0" err="1">
                <a:ln>
                  <a:noFill/>
                </a:ln>
                <a:solidFill>
                  <a:prstClr val="black"/>
                </a:solidFill>
                <a:effectLst/>
                <a:uLnTx/>
                <a:uFillTx/>
                <a:latin typeface="Arial" panose="020B0604020202020204" pitchFamily="34" charset="0"/>
                <a:ea typeface="黑体"/>
                <a:cs typeface="Arial" panose="020B0604020202020204" pitchFamily="34" charset="0"/>
              </a:rPr>
              <a:t>theft.upload</a:t>
            </a:r>
            <a:endParaRPr kumimoji="0" lang="en-US" altLang="zh-CN" sz="2400" b="0" i="0" u="none" strike="noStrike" kern="1200" cap="none" spc="0" normalizeH="0" baseline="-25000" noProof="0" dirty="0">
              <a:ln>
                <a:noFill/>
              </a:ln>
              <a:solidFill>
                <a:prstClr val="black"/>
              </a:solidFill>
              <a:effectLst/>
              <a:uLnTx/>
              <a:uFillTx/>
              <a:latin typeface="Arial" panose="020B0604020202020204" pitchFamily="34" charset="0"/>
              <a:ea typeface="黑体"/>
              <a:cs typeface="Arial" panose="020B0604020202020204" pitchFamily="34" charset="0"/>
            </a:endParaRPr>
          </a:p>
        </p:txBody>
      </p:sp>
      <p:sp>
        <p:nvSpPr>
          <p:cNvPr id="9" name="灯片编号占位符 4">
            <a:extLst>
              <a:ext uri="{FF2B5EF4-FFF2-40B4-BE49-F238E27FC236}">
                <a16:creationId xmlns:a16="http://schemas.microsoft.com/office/drawing/2014/main" id="{0B92B8C3-3F3A-41BB-8111-DA4A70598D6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76</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819081492"/>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err="1"/>
              <a:t>AliOS</a:t>
            </a:r>
            <a:r>
              <a:rPr lang="en-US" altLang="zh-CN" dirty="0"/>
              <a:t> Things</a:t>
            </a:r>
            <a:r>
              <a:rPr lang="zh-CN" altLang="en-US" dirty="0"/>
              <a:t>的开发</a:t>
            </a:r>
            <a:r>
              <a:rPr lang="en-US" altLang="zh-CN" dirty="0"/>
              <a:t>-</a:t>
            </a:r>
            <a:r>
              <a:rPr lang="zh-CN" altLang="en-US" dirty="0"/>
              <a:t>环境搭建</a:t>
            </a:r>
          </a:p>
        </p:txBody>
      </p:sp>
      <p:sp>
        <p:nvSpPr>
          <p:cNvPr id="3" name="内容占位符 2"/>
          <p:cNvSpPr>
            <a:spLocks noGrp="1"/>
          </p:cNvSpPr>
          <p:nvPr>
            <p:ph idx="1"/>
          </p:nvPr>
        </p:nvSpPr>
        <p:spPr>
          <a:xfrm>
            <a:off x="457200" y="990600"/>
            <a:ext cx="8305800" cy="5410200"/>
          </a:xfrm>
        </p:spPr>
        <p:txBody>
          <a:bodyPr/>
          <a:lstStyle/>
          <a:p>
            <a:r>
              <a:rPr lang="en-US" altLang="zh-CN" dirty="0" err="1"/>
              <a:t>AliOS</a:t>
            </a:r>
            <a:r>
              <a:rPr lang="en-US" altLang="zh-CN" dirty="0"/>
              <a:t> Things</a:t>
            </a:r>
            <a:r>
              <a:rPr lang="zh-CN" altLang="en-US" dirty="0"/>
              <a:t>配置教程</a:t>
            </a:r>
            <a:endParaRPr lang="en-US" altLang="zh-CN" dirty="0"/>
          </a:p>
          <a:p>
            <a:pPr lvl="1"/>
            <a:r>
              <a:rPr lang="en-US" altLang="zh-CN" dirty="0"/>
              <a:t>https://haas.iot.aliyun.com/aliosthings/index.html</a:t>
            </a:r>
          </a:p>
          <a:p>
            <a:r>
              <a:rPr lang="zh-CN" altLang="en-US" dirty="0"/>
              <a:t>基于支持</a:t>
            </a:r>
            <a:r>
              <a:rPr lang="en-US" altLang="zh-CN" dirty="0" err="1"/>
              <a:t>AliOS</a:t>
            </a:r>
            <a:r>
              <a:rPr lang="en-US" altLang="zh-CN" dirty="0"/>
              <a:t> Things</a:t>
            </a:r>
            <a:r>
              <a:rPr lang="zh-CN" altLang="en-US" dirty="0"/>
              <a:t>的</a:t>
            </a:r>
            <a:r>
              <a:rPr lang="en-US" altLang="zh-CN" dirty="0"/>
              <a:t>IDE</a:t>
            </a:r>
          </a:p>
          <a:p>
            <a:pPr lvl="1"/>
            <a:r>
              <a:rPr lang="en-US" altLang="zh-CN" dirty="0"/>
              <a:t>https://haas.iot.aliyun.com/aliosthings/haas_setup_env.html</a:t>
            </a:r>
          </a:p>
          <a:p>
            <a:r>
              <a:rPr lang="en-US" altLang="zh-CN" dirty="0" err="1"/>
              <a:t>AliOS</a:t>
            </a:r>
            <a:r>
              <a:rPr lang="en-US" altLang="zh-CN" dirty="0"/>
              <a:t> Things</a:t>
            </a:r>
            <a:r>
              <a:rPr lang="zh-CN" altLang="en-US" dirty="0"/>
              <a:t>的源代码</a:t>
            </a:r>
            <a:endParaRPr lang="en-US" altLang="zh-CN" dirty="0"/>
          </a:p>
          <a:p>
            <a:pPr lvl="1"/>
            <a:r>
              <a:rPr lang="en-US" altLang="zh-CN" dirty="0"/>
              <a:t>https://github.com/alibaba/AliOS-Things</a:t>
            </a:r>
          </a:p>
          <a:p>
            <a:r>
              <a:rPr lang="zh-CN" altLang="en-US" dirty="0"/>
              <a:t>基于命令行工具</a:t>
            </a:r>
            <a:r>
              <a:rPr lang="en-US" altLang="zh-CN" dirty="0"/>
              <a:t>CLI</a:t>
            </a:r>
            <a:r>
              <a:rPr lang="zh-CN" altLang="en-US" dirty="0"/>
              <a:t>部署</a:t>
            </a:r>
            <a:r>
              <a:rPr lang="en-US" altLang="zh-CN" dirty="0" err="1"/>
              <a:t>AliOS</a:t>
            </a:r>
            <a:r>
              <a:rPr lang="en-US" altLang="zh-CN" dirty="0"/>
              <a:t> Things</a:t>
            </a:r>
          </a:p>
          <a:p>
            <a:pPr lvl="1"/>
            <a:r>
              <a:rPr lang="zh-CN" altLang="en-US" dirty="0"/>
              <a:t>下载安装</a:t>
            </a:r>
            <a:r>
              <a:rPr lang="en-US" altLang="zh-CN" dirty="0" err="1"/>
              <a:t>AliOS</a:t>
            </a:r>
            <a:r>
              <a:rPr lang="en-US" altLang="zh-CN" dirty="0"/>
              <a:t> Things</a:t>
            </a:r>
          </a:p>
          <a:p>
            <a:pPr lvl="1"/>
            <a:r>
              <a:rPr lang="zh-CN" altLang="en-US" dirty="0"/>
              <a:t>下载安装项目管理工具包</a:t>
            </a:r>
            <a:r>
              <a:rPr lang="en-US" altLang="zh-CN" dirty="0" err="1"/>
              <a:t>aos</a:t>
            </a:r>
            <a:r>
              <a:rPr lang="en-US" altLang="zh-CN" dirty="0"/>
              <a:t>-tools</a:t>
            </a:r>
          </a:p>
          <a:p>
            <a:pPr lvl="1"/>
            <a:r>
              <a:rPr lang="zh-CN" altLang="en-US" dirty="0"/>
              <a:t>下载安装交叉编译工具链</a:t>
            </a:r>
            <a:r>
              <a:rPr lang="en-US" altLang="zh-CN" dirty="0" err="1"/>
              <a:t>gcc</a:t>
            </a:r>
            <a:r>
              <a:rPr lang="en-US" altLang="zh-CN" dirty="0"/>
              <a:t>-arm-none-</a:t>
            </a:r>
            <a:r>
              <a:rPr lang="en-US" altLang="zh-CN" dirty="0" err="1"/>
              <a:t>eabi</a:t>
            </a:r>
            <a:endParaRPr lang="en-US" altLang="zh-CN" dirty="0"/>
          </a:p>
        </p:txBody>
      </p:sp>
      <p:sp>
        <p:nvSpPr>
          <p:cNvPr id="6" name="灯片编号占位符 4">
            <a:extLst>
              <a:ext uri="{FF2B5EF4-FFF2-40B4-BE49-F238E27FC236}">
                <a16:creationId xmlns:a16="http://schemas.microsoft.com/office/drawing/2014/main" id="{A319A53C-4673-4CBC-92FE-683FFB3183C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77</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642763750"/>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err="1"/>
              <a:t>AliOS</a:t>
            </a:r>
            <a:r>
              <a:rPr lang="en-US" altLang="zh-CN" dirty="0"/>
              <a:t> Things</a:t>
            </a:r>
            <a:r>
              <a:rPr lang="zh-CN" altLang="en-US" dirty="0"/>
              <a:t>的开发</a:t>
            </a:r>
            <a:r>
              <a:rPr lang="en-US" altLang="zh-CN" dirty="0"/>
              <a:t>-</a:t>
            </a:r>
            <a:r>
              <a:rPr lang="zh-CN" altLang="en-US" dirty="0"/>
              <a:t>环境搭建</a:t>
            </a:r>
          </a:p>
        </p:txBody>
      </p:sp>
      <p:sp>
        <p:nvSpPr>
          <p:cNvPr id="3" name="内容占位符 2"/>
          <p:cNvSpPr>
            <a:spLocks noGrp="1"/>
          </p:cNvSpPr>
          <p:nvPr>
            <p:ph idx="1"/>
          </p:nvPr>
        </p:nvSpPr>
        <p:spPr>
          <a:xfrm>
            <a:off x="457200" y="990600"/>
            <a:ext cx="8305800" cy="5410200"/>
          </a:xfrm>
        </p:spPr>
        <p:txBody>
          <a:bodyPr/>
          <a:lstStyle/>
          <a:p>
            <a:r>
              <a:rPr lang="en-US" altLang="zh-CN" dirty="0" err="1"/>
              <a:t>AliOS</a:t>
            </a:r>
            <a:r>
              <a:rPr lang="en-US" altLang="zh-CN" dirty="0"/>
              <a:t> Things</a:t>
            </a:r>
            <a:r>
              <a:rPr lang="zh-CN" altLang="zh-CN" dirty="0"/>
              <a:t>的源码可以从</a:t>
            </a:r>
            <a:r>
              <a:rPr lang="zh-CN" altLang="en-US" dirty="0"/>
              <a:t>以下网址下载</a:t>
            </a:r>
            <a:endParaRPr lang="en-US" altLang="zh-CN" dirty="0"/>
          </a:p>
          <a:p>
            <a:pPr lvl="1"/>
            <a:r>
              <a:rPr lang="en-US" altLang="zh-CN" dirty="0"/>
              <a:t>https://github.com/alibaba/AliOS-Things</a:t>
            </a:r>
          </a:p>
          <a:p>
            <a:r>
              <a:rPr lang="en-US" altLang="zh-CN" dirty="0" err="1"/>
              <a:t>aos</a:t>
            </a:r>
            <a:r>
              <a:rPr lang="en-US" altLang="zh-CN" dirty="0"/>
              <a:t>-tools</a:t>
            </a:r>
            <a:r>
              <a:rPr lang="zh-CN" altLang="zh-CN" dirty="0"/>
              <a:t>的安装方法，是在系统的命令行窗口中输入：</a:t>
            </a:r>
          </a:p>
          <a:p>
            <a:pPr lvl="1"/>
            <a:r>
              <a:rPr lang="en-US" altLang="zh-CN" dirty="0"/>
              <a:t>pip install </a:t>
            </a:r>
            <a:r>
              <a:rPr lang="en-US" altLang="zh-CN" dirty="0" err="1"/>
              <a:t>aos</a:t>
            </a:r>
            <a:r>
              <a:rPr lang="en-US" altLang="zh-CN" dirty="0"/>
              <a:t>-tools</a:t>
            </a:r>
          </a:p>
          <a:p>
            <a:r>
              <a:rPr lang="en-US" altLang="zh-CN" dirty="0" err="1"/>
              <a:t>gcc</a:t>
            </a:r>
            <a:r>
              <a:rPr lang="en-US" altLang="zh-CN" dirty="0"/>
              <a:t>-arm-none-</a:t>
            </a:r>
            <a:r>
              <a:rPr lang="en-US" altLang="zh-CN" dirty="0" err="1"/>
              <a:t>eabi</a:t>
            </a:r>
            <a:r>
              <a:rPr lang="zh-CN" altLang="zh-CN" dirty="0"/>
              <a:t>的安装会在第一次执行</a:t>
            </a:r>
            <a:r>
              <a:rPr lang="en-US" altLang="zh-CN" dirty="0" err="1"/>
              <a:t>aos</a:t>
            </a:r>
            <a:r>
              <a:rPr lang="en-US" altLang="zh-CN" dirty="0"/>
              <a:t> make</a:t>
            </a:r>
            <a:r>
              <a:rPr lang="zh-CN" altLang="zh-CN" dirty="0"/>
              <a:t>命令时自动执行，无须用户手动下载安装</a:t>
            </a:r>
          </a:p>
          <a:p>
            <a:pPr lvl="1"/>
            <a:endParaRPr lang="en-US" altLang="zh-CN" dirty="0"/>
          </a:p>
        </p:txBody>
      </p:sp>
      <p:sp>
        <p:nvSpPr>
          <p:cNvPr id="6" name="灯片编号占位符 4">
            <a:extLst>
              <a:ext uri="{FF2B5EF4-FFF2-40B4-BE49-F238E27FC236}">
                <a16:creationId xmlns:a16="http://schemas.microsoft.com/office/drawing/2014/main" id="{4C46A7C5-7BA5-4819-BFBA-9036A5FFCDA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78</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041311675"/>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zh-CN" altLang="en-US" dirty="0"/>
              <a:t>基于</a:t>
            </a:r>
            <a:r>
              <a:rPr lang="en-US" altLang="zh-CN" dirty="0" err="1"/>
              <a:t>AliOS</a:t>
            </a:r>
            <a:r>
              <a:rPr lang="en-US" altLang="zh-CN" dirty="0"/>
              <a:t> Things</a:t>
            </a:r>
            <a:r>
              <a:rPr lang="zh-CN" altLang="en-US" dirty="0"/>
              <a:t>的开发</a:t>
            </a:r>
            <a:r>
              <a:rPr lang="en-US" altLang="zh-CN" dirty="0"/>
              <a:t>-</a:t>
            </a:r>
            <a:r>
              <a:rPr lang="zh-CN" altLang="en-US" dirty="0"/>
              <a:t>开发板选型</a:t>
            </a:r>
          </a:p>
        </p:txBody>
      </p:sp>
      <p:sp>
        <p:nvSpPr>
          <p:cNvPr id="3" name="内容占位符 2"/>
          <p:cNvSpPr>
            <a:spLocks noGrp="1"/>
          </p:cNvSpPr>
          <p:nvPr>
            <p:ph idx="1"/>
          </p:nvPr>
        </p:nvSpPr>
        <p:spPr>
          <a:xfrm>
            <a:off x="457200" y="990600"/>
            <a:ext cx="8305800" cy="5410200"/>
          </a:xfrm>
        </p:spPr>
        <p:txBody>
          <a:bodyPr/>
          <a:lstStyle/>
          <a:p>
            <a:r>
              <a:rPr lang="zh-CN" altLang="en-US"/>
              <a:t>案例选用</a:t>
            </a:r>
            <a:r>
              <a:rPr lang="en-US" altLang="zh-CN"/>
              <a:t>HaaS</a:t>
            </a:r>
            <a:r>
              <a:rPr lang="zh-CN" altLang="en-US"/>
              <a:t> </a:t>
            </a:r>
            <a:r>
              <a:rPr lang="en-US" altLang="zh-CN"/>
              <a:t>EDU</a:t>
            </a:r>
            <a:r>
              <a:rPr lang="zh-CN" altLang="en-US"/>
              <a:t> </a:t>
            </a:r>
            <a:r>
              <a:rPr lang="en-US" altLang="zh-CN"/>
              <a:t>K1</a:t>
            </a:r>
            <a:r>
              <a:rPr lang="zh-CN" altLang="en-US"/>
              <a:t> 开发板</a:t>
            </a:r>
          </a:p>
          <a:p>
            <a:endParaRPr lang="en-US" altLang="zh-CN" dirty="0"/>
          </a:p>
        </p:txBody>
      </p:sp>
      <p:pic>
        <p:nvPicPr>
          <p:cNvPr id="5122" name="Picture 2">
            <a:extLst>
              <a:ext uri="{FF2B5EF4-FFF2-40B4-BE49-F238E27FC236}">
                <a16:creationId xmlns:a16="http://schemas.microsoft.com/office/drawing/2014/main" id="{8687F97E-2203-4241-A5D2-98F886C203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8158"/>
          <a:stretch/>
        </p:blipFill>
        <p:spPr bwMode="auto">
          <a:xfrm>
            <a:off x="1782679" y="1521231"/>
            <a:ext cx="5654842" cy="27892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37A73D8E-209B-0142-BFF8-2F9F0ED62D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6360" b="14485"/>
          <a:stretch/>
        </p:blipFill>
        <p:spPr bwMode="auto">
          <a:xfrm>
            <a:off x="2892592" y="4434681"/>
            <a:ext cx="3076073" cy="2385219"/>
          </a:xfrm>
          <a:prstGeom prst="rect">
            <a:avLst/>
          </a:prstGeom>
          <a:noFill/>
          <a:extLst>
            <a:ext uri="{909E8E84-426E-40DD-AFC4-6F175D3DCCD1}">
              <a14:hiddenFill xmlns:a14="http://schemas.microsoft.com/office/drawing/2010/main">
                <a:solidFill>
                  <a:srgbClr val="FFFFFF"/>
                </a:solidFill>
              </a14:hiddenFill>
            </a:ext>
          </a:extLst>
        </p:spPr>
      </p:pic>
      <p:sp>
        <p:nvSpPr>
          <p:cNvPr id="8" name="灯片编号占位符 4">
            <a:extLst>
              <a:ext uri="{FF2B5EF4-FFF2-40B4-BE49-F238E27FC236}">
                <a16:creationId xmlns:a16="http://schemas.microsoft.com/office/drawing/2014/main" id="{B50EBE1E-9A3A-4E44-9EAD-473FC38D237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79</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608016682"/>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基于</a:t>
            </a:r>
            <a:r>
              <a:rPr lang="en-US" altLang="zh-CN"/>
              <a:t>AliOS Things</a:t>
            </a:r>
            <a:r>
              <a:rPr lang="zh-CN" altLang="en-US"/>
              <a:t>的开发</a:t>
            </a:r>
            <a:r>
              <a:rPr lang="en-US" altLang="zh-CN"/>
              <a:t>-</a:t>
            </a:r>
            <a:r>
              <a:rPr lang="zh-CN" altLang="en-US"/>
              <a:t>目录结构</a:t>
            </a:r>
            <a:endParaRPr lang="zh-CN" altLang="en-US" dirty="0"/>
          </a:p>
        </p:txBody>
      </p:sp>
      <p:sp>
        <p:nvSpPr>
          <p:cNvPr id="5" name="内容占位符 4">
            <a:extLst>
              <a:ext uri="{FF2B5EF4-FFF2-40B4-BE49-F238E27FC236}">
                <a16:creationId xmlns:a16="http://schemas.microsoft.com/office/drawing/2014/main" id="{0C496EA7-2FDB-46B8-B10B-6C299119971F}"/>
              </a:ext>
            </a:extLst>
          </p:cNvPr>
          <p:cNvSpPr>
            <a:spLocks noGrp="1"/>
          </p:cNvSpPr>
          <p:nvPr>
            <p:ph idx="1"/>
          </p:nvPr>
        </p:nvSpPr>
        <p:spPr>
          <a:xfrm>
            <a:off x="457200" y="990600"/>
            <a:ext cx="8305800" cy="5410200"/>
          </a:xfrm>
        </p:spPr>
        <p:txBody>
          <a:bodyPr/>
          <a:lstStyle/>
          <a:p>
            <a:r>
              <a:rPr lang="zh-CN" altLang="en-US" dirty="0"/>
              <a:t>其中</a:t>
            </a:r>
            <a:r>
              <a:rPr lang="en-US" altLang="zh-CN" dirty="0" err="1"/>
              <a:t>package.yaml</a:t>
            </a:r>
            <a:r>
              <a:rPr lang="zh-CN" altLang="en-US" dirty="0"/>
              <a:t>是组件的配置文件，采用</a:t>
            </a:r>
            <a:r>
              <a:rPr lang="en-US" altLang="zh-CN" dirty="0" err="1"/>
              <a:t>yaml</a:t>
            </a:r>
            <a:r>
              <a:rPr lang="zh-CN" altLang="en-US" dirty="0"/>
              <a:t>文本的方式，配置组件包含哪些源文件，头文件，宏，以及组件依赖关系等等，替代了传统的</a:t>
            </a:r>
            <a:r>
              <a:rPr lang="en-US" altLang="zh-CN" dirty="0" err="1"/>
              <a:t>makefile</a:t>
            </a:r>
            <a:r>
              <a:rPr lang="zh-CN" altLang="en-US" dirty="0"/>
              <a:t>文件</a:t>
            </a:r>
          </a:p>
          <a:p>
            <a:endParaRPr lang="zh-CN" altLang="en-US" dirty="0"/>
          </a:p>
        </p:txBody>
      </p:sp>
      <p:pic>
        <p:nvPicPr>
          <p:cNvPr id="3" name="图片 2">
            <a:extLst>
              <a:ext uri="{FF2B5EF4-FFF2-40B4-BE49-F238E27FC236}">
                <a16:creationId xmlns:a16="http://schemas.microsoft.com/office/drawing/2014/main" id="{9258FD0D-425D-1147-A86D-533407B3C2A2}"/>
              </a:ext>
            </a:extLst>
          </p:cNvPr>
          <p:cNvPicPr>
            <a:picLocks noChangeAspect="1"/>
          </p:cNvPicPr>
          <p:nvPr/>
        </p:nvPicPr>
        <p:blipFill>
          <a:blip r:embed="rId3"/>
          <a:stretch>
            <a:fillRect/>
          </a:stretch>
        </p:blipFill>
        <p:spPr>
          <a:xfrm>
            <a:off x="194858" y="2767262"/>
            <a:ext cx="8824303" cy="2573755"/>
          </a:xfrm>
          <a:prstGeom prst="rect">
            <a:avLst/>
          </a:prstGeom>
        </p:spPr>
      </p:pic>
      <p:sp>
        <p:nvSpPr>
          <p:cNvPr id="7" name="灯片编号占位符 4">
            <a:extLst>
              <a:ext uri="{FF2B5EF4-FFF2-40B4-BE49-F238E27FC236}">
                <a16:creationId xmlns:a16="http://schemas.microsoft.com/office/drawing/2014/main" id="{00F8524B-619B-410C-9537-569C14EE129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80</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5907559"/>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dirty="0"/>
              <a:t>基于</a:t>
            </a:r>
            <a:r>
              <a:rPr lang="en-US" altLang="zh-CN" dirty="0" err="1"/>
              <a:t>AliOS</a:t>
            </a:r>
            <a:r>
              <a:rPr lang="en-US" altLang="zh-CN" dirty="0"/>
              <a:t> Things</a:t>
            </a:r>
            <a:r>
              <a:rPr lang="zh-CN" altLang="en-US" dirty="0"/>
              <a:t>的开发</a:t>
            </a:r>
            <a:r>
              <a:rPr lang="en-US" altLang="zh-CN" dirty="0"/>
              <a:t>-</a:t>
            </a:r>
            <a:r>
              <a:rPr lang="zh-CN" altLang="en-US" dirty="0"/>
              <a:t>编写程序</a:t>
            </a:r>
          </a:p>
        </p:txBody>
      </p:sp>
      <p:sp>
        <p:nvSpPr>
          <p:cNvPr id="3" name="内容占位符 2">
            <a:extLst>
              <a:ext uri="{FF2B5EF4-FFF2-40B4-BE49-F238E27FC236}">
                <a16:creationId xmlns:a16="http://schemas.microsoft.com/office/drawing/2014/main" id="{EC5C069E-6930-4AC6-B5CA-1432B218326F}"/>
              </a:ext>
            </a:extLst>
          </p:cNvPr>
          <p:cNvSpPr>
            <a:spLocks noGrp="1"/>
          </p:cNvSpPr>
          <p:nvPr>
            <p:ph idx="1"/>
          </p:nvPr>
        </p:nvSpPr>
        <p:spPr>
          <a:xfrm>
            <a:off x="457200" y="990600"/>
            <a:ext cx="8305800" cy="5410200"/>
          </a:xfrm>
        </p:spPr>
        <p:txBody>
          <a:bodyPr/>
          <a:lstStyle/>
          <a:p>
            <a:r>
              <a:rPr lang="zh-CN" altLang="zh-CN" dirty="0"/>
              <a:t>步骤</a:t>
            </a:r>
            <a:r>
              <a:rPr lang="en-US" altLang="zh-CN" dirty="0"/>
              <a:t>1</a:t>
            </a:r>
            <a:r>
              <a:rPr lang="zh-CN" altLang="zh-CN" dirty="0"/>
              <a:t>：编写主程序代码</a:t>
            </a:r>
            <a:r>
              <a:rPr lang="en-US" altLang="zh-CN" dirty="0" err="1"/>
              <a:t>appdemo.c</a:t>
            </a:r>
            <a:endParaRPr lang="en-US" altLang="zh-CN" dirty="0"/>
          </a:p>
          <a:p>
            <a:pPr lvl="1"/>
            <a:r>
              <a:rPr lang="zh-CN" altLang="zh-CN" dirty="0"/>
              <a:t>所有源程序都写在应用程序目录中，用户可以根据需要进行组织管理。</a:t>
            </a:r>
            <a:r>
              <a:rPr lang="en-US" altLang="zh-CN" dirty="0" err="1"/>
              <a:t>AliOS</a:t>
            </a:r>
            <a:r>
              <a:rPr lang="en-US" altLang="zh-CN" dirty="0"/>
              <a:t> Things</a:t>
            </a:r>
            <a:r>
              <a:rPr lang="zh-CN" altLang="zh-CN" dirty="0"/>
              <a:t>的应用程序入口是</a:t>
            </a:r>
            <a:r>
              <a:rPr lang="en-US" altLang="zh-CN" dirty="0" err="1"/>
              <a:t>application_start</a:t>
            </a:r>
            <a:r>
              <a:rPr lang="zh-CN" altLang="zh-CN" dirty="0"/>
              <a:t>函数，如代码所示。</a:t>
            </a:r>
            <a:r>
              <a:rPr lang="zh-CN" altLang="en-US" dirty="0"/>
              <a:t>程序其余部分请参考书本</a:t>
            </a:r>
            <a:endParaRPr lang="zh-CN" altLang="zh-CN" dirty="0"/>
          </a:p>
          <a:p>
            <a:endParaRPr lang="zh-CN" altLang="en-US" dirty="0"/>
          </a:p>
        </p:txBody>
      </p:sp>
      <p:graphicFrame>
        <p:nvGraphicFramePr>
          <p:cNvPr id="7" name="表格 8">
            <a:extLst>
              <a:ext uri="{FF2B5EF4-FFF2-40B4-BE49-F238E27FC236}">
                <a16:creationId xmlns:a16="http://schemas.microsoft.com/office/drawing/2014/main" id="{0F76F688-4D7A-E647-9CF9-7C299100DE3E}"/>
              </a:ext>
            </a:extLst>
          </p:cNvPr>
          <p:cNvGraphicFramePr>
            <a:graphicFrameLocks noGrp="1"/>
          </p:cNvGraphicFramePr>
          <p:nvPr>
            <p:extLst>
              <p:ext uri="{D42A27DB-BD31-4B8C-83A1-F6EECF244321}">
                <p14:modId xmlns:p14="http://schemas.microsoft.com/office/powerpoint/2010/main" val="3416110064"/>
              </p:ext>
            </p:extLst>
          </p:nvPr>
        </p:nvGraphicFramePr>
        <p:xfrm>
          <a:off x="1171073" y="2846538"/>
          <a:ext cx="6801853" cy="3108960"/>
        </p:xfrm>
        <a:graphic>
          <a:graphicData uri="http://schemas.openxmlformats.org/drawingml/2006/table">
            <a:tbl>
              <a:tblPr firstRow="1" bandRow="1">
                <a:tableStyleId>{5C22544A-7EE6-4342-B048-85BDC9FD1C3A}</a:tableStyleId>
              </a:tblPr>
              <a:tblGrid>
                <a:gridCol w="6801853">
                  <a:extLst>
                    <a:ext uri="{9D8B030D-6E8A-4147-A177-3AD203B41FA5}">
                      <a16:colId xmlns:a16="http://schemas.microsoft.com/office/drawing/2014/main" val="407854355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int </a:t>
                      </a:r>
                      <a:r>
                        <a:rPr lang="en-US" altLang="zh-CN" dirty="0" err="1">
                          <a:solidFill>
                            <a:schemeClr val="tx1"/>
                          </a:solidFill>
                          <a:latin typeface="Courier New" panose="02070309020205020404" pitchFamily="49" charset="0"/>
                          <a:cs typeface="Courier New" panose="02070309020205020404" pitchFamily="49" charset="0"/>
                        </a:rPr>
                        <a:t>application_start</a:t>
                      </a:r>
                      <a:r>
                        <a:rPr lang="en-US" altLang="zh-CN" dirty="0">
                          <a:solidFill>
                            <a:schemeClr val="tx1"/>
                          </a:solidFill>
                          <a:latin typeface="Courier New" panose="02070309020205020404" pitchFamily="49" charset="0"/>
                          <a:cs typeface="Courier New" panose="02070309020205020404" pitchFamily="49" charset="0"/>
                        </a:rPr>
                        <a:t>(int </a:t>
                      </a:r>
                      <a:r>
                        <a:rPr lang="en-US" altLang="zh-CN" dirty="0" err="1">
                          <a:solidFill>
                            <a:schemeClr val="tx1"/>
                          </a:solidFill>
                          <a:latin typeface="Courier New" panose="02070309020205020404" pitchFamily="49" charset="0"/>
                          <a:cs typeface="Courier New" panose="02070309020205020404" pitchFamily="49" charset="0"/>
                        </a:rPr>
                        <a:t>argc</a:t>
                      </a:r>
                      <a:r>
                        <a:rPr lang="en-US" altLang="zh-CN" dirty="0">
                          <a:solidFill>
                            <a:schemeClr val="tx1"/>
                          </a:solidFill>
                          <a:latin typeface="Courier New" panose="02070309020205020404" pitchFamily="49" charset="0"/>
                          <a:cs typeface="Courier New" panose="02070309020205020404" pitchFamily="49" charset="0"/>
                        </a:rPr>
                        <a:t>, char *</a:t>
                      </a:r>
                      <a:r>
                        <a:rPr lang="en-US" altLang="zh-CN" dirty="0" err="1">
                          <a:solidFill>
                            <a:schemeClr val="tx1"/>
                          </a:solidFill>
                          <a:latin typeface="Courier New" panose="02070309020205020404" pitchFamily="49" charset="0"/>
                          <a:cs typeface="Courier New" panose="02070309020205020404" pitchFamily="49" charset="0"/>
                        </a:rPr>
                        <a:t>argv</a:t>
                      </a:r>
                      <a:r>
                        <a:rPr lang="en-US" altLang="zh-CN" dirty="0">
                          <a:solidFill>
                            <a:schemeClr val="tx1"/>
                          </a:solidFill>
                          <a:latin typeface="Courier New" panose="02070309020205020404" pitchFamily="49" charset="0"/>
                          <a:cs typeface="Courier New" panose="02070309020205020404"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g_haasboard_is_k1c = haasedu_is_k1c();</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r>
                        <a:rPr lang="en-US" altLang="zh-CN" dirty="0" err="1">
                          <a:solidFill>
                            <a:schemeClr val="tx1"/>
                          </a:solidFill>
                          <a:latin typeface="Courier New" panose="02070309020205020404" pitchFamily="49" charset="0"/>
                          <a:cs typeface="Courier New" panose="02070309020205020404" pitchFamily="49" charset="0"/>
                        </a:rPr>
                        <a:t>aos_set_log_level</a:t>
                      </a:r>
                      <a:r>
                        <a:rPr lang="en-US" altLang="zh-CN" dirty="0">
                          <a:solidFill>
                            <a:schemeClr val="tx1"/>
                          </a:solidFill>
                          <a:latin typeface="Courier New" panose="02070309020205020404" pitchFamily="49" charset="0"/>
                          <a:cs typeface="Courier New" panose="02070309020205020404" pitchFamily="49" charset="0"/>
                        </a:rPr>
                        <a:t>(AOS_LL_INFO);</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r>
                        <a:rPr lang="en-US" altLang="zh-CN" dirty="0" err="1">
                          <a:solidFill>
                            <a:schemeClr val="tx1"/>
                          </a:solidFill>
                          <a:latin typeface="Courier New" panose="02070309020205020404" pitchFamily="49" charset="0"/>
                          <a:cs typeface="Courier New" panose="02070309020205020404" pitchFamily="49" charset="0"/>
                        </a:rPr>
                        <a:t>gyroscope_init</a:t>
                      </a:r>
                      <a:r>
                        <a:rPr lang="en-US" altLang="zh-CN" dirty="0">
                          <a:solidFill>
                            <a:schemeClr val="tx1"/>
                          </a:solidFill>
                          <a:latin typeface="Courier New" panose="02070309020205020404" pitchFamily="49" charset="0"/>
                          <a:cs typeface="Courier New" panose="02070309020205020404"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while (1)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r>
                        <a:rPr lang="en-US" altLang="zh-CN" dirty="0" err="1">
                          <a:solidFill>
                            <a:schemeClr val="tx1"/>
                          </a:solidFill>
                          <a:latin typeface="Courier New" panose="02070309020205020404" pitchFamily="49" charset="0"/>
                          <a:cs typeface="Courier New" panose="02070309020205020404" pitchFamily="49" charset="0"/>
                        </a:rPr>
                        <a:t>sensor_refresh_task</a:t>
                      </a:r>
                      <a:r>
                        <a:rPr lang="en-US" altLang="zh-CN" dirty="0">
                          <a:solidFill>
                            <a:schemeClr val="tx1"/>
                          </a:solidFill>
                          <a:latin typeface="Courier New" panose="02070309020205020404" pitchFamily="49" charset="0"/>
                          <a:cs typeface="Courier New" panose="02070309020205020404"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r>
                        <a:rPr lang="en-US" altLang="zh-CN" dirty="0" err="1">
                          <a:solidFill>
                            <a:schemeClr val="tx1"/>
                          </a:solidFill>
                          <a:latin typeface="Courier New" panose="02070309020205020404" pitchFamily="49" charset="0"/>
                          <a:cs typeface="Courier New" panose="02070309020205020404" pitchFamily="49" charset="0"/>
                        </a:rPr>
                        <a:t>aos_msleep</a:t>
                      </a:r>
                      <a:r>
                        <a:rPr lang="en-US" altLang="zh-CN" dirty="0">
                          <a:solidFill>
                            <a:schemeClr val="tx1"/>
                          </a:solidFill>
                          <a:latin typeface="Courier New" panose="02070309020205020404" pitchFamily="49" charset="0"/>
                          <a:cs typeface="Courier New" panose="02070309020205020404" pitchFamily="49" charset="0"/>
                        </a:rPr>
                        <a:t>(50);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return 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endParaRPr lang="zh-CN" altLang="en-US"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199156"/>
                  </a:ext>
                </a:extLst>
              </a:tr>
            </a:tbl>
          </a:graphicData>
        </a:graphic>
      </p:graphicFrame>
      <p:sp>
        <p:nvSpPr>
          <p:cNvPr id="8" name="灯片编号占位符 4">
            <a:extLst>
              <a:ext uri="{FF2B5EF4-FFF2-40B4-BE49-F238E27FC236}">
                <a16:creationId xmlns:a16="http://schemas.microsoft.com/office/drawing/2014/main" id="{CA0B71F9-E892-4F46-860D-97FBCC115D0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81</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683282130"/>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基于</a:t>
            </a:r>
            <a:r>
              <a:rPr lang="en-US" altLang="zh-CN"/>
              <a:t>AliOS Things</a:t>
            </a:r>
            <a:r>
              <a:rPr lang="zh-CN" altLang="en-US"/>
              <a:t>的开发</a:t>
            </a:r>
            <a:r>
              <a:rPr lang="en-US" altLang="zh-CN"/>
              <a:t>-</a:t>
            </a:r>
            <a:r>
              <a:rPr lang="zh-CN" altLang="en-US"/>
              <a:t>配置工程</a:t>
            </a:r>
            <a:endParaRPr lang="zh-CN" altLang="en-US" dirty="0"/>
          </a:p>
        </p:txBody>
      </p:sp>
      <p:sp>
        <p:nvSpPr>
          <p:cNvPr id="3" name="内容占位符 2">
            <a:extLst>
              <a:ext uri="{FF2B5EF4-FFF2-40B4-BE49-F238E27FC236}">
                <a16:creationId xmlns:a16="http://schemas.microsoft.com/office/drawing/2014/main" id="{9E8051A0-7849-42B5-8C70-930C0826A55A}"/>
              </a:ext>
            </a:extLst>
          </p:cNvPr>
          <p:cNvSpPr>
            <a:spLocks noGrp="1"/>
          </p:cNvSpPr>
          <p:nvPr>
            <p:ph idx="1"/>
          </p:nvPr>
        </p:nvSpPr>
        <p:spPr>
          <a:xfrm>
            <a:off x="457200" y="990600"/>
            <a:ext cx="8305800" cy="5410200"/>
          </a:xfrm>
        </p:spPr>
        <p:txBody>
          <a:bodyPr/>
          <a:lstStyle/>
          <a:p>
            <a:r>
              <a:rPr lang="zh-CN" altLang="en-US" dirty="0"/>
              <a:t>步骤</a:t>
            </a:r>
            <a:r>
              <a:rPr lang="en-US" altLang="zh-CN" dirty="0"/>
              <a:t>2</a:t>
            </a:r>
            <a:r>
              <a:rPr lang="zh-CN" altLang="en-US" dirty="0"/>
              <a:t>：编写</a:t>
            </a:r>
            <a:r>
              <a:rPr lang="en-US" altLang="zh-CN" dirty="0" err="1"/>
              <a:t>package.yaml</a:t>
            </a:r>
            <a:r>
              <a:rPr lang="zh-CN" altLang="en-US" dirty="0"/>
              <a:t>文件</a:t>
            </a:r>
          </a:p>
        </p:txBody>
      </p:sp>
      <p:graphicFrame>
        <p:nvGraphicFramePr>
          <p:cNvPr id="7" name="表格 8">
            <a:extLst>
              <a:ext uri="{FF2B5EF4-FFF2-40B4-BE49-F238E27FC236}">
                <a16:creationId xmlns:a16="http://schemas.microsoft.com/office/drawing/2014/main" id="{0F76F688-4D7A-E647-9CF9-7C299100DE3E}"/>
              </a:ext>
            </a:extLst>
          </p:cNvPr>
          <p:cNvGraphicFramePr>
            <a:graphicFrameLocks noGrp="1"/>
          </p:cNvGraphicFramePr>
          <p:nvPr>
            <p:extLst>
              <p:ext uri="{D42A27DB-BD31-4B8C-83A1-F6EECF244321}">
                <p14:modId xmlns:p14="http://schemas.microsoft.com/office/powerpoint/2010/main" val="3857885756"/>
              </p:ext>
            </p:extLst>
          </p:nvPr>
        </p:nvGraphicFramePr>
        <p:xfrm>
          <a:off x="1171073" y="1571191"/>
          <a:ext cx="6801853" cy="4206240"/>
        </p:xfrm>
        <a:graphic>
          <a:graphicData uri="http://schemas.openxmlformats.org/drawingml/2006/table">
            <a:tbl>
              <a:tblPr firstRow="1" bandRow="1">
                <a:tableStyleId>{5C22544A-7EE6-4342-B048-85BDC9FD1C3A}</a:tableStyleId>
              </a:tblPr>
              <a:tblGrid>
                <a:gridCol w="6801853">
                  <a:extLst>
                    <a:ext uri="{9D8B030D-6E8A-4147-A177-3AD203B41FA5}">
                      <a16:colId xmlns:a16="http://schemas.microsoft.com/office/drawing/2014/main" val="407854355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name: </a:t>
                      </a:r>
                      <a:r>
                        <a:rPr lang="en-US" altLang="zh-CN" dirty="0" err="1">
                          <a:solidFill>
                            <a:schemeClr val="tx1"/>
                          </a:solidFill>
                          <a:latin typeface="Courier New" panose="02070309020205020404" pitchFamily="49" charset="0"/>
                          <a:cs typeface="Courier New" panose="02070309020205020404" pitchFamily="49" charset="0"/>
                        </a:rPr>
                        <a:t>anti_theft</a:t>
                      </a:r>
                      <a:r>
                        <a:rPr lang="en-US" altLang="zh-CN" dirty="0">
                          <a:solidFill>
                            <a:schemeClr val="tx1"/>
                          </a:solidFill>
                          <a:latin typeface="Courier New" panose="02070309020205020404" pitchFamily="49" charset="0"/>
                          <a:cs typeface="Courier New" panose="02070309020205020404" pitchFamily="49"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version: master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description: </a:t>
                      </a:r>
                      <a:r>
                        <a:rPr lang="zh-CN" altLang="en-US" dirty="0">
                          <a:solidFill>
                            <a:schemeClr val="tx1"/>
                          </a:solidFill>
                          <a:latin typeface="Courier New" panose="02070309020205020404" pitchFamily="49" charset="0"/>
                          <a:cs typeface="Courier New" panose="02070309020205020404" pitchFamily="49" charset="0"/>
                        </a:rPr>
                        <a:t>防盗节点示例程序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type: solution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depends: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 </a:t>
                      </a:r>
                      <a:r>
                        <a:rPr lang="en-US" altLang="zh-CN" dirty="0" err="1">
                          <a:solidFill>
                            <a:schemeClr val="tx1"/>
                          </a:solidFill>
                          <a:latin typeface="Courier New" panose="02070309020205020404" pitchFamily="49" charset="0"/>
                          <a:cs typeface="Courier New" panose="02070309020205020404" pitchFamily="49" charset="0"/>
                        </a:rPr>
                        <a:t>init</a:t>
                      </a:r>
                      <a:r>
                        <a:rPr lang="en-US" altLang="zh-CN" dirty="0">
                          <a:solidFill>
                            <a:schemeClr val="tx1"/>
                          </a:solidFill>
                          <a:latin typeface="Courier New" panose="02070309020205020404" pitchFamily="49" charset="0"/>
                          <a:cs typeface="Courier New" panose="02070309020205020404" pitchFamily="49" charset="0"/>
                        </a:rPr>
                        <a:t>: master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 cli: master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 </a:t>
                      </a:r>
                      <a:r>
                        <a:rPr lang="en-US" altLang="zh-CN" dirty="0" err="1">
                          <a:solidFill>
                            <a:schemeClr val="tx1"/>
                          </a:solidFill>
                          <a:latin typeface="Courier New" panose="02070309020205020404" pitchFamily="49" charset="0"/>
                          <a:cs typeface="Courier New" panose="02070309020205020404" pitchFamily="49" charset="0"/>
                        </a:rPr>
                        <a:t>osal_aos</a:t>
                      </a:r>
                      <a:r>
                        <a:rPr lang="en-US" altLang="zh-CN" dirty="0">
                          <a:solidFill>
                            <a:schemeClr val="tx1"/>
                          </a:solidFill>
                          <a:latin typeface="Courier New" panose="02070309020205020404" pitchFamily="49" charset="0"/>
                          <a:cs typeface="Courier New" panose="02070309020205020404" pitchFamily="49" charset="0"/>
                        </a:rPr>
                        <a:t>: master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 haas100: master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 haaseduk1:  master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err="1">
                          <a:solidFill>
                            <a:schemeClr val="tx1"/>
                          </a:solidFill>
                          <a:latin typeface="Courier New" panose="02070309020205020404" pitchFamily="49" charset="0"/>
                          <a:cs typeface="Courier New" panose="02070309020205020404" pitchFamily="49" charset="0"/>
                        </a:rPr>
                        <a:t>supported_boards</a:t>
                      </a:r>
                      <a:r>
                        <a:rPr lang="en-US" altLang="zh-CN" dirty="0">
                          <a:solidFill>
                            <a:schemeClr val="tx1"/>
                          </a:solidFill>
                          <a:latin typeface="Courier New" panose="02070309020205020404" pitchFamily="49" charset="0"/>
                          <a:cs typeface="Courier New" panose="02070309020205020404"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 haas100: master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 haas200: master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 haaseduk1: master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199156"/>
                  </a:ext>
                </a:extLst>
              </a:tr>
            </a:tbl>
          </a:graphicData>
        </a:graphic>
      </p:graphicFrame>
      <p:sp>
        <p:nvSpPr>
          <p:cNvPr id="8" name="灯片编号占位符 4">
            <a:extLst>
              <a:ext uri="{FF2B5EF4-FFF2-40B4-BE49-F238E27FC236}">
                <a16:creationId xmlns:a16="http://schemas.microsoft.com/office/drawing/2014/main" id="{8FF963D2-0B36-47D6-9C53-5514452B0BC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6238267"/>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dirty="0"/>
              <a:t>基于</a:t>
            </a:r>
            <a:r>
              <a:rPr lang="en-US" altLang="zh-CN" dirty="0" err="1"/>
              <a:t>AliOS</a:t>
            </a:r>
            <a:r>
              <a:rPr lang="en-US" altLang="zh-CN" dirty="0"/>
              <a:t> Things</a:t>
            </a:r>
            <a:r>
              <a:rPr lang="zh-CN" altLang="en-US" dirty="0"/>
              <a:t>的开发</a:t>
            </a:r>
            <a:r>
              <a:rPr lang="en-US" altLang="zh-CN" dirty="0"/>
              <a:t>-</a:t>
            </a:r>
            <a:r>
              <a:rPr lang="zh-CN" altLang="en-US" dirty="0"/>
              <a:t>配置工程</a:t>
            </a:r>
          </a:p>
        </p:txBody>
      </p:sp>
      <p:sp>
        <p:nvSpPr>
          <p:cNvPr id="3" name="内容占位符 2">
            <a:extLst>
              <a:ext uri="{FF2B5EF4-FFF2-40B4-BE49-F238E27FC236}">
                <a16:creationId xmlns:a16="http://schemas.microsoft.com/office/drawing/2014/main" id="{9852F916-2D34-4A5D-95F7-9F33CB58BF5D}"/>
              </a:ext>
            </a:extLst>
          </p:cNvPr>
          <p:cNvSpPr>
            <a:spLocks noGrp="1"/>
          </p:cNvSpPr>
          <p:nvPr>
            <p:ph idx="1"/>
          </p:nvPr>
        </p:nvSpPr>
        <p:spPr>
          <a:xfrm>
            <a:off x="457200" y="990600"/>
            <a:ext cx="8305800" cy="5410200"/>
          </a:xfrm>
        </p:spPr>
        <p:txBody>
          <a:bodyPr/>
          <a:lstStyle/>
          <a:p>
            <a:r>
              <a:rPr lang="zh-CN" altLang="zh-CN" dirty="0"/>
              <a:t>步骤</a:t>
            </a:r>
            <a:r>
              <a:rPr lang="en-US" altLang="zh-CN" dirty="0"/>
              <a:t>2</a:t>
            </a:r>
            <a:r>
              <a:rPr lang="zh-CN" altLang="zh-CN" dirty="0"/>
              <a:t>：编写</a:t>
            </a:r>
            <a:r>
              <a:rPr lang="en-US" altLang="zh-CN" dirty="0" err="1"/>
              <a:t>package.yaml</a:t>
            </a:r>
            <a:r>
              <a:rPr lang="zh-CN" altLang="zh-CN" dirty="0"/>
              <a:t>文件</a:t>
            </a:r>
            <a:r>
              <a:rPr lang="zh-CN" altLang="en-US" dirty="0"/>
              <a:t>（续）</a:t>
            </a:r>
            <a:endParaRPr lang="zh-CN" altLang="zh-CN" dirty="0"/>
          </a:p>
          <a:p>
            <a:endParaRPr lang="zh-CN" altLang="en-US" dirty="0"/>
          </a:p>
        </p:txBody>
      </p:sp>
      <p:graphicFrame>
        <p:nvGraphicFramePr>
          <p:cNvPr id="7" name="表格 8">
            <a:extLst>
              <a:ext uri="{FF2B5EF4-FFF2-40B4-BE49-F238E27FC236}">
                <a16:creationId xmlns:a16="http://schemas.microsoft.com/office/drawing/2014/main" id="{0F76F688-4D7A-E647-9CF9-7C299100DE3E}"/>
              </a:ext>
            </a:extLst>
          </p:cNvPr>
          <p:cNvGraphicFramePr>
            <a:graphicFrameLocks noGrp="1"/>
          </p:cNvGraphicFramePr>
          <p:nvPr>
            <p:extLst>
              <p:ext uri="{D42A27DB-BD31-4B8C-83A1-F6EECF244321}">
                <p14:modId xmlns:p14="http://schemas.microsoft.com/office/powerpoint/2010/main" val="4291151364"/>
              </p:ext>
            </p:extLst>
          </p:nvPr>
        </p:nvGraphicFramePr>
        <p:xfrm>
          <a:off x="1171073" y="1571191"/>
          <a:ext cx="6801853" cy="3108960"/>
        </p:xfrm>
        <a:graphic>
          <a:graphicData uri="http://schemas.openxmlformats.org/drawingml/2006/table">
            <a:tbl>
              <a:tblPr firstRow="1" bandRow="1">
                <a:tableStyleId>{5C22544A-7EE6-4342-B048-85BDC9FD1C3A}</a:tableStyleId>
              </a:tblPr>
              <a:tblGrid>
                <a:gridCol w="6801853">
                  <a:extLst>
                    <a:ext uri="{9D8B030D-6E8A-4147-A177-3AD203B41FA5}">
                      <a16:colId xmlns:a16="http://schemas.microsoft.com/office/drawing/2014/main" val="407854355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solution:</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r>
                        <a:rPr lang="en-US" altLang="zh-CN" dirty="0" err="1">
                          <a:solidFill>
                            <a:schemeClr val="tx1"/>
                          </a:solidFill>
                          <a:latin typeface="Courier New" panose="02070309020205020404" pitchFamily="49" charset="0"/>
                          <a:cs typeface="Courier New" panose="02070309020205020404" pitchFamily="49" charset="0"/>
                        </a:rPr>
                        <a:t>cpu_id</a:t>
                      </a:r>
                      <a:r>
                        <a:rPr lang="en-US" altLang="zh-CN" dirty="0">
                          <a:solidFill>
                            <a:schemeClr val="tx1"/>
                          </a:solidFill>
                          <a:latin typeface="Courier New" panose="02070309020205020404" pitchFamily="49" charset="0"/>
                          <a:cs typeface="Courier New" panose="02070309020205020404" pitchFamily="49" charset="0"/>
                        </a:rPr>
                        <a:t>: cpu0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r>
                        <a:rPr lang="en-US" altLang="zh-CN" dirty="0" err="1">
                          <a:solidFill>
                            <a:schemeClr val="tx1"/>
                          </a:solidFill>
                          <a:latin typeface="Courier New" panose="02070309020205020404" pitchFamily="49" charset="0"/>
                          <a:cs typeface="Courier New" panose="02070309020205020404" pitchFamily="49" charset="0"/>
                        </a:rPr>
                        <a:t>board_name</a:t>
                      </a:r>
                      <a:r>
                        <a:rPr lang="en-US" altLang="zh-CN" dirty="0">
                          <a:solidFill>
                            <a:schemeClr val="tx1"/>
                          </a:solidFill>
                          <a:latin typeface="Courier New" panose="02070309020205020404" pitchFamily="49" charset="0"/>
                          <a:cs typeface="Courier New" panose="02070309020205020404" pitchFamily="49" charset="0"/>
                        </a:rPr>
                        <a:t>: haaseduk1</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err="1">
                          <a:solidFill>
                            <a:schemeClr val="tx1"/>
                          </a:solidFill>
                          <a:latin typeface="Courier New" panose="02070309020205020404" pitchFamily="49" charset="0"/>
                          <a:cs typeface="Courier New" panose="02070309020205020404" pitchFamily="49" charset="0"/>
                        </a:rPr>
                        <a:t>build_config</a:t>
                      </a:r>
                      <a:r>
                        <a:rPr lang="en-US" altLang="zh-CN" dirty="0">
                          <a:solidFill>
                            <a:schemeClr val="tx1"/>
                          </a:solidFill>
                          <a:latin typeface="Courier New" panose="02070309020205020404" pitchFamily="49" charset="0"/>
                          <a:cs typeface="Courier New" panose="02070309020205020404"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r>
                        <a:rPr lang="en-US" altLang="zh-CN" dirty="0" err="1">
                          <a:solidFill>
                            <a:schemeClr val="tx1"/>
                          </a:solidFill>
                          <a:latin typeface="Courier New" panose="02070309020205020404" pitchFamily="49" charset="0"/>
                          <a:cs typeface="Courier New" panose="02070309020205020404" pitchFamily="49" charset="0"/>
                        </a:rPr>
                        <a:t>internal_include</a:t>
                      </a:r>
                      <a:r>
                        <a:rPr lang="en-US" altLang="zh-CN" dirty="0">
                          <a:solidFill>
                            <a:schemeClr val="tx1"/>
                          </a:solidFill>
                          <a:latin typeface="Courier New" panose="02070309020205020404" pitchFamily="49" charset="0"/>
                          <a:cs typeface="Courier New" panose="02070309020205020404"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 include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err="1">
                          <a:solidFill>
                            <a:schemeClr val="tx1"/>
                          </a:solidFill>
                          <a:latin typeface="Courier New" panose="02070309020205020404" pitchFamily="49" charset="0"/>
                          <a:cs typeface="Courier New" panose="02070309020205020404" pitchFamily="49" charset="0"/>
                        </a:rPr>
                        <a:t>source_file</a:t>
                      </a:r>
                      <a:r>
                        <a:rPr lang="en-US" altLang="zh-CN" dirty="0">
                          <a:solidFill>
                            <a:schemeClr val="tx1"/>
                          </a:solidFill>
                          <a:latin typeface="Courier New" panose="02070309020205020404" pitchFamily="49" charset="0"/>
                          <a:cs typeface="Courier New" panose="02070309020205020404"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 "</a:t>
                      </a:r>
                      <a:r>
                        <a:rPr lang="en-US" altLang="zh-CN" dirty="0" err="1">
                          <a:solidFill>
                            <a:schemeClr val="tx1"/>
                          </a:solidFill>
                          <a:latin typeface="Courier New" panose="02070309020205020404" pitchFamily="49" charset="0"/>
                          <a:cs typeface="Courier New" panose="02070309020205020404" pitchFamily="49" charset="0"/>
                        </a:rPr>
                        <a:t>maintask.c</a:t>
                      </a:r>
                      <a:r>
                        <a:rPr lang="en-US" altLang="zh-CN" dirty="0">
                          <a:solidFill>
                            <a:schemeClr val="tx1"/>
                          </a:solidFill>
                          <a:latin typeface="Courier New" panose="02070309020205020404" pitchFamily="49" charset="0"/>
                          <a:cs typeface="Courier New" panose="02070309020205020404" pitchFamily="49"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latin typeface="Courier New" panose="02070309020205020404" pitchFamily="49" charset="0"/>
                          <a:cs typeface="Courier New" panose="02070309020205020404" pitchFamily="49" charset="0"/>
                        </a:rPr>
                        <a:t>- "</a:t>
                      </a:r>
                      <a:r>
                        <a:rPr lang="en-US" altLang="zh-CN" dirty="0" err="1">
                          <a:solidFill>
                            <a:schemeClr val="tx1"/>
                          </a:solidFill>
                          <a:latin typeface="Courier New" panose="02070309020205020404" pitchFamily="49" charset="0"/>
                          <a:cs typeface="Courier New" panose="02070309020205020404" pitchFamily="49" charset="0"/>
                        </a:rPr>
                        <a:t>appdemo.c</a:t>
                      </a:r>
                      <a:r>
                        <a:rPr lang="en-US" altLang="zh-CN" dirty="0">
                          <a:solidFill>
                            <a:schemeClr val="tx1"/>
                          </a:solidFill>
                          <a:latin typeface="Courier New" panose="02070309020205020404" pitchFamily="49" charset="0"/>
                          <a:cs typeface="Courier New" panose="02070309020205020404" pitchFamily="49" charset="0"/>
                        </a:rPr>
                        <a:t>" </a:t>
                      </a:r>
                      <a:endParaRPr lang="zh-CN" altLang="en-US"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199156"/>
                  </a:ext>
                </a:extLst>
              </a:tr>
            </a:tbl>
          </a:graphicData>
        </a:graphic>
      </p:graphicFrame>
      <p:sp>
        <p:nvSpPr>
          <p:cNvPr id="8" name="灯片编号占位符 4">
            <a:extLst>
              <a:ext uri="{FF2B5EF4-FFF2-40B4-BE49-F238E27FC236}">
                <a16:creationId xmlns:a16="http://schemas.microsoft.com/office/drawing/2014/main" id="{8C6CF452-A0F1-4B33-91A2-FCD91D82392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83</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150010484"/>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dirty="0"/>
              <a:t>基于</a:t>
            </a:r>
            <a:r>
              <a:rPr lang="en-US" altLang="zh-CN" dirty="0" err="1"/>
              <a:t>AliOS</a:t>
            </a:r>
            <a:r>
              <a:rPr lang="en-US" altLang="zh-CN" dirty="0"/>
              <a:t> Things</a:t>
            </a:r>
            <a:r>
              <a:rPr lang="zh-CN" altLang="en-US" dirty="0"/>
              <a:t>的开发</a:t>
            </a:r>
            <a:r>
              <a:rPr lang="en-US" altLang="zh-CN" dirty="0"/>
              <a:t>-</a:t>
            </a:r>
            <a:r>
              <a:rPr lang="zh-CN" altLang="en-US" dirty="0"/>
              <a:t>编译程序</a:t>
            </a:r>
          </a:p>
        </p:txBody>
      </p:sp>
      <p:sp>
        <p:nvSpPr>
          <p:cNvPr id="3" name="内容占位符 2">
            <a:extLst>
              <a:ext uri="{FF2B5EF4-FFF2-40B4-BE49-F238E27FC236}">
                <a16:creationId xmlns:a16="http://schemas.microsoft.com/office/drawing/2014/main" id="{9A8D09DA-41BC-47A5-B98D-2F17F3411217}"/>
              </a:ext>
            </a:extLst>
          </p:cNvPr>
          <p:cNvSpPr>
            <a:spLocks noGrp="1"/>
          </p:cNvSpPr>
          <p:nvPr>
            <p:ph idx="1"/>
          </p:nvPr>
        </p:nvSpPr>
        <p:spPr>
          <a:xfrm>
            <a:off x="457200" y="990600"/>
            <a:ext cx="8305800" cy="5410200"/>
          </a:xfrm>
        </p:spPr>
        <p:txBody>
          <a:bodyPr>
            <a:normAutofit/>
          </a:bodyPr>
          <a:lstStyle/>
          <a:p>
            <a:r>
              <a:rPr lang="zh-CN" altLang="zh-CN" dirty="0"/>
              <a:t>步骤</a:t>
            </a:r>
            <a:r>
              <a:rPr lang="en-US" altLang="zh-CN" dirty="0"/>
              <a:t>4</a:t>
            </a:r>
            <a:r>
              <a:rPr lang="zh-CN" altLang="zh-CN" dirty="0"/>
              <a:t>：编译程序</a:t>
            </a:r>
            <a:endParaRPr lang="en-US" altLang="zh-CN" dirty="0"/>
          </a:p>
          <a:p>
            <a:pPr lvl="1"/>
            <a:r>
              <a:rPr lang="zh-CN" altLang="zh-CN" dirty="0"/>
              <a:t>通过运行编译指令，可以获得</a:t>
            </a:r>
            <a:r>
              <a:rPr lang="en-US" altLang="zh-CN" dirty="0" err="1"/>
              <a:t>HaaS</a:t>
            </a:r>
            <a:r>
              <a:rPr lang="en-US" altLang="zh-CN" dirty="0"/>
              <a:t> EDU K1</a:t>
            </a:r>
            <a:r>
              <a:rPr lang="zh-CN" altLang="zh-CN" dirty="0"/>
              <a:t>开发板的二进制文件。第一次执行以下命令时，会自动下载安装交叉编译工具链</a:t>
            </a:r>
            <a:r>
              <a:rPr lang="en-US" altLang="zh-CN" dirty="0" err="1"/>
              <a:t>gcc</a:t>
            </a:r>
            <a:r>
              <a:rPr lang="en-US" altLang="zh-CN" dirty="0"/>
              <a:t>-arm-none-</a:t>
            </a:r>
            <a:r>
              <a:rPr lang="en-US" altLang="zh-CN" dirty="0" err="1"/>
              <a:t>eabi</a:t>
            </a:r>
            <a:r>
              <a:rPr lang="zh-CN" altLang="zh-CN" dirty="0"/>
              <a:t>。</a:t>
            </a:r>
            <a:endParaRPr lang="en-US" altLang="zh-CN" dirty="0"/>
          </a:p>
          <a:p>
            <a:endParaRPr lang="en-US" altLang="zh-CN" dirty="0"/>
          </a:p>
          <a:p>
            <a:r>
              <a:rPr lang="zh-CN" altLang="zh-CN" dirty="0"/>
              <a:t>步骤</a:t>
            </a:r>
            <a:r>
              <a:rPr lang="en-US" altLang="zh-CN" dirty="0"/>
              <a:t>5</a:t>
            </a:r>
            <a:r>
              <a:rPr lang="zh-CN" altLang="zh-CN" dirty="0"/>
              <a:t>：烧写程序</a:t>
            </a:r>
          </a:p>
          <a:p>
            <a:endParaRPr lang="en-US" altLang="zh-CN" dirty="0"/>
          </a:p>
          <a:p>
            <a:r>
              <a:rPr lang="zh-CN" altLang="zh-CN" dirty="0"/>
              <a:t>步骤</a:t>
            </a:r>
            <a:r>
              <a:rPr lang="en-US" altLang="zh-CN" dirty="0"/>
              <a:t>6</a:t>
            </a:r>
            <a:r>
              <a:rPr lang="zh-CN" altLang="zh-CN" dirty="0"/>
              <a:t>：案例测试</a:t>
            </a:r>
          </a:p>
          <a:p>
            <a:pPr lvl="1"/>
            <a:r>
              <a:rPr lang="zh-CN" altLang="zh-CN" dirty="0"/>
              <a:t>将烧写完程序的节点放在静止的桌面上，从桌面上拿起节点，观察红色的</a:t>
            </a:r>
            <a:r>
              <a:rPr lang="en-US" altLang="zh-CN" dirty="0"/>
              <a:t>LED</a:t>
            </a:r>
            <a:r>
              <a:rPr lang="zh-CN" altLang="zh-CN" dirty="0"/>
              <a:t>灯是否亮起</a:t>
            </a:r>
          </a:p>
          <a:p>
            <a:endParaRPr lang="zh-CN" altLang="zh-CN" dirty="0"/>
          </a:p>
          <a:p>
            <a:endParaRPr lang="zh-CN" altLang="zh-CN" dirty="0"/>
          </a:p>
          <a:p>
            <a:endParaRPr lang="zh-CN" altLang="en-US" dirty="0"/>
          </a:p>
        </p:txBody>
      </p:sp>
      <p:graphicFrame>
        <p:nvGraphicFramePr>
          <p:cNvPr id="7" name="表格 8">
            <a:extLst>
              <a:ext uri="{FF2B5EF4-FFF2-40B4-BE49-F238E27FC236}">
                <a16:creationId xmlns:a16="http://schemas.microsoft.com/office/drawing/2014/main" id="{0F76F688-4D7A-E647-9CF9-7C299100DE3E}"/>
              </a:ext>
            </a:extLst>
          </p:cNvPr>
          <p:cNvGraphicFramePr>
            <a:graphicFrameLocks noGrp="1"/>
          </p:cNvGraphicFramePr>
          <p:nvPr>
            <p:extLst>
              <p:ext uri="{D42A27DB-BD31-4B8C-83A1-F6EECF244321}">
                <p14:modId xmlns:p14="http://schemas.microsoft.com/office/powerpoint/2010/main" val="1243720600"/>
              </p:ext>
            </p:extLst>
          </p:nvPr>
        </p:nvGraphicFramePr>
        <p:xfrm>
          <a:off x="1171073" y="2687287"/>
          <a:ext cx="6801853" cy="370840"/>
        </p:xfrm>
        <a:graphic>
          <a:graphicData uri="http://schemas.openxmlformats.org/drawingml/2006/table">
            <a:tbl>
              <a:tblPr firstRow="1" bandRow="1">
                <a:tableStyleId>{5C22544A-7EE6-4342-B048-85BDC9FD1C3A}</a:tableStyleId>
              </a:tblPr>
              <a:tblGrid>
                <a:gridCol w="6801853">
                  <a:extLst>
                    <a:ext uri="{9D8B030D-6E8A-4147-A177-3AD203B41FA5}">
                      <a16:colId xmlns:a16="http://schemas.microsoft.com/office/drawing/2014/main" val="407854355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err="1">
                          <a:solidFill>
                            <a:schemeClr val="tx1"/>
                          </a:solidFill>
                          <a:latin typeface="Courier New" panose="02070309020205020404" pitchFamily="49" charset="0"/>
                          <a:cs typeface="Courier New" panose="02070309020205020404" pitchFamily="49" charset="0"/>
                        </a:rPr>
                        <a:t>aos</a:t>
                      </a:r>
                      <a:r>
                        <a:rPr lang="en-US" altLang="zh-CN" dirty="0">
                          <a:solidFill>
                            <a:schemeClr val="tx1"/>
                          </a:solidFill>
                          <a:latin typeface="Courier New" panose="02070309020205020404" pitchFamily="49" charset="0"/>
                          <a:cs typeface="Courier New" panose="02070309020205020404" pitchFamily="49" charset="0"/>
                        </a:rPr>
                        <a:t> make </a:t>
                      </a:r>
                      <a:endParaRPr lang="zh-CN" altLang="en-US"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199156"/>
                  </a:ext>
                </a:extLst>
              </a:tr>
            </a:tbl>
          </a:graphicData>
        </a:graphic>
      </p:graphicFrame>
      <p:graphicFrame>
        <p:nvGraphicFramePr>
          <p:cNvPr id="5" name="表格 8">
            <a:extLst>
              <a:ext uri="{FF2B5EF4-FFF2-40B4-BE49-F238E27FC236}">
                <a16:creationId xmlns:a16="http://schemas.microsoft.com/office/drawing/2014/main" id="{90B32559-B06F-ED4B-96A7-DECF6041971D}"/>
              </a:ext>
            </a:extLst>
          </p:cNvPr>
          <p:cNvGraphicFramePr>
            <a:graphicFrameLocks noGrp="1"/>
          </p:cNvGraphicFramePr>
          <p:nvPr>
            <p:extLst>
              <p:ext uri="{D42A27DB-BD31-4B8C-83A1-F6EECF244321}">
                <p14:modId xmlns:p14="http://schemas.microsoft.com/office/powerpoint/2010/main" val="4160667208"/>
              </p:ext>
            </p:extLst>
          </p:nvPr>
        </p:nvGraphicFramePr>
        <p:xfrm>
          <a:off x="1206083" y="3695700"/>
          <a:ext cx="6801853" cy="370840"/>
        </p:xfrm>
        <a:graphic>
          <a:graphicData uri="http://schemas.openxmlformats.org/drawingml/2006/table">
            <a:tbl>
              <a:tblPr firstRow="1" bandRow="1">
                <a:tableStyleId>{5C22544A-7EE6-4342-B048-85BDC9FD1C3A}</a:tableStyleId>
              </a:tblPr>
              <a:tblGrid>
                <a:gridCol w="6801853">
                  <a:extLst>
                    <a:ext uri="{9D8B030D-6E8A-4147-A177-3AD203B41FA5}">
                      <a16:colId xmlns:a16="http://schemas.microsoft.com/office/drawing/2014/main" val="407854355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err="1">
                          <a:solidFill>
                            <a:schemeClr val="tx1"/>
                          </a:solidFill>
                          <a:latin typeface="Courier New" panose="02070309020205020404" pitchFamily="49" charset="0"/>
                          <a:cs typeface="Courier New" panose="02070309020205020404" pitchFamily="49" charset="0"/>
                        </a:rPr>
                        <a:t>aos</a:t>
                      </a:r>
                      <a:r>
                        <a:rPr lang="en-US" altLang="zh-CN" dirty="0">
                          <a:solidFill>
                            <a:schemeClr val="tx1"/>
                          </a:solidFill>
                          <a:latin typeface="Courier New" panose="02070309020205020404" pitchFamily="49" charset="0"/>
                          <a:cs typeface="Courier New" panose="02070309020205020404" pitchFamily="49" charset="0"/>
                        </a:rPr>
                        <a:t> burn </a:t>
                      </a:r>
                      <a:endParaRPr lang="zh-CN" altLang="en-US" dirty="0">
                        <a:solidFill>
                          <a:schemeClr val="tx1"/>
                        </a:solidFill>
                        <a:latin typeface="Courier New" panose="02070309020205020404" pitchFamily="49" charset="0"/>
                        <a:cs typeface="Courier New" panose="020703090202050204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199156"/>
                  </a:ext>
                </a:extLst>
              </a:tr>
            </a:tbl>
          </a:graphicData>
        </a:graphic>
      </p:graphicFrame>
      <p:sp>
        <p:nvSpPr>
          <p:cNvPr id="9" name="灯片编号占位符 4">
            <a:extLst>
              <a:ext uri="{FF2B5EF4-FFF2-40B4-BE49-F238E27FC236}">
                <a16:creationId xmlns:a16="http://schemas.microsoft.com/office/drawing/2014/main" id="{121C8F07-4E37-4A75-82E2-8D3B2922C48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84</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73899110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54"/>
  <p:tag name="DEFAULTHEIGHT" val="200"/>
</p:tagLst>
</file>

<file path=ppt/theme/theme1.xml><?xml version="1.0" encoding="utf-8"?>
<a:theme xmlns:a="http://schemas.openxmlformats.org/drawingml/2006/main" name="1_NCSU-CS">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000000"/>
      </a:folHlink>
    </a:clrScheme>
    <a:fontScheme name="自定义 1">
      <a:majorFont>
        <a:latin typeface="Franklin Gothic Medium"/>
        <a:ea typeface="微软雅黑"/>
        <a:cs typeface=""/>
      </a:majorFont>
      <a:minorFont>
        <a:latin typeface="Franklin Gothic Book"/>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
            <a:schemeClr val="bg1"/>
          </a:buClr>
          <a:buSzPct val="100000"/>
          <a:buFontTx/>
          <a:buNone/>
          <a:defRPr kumimoji="0" lang="en-US" altLang="en-US"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
            <a:schemeClr val="bg1"/>
          </a:buClr>
          <a:buSzPct val="100000"/>
          <a:buFontTx/>
          <a:buNone/>
          <a:defRPr kumimoji="0" lang="en-US"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panose="020B0604020202020204" pitchFamily="34" charset="0"/>
          </a:defRPr>
        </a:defPPr>
      </a:lstStyle>
    </a:lnDef>
  </a:objectDefaults>
  <a:extraClrSchemeLst>
    <a:extraClrScheme>
      <a:clrScheme name="NCSU-CS 1">
        <a:dk1>
          <a:srgbClr val="000000"/>
        </a:dk1>
        <a:lt1>
          <a:srgbClr val="FFFFFF"/>
        </a:lt1>
        <a:dk2>
          <a:srgbClr val="3333FF"/>
        </a:dk2>
        <a:lt2>
          <a:srgbClr val="00FFFF"/>
        </a:lt2>
        <a:accent1>
          <a:srgbClr val="00CCCC"/>
        </a:accent1>
        <a:accent2>
          <a:srgbClr val="6666FF"/>
        </a:accent2>
        <a:accent3>
          <a:srgbClr val="ADADFF"/>
        </a:accent3>
        <a:accent4>
          <a:srgbClr val="DADADA"/>
        </a:accent4>
        <a:accent5>
          <a:srgbClr val="AAE2E2"/>
        </a:accent5>
        <a:accent6>
          <a:srgbClr val="5C5CE7"/>
        </a:accent6>
        <a:hlink>
          <a:srgbClr val="CCCCFF"/>
        </a:hlink>
        <a:folHlink>
          <a:srgbClr val="CC99FF"/>
        </a:folHlink>
      </a:clrScheme>
      <a:clrMap bg1="dk2" tx1="lt1" bg2="dk1" tx2="lt2" accent1="accent1" accent2="accent2" accent3="accent3" accent4="accent4" accent5="accent5" accent6="accent6" hlink="hlink" folHlink="folHlink"/>
    </a:extraClrScheme>
    <a:extraClrScheme>
      <a:clrScheme name="NCSU-CS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NCSU-CS 3">
        <a:dk1>
          <a:srgbClr val="000000"/>
        </a:dk1>
        <a:lt1>
          <a:srgbClr val="FFFFFF"/>
        </a:lt1>
        <a:dk2>
          <a:srgbClr val="000000"/>
        </a:dk2>
        <a:lt2>
          <a:srgbClr val="CBCBCB"/>
        </a:lt2>
        <a:accent1>
          <a:srgbClr val="B2B2B2"/>
        </a:accent1>
        <a:accent2>
          <a:srgbClr val="DDDDDD"/>
        </a:accent2>
        <a:accent3>
          <a:srgbClr val="FFFFFF"/>
        </a:accent3>
        <a:accent4>
          <a:srgbClr val="000000"/>
        </a:accent4>
        <a:accent5>
          <a:srgbClr val="D5D5D5"/>
        </a:accent5>
        <a:accent6>
          <a:srgbClr val="C8C8C8"/>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NCSU-CS 4">
        <a:dk1>
          <a:srgbClr val="000000"/>
        </a:dk1>
        <a:lt1>
          <a:srgbClr val="FFFFFF"/>
        </a:lt1>
        <a:dk2>
          <a:srgbClr val="000000"/>
        </a:dk2>
        <a:lt2>
          <a:srgbClr val="777777"/>
        </a:lt2>
        <a:accent1>
          <a:srgbClr val="00CCCC"/>
        </a:accent1>
        <a:accent2>
          <a:srgbClr val="6666FF"/>
        </a:accent2>
        <a:accent3>
          <a:srgbClr val="FFFFFF"/>
        </a:accent3>
        <a:accent4>
          <a:srgbClr val="000000"/>
        </a:accent4>
        <a:accent5>
          <a:srgbClr val="AAE2E2"/>
        </a:accent5>
        <a:accent6>
          <a:srgbClr val="5C5CE7"/>
        </a:accent6>
        <a:hlink>
          <a:srgbClr val="CCCCFF"/>
        </a:hlink>
        <a:folHlink>
          <a:srgbClr val="CC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40651</TotalTime>
  <Words>8702</Words>
  <Application>Microsoft Office PowerPoint</Application>
  <PresentationFormat>全屏显示(4:3)</PresentationFormat>
  <Paragraphs>1119</Paragraphs>
  <Slides>84</Slides>
  <Notes>39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84</vt:i4>
      </vt:variant>
    </vt:vector>
  </HeadingPairs>
  <TitlesOfParts>
    <vt:vector size="92" baseType="lpstr">
      <vt:lpstr>黑体</vt:lpstr>
      <vt:lpstr>微软雅黑</vt:lpstr>
      <vt:lpstr>Arial</vt:lpstr>
      <vt:lpstr>Courier New</vt:lpstr>
      <vt:lpstr>Monotype Corsiva</vt:lpstr>
      <vt:lpstr>Times New Roman</vt:lpstr>
      <vt:lpstr>Wingdings</vt:lpstr>
      <vt:lpstr>1_NCSU-CS</vt:lpstr>
      <vt:lpstr>第三章：物联网操作系统</vt:lpstr>
      <vt:lpstr>学习目标</vt:lpstr>
      <vt:lpstr>目录</vt:lpstr>
      <vt:lpstr>简介</vt:lpstr>
      <vt:lpstr>简介</vt:lpstr>
      <vt:lpstr>简介</vt:lpstr>
      <vt:lpstr>简介-系统构成</vt:lpstr>
      <vt:lpstr>思考题</vt:lpstr>
      <vt:lpstr>目录</vt:lpstr>
      <vt:lpstr>关键特性</vt:lpstr>
      <vt:lpstr>编程模型</vt:lpstr>
      <vt:lpstr>编程模型</vt:lpstr>
      <vt:lpstr>编程模型</vt:lpstr>
      <vt:lpstr>编程模型</vt:lpstr>
      <vt:lpstr>编程模型</vt:lpstr>
      <vt:lpstr>调度方式</vt:lpstr>
      <vt:lpstr>调度方式</vt:lpstr>
      <vt:lpstr>思考题</vt:lpstr>
      <vt:lpstr>I/O操作方式</vt:lpstr>
      <vt:lpstr>内存分配</vt:lpstr>
      <vt:lpstr>软件更新</vt:lpstr>
      <vt:lpstr>软件更新</vt:lpstr>
      <vt:lpstr>网络服务</vt:lpstr>
      <vt:lpstr>目录</vt:lpstr>
      <vt:lpstr>Contiki OS</vt:lpstr>
      <vt:lpstr>Contiki OS-关键特性</vt:lpstr>
      <vt:lpstr>基于protothreads的编程模型</vt:lpstr>
      <vt:lpstr>基于protothreads的编程模型</vt:lpstr>
      <vt:lpstr>基于protothreads的编程模型</vt:lpstr>
      <vt:lpstr>基于protothreads的编程模型</vt:lpstr>
      <vt:lpstr>基于protothreads的编程模型</vt:lpstr>
      <vt:lpstr>多线程库mt_thread</vt:lpstr>
      <vt:lpstr>多线程库mt_thread</vt:lpstr>
      <vt:lpstr>网络服务</vt:lpstr>
      <vt:lpstr>思考题</vt:lpstr>
      <vt:lpstr>基于shell的交互式编程</vt:lpstr>
      <vt:lpstr>基于shell的交互式编程</vt:lpstr>
      <vt:lpstr>目录</vt:lpstr>
      <vt:lpstr>RIOT</vt:lpstr>
      <vt:lpstr>RIOT主要特性</vt:lpstr>
      <vt:lpstr>RIOT主要特性</vt:lpstr>
      <vt:lpstr>RIOT主要特性</vt:lpstr>
      <vt:lpstr>RIOT主要特性</vt:lpstr>
      <vt:lpstr>目录</vt:lpstr>
      <vt:lpstr>AliOS Things</vt:lpstr>
      <vt:lpstr>AliOS Things</vt:lpstr>
      <vt:lpstr>AliOS Things-关键特性</vt:lpstr>
      <vt:lpstr>AliOS Things-关键特性</vt:lpstr>
      <vt:lpstr>AliOS Things-关键特性</vt:lpstr>
      <vt:lpstr>AliOS Things-网络服务</vt:lpstr>
      <vt:lpstr>AliOS Things-网络服务</vt:lpstr>
      <vt:lpstr>AliOS Things-关键特性</vt:lpstr>
      <vt:lpstr>目录</vt:lpstr>
      <vt:lpstr>HarmonyOS</vt:lpstr>
      <vt:lpstr>HarmonyOS-关键特性</vt:lpstr>
      <vt:lpstr>HarmonyOS-关键特性</vt:lpstr>
      <vt:lpstr>HarmonyOS-关键特性</vt:lpstr>
      <vt:lpstr>HarmonyOS-关键特性</vt:lpstr>
      <vt:lpstr>HarmonyOS-关键特性</vt:lpstr>
      <vt:lpstr>HarmonyOS-关键特性</vt:lpstr>
      <vt:lpstr>思考题</vt:lpstr>
      <vt:lpstr>物联网操作系统关键特性总结</vt:lpstr>
      <vt:lpstr>目录</vt:lpstr>
      <vt:lpstr>学术研究前沿</vt:lpstr>
      <vt:lpstr>学术研究前沿-安全性</vt:lpstr>
      <vt:lpstr>学术研究前沿-多语言、多协议支持</vt:lpstr>
      <vt:lpstr>学术研究前沿-能量自适应性</vt:lpstr>
      <vt:lpstr>PowerPoint 演示文稿</vt:lpstr>
      <vt:lpstr>目录</vt:lpstr>
      <vt:lpstr>AntiTheft应用编程实例：增强版</vt:lpstr>
      <vt:lpstr>AntiTheft应用编程实例：增强版</vt:lpstr>
      <vt:lpstr>基于Contiki-OS的开发-环境搭建</vt:lpstr>
      <vt:lpstr>基于Contiki-OS的开发-程序编写</vt:lpstr>
      <vt:lpstr>基于Contiki-OS的开发-程序编写</vt:lpstr>
      <vt:lpstr>基于Contiki-OS的开发-程序编写</vt:lpstr>
      <vt:lpstr>基于Contiki-OS的开发-编译及烧录程序</vt:lpstr>
      <vt:lpstr>基于AliOS Things的开发-环境搭建</vt:lpstr>
      <vt:lpstr>基于AliOS Things的开发-环境搭建</vt:lpstr>
      <vt:lpstr>基于AliOS Things的开发-开发板选型</vt:lpstr>
      <vt:lpstr>基于AliOS Things的开发-目录结构</vt:lpstr>
      <vt:lpstr>基于AliOS Things的开发-编写程序</vt:lpstr>
      <vt:lpstr>基于AliOS Things的开发-配置工程</vt:lpstr>
      <vt:lpstr>基于AliOS Things的开发-配置工程</vt:lpstr>
      <vt:lpstr>基于AliOS Things的开发-编译程序</vt:lpstr>
    </vt:vector>
  </TitlesOfParts>
  <Company>NCSU</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Centric Storage</dc:title>
  <dc:creator>Jayush R Luniya</dc:creator>
  <cp:lastModifiedBy>野 蔓</cp:lastModifiedBy>
  <cp:revision>3250</cp:revision>
  <cp:lastPrinted>2021-12-22T08:21:03Z</cp:lastPrinted>
  <dcterms:created xsi:type="dcterms:W3CDTF">2005-04-16T16:23:33Z</dcterms:created>
  <dcterms:modified xsi:type="dcterms:W3CDTF">2022-05-04T07:15:06Z</dcterms:modified>
</cp:coreProperties>
</file>