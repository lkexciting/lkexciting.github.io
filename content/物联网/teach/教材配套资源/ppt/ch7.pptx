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vsdx" ContentType="application/vnd.ms-visio.drawing"/>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146"/>
  </p:notesMasterIdLst>
  <p:handoutMasterIdLst>
    <p:handoutMasterId r:id="rId147"/>
  </p:handoutMasterIdLst>
  <p:sldIdLst>
    <p:sldId id="1308" r:id="rId2"/>
    <p:sldId id="1446" r:id="rId3"/>
    <p:sldId id="1309" r:id="rId4"/>
    <p:sldId id="1310" r:id="rId5"/>
    <p:sldId id="1311" r:id="rId6"/>
    <p:sldId id="1312" r:id="rId7"/>
    <p:sldId id="1313" r:id="rId8"/>
    <p:sldId id="1314" r:id="rId9"/>
    <p:sldId id="1422" r:id="rId10"/>
    <p:sldId id="1316" r:id="rId11"/>
    <p:sldId id="1317" r:id="rId12"/>
    <p:sldId id="1318" r:id="rId13"/>
    <p:sldId id="1319" r:id="rId14"/>
    <p:sldId id="1320" r:id="rId15"/>
    <p:sldId id="1321" r:id="rId16"/>
    <p:sldId id="1434" r:id="rId17"/>
    <p:sldId id="1447" r:id="rId18"/>
    <p:sldId id="1323" r:id="rId19"/>
    <p:sldId id="1412" r:id="rId20"/>
    <p:sldId id="1324" r:id="rId21"/>
    <p:sldId id="1326" r:id="rId22"/>
    <p:sldId id="1327" r:id="rId23"/>
    <p:sldId id="1436" r:id="rId24"/>
    <p:sldId id="1448" r:id="rId25"/>
    <p:sldId id="1329" r:id="rId26"/>
    <p:sldId id="1407" r:id="rId27"/>
    <p:sldId id="1331" r:id="rId28"/>
    <p:sldId id="1369" r:id="rId29"/>
    <p:sldId id="1438" r:id="rId30"/>
    <p:sldId id="1449" r:id="rId31"/>
    <p:sldId id="1334" r:id="rId32"/>
    <p:sldId id="1335" r:id="rId33"/>
    <p:sldId id="1336" r:id="rId34"/>
    <p:sldId id="1337" r:id="rId35"/>
    <p:sldId id="1367" r:id="rId36"/>
    <p:sldId id="1339" r:id="rId37"/>
    <p:sldId id="1341" r:id="rId38"/>
    <p:sldId id="1343" r:id="rId39"/>
    <p:sldId id="1344" r:id="rId40"/>
    <p:sldId id="1345" r:id="rId41"/>
    <p:sldId id="1346" r:id="rId42"/>
    <p:sldId id="1348" r:id="rId43"/>
    <p:sldId id="1439" r:id="rId44"/>
    <p:sldId id="1450" r:id="rId45"/>
    <p:sldId id="711" r:id="rId46"/>
    <p:sldId id="1423" r:id="rId47"/>
    <p:sldId id="1415" r:id="rId48"/>
    <p:sldId id="785" r:id="rId49"/>
    <p:sldId id="780" r:id="rId50"/>
    <p:sldId id="823" r:id="rId51"/>
    <p:sldId id="786" r:id="rId52"/>
    <p:sldId id="787" r:id="rId53"/>
    <p:sldId id="825" r:id="rId54"/>
    <p:sldId id="683" r:id="rId55"/>
    <p:sldId id="694" r:id="rId56"/>
    <p:sldId id="790" r:id="rId57"/>
    <p:sldId id="791" r:id="rId58"/>
    <p:sldId id="1413" r:id="rId59"/>
    <p:sldId id="792" r:id="rId60"/>
    <p:sldId id="793" r:id="rId61"/>
    <p:sldId id="1414" r:id="rId62"/>
    <p:sldId id="794" r:id="rId63"/>
    <p:sldId id="796" r:id="rId64"/>
    <p:sldId id="827" r:id="rId65"/>
    <p:sldId id="797" r:id="rId66"/>
    <p:sldId id="799" r:id="rId67"/>
    <p:sldId id="875" r:id="rId68"/>
    <p:sldId id="876" r:id="rId69"/>
    <p:sldId id="698" r:id="rId70"/>
    <p:sldId id="699" r:id="rId71"/>
    <p:sldId id="700" r:id="rId72"/>
    <p:sldId id="701" r:id="rId73"/>
    <p:sldId id="738" r:id="rId74"/>
    <p:sldId id="737" r:id="rId75"/>
    <p:sldId id="739" r:id="rId76"/>
    <p:sldId id="743" r:id="rId77"/>
    <p:sldId id="1351" r:id="rId78"/>
    <p:sldId id="1352" r:id="rId79"/>
    <p:sldId id="1416" r:id="rId80"/>
    <p:sldId id="1417" r:id="rId81"/>
    <p:sldId id="1418" r:id="rId82"/>
    <p:sldId id="1419" r:id="rId83"/>
    <p:sldId id="1424" r:id="rId84"/>
    <p:sldId id="977" r:id="rId85"/>
    <p:sldId id="781" r:id="rId86"/>
    <p:sldId id="1451" r:id="rId87"/>
    <p:sldId id="951" r:id="rId88"/>
    <p:sldId id="789" r:id="rId89"/>
    <p:sldId id="970" r:id="rId90"/>
    <p:sldId id="978" r:id="rId91"/>
    <p:sldId id="983" r:id="rId92"/>
    <p:sldId id="984" r:id="rId93"/>
    <p:sldId id="824" r:id="rId94"/>
    <p:sldId id="1440" r:id="rId95"/>
    <p:sldId id="826" r:id="rId96"/>
    <p:sldId id="988" r:id="rId97"/>
    <p:sldId id="1442" r:id="rId98"/>
    <p:sldId id="1443" r:id="rId99"/>
    <p:sldId id="1441" r:id="rId100"/>
    <p:sldId id="987" r:id="rId101"/>
    <p:sldId id="986" r:id="rId102"/>
    <p:sldId id="1444" r:id="rId103"/>
    <p:sldId id="1445" r:id="rId104"/>
    <p:sldId id="1342" r:id="rId105"/>
    <p:sldId id="994" r:id="rId106"/>
    <p:sldId id="995" r:id="rId107"/>
    <p:sldId id="996" r:id="rId108"/>
    <p:sldId id="980" r:id="rId109"/>
    <p:sldId id="1003" r:id="rId110"/>
    <p:sldId id="1004" r:id="rId111"/>
    <p:sldId id="1005" r:id="rId112"/>
    <p:sldId id="1006" r:id="rId113"/>
    <p:sldId id="1007" r:id="rId114"/>
    <p:sldId id="1008" r:id="rId115"/>
    <p:sldId id="1002" r:id="rId116"/>
    <p:sldId id="1410" r:id="rId117"/>
    <p:sldId id="1411" r:id="rId118"/>
    <p:sldId id="1425" r:id="rId119"/>
    <p:sldId id="1427" r:id="rId120"/>
    <p:sldId id="1428" r:id="rId121"/>
    <p:sldId id="1429" r:id="rId122"/>
    <p:sldId id="1430" r:id="rId123"/>
    <p:sldId id="1431" r:id="rId124"/>
    <p:sldId id="1432" r:id="rId125"/>
    <p:sldId id="1426" r:id="rId126"/>
    <p:sldId id="1009" r:id="rId127"/>
    <p:sldId id="782" r:id="rId128"/>
    <p:sldId id="1011" r:id="rId129"/>
    <p:sldId id="1012" r:id="rId130"/>
    <p:sldId id="1013" r:id="rId131"/>
    <p:sldId id="1014" r:id="rId132"/>
    <p:sldId id="1019" r:id="rId133"/>
    <p:sldId id="1020" r:id="rId134"/>
    <p:sldId id="1021" r:id="rId135"/>
    <p:sldId id="1022" r:id="rId136"/>
    <p:sldId id="1196" r:id="rId137"/>
    <p:sldId id="1197" r:id="rId138"/>
    <p:sldId id="1198" r:id="rId139"/>
    <p:sldId id="1199" r:id="rId140"/>
    <p:sldId id="1200" r:id="rId141"/>
    <p:sldId id="1201" r:id="rId142"/>
    <p:sldId id="1433" r:id="rId143"/>
    <p:sldId id="1179" r:id="rId144"/>
    <p:sldId id="422" r:id="rId145"/>
  </p:sldIdLst>
  <p:sldSz cx="9144000" cy="6858000" type="screen4x3"/>
  <p:notesSz cx="6858000" cy="9144000"/>
  <p:custDataLst>
    <p:tags r:id="rId148"/>
  </p:custDataLst>
  <p:defaultTextStyle>
    <a:defPPr>
      <a:defRPr lang="en-US"/>
    </a:defPPr>
    <a:lvl1pPr algn="l" rtl="0" fontAlgn="base">
      <a:spcBef>
        <a:spcPct val="0"/>
      </a:spcBef>
      <a:spcAft>
        <a:spcPct val="0"/>
      </a:spcAft>
      <a:defRPr sz="2400" kern="1200" baseline="-25000">
        <a:solidFill>
          <a:schemeClr val="tx1"/>
        </a:solidFill>
        <a:latin typeface="Arial" pitchFamily="34" charset="0"/>
        <a:ea typeface="宋体" pitchFamily="2" charset="-122"/>
        <a:cs typeface="+mn-cs"/>
      </a:defRPr>
    </a:lvl1pPr>
    <a:lvl2pPr marL="457200" algn="l" rtl="0" fontAlgn="base">
      <a:spcBef>
        <a:spcPct val="0"/>
      </a:spcBef>
      <a:spcAft>
        <a:spcPct val="0"/>
      </a:spcAft>
      <a:defRPr sz="2400" kern="1200" baseline="-25000">
        <a:solidFill>
          <a:schemeClr val="tx1"/>
        </a:solidFill>
        <a:latin typeface="Arial" pitchFamily="34" charset="0"/>
        <a:ea typeface="宋体" pitchFamily="2" charset="-122"/>
        <a:cs typeface="+mn-cs"/>
      </a:defRPr>
    </a:lvl2pPr>
    <a:lvl3pPr marL="914400" algn="l" rtl="0" fontAlgn="base">
      <a:spcBef>
        <a:spcPct val="0"/>
      </a:spcBef>
      <a:spcAft>
        <a:spcPct val="0"/>
      </a:spcAft>
      <a:defRPr sz="2400" kern="1200" baseline="-25000">
        <a:solidFill>
          <a:schemeClr val="tx1"/>
        </a:solidFill>
        <a:latin typeface="Arial" pitchFamily="34" charset="0"/>
        <a:ea typeface="宋体" pitchFamily="2" charset="-122"/>
        <a:cs typeface="+mn-cs"/>
      </a:defRPr>
    </a:lvl3pPr>
    <a:lvl4pPr marL="1371600" algn="l" rtl="0" fontAlgn="base">
      <a:spcBef>
        <a:spcPct val="0"/>
      </a:spcBef>
      <a:spcAft>
        <a:spcPct val="0"/>
      </a:spcAft>
      <a:defRPr sz="2400" kern="1200" baseline="-25000">
        <a:solidFill>
          <a:schemeClr val="tx1"/>
        </a:solidFill>
        <a:latin typeface="Arial" pitchFamily="34" charset="0"/>
        <a:ea typeface="宋体" pitchFamily="2" charset="-122"/>
        <a:cs typeface="+mn-cs"/>
      </a:defRPr>
    </a:lvl4pPr>
    <a:lvl5pPr marL="1828800" algn="l" rtl="0" fontAlgn="base">
      <a:spcBef>
        <a:spcPct val="0"/>
      </a:spcBef>
      <a:spcAft>
        <a:spcPct val="0"/>
      </a:spcAft>
      <a:defRPr sz="2400" kern="1200" baseline="-25000">
        <a:solidFill>
          <a:schemeClr val="tx1"/>
        </a:solidFill>
        <a:latin typeface="Arial" pitchFamily="34" charset="0"/>
        <a:ea typeface="宋体" pitchFamily="2" charset="-122"/>
        <a:cs typeface="+mn-cs"/>
      </a:defRPr>
    </a:lvl5pPr>
    <a:lvl6pPr marL="2286000" algn="l" defTabSz="914400" rtl="0" eaLnBrk="1" latinLnBrk="0" hangingPunct="1">
      <a:defRPr sz="2400" kern="1200" baseline="-25000">
        <a:solidFill>
          <a:schemeClr val="tx1"/>
        </a:solidFill>
        <a:latin typeface="Arial" pitchFamily="34" charset="0"/>
        <a:ea typeface="宋体" pitchFamily="2" charset="-122"/>
        <a:cs typeface="+mn-cs"/>
      </a:defRPr>
    </a:lvl6pPr>
    <a:lvl7pPr marL="2743200" algn="l" defTabSz="914400" rtl="0" eaLnBrk="1" latinLnBrk="0" hangingPunct="1">
      <a:defRPr sz="2400" kern="1200" baseline="-25000">
        <a:solidFill>
          <a:schemeClr val="tx1"/>
        </a:solidFill>
        <a:latin typeface="Arial" pitchFamily="34" charset="0"/>
        <a:ea typeface="宋体" pitchFamily="2" charset="-122"/>
        <a:cs typeface="+mn-cs"/>
      </a:defRPr>
    </a:lvl7pPr>
    <a:lvl8pPr marL="3200400" algn="l" defTabSz="914400" rtl="0" eaLnBrk="1" latinLnBrk="0" hangingPunct="1">
      <a:defRPr sz="2400" kern="1200" baseline="-25000">
        <a:solidFill>
          <a:schemeClr val="tx1"/>
        </a:solidFill>
        <a:latin typeface="Arial" pitchFamily="34" charset="0"/>
        <a:ea typeface="宋体" pitchFamily="2" charset="-122"/>
        <a:cs typeface="+mn-cs"/>
      </a:defRPr>
    </a:lvl8pPr>
    <a:lvl9pPr marL="3657600" algn="l" defTabSz="914400" rtl="0" eaLnBrk="1" latinLnBrk="0" hangingPunct="1">
      <a:defRPr sz="2400" kern="1200" baseline="-250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00000"/>
    <a:srgbClr val="5F5F5F"/>
    <a:srgbClr val="111F65"/>
    <a:srgbClr val="0033CC"/>
    <a:srgbClr val="E9EDF4"/>
    <a:srgbClr val="333333"/>
    <a:srgbClr val="808080"/>
    <a:srgbClr val="FF3300"/>
    <a:srgbClr val="FF6600"/>
    <a:srgbClr val="EBE2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84" autoAdjust="0"/>
    <p:restoredTop sz="82784" autoAdjust="0"/>
  </p:normalViewPr>
  <p:slideViewPr>
    <p:cSldViewPr snapToGrid="0">
      <p:cViewPr varScale="1">
        <p:scale>
          <a:sx n="85" d="100"/>
          <a:sy n="85" d="100"/>
        </p:scale>
        <p:origin x="90" y="282"/>
      </p:cViewPr>
      <p:guideLst>
        <p:guide orient="horz" pos="2160"/>
        <p:guide pos="2880"/>
      </p:guideLst>
    </p:cSldViewPr>
  </p:slideViewPr>
  <p:outlineViewPr>
    <p:cViewPr>
      <p:scale>
        <a:sx n="33" d="100"/>
        <a:sy n="33" d="100"/>
      </p:scale>
      <p:origin x="0" y="-384"/>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66" d="100"/>
          <a:sy n="66" d="100"/>
        </p:scale>
        <p:origin x="-2382" y="-22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tags" Target="tags/tag1.xml"/><Relationship Id="rId15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baseline="0">
                <a:solidFill>
                  <a:schemeClr val="tx1"/>
                </a:solidFill>
                <a:latin typeface="Arial" panose="020B0604020202020204" pitchFamily="34" charset="0"/>
                <a:ea typeface="+mn-ea"/>
                <a:cs typeface="Arial" panose="020B0604020202020204" pitchFamily="34" charset="0"/>
              </a:defRPr>
            </a:pPr>
            <a:r>
              <a:rPr lang="zh-CN" altLang="en-US" sz="2000" dirty="0">
                <a:latin typeface="+mj-ea"/>
                <a:ea typeface="+mj-ea"/>
              </a:rPr>
              <a:t>项目</a:t>
            </a:r>
            <a:r>
              <a:rPr lang="en-US" sz="2000" dirty="0">
                <a:latin typeface="+mj-ea"/>
                <a:ea typeface="+mj-ea"/>
              </a:rPr>
              <a:t>API</a:t>
            </a:r>
          </a:p>
        </c:rich>
      </c:tx>
      <c:overlay val="0"/>
      <c:spPr>
        <a:noFill/>
        <a:ln>
          <a:noFill/>
        </a:ln>
        <a:effectLst/>
      </c:spPr>
      <c:txPr>
        <a:bodyPr rot="0" spcFirstLastPara="1" vertOverflow="ellipsis" vert="horz" wrap="square" anchor="ctr" anchorCtr="1"/>
        <a:lstStyle/>
        <a:p>
          <a:pPr>
            <a:defRPr sz="2000" b="1" i="0" u="none" strike="noStrike" kern="1200" baseline="0">
              <a:solidFill>
                <a:schemeClr val="tx1"/>
              </a:solidFill>
              <a:latin typeface="Arial" panose="020B0604020202020204" pitchFamily="34" charset="0"/>
              <a:ea typeface="+mn-ea"/>
              <a:cs typeface="Arial" panose="020B0604020202020204" pitchFamily="34" charset="0"/>
            </a:defRPr>
          </a:pPr>
          <a:endParaRPr lang="zh-CN"/>
        </a:p>
      </c:txPr>
    </c:title>
    <c:autoTitleDeleted val="0"/>
    <c:plotArea>
      <c:layout>
        <c:manualLayout>
          <c:layoutTarget val="inner"/>
          <c:xMode val="edge"/>
          <c:yMode val="edge"/>
          <c:x val="0.306365101471749"/>
          <c:y val="0.35794661137494749"/>
          <c:w val="0.37149014267953345"/>
          <c:h val="0.58127281148679943"/>
        </c:manualLayout>
      </c:layout>
      <c:pieChart>
        <c:varyColors val="1"/>
        <c:ser>
          <c:idx val="0"/>
          <c:order val="0"/>
          <c:tx>
            <c:strRef>
              <c:f>Sheet1!$B$1</c:f>
              <c:strCache>
                <c:ptCount val="1"/>
                <c:pt idx="0">
                  <c:v>APIs from projects</c:v>
                </c:pt>
              </c:strCache>
            </c:strRef>
          </c:tx>
          <c:explosion val="1"/>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1-C0BA-41B2-AFF2-9A40E4B19D22}"/>
              </c:ext>
            </c:extLst>
          </c:dPt>
          <c:dPt>
            <c:idx val="1"/>
            <c:bubble3D val="0"/>
            <c:spPr>
              <a:solidFill>
                <a:srgbClr val="92D050"/>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3-C0BA-41B2-AFF2-9A40E4B19D22}"/>
              </c:ext>
            </c:extLst>
          </c:dPt>
          <c:dLbls>
            <c:dLbl>
              <c:idx val="0"/>
              <c:layout>
                <c:manualLayout>
                  <c:x val="-0.15193446006397268"/>
                  <c:y val="-0.14856937016699279"/>
                </c:manualLayout>
              </c:layout>
              <c:tx>
                <c:rich>
                  <a:bodyPr rot="0" spcFirstLastPara="1" vertOverflow="ellipsis" vert="horz" wrap="square" anchor="ctr" anchorCtr="1"/>
                  <a:lstStyle/>
                  <a:p>
                    <a:pPr>
                      <a:defRPr sz="2000" b="1" i="0" u="none" strike="noStrike" kern="1200" baseline="0">
                        <a:solidFill>
                          <a:schemeClr val="bg1"/>
                        </a:solidFill>
                        <a:latin typeface="Arial" panose="020B0604020202020204" pitchFamily="34" charset="0"/>
                        <a:ea typeface="+mn-ea"/>
                        <a:cs typeface="Arial" panose="020B0604020202020204" pitchFamily="34" charset="0"/>
                      </a:defRPr>
                    </a:pPr>
                    <a:fld id="{98B7E718-B88B-443B-A173-3D9406EF3866}" type="VALUE">
                      <a:rPr lang="en-US" altLang="zh-CN">
                        <a:latin typeface="+mj-ea"/>
                        <a:ea typeface="+mj-ea"/>
                      </a:rPr>
                      <a:pPr>
                        <a:defRPr b="1">
                          <a:solidFill>
                            <a:schemeClr val="bg1"/>
                          </a:solidFill>
                        </a:defRPr>
                      </a:pPr>
                      <a:t>[值]</a:t>
                    </a:fld>
                    <a:endParaRPr lang="zh-CN" altLang="en-US"/>
                  </a:p>
                </c:rich>
              </c:tx>
              <c:spPr>
                <a:noFill/>
                <a:ln>
                  <a:noFill/>
                </a:ln>
                <a:effectLst/>
              </c:spPr>
              <c:txPr>
                <a:bodyPr rot="0" spcFirstLastPara="1" vertOverflow="ellipsis" vert="horz" wrap="square" anchor="ctr" anchorCtr="1"/>
                <a:lstStyle/>
                <a:p>
                  <a:pPr>
                    <a:defRPr sz="2000" b="1" i="0" u="none" strike="noStrike" kern="1200" baseline="0">
                      <a:solidFill>
                        <a:schemeClr val="bg1"/>
                      </a:solidFill>
                      <a:latin typeface="Arial" panose="020B0604020202020204" pitchFamily="34" charset="0"/>
                      <a:ea typeface="+mn-ea"/>
                      <a:cs typeface="Arial" panose="020B0604020202020204" pitchFamily="34" charset="0"/>
                    </a:defRPr>
                  </a:pPr>
                  <a:endParaRPr lang="zh-CN"/>
                </a:p>
              </c:txPr>
              <c:showLegendKey val="0"/>
              <c:showVal val="1"/>
              <c:showCatName val="0"/>
              <c:showSerName val="0"/>
              <c:showPercent val="0"/>
              <c:showBubbleSize val="0"/>
              <c:extLst>
                <c:ext xmlns:c15="http://schemas.microsoft.com/office/drawing/2012/chart" uri="{CE6537A1-D6FC-4f65-9D91-7224C49458BB}">
                  <c15:layout>
                    <c:manualLayout>
                      <c:w val="0.23377510868483017"/>
                      <c:h val="0.22506565168314605"/>
                    </c:manualLayout>
                  </c15:layout>
                  <c15:dlblFieldTable/>
                  <c15:showDataLabelsRange val="0"/>
                </c:ext>
                <c:ext xmlns:c16="http://schemas.microsoft.com/office/drawing/2014/chart" uri="{C3380CC4-5D6E-409C-BE32-E72D297353CC}">
                  <c16:uniqueId val="{00000001-C0BA-41B2-AFF2-9A40E4B19D22}"/>
                </c:ext>
              </c:extLst>
            </c:dLbl>
            <c:dLbl>
              <c:idx val="1"/>
              <c:layout>
                <c:manualLayout>
                  <c:x val="4.7964345259405343E-2"/>
                  <c:y val="8.5124943444253129E-2"/>
                </c:manualLayout>
              </c:layout>
              <c:tx>
                <c:rich>
                  <a:bodyPr/>
                  <a:lstStyle/>
                  <a:p>
                    <a:fld id="{CE72F681-B6B2-4F64-B4D8-43AC6F8DCE5E}" type="VALUE">
                      <a:rPr lang="en-US" altLang="zh-CN">
                        <a:latin typeface="+mj-ea"/>
                        <a:ea typeface="+mj-ea"/>
                      </a:rPr>
                      <a:pPr/>
                      <a:t>[值]</a:t>
                    </a:fld>
                    <a:endParaRPr lang="zh-CN" altLang="en-US"/>
                  </a:p>
                </c:rich>
              </c:tx>
              <c:showLegendKey val="0"/>
              <c:showVal val="1"/>
              <c:showCatName val="0"/>
              <c:showSerName val="0"/>
              <c:showPercent val="0"/>
              <c:showBubbleSize val="0"/>
              <c:extLst>
                <c:ext xmlns:c15="http://schemas.microsoft.com/office/drawing/2012/chart" uri="{CE6537A1-D6FC-4f65-9D91-7224C49458BB}">
                  <c15:layout>
                    <c:manualLayout>
                      <c:w val="0.25129620470526504"/>
                      <c:h val="0.22506565168314605"/>
                    </c:manualLayout>
                  </c15:layout>
                  <c15:dlblFieldTable/>
                  <c15:showDataLabelsRange val="0"/>
                </c:ext>
                <c:ext xmlns:c16="http://schemas.microsoft.com/office/drawing/2014/chart" uri="{C3380CC4-5D6E-409C-BE32-E72D297353CC}">
                  <c16:uniqueId val="{00000003-C0BA-41B2-AFF2-9A40E4B19D22}"/>
                </c:ext>
              </c:extLst>
            </c:dLbl>
            <c:spPr>
              <a:noFill/>
              <a:ln>
                <a:noFill/>
              </a:ln>
              <a:effectLst/>
            </c:spPr>
            <c:txPr>
              <a:bodyPr rot="0" spcFirstLastPara="1" vertOverflow="ellipsis" vert="horz" wrap="square" anchor="ctr" anchorCtr="1"/>
              <a:lstStyle/>
              <a:p>
                <a:pPr>
                  <a:defRPr sz="2000" b="0" i="0" u="none" strike="noStrike" kern="1200" baseline="0">
                    <a:solidFill>
                      <a:schemeClr val="tx1"/>
                    </a:solidFill>
                    <a:latin typeface="Arial" panose="020B0604020202020204" pitchFamily="34" charset="0"/>
                    <a:ea typeface="+mn-ea"/>
                    <a:cs typeface="Arial" panose="020B0604020202020204" pitchFamily="34" charset="0"/>
                  </a:defRPr>
                </a:pPr>
                <a:endParaRPr lang="zh-CN"/>
              </a:p>
            </c:txPr>
            <c:showLegendKey val="0"/>
            <c:showVal val="0"/>
            <c:showCatName val="0"/>
            <c:showSerName val="0"/>
            <c:showPercent val="0"/>
            <c:showBubbleSize val="0"/>
            <c:extLst>
              <c:ext xmlns:c15="http://schemas.microsoft.com/office/drawing/2012/chart" uri="{CE6537A1-D6FC-4f65-9D91-7224C49458BB}"/>
            </c:extLst>
          </c:dLbls>
          <c:cat>
            <c:strRef>
              <c:f>Sheet1!$A$2:$A$3</c:f>
              <c:strCache>
                <c:ptCount val="2"/>
                <c:pt idx="0">
                  <c:v>Covered</c:v>
                </c:pt>
                <c:pt idx="1">
                  <c:v>Uncovered</c:v>
                </c:pt>
              </c:strCache>
            </c:strRef>
          </c:cat>
          <c:val>
            <c:numRef>
              <c:f>Sheet1!$B$2:$B$3</c:f>
              <c:numCache>
                <c:formatCode>0.00%</c:formatCode>
                <c:ptCount val="2"/>
                <c:pt idx="0">
                  <c:v>0.89780000000000004</c:v>
                </c:pt>
                <c:pt idx="1">
                  <c:v>0.1022</c:v>
                </c:pt>
              </c:numCache>
            </c:numRef>
          </c:val>
          <c:extLst>
            <c:ext xmlns:c16="http://schemas.microsoft.com/office/drawing/2014/chart" uri="{C3380CC4-5D6E-409C-BE32-E72D297353CC}">
              <c16:uniqueId val="{00000004-C0BA-41B2-AFF2-9A40E4B19D22}"/>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0"/>
        <c:txPr>
          <a:bodyPr rot="0" spcFirstLastPara="1" vertOverflow="ellipsis" vert="horz" wrap="square" anchor="ctr" anchorCtr="1"/>
          <a:lstStyle/>
          <a:p>
            <a:pPr>
              <a:defRPr sz="2000" b="0" i="0" u="none" strike="noStrike" kern="1200" baseline="0">
                <a:solidFill>
                  <a:schemeClr val="tx1"/>
                </a:solidFill>
                <a:latin typeface="Arial" panose="020B0604020202020204" pitchFamily="34" charset="0"/>
                <a:ea typeface="+mn-ea"/>
                <a:cs typeface="Arial" panose="020B0604020202020204" pitchFamily="34" charset="0"/>
              </a:defRPr>
            </a:pPr>
            <a:endParaRPr lang="zh-CN"/>
          </a:p>
        </c:txPr>
      </c:legendEntry>
      <c:layout>
        <c:manualLayout>
          <c:xMode val="edge"/>
          <c:yMode val="edge"/>
          <c:x val="0.63307168956480775"/>
          <c:y val="0.75009647479123653"/>
          <c:w val="0.36281570066899532"/>
          <c:h val="0.24990365910143592"/>
        </c:manualLayout>
      </c:layout>
      <c:overlay val="0"/>
      <c:spPr>
        <a:noFill/>
        <a:ln>
          <a:noFill/>
        </a:ln>
        <a:effectLst/>
      </c:spPr>
      <c:txPr>
        <a:bodyPr rot="0" spcFirstLastPara="1" vertOverflow="ellipsis" vert="horz" wrap="square" anchor="ctr" anchorCtr="1"/>
        <a:lstStyle/>
        <a:p>
          <a:pPr>
            <a:defRPr sz="2000" b="0" i="0" u="none" strike="noStrike" kern="1200" baseline="0">
              <a:solidFill>
                <a:schemeClr val="tx1"/>
              </a:solidFill>
              <a:latin typeface="Arial" panose="020B0604020202020204" pitchFamily="34" charset="0"/>
              <a:ea typeface="+mn-ea"/>
              <a:cs typeface="Arial" panose="020B0604020202020204" pitchFamily="34" charset="0"/>
            </a:defRPr>
          </a:pPr>
          <a:endParaRPr lang="zh-CN"/>
        </a:p>
      </c:txPr>
    </c:legend>
    <c:plotVisOnly val="1"/>
    <c:dispBlanksAs val="gap"/>
    <c:showDLblsOverMax val="0"/>
  </c:chart>
  <c:spPr>
    <a:noFill/>
    <a:ln>
      <a:noFill/>
    </a:ln>
    <a:effectLst/>
  </c:spPr>
  <c:txPr>
    <a:bodyPr/>
    <a:lstStyle/>
    <a:p>
      <a:pPr>
        <a:defRPr sz="2000">
          <a:solidFill>
            <a:schemeClr val="tx1"/>
          </a:solidFill>
          <a:latin typeface="Arial" panose="020B0604020202020204" pitchFamily="34" charset="0"/>
          <a:cs typeface="Arial" panose="020B0604020202020204" pitchFamily="34" charset="0"/>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1" i="0" u="none" strike="noStrike" kern="1200" baseline="0">
                <a:solidFill>
                  <a:schemeClr val="tx1"/>
                </a:solidFill>
                <a:latin typeface="Arial" panose="020B0604020202020204" pitchFamily="34" charset="0"/>
                <a:ea typeface="+mn-ea"/>
                <a:cs typeface="Arial" panose="020B0604020202020204" pitchFamily="34" charset="0"/>
              </a:defRPr>
            </a:pPr>
            <a:r>
              <a:rPr lang="zh-CN" altLang="en-US" sz="2000" dirty="0">
                <a:latin typeface="+mj-ea"/>
                <a:ea typeface="+mj-ea"/>
              </a:rPr>
              <a:t>利用</a:t>
            </a:r>
            <a:r>
              <a:rPr lang="en-US" sz="2000" dirty="0" err="1">
                <a:latin typeface="+mj-ea"/>
                <a:ea typeface="+mj-ea"/>
              </a:rPr>
              <a:t>TinyLink</a:t>
            </a:r>
            <a:r>
              <a:rPr lang="en-US" sz="2000" dirty="0">
                <a:latin typeface="+mj-ea"/>
                <a:ea typeface="+mj-ea"/>
              </a:rPr>
              <a:t> API</a:t>
            </a:r>
            <a:r>
              <a:rPr lang="zh-CN" altLang="en-US" sz="2000" dirty="0">
                <a:latin typeface="+mj-ea"/>
                <a:ea typeface="+mj-ea"/>
              </a:rPr>
              <a:t>实现的项目</a:t>
            </a:r>
            <a:endParaRPr lang="en-US" sz="2000" dirty="0">
              <a:latin typeface="+mj-ea"/>
              <a:ea typeface="+mj-ea"/>
            </a:endParaRPr>
          </a:p>
        </c:rich>
      </c:tx>
      <c:overlay val="0"/>
      <c:spPr>
        <a:noFill/>
        <a:ln>
          <a:noFill/>
        </a:ln>
        <a:effectLst/>
      </c:spPr>
      <c:txPr>
        <a:bodyPr rot="0" spcFirstLastPara="1" vertOverflow="ellipsis" vert="horz" wrap="square" anchor="ctr" anchorCtr="1"/>
        <a:lstStyle/>
        <a:p>
          <a:pPr>
            <a:defRPr sz="2400" b="1" i="0" u="none" strike="noStrike" kern="1200" baseline="0">
              <a:solidFill>
                <a:schemeClr val="tx1"/>
              </a:solidFill>
              <a:latin typeface="Arial" panose="020B0604020202020204" pitchFamily="34" charset="0"/>
              <a:ea typeface="+mn-ea"/>
              <a:cs typeface="Arial" panose="020B0604020202020204" pitchFamily="34" charset="0"/>
            </a:defRPr>
          </a:pPr>
          <a:endParaRPr lang="zh-CN"/>
        </a:p>
      </c:txPr>
    </c:title>
    <c:autoTitleDeleted val="0"/>
    <c:plotArea>
      <c:layout>
        <c:manualLayout>
          <c:layoutTarget val="inner"/>
          <c:xMode val="edge"/>
          <c:yMode val="edge"/>
          <c:x val="0.32313604956216574"/>
          <c:y val="0.32636526812123229"/>
          <c:w val="0.30705880963613591"/>
          <c:h val="0.50110717499701929"/>
        </c:manualLayout>
      </c:layout>
      <c:pieChart>
        <c:varyColors val="1"/>
        <c:ser>
          <c:idx val="0"/>
          <c:order val="0"/>
          <c:tx>
            <c:strRef>
              <c:f>Sheet1!$B$1</c:f>
              <c:strCache>
                <c:ptCount val="1"/>
                <c:pt idx="0">
                  <c:v>Projects </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1-B0AA-423F-82B1-14B459CB3216}"/>
              </c:ext>
            </c:extLst>
          </c:dPt>
          <c:dPt>
            <c:idx val="1"/>
            <c:bubble3D val="0"/>
            <c:spPr>
              <a:solidFill>
                <a:srgbClr val="92D050"/>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3-B0AA-423F-82B1-14B459CB3216}"/>
              </c:ext>
            </c:extLst>
          </c:dPt>
          <c:dLbls>
            <c:dLbl>
              <c:idx val="0"/>
              <c:layout>
                <c:manualLayout>
                  <c:x val="-0.23724752400337148"/>
                  <c:y val="-0.11913000445875173"/>
                </c:manualLayout>
              </c:layout>
              <c:tx>
                <c:rich>
                  <a:bodyPr rot="0" spcFirstLastPara="1" vertOverflow="ellipsis" vert="horz" wrap="square" anchor="ctr" anchorCtr="1"/>
                  <a:lstStyle/>
                  <a:p>
                    <a:pPr>
                      <a:defRPr sz="2000" b="1" i="0" u="none" strike="noStrike" kern="1200" baseline="0">
                        <a:solidFill>
                          <a:schemeClr val="bg1"/>
                        </a:solidFill>
                        <a:latin typeface="Arial" panose="020B0604020202020204" pitchFamily="34" charset="0"/>
                        <a:ea typeface="+mn-ea"/>
                        <a:cs typeface="Arial" panose="020B0604020202020204" pitchFamily="34" charset="0"/>
                      </a:defRPr>
                    </a:pPr>
                    <a:fld id="{A3FB57AE-7B3A-4D3F-8361-70FD0D0943C5}" type="VALUE">
                      <a:rPr lang="en-US" altLang="zh-CN" sz="2000" b="1" smtClean="0">
                        <a:solidFill>
                          <a:schemeClr val="bg1"/>
                        </a:solidFill>
                        <a:latin typeface="+mj-ea"/>
                        <a:ea typeface="+mj-ea"/>
                      </a:rPr>
                      <a:pPr>
                        <a:defRPr b="1">
                          <a:solidFill>
                            <a:schemeClr val="bg1"/>
                          </a:solidFill>
                        </a:defRPr>
                      </a:pPr>
                      <a:t>[值]</a:t>
                    </a:fld>
                    <a:r>
                      <a:rPr lang="en-US" sz="2000" b="1" dirty="0">
                        <a:solidFill>
                          <a:schemeClr val="bg1"/>
                        </a:solidFill>
                        <a:latin typeface="+mj-ea"/>
                        <a:ea typeface="+mj-ea"/>
                      </a:rPr>
                      <a:t>%</a:t>
                    </a:r>
                  </a:p>
                </c:rich>
              </c:tx>
              <c:spPr>
                <a:noFill/>
                <a:ln>
                  <a:noFill/>
                </a:ln>
                <a:effectLst/>
              </c:spPr>
              <c:txPr>
                <a:bodyPr rot="0" spcFirstLastPara="1" vertOverflow="ellipsis" vert="horz" wrap="square" anchor="ctr" anchorCtr="1"/>
                <a:lstStyle/>
                <a:p>
                  <a:pPr>
                    <a:defRPr sz="2000" b="1" i="0" u="none" strike="noStrike" kern="1200" baseline="0">
                      <a:solidFill>
                        <a:schemeClr val="bg1"/>
                      </a:solidFill>
                      <a:latin typeface="Arial" panose="020B0604020202020204" pitchFamily="34" charset="0"/>
                      <a:ea typeface="+mn-ea"/>
                      <a:cs typeface="Arial" panose="020B0604020202020204" pitchFamily="34" charset="0"/>
                    </a:defRPr>
                  </a:pPr>
                  <a:endParaRPr lang="zh-CN"/>
                </a:p>
              </c:txPr>
              <c:showLegendKey val="0"/>
              <c:showVal val="1"/>
              <c:showCatName val="0"/>
              <c:showSerName val="0"/>
              <c:showPercent val="0"/>
              <c:showBubbleSize val="0"/>
              <c:extLst>
                <c:ext xmlns:c15="http://schemas.microsoft.com/office/drawing/2012/chart" uri="{CE6537A1-D6FC-4f65-9D91-7224C49458BB}">
                  <c15:layout>
                    <c:manualLayout>
                      <c:w val="0.23654577228617138"/>
                      <c:h val="0.29715244194231716"/>
                    </c:manualLayout>
                  </c15:layout>
                  <c15:dlblFieldTable/>
                  <c15:showDataLabelsRange val="0"/>
                </c:ext>
                <c:ext xmlns:c16="http://schemas.microsoft.com/office/drawing/2014/chart" uri="{C3380CC4-5D6E-409C-BE32-E72D297353CC}">
                  <c16:uniqueId val="{00000001-B0AA-423F-82B1-14B459CB3216}"/>
                </c:ext>
              </c:extLst>
            </c:dLbl>
            <c:dLbl>
              <c:idx val="1"/>
              <c:layout>
                <c:manualLayout>
                  <c:x val="6.1131161319029022E-2"/>
                  <c:y val="-6.0861796664592446E-2"/>
                </c:manualLayout>
              </c:layout>
              <c:tx>
                <c:rich>
                  <a:bodyPr/>
                  <a:lstStyle/>
                  <a:p>
                    <a:fld id="{13D5D8E1-5A49-48AD-8397-E014673ED379}" type="VALUE">
                      <a:rPr lang="en-US" altLang="zh-CN" smtClean="0">
                        <a:latin typeface="+mj-ea"/>
                        <a:ea typeface="+mj-ea"/>
                      </a:rPr>
                      <a:pPr/>
                      <a:t>[值]</a:t>
                    </a:fld>
                    <a:r>
                      <a:rPr lang="en-US" dirty="0">
                        <a:latin typeface="+mj-ea"/>
                        <a:ea typeface="+mj-ea"/>
                      </a:rPr>
                      <a:t>%</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B0AA-423F-82B1-14B459CB3216}"/>
                </c:ext>
              </c:extLst>
            </c:dLbl>
            <c:spPr>
              <a:noFill/>
              <a:ln>
                <a:noFill/>
              </a:ln>
              <a:effectLst/>
            </c:spPr>
            <c:txPr>
              <a:bodyPr rot="0" spcFirstLastPara="1" vertOverflow="ellipsis" vert="horz" wrap="square" anchor="ctr" anchorCtr="1"/>
              <a:lstStyle/>
              <a:p>
                <a:pPr>
                  <a:defRPr sz="2000" b="0" i="0" u="none" strike="noStrike" kern="1200" baseline="0">
                    <a:solidFill>
                      <a:schemeClr val="tx1"/>
                    </a:solidFill>
                    <a:latin typeface="Arial" panose="020B0604020202020204" pitchFamily="34" charset="0"/>
                    <a:ea typeface="+mn-ea"/>
                    <a:cs typeface="Arial" panose="020B0604020202020204" pitchFamily="34" charset="0"/>
                  </a:defRPr>
                </a:pPr>
                <a:endParaRPr lang="zh-CN"/>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Supported</c:v>
                </c:pt>
                <c:pt idx="1">
                  <c:v>Unsupported</c:v>
                </c:pt>
              </c:strCache>
            </c:strRef>
          </c:cat>
          <c:val>
            <c:numRef>
              <c:f>Sheet1!$B$2:$B$3</c:f>
              <c:numCache>
                <c:formatCode>General</c:formatCode>
                <c:ptCount val="2"/>
                <c:pt idx="0">
                  <c:v>67.239999999999995</c:v>
                </c:pt>
                <c:pt idx="1">
                  <c:v>32.76</c:v>
                </c:pt>
              </c:numCache>
            </c:numRef>
          </c:val>
          <c:extLst>
            <c:ext xmlns:c16="http://schemas.microsoft.com/office/drawing/2014/chart" uri="{C3380CC4-5D6E-409C-BE32-E72D297353CC}">
              <c16:uniqueId val="{00000004-B0AA-423F-82B1-14B459CB3216}"/>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0.61162405883505611"/>
          <c:y val="0.6394120980794703"/>
          <c:w val="0.38474883323750725"/>
          <c:h val="0.22251684704378324"/>
        </c:manualLayout>
      </c:layout>
      <c:overlay val="0"/>
      <c:spPr>
        <a:noFill/>
        <a:ln>
          <a:noFill/>
        </a:ln>
        <a:effectLst/>
      </c:spPr>
      <c:txPr>
        <a:bodyPr rot="0" spcFirstLastPara="1" vertOverflow="ellipsis" vert="horz" wrap="square" anchor="ctr" anchorCtr="1"/>
        <a:lstStyle/>
        <a:p>
          <a:pPr>
            <a:defRPr sz="2000" b="0" i="0" u="none" strike="noStrike" kern="1200" baseline="0">
              <a:solidFill>
                <a:schemeClr val="tx1"/>
              </a:solidFill>
              <a:latin typeface="Arial" panose="020B0604020202020204" pitchFamily="34" charset="0"/>
              <a:ea typeface="+mn-ea"/>
              <a:cs typeface="Arial" panose="020B0604020202020204" pitchFamily="34" charset="0"/>
            </a:defRPr>
          </a:pPr>
          <a:endParaRPr lang="zh-CN"/>
        </a:p>
      </c:txPr>
    </c:legend>
    <c:plotVisOnly val="1"/>
    <c:dispBlanksAs val="gap"/>
    <c:showDLblsOverMax val="0"/>
  </c:chart>
  <c:spPr>
    <a:noFill/>
    <a:ln>
      <a:noFill/>
    </a:ln>
    <a:effectLst/>
  </c:spPr>
  <c:txPr>
    <a:bodyPr/>
    <a:lstStyle/>
    <a:p>
      <a:pPr>
        <a:defRPr sz="2000">
          <a:solidFill>
            <a:schemeClr val="tx1"/>
          </a:solidFill>
          <a:latin typeface="Arial" panose="020B0604020202020204" pitchFamily="34" charset="0"/>
          <a:cs typeface="Arial" panose="020B0604020202020204" pitchFamily="34" charset="0"/>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75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SzTx/>
              <a:defRPr sz="1200" baseline="0">
                <a:effectLst/>
                <a:latin typeface="Times New Roman" pitchFamily="18" charset="0"/>
                <a:ea typeface="+mn-ea"/>
              </a:defRPr>
            </a:lvl1pPr>
          </a:lstStyle>
          <a:p>
            <a:pPr>
              <a:defRPr/>
            </a:pPr>
            <a:endParaRPr lang="en-US" altLang="zh-CN"/>
          </a:p>
        </p:txBody>
      </p:sp>
      <p:sp>
        <p:nvSpPr>
          <p:cNvPr id="57753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defRPr sz="1200" baseline="0">
                <a:effectLst/>
                <a:latin typeface="Times New Roman" pitchFamily="18" charset="0"/>
                <a:ea typeface="+mn-ea"/>
              </a:defRPr>
            </a:lvl1pPr>
          </a:lstStyle>
          <a:p>
            <a:pPr>
              <a:defRPr/>
            </a:pPr>
            <a:endParaRPr lang="en-US" altLang="zh-CN"/>
          </a:p>
        </p:txBody>
      </p:sp>
      <p:sp>
        <p:nvSpPr>
          <p:cNvPr id="57754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buClrTx/>
              <a:buSzTx/>
              <a:defRPr sz="1200" baseline="0">
                <a:effectLst/>
                <a:latin typeface="Times New Roman" pitchFamily="18" charset="0"/>
                <a:ea typeface="+mn-ea"/>
              </a:defRPr>
            </a:lvl1pPr>
          </a:lstStyle>
          <a:p>
            <a:pPr>
              <a:defRPr/>
            </a:pPr>
            <a:endParaRPr lang="en-US" altLang="zh-CN"/>
          </a:p>
        </p:txBody>
      </p:sp>
      <p:sp>
        <p:nvSpPr>
          <p:cNvPr id="57754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defRPr sz="1200" baseline="0">
                <a:effectLst/>
                <a:latin typeface="Times New Roman" pitchFamily="18" charset="0"/>
                <a:ea typeface="+mn-ea"/>
              </a:defRPr>
            </a:lvl1pPr>
          </a:lstStyle>
          <a:p>
            <a:pPr>
              <a:defRPr/>
            </a:pPr>
            <a:fld id="{B6987093-2FA2-4B3E-A303-E109B2C659C7}" type="slidenum">
              <a:rPr lang="zh-CN" altLang="en-US"/>
              <a:pPr>
                <a:defRPr/>
              </a:pPr>
              <a:t>‹#›</a:t>
            </a:fld>
            <a:endParaRPr lang="en-US" altLang="zh-CN"/>
          </a:p>
        </p:txBody>
      </p:sp>
    </p:spTree>
    <p:extLst>
      <p:ext uri="{BB962C8B-B14F-4D97-AF65-F5344CB8AC3E}">
        <p14:creationId xmlns:p14="http://schemas.microsoft.com/office/powerpoint/2010/main" val="590766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SzTx/>
              <a:defRPr sz="1200" baseline="0">
                <a:effectLst/>
                <a:latin typeface="Times New Roman" pitchFamily="18" charset="0"/>
                <a:ea typeface="+mn-ea"/>
              </a:defRPr>
            </a:lvl1pPr>
          </a:lstStyle>
          <a:p>
            <a:pPr>
              <a:defRPr/>
            </a:pPr>
            <a:endParaRPr lang="en-US" altLang="zh-CN"/>
          </a:p>
        </p:txBody>
      </p:sp>
      <p:sp>
        <p:nvSpPr>
          <p:cNvPr id="686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defRPr sz="1200" baseline="0">
                <a:effectLst/>
                <a:latin typeface="Times New Roman" pitchFamily="18" charset="0"/>
                <a:ea typeface="+mn-ea"/>
              </a:defRPr>
            </a:lvl1pPr>
          </a:lstStyle>
          <a:p>
            <a:pPr>
              <a:defRPr/>
            </a:pPr>
            <a:endParaRPr lang="en-US" altLang="zh-CN"/>
          </a:p>
        </p:txBody>
      </p:sp>
      <p:sp>
        <p:nvSpPr>
          <p:cNvPr id="829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686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buClrTx/>
              <a:buSzTx/>
              <a:defRPr sz="1200" baseline="0">
                <a:effectLst/>
                <a:latin typeface="Times New Roman" pitchFamily="18" charset="0"/>
                <a:ea typeface="+mn-ea"/>
              </a:defRPr>
            </a:lvl1pPr>
          </a:lstStyle>
          <a:p>
            <a:pPr>
              <a:defRPr/>
            </a:pPr>
            <a:endParaRPr lang="en-US" altLang="zh-CN"/>
          </a:p>
        </p:txBody>
      </p:sp>
      <p:sp>
        <p:nvSpPr>
          <p:cNvPr id="686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defRPr sz="1200" baseline="0">
                <a:effectLst/>
                <a:latin typeface="Times New Roman" pitchFamily="18" charset="0"/>
                <a:ea typeface="+mn-ea"/>
              </a:defRPr>
            </a:lvl1pPr>
          </a:lstStyle>
          <a:p>
            <a:pPr>
              <a:defRPr/>
            </a:pPr>
            <a:fld id="{C163974F-E2FC-4919-A1F7-1DAB2B1EEBC0}" type="slidenum">
              <a:rPr lang="zh-CN" altLang="en-US"/>
              <a:pPr>
                <a:defRPr/>
              </a:pPr>
              <a:t>‹#›</a:t>
            </a:fld>
            <a:endParaRPr lang="en-US" altLang="zh-CN"/>
          </a:p>
        </p:txBody>
      </p:sp>
    </p:spTree>
    <p:extLst>
      <p:ext uri="{BB962C8B-B14F-4D97-AF65-F5344CB8AC3E}">
        <p14:creationId xmlns:p14="http://schemas.microsoft.com/office/powerpoint/2010/main" val="9233081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p:txBody>
          <a:bodyPr/>
          <a:lstStyle>
            <a:lvl1pPr algn="ctr" eaLnBrk="0" hangingPunct="0">
              <a:spcBef>
                <a:spcPct val="50000"/>
              </a:spcBef>
              <a:buClr>
                <a:schemeClr val="bg1"/>
              </a:buClr>
              <a:buSzPct val="100000"/>
              <a:defRPr sz="2400" baseline="-25000">
                <a:solidFill>
                  <a:schemeClr val="tx1"/>
                </a:solidFill>
                <a:latin typeface="Arial" charset="0"/>
              </a:defRPr>
            </a:lvl1pPr>
            <a:lvl2pPr marL="742950" indent="-285750" algn="ctr" eaLnBrk="0" hangingPunct="0">
              <a:spcBef>
                <a:spcPct val="50000"/>
              </a:spcBef>
              <a:buClr>
                <a:schemeClr val="bg1"/>
              </a:buClr>
              <a:buSzPct val="100000"/>
              <a:defRPr sz="2400" baseline="-25000">
                <a:solidFill>
                  <a:schemeClr val="tx1"/>
                </a:solidFill>
                <a:latin typeface="Arial" charset="0"/>
              </a:defRPr>
            </a:lvl2pPr>
            <a:lvl3pPr marL="1143000" indent="-228600" algn="ctr" eaLnBrk="0" hangingPunct="0">
              <a:spcBef>
                <a:spcPct val="50000"/>
              </a:spcBef>
              <a:buClr>
                <a:schemeClr val="bg1"/>
              </a:buClr>
              <a:buSzPct val="100000"/>
              <a:defRPr sz="2400" baseline="-25000">
                <a:solidFill>
                  <a:schemeClr val="tx1"/>
                </a:solidFill>
                <a:latin typeface="Arial" charset="0"/>
              </a:defRPr>
            </a:lvl3pPr>
            <a:lvl4pPr marL="1600200" indent="-228600" algn="ctr" eaLnBrk="0" hangingPunct="0">
              <a:spcBef>
                <a:spcPct val="50000"/>
              </a:spcBef>
              <a:buClr>
                <a:schemeClr val="bg1"/>
              </a:buClr>
              <a:buSzPct val="100000"/>
              <a:defRPr sz="2400" baseline="-25000">
                <a:solidFill>
                  <a:schemeClr val="tx1"/>
                </a:solidFill>
                <a:latin typeface="Arial" charset="0"/>
              </a:defRPr>
            </a:lvl4pPr>
            <a:lvl5pPr marL="2057400" indent="-228600" algn="ctr" eaLnBrk="0" hangingPunct="0">
              <a:spcBef>
                <a:spcPct val="50000"/>
              </a:spcBef>
              <a:buClr>
                <a:schemeClr val="bg1"/>
              </a:buClr>
              <a:buSzPct val="100000"/>
              <a:defRPr sz="2400" baseline="-25000">
                <a:solidFill>
                  <a:schemeClr val="tx1"/>
                </a:solidFill>
                <a:latin typeface="Arial" charset="0"/>
              </a:defRPr>
            </a:lvl5pPr>
            <a:lvl6pPr marL="25146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6pPr>
            <a:lvl7pPr marL="29718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7pPr>
            <a:lvl8pPr marL="34290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8pPr>
            <a:lvl9pPr marL="38862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9pPr>
          </a:lstStyle>
          <a:p>
            <a:pPr algn="r" eaLnBrk="1" hangingPunct="1">
              <a:spcBef>
                <a:spcPct val="0"/>
              </a:spcBef>
              <a:buClrTx/>
              <a:buSzTx/>
              <a:defRPr/>
            </a:pPr>
            <a:fld id="{7ED47AB2-00CE-41E6-9820-72042BB36AE6}" type="slidenum">
              <a:rPr lang="zh-CN" altLang="en-US" sz="1200" baseline="0" smtClean="0">
                <a:solidFill>
                  <a:srgbClr val="000000"/>
                </a:solidFill>
                <a:latin typeface="Times New Roman" pitchFamily="18" charset="0"/>
              </a:rPr>
              <a:pPr algn="r" eaLnBrk="1" hangingPunct="1">
                <a:spcBef>
                  <a:spcPct val="0"/>
                </a:spcBef>
                <a:buClrTx/>
                <a:buSzTx/>
                <a:defRPr/>
              </a:pPr>
              <a:t>1</a:t>
            </a:fld>
            <a:endParaRPr lang="en-US" altLang="zh-CN" sz="1200" baseline="0" dirty="0">
              <a:solidFill>
                <a:srgbClr val="000000"/>
              </a:solidFill>
              <a:latin typeface="Times New Roman" pitchFamily="18"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latin typeface="Arial" pitchFamily="34" charset="0"/>
            </a:endParaRPr>
          </a:p>
        </p:txBody>
      </p:sp>
    </p:spTree>
    <p:extLst>
      <p:ext uri="{BB962C8B-B14F-4D97-AF65-F5344CB8AC3E}">
        <p14:creationId xmlns:p14="http://schemas.microsoft.com/office/powerpoint/2010/main" val="3614682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zh</a:t>
            </a:r>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3</a:t>
            </a:fld>
            <a:endParaRPr lang="en-US" altLang="zh-CN">
              <a:solidFill>
                <a:srgbClr val="000000"/>
              </a:solidFill>
            </a:endParaRPr>
          </a:p>
        </p:txBody>
      </p:sp>
    </p:spTree>
    <p:extLst>
      <p:ext uri="{BB962C8B-B14F-4D97-AF65-F5344CB8AC3E}">
        <p14:creationId xmlns:p14="http://schemas.microsoft.com/office/powerpoint/2010/main" val="794588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4</a:t>
            </a:fld>
            <a:endParaRPr lang="en-US" altLang="zh-CN">
              <a:solidFill>
                <a:srgbClr val="000000"/>
              </a:solidFill>
            </a:endParaRPr>
          </a:p>
        </p:txBody>
      </p:sp>
    </p:spTree>
    <p:extLst>
      <p:ext uri="{BB962C8B-B14F-4D97-AF65-F5344CB8AC3E}">
        <p14:creationId xmlns:p14="http://schemas.microsoft.com/office/powerpoint/2010/main" val="537541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5</a:t>
            </a:fld>
            <a:endParaRPr lang="en-US" altLang="zh-CN">
              <a:solidFill>
                <a:srgbClr val="000000"/>
              </a:solidFill>
            </a:endParaRPr>
          </a:p>
        </p:txBody>
      </p:sp>
    </p:spTree>
    <p:extLst>
      <p:ext uri="{BB962C8B-B14F-4D97-AF65-F5344CB8AC3E}">
        <p14:creationId xmlns:p14="http://schemas.microsoft.com/office/powerpoint/2010/main" val="499006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6</a:t>
            </a:fld>
            <a:endParaRPr lang="en-US" altLang="zh-CN">
              <a:solidFill>
                <a:srgbClr val="000000"/>
              </a:solidFill>
            </a:endParaRPr>
          </a:p>
        </p:txBody>
      </p:sp>
    </p:spTree>
    <p:extLst>
      <p:ext uri="{BB962C8B-B14F-4D97-AF65-F5344CB8AC3E}">
        <p14:creationId xmlns:p14="http://schemas.microsoft.com/office/powerpoint/2010/main" val="21220197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7</a:t>
            </a:fld>
            <a:endParaRPr lang="en-US" altLang="zh-CN">
              <a:solidFill>
                <a:srgbClr val="000000"/>
              </a:solidFill>
            </a:endParaRPr>
          </a:p>
        </p:txBody>
      </p:sp>
    </p:spTree>
    <p:extLst>
      <p:ext uri="{BB962C8B-B14F-4D97-AF65-F5344CB8AC3E}">
        <p14:creationId xmlns:p14="http://schemas.microsoft.com/office/powerpoint/2010/main" val="1540521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err="1"/>
              <a:t>zh</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8</a:t>
            </a:fld>
            <a:endParaRPr lang="en-US" altLang="zh-CN">
              <a:solidFill>
                <a:srgbClr val="000000"/>
              </a:solidFill>
            </a:endParaRPr>
          </a:p>
        </p:txBody>
      </p:sp>
    </p:spTree>
    <p:extLst>
      <p:ext uri="{BB962C8B-B14F-4D97-AF65-F5344CB8AC3E}">
        <p14:creationId xmlns:p14="http://schemas.microsoft.com/office/powerpoint/2010/main" val="3455986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zh</a:t>
            </a:r>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9</a:t>
            </a:fld>
            <a:endParaRPr lang="en-US" altLang="zh-CN">
              <a:solidFill>
                <a:srgbClr val="000000"/>
              </a:solidFill>
            </a:endParaRPr>
          </a:p>
        </p:txBody>
      </p:sp>
    </p:spTree>
    <p:extLst>
      <p:ext uri="{BB962C8B-B14F-4D97-AF65-F5344CB8AC3E}">
        <p14:creationId xmlns:p14="http://schemas.microsoft.com/office/powerpoint/2010/main" val="7272148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支持设备端、云端服务、</a:t>
            </a:r>
            <a:r>
              <a:rPr lang="en-US" altLang="zh-CN" dirty="0"/>
              <a:t>web</a:t>
            </a:r>
            <a:r>
              <a:rPr lang="zh-CN" altLang="en-US" dirty="0"/>
              <a:t>应用</a:t>
            </a:r>
            <a:r>
              <a:rPr lang="en-US" altLang="zh-CN" dirty="0"/>
              <a:t>/</a:t>
            </a:r>
            <a:r>
              <a:rPr lang="zh-CN" altLang="en-US" dirty="0"/>
              <a:t>移动应用</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10</a:t>
            </a:fld>
            <a:endParaRPr lang="en-US" altLang="zh-CN">
              <a:solidFill>
                <a:srgbClr val="000000"/>
              </a:solidFill>
            </a:endParaRPr>
          </a:p>
        </p:txBody>
      </p:sp>
    </p:spTree>
    <p:extLst>
      <p:ext uri="{BB962C8B-B14F-4D97-AF65-F5344CB8AC3E}">
        <p14:creationId xmlns:p14="http://schemas.microsoft.com/office/powerpoint/2010/main" val="30300856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11</a:t>
            </a:fld>
            <a:endParaRPr lang="en-US" altLang="zh-CN">
              <a:solidFill>
                <a:srgbClr val="000000"/>
              </a:solidFill>
            </a:endParaRPr>
          </a:p>
        </p:txBody>
      </p:sp>
    </p:spTree>
    <p:extLst>
      <p:ext uri="{BB962C8B-B14F-4D97-AF65-F5344CB8AC3E}">
        <p14:creationId xmlns:p14="http://schemas.microsoft.com/office/powerpoint/2010/main" val="37966615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zh</a:t>
            </a:r>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12</a:t>
            </a:fld>
            <a:endParaRPr lang="en-US" altLang="zh-CN">
              <a:solidFill>
                <a:srgbClr val="000000"/>
              </a:solidFill>
            </a:endParaRPr>
          </a:p>
        </p:txBody>
      </p:sp>
    </p:spTree>
    <p:extLst>
      <p:ext uri="{BB962C8B-B14F-4D97-AF65-F5344CB8AC3E}">
        <p14:creationId xmlns:p14="http://schemas.microsoft.com/office/powerpoint/2010/main" val="27031253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13</a:t>
            </a:fld>
            <a:endParaRPr lang="en-US" altLang="zh-CN">
              <a:solidFill>
                <a:srgbClr val="000000"/>
              </a:solidFill>
            </a:endParaRPr>
          </a:p>
        </p:txBody>
      </p:sp>
    </p:spTree>
    <p:extLst>
      <p:ext uri="{BB962C8B-B14F-4D97-AF65-F5344CB8AC3E}">
        <p14:creationId xmlns:p14="http://schemas.microsoft.com/office/powerpoint/2010/main" val="5851633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14</a:t>
            </a:fld>
            <a:endParaRPr lang="en-US" altLang="zh-CN">
              <a:solidFill>
                <a:srgbClr val="000000"/>
              </a:solidFill>
            </a:endParaRPr>
          </a:p>
        </p:txBody>
      </p:sp>
    </p:spTree>
    <p:extLst>
      <p:ext uri="{BB962C8B-B14F-4D97-AF65-F5344CB8AC3E}">
        <p14:creationId xmlns:p14="http://schemas.microsoft.com/office/powerpoint/2010/main" val="12930100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Link Develop</a:t>
            </a:r>
            <a:r>
              <a:rPr lang="zh-CN" altLang="en-US" dirty="0"/>
              <a:t>的在线</a:t>
            </a:r>
            <a:r>
              <a:rPr lang="en-US" altLang="zh-CN" dirty="0"/>
              <a:t>JavaScript</a:t>
            </a:r>
            <a:r>
              <a:rPr lang="zh-CN" altLang="en-US" dirty="0"/>
              <a:t>开发工作台包含了</a:t>
            </a:r>
            <a:r>
              <a:rPr lang="en-US" altLang="zh-CN" dirty="0"/>
              <a:t>3</a:t>
            </a:r>
            <a:r>
              <a:rPr lang="zh-CN" altLang="en-US" dirty="0"/>
              <a:t>部分，一个是运行在网页上的应用开发工作台，一个是运行在调试主机的设备代理，一个是运行在设备上的</a:t>
            </a:r>
            <a:r>
              <a:rPr lang="en-US" altLang="zh-CN" dirty="0" err="1"/>
              <a:t>TinyLink</a:t>
            </a:r>
            <a:r>
              <a:rPr lang="en-US" altLang="zh-CN" dirty="0"/>
              <a:t> </a:t>
            </a:r>
            <a:r>
              <a:rPr lang="zh-CN" altLang="en-US" dirty="0"/>
              <a:t>运行环境（</a:t>
            </a:r>
            <a:r>
              <a:rPr lang="en-US" altLang="zh-CN" dirty="0"/>
              <a:t>JavaScript</a:t>
            </a:r>
            <a:r>
              <a:rPr lang="zh-CN" altLang="en-US" dirty="0"/>
              <a:t>）</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15</a:t>
            </a:fld>
            <a:endParaRPr lang="en-US" altLang="zh-CN">
              <a:solidFill>
                <a:srgbClr val="000000"/>
              </a:solidFill>
            </a:endParaRPr>
          </a:p>
        </p:txBody>
      </p:sp>
    </p:spTree>
    <p:extLst>
      <p:ext uri="{BB962C8B-B14F-4D97-AF65-F5344CB8AC3E}">
        <p14:creationId xmlns:p14="http://schemas.microsoft.com/office/powerpoint/2010/main" val="8485770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支持设备端、云端服务、</a:t>
            </a:r>
            <a:r>
              <a:rPr lang="en-US" altLang="zh-CN" dirty="0"/>
              <a:t>web</a:t>
            </a:r>
            <a:r>
              <a:rPr lang="zh-CN" altLang="en-US" dirty="0"/>
              <a:t>应用</a:t>
            </a:r>
            <a:r>
              <a:rPr lang="en-US" altLang="zh-CN" dirty="0"/>
              <a:t>/</a:t>
            </a:r>
            <a:r>
              <a:rPr lang="zh-CN" altLang="en-US" dirty="0"/>
              <a:t>移动应用</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17</a:t>
            </a:fld>
            <a:endParaRPr lang="en-US" altLang="zh-CN">
              <a:solidFill>
                <a:srgbClr val="000000"/>
              </a:solidFill>
            </a:endParaRPr>
          </a:p>
        </p:txBody>
      </p:sp>
    </p:spTree>
    <p:extLst>
      <p:ext uri="{BB962C8B-B14F-4D97-AF65-F5344CB8AC3E}">
        <p14:creationId xmlns:p14="http://schemas.microsoft.com/office/powerpoint/2010/main" val="6679533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18</a:t>
            </a:fld>
            <a:endParaRPr lang="en-US" altLang="zh-CN">
              <a:solidFill>
                <a:srgbClr val="000000"/>
              </a:solidFill>
            </a:endParaRPr>
          </a:p>
        </p:txBody>
      </p:sp>
    </p:spTree>
    <p:extLst>
      <p:ext uri="{BB962C8B-B14F-4D97-AF65-F5344CB8AC3E}">
        <p14:creationId xmlns:p14="http://schemas.microsoft.com/office/powerpoint/2010/main" val="2629956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zh</a:t>
            </a:r>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19</a:t>
            </a:fld>
            <a:endParaRPr lang="en-US" altLang="zh-CN"/>
          </a:p>
        </p:txBody>
      </p:sp>
    </p:spTree>
    <p:extLst>
      <p:ext uri="{BB962C8B-B14F-4D97-AF65-F5344CB8AC3E}">
        <p14:creationId xmlns:p14="http://schemas.microsoft.com/office/powerpoint/2010/main" val="5454007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接收信息方式：</a:t>
            </a:r>
            <a:endParaRPr lang="en-US" altLang="zh-CN" dirty="0"/>
          </a:p>
          <a:p>
            <a:r>
              <a:rPr lang="en-US" altLang="zh-CN" dirty="0"/>
              <a:t>1.</a:t>
            </a:r>
            <a:r>
              <a:rPr lang="zh-CN" altLang="en-US" dirty="0"/>
              <a:t>邮箱：信息推送</a:t>
            </a:r>
            <a:endParaRPr lang="en-US" altLang="zh-CN" dirty="0"/>
          </a:p>
          <a:p>
            <a:r>
              <a:rPr lang="en-US" altLang="zh-CN" dirty="0"/>
              <a:t>2.URL</a:t>
            </a:r>
            <a:r>
              <a:rPr lang="zh-CN" altLang="en-US" dirty="0"/>
              <a:t>：数据的进一步处理</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20</a:t>
            </a:fld>
            <a:endParaRPr lang="en-US" altLang="zh-CN">
              <a:solidFill>
                <a:srgbClr val="000000"/>
              </a:solidFill>
            </a:endParaRPr>
          </a:p>
        </p:txBody>
      </p:sp>
    </p:spTree>
    <p:extLst>
      <p:ext uri="{BB962C8B-B14F-4D97-AF65-F5344CB8AC3E}">
        <p14:creationId xmlns:p14="http://schemas.microsoft.com/office/powerpoint/2010/main" val="3768723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21</a:t>
            </a:fld>
            <a:endParaRPr lang="en-US" altLang="zh-CN">
              <a:solidFill>
                <a:srgbClr val="000000"/>
              </a:solidFill>
            </a:endParaRPr>
          </a:p>
        </p:txBody>
      </p:sp>
    </p:spTree>
    <p:extLst>
      <p:ext uri="{BB962C8B-B14F-4D97-AF65-F5344CB8AC3E}">
        <p14:creationId xmlns:p14="http://schemas.microsoft.com/office/powerpoint/2010/main" val="25974988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先判断哪一个节点？因为判断是否有人这个条件计算更复杂，所以，先判断电灯是否打开条件</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22</a:t>
            </a:fld>
            <a:endParaRPr lang="en-US" altLang="zh-CN">
              <a:solidFill>
                <a:srgbClr val="000000"/>
              </a:solidFill>
            </a:endParaRPr>
          </a:p>
        </p:txBody>
      </p:sp>
    </p:spTree>
    <p:extLst>
      <p:ext uri="{BB962C8B-B14F-4D97-AF65-F5344CB8AC3E}">
        <p14:creationId xmlns:p14="http://schemas.microsoft.com/office/powerpoint/2010/main" val="26592346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支持设备端、云端服务、</a:t>
            </a:r>
            <a:r>
              <a:rPr lang="en-US" altLang="zh-CN" dirty="0"/>
              <a:t>web</a:t>
            </a:r>
            <a:r>
              <a:rPr lang="zh-CN" altLang="en-US" dirty="0"/>
              <a:t>应用</a:t>
            </a:r>
            <a:r>
              <a:rPr lang="en-US" altLang="zh-CN" dirty="0"/>
              <a:t>/</a:t>
            </a:r>
            <a:r>
              <a:rPr lang="zh-CN" altLang="en-US" dirty="0"/>
              <a:t>移动应用</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24</a:t>
            </a:fld>
            <a:endParaRPr lang="en-US" altLang="zh-CN">
              <a:solidFill>
                <a:srgbClr val="000000"/>
              </a:solidFill>
            </a:endParaRPr>
          </a:p>
        </p:txBody>
      </p:sp>
    </p:spTree>
    <p:extLst>
      <p:ext uri="{BB962C8B-B14F-4D97-AF65-F5344CB8AC3E}">
        <p14:creationId xmlns:p14="http://schemas.microsoft.com/office/powerpoint/2010/main" val="15726154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物联网应用开发的特点，对应出现了下面</a:t>
            </a:r>
            <a:r>
              <a:rPr lang="en-US" altLang="zh-CN" dirty="0"/>
              <a:t>3</a:t>
            </a:r>
            <a:r>
              <a:rPr lang="zh-CN" altLang="en-US" dirty="0"/>
              <a:t>种开发方式</a:t>
            </a:r>
            <a:endParaRPr lang="en-US" altLang="zh-CN" dirty="0"/>
          </a:p>
          <a:p>
            <a:r>
              <a:rPr lang="zh-CN" altLang="en-US" dirty="0"/>
              <a:t>和设备功能相关</a:t>
            </a:r>
            <a:r>
              <a:rPr lang="en-US" altLang="zh-CN" dirty="0"/>
              <a:t>-&gt;</a:t>
            </a:r>
            <a:r>
              <a:rPr lang="zh-CN" altLang="en-US" dirty="0"/>
              <a:t>自动生成</a:t>
            </a:r>
            <a:endParaRPr lang="en-US" altLang="zh-CN" dirty="0"/>
          </a:p>
          <a:p>
            <a:r>
              <a:rPr lang="zh-CN" altLang="en-US" dirty="0"/>
              <a:t>可重用性高</a:t>
            </a:r>
            <a:r>
              <a:rPr lang="en-US" altLang="zh-CN" dirty="0"/>
              <a:t>-&gt;</a:t>
            </a:r>
            <a:r>
              <a:rPr lang="zh-CN" altLang="en-US" dirty="0"/>
              <a:t>可视化</a:t>
            </a:r>
            <a:r>
              <a:rPr lang="en-US" altLang="zh-CN" dirty="0"/>
              <a:t>+</a:t>
            </a:r>
            <a:r>
              <a:rPr lang="zh-CN" altLang="en-US" dirty="0"/>
              <a:t>基于插件</a:t>
            </a:r>
            <a:endParaRPr lang="en-US" altLang="zh-CN"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25</a:t>
            </a:fld>
            <a:endParaRPr lang="en-US" altLang="zh-CN">
              <a:solidFill>
                <a:srgbClr val="000000"/>
              </a:solidFill>
            </a:endParaRPr>
          </a:p>
        </p:txBody>
      </p:sp>
    </p:spTree>
    <p:extLst>
      <p:ext uri="{BB962C8B-B14F-4D97-AF65-F5344CB8AC3E}">
        <p14:creationId xmlns:p14="http://schemas.microsoft.com/office/powerpoint/2010/main" val="16867109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26</a:t>
            </a:fld>
            <a:endParaRPr lang="en-US" altLang="zh-CN">
              <a:solidFill>
                <a:srgbClr val="000000"/>
              </a:solidFill>
            </a:endParaRPr>
          </a:p>
        </p:txBody>
      </p:sp>
    </p:spTree>
    <p:extLst>
      <p:ext uri="{BB962C8B-B14F-4D97-AF65-F5344CB8AC3E}">
        <p14:creationId xmlns:p14="http://schemas.microsoft.com/office/powerpoint/2010/main" val="38997250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27</a:t>
            </a:fld>
            <a:endParaRPr lang="en-US" altLang="zh-CN">
              <a:solidFill>
                <a:srgbClr val="000000"/>
              </a:solidFill>
            </a:endParaRPr>
          </a:p>
        </p:txBody>
      </p:sp>
    </p:spTree>
    <p:extLst>
      <p:ext uri="{BB962C8B-B14F-4D97-AF65-F5344CB8AC3E}">
        <p14:creationId xmlns:p14="http://schemas.microsoft.com/office/powerpoint/2010/main" val="20978781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插件是</a:t>
            </a:r>
            <a:r>
              <a:rPr lang="zh-CN" altLang="en-US" sz="800" kern="1200" dirty="0">
                <a:solidFill>
                  <a:schemeClr val="tx1"/>
                </a:solidFill>
                <a:latin typeface="+mj-ea"/>
                <a:ea typeface="+mn-ea"/>
                <a:cs typeface="+mn-cs"/>
              </a:rPr>
              <a:t>使用</a:t>
            </a:r>
            <a:r>
              <a:rPr lang="en-US" altLang="zh-CN" sz="800" kern="1200" dirty="0">
                <a:solidFill>
                  <a:schemeClr val="tx1"/>
                </a:solidFill>
                <a:latin typeface="+mj-ea"/>
                <a:ea typeface="+mn-ea"/>
                <a:cs typeface="+mn-cs"/>
              </a:rPr>
              <a:t>HTML</a:t>
            </a:r>
            <a:r>
              <a:rPr lang="zh-CN" altLang="en-US" sz="800" kern="1200" dirty="0">
                <a:solidFill>
                  <a:schemeClr val="tx1"/>
                </a:solidFill>
                <a:latin typeface="+mj-ea"/>
                <a:ea typeface="+mn-ea"/>
                <a:cs typeface="+mn-cs"/>
              </a:rPr>
              <a:t>。。。，开发者可。。。，图例为。。。</a:t>
            </a:r>
            <a:endParaRPr lang="en-US" altLang="zh-CN" sz="800" kern="1200" dirty="0">
              <a:solidFill>
                <a:schemeClr val="tx1"/>
              </a:solidFill>
              <a:latin typeface="+mj-ea"/>
              <a:ea typeface="+mn-ea"/>
              <a:cs typeface="+mn-cs"/>
            </a:endParaRPr>
          </a:p>
          <a:p>
            <a:r>
              <a:rPr lang="zh-CN" altLang="en-US" sz="800" kern="1200" dirty="0">
                <a:solidFill>
                  <a:schemeClr val="tx1"/>
                </a:solidFill>
                <a:latin typeface="+mj-ea"/>
                <a:ea typeface="+mn-ea"/>
                <a:cs typeface="+mn-cs"/>
              </a:rPr>
              <a:t>可以看到一个插件对应了一个物联网设备，在官方</a:t>
            </a:r>
            <a:r>
              <a:rPr lang="en-US" altLang="zh-CN" sz="800" kern="1200" dirty="0">
                <a:solidFill>
                  <a:schemeClr val="tx1"/>
                </a:solidFill>
                <a:latin typeface="+mj-ea"/>
                <a:ea typeface="+mn-ea"/>
                <a:cs typeface="+mn-cs"/>
              </a:rPr>
              <a:t>app</a:t>
            </a:r>
            <a:r>
              <a:rPr lang="zh-CN" altLang="en-US" sz="800" kern="1200" dirty="0">
                <a:solidFill>
                  <a:schemeClr val="tx1"/>
                </a:solidFill>
                <a:latin typeface="+mj-ea"/>
                <a:ea typeface="+mn-ea"/>
                <a:cs typeface="+mn-cs"/>
              </a:rPr>
              <a:t>中列举了用户拥有的设备的插件页面。</a:t>
            </a:r>
            <a:endParaRPr lang="en-US" altLang="zh-CN" dirty="0"/>
          </a:p>
          <a:p>
            <a:r>
              <a:rPr lang="zh-CN" altLang="en-US" dirty="0"/>
              <a:t>值得注意的是一个插件中也可以包含控制多个物联网设备</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28</a:t>
            </a:fld>
            <a:endParaRPr lang="en-US" altLang="zh-CN">
              <a:solidFill>
                <a:srgbClr val="000000"/>
              </a:solidFill>
            </a:endParaRPr>
          </a:p>
        </p:txBody>
      </p:sp>
    </p:spTree>
    <p:extLst>
      <p:ext uri="{BB962C8B-B14F-4D97-AF65-F5344CB8AC3E}">
        <p14:creationId xmlns:p14="http://schemas.microsoft.com/office/powerpoint/2010/main" val="39298620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支持设备端、云端服务、</a:t>
            </a:r>
            <a:r>
              <a:rPr lang="en-US" altLang="zh-CN" dirty="0"/>
              <a:t>web</a:t>
            </a:r>
            <a:r>
              <a:rPr lang="zh-CN" altLang="en-US" dirty="0"/>
              <a:t>应用</a:t>
            </a:r>
            <a:r>
              <a:rPr lang="en-US" altLang="zh-CN" dirty="0"/>
              <a:t>/</a:t>
            </a:r>
            <a:r>
              <a:rPr lang="zh-CN" altLang="en-US" dirty="0"/>
              <a:t>移动应用</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30</a:t>
            </a:fld>
            <a:endParaRPr lang="en-US" altLang="zh-CN">
              <a:solidFill>
                <a:srgbClr val="000000"/>
              </a:solidFill>
            </a:endParaRPr>
          </a:p>
        </p:txBody>
      </p:sp>
    </p:spTree>
    <p:extLst>
      <p:ext uri="{BB962C8B-B14F-4D97-AF65-F5344CB8AC3E}">
        <p14:creationId xmlns:p14="http://schemas.microsoft.com/office/powerpoint/2010/main" val="1434119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前面讲了三端应用的开发，但是三端应用的集成还是比较困难，如</a:t>
            </a:r>
            <a:endParaRPr lang="en-US" altLang="zh-CN" dirty="0"/>
          </a:p>
          <a:p>
            <a:r>
              <a:rPr lang="zh-CN" altLang="en-US" dirty="0"/>
              <a:t>提出了两种解决方案，</a:t>
            </a:r>
            <a:endParaRPr lang="en-US" altLang="zh-CN" dirty="0"/>
          </a:p>
          <a:p>
            <a:pPr marL="228600" indent="-228600">
              <a:buAutoNum type="arabicPeriod"/>
            </a:pPr>
            <a:r>
              <a:rPr lang="zh-CN" altLang="en-US" dirty="0"/>
              <a:t>设备模型</a:t>
            </a:r>
            <a:endParaRPr lang="en-US" altLang="zh-CN" dirty="0"/>
          </a:p>
          <a:p>
            <a:pPr marL="228600" indent="-228600">
              <a:buAutoNum type="arabicPeriod"/>
            </a:pPr>
            <a:r>
              <a:rPr lang="zh-CN" altLang="en-US" dirty="0"/>
              <a:t>命名机制</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31</a:t>
            </a:fld>
            <a:endParaRPr lang="en-US" altLang="zh-CN">
              <a:solidFill>
                <a:srgbClr val="000000"/>
              </a:solidFill>
            </a:endParaRPr>
          </a:p>
        </p:txBody>
      </p:sp>
    </p:spTree>
    <p:extLst>
      <p:ext uri="{BB962C8B-B14F-4D97-AF65-F5344CB8AC3E}">
        <p14:creationId xmlns:p14="http://schemas.microsoft.com/office/powerpoint/2010/main" val="9961574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32</a:t>
            </a:fld>
            <a:endParaRPr lang="en-US" altLang="zh-CN">
              <a:solidFill>
                <a:srgbClr val="000000"/>
              </a:solidFill>
            </a:endParaRPr>
          </a:p>
        </p:txBody>
      </p:sp>
    </p:spTree>
    <p:extLst>
      <p:ext uri="{BB962C8B-B14F-4D97-AF65-F5344CB8AC3E}">
        <p14:creationId xmlns:p14="http://schemas.microsoft.com/office/powerpoint/2010/main" val="33015476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33</a:t>
            </a:fld>
            <a:endParaRPr lang="en-US" altLang="zh-CN">
              <a:solidFill>
                <a:srgbClr val="000000"/>
              </a:solidFill>
            </a:endParaRPr>
          </a:p>
        </p:txBody>
      </p:sp>
    </p:spTree>
    <p:extLst>
      <p:ext uri="{BB962C8B-B14F-4D97-AF65-F5344CB8AC3E}">
        <p14:creationId xmlns:p14="http://schemas.microsoft.com/office/powerpoint/2010/main" val="23137897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34</a:t>
            </a:fld>
            <a:endParaRPr lang="en-US" altLang="zh-CN">
              <a:solidFill>
                <a:srgbClr val="000000"/>
              </a:solidFill>
            </a:endParaRPr>
          </a:p>
        </p:txBody>
      </p:sp>
    </p:spTree>
    <p:extLst>
      <p:ext uri="{BB962C8B-B14F-4D97-AF65-F5344CB8AC3E}">
        <p14:creationId xmlns:p14="http://schemas.microsoft.com/office/powerpoint/2010/main" val="30143502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35</a:t>
            </a:fld>
            <a:endParaRPr lang="en-US" altLang="zh-CN">
              <a:solidFill>
                <a:srgbClr val="000000"/>
              </a:solidFill>
            </a:endParaRPr>
          </a:p>
        </p:txBody>
      </p:sp>
    </p:spTree>
    <p:extLst>
      <p:ext uri="{BB962C8B-B14F-4D97-AF65-F5344CB8AC3E}">
        <p14:creationId xmlns:p14="http://schemas.microsoft.com/office/powerpoint/2010/main" val="21741305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a:t>
            </a:r>
            <a:r>
              <a:rPr lang="en-US" altLang="zh-CN" dirty="0"/>
              <a:t>Link Develop</a:t>
            </a:r>
            <a:r>
              <a:rPr lang="zh-CN" altLang="en-US" dirty="0"/>
              <a:t>的物模型，我们分别看一下服务定义、属性定义、以及设备定义。首先是服务定义。。。，其次是属性定义，。。。</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36</a:t>
            </a:fld>
            <a:endParaRPr lang="en-US" altLang="zh-CN">
              <a:solidFill>
                <a:srgbClr val="000000"/>
              </a:solidFill>
            </a:endParaRPr>
          </a:p>
        </p:txBody>
      </p:sp>
    </p:spTree>
    <p:extLst>
      <p:ext uri="{BB962C8B-B14F-4D97-AF65-F5344CB8AC3E}">
        <p14:creationId xmlns:p14="http://schemas.microsoft.com/office/powerpoint/2010/main" val="11714122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然后是事件定义</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solidFill>
                  <a:srgbClr val="000000"/>
                </a:solidFill>
              </a:rPr>
              <a:pPr>
                <a:defRPr/>
              </a:pPr>
              <a:t>37</a:t>
            </a:fld>
            <a:endParaRPr lang="en-US" altLang="zh-CN">
              <a:solidFill>
                <a:srgbClr val="000000"/>
              </a:solidFill>
            </a:endParaRPr>
          </a:p>
        </p:txBody>
      </p:sp>
    </p:spTree>
    <p:extLst>
      <p:ext uri="{BB962C8B-B14F-4D97-AF65-F5344CB8AC3E}">
        <p14:creationId xmlns:p14="http://schemas.microsoft.com/office/powerpoint/2010/main" val="16898602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38</a:t>
            </a:fld>
            <a:endParaRPr lang="en-US" altLang="zh-CN">
              <a:solidFill>
                <a:srgbClr val="000000"/>
              </a:solidFill>
            </a:endParaRPr>
          </a:p>
        </p:txBody>
      </p:sp>
    </p:spTree>
    <p:extLst>
      <p:ext uri="{BB962C8B-B14F-4D97-AF65-F5344CB8AC3E}">
        <p14:creationId xmlns:p14="http://schemas.microsoft.com/office/powerpoint/2010/main" val="15313886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r>
              <a:rPr lang="zh-CN" altLang="en-US" dirty="0"/>
              <a:t>例如一个简单智能家居场景的例子，用手机查询卧室光强或打开卧室台灯</a:t>
            </a:r>
            <a:endParaRPr lang="en-US" altLang="zh-CN" dirty="0"/>
          </a:p>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r>
              <a:rPr lang="zh-CN" altLang="en-US" dirty="0"/>
              <a:t>需要先查询得到光强计</a:t>
            </a:r>
            <a:r>
              <a:rPr lang="en-US" altLang="zh-CN" dirty="0"/>
              <a:t>(</a:t>
            </a:r>
            <a:r>
              <a:rPr lang="zh-CN" altLang="en-US" dirty="0"/>
              <a:t>或台灯</a:t>
            </a:r>
            <a:r>
              <a:rPr lang="en-US" altLang="zh-CN" dirty="0"/>
              <a:t>)</a:t>
            </a:r>
            <a:r>
              <a:rPr lang="zh-CN" altLang="en-US" dirty="0"/>
              <a:t>的</a:t>
            </a:r>
            <a:r>
              <a:rPr lang="en-US" altLang="zh-CN" dirty="0"/>
              <a:t>URI, </a:t>
            </a:r>
            <a:r>
              <a:rPr lang="zh-CN" altLang="en-US" dirty="0"/>
              <a:t>例如为</a:t>
            </a:r>
            <a:r>
              <a:rPr lang="en-US" altLang="zh-CN" dirty="0"/>
              <a:t>AlexHome.com/xxx</a:t>
            </a:r>
          </a:p>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r>
              <a:rPr lang="zh-CN" altLang="en-US" dirty="0"/>
              <a:t>接下来需要连接到</a:t>
            </a:r>
            <a:r>
              <a:rPr lang="en-US" altLang="zh-CN" dirty="0"/>
              <a:t>AlexHome.com</a:t>
            </a:r>
            <a:r>
              <a:rPr lang="zh-CN" altLang="en-US" dirty="0"/>
              <a:t>服务上，首先需要</a:t>
            </a:r>
            <a:r>
              <a:rPr lang="en-US" altLang="zh-CN" dirty="0"/>
              <a:t>DNS</a:t>
            </a:r>
            <a:r>
              <a:rPr lang="zh-CN" altLang="en-US" dirty="0"/>
              <a:t>查询该服务对应的</a:t>
            </a:r>
            <a:r>
              <a:rPr lang="en-US" altLang="zh-CN" dirty="0"/>
              <a:t>IP</a:t>
            </a:r>
            <a:r>
              <a:rPr lang="zh-CN" altLang="en-US" dirty="0"/>
              <a:t>地址</a:t>
            </a:r>
            <a:endParaRPr lang="en-US" altLang="zh-CN" dirty="0"/>
          </a:p>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r>
              <a:rPr lang="zh-CN" altLang="en-US" dirty="0"/>
              <a:t>局域网中的设备都是通过</a:t>
            </a:r>
            <a:r>
              <a:rPr lang="en-US" altLang="zh-CN" dirty="0"/>
              <a:t>DHCP</a:t>
            </a:r>
            <a:r>
              <a:rPr lang="zh-CN" altLang="en-US" dirty="0"/>
              <a:t>获得自己的</a:t>
            </a:r>
            <a:r>
              <a:rPr lang="en-US" altLang="zh-CN" dirty="0"/>
              <a:t>IP</a:t>
            </a:r>
            <a:r>
              <a:rPr lang="zh-CN" altLang="en-US" dirty="0"/>
              <a:t>地址的</a:t>
            </a:r>
            <a:endParaRPr lang="en-US" altLang="zh-CN" dirty="0"/>
          </a:p>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r>
              <a:rPr lang="zh-CN" altLang="en-US" dirty="0"/>
              <a:t>最后建立从手机到具体光强计设备的连接</a:t>
            </a:r>
            <a:endParaRPr lang="en-US" altLang="zh-CN" dirty="0"/>
          </a:p>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r>
              <a:rPr lang="zh-CN" altLang="en-US" dirty="0"/>
              <a:t>可以看到，基于</a:t>
            </a:r>
            <a:r>
              <a:rPr lang="en-US" altLang="zh-CN" dirty="0"/>
              <a:t>TCP/IP</a:t>
            </a:r>
            <a:r>
              <a:rPr lang="zh-CN" altLang="en-US" dirty="0"/>
              <a:t>的通信重点在于设备之间的连接，需要实现复杂的协议栈，</a:t>
            </a:r>
            <a:endParaRPr lang="en-US" altLang="zh-CN" dirty="0"/>
          </a:p>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endParaRPr lang="en-US" altLang="zh-CN" dirty="0"/>
          </a:p>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39</a:t>
            </a:fld>
            <a:endParaRPr lang="en-US" altLang="zh-CN">
              <a:solidFill>
                <a:srgbClr val="000000"/>
              </a:solidFill>
            </a:endParaRPr>
          </a:p>
        </p:txBody>
      </p:sp>
    </p:spTree>
    <p:extLst>
      <p:ext uri="{BB962C8B-B14F-4D97-AF65-F5344CB8AC3E}">
        <p14:creationId xmlns:p14="http://schemas.microsoft.com/office/powerpoint/2010/main" val="10326191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t>
            </a:r>
            <a:r>
              <a:rPr lang="zh-CN" altLang="en-US" dirty="0"/>
              <a:t>近年来出现了基于</a:t>
            </a:r>
            <a:r>
              <a:rPr lang="en-US" altLang="zh-CN" dirty="0"/>
              <a:t>NDN</a:t>
            </a:r>
            <a:r>
              <a:rPr lang="zh-CN" altLang="en-US" dirty="0"/>
              <a:t>的命名机制，更加适用于物联网场景</a:t>
            </a:r>
            <a:endParaRPr lang="en-US" altLang="zh-CN" dirty="0"/>
          </a:p>
          <a:p>
            <a:r>
              <a:rPr lang="en-US" altLang="zh-CN" dirty="0"/>
              <a:t>2 </a:t>
            </a:r>
            <a:r>
              <a:rPr kumimoji="1" lang="en-US" altLang="zh-CN" sz="1200" kern="1200" dirty="0">
                <a:solidFill>
                  <a:schemeClr val="tx1"/>
                </a:solidFill>
                <a:effectLst/>
                <a:latin typeface="Arial" charset="0"/>
                <a:ea typeface="+mn-ea"/>
                <a:cs typeface="+mn-cs"/>
              </a:rPr>
              <a:t>NDN</a:t>
            </a:r>
            <a:r>
              <a:rPr kumimoji="1" lang="zh-CN" altLang="zh-CN" sz="1200" kern="1200" dirty="0">
                <a:solidFill>
                  <a:schemeClr val="tx1"/>
                </a:solidFill>
                <a:effectLst/>
                <a:latin typeface="Arial" charset="0"/>
                <a:ea typeface="+mn-ea"/>
                <a:cs typeface="+mn-cs"/>
              </a:rPr>
              <a:t>是一种未来的互联网架构， </a:t>
            </a:r>
            <a:r>
              <a:rPr kumimoji="1" lang="zh-CN" altLang="en-US" sz="1200" kern="1200" dirty="0">
                <a:solidFill>
                  <a:schemeClr val="tx1"/>
                </a:solidFill>
                <a:effectLst/>
                <a:latin typeface="Arial" charset="0"/>
                <a:ea typeface="+mn-ea"/>
                <a:cs typeface="+mn-cs"/>
              </a:rPr>
              <a:t>从</a:t>
            </a:r>
            <a:r>
              <a:rPr kumimoji="1" lang="zh-CN" altLang="zh-CN" sz="1200" kern="1200" dirty="0">
                <a:solidFill>
                  <a:schemeClr val="tx1"/>
                </a:solidFill>
                <a:effectLst/>
                <a:latin typeface="Arial" charset="0"/>
                <a:ea typeface="+mn-ea"/>
                <a:cs typeface="+mn-cs"/>
              </a:rPr>
              <a:t>根本上将网络通信模型从以主机为中心转变为以数据为中心</a:t>
            </a:r>
            <a:r>
              <a:rPr kumimoji="1" lang="zh-CN" altLang="en-US" sz="1200" kern="1200" dirty="0">
                <a:solidFill>
                  <a:schemeClr val="tx1"/>
                </a:solidFill>
                <a:effectLst/>
                <a:latin typeface="Arial" charset="0"/>
                <a:ea typeface="+mn-ea"/>
                <a:cs typeface="+mn-cs"/>
              </a:rPr>
              <a:t>。</a:t>
            </a:r>
            <a:endParaRPr kumimoji="1" lang="en-US" altLang="zh-CN" sz="1200" kern="1200" dirty="0">
              <a:solidFill>
                <a:schemeClr val="tx1"/>
              </a:solidFill>
              <a:effectLst/>
              <a:latin typeface="Arial" charset="0"/>
              <a:ea typeface="+mn-ea"/>
              <a:cs typeface="+mn-cs"/>
            </a:endParaRPr>
          </a:p>
          <a:p>
            <a:r>
              <a:rPr kumimoji="1" lang="en-US" altLang="zh-CN" sz="1200" kern="1200" dirty="0">
                <a:solidFill>
                  <a:schemeClr val="tx1"/>
                </a:solidFill>
                <a:effectLst/>
                <a:latin typeface="Arial" charset="0"/>
                <a:ea typeface="+mn-ea"/>
                <a:cs typeface="+mn-cs"/>
              </a:rPr>
              <a:t>3 NDN</a:t>
            </a:r>
            <a:r>
              <a:rPr kumimoji="1" lang="zh-CN" altLang="zh-CN" sz="1200" kern="1200" dirty="0">
                <a:solidFill>
                  <a:schemeClr val="tx1"/>
                </a:solidFill>
                <a:effectLst/>
                <a:latin typeface="Arial" charset="0"/>
                <a:ea typeface="+mn-ea"/>
                <a:cs typeface="+mn-cs"/>
              </a:rPr>
              <a:t>不是在由</a:t>
            </a:r>
            <a:r>
              <a:rPr kumimoji="1" lang="en-US" altLang="zh-CN" sz="1200" kern="1200" dirty="0">
                <a:solidFill>
                  <a:schemeClr val="tx1"/>
                </a:solidFill>
                <a:effectLst/>
                <a:latin typeface="Arial" charset="0"/>
                <a:ea typeface="+mn-ea"/>
                <a:cs typeface="+mn-cs"/>
              </a:rPr>
              <a:t>IP</a:t>
            </a:r>
            <a:r>
              <a:rPr kumimoji="1" lang="zh-CN" altLang="zh-CN" sz="1200" kern="1200" dirty="0">
                <a:solidFill>
                  <a:schemeClr val="tx1"/>
                </a:solidFill>
                <a:effectLst/>
                <a:latin typeface="Arial" charset="0"/>
                <a:ea typeface="+mn-ea"/>
                <a:cs typeface="+mn-cs"/>
              </a:rPr>
              <a:t>地址标识的源设备和目标设备之间发送数据包，而是在网络级别传播命名数据，直接转发带有应用程序语义的名称</a:t>
            </a:r>
            <a:endParaRPr kumimoji="1" lang="en-US" altLang="zh-CN" sz="1200" kern="1200" dirty="0">
              <a:solidFill>
                <a:schemeClr val="tx1"/>
              </a:solidFill>
              <a:effectLst/>
              <a:latin typeface="Arial" charset="0"/>
              <a:ea typeface="+mn-ea"/>
              <a:cs typeface="+mn-cs"/>
            </a:endParaRPr>
          </a:p>
          <a:p>
            <a:r>
              <a:rPr kumimoji="1" lang="en-US" altLang="zh-CN" sz="1200" kern="1200" dirty="0">
                <a:solidFill>
                  <a:schemeClr val="tx1"/>
                </a:solidFill>
                <a:effectLst/>
                <a:latin typeface="Arial" charset="0"/>
                <a:ea typeface="+mn-ea"/>
                <a:cs typeface="+mn-cs"/>
              </a:rPr>
              <a:t>4 NDN</a:t>
            </a:r>
            <a:r>
              <a:rPr kumimoji="1" lang="zh-CN" altLang="en-US" sz="1200" kern="1200" dirty="0">
                <a:solidFill>
                  <a:schemeClr val="tx1"/>
                </a:solidFill>
                <a:effectLst/>
                <a:latin typeface="Arial" charset="0"/>
                <a:ea typeface="+mn-ea"/>
                <a:cs typeface="+mn-cs"/>
              </a:rPr>
              <a:t>基于两种数据包通信</a:t>
            </a:r>
            <a:r>
              <a:rPr kumimoji="1" lang="en-US" altLang="zh-CN" sz="1200" kern="1200" dirty="0">
                <a:solidFill>
                  <a:schemeClr val="tx1"/>
                </a:solidFill>
                <a:effectLst/>
                <a:latin typeface="Arial" charset="0"/>
                <a:ea typeface="+mn-ea"/>
                <a:cs typeface="+mn-cs"/>
              </a:rPr>
              <a:t>….</a:t>
            </a:r>
          </a:p>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40</a:t>
            </a:fld>
            <a:endParaRPr lang="en-US" altLang="zh-CN">
              <a:solidFill>
                <a:srgbClr val="000000"/>
              </a:solidFill>
            </a:endParaRPr>
          </a:p>
        </p:txBody>
      </p:sp>
    </p:spTree>
    <p:extLst>
      <p:ext uri="{BB962C8B-B14F-4D97-AF65-F5344CB8AC3E}">
        <p14:creationId xmlns:p14="http://schemas.microsoft.com/office/powerpoint/2010/main" val="2456106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NDN</a:t>
            </a:r>
            <a:r>
              <a:rPr lang="zh-CN" altLang="en-US" dirty="0"/>
              <a:t>采用分层的命名机制，按照事先约定好的命名规则对数据对象命名</a:t>
            </a:r>
            <a:endParaRPr lang="en-US" altLang="zh-CN" dirty="0"/>
          </a:p>
          <a:p>
            <a:r>
              <a:rPr lang="en-US" altLang="zh-CN" dirty="0"/>
              <a:t>2 </a:t>
            </a:r>
            <a:r>
              <a:rPr lang="zh-CN" altLang="en-US" dirty="0"/>
              <a:t>常见的命名规则为 地点</a:t>
            </a:r>
            <a:r>
              <a:rPr lang="en-US" altLang="zh-CN" dirty="0"/>
              <a:t>+</a:t>
            </a:r>
            <a:r>
              <a:rPr lang="zh-CN" altLang="en-US" dirty="0"/>
              <a:t>设备命名空间（例如设备类型及</a:t>
            </a:r>
            <a:r>
              <a:rPr lang="en-US" altLang="zh-CN" dirty="0"/>
              <a:t>id</a:t>
            </a:r>
            <a:r>
              <a:rPr lang="zh-CN" altLang="en-US" dirty="0"/>
              <a:t>）</a:t>
            </a:r>
            <a:r>
              <a:rPr lang="en-US" altLang="zh-CN" dirty="0"/>
              <a:t>+</a:t>
            </a:r>
            <a:r>
              <a:rPr lang="zh-CN" altLang="en-US" dirty="0"/>
              <a:t>命令（例如</a:t>
            </a:r>
            <a:r>
              <a:rPr lang="en-US" altLang="zh-CN" dirty="0"/>
              <a:t>sensing</a:t>
            </a:r>
            <a:r>
              <a:rPr lang="zh-CN" altLang="en-US" dirty="0"/>
              <a:t>感知，或</a:t>
            </a:r>
            <a:r>
              <a:rPr lang="en-US" altLang="zh-CN" dirty="0"/>
              <a:t>action</a:t>
            </a:r>
            <a:r>
              <a:rPr lang="zh-CN" altLang="en-US" dirty="0"/>
              <a:t>控制）</a:t>
            </a:r>
            <a:r>
              <a:rPr lang="en-US" altLang="zh-CN" dirty="0"/>
              <a:t>+</a:t>
            </a:r>
            <a:r>
              <a:rPr lang="zh-CN" altLang="en-US" dirty="0"/>
              <a:t>时间戳等</a:t>
            </a:r>
            <a:endParaRPr lang="en-US" altLang="zh-CN" dirty="0"/>
          </a:p>
          <a:p>
            <a:r>
              <a:rPr lang="en-US" altLang="zh-CN" dirty="0"/>
              <a:t>3</a:t>
            </a:r>
            <a:r>
              <a:rPr lang="en-US" altLang="zh-CN" baseline="0" dirty="0"/>
              <a:t> </a:t>
            </a:r>
            <a:r>
              <a:rPr lang="zh-CN" altLang="en-US" baseline="0" dirty="0"/>
              <a:t>这里给出一个</a:t>
            </a:r>
            <a:r>
              <a:rPr kumimoji="1" lang="en-US" altLang="zh-CN" sz="1200" kern="1200" dirty="0">
                <a:solidFill>
                  <a:schemeClr val="tx1"/>
                </a:solidFill>
                <a:effectLst/>
                <a:latin typeface="Arial" charset="0"/>
                <a:ea typeface="+mn-ea"/>
                <a:cs typeface="+mn-cs"/>
              </a:rPr>
              <a:t>NDN</a:t>
            </a:r>
            <a:r>
              <a:rPr kumimoji="1" lang="zh-CN" altLang="zh-CN" sz="1200" kern="1200" dirty="0">
                <a:solidFill>
                  <a:schemeClr val="tx1"/>
                </a:solidFill>
                <a:effectLst/>
                <a:latin typeface="Arial" charset="0"/>
                <a:ea typeface="+mn-ea"/>
                <a:cs typeface="+mn-cs"/>
              </a:rPr>
              <a:t>数据对象</a:t>
            </a:r>
            <a:r>
              <a:rPr kumimoji="1" lang="zh-CN" altLang="en-US" sz="1200" kern="1200" dirty="0">
                <a:solidFill>
                  <a:schemeClr val="tx1"/>
                </a:solidFill>
                <a:effectLst/>
                <a:latin typeface="Arial" charset="0"/>
                <a:ea typeface="+mn-ea"/>
                <a:cs typeface="+mn-cs"/>
              </a:rPr>
              <a:t>示例</a:t>
            </a:r>
            <a:r>
              <a:rPr lang="zh-CN" altLang="en-US" baseline="0" dirty="0"/>
              <a:t>，该数据对象表示对家里卧室光线强度的测量，是</a:t>
            </a:r>
            <a:r>
              <a:rPr lang="en-US" altLang="zh-CN" baseline="0" dirty="0"/>
              <a:t>2018</a:t>
            </a:r>
            <a:r>
              <a:rPr lang="zh-CN" altLang="en-US" baseline="0" dirty="0"/>
              <a:t>年</a:t>
            </a:r>
            <a:r>
              <a:rPr lang="en-US" altLang="zh-CN" baseline="0" dirty="0"/>
              <a:t>12</a:t>
            </a:r>
            <a:r>
              <a:rPr lang="zh-CN" altLang="en-US" baseline="0" dirty="0"/>
              <a:t>月</a:t>
            </a:r>
            <a:r>
              <a:rPr lang="en-US" altLang="zh-CN" baseline="0" dirty="0"/>
              <a:t>31</a:t>
            </a:r>
            <a:r>
              <a:rPr lang="zh-CN" altLang="en-US" baseline="0" dirty="0"/>
              <a:t>号下午</a:t>
            </a:r>
            <a:r>
              <a:rPr lang="en-US" altLang="zh-CN" baseline="0" dirty="0"/>
              <a:t>19:20</a:t>
            </a:r>
            <a:r>
              <a:rPr lang="zh-CN" altLang="en-US" baseline="0" dirty="0"/>
              <a:t>测量的数据</a:t>
            </a:r>
            <a:endParaRPr lang="en-US" altLang="zh-CN" baseline="0" dirty="0"/>
          </a:p>
          <a:p>
            <a:r>
              <a:rPr lang="en-US" altLang="zh-CN" dirty="0"/>
              <a:t>4 </a:t>
            </a:r>
            <a:r>
              <a:rPr lang="zh-CN" altLang="en-US" dirty="0"/>
              <a:t>分层命名的好处是数据高度可聚合</a:t>
            </a:r>
            <a:endParaRPr lang="en-US" altLang="zh-CN" dirty="0"/>
          </a:p>
          <a:p>
            <a:r>
              <a:rPr lang="en-US" altLang="zh-CN" dirty="0"/>
              <a:t>    </a:t>
            </a:r>
            <a:r>
              <a:rPr lang="zh-CN" altLang="en-US" dirty="0"/>
              <a:t>例如</a:t>
            </a:r>
            <a:r>
              <a:rPr lang="zh-CN" altLang="en-US" dirty="0">
                <a:effectLst/>
              </a:rPr>
              <a:t>收集所有光强读数可以直接使用这个更短的前缀</a:t>
            </a:r>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41</a:t>
            </a:fld>
            <a:endParaRPr lang="en-US" altLang="zh-CN">
              <a:solidFill>
                <a:srgbClr val="000000"/>
              </a:solidFill>
            </a:endParaRPr>
          </a:p>
        </p:txBody>
      </p:sp>
    </p:spTree>
    <p:extLst>
      <p:ext uri="{BB962C8B-B14F-4D97-AF65-F5344CB8AC3E}">
        <p14:creationId xmlns:p14="http://schemas.microsoft.com/office/powerpoint/2010/main" val="19000335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r>
              <a:rPr lang="zh-CN" altLang="en-US" dirty="0"/>
              <a:t>可以看到</a:t>
            </a:r>
            <a:r>
              <a:rPr lang="en-US" altLang="zh-CN" dirty="0"/>
              <a:t>NDN</a:t>
            </a:r>
            <a:r>
              <a:rPr lang="zh-CN" altLang="en-US" dirty="0"/>
              <a:t>命名机制下，能够对数据对象直接进行操作，</a:t>
            </a:r>
            <a:r>
              <a:rPr kumimoji="1" lang="zh-CN" altLang="zh-CN" sz="1200" kern="1200" dirty="0">
                <a:solidFill>
                  <a:schemeClr val="tx1"/>
                </a:solidFill>
                <a:effectLst/>
                <a:latin typeface="Arial" charset="0"/>
                <a:ea typeface="+mn-ea"/>
                <a:cs typeface="+mn-cs"/>
              </a:rPr>
              <a:t>在网络和应用程序层实现</a:t>
            </a:r>
            <a:r>
              <a:rPr kumimoji="1" lang="zh-CN" altLang="en-US" sz="1200" kern="1200" dirty="0">
                <a:solidFill>
                  <a:schemeClr val="tx1"/>
                </a:solidFill>
                <a:effectLst/>
                <a:latin typeface="Arial" charset="0"/>
                <a:ea typeface="+mn-ea"/>
                <a:cs typeface="+mn-cs"/>
              </a:rPr>
              <a:t>了</a:t>
            </a:r>
            <a:r>
              <a:rPr kumimoji="1" lang="zh-CN" altLang="zh-CN" sz="1200" kern="1200" dirty="0">
                <a:solidFill>
                  <a:schemeClr val="tx1"/>
                </a:solidFill>
                <a:effectLst/>
                <a:latin typeface="Arial" charset="0"/>
                <a:ea typeface="+mn-ea"/>
                <a:cs typeface="+mn-cs"/>
              </a:rPr>
              <a:t>互操作性。</a:t>
            </a:r>
            <a:endParaRPr lang="en-US" altLang="zh-CN" dirty="0"/>
          </a:p>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42</a:t>
            </a:fld>
            <a:endParaRPr lang="en-US" altLang="zh-CN">
              <a:solidFill>
                <a:srgbClr val="000000"/>
              </a:solidFill>
            </a:endParaRPr>
          </a:p>
        </p:txBody>
      </p:sp>
    </p:spTree>
    <p:extLst>
      <p:ext uri="{BB962C8B-B14F-4D97-AF65-F5344CB8AC3E}">
        <p14:creationId xmlns:p14="http://schemas.microsoft.com/office/powerpoint/2010/main" val="26277915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44</a:t>
            </a:fld>
            <a:endParaRPr lang="en-US" altLang="zh-CN"/>
          </a:p>
        </p:txBody>
      </p:sp>
    </p:spTree>
    <p:extLst>
      <p:ext uri="{BB962C8B-B14F-4D97-AF65-F5344CB8AC3E}">
        <p14:creationId xmlns:p14="http://schemas.microsoft.com/office/powerpoint/2010/main" val="9176819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前面要有每一点的对比</a:t>
            </a:r>
            <a:endParaRPr lang="en-US" altLang="zh-CN"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45</a:t>
            </a:fld>
            <a:endParaRPr lang="en-US" altLang="zh-CN"/>
          </a:p>
        </p:txBody>
      </p:sp>
    </p:spTree>
    <p:extLst>
      <p:ext uri="{BB962C8B-B14F-4D97-AF65-F5344CB8AC3E}">
        <p14:creationId xmlns:p14="http://schemas.microsoft.com/office/powerpoint/2010/main" val="3681521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zh</a:t>
            </a:r>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46</a:t>
            </a:fld>
            <a:endParaRPr lang="en-US" altLang="zh-CN">
              <a:solidFill>
                <a:srgbClr val="000000"/>
              </a:solidFill>
            </a:endParaRPr>
          </a:p>
        </p:txBody>
      </p:sp>
    </p:spTree>
    <p:extLst>
      <p:ext uri="{BB962C8B-B14F-4D97-AF65-F5344CB8AC3E}">
        <p14:creationId xmlns:p14="http://schemas.microsoft.com/office/powerpoint/2010/main" val="2893554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47</a:t>
            </a:fld>
            <a:endParaRPr lang="en-US" altLang="zh-CN">
              <a:solidFill>
                <a:srgbClr val="000000"/>
              </a:solidFill>
            </a:endParaRPr>
          </a:p>
        </p:txBody>
      </p:sp>
    </p:spTree>
    <p:extLst>
      <p:ext uri="{BB962C8B-B14F-4D97-AF65-F5344CB8AC3E}">
        <p14:creationId xmlns:p14="http://schemas.microsoft.com/office/powerpoint/2010/main" val="221497176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a:t>
            </a:r>
            <a:r>
              <a:rPr lang="en-US" altLang="zh-CN" dirty="0"/>
              <a:t>Expert Knowledge</a:t>
            </a:r>
            <a:r>
              <a:rPr lang="zh-CN" altLang="en-US" dirty="0"/>
              <a:t>编程，比较复杂</a:t>
            </a:r>
            <a:endParaRPr lang="en-US" altLang="zh-CN" dirty="0"/>
          </a:p>
          <a:p>
            <a:r>
              <a:rPr lang="zh-CN" altLang="en-US" dirty="0"/>
              <a:t>对驱动封装，复杂</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49</a:t>
            </a:fld>
            <a:endParaRPr lang="en-US" altLang="zh-CN"/>
          </a:p>
        </p:txBody>
      </p:sp>
    </p:spTree>
    <p:extLst>
      <p:ext uri="{BB962C8B-B14F-4D97-AF65-F5344CB8AC3E}">
        <p14:creationId xmlns:p14="http://schemas.microsoft.com/office/powerpoint/2010/main" val="14113995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a:t>
            </a:r>
            <a:r>
              <a:rPr lang="en-US" altLang="zh-CN" dirty="0"/>
              <a:t>Expert Knowledge</a:t>
            </a:r>
            <a:r>
              <a:rPr lang="zh-CN" altLang="en-US" dirty="0"/>
              <a:t>编程，比较复杂</a:t>
            </a:r>
            <a:endParaRPr lang="en-US" altLang="zh-CN" dirty="0"/>
          </a:p>
          <a:p>
            <a:r>
              <a:rPr lang="zh-CN" altLang="en-US" dirty="0"/>
              <a:t>对驱动封装，复杂</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50</a:t>
            </a:fld>
            <a:endParaRPr lang="en-US" altLang="zh-CN"/>
          </a:p>
        </p:txBody>
      </p:sp>
    </p:spTree>
    <p:extLst>
      <p:ext uri="{BB962C8B-B14F-4D97-AF65-F5344CB8AC3E}">
        <p14:creationId xmlns:p14="http://schemas.microsoft.com/office/powerpoint/2010/main" val="255070112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51</a:t>
            </a:fld>
            <a:endParaRPr lang="en-US" altLang="zh-CN"/>
          </a:p>
        </p:txBody>
      </p:sp>
    </p:spTree>
    <p:extLst>
      <p:ext uri="{BB962C8B-B14F-4D97-AF65-F5344CB8AC3E}">
        <p14:creationId xmlns:p14="http://schemas.microsoft.com/office/powerpoint/2010/main" val="24296797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这一页文字精简下，让不让学生看，就用伪代码讲清楚</a:t>
            </a:r>
            <a:endParaRPr lang="en-US" altLang="zh-CN" dirty="0"/>
          </a:p>
          <a:p>
            <a:r>
              <a:rPr lang="en-US" altLang="zh-CN" dirty="0"/>
              <a:t>Summarize</a:t>
            </a:r>
            <a:r>
              <a:rPr lang="en-US" altLang="zh-CN" baseline="0" dirty="0"/>
              <a:t> </a:t>
            </a:r>
            <a:r>
              <a:rPr lang="zh-CN" altLang="en-US" baseline="0" dirty="0"/>
              <a:t>一下，传统方法的问题</a:t>
            </a:r>
            <a:endParaRPr lang="en-US" altLang="zh-CN" baseline="0" dirty="0"/>
          </a:p>
          <a:p>
            <a:pPr marL="228600" indent="-228600">
              <a:buAutoNum type="arabicPeriod"/>
            </a:pPr>
            <a:r>
              <a:rPr lang="en-US" altLang="zh-CN" baseline="0" dirty="0"/>
              <a:t>14</a:t>
            </a:r>
            <a:r>
              <a:rPr lang="zh-CN" altLang="en-US" baseline="0" dirty="0"/>
              <a:t>、</a:t>
            </a:r>
            <a:r>
              <a:rPr lang="en-US" altLang="zh-CN" baseline="0" dirty="0"/>
              <a:t>15</a:t>
            </a:r>
            <a:r>
              <a:rPr lang="zh-CN" altLang="en-US" baseline="0" dirty="0"/>
              <a:t>号口</a:t>
            </a:r>
            <a:endParaRPr lang="en-US" altLang="zh-CN" baseline="0" dirty="0"/>
          </a:p>
          <a:p>
            <a:pPr marL="228600" indent="-228600">
              <a:buAutoNum type="arabicPeriod"/>
            </a:pPr>
            <a:r>
              <a:rPr lang="zh-CN" altLang="en-US" baseline="0" dirty="0"/>
              <a:t>波特率</a:t>
            </a:r>
            <a:endParaRPr lang="en-US" altLang="zh-CN" baseline="0" dirty="0"/>
          </a:p>
          <a:p>
            <a:pPr marL="228600" indent="-228600">
              <a:buAutoNum type="arabicPeriod"/>
            </a:pPr>
            <a:r>
              <a:rPr lang="zh-CN" altLang="en-US" baseline="0" dirty="0"/>
              <a:t>手动封装函数</a:t>
            </a:r>
            <a:endParaRPr lang="en-US" altLang="zh-CN" baseline="0" dirty="0"/>
          </a:p>
          <a:p>
            <a:pPr marL="228600" indent="-228600">
              <a:buAutoNum type="arabicPeriod"/>
            </a:pPr>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52</a:t>
            </a:fld>
            <a:endParaRPr lang="en-US" altLang="zh-CN"/>
          </a:p>
        </p:txBody>
      </p:sp>
    </p:spTree>
    <p:extLst>
      <p:ext uri="{BB962C8B-B14F-4D97-AF65-F5344CB8AC3E}">
        <p14:creationId xmlns:p14="http://schemas.microsoft.com/office/powerpoint/2010/main" val="148736454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弄成两页</a:t>
            </a:r>
            <a:endParaRPr lang="en-US" altLang="zh-CN" dirty="0"/>
          </a:p>
          <a:p>
            <a:r>
              <a:rPr lang="zh-CN" altLang="en-US" dirty="0"/>
              <a:t>右边放大，重画</a:t>
            </a:r>
            <a:endParaRPr lang="en-US" altLang="zh-CN" dirty="0"/>
          </a:p>
          <a:p>
            <a:r>
              <a:rPr lang="zh-CN" altLang="en-US" dirty="0"/>
              <a:t>左边设备和</a:t>
            </a:r>
            <a:r>
              <a:rPr lang="en-US" altLang="zh-CN" dirty="0"/>
              <a:t>function</a:t>
            </a:r>
            <a:r>
              <a:rPr lang="zh-CN" altLang="en-US" dirty="0"/>
              <a:t>对应</a:t>
            </a:r>
            <a:endParaRPr lang="en-US" altLang="zh-CN"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60</a:t>
            </a:fld>
            <a:endParaRPr lang="en-US" altLang="zh-CN"/>
          </a:p>
        </p:txBody>
      </p:sp>
    </p:spTree>
    <p:extLst>
      <p:ext uri="{BB962C8B-B14F-4D97-AF65-F5344CB8AC3E}">
        <p14:creationId xmlns:p14="http://schemas.microsoft.com/office/powerpoint/2010/main" val="17931759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弄成两页</a:t>
            </a:r>
            <a:endParaRPr lang="en-US" altLang="zh-CN" dirty="0"/>
          </a:p>
          <a:p>
            <a:r>
              <a:rPr lang="zh-CN" altLang="en-US" dirty="0"/>
              <a:t>右边放大，重画</a:t>
            </a:r>
            <a:endParaRPr lang="en-US" altLang="zh-CN" dirty="0"/>
          </a:p>
          <a:p>
            <a:r>
              <a:rPr lang="zh-CN" altLang="en-US" dirty="0"/>
              <a:t>左边设备和</a:t>
            </a:r>
            <a:r>
              <a:rPr lang="en-US" altLang="zh-CN" dirty="0"/>
              <a:t>function</a:t>
            </a:r>
            <a:r>
              <a:rPr lang="zh-CN" altLang="en-US" dirty="0"/>
              <a:t>对应</a:t>
            </a:r>
            <a:endParaRPr lang="en-US" altLang="zh-CN"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61</a:t>
            </a:fld>
            <a:endParaRPr lang="en-US" altLang="zh-CN"/>
          </a:p>
        </p:txBody>
      </p:sp>
    </p:spTree>
    <p:extLst>
      <p:ext uri="{BB962C8B-B14F-4D97-AF65-F5344CB8AC3E}">
        <p14:creationId xmlns:p14="http://schemas.microsoft.com/office/powerpoint/2010/main" val="381660686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62</a:t>
            </a:fld>
            <a:endParaRPr lang="en-US" altLang="zh-CN"/>
          </a:p>
        </p:txBody>
      </p:sp>
    </p:spTree>
    <p:extLst>
      <p:ext uri="{BB962C8B-B14F-4D97-AF65-F5344CB8AC3E}">
        <p14:creationId xmlns:p14="http://schemas.microsoft.com/office/powerpoint/2010/main" val="71532305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64</a:t>
            </a:fld>
            <a:endParaRPr lang="en-US" altLang="zh-CN"/>
          </a:p>
        </p:txBody>
      </p:sp>
    </p:spTree>
    <p:extLst>
      <p:ext uri="{BB962C8B-B14F-4D97-AF65-F5344CB8AC3E}">
        <p14:creationId xmlns:p14="http://schemas.microsoft.com/office/powerpoint/2010/main" val="368642843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按照</a:t>
            </a:r>
            <a:r>
              <a:rPr lang="en-US" altLang="zh-CN" dirty="0"/>
              <a:t>UI</a:t>
            </a:r>
            <a:r>
              <a:rPr lang="zh-CN" altLang="en-US" dirty="0"/>
              <a:t>界面，逐个介绍所有功能</a:t>
            </a:r>
            <a:endParaRPr lang="en-US" altLang="zh-CN" dirty="0"/>
          </a:p>
          <a:p>
            <a:pPr marL="228600" indent="-228600">
              <a:buAutoNum type="arabicPeriod"/>
            </a:pPr>
            <a:r>
              <a:rPr lang="zh-CN" altLang="en-US" dirty="0"/>
              <a:t>功能</a:t>
            </a: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65</a:t>
            </a:fld>
            <a:endParaRPr lang="en-US" altLang="zh-CN"/>
          </a:p>
        </p:txBody>
      </p:sp>
    </p:spTree>
    <p:extLst>
      <p:ext uri="{BB962C8B-B14F-4D97-AF65-F5344CB8AC3E}">
        <p14:creationId xmlns:p14="http://schemas.microsoft.com/office/powerpoint/2010/main" val="42171937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66</a:t>
            </a:fld>
            <a:endParaRPr lang="en-US" altLang="zh-CN"/>
          </a:p>
        </p:txBody>
      </p:sp>
    </p:spTree>
    <p:extLst>
      <p:ext uri="{BB962C8B-B14F-4D97-AF65-F5344CB8AC3E}">
        <p14:creationId xmlns:p14="http://schemas.microsoft.com/office/powerpoint/2010/main" val="40637418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9E0BA8A-49C3-4343-A91F-BA8869CA45F8}" type="slidenum">
              <a:rPr lang="zh-CN" altLang="en-US" smtClean="0"/>
              <a:t>69</a:t>
            </a:fld>
            <a:endParaRPr lang="zh-CN" altLang="en-US"/>
          </a:p>
        </p:txBody>
      </p:sp>
    </p:spTree>
    <p:extLst>
      <p:ext uri="{BB962C8B-B14F-4D97-AF65-F5344CB8AC3E}">
        <p14:creationId xmlns:p14="http://schemas.microsoft.com/office/powerpoint/2010/main" val="6391920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en-US" altLang="zh-CN" dirty="0"/>
              <a:t>TinyLink will generate user constraints to choose the hardware</a:t>
            </a:r>
            <a:r>
              <a:rPr lang="en-US" altLang="zh-CN" baseline="0" dirty="0"/>
              <a:t> components.</a:t>
            </a:r>
          </a:p>
          <a:p>
            <a:endParaRPr lang="en-US" altLang="zh-CN" baseline="0" dirty="0"/>
          </a:p>
          <a:p>
            <a:r>
              <a:rPr lang="en-US" altLang="zh-CN" baseline="0" dirty="0"/>
              <a:t>Take the WiFi functionality as an example.</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baseline="0" dirty="0"/>
              <a:t>The constraint is that </a:t>
            </a:r>
            <a:r>
              <a:rPr lang="en-US" altLang="zh-CN" sz="1600" b="1" baseline="0" dirty="0"/>
              <a:t>t</a:t>
            </a:r>
            <a:r>
              <a:rPr lang="en-US" sz="1600" b="1" dirty="0"/>
              <a:t>he total number of components with the </a:t>
            </a:r>
            <a:r>
              <a:rPr lang="en-US" sz="1600" b="1" dirty="0">
                <a:solidFill>
                  <a:schemeClr val="accent5"/>
                </a:solidFill>
              </a:rPr>
              <a:t>WiFi functionality </a:t>
            </a:r>
            <a:r>
              <a:rPr lang="en-US" sz="1600" b="1" dirty="0"/>
              <a:t>should </a:t>
            </a:r>
            <a:r>
              <a:rPr lang="en-US" sz="1600" b="1" dirty="0">
                <a:solidFill>
                  <a:srgbClr val="FF0000"/>
                </a:solidFill>
              </a:rPr>
              <a:t>be greater than 1.</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600" b="0" dirty="0">
                <a:solidFill>
                  <a:srgbClr val="FF0000"/>
                </a:solidFill>
              </a:rPr>
              <a:t>This means at least one component</a:t>
            </a:r>
            <a:r>
              <a:rPr lang="en-US" sz="1600" b="0" baseline="0" dirty="0">
                <a:solidFill>
                  <a:srgbClr val="FF0000"/>
                </a:solidFill>
              </a:rPr>
              <a:t> provides the WiFi functionality.</a:t>
            </a:r>
            <a:endParaRPr lang="en-US" sz="1600" b="0" dirty="0">
              <a:solidFill>
                <a:srgbClr val="FF0000"/>
              </a:solidFill>
            </a:endParaRPr>
          </a:p>
          <a:p>
            <a:endParaRPr lang="en-US" altLang="zh-CN" dirty="0"/>
          </a:p>
          <a:p>
            <a:r>
              <a:rPr lang="en-US" altLang="zh-CN" dirty="0"/>
              <a:t>The components which provide</a:t>
            </a:r>
            <a:r>
              <a:rPr lang="en-US" altLang="zh-CN" baseline="0" dirty="0"/>
              <a:t> the </a:t>
            </a:r>
            <a:r>
              <a:rPr lang="en-US" altLang="zh-CN" baseline="0" dirty="0" err="1"/>
              <a:t>WiFi</a:t>
            </a:r>
            <a:r>
              <a:rPr lang="en-US" altLang="zh-CN" baseline="0" dirty="0"/>
              <a:t> functionality include:</a:t>
            </a:r>
          </a:p>
          <a:p>
            <a:r>
              <a:rPr lang="en-US" altLang="zh-CN" baseline="0" dirty="0"/>
              <a:t>Mainboards like </a:t>
            </a:r>
            <a:r>
              <a:rPr lang="en-US" altLang="zh-CN" baseline="0" dirty="0" err="1"/>
              <a:t>linkit</a:t>
            </a:r>
            <a:r>
              <a:rPr lang="en-US" altLang="zh-CN" baseline="0" dirty="0"/>
              <a:t> one,</a:t>
            </a:r>
          </a:p>
          <a:p>
            <a:r>
              <a:rPr lang="en-US" altLang="zh-CN" baseline="0" dirty="0"/>
              <a:t>Shields like WiFi shield V2.0,</a:t>
            </a:r>
          </a:p>
          <a:p>
            <a:r>
              <a:rPr lang="en-US" altLang="zh-CN" baseline="0" dirty="0"/>
              <a:t>And </a:t>
            </a:r>
            <a:r>
              <a:rPr lang="en-US" altLang="zh-CN" baseline="0" dirty="0" err="1"/>
              <a:t>periphrals</a:t>
            </a:r>
            <a:r>
              <a:rPr lang="en-US" altLang="zh-CN" baseline="0" dirty="0"/>
              <a:t> like Grove UART WiFi.</a:t>
            </a:r>
          </a:p>
        </p:txBody>
      </p:sp>
      <p:sp>
        <p:nvSpPr>
          <p:cNvPr id="4" name="灯片编号占位符 3"/>
          <p:cNvSpPr>
            <a:spLocks noGrp="1"/>
          </p:cNvSpPr>
          <p:nvPr>
            <p:ph type="sldNum" sz="quarter" idx="10"/>
          </p:nvPr>
        </p:nvSpPr>
        <p:spPr/>
        <p:txBody>
          <a:bodyPr/>
          <a:lstStyle/>
          <a:p>
            <a:fld id="{79E0BA8A-49C3-4343-A91F-BA8869CA45F8}" type="slidenum">
              <a:rPr lang="zh-CN" altLang="en-US" smtClean="0"/>
              <a:t>70</a:t>
            </a:fld>
            <a:endParaRPr lang="zh-CN" altLang="en-US"/>
          </a:p>
        </p:txBody>
      </p:sp>
    </p:spTree>
    <p:extLst>
      <p:ext uri="{BB962C8B-B14F-4D97-AF65-F5344CB8AC3E}">
        <p14:creationId xmlns:p14="http://schemas.microsoft.com/office/powerpoint/2010/main" val="292219961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en-US" altLang="zh-CN" dirty="0"/>
              <a:t>Only considering the user constraints is</a:t>
            </a:r>
            <a:r>
              <a:rPr lang="en-US" altLang="zh-CN" baseline="0" dirty="0"/>
              <a:t> not enough.</a:t>
            </a:r>
          </a:p>
          <a:p>
            <a:r>
              <a:rPr lang="en-US" altLang="zh-CN" dirty="0"/>
              <a:t>We need</a:t>
            </a:r>
            <a:r>
              <a:rPr lang="en-US" altLang="zh-CN" baseline="0" dirty="0"/>
              <a:t> other constraints to ensure </a:t>
            </a:r>
            <a:r>
              <a:rPr lang="en-US" sz="1600" b="1" dirty="0">
                <a:ea typeface="微软雅黑" panose="020B0503020204020204" pitchFamily="34" charset="-122"/>
              </a:rPr>
              <a:t>hardware components are in a </a:t>
            </a:r>
            <a:r>
              <a:rPr lang="en-US" sz="1600" b="1" dirty="0">
                <a:solidFill>
                  <a:srgbClr val="FF0000"/>
                </a:solidFill>
                <a:ea typeface="微软雅黑" panose="020B0503020204020204" pitchFamily="34" charset="-122"/>
              </a:rPr>
              <a:t>compatible</a:t>
            </a:r>
            <a:r>
              <a:rPr lang="en-US" sz="1600" b="1" dirty="0">
                <a:ea typeface="微软雅黑" panose="020B0503020204020204" pitchFamily="34" charset="-122"/>
              </a:rPr>
              <a:t> manner.</a:t>
            </a:r>
          </a:p>
          <a:p>
            <a:endParaRPr lang="en-US" altLang="zh-CN" sz="1600" b="1" dirty="0">
              <a:ea typeface="微软雅黑" panose="020B0503020204020204" pitchFamily="34" charset="-122"/>
            </a:endParaRPr>
          </a:p>
          <a:p>
            <a:r>
              <a:rPr lang="en-US" altLang="zh-CN" sz="1600" b="0" dirty="0">
                <a:ea typeface="微软雅黑" panose="020B0503020204020204" pitchFamily="34" charset="-122"/>
              </a:rPr>
              <a:t>First, we need to consider the </a:t>
            </a:r>
            <a:r>
              <a:rPr lang="en-US" altLang="zh-CN" sz="1600" b="0" dirty="0" err="1">
                <a:ea typeface="微软雅黑" panose="020B0503020204020204" pitchFamily="34" charset="-122"/>
              </a:rPr>
              <a:t>hw</a:t>
            </a:r>
            <a:r>
              <a:rPr lang="en-US" altLang="zh-CN" sz="1600" b="0" dirty="0">
                <a:ea typeface="微软雅黑" panose="020B0503020204020204" pitchFamily="34" charset="-122"/>
              </a:rPr>
              <a:t> components can connect to each other.</a:t>
            </a:r>
          </a:p>
          <a:p>
            <a:r>
              <a:rPr lang="en-US" altLang="zh-CN" sz="1600" b="0" dirty="0">
                <a:ea typeface="微软雅黑" panose="020B0503020204020204" pitchFamily="34" charset="-122"/>
              </a:rPr>
              <a:t>As shown in the figure,</a:t>
            </a:r>
            <a:r>
              <a:rPr lang="en-US" altLang="zh-CN" sz="1600" b="0" baseline="0" dirty="0">
                <a:ea typeface="微软雅黑" panose="020B0503020204020204" pitchFamily="34" charset="-122"/>
              </a:rPr>
              <a:t> there are roughly two kinds of interfaces, </a:t>
            </a:r>
            <a:r>
              <a:rPr lang="en-US" altLang="zh-CN" sz="1600" b="0" baseline="0" dirty="0" err="1">
                <a:ea typeface="微软雅黑" panose="020B0503020204020204" pitchFamily="34" charset="-122"/>
              </a:rPr>
              <a:t>phy</a:t>
            </a:r>
            <a:r>
              <a:rPr lang="en-US" altLang="zh-CN" sz="1600" b="0" baseline="0" dirty="0">
                <a:ea typeface="微软雅黑" panose="020B0503020204020204" pitchFamily="34" charset="-122"/>
              </a:rPr>
              <a:t> pins and ports.</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600" b="0" baseline="0" dirty="0">
                <a:ea typeface="微软雅黑" panose="020B0503020204020204" pitchFamily="34" charset="-122"/>
              </a:rPr>
              <a:t>All M, S and P can both provide and consume the interfaces.</a:t>
            </a:r>
          </a:p>
          <a:p>
            <a:r>
              <a:rPr lang="en-US" altLang="zh-CN" sz="1600" b="0" baseline="0" dirty="0">
                <a:ea typeface="微软雅黑" panose="020B0503020204020204" pitchFamily="34" charset="-122"/>
              </a:rPr>
              <a:t>The provided number of ports should be greater than the consumed ones.</a:t>
            </a:r>
          </a:p>
          <a:p>
            <a:endParaRPr lang="en-US" altLang="zh-CN" sz="1600" b="0" baseline="0" dirty="0">
              <a:ea typeface="微软雅黑" panose="020B0503020204020204" pitchFamily="34" charset="-122"/>
            </a:endParaRPr>
          </a:p>
          <a:p>
            <a:r>
              <a:rPr lang="en-US" altLang="zh-CN" sz="1600" b="0" baseline="0" dirty="0">
                <a:ea typeface="微软雅黑" panose="020B0503020204020204" pitchFamily="34" charset="-122"/>
              </a:rPr>
              <a:t>Moreover, we need to consider the type of interfaces, as components with different types cannot communicate to each other.</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600" b="0" baseline="0" dirty="0">
                <a:ea typeface="微软雅黑" panose="020B0503020204020204" pitchFamily="34" charset="-122"/>
              </a:rPr>
              <a:t>Thus, for each type in the </a:t>
            </a:r>
            <a:r>
              <a:rPr lang="en-US" sz="1600" b="1" dirty="0">
                <a:solidFill>
                  <a:schemeClr val="bg1"/>
                </a:solidFill>
              </a:rPr>
              <a:t>set, we will generate an interface constraint.</a:t>
            </a:r>
            <a:endParaRPr lang="en-US" altLang="zh-CN" sz="1600" b="0" baseline="0" dirty="0">
              <a:ea typeface="微软雅黑" panose="020B0503020204020204" pitchFamily="34" charset="-122"/>
            </a:endParaRPr>
          </a:p>
          <a:p>
            <a:endParaRPr lang="en-US" altLang="zh-CN" sz="1600" b="0" baseline="0" dirty="0">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79E0BA8A-49C3-4343-A91F-BA8869CA45F8}" type="slidenum">
              <a:rPr lang="zh-CN" altLang="en-US" smtClean="0"/>
              <a:t>71</a:t>
            </a:fld>
            <a:endParaRPr lang="zh-CN" altLang="en-US"/>
          </a:p>
        </p:txBody>
      </p:sp>
    </p:spTree>
    <p:extLst>
      <p:ext uri="{BB962C8B-B14F-4D97-AF65-F5344CB8AC3E}">
        <p14:creationId xmlns:p14="http://schemas.microsoft.com/office/powerpoint/2010/main" val="69495312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en-US" altLang="zh-CN" dirty="0"/>
              <a:t>Given the above</a:t>
            </a:r>
            <a:r>
              <a:rPr lang="en-US" altLang="zh-CN" baseline="0" dirty="0"/>
              <a:t> constraints, we formulate the problem as follows.</a:t>
            </a:r>
            <a:endParaRPr lang="zh-CN" altLang="en-US" dirty="0"/>
          </a:p>
        </p:txBody>
      </p:sp>
      <p:sp>
        <p:nvSpPr>
          <p:cNvPr id="4" name="灯片编号占位符 3"/>
          <p:cNvSpPr>
            <a:spLocks noGrp="1"/>
          </p:cNvSpPr>
          <p:nvPr>
            <p:ph type="sldNum" sz="quarter" idx="10"/>
          </p:nvPr>
        </p:nvSpPr>
        <p:spPr/>
        <p:txBody>
          <a:bodyPr/>
          <a:lstStyle/>
          <a:p>
            <a:fld id="{79E0BA8A-49C3-4343-A91F-BA8869CA45F8}" type="slidenum">
              <a:rPr lang="zh-CN" altLang="en-US" smtClean="0"/>
              <a:t>72</a:t>
            </a:fld>
            <a:endParaRPr lang="zh-CN" altLang="en-US"/>
          </a:p>
        </p:txBody>
      </p:sp>
    </p:spTree>
    <p:extLst>
      <p:ext uri="{BB962C8B-B14F-4D97-AF65-F5344CB8AC3E}">
        <p14:creationId xmlns:p14="http://schemas.microsoft.com/office/powerpoint/2010/main" val="14424188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Currently, we implement</a:t>
            </a:r>
            <a:r>
              <a:rPr lang="en-US" altLang="zh-CN" baseline="0" dirty="0"/>
              <a:t> 24 categories of APIs.</a:t>
            </a:r>
          </a:p>
          <a:p>
            <a:endParaRPr lang="en-US" altLang="zh-CN" baseline="0" dirty="0"/>
          </a:p>
          <a:p>
            <a:r>
              <a:rPr kumimoji="1" lang="en-US" altLang="zh-CN" sz="1200" b="0" i="0" u="none" strike="noStrike" kern="1200" baseline="0" dirty="0">
                <a:solidFill>
                  <a:schemeClr val="tx1"/>
                </a:solidFill>
                <a:latin typeface="Arial" charset="0"/>
                <a:ea typeface="+mn-ea"/>
                <a:cs typeface="+mn-cs"/>
              </a:rPr>
              <a:t>TinyLink APIs Covers 89.78% of the total APIs we have investigated,</a:t>
            </a:r>
          </a:p>
          <a:p>
            <a:r>
              <a:rPr kumimoji="1" lang="en-US" altLang="zh-CN" sz="1200" b="0" i="0" u="none" strike="noStrike" kern="1200" baseline="0" dirty="0">
                <a:solidFill>
                  <a:schemeClr val="tx1"/>
                </a:solidFill>
                <a:latin typeface="Arial" charset="0"/>
                <a:ea typeface="+mn-ea"/>
                <a:cs typeface="+mn-cs"/>
              </a:rPr>
              <a:t>The remaining 10.22% uncovered of the APIs are left unimplemented.</a:t>
            </a:r>
          </a:p>
          <a:p>
            <a:endParaRPr kumimoji="1" lang="en-US" altLang="zh-CN" sz="1200" b="0" i="0" u="none" strike="noStrike" kern="1200" baseline="0" dirty="0">
              <a:solidFill>
                <a:schemeClr val="tx1"/>
              </a:solidFill>
              <a:latin typeface="Arial" charset="0"/>
              <a:ea typeface="+mn-ea"/>
              <a:cs typeface="+mn-cs"/>
            </a:endParaRPr>
          </a:p>
          <a:p>
            <a:r>
              <a:rPr kumimoji="1" lang="en-US" altLang="zh-CN" sz="1200" b="0" i="0" u="none" strike="noStrike" kern="1200" baseline="0" dirty="0">
                <a:solidFill>
                  <a:schemeClr val="tx1"/>
                </a:solidFill>
                <a:latin typeface="Arial" charset="0"/>
                <a:ea typeface="+mn-ea"/>
                <a:cs typeface="+mn-cs"/>
              </a:rPr>
              <a:t>67.24% of the projects are supported by TinyLink and can be ported to TinyLink with little modifications.</a:t>
            </a:r>
          </a:p>
          <a:p>
            <a:r>
              <a:rPr kumimoji="1" lang="en-US" altLang="zh-CN" sz="1200" b="0" i="0" u="none" strike="noStrike" kern="1200" baseline="0" dirty="0">
                <a:solidFill>
                  <a:schemeClr val="tx1"/>
                </a:solidFill>
                <a:latin typeface="Arial" charset="0"/>
                <a:ea typeface="+mn-ea"/>
                <a:cs typeface="+mn-cs"/>
              </a:rPr>
              <a:t>The remaining 32.76% of the projects have at least one uncovered API</a:t>
            </a:r>
          </a:p>
          <a:p>
            <a:r>
              <a:rPr kumimoji="1" lang="en-US" altLang="zh-CN" sz="1200" b="0" i="0" u="none" strike="noStrike" kern="1200" baseline="0" dirty="0">
                <a:solidFill>
                  <a:schemeClr val="tx1"/>
                </a:solidFill>
                <a:latin typeface="Arial" charset="0"/>
                <a:ea typeface="+mn-ea"/>
                <a:cs typeface="+mn-cs"/>
              </a:rPr>
              <a:t>and thus cannot be easily ported to TinyLink in the current stage.</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75</a:t>
            </a:fld>
            <a:endParaRPr lang="en-US" altLang="zh-CN"/>
          </a:p>
        </p:txBody>
      </p:sp>
    </p:spTree>
    <p:extLst>
      <p:ext uri="{BB962C8B-B14F-4D97-AF65-F5344CB8AC3E}">
        <p14:creationId xmlns:p14="http://schemas.microsoft.com/office/powerpoint/2010/main" val="25070822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Dylog</a:t>
            </a:r>
            <a:r>
              <a:rPr lang="en-US" altLang="zh-CN" dirty="0"/>
              <a:t>,</a:t>
            </a:r>
            <a:r>
              <a:rPr lang="en-US" altLang="zh-CN" baseline="0" dirty="0"/>
              <a:t> TECS</a:t>
            </a:r>
            <a:r>
              <a:rPr lang="zh-CN" altLang="en-US" baseline="0" dirty="0"/>
              <a:t>放进来</a:t>
            </a:r>
            <a:endParaRPr lang="en-US" altLang="zh-CN" baseline="0" dirty="0"/>
          </a:p>
          <a:p>
            <a:r>
              <a:rPr lang="zh-CN" altLang="en-US" baseline="0" dirty="0"/>
              <a:t>出现</a:t>
            </a:r>
            <a:r>
              <a:rPr lang="en-US" altLang="zh-CN" baseline="0" dirty="0"/>
              <a:t>warning</a:t>
            </a:r>
            <a:r>
              <a:rPr lang="zh-CN" altLang="en-US" baseline="0" dirty="0"/>
              <a:t>，不满足</a:t>
            </a:r>
            <a:r>
              <a:rPr lang="en-US" altLang="zh-CN" baseline="0" dirty="0"/>
              <a:t>DBG</a:t>
            </a:r>
            <a:r>
              <a:rPr lang="zh-CN" altLang="en-US" baseline="0" dirty="0"/>
              <a:t>也能出现列表</a:t>
            </a:r>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76</a:t>
            </a:fld>
            <a:endParaRPr lang="en-US" altLang="zh-CN"/>
          </a:p>
        </p:txBody>
      </p:sp>
    </p:spTree>
    <p:extLst>
      <p:ext uri="{BB962C8B-B14F-4D97-AF65-F5344CB8AC3E}">
        <p14:creationId xmlns:p14="http://schemas.microsoft.com/office/powerpoint/2010/main" val="362664136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77</a:t>
            </a:fld>
            <a:endParaRPr lang="en-US" altLang="zh-CN">
              <a:solidFill>
                <a:srgbClr val="000000"/>
              </a:solidFill>
            </a:endParaRPr>
          </a:p>
        </p:txBody>
      </p:sp>
    </p:spTree>
    <p:extLst>
      <p:ext uri="{BB962C8B-B14F-4D97-AF65-F5344CB8AC3E}">
        <p14:creationId xmlns:p14="http://schemas.microsoft.com/office/powerpoint/2010/main" val="2633034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78</a:t>
            </a:fld>
            <a:endParaRPr lang="en-US" altLang="zh-CN">
              <a:solidFill>
                <a:srgbClr val="000000"/>
              </a:solidFill>
            </a:endParaRPr>
          </a:p>
        </p:txBody>
      </p:sp>
    </p:spTree>
    <p:extLst>
      <p:ext uri="{BB962C8B-B14F-4D97-AF65-F5344CB8AC3E}">
        <p14:creationId xmlns:p14="http://schemas.microsoft.com/office/powerpoint/2010/main" val="380945673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79</a:t>
            </a:fld>
            <a:endParaRPr lang="en-US" altLang="zh-CN">
              <a:solidFill>
                <a:srgbClr val="000000"/>
              </a:solidFill>
            </a:endParaRPr>
          </a:p>
        </p:txBody>
      </p:sp>
    </p:spTree>
    <p:extLst>
      <p:ext uri="{BB962C8B-B14F-4D97-AF65-F5344CB8AC3E}">
        <p14:creationId xmlns:p14="http://schemas.microsoft.com/office/powerpoint/2010/main" val="314171376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80</a:t>
            </a:fld>
            <a:endParaRPr lang="en-US" altLang="zh-CN">
              <a:solidFill>
                <a:srgbClr val="000000"/>
              </a:solidFill>
            </a:endParaRPr>
          </a:p>
        </p:txBody>
      </p:sp>
    </p:spTree>
    <p:extLst>
      <p:ext uri="{BB962C8B-B14F-4D97-AF65-F5344CB8AC3E}">
        <p14:creationId xmlns:p14="http://schemas.microsoft.com/office/powerpoint/2010/main" val="347439494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81</a:t>
            </a:fld>
            <a:endParaRPr lang="en-US" altLang="zh-CN">
              <a:solidFill>
                <a:srgbClr val="000000"/>
              </a:solidFill>
            </a:endParaRPr>
          </a:p>
        </p:txBody>
      </p:sp>
    </p:spTree>
    <p:extLst>
      <p:ext uri="{BB962C8B-B14F-4D97-AF65-F5344CB8AC3E}">
        <p14:creationId xmlns:p14="http://schemas.microsoft.com/office/powerpoint/2010/main" val="239571456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82</a:t>
            </a:fld>
            <a:endParaRPr lang="en-US" altLang="zh-CN">
              <a:solidFill>
                <a:srgbClr val="000000"/>
              </a:solidFill>
            </a:endParaRPr>
          </a:p>
        </p:txBody>
      </p:sp>
    </p:spTree>
    <p:extLst>
      <p:ext uri="{BB962C8B-B14F-4D97-AF65-F5344CB8AC3E}">
        <p14:creationId xmlns:p14="http://schemas.microsoft.com/office/powerpoint/2010/main" val="131579079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zh</a:t>
            </a:r>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83</a:t>
            </a:fld>
            <a:endParaRPr lang="en-US" altLang="zh-CN">
              <a:solidFill>
                <a:srgbClr val="000000"/>
              </a:solidFill>
            </a:endParaRPr>
          </a:p>
        </p:txBody>
      </p:sp>
    </p:spTree>
    <p:extLst>
      <p:ext uri="{BB962C8B-B14F-4D97-AF65-F5344CB8AC3E}">
        <p14:creationId xmlns:p14="http://schemas.microsoft.com/office/powerpoint/2010/main" val="317212234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zh</a:t>
            </a:r>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85</a:t>
            </a:fld>
            <a:endParaRPr lang="en-US" altLang="zh-CN"/>
          </a:p>
        </p:txBody>
      </p:sp>
    </p:spTree>
    <p:extLst>
      <p:ext uri="{BB962C8B-B14F-4D97-AF65-F5344CB8AC3E}">
        <p14:creationId xmlns:p14="http://schemas.microsoft.com/office/powerpoint/2010/main" val="358628057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87</a:t>
            </a:fld>
            <a:endParaRPr lang="en-US" altLang="zh-CN"/>
          </a:p>
        </p:txBody>
      </p:sp>
    </p:spTree>
    <p:extLst>
      <p:ext uri="{BB962C8B-B14F-4D97-AF65-F5344CB8AC3E}">
        <p14:creationId xmlns:p14="http://schemas.microsoft.com/office/powerpoint/2010/main" val="346711311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88</a:t>
            </a:fld>
            <a:endParaRPr lang="en-US" altLang="zh-CN"/>
          </a:p>
        </p:txBody>
      </p:sp>
    </p:spTree>
    <p:extLst>
      <p:ext uri="{BB962C8B-B14F-4D97-AF65-F5344CB8AC3E}">
        <p14:creationId xmlns:p14="http://schemas.microsoft.com/office/powerpoint/2010/main" val="54080659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latin typeface="Times New Roman" panose="02020603050405020304" pitchFamily="18" charset="0"/>
                <a:cs typeface="Times New Roman" panose="02020603050405020304" pitchFamily="18" charset="0"/>
              </a:rPr>
              <a:t>设备开发工作台</a:t>
            </a:r>
            <a:endParaRPr lang="en-US" altLang="zh-CN" sz="1200" dirty="0">
              <a:latin typeface="Times New Roman" panose="02020603050405020304" pitchFamily="18" charset="0"/>
              <a:cs typeface="Times New Roman" panose="02020603050405020304" pitchFamily="18" charset="0"/>
            </a:endParaRPr>
          </a:p>
          <a:p>
            <a:r>
              <a:rPr lang="zh-CN" altLang="en-US" dirty="0"/>
              <a:t>官网找不到了</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89</a:t>
            </a:fld>
            <a:endParaRPr lang="en-US" altLang="zh-CN"/>
          </a:p>
        </p:txBody>
      </p:sp>
    </p:spTree>
    <p:extLst>
      <p:ext uri="{BB962C8B-B14F-4D97-AF65-F5344CB8AC3E}">
        <p14:creationId xmlns:p14="http://schemas.microsoft.com/office/powerpoint/2010/main" val="215484734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90</a:t>
            </a:fld>
            <a:endParaRPr lang="en-US" altLang="zh-CN"/>
          </a:p>
        </p:txBody>
      </p:sp>
    </p:spTree>
    <p:extLst>
      <p:ext uri="{BB962C8B-B14F-4D97-AF65-F5344CB8AC3E}">
        <p14:creationId xmlns:p14="http://schemas.microsoft.com/office/powerpoint/2010/main" val="373042783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91</a:t>
            </a:fld>
            <a:endParaRPr lang="en-US" altLang="zh-CN"/>
          </a:p>
        </p:txBody>
      </p:sp>
    </p:spTree>
    <p:extLst>
      <p:ext uri="{BB962C8B-B14F-4D97-AF65-F5344CB8AC3E}">
        <p14:creationId xmlns:p14="http://schemas.microsoft.com/office/powerpoint/2010/main" val="406348010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92</a:t>
            </a:fld>
            <a:endParaRPr lang="en-US" altLang="zh-CN"/>
          </a:p>
        </p:txBody>
      </p:sp>
    </p:spTree>
    <p:extLst>
      <p:ext uri="{BB962C8B-B14F-4D97-AF65-F5344CB8AC3E}">
        <p14:creationId xmlns:p14="http://schemas.microsoft.com/office/powerpoint/2010/main" val="187536342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93</a:t>
            </a:fld>
            <a:endParaRPr lang="en-US" altLang="zh-CN"/>
          </a:p>
        </p:txBody>
      </p:sp>
    </p:spTree>
    <p:extLst>
      <p:ext uri="{BB962C8B-B14F-4D97-AF65-F5344CB8AC3E}">
        <p14:creationId xmlns:p14="http://schemas.microsoft.com/office/powerpoint/2010/main" val="267051136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95</a:t>
            </a:fld>
            <a:endParaRPr lang="en-US" altLang="zh-CN"/>
          </a:p>
        </p:txBody>
      </p:sp>
    </p:spTree>
    <p:extLst>
      <p:ext uri="{BB962C8B-B14F-4D97-AF65-F5344CB8AC3E}">
        <p14:creationId xmlns:p14="http://schemas.microsoft.com/office/powerpoint/2010/main" val="88018733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96</a:t>
            </a:fld>
            <a:endParaRPr lang="en-US" altLang="zh-CN"/>
          </a:p>
        </p:txBody>
      </p:sp>
    </p:spTree>
    <p:extLst>
      <p:ext uri="{BB962C8B-B14F-4D97-AF65-F5344CB8AC3E}">
        <p14:creationId xmlns:p14="http://schemas.microsoft.com/office/powerpoint/2010/main" val="407020249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97</a:t>
            </a:fld>
            <a:endParaRPr lang="en-US" altLang="zh-CN"/>
          </a:p>
        </p:txBody>
      </p:sp>
    </p:spTree>
    <p:extLst>
      <p:ext uri="{BB962C8B-B14F-4D97-AF65-F5344CB8AC3E}">
        <p14:creationId xmlns:p14="http://schemas.microsoft.com/office/powerpoint/2010/main" val="178895761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98</a:t>
            </a:fld>
            <a:endParaRPr lang="en-US" altLang="zh-CN"/>
          </a:p>
        </p:txBody>
      </p:sp>
    </p:spTree>
    <p:extLst>
      <p:ext uri="{BB962C8B-B14F-4D97-AF65-F5344CB8AC3E}">
        <p14:creationId xmlns:p14="http://schemas.microsoft.com/office/powerpoint/2010/main" val="269522600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100</a:t>
            </a:fld>
            <a:endParaRPr lang="en-US" altLang="zh-CN"/>
          </a:p>
        </p:txBody>
      </p:sp>
    </p:spTree>
    <p:extLst>
      <p:ext uri="{BB962C8B-B14F-4D97-AF65-F5344CB8AC3E}">
        <p14:creationId xmlns:p14="http://schemas.microsoft.com/office/powerpoint/2010/main" val="100867764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101</a:t>
            </a:fld>
            <a:endParaRPr lang="en-US" altLang="zh-CN"/>
          </a:p>
        </p:txBody>
      </p:sp>
    </p:spTree>
    <p:extLst>
      <p:ext uri="{BB962C8B-B14F-4D97-AF65-F5344CB8AC3E}">
        <p14:creationId xmlns:p14="http://schemas.microsoft.com/office/powerpoint/2010/main" val="332791583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102</a:t>
            </a:fld>
            <a:endParaRPr lang="en-US" altLang="zh-CN"/>
          </a:p>
        </p:txBody>
      </p:sp>
    </p:spTree>
    <p:extLst>
      <p:ext uri="{BB962C8B-B14F-4D97-AF65-F5344CB8AC3E}">
        <p14:creationId xmlns:p14="http://schemas.microsoft.com/office/powerpoint/2010/main" val="123828688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103</a:t>
            </a:fld>
            <a:endParaRPr lang="en-US" altLang="zh-CN"/>
          </a:p>
        </p:txBody>
      </p:sp>
    </p:spTree>
    <p:extLst>
      <p:ext uri="{BB962C8B-B14F-4D97-AF65-F5344CB8AC3E}">
        <p14:creationId xmlns:p14="http://schemas.microsoft.com/office/powerpoint/2010/main" val="66705278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这个课堂练习还是需要前面几页</a:t>
            </a:r>
            <a:r>
              <a:rPr lang="en-US" altLang="zh-CN" dirty="0"/>
              <a:t>PPT</a:t>
            </a:r>
            <a:r>
              <a:rPr lang="zh-CN" altLang="en-US" dirty="0"/>
              <a:t>，目前放到一页放不下</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104</a:t>
            </a:fld>
            <a:endParaRPr lang="en-US" altLang="zh-CN"/>
          </a:p>
        </p:txBody>
      </p:sp>
    </p:spTree>
    <p:extLst>
      <p:ext uri="{BB962C8B-B14F-4D97-AF65-F5344CB8AC3E}">
        <p14:creationId xmlns:p14="http://schemas.microsoft.com/office/powerpoint/2010/main" val="763643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105</a:t>
            </a:fld>
            <a:endParaRPr lang="en-US" altLang="zh-CN"/>
          </a:p>
        </p:txBody>
      </p:sp>
    </p:spTree>
    <p:extLst>
      <p:ext uri="{BB962C8B-B14F-4D97-AF65-F5344CB8AC3E}">
        <p14:creationId xmlns:p14="http://schemas.microsoft.com/office/powerpoint/2010/main" val="378214692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106</a:t>
            </a:fld>
            <a:endParaRPr lang="en-US" altLang="zh-CN"/>
          </a:p>
        </p:txBody>
      </p:sp>
    </p:spTree>
    <p:extLst>
      <p:ext uri="{BB962C8B-B14F-4D97-AF65-F5344CB8AC3E}">
        <p14:creationId xmlns:p14="http://schemas.microsoft.com/office/powerpoint/2010/main" val="4553601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107</a:t>
            </a:fld>
            <a:endParaRPr lang="en-US" altLang="zh-CN"/>
          </a:p>
        </p:txBody>
      </p:sp>
    </p:spTree>
    <p:extLst>
      <p:ext uri="{BB962C8B-B14F-4D97-AF65-F5344CB8AC3E}">
        <p14:creationId xmlns:p14="http://schemas.microsoft.com/office/powerpoint/2010/main" val="347452052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108</a:t>
            </a:fld>
            <a:endParaRPr lang="en-US" altLang="zh-CN"/>
          </a:p>
        </p:txBody>
      </p:sp>
    </p:spTree>
    <p:extLst>
      <p:ext uri="{BB962C8B-B14F-4D97-AF65-F5344CB8AC3E}">
        <p14:creationId xmlns:p14="http://schemas.microsoft.com/office/powerpoint/2010/main" val="160559957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109</a:t>
            </a:fld>
            <a:endParaRPr lang="en-US" altLang="zh-CN"/>
          </a:p>
        </p:txBody>
      </p:sp>
    </p:spTree>
    <p:extLst>
      <p:ext uri="{BB962C8B-B14F-4D97-AF65-F5344CB8AC3E}">
        <p14:creationId xmlns:p14="http://schemas.microsoft.com/office/powerpoint/2010/main" val="249036972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110</a:t>
            </a:fld>
            <a:endParaRPr lang="en-US" altLang="zh-CN"/>
          </a:p>
        </p:txBody>
      </p:sp>
    </p:spTree>
    <p:extLst>
      <p:ext uri="{BB962C8B-B14F-4D97-AF65-F5344CB8AC3E}">
        <p14:creationId xmlns:p14="http://schemas.microsoft.com/office/powerpoint/2010/main" val="309895613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111</a:t>
            </a:fld>
            <a:endParaRPr lang="en-US" altLang="zh-CN"/>
          </a:p>
        </p:txBody>
      </p:sp>
    </p:spTree>
    <p:extLst>
      <p:ext uri="{BB962C8B-B14F-4D97-AF65-F5344CB8AC3E}">
        <p14:creationId xmlns:p14="http://schemas.microsoft.com/office/powerpoint/2010/main" val="182928310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112</a:t>
            </a:fld>
            <a:endParaRPr lang="en-US" altLang="zh-CN"/>
          </a:p>
        </p:txBody>
      </p:sp>
    </p:spTree>
    <p:extLst>
      <p:ext uri="{BB962C8B-B14F-4D97-AF65-F5344CB8AC3E}">
        <p14:creationId xmlns:p14="http://schemas.microsoft.com/office/powerpoint/2010/main" val="303990928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113</a:t>
            </a:fld>
            <a:endParaRPr lang="en-US" altLang="zh-CN"/>
          </a:p>
        </p:txBody>
      </p:sp>
    </p:spTree>
    <p:extLst>
      <p:ext uri="{BB962C8B-B14F-4D97-AF65-F5344CB8AC3E}">
        <p14:creationId xmlns:p14="http://schemas.microsoft.com/office/powerpoint/2010/main" val="276896859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114</a:t>
            </a:fld>
            <a:endParaRPr lang="en-US" altLang="zh-CN"/>
          </a:p>
        </p:txBody>
      </p:sp>
    </p:spTree>
    <p:extLst>
      <p:ext uri="{BB962C8B-B14F-4D97-AF65-F5344CB8AC3E}">
        <p14:creationId xmlns:p14="http://schemas.microsoft.com/office/powerpoint/2010/main" val="401318736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115</a:t>
            </a:fld>
            <a:endParaRPr lang="en-US" altLang="zh-CN"/>
          </a:p>
        </p:txBody>
      </p:sp>
    </p:spTree>
    <p:extLst>
      <p:ext uri="{BB962C8B-B14F-4D97-AF65-F5344CB8AC3E}">
        <p14:creationId xmlns:p14="http://schemas.microsoft.com/office/powerpoint/2010/main" val="264623726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zh</a:t>
            </a:r>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118</a:t>
            </a:fld>
            <a:endParaRPr lang="en-US" altLang="zh-CN">
              <a:solidFill>
                <a:srgbClr val="000000"/>
              </a:solidFill>
            </a:endParaRPr>
          </a:p>
        </p:txBody>
      </p:sp>
    </p:spTree>
    <p:extLst>
      <p:ext uri="{BB962C8B-B14F-4D97-AF65-F5344CB8AC3E}">
        <p14:creationId xmlns:p14="http://schemas.microsoft.com/office/powerpoint/2010/main" val="56835552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zh</a:t>
            </a:r>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125</a:t>
            </a:fld>
            <a:endParaRPr lang="en-US" altLang="zh-CN">
              <a:solidFill>
                <a:srgbClr val="000000"/>
              </a:solidFill>
            </a:endParaRPr>
          </a:p>
        </p:txBody>
      </p:sp>
    </p:spTree>
    <p:extLst>
      <p:ext uri="{BB962C8B-B14F-4D97-AF65-F5344CB8AC3E}">
        <p14:creationId xmlns:p14="http://schemas.microsoft.com/office/powerpoint/2010/main" val="198153185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具体的模型指出</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127</a:t>
            </a:fld>
            <a:endParaRPr lang="en-US" altLang="zh-CN"/>
          </a:p>
        </p:txBody>
      </p:sp>
    </p:spTree>
    <p:extLst>
      <p:ext uri="{BB962C8B-B14F-4D97-AF65-F5344CB8AC3E}">
        <p14:creationId xmlns:p14="http://schemas.microsoft.com/office/powerpoint/2010/main" val="137235475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具体的模型指出</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128</a:t>
            </a:fld>
            <a:endParaRPr lang="en-US" altLang="zh-CN"/>
          </a:p>
        </p:txBody>
      </p:sp>
    </p:spTree>
    <p:extLst>
      <p:ext uri="{BB962C8B-B14F-4D97-AF65-F5344CB8AC3E}">
        <p14:creationId xmlns:p14="http://schemas.microsoft.com/office/powerpoint/2010/main" val="280701329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具体的模型指出</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129</a:t>
            </a:fld>
            <a:endParaRPr lang="en-US" altLang="zh-CN"/>
          </a:p>
        </p:txBody>
      </p:sp>
    </p:spTree>
    <p:extLst>
      <p:ext uri="{BB962C8B-B14F-4D97-AF65-F5344CB8AC3E}">
        <p14:creationId xmlns:p14="http://schemas.microsoft.com/office/powerpoint/2010/main" val="91273158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具体的模型指出</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130</a:t>
            </a:fld>
            <a:endParaRPr lang="en-US" altLang="zh-CN"/>
          </a:p>
        </p:txBody>
      </p:sp>
    </p:spTree>
    <p:extLst>
      <p:ext uri="{BB962C8B-B14F-4D97-AF65-F5344CB8AC3E}">
        <p14:creationId xmlns:p14="http://schemas.microsoft.com/office/powerpoint/2010/main" val="399563785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具体的模型指出</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131</a:t>
            </a:fld>
            <a:endParaRPr lang="en-US" altLang="zh-CN"/>
          </a:p>
        </p:txBody>
      </p:sp>
    </p:spTree>
    <p:extLst>
      <p:ext uri="{BB962C8B-B14F-4D97-AF65-F5344CB8AC3E}">
        <p14:creationId xmlns:p14="http://schemas.microsoft.com/office/powerpoint/2010/main" val="86881063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具体的模型指出</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132</a:t>
            </a:fld>
            <a:endParaRPr lang="en-US" altLang="zh-CN"/>
          </a:p>
        </p:txBody>
      </p:sp>
    </p:spTree>
    <p:extLst>
      <p:ext uri="{BB962C8B-B14F-4D97-AF65-F5344CB8AC3E}">
        <p14:creationId xmlns:p14="http://schemas.microsoft.com/office/powerpoint/2010/main" val="318503210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具体的模型指出</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133</a:t>
            </a:fld>
            <a:endParaRPr lang="en-US" altLang="zh-CN"/>
          </a:p>
        </p:txBody>
      </p:sp>
    </p:spTree>
    <p:extLst>
      <p:ext uri="{BB962C8B-B14F-4D97-AF65-F5344CB8AC3E}">
        <p14:creationId xmlns:p14="http://schemas.microsoft.com/office/powerpoint/2010/main" val="368032262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具体的模型指出</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134</a:t>
            </a:fld>
            <a:endParaRPr lang="en-US" altLang="zh-CN"/>
          </a:p>
        </p:txBody>
      </p:sp>
    </p:spTree>
    <p:extLst>
      <p:ext uri="{BB962C8B-B14F-4D97-AF65-F5344CB8AC3E}">
        <p14:creationId xmlns:p14="http://schemas.microsoft.com/office/powerpoint/2010/main" val="387608297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具体的模型指出</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135</a:t>
            </a:fld>
            <a:endParaRPr lang="en-US" altLang="zh-CN"/>
          </a:p>
        </p:txBody>
      </p:sp>
    </p:spTree>
    <p:extLst>
      <p:ext uri="{BB962C8B-B14F-4D97-AF65-F5344CB8AC3E}">
        <p14:creationId xmlns:p14="http://schemas.microsoft.com/office/powerpoint/2010/main" val="337635899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具体的模型指出</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136</a:t>
            </a:fld>
            <a:endParaRPr lang="en-US" altLang="zh-CN"/>
          </a:p>
        </p:txBody>
      </p:sp>
    </p:spTree>
    <p:extLst>
      <p:ext uri="{BB962C8B-B14F-4D97-AF65-F5344CB8AC3E}">
        <p14:creationId xmlns:p14="http://schemas.microsoft.com/office/powerpoint/2010/main" val="256036791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总体的大图，不同平台的开发流程比较，在总结里面回顾一下，总结再加一页，整个的过程列一下，总的设备端、服务，设备端又分为几个过程，具体的流程可以先理一理，不知道能不能讲清楚（这个后面做）</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137</a:t>
            </a:fld>
            <a:endParaRPr lang="en-US" altLang="zh-CN"/>
          </a:p>
        </p:txBody>
      </p:sp>
    </p:spTree>
    <p:extLst>
      <p:ext uri="{BB962C8B-B14F-4D97-AF65-F5344CB8AC3E}">
        <p14:creationId xmlns:p14="http://schemas.microsoft.com/office/powerpoint/2010/main" val="196840531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具体的模型指出</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138</a:t>
            </a:fld>
            <a:endParaRPr lang="en-US" altLang="zh-CN"/>
          </a:p>
        </p:txBody>
      </p:sp>
    </p:spTree>
    <p:extLst>
      <p:ext uri="{BB962C8B-B14F-4D97-AF65-F5344CB8AC3E}">
        <p14:creationId xmlns:p14="http://schemas.microsoft.com/office/powerpoint/2010/main" val="3982462053"/>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具体的模型指出</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139</a:t>
            </a:fld>
            <a:endParaRPr lang="en-US" altLang="zh-CN"/>
          </a:p>
        </p:txBody>
      </p:sp>
    </p:spTree>
    <p:extLst>
      <p:ext uri="{BB962C8B-B14F-4D97-AF65-F5344CB8AC3E}">
        <p14:creationId xmlns:p14="http://schemas.microsoft.com/office/powerpoint/2010/main" val="1822505567"/>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具体的模型指出</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140</a:t>
            </a:fld>
            <a:endParaRPr lang="en-US" altLang="zh-CN"/>
          </a:p>
        </p:txBody>
      </p:sp>
    </p:spTree>
    <p:extLst>
      <p:ext uri="{BB962C8B-B14F-4D97-AF65-F5344CB8AC3E}">
        <p14:creationId xmlns:p14="http://schemas.microsoft.com/office/powerpoint/2010/main" val="2637999258"/>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具体的模型指出</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141</a:t>
            </a:fld>
            <a:endParaRPr lang="en-US" altLang="zh-CN"/>
          </a:p>
        </p:txBody>
      </p:sp>
    </p:spTree>
    <p:extLst>
      <p:ext uri="{BB962C8B-B14F-4D97-AF65-F5344CB8AC3E}">
        <p14:creationId xmlns:p14="http://schemas.microsoft.com/office/powerpoint/2010/main" val="306175155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zh</a:t>
            </a:r>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solidFill>
                  <a:srgbClr val="000000"/>
                </a:solidFill>
              </a:rPr>
              <a:pPr>
                <a:defRPr/>
              </a:pPr>
              <a:t>142</a:t>
            </a:fld>
            <a:endParaRPr lang="en-US" altLang="zh-CN">
              <a:solidFill>
                <a:srgbClr val="000000"/>
              </a:solidFill>
            </a:endParaRPr>
          </a:p>
        </p:txBody>
      </p:sp>
    </p:spTree>
    <p:extLst>
      <p:ext uri="{BB962C8B-B14F-4D97-AF65-F5344CB8AC3E}">
        <p14:creationId xmlns:p14="http://schemas.microsoft.com/office/powerpoint/2010/main" val="543076034"/>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143</a:t>
            </a:fld>
            <a:endParaRPr lang="en-US" altLang="zh-CN"/>
          </a:p>
        </p:txBody>
      </p:sp>
    </p:spTree>
    <p:extLst>
      <p:ext uri="{BB962C8B-B14F-4D97-AF65-F5344CB8AC3E}">
        <p14:creationId xmlns:p14="http://schemas.microsoft.com/office/powerpoint/2010/main" val="25270401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p:txBody>
          <a:bodyPr/>
          <a:lstStyle>
            <a:lvl1pPr algn="ctr" eaLnBrk="0" hangingPunct="0">
              <a:spcBef>
                <a:spcPct val="50000"/>
              </a:spcBef>
              <a:buClr>
                <a:schemeClr val="bg1"/>
              </a:buClr>
              <a:buSzPct val="100000"/>
              <a:defRPr sz="2400" baseline="-25000">
                <a:solidFill>
                  <a:schemeClr val="tx1"/>
                </a:solidFill>
                <a:latin typeface="Arial" charset="0"/>
              </a:defRPr>
            </a:lvl1pPr>
            <a:lvl2pPr marL="742950" indent="-285750" algn="ctr" eaLnBrk="0" hangingPunct="0">
              <a:spcBef>
                <a:spcPct val="50000"/>
              </a:spcBef>
              <a:buClr>
                <a:schemeClr val="bg1"/>
              </a:buClr>
              <a:buSzPct val="100000"/>
              <a:defRPr sz="2400" baseline="-25000">
                <a:solidFill>
                  <a:schemeClr val="tx1"/>
                </a:solidFill>
                <a:latin typeface="Arial" charset="0"/>
              </a:defRPr>
            </a:lvl2pPr>
            <a:lvl3pPr marL="1143000" indent="-228600" algn="ctr" eaLnBrk="0" hangingPunct="0">
              <a:spcBef>
                <a:spcPct val="50000"/>
              </a:spcBef>
              <a:buClr>
                <a:schemeClr val="bg1"/>
              </a:buClr>
              <a:buSzPct val="100000"/>
              <a:defRPr sz="2400" baseline="-25000">
                <a:solidFill>
                  <a:schemeClr val="tx1"/>
                </a:solidFill>
                <a:latin typeface="Arial" charset="0"/>
              </a:defRPr>
            </a:lvl3pPr>
            <a:lvl4pPr marL="1600200" indent="-228600" algn="ctr" eaLnBrk="0" hangingPunct="0">
              <a:spcBef>
                <a:spcPct val="50000"/>
              </a:spcBef>
              <a:buClr>
                <a:schemeClr val="bg1"/>
              </a:buClr>
              <a:buSzPct val="100000"/>
              <a:defRPr sz="2400" baseline="-25000">
                <a:solidFill>
                  <a:schemeClr val="tx1"/>
                </a:solidFill>
                <a:latin typeface="Arial" charset="0"/>
              </a:defRPr>
            </a:lvl4pPr>
            <a:lvl5pPr marL="2057400" indent="-228600" algn="ctr" eaLnBrk="0" hangingPunct="0">
              <a:spcBef>
                <a:spcPct val="50000"/>
              </a:spcBef>
              <a:buClr>
                <a:schemeClr val="bg1"/>
              </a:buClr>
              <a:buSzPct val="100000"/>
              <a:defRPr sz="2400" baseline="-25000">
                <a:solidFill>
                  <a:schemeClr val="tx1"/>
                </a:solidFill>
                <a:latin typeface="Arial" charset="0"/>
              </a:defRPr>
            </a:lvl5pPr>
            <a:lvl6pPr marL="25146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6pPr>
            <a:lvl7pPr marL="29718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7pPr>
            <a:lvl8pPr marL="34290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8pPr>
            <a:lvl9pPr marL="38862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9pPr>
          </a:lstStyle>
          <a:p>
            <a:pPr algn="r" eaLnBrk="1" hangingPunct="1">
              <a:spcBef>
                <a:spcPct val="0"/>
              </a:spcBef>
              <a:buClrTx/>
              <a:buSzTx/>
              <a:defRPr/>
            </a:pPr>
            <a:fld id="{76F23777-CEBB-41C8-8BE8-AF66406041A7}" type="slidenum">
              <a:rPr lang="zh-CN" altLang="en-US" sz="1200" baseline="0" smtClean="0">
                <a:latin typeface="Times New Roman" pitchFamily="18" charset="0"/>
              </a:rPr>
              <a:pPr algn="r" eaLnBrk="1" hangingPunct="1">
                <a:spcBef>
                  <a:spcPct val="0"/>
                </a:spcBef>
                <a:buClrTx/>
                <a:buSzTx/>
                <a:defRPr/>
              </a:pPr>
              <a:t>144</a:t>
            </a:fld>
            <a:endParaRPr lang="en-US" altLang="zh-CN" sz="1200" baseline="0">
              <a:latin typeface="Times New Roman" pitchFamily="18" charset="0"/>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Arial" pitchFamily="34" charset="0"/>
            </a:endParaRPr>
          </a:p>
        </p:txBody>
      </p:sp>
    </p:spTree>
    <p:extLst>
      <p:ext uri="{BB962C8B-B14F-4D97-AF65-F5344CB8AC3E}">
        <p14:creationId xmlns:p14="http://schemas.microsoft.com/office/powerpoint/2010/main" val="4766422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4" name="Line 40">
            <a:extLst>
              <a:ext uri="{FF2B5EF4-FFF2-40B4-BE49-F238E27FC236}">
                <a16:creationId xmlns:a16="http://schemas.microsoft.com/office/drawing/2014/main" id="{698CA585-460B-4D2A-BF50-F8F276BD975A}"/>
              </a:ext>
            </a:extLst>
          </p:cNvPr>
          <p:cNvSpPr>
            <a:spLocks noChangeShapeType="1"/>
          </p:cNvSpPr>
          <p:nvPr userDrawn="1"/>
        </p:nvSpPr>
        <p:spPr bwMode="auto">
          <a:xfrm>
            <a:off x="0" y="1524000"/>
            <a:ext cx="9144000" cy="0"/>
          </a:xfrm>
          <a:prstGeom prst="line">
            <a:avLst/>
          </a:prstGeom>
          <a:noFill/>
          <a:ln w="3175">
            <a:solidFill>
              <a:srgbClr val="CC3300"/>
            </a:solidFill>
            <a:round/>
            <a:headEnd/>
            <a:tailEnd/>
          </a:ln>
          <a:effectLst/>
        </p:spPr>
        <p:txBody>
          <a:bodyPr/>
          <a:lstStyle/>
          <a:p>
            <a:pPr algn="ctr">
              <a:spcBef>
                <a:spcPct val="50000"/>
              </a:spcBef>
              <a:buClr>
                <a:schemeClr val="bg1"/>
              </a:buClr>
              <a:buSzPct val="100000"/>
              <a:defRPr/>
            </a:pPr>
            <a:endParaRPr lang="zh-CN" altLang="en-US">
              <a:effectLst>
                <a:outerShdw blurRad="38100" dist="38100" dir="2700000" algn="tl">
                  <a:srgbClr val="000000">
                    <a:alpha val="43137"/>
                  </a:srgbClr>
                </a:outerShdw>
              </a:effectLst>
              <a:latin typeface="Arial" charset="0"/>
              <a:ea typeface="+mn-ea"/>
            </a:endParaRPr>
          </a:p>
        </p:txBody>
      </p:sp>
      <p:sp>
        <p:nvSpPr>
          <p:cNvPr id="15" name="Line 41">
            <a:extLst>
              <a:ext uri="{FF2B5EF4-FFF2-40B4-BE49-F238E27FC236}">
                <a16:creationId xmlns:a16="http://schemas.microsoft.com/office/drawing/2014/main" id="{6AA19AF3-16AC-4565-87FD-0411CD4CC4F1}"/>
              </a:ext>
            </a:extLst>
          </p:cNvPr>
          <p:cNvSpPr>
            <a:spLocks noChangeShapeType="1"/>
          </p:cNvSpPr>
          <p:nvPr userDrawn="1"/>
        </p:nvSpPr>
        <p:spPr bwMode="auto">
          <a:xfrm>
            <a:off x="0" y="4114800"/>
            <a:ext cx="9144000" cy="0"/>
          </a:xfrm>
          <a:prstGeom prst="line">
            <a:avLst/>
          </a:prstGeom>
          <a:noFill/>
          <a:ln w="3175">
            <a:solidFill>
              <a:srgbClr val="CC3300"/>
            </a:solidFill>
            <a:round/>
            <a:headEnd/>
            <a:tailEnd/>
          </a:ln>
          <a:effectLst/>
        </p:spPr>
        <p:txBody>
          <a:bodyPr/>
          <a:lstStyle/>
          <a:p>
            <a:pPr algn="ctr">
              <a:spcBef>
                <a:spcPct val="50000"/>
              </a:spcBef>
              <a:buClr>
                <a:schemeClr val="bg1"/>
              </a:buClr>
              <a:buSzPct val="100000"/>
              <a:defRPr/>
            </a:pPr>
            <a:endParaRPr lang="zh-CN" altLang="en-US">
              <a:effectLst>
                <a:outerShdw blurRad="38100" dist="38100" dir="2700000" algn="tl">
                  <a:srgbClr val="000000">
                    <a:alpha val="43137"/>
                  </a:srgbClr>
                </a:outerShdw>
              </a:effectLst>
              <a:latin typeface="Arial" charset="0"/>
              <a:ea typeface="+mn-ea"/>
            </a:endParaRPr>
          </a:p>
        </p:txBody>
      </p:sp>
      <p:sp>
        <p:nvSpPr>
          <p:cNvPr id="16" name="Rectangle 34">
            <a:extLst>
              <a:ext uri="{FF2B5EF4-FFF2-40B4-BE49-F238E27FC236}">
                <a16:creationId xmlns:a16="http://schemas.microsoft.com/office/drawing/2014/main" id="{60BD2587-324D-4672-91ED-5FE28BF331BE}"/>
              </a:ext>
            </a:extLst>
          </p:cNvPr>
          <p:cNvSpPr>
            <a:spLocks noGrp="1" noChangeArrowheads="1"/>
          </p:cNvSpPr>
          <p:nvPr>
            <p:ph type="ctrTitle" sz="quarter"/>
          </p:nvPr>
        </p:nvSpPr>
        <p:spPr>
          <a:xfrm>
            <a:off x="0" y="2209800"/>
            <a:ext cx="9144000" cy="1143000"/>
          </a:xfrm>
        </p:spPr>
        <p:txBody>
          <a:bodyPr/>
          <a:lstStyle>
            <a:lvl1pPr algn="ctr">
              <a:defRPr sz="4000" i="0">
                <a:solidFill>
                  <a:schemeClr val="tx1"/>
                </a:solidFill>
              </a:defRPr>
            </a:lvl1pPr>
          </a:lstStyle>
          <a:p>
            <a:r>
              <a:rPr lang="en-US" altLang="zh-CN" dirty="0"/>
              <a:t>Click to edit Master title style</a:t>
            </a:r>
          </a:p>
        </p:txBody>
      </p:sp>
      <p:sp>
        <p:nvSpPr>
          <p:cNvPr id="17" name="Rectangle 35">
            <a:extLst>
              <a:ext uri="{FF2B5EF4-FFF2-40B4-BE49-F238E27FC236}">
                <a16:creationId xmlns:a16="http://schemas.microsoft.com/office/drawing/2014/main" id="{4F6AEAD0-613C-4037-8E88-23764B431F06}"/>
              </a:ext>
            </a:extLst>
          </p:cNvPr>
          <p:cNvSpPr>
            <a:spLocks noGrp="1" noChangeArrowheads="1"/>
          </p:cNvSpPr>
          <p:nvPr>
            <p:ph type="subTitle" sz="quarter" idx="1"/>
          </p:nvPr>
        </p:nvSpPr>
        <p:spPr>
          <a:xfrm>
            <a:off x="1638300" y="4648200"/>
            <a:ext cx="5867400" cy="1447800"/>
          </a:xfrm>
        </p:spPr>
        <p:txBody>
          <a:bodyPr lIns="92075" tIns="46038" rIns="92075" bIns="46038"/>
          <a:lstStyle>
            <a:lvl1pPr marL="0" indent="0" algn="ctr">
              <a:buFont typeface="Wingdings" pitchFamily="2" charset="2"/>
              <a:buNone/>
              <a:defRPr sz="2400"/>
            </a:lvl1pPr>
          </a:lstStyle>
          <a:p>
            <a:r>
              <a:rPr lang="en-US" altLang="zh-CN" dirty="0"/>
              <a:t>Click to edit Master subtitle style</a:t>
            </a:r>
          </a:p>
        </p:txBody>
      </p:sp>
      <p:sp>
        <p:nvSpPr>
          <p:cNvPr id="18" name="AutoShape 2"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a:extLst>
              <a:ext uri="{FF2B5EF4-FFF2-40B4-BE49-F238E27FC236}">
                <a16:creationId xmlns:a16="http://schemas.microsoft.com/office/drawing/2014/main" id="{0C2A9571-45BB-4491-A145-DC532FE0506E}"/>
              </a:ext>
            </a:extLst>
          </p:cNvPr>
          <p:cNvSpPr>
            <a:spLocks noChangeAspect="1" noChangeArrowheads="1"/>
          </p:cNvSpPr>
          <p:nvPr userDrawn="1"/>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AutoShape 4"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a:extLst>
              <a:ext uri="{FF2B5EF4-FFF2-40B4-BE49-F238E27FC236}">
                <a16:creationId xmlns:a16="http://schemas.microsoft.com/office/drawing/2014/main" id="{41A5373D-FCE2-4248-A69C-7AF7B2672301}"/>
              </a:ext>
            </a:extLst>
          </p:cNvPr>
          <p:cNvSpPr>
            <a:spLocks noChangeAspect="1" noChangeArrowheads="1"/>
          </p:cNvSpPr>
          <p:nvPr userDrawn="1"/>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AutoShape 6"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a:extLst>
              <a:ext uri="{FF2B5EF4-FFF2-40B4-BE49-F238E27FC236}">
                <a16:creationId xmlns:a16="http://schemas.microsoft.com/office/drawing/2014/main" id="{90CCD634-E177-405E-B2BF-27B657DCF003}"/>
              </a:ext>
            </a:extLst>
          </p:cNvPr>
          <p:cNvSpPr>
            <a:spLocks noChangeAspect="1" noChangeArrowheads="1"/>
          </p:cNvSpPr>
          <p:nvPr userDrawn="1"/>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AutoShape 8"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a:extLst>
              <a:ext uri="{FF2B5EF4-FFF2-40B4-BE49-F238E27FC236}">
                <a16:creationId xmlns:a16="http://schemas.microsoft.com/office/drawing/2014/main" id="{7052B7D7-1D16-4487-97FE-E54E66161260}"/>
              </a:ext>
            </a:extLst>
          </p:cNvPr>
          <p:cNvSpPr>
            <a:spLocks noChangeAspect="1" noChangeArrowheads="1"/>
          </p:cNvSpPr>
          <p:nvPr userDrawn="1"/>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AutoShape 10"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a:extLst>
              <a:ext uri="{FF2B5EF4-FFF2-40B4-BE49-F238E27FC236}">
                <a16:creationId xmlns:a16="http://schemas.microsoft.com/office/drawing/2014/main" id="{59ACC3AC-BB3E-44B5-A267-AFE84D447F51}"/>
              </a:ext>
            </a:extLst>
          </p:cNvPr>
          <p:cNvSpPr>
            <a:spLocks noChangeAspect="1" noChangeArrowheads="1"/>
          </p:cNvSpPr>
          <p:nvPr userDrawn="1"/>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AutoShape 12"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a:extLst>
              <a:ext uri="{FF2B5EF4-FFF2-40B4-BE49-F238E27FC236}">
                <a16:creationId xmlns:a16="http://schemas.microsoft.com/office/drawing/2014/main" id="{B88BF874-88AE-4BB7-88DD-EC95F12724E9}"/>
              </a:ext>
            </a:extLst>
          </p:cNvPr>
          <p:cNvSpPr>
            <a:spLocks noChangeAspect="1" noChangeArrowheads="1"/>
          </p:cNvSpPr>
          <p:nvPr userDrawn="1"/>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23499484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FB7C6AD4-1EE4-4B94-85EC-C11C37F57FE9}"/>
              </a:ext>
            </a:extLst>
          </p:cNvPr>
          <p:cNvSpPr>
            <a:spLocks noGrp="1"/>
          </p:cNvSpPr>
          <p:nvPr>
            <p:ph type="title"/>
          </p:nvPr>
        </p:nvSpPr>
        <p:spPr>
          <a:xfrm>
            <a:off x="393700" y="38100"/>
            <a:ext cx="8242300" cy="914400"/>
          </a:xfrm>
        </p:spPr>
        <p:txBody>
          <a:bodyPr/>
          <a:lstStyle>
            <a:lvl1pPr algn="l" rtl="0" eaLnBrk="0" fontAlgn="base" hangingPunct="0">
              <a:spcBef>
                <a:spcPct val="0"/>
              </a:spcBef>
              <a:spcAft>
                <a:spcPct val="0"/>
              </a:spcAft>
              <a:defRPr lang="zh-CN" altLang="en-US" sz="3600" b="1" i="0" dirty="0">
                <a:solidFill>
                  <a:srgbClr val="C00000"/>
                </a:solidFill>
                <a:effectLst/>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p>
        </p:txBody>
      </p:sp>
      <p:sp>
        <p:nvSpPr>
          <p:cNvPr id="6" name="内容占位符 2">
            <a:extLst>
              <a:ext uri="{FF2B5EF4-FFF2-40B4-BE49-F238E27FC236}">
                <a16:creationId xmlns:a16="http://schemas.microsoft.com/office/drawing/2014/main" id="{A11A1533-AE9B-46F9-9467-177C5293B690}"/>
              </a:ext>
            </a:extLst>
          </p:cNvPr>
          <p:cNvSpPr>
            <a:spLocks noGrp="1"/>
          </p:cNvSpPr>
          <p:nvPr>
            <p:ph idx="1" hasCustomPrompt="1"/>
          </p:nvPr>
        </p:nvSpPr>
        <p:spPr>
          <a:xfrm>
            <a:off x="457200" y="990600"/>
            <a:ext cx="8305800" cy="5410200"/>
          </a:xfrm>
        </p:spPr>
        <p:txBody>
          <a:bodyPr/>
          <a:lstStyle>
            <a:lvl1pPr marL="342900" indent="-342900">
              <a:lnSpc>
                <a:spcPct val="120000"/>
              </a:lnSpc>
              <a:buClr>
                <a:srgbClr val="C00000"/>
              </a:buClr>
              <a:buFont typeface="Wingdings" panose="05000000000000000000" pitchFamily="2" charset="2"/>
              <a:buChar char="q"/>
              <a:defRPr lang="zh-CN" altLang="en-US" sz="2400" b="1" baseline="0" dirty="0" smtClean="0">
                <a:solidFill>
                  <a:schemeClr val="tx1"/>
                </a:solidFill>
                <a:latin typeface="+mj-ea"/>
                <a:ea typeface="+mj-ea"/>
                <a:cs typeface="+mn-cs"/>
              </a:defRPr>
            </a:lvl1pPr>
            <a:lvl2pPr marL="742950" indent="-285750">
              <a:lnSpc>
                <a:spcPct val="120000"/>
              </a:lnSpc>
              <a:buClr>
                <a:srgbClr val="C00000"/>
              </a:buClr>
              <a:buFont typeface="Wingdings" panose="05000000000000000000" pitchFamily="2" charset="2"/>
              <a:buChar char="Ø"/>
              <a:defRPr sz="2000" b="0" i="0" strike="noStrike" baseline="0">
                <a:solidFill>
                  <a:schemeClr val="tx1"/>
                </a:solidFill>
                <a:effectLst/>
                <a:latin typeface="+mj-ea"/>
                <a:ea typeface="+mj-ea"/>
              </a:defRPr>
            </a:lvl2pPr>
            <a:lvl3pPr marL="1143000" indent="-228600">
              <a:lnSpc>
                <a:spcPct val="120000"/>
              </a:lnSpc>
              <a:buClr>
                <a:srgbClr val="C00000"/>
              </a:buClr>
              <a:buFont typeface="Wingdings" panose="05000000000000000000" pitchFamily="2" charset="2"/>
              <a:buChar char="l"/>
              <a:defRPr sz="1800" b="0" i="0" baseline="0">
                <a:solidFill>
                  <a:schemeClr val="tx1"/>
                </a:solidFill>
                <a:latin typeface="+mj-ea"/>
                <a:ea typeface="+mj-ea"/>
              </a:defRPr>
            </a:lvl3pPr>
            <a:lvl4pPr marL="1600200" indent="-228600">
              <a:lnSpc>
                <a:spcPct val="120000"/>
              </a:lnSpc>
              <a:buClr>
                <a:srgbClr val="C00000"/>
              </a:buClr>
              <a:buFont typeface="Wingdings" panose="05000000000000000000" pitchFamily="2" charset="2"/>
              <a:buChar char="ü"/>
              <a:defRPr sz="1600" b="0" baseline="0">
                <a:solidFill>
                  <a:schemeClr val="tx1"/>
                </a:solidFill>
                <a:latin typeface="+mj-ea"/>
                <a:ea typeface="+mj-ea"/>
              </a:defRPr>
            </a:lvl4pPr>
            <a:lvl5pPr marL="2057400" indent="-228600">
              <a:buClr>
                <a:srgbClr val="111F65"/>
              </a:buClr>
              <a:buFont typeface="Wingdings" panose="05000000000000000000" pitchFamily="2" charset="2"/>
              <a:buChar char="l"/>
              <a:defRPr baseline="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p:txBody>
      </p:sp>
      <p:sp>
        <p:nvSpPr>
          <p:cNvPr id="7" name="Line 40">
            <a:extLst>
              <a:ext uri="{FF2B5EF4-FFF2-40B4-BE49-F238E27FC236}">
                <a16:creationId xmlns:a16="http://schemas.microsoft.com/office/drawing/2014/main" id="{76049C84-681A-40A5-9104-0BBC668FA627}"/>
              </a:ext>
            </a:extLst>
          </p:cNvPr>
          <p:cNvSpPr>
            <a:spLocks noChangeShapeType="1"/>
          </p:cNvSpPr>
          <p:nvPr userDrawn="1"/>
        </p:nvSpPr>
        <p:spPr bwMode="auto">
          <a:xfrm>
            <a:off x="0" y="853440"/>
            <a:ext cx="9144000" cy="0"/>
          </a:xfrm>
          <a:prstGeom prst="line">
            <a:avLst/>
          </a:prstGeom>
          <a:noFill/>
          <a:ln w="3175">
            <a:solidFill>
              <a:srgbClr val="CC3300"/>
            </a:solidFill>
            <a:round/>
          </a:ln>
          <a:effectLst/>
        </p:spPr>
        <p:txBody>
          <a:bodyPr/>
          <a:lstStyle/>
          <a:p>
            <a:pPr algn="ctr">
              <a:spcBef>
                <a:spcPct val="50000"/>
              </a:spcBef>
              <a:buClr>
                <a:schemeClr val="bg1"/>
              </a:buClr>
              <a:buSzPct val="100000"/>
              <a:defRPr/>
            </a:pPr>
            <a:endParaRPr lang="zh-CN" altLang="en-US">
              <a:effectLst>
                <a:outerShdw blurRad="38100" dist="38100" dir="2700000" algn="tl">
                  <a:srgbClr val="000000">
                    <a:alpha val="43137"/>
                  </a:srgbClr>
                </a:outerShdw>
              </a:effectLst>
              <a:latin typeface="Arial" panose="020B0604020202020204" pitchFamily="34" charset="0"/>
              <a:ea typeface="+mn-ea"/>
            </a:endParaRPr>
          </a:p>
        </p:txBody>
      </p:sp>
    </p:spTree>
    <p:extLst>
      <p:ext uri="{BB962C8B-B14F-4D97-AF65-F5344CB8AC3E}">
        <p14:creationId xmlns:p14="http://schemas.microsoft.com/office/powerpoint/2010/main" val="284620849"/>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82" name="Rectangle 34"/>
          <p:cNvSpPr>
            <a:spLocks noGrp="1" noChangeArrowheads="1"/>
          </p:cNvSpPr>
          <p:nvPr>
            <p:ph type="title"/>
          </p:nvPr>
        </p:nvSpPr>
        <p:spPr bwMode="auto">
          <a:xfrm>
            <a:off x="393700" y="38100"/>
            <a:ext cx="8242300" cy="9144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en-US" altLang="zh-CN" dirty="0"/>
              <a:t>Click to edit Master title style</a:t>
            </a:r>
          </a:p>
        </p:txBody>
      </p:sp>
      <p:sp>
        <p:nvSpPr>
          <p:cNvPr id="2087" name="Rectangle 39"/>
          <p:cNvSpPr>
            <a:spLocks noGrp="1" noChangeArrowheads="1"/>
          </p:cNvSpPr>
          <p:nvPr>
            <p:ph type="body" idx="1"/>
          </p:nvPr>
        </p:nvSpPr>
        <p:spPr bwMode="auto">
          <a:xfrm>
            <a:off x="457200" y="990600"/>
            <a:ext cx="8305800" cy="5410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Tree>
  </p:cSld>
  <p:clrMap bg1="lt1" tx1="dk1" bg2="lt2" tx2="dk2" accent1="accent1" accent2="accent2" accent3="accent3" accent4="accent4" accent5="accent5" accent6="accent6" hlink="hlink" folHlink="folHlink"/>
  <p:sldLayoutIdLst>
    <p:sldLayoutId id="2147484514" r:id="rId1"/>
    <p:sldLayoutId id="2147484502" r:id="rId2"/>
  </p:sldLayoutIdLst>
  <p:transition/>
  <p:hf sldNum="0" hdr="0" ftr="0" dt="0"/>
  <p:txStyles>
    <p:titleStyle>
      <a:lvl1pPr algn="l" rtl="0" eaLnBrk="0" fontAlgn="base" hangingPunct="0">
        <a:spcBef>
          <a:spcPct val="0"/>
        </a:spcBef>
        <a:spcAft>
          <a:spcPct val="0"/>
        </a:spcAft>
        <a:defRPr lang="en-US" altLang="zh-CN" sz="3600" b="1" i="0" dirty="0" smtClean="0">
          <a:solidFill>
            <a:srgbClr val="C00000"/>
          </a:solidFill>
          <a:effectLst/>
          <a:latin typeface="微软雅黑" pitchFamily="34" charset="-122"/>
          <a:ea typeface="微软雅黑" pitchFamily="34" charset="-122"/>
          <a:cs typeface="+mj-cs"/>
        </a:defRPr>
      </a:lvl1pPr>
      <a:lvl2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charset="0"/>
        </a:defRPr>
      </a:lvl2pPr>
      <a:lvl3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charset="0"/>
        </a:defRPr>
      </a:lvl3pPr>
      <a:lvl4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charset="0"/>
        </a:defRPr>
      </a:lvl4pPr>
      <a:lvl5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charset="0"/>
        </a:defRPr>
      </a:lvl5pPr>
      <a:lvl6pPr marL="457200" algn="l" rtl="0" fontAlgn="base">
        <a:spcBef>
          <a:spcPct val="0"/>
        </a:spcBef>
        <a:spcAft>
          <a:spcPct val="0"/>
        </a:spcAft>
        <a:defRPr sz="3600" i="1">
          <a:solidFill>
            <a:schemeClr val="folHlink"/>
          </a:solidFill>
          <a:effectLst>
            <a:outerShdw blurRad="38100" dist="38100" dir="2700000" algn="tl">
              <a:srgbClr val="C0C0C0"/>
            </a:outerShdw>
          </a:effectLst>
          <a:latin typeface="Arial" charset="0"/>
        </a:defRPr>
      </a:lvl6pPr>
      <a:lvl7pPr marL="914400" algn="l" rtl="0" fontAlgn="base">
        <a:spcBef>
          <a:spcPct val="0"/>
        </a:spcBef>
        <a:spcAft>
          <a:spcPct val="0"/>
        </a:spcAft>
        <a:defRPr sz="3600" i="1">
          <a:solidFill>
            <a:schemeClr val="folHlink"/>
          </a:solidFill>
          <a:effectLst>
            <a:outerShdw blurRad="38100" dist="38100" dir="2700000" algn="tl">
              <a:srgbClr val="C0C0C0"/>
            </a:outerShdw>
          </a:effectLst>
          <a:latin typeface="Arial" charset="0"/>
        </a:defRPr>
      </a:lvl7pPr>
      <a:lvl8pPr marL="1371600" algn="l" rtl="0" fontAlgn="base">
        <a:spcBef>
          <a:spcPct val="0"/>
        </a:spcBef>
        <a:spcAft>
          <a:spcPct val="0"/>
        </a:spcAft>
        <a:defRPr sz="3600" i="1">
          <a:solidFill>
            <a:schemeClr val="folHlink"/>
          </a:solidFill>
          <a:effectLst>
            <a:outerShdw blurRad="38100" dist="38100" dir="2700000" algn="tl">
              <a:srgbClr val="C0C0C0"/>
            </a:outerShdw>
          </a:effectLst>
          <a:latin typeface="Arial" charset="0"/>
        </a:defRPr>
      </a:lvl8pPr>
      <a:lvl9pPr marL="1828800" algn="l" rtl="0" fontAlgn="base">
        <a:spcBef>
          <a:spcPct val="0"/>
        </a:spcBef>
        <a:spcAft>
          <a:spcPct val="0"/>
        </a:spcAft>
        <a:defRPr sz="3600" i="1">
          <a:solidFill>
            <a:schemeClr val="folHlink"/>
          </a:solidFill>
          <a:effectLst>
            <a:outerShdw blurRad="38100" dist="38100" dir="2700000" algn="tl">
              <a:srgbClr val="C0C0C0"/>
            </a:outerShdw>
          </a:effectLst>
          <a:latin typeface="Arial" charset="0"/>
        </a:defRPr>
      </a:lvl9pPr>
    </p:titleStyle>
    <p:bodyStyle>
      <a:lvl1pPr marL="342900" indent="-342900" algn="l" rtl="0" eaLnBrk="0" fontAlgn="base" hangingPunct="0">
        <a:spcBef>
          <a:spcPct val="20000"/>
        </a:spcBef>
        <a:spcAft>
          <a:spcPct val="0"/>
        </a:spcAft>
        <a:buClr>
          <a:schemeClr val="accent2"/>
        </a:buClr>
        <a:buFont typeface="Wingdings" pitchFamily="2" charset="2"/>
        <a:buChar char="q"/>
        <a:defRPr lang="en-US" altLang="zh-CN" sz="2400" b="1" baseline="0" dirty="0" smtClean="0">
          <a:solidFill>
            <a:schemeClr val="tx1"/>
          </a:solidFill>
          <a:latin typeface="微软雅黑" pitchFamily="34" charset="-122"/>
          <a:ea typeface="微软雅黑" pitchFamily="34" charset="-122"/>
          <a:cs typeface="+mn-cs"/>
        </a:defRPr>
      </a:lvl1pPr>
      <a:lvl2pPr marL="742950" indent="-285750" algn="l" rtl="0" eaLnBrk="0" fontAlgn="base" hangingPunct="0">
        <a:spcBef>
          <a:spcPct val="20000"/>
        </a:spcBef>
        <a:spcAft>
          <a:spcPct val="0"/>
        </a:spcAft>
        <a:buClr>
          <a:schemeClr val="folHlink"/>
        </a:buClr>
        <a:buFont typeface="Wingdings" pitchFamily="2" charset="2"/>
        <a:buChar char="Ø"/>
        <a:defRPr sz="2400" b="1">
          <a:solidFill>
            <a:srgbClr val="000066"/>
          </a:solidFill>
          <a:effectLst>
            <a:outerShdw blurRad="38100" dist="38100" dir="2700000" algn="tl">
              <a:srgbClr val="C0C0C0"/>
            </a:outerShdw>
          </a:effectLst>
          <a:latin typeface="Garamond" pitchFamily="18" charset="0"/>
        </a:defRPr>
      </a:lvl2pPr>
      <a:lvl3pPr marL="1143000" indent="-228600" algn="l" rtl="0" eaLnBrk="0" fontAlgn="base" hangingPunct="0">
        <a:spcBef>
          <a:spcPct val="20000"/>
        </a:spcBef>
        <a:spcAft>
          <a:spcPct val="0"/>
        </a:spcAft>
        <a:buClr>
          <a:schemeClr val="folHlink"/>
        </a:buClr>
        <a:buFont typeface="Times New Roman" pitchFamily="18" charset="0"/>
        <a:buChar char="–"/>
        <a:defRPr sz="2000" b="1" i="1">
          <a:solidFill>
            <a:srgbClr val="5F5F5F"/>
          </a:solidFill>
          <a:latin typeface="Times New Roman" pitchFamily="18" charset="0"/>
        </a:defRPr>
      </a:lvl3pPr>
      <a:lvl4pPr marL="1600200" indent="-228600" algn="l" rtl="0" eaLnBrk="0" fontAlgn="base" hangingPunct="0">
        <a:spcBef>
          <a:spcPct val="20000"/>
        </a:spcBef>
        <a:spcAft>
          <a:spcPct val="0"/>
        </a:spcAft>
        <a:buClr>
          <a:schemeClr val="folHlink"/>
        </a:buClr>
        <a:buSzPct val="100000"/>
        <a:buChar char="o"/>
        <a:defRPr sz="2000">
          <a:solidFill>
            <a:srgbClr val="FF0000"/>
          </a:solidFill>
          <a:latin typeface="+mn-lt"/>
        </a:defRPr>
      </a:lvl4pPr>
      <a:lvl5pPr marL="2057400" indent="-228600" algn="l" rtl="0" eaLnBrk="0" fontAlgn="base" hangingPunct="0">
        <a:spcBef>
          <a:spcPct val="20000"/>
        </a:spcBef>
        <a:spcAft>
          <a:spcPct val="0"/>
        </a:spcAft>
        <a:buClr>
          <a:schemeClr val="folHlink"/>
        </a:buClr>
        <a:buSzPct val="100000"/>
        <a:buFont typeface="Wingdings" pitchFamily="2" charset="2"/>
        <a:buChar char="ü"/>
        <a:defRPr sz="1600" b="1" i="1">
          <a:solidFill>
            <a:srgbClr val="660066"/>
          </a:solidFill>
          <a:latin typeface="+mn-lt"/>
        </a:defRPr>
      </a:lvl5pPr>
      <a:lvl6pPr marL="25146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package" Target="../embeddings/Microsoft_Visio___.vsdx"/></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4.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42.jpeg"/><Relationship Id="rId3" Type="http://schemas.openxmlformats.org/officeDocument/2006/relationships/image" Target="../media/image37.jpeg"/><Relationship Id="rId7" Type="http://schemas.openxmlformats.org/officeDocument/2006/relationships/image" Target="../media/image41.jpe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40.jpeg"/><Relationship Id="rId5" Type="http://schemas.openxmlformats.org/officeDocument/2006/relationships/image" Target="../media/image39.jpeg"/><Relationship Id="rId10" Type="http://schemas.microsoft.com/office/2007/relationships/hdphoto" Target="../media/hdphoto1.wdp"/><Relationship Id="rId4" Type="http://schemas.openxmlformats.org/officeDocument/2006/relationships/image" Target="../media/image38.png"/><Relationship Id="rId9" Type="http://schemas.openxmlformats.org/officeDocument/2006/relationships/image" Target="../media/image43.png"/></Relationships>
</file>

<file path=ppt/slides/_rels/slide50.xml.rels><?xml version="1.0" encoding="UTF-8" standalone="yes"?>
<Relationships xmlns="http://schemas.openxmlformats.org/package/2006/relationships"><Relationship Id="rId3" Type="http://schemas.openxmlformats.org/officeDocument/2006/relationships/image" Target="../media/image44.tif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5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6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58.emf"/></Relationships>
</file>

<file path=ppt/slides/_rels/slide62.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58.emf"/><Relationship Id="rId4" Type="http://schemas.openxmlformats.org/officeDocument/2006/relationships/image" Target="../media/image60.png"/></Relationships>
</file>

<file path=ppt/slides/_rels/slide6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e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43.png"/><Relationship Id="rId4" Type="http://schemas.openxmlformats.org/officeDocument/2006/relationships/image" Target="../media/image42.jpeg"/></Relationships>
</file>

<file path=ppt/slides/_rels/slide64.xml.rels><?xml version="1.0" encoding="UTF-8" standalone="yes"?>
<Relationships xmlns="http://schemas.openxmlformats.org/package/2006/relationships"><Relationship Id="rId8" Type="http://schemas.openxmlformats.org/officeDocument/2006/relationships/image" Target="../media/image67.jpeg"/><Relationship Id="rId3" Type="http://schemas.openxmlformats.org/officeDocument/2006/relationships/image" Target="../media/image63.png"/><Relationship Id="rId7" Type="http://schemas.openxmlformats.org/officeDocument/2006/relationships/image" Target="../media/image66.jpe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65.png"/><Relationship Id="rId4" Type="http://schemas.openxmlformats.org/officeDocument/2006/relationships/image" Target="../media/image64.jpeg"/><Relationship Id="rId9" Type="http://schemas.openxmlformats.org/officeDocument/2006/relationships/image" Target="../media/image68.jpeg"/></Relationships>
</file>

<file path=ppt/slides/_rels/slide6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0.tif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73.png"/><Relationship Id="rId4" Type="http://schemas.openxmlformats.org/officeDocument/2006/relationships/image" Target="../media/image72.jpeg"/></Relationships>
</file>

<file path=ppt/slides/_rels/slide71.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74.png"/><Relationship Id="rId7" Type="http://schemas.openxmlformats.org/officeDocument/2006/relationships/image" Target="../media/image86.png"/><Relationship Id="rId2" Type="http://schemas.openxmlformats.org/officeDocument/2006/relationships/notesSlide" Target="../notesSlides/notesSlide55.xml"/><Relationship Id="rId1" Type="http://schemas.openxmlformats.org/officeDocument/2006/relationships/slideLayout" Target="../slideLayouts/slideLayout2.xml"/><Relationship Id="rId9" Type="http://schemas.openxmlformats.org/officeDocument/2006/relationships/image" Target="../media/image88.png"/></Relationships>
</file>

<file path=ppt/slides/_rels/slide7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6.gif"/><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81.jpeg"/><Relationship Id="rId5" Type="http://schemas.openxmlformats.org/officeDocument/2006/relationships/image" Target="../media/image80.jpeg"/><Relationship Id="rId4" Type="http://schemas.openxmlformats.org/officeDocument/2006/relationships/image" Target="../media/image79.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6.jp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hyperlink" Target="https://help.aliyun.com/document_detail/121918.html?spm=a2c4g.11186623.2.18.259f4f4fjRLoRD#concept-644723" TargetMode="External"/><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114.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06.jpg"/><Relationship Id="rId2" Type="http://schemas.openxmlformats.org/officeDocument/2006/relationships/image" Target="../media/image105.jp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96.xml"/><Relationship Id="rId1" Type="http://schemas.openxmlformats.org/officeDocument/2006/relationships/slideLayout" Target="../slideLayouts/slideLayout2.xml"/><Relationship Id="rId4" Type="http://schemas.openxmlformats.org/officeDocument/2006/relationships/image" Target="../media/image108.png"/></Relationships>
</file>

<file path=ppt/slides/_rels/slide128.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10.jp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1F69B6-A49A-4A90-A9F4-BDD69FE47CA2}"/>
              </a:ext>
            </a:extLst>
          </p:cNvPr>
          <p:cNvSpPr>
            <a:spLocks noGrp="1"/>
          </p:cNvSpPr>
          <p:nvPr>
            <p:ph type="ctrTitle" sz="quarter"/>
          </p:nvPr>
        </p:nvSpPr>
        <p:spPr/>
        <p:txBody>
          <a:bodyPr/>
          <a:lstStyle/>
          <a:p>
            <a:r>
              <a:rPr lang="zh-CN" altLang="en-US" dirty="0">
                <a:solidFill>
                  <a:srgbClr val="C00000"/>
                </a:solidFill>
              </a:rPr>
              <a:t>第七章 物联网云</a:t>
            </a:r>
            <a:r>
              <a:rPr lang="en-US" altLang="zh-CN" dirty="0">
                <a:solidFill>
                  <a:srgbClr val="C00000"/>
                </a:solidFill>
              </a:rPr>
              <a:t>-</a:t>
            </a:r>
            <a:r>
              <a:rPr lang="zh-CN" altLang="en-US" dirty="0">
                <a:solidFill>
                  <a:srgbClr val="C00000"/>
                </a:solidFill>
              </a:rPr>
              <a:t>端一体开发</a:t>
            </a:r>
          </a:p>
        </p:txBody>
      </p:sp>
    </p:spTree>
    <p:extLst>
      <p:ext uri="{BB962C8B-B14F-4D97-AF65-F5344CB8AC3E}">
        <p14:creationId xmlns:p14="http://schemas.microsoft.com/office/powerpoint/2010/main" val="201494025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293C17-863E-4FF8-A02C-0BB59356CFE7}"/>
              </a:ext>
            </a:extLst>
          </p:cNvPr>
          <p:cNvSpPr>
            <a:spLocks noGrp="1"/>
          </p:cNvSpPr>
          <p:nvPr>
            <p:ph type="title"/>
          </p:nvPr>
        </p:nvSpPr>
        <p:spPr/>
        <p:txBody>
          <a:bodyPr/>
          <a:lstStyle/>
          <a:p>
            <a:r>
              <a:rPr lang="zh-CN" altLang="en-US"/>
              <a:t>学习目标</a:t>
            </a:r>
            <a:endParaRPr lang="zh-CN" altLang="en-US" dirty="0"/>
          </a:p>
        </p:txBody>
      </p:sp>
      <p:sp>
        <p:nvSpPr>
          <p:cNvPr id="5" name="内容占位符 4">
            <a:extLst>
              <a:ext uri="{FF2B5EF4-FFF2-40B4-BE49-F238E27FC236}">
                <a16:creationId xmlns:a16="http://schemas.microsoft.com/office/drawing/2014/main" id="{B977B9BA-2A37-45B7-9D59-E72A0285CF8A}"/>
              </a:ext>
            </a:extLst>
          </p:cNvPr>
          <p:cNvSpPr>
            <a:spLocks noGrp="1"/>
          </p:cNvSpPr>
          <p:nvPr>
            <p:ph idx="1"/>
          </p:nvPr>
        </p:nvSpPr>
        <p:spPr/>
        <p:txBody>
          <a:bodyPr/>
          <a:lstStyle/>
          <a:p>
            <a:endParaRPr lang="en-US" altLang="zh-CN" dirty="0"/>
          </a:p>
          <a:p>
            <a:r>
              <a:rPr lang="zh-CN" altLang="en-US" dirty="0"/>
              <a:t>了解物联网云</a:t>
            </a:r>
            <a:r>
              <a:rPr lang="en-US" altLang="zh-CN" dirty="0"/>
              <a:t>-</a:t>
            </a:r>
            <a:r>
              <a:rPr lang="zh-CN" altLang="en-US" dirty="0"/>
              <a:t>端一体开发平台的概念</a:t>
            </a:r>
          </a:p>
          <a:p>
            <a:r>
              <a:rPr lang="zh-CN" altLang="en-US" dirty="0"/>
              <a:t>了解主流的物联网云</a:t>
            </a:r>
            <a:r>
              <a:rPr lang="en-US" altLang="zh-CN" dirty="0"/>
              <a:t>-</a:t>
            </a:r>
            <a:r>
              <a:rPr lang="zh-CN" altLang="en-US" dirty="0"/>
              <a:t>端一体开发平台</a:t>
            </a:r>
          </a:p>
          <a:p>
            <a:r>
              <a:rPr lang="zh-CN" altLang="en-US" dirty="0">
                <a:solidFill>
                  <a:srgbClr val="C00000"/>
                </a:solidFill>
              </a:rPr>
              <a:t>掌握</a:t>
            </a:r>
            <a:r>
              <a:rPr lang="en-US" altLang="zh-CN" dirty="0" err="1"/>
              <a:t>TinyLink</a:t>
            </a:r>
            <a:r>
              <a:rPr lang="zh-CN" altLang="en-US" dirty="0"/>
              <a:t>物联网应用开发流程</a:t>
            </a:r>
          </a:p>
          <a:p>
            <a:r>
              <a:rPr lang="zh-CN" altLang="en-US" dirty="0">
                <a:solidFill>
                  <a:srgbClr val="C00000"/>
                </a:solidFill>
              </a:rPr>
              <a:t>掌握</a:t>
            </a:r>
            <a:r>
              <a:rPr lang="en-US" altLang="zh-CN" dirty="0" err="1"/>
              <a:t>IoTStudio</a:t>
            </a:r>
            <a:r>
              <a:rPr lang="zh-CN" altLang="en-US" dirty="0"/>
              <a:t>物模型定义及服务编排流程</a:t>
            </a:r>
          </a:p>
          <a:p>
            <a:r>
              <a:rPr lang="zh-CN" altLang="en-US" dirty="0">
                <a:solidFill>
                  <a:srgbClr val="C00000"/>
                </a:solidFill>
              </a:rPr>
              <a:t>掌握</a:t>
            </a:r>
            <a:r>
              <a:rPr lang="en-US" altLang="zh-CN" dirty="0" err="1"/>
              <a:t>TinyLink</a:t>
            </a:r>
            <a:r>
              <a:rPr lang="zh-CN" altLang="en-US" dirty="0"/>
              <a:t>与</a:t>
            </a:r>
            <a:r>
              <a:rPr lang="en-US" altLang="zh-CN" dirty="0"/>
              <a:t>IoT Studio</a:t>
            </a:r>
            <a:r>
              <a:rPr lang="zh-CN" altLang="en-US" dirty="0"/>
              <a:t>联合开发方法</a:t>
            </a:r>
          </a:p>
          <a:p>
            <a:endParaRPr lang="zh-CN" altLang="en-US" dirty="0"/>
          </a:p>
        </p:txBody>
      </p:sp>
    </p:spTree>
    <p:extLst>
      <p:ext uri="{BB962C8B-B14F-4D97-AF65-F5344CB8AC3E}">
        <p14:creationId xmlns:p14="http://schemas.microsoft.com/office/powerpoint/2010/main" val="237982711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a:t>目录</a:t>
            </a:r>
            <a:endParaRPr lang="zh-CN" altLang="en-US" dirty="0"/>
          </a:p>
        </p:txBody>
      </p:sp>
      <p:sp>
        <p:nvSpPr>
          <p:cNvPr id="3" name="内容占位符 2">
            <a:extLst>
              <a:ext uri="{FF2B5EF4-FFF2-40B4-BE49-F238E27FC236}">
                <a16:creationId xmlns:a16="http://schemas.microsoft.com/office/drawing/2014/main" id="{10C920B9-2267-43A3-9A33-504285EC2B0F}"/>
              </a:ext>
            </a:extLst>
          </p:cNvPr>
          <p:cNvSpPr>
            <a:spLocks noGrp="1"/>
          </p:cNvSpPr>
          <p:nvPr>
            <p:ph idx="1"/>
          </p:nvPr>
        </p:nvSpPr>
        <p:spPr/>
        <p:txBody>
          <a:bodyPr/>
          <a:lstStyle/>
          <a:p>
            <a:endParaRPr lang="en-US" altLang="zh-CN" sz="2800" dirty="0"/>
          </a:p>
          <a:p>
            <a:r>
              <a:rPr lang="zh-CN" altLang="en-US" sz="2800" dirty="0">
                <a:solidFill>
                  <a:srgbClr val="C00000"/>
                </a:solidFill>
              </a:rPr>
              <a:t>概述</a:t>
            </a:r>
          </a:p>
          <a:p>
            <a:r>
              <a:rPr lang="zh-CN" altLang="en-US" sz="2800" dirty="0"/>
              <a:t>云</a:t>
            </a:r>
            <a:r>
              <a:rPr lang="en-US" altLang="zh-CN" sz="2800" dirty="0"/>
              <a:t>-</a:t>
            </a:r>
            <a:r>
              <a:rPr lang="zh-CN" altLang="en-US" sz="2800" dirty="0"/>
              <a:t>端一体开发平台主要功能</a:t>
            </a:r>
          </a:p>
          <a:p>
            <a:r>
              <a:rPr lang="zh-CN" altLang="en-US" sz="2800" dirty="0"/>
              <a:t>典型物联网云</a:t>
            </a:r>
            <a:r>
              <a:rPr lang="en-US" altLang="zh-CN" sz="2800" dirty="0"/>
              <a:t>-</a:t>
            </a:r>
            <a:r>
              <a:rPr lang="zh-CN" altLang="en-US" sz="2800" dirty="0"/>
              <a:t>端一体开发平台</a:t>
            </a:r>
          </a:p>
          <a:p>
            <a:r>
              <a:rPr lang="zh-CN" altLang="en-US" sz="2800" dirty="0"/>
              <a:t>案例开发</a:t>
            </a:r>
          </a:p>
          <a:p>
            <a:r>
              <a:rPr lang="zh-CN" altLang="en-US" sz="2800" dirty="0"/>
              <a:t>总结</a:t>
            </a:r>
          </a:p>
          <a:p>
            <a:endParaRPr lang="zh-CN" altLang="en-US" sz="2800" dirty="0"/>
          </a:p>
        </p:txBody>
      </p:sp>
      <p:sp>
        <p:nvSpPr>
          <p:cNvPr id="28" name="灯片编号占位符 4"/>
          <p:cNvSpPr txBox="1">
            <a:spLocks noChangeArrowheads="1"/>
          </p:cNvSpPr>
          <p:nvPr/>
        </p:nvSpPr>
        <p:spPr bwMode="auto">
          <a:xfrm>
            <a:off x="8229600" y="6553200"/>
            <a:ext cx="762000" cy="228600"/>
          </a:xfrm>
          <a:prstGeom prst="rect">
            <a:avLst/>
          </a:prstGeom>
          <a:noFill/>
          <a:ln w="9525">
            <a:noFill/>
            <a:miter lim="800000"/>
            <a:headEnd/>
            <a:tailEnd/>
          </a:ln>
        </p:spPr>
        <p:txBody>
          <a:bodyPr lIns="92075" tIns="46038" rIns="92075" bIns="46038" anchor="ctr"/>
          <a:lstStyle/>
          <a:p>
            <a:pPr algn="r"/>
            <a:fld id="{5C42246B-9AD6-4994-8CF2-B420465BEF68}" type="slidenum">
              <a:rPr lang="en-US" altLang="zh-CN" sz="1800" baseline="0">
                <a:solidFill>
                  <a:srgbClr val="000000"/>
                </a:solidFill>
                <a:latin typeface="Monotype Corsiva" pitchFamily="66" charset="0"/>
              </a:rPr>
              <a:pPr algn="r"/>
              <a:t>3</a:t>
            </a:fld>
            <a:endParaRPr lang="zh-CN" altLang="zh-CN" sz="1800" baseline="0" dirty="0">
              <a:solidFill>
                <a:srgbClr val="000000"/>
              </a:solidFill>
              <a:latin typeface="Monotype Corsiva" pitchFamily="66" charset="0"/>
            </a:endParaRPr>
          </a:p>
        </p:txBody>
      </p:sp>
    </p:spTree>
    <p:extLst>
      <p:ext uri="{BB962C8B-B14F-4D97-AF65-F5344CB8AC3E}">
        <p14:creationId xmlns:p14="http://schemas.microsoft.com/office/powerpoint/2010/main" val="300751326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zh-CN" altLang="en-US"/>
              <a:t>概述</a:t>
            </a:r>
            <a:endParaRPr lang="zh-CN" altLang="en-US" dirty="0"/>
          </a:p>
        </p:txBody>
      </p:sp>
      <p:sp>
        <p:nvSpPr>
          <p:cNvPr id="4" name="内容占位符 3">
            <a:extLst>
              <a:ext uri="{FF2B5EF4-FFF2-40B4-BE49-F238E27FC236}">
                <a16:creationId xmlns:a16="http://schemas.microsoft.com/office/drawing/2014/main" id="{1BFD66D4-1B66-4CCD-B7AB-258E34ABF72E}"/>
              </a:ext>
            </a:extLst>
          </p:cNvPr>
          <p:cNvSpPr>
            <a:spLocks noGrp="1"/>
          </p:cNvSpPr>
          <p:nvPr>
            <p:ph idx="1"/>
          </p:nvPr>
        </p:nvSpPr>
        <p:spPr/>
        <p:txBody>
          <a:bodyPr/>
          <a:lstStyle/>
          <a:p>
            <a:r>
              <a:rPr lang="zh-CN" altLang="en-US"/>
              <a:t>物联网技术栈复杂，一个完整的物联网应用涉及嵌入式开发、网络协议、云平台开发、</a:t>
            </a:r>
            <a:r>
              <a:rPr lang="en-US" altLang="zh-CN"/>
              <a:t>Web</a:t>
            </a:r>
            <a:r>
              <a:rPr lang="zh-CN" altLang="en-US"/>
              <a:t>开发、移动开发等多个领域</a:t>
            </a:r>
          </a:p>
          <a:p>
            <a:endParaRPr lang="zh-CN" altLang="en-US" dirty="0"/>
          </a:p>
        </p:txBody>
      </p:sp>
      <p:pic>
        <p:nvPicPr>
          <p:cNvPr id="7"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99148" y="2919730"/>
            <a:ext cx="5251450" cy="241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682423" y="3035618"/>
            <a:ext cx="1752600" cy="260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257652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zh-CN" altLang="en-US" dirty="0"/>
              <a:t>空气质量监测应用</a:t>
            </a:r>
          </a:p>
        </p:txBody>
      </p:sp>
      <p:sp>
        <p:nvSpPr>
          <p:cNvPr id="9" name="内容占位符 2"/>
          <p:cNvSpPr>
            <a:spLocks noGrp="1"/>
          </p:cNvSpPr>
          <p:nvPr>
            <p:ph idx="1"/>
          </p:nvPr>
        </p:nvSpPr>
        <p:spPr/>
        <p:txBody>
          <a:bodyPr/>
          <a:lstStyle/>
          <a:p>
            <a:r>
              <a:rPr lang="zh-CN" altLang="en-US"/>
              <a:t>传感器网络层</a:t>
            </a:r>
            <a:endParaRPr lang="en-US" altLang="zh-CN"/>
          </a:p>
          <a:p>
            <a:pPr lvl="1"/>
            <a:r>
              <a:rPr lang="zh-CN" altLang="en-US"/>
              <a:t>嵌入式开发</a:t>
            </a:r>
            <a:endParaRPr lang="en-US" altLang="zh-CN"/>
          </a:p>
          <a:p>
            <a:r>
              <a:rPr lang="zh-CN" altLang="en-US"/>
              <a:t>云服务层</a:t>
            </a:r>
            <a:endParaRPr lang="en-US" altLang="zh-CN"/>
          </a:p>
          <a:p>
            <a:pPr lvl="1"/>
            <a:r>
              <a:rPr lang="zh-CN" altLang="en-US"/>
              <a:t>云服务开发</a:t>
            </a:r>
            <a:endParaRPr lang="en-US" altLang="zh-CN"/>
          </a:p>
          <a:p>
            <a:r>
              <a:rPr lang="zh-CN" altLang="en-US"/>
              <a:t>应用层</a:t>
            </a:r>
            <a:endParaRPr lang="en-US" altLang="zh-CN"/>
          </a:p>
          <a:p>
            <a:pPr lvl="1"/>
            <a:r>
              <a:rPr lang="en-US" altLang="zh-CN"/>
              <a:t>Web</a:t>
            </a:r>
            <a:r>
              <a:rPr lang="zh-CN" altLang="en-US"/>
              <a:t>应用、</a:t>
            </a:r>
            <a:r>
              <a:rPr lang="en-US" altLang="zh-CN"/>
              <a:t>APP</a:t>
            </a:r>
            <a:r>
              <a:rPr lang="zh-CN" altLang="en-US"/>
              <a:t>、小程序</a:t>
            </a:r>
            <a:endParaRPr lang="en-US" altLang="zh-CN"/>
          </a:p>
          <a:p>
            <a:r>
              <a:rPr lang="zh-CN" altLang="en-US"/>
              <a:t>数据传输</a:t>
            </a:r>
            <a:endParaRPr lang="en-US" altLang="zh-CN"/>
          </a:p>
          <a:p>
            <a:pPr lvl="1"/>
            <a:r>
              <a:rPr lang="en-US" altLang="zh-CN"/>
              <a:t>WiFi</a:t>
            </a:r>
            <a:r>
              <a:rPr lang="zh-CN" altLang="en-US"/>
              <a:t>、蓝牙、</a:t>
            </a:r>
            <a:r>
              <a:rPr lang="en-US" altLang="zh-CN"/>
              <a:t>GRPS</a:t>
            </a:r>
            <a:endParaRPr lang="en-US" altLang="zh-CN" dirty="0"/>
          </a:p>
        </p:txBody>
      </p:sp>
      <p:sp>
        <p:nvSpPr>
          <p:cNvPr id="3" name="Rectangle 2"/>
          <p:cNvSpPr>
            <a:spLocks noChangeArrowheads="1"/>
          </p:cNvSpPr>
          <p:nvPr/>
        </p:nvSpPr>
        <p:spPr bwMode="auto">
          <a:xfrm>
            <a:off x="598516" y="177892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graphicFrame>
        <p:nvGraphicFramePr>
          <p:cNvPr id="4" name="对象 3"/>
          <p:cNvGraphicFramePr>
            <a:graphicFrameLocks noChangeAspect="1"/>
          </p:cNvGraphicFramePr>
          <p:nvPr/>
        </p:nvGraphicFramePr>
        <p:xfrm>
          <a:off x="4695767" y="1008439"/>
          <a:ext cx="3940233" cy="5222557"/>
        </p:xfrm>
        <a:graphic>
          <a:graphicData uri="http://schemas.openxmlformats.org/presentationml/2006/ole">
            <mc:AlternateContent xmlns:mc="http://schemas.openxmlformats.org/markup-compatibility/2006">
              <mc:Choice xmlns:v="urn:schemas-microsoft-com:vml" Requires="v">
                <p:oleObj spid="_x0000_s6578" name="Visio" r:id="rId4" imgW="6581763" imgH="8734354" progId="Visio.Drawing.15">
                  <p:embed/>
                </p:oleObj>
              </mc:Choice>
              <mc:Fallback>
                <p:oleObj name="Visio" r:id="rId4" imgW="6581763" imgH="8734354" progId="Visio.Drawing.15">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5767" y="1008439"/>
                        <a:ext cx="3940233" cy="5222557"/>
                      </a:xfrm>
                      <a:prstGeom prst="rect">
                        <a:avLst/>
                      </a:prstGeom>
                      <a:noFill/>
                    </p:spPr>
                  </p:pic>
                </p:oleObj>
              </mc:Fallback>
            </mc:AlternateContent>
          </a:graphicData>
        </a:graphic>
      </p:graphicFrame>
    </p:spTree>
    <p:extLst>
      <p:ext uri="{BB962C8B-B14F-4D97-AF65-F5344CB8AC3E}">
        <p14:creationId xmlns:p14="http://schemas.microsoft.com/office/powerpoint/2010/main" val="147961056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zh-CN" altLang="en-US" dirty="0"/>
              <a:t>共享单车</a:t>
            </a:r>
          </a:p>
        </p:txBody>
      </p:sp>
      <p:sp>
        <p:nvSpPr>
          <p:cNvPr id="9" name="内容占位符 2"/>
          <p:cNvSpPr>
            <a:spLocks noGrp="1"/>
          </p:cNvSpPr>
          <p:nvPr>
            <p:ph idx="1"/>
          </p:nvPr>
        </p:nvSpPr>
        <p:spPr/>
        <p:txBody>
          <a:bodyPr/>
          <a:lstStyle/>
          <a:p>
            <a:r>
              <a:rPr lang="zh-CN" altLang="en-US"/>
              <a:t>数据传输</a:t>
            </a:r>
            <a:endParaRPr lang="en-US" altLang="zh-CN"/>
          </a:p>
          <a:p>
            <a:pPr lvl="1"/>
            <a:r>
              <a:rPr lang="zh-CN" altLang="en-US"/>
              <a:t>蓝牙、</a:t>
            </a:r>
            <a:r>
              <a:rPr lang="en-US" altLang="zh-CN"/>
              <a:t>NB-IoT</a:t>
            </a:r>
            <a:r>
              <a:rPr lang="zh-CN" altLang="en-US"/>
              <a:t>、</a:t>
            </a:r>
            <a:r>
              <a:rPr lang="en-US" altLang="zh-CN"/>
              <a:t>GRPS……</a:t>
            </a:r>
          </a:p>
          <a:p>
            <a:r>
              <a:rPr lang="zh-CN" altLang="en-US"/>
              <a:t>服务端</a:t>
            </a:r>
            <a:endParaRPr lang="en-US" altLang="zh-CN"/>
          </a:p>
          <a:p>
            <a:pPr lvl="1"/>
            <a:r>
              <a:rPr lang="zh-CN" altLang="en-US"/>
              <a:t>微软</a:t>
            </a:r>
            <a:r>
              <a:rPr lang="en-US" altLang="zh-CN"/>
              <a:t>Azure</a:t>
            </a:r>
            <a:r>
              <a:rPr lang="zh-CN" altLang="en-US"/>
              <a:t>（摩拜）</a:t>
            </a:r>
            <a:r>
              <a:rPr lang="en-US" altLang="zh-CN"/>
              <a:t>……</a:t>
            </a:r>
          </a:p>
          <a:p>
            <a:r>
              <a:rPr lang="zh-CN" altLang="en-US"/>
              <a:t>移动应用</a:t>
            </a:r>
            <a:endParaRPr lang="en-US" altLang="zh-CN"/>
          </a:p>
          <a:p>
            <a:pPr lvl="1"/>
            <a:r>
              <a:rPr lang="en-US" altLang="zh-CN"/>
              <a:t>APP</a:t>
            </a:r>
            <a:r>
              <a:rPr lang="zh-CN" altLang="en-US"/>
              <a:t>、小程序</a:t>
            </a:r>
            <a:r>
              <a:rPr lang="en-US" altLang="zh-CN"/>
              <a:t>……</a:t>
            </a:r>
            <a:endParaRPr lang="en-US" altLang="zh-CN" dirty="0"/>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3782" y="4186208"/>
            <a:ext cx="6445432" cy="2364068"/>
          </a:xfrm>
          <a:prstGeom prst="rect">
            <a:avLst/>
          </a:prstGeom>
        </p:spPr>
      </p:pic>
    </p:spTree>
    <p:extLst>
      <p:ext uri="{BB962C8B-B14F-4D97-AF65-F5344CB8AC3E}">
        <p14:creationId xmlns:p14="http://schemas.microsoft.com/office/powerpoint/2010/main" val="1510491759"/>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zh-CN" altLang="en-US" dirty="0"/>
              <a:t>智能楼宇</a:t>
            </a:r>
          </a:p>
        </p:txBody>
      </p:sp>
      <p:sp>
        <p:nvSpPr>
          <p:cNvPr id="10" name="内容占位符 2"/>
          <p:cNvSpPr>
            <a:spLocks noGrp="1"/>
          </p:cNvSpPr>
          <p:nvPr>
            <p:ph idx="1"/>
          </p:nvPr>
        </p:nvSpPr>
        <p:spPr/>
        <p:txBody>
          <a:bodyPr/>
          <a:lstStyle/>
          <a:p>
            <a:r>
              <a:rPr lang="zh-CN" altLang="en-US"/>
              <a:t>设备端</a:t>
            </a:r>
            <a:endParaRPr lang="en-US" altLang="zh-CN"/>
          </a:p>
          <a:p>
            <a:pPr lvl="1"/>
            <a:r>
              <a:rPr lang="zh-CN" altLang="en-US"/>
              <a:t>多种异构的嵌入式设备，</a:t>
            </a:r>
            <a:r>
              <a:rPr lang="en-US" altLang="zh-CN"/>
              <a:t>SDS018</a:t>
            </a:r>
            <a:r>
              <a:rPr lang="zh-CN" altLang="en-US"/>
              <a:t>、</a:t>
            </a:r>
            <a:r>
              <a:rPr lang="en-US" altLang="zh-CN"/>
              <a:t>DHT11……</a:t>
            </a:r>
          </a:p>
          <a:p>
            <a:r>
              <a:rPr lang="en-US" altLang="zh-CN"/>
              <a:t>Web</a:t>
            </a:r>
            <a:r>
              <a:rPr lang="zh-CN" altLang="en-US"/>
              <a:t>应用</a:t>
            </a:r>
            <a:endParaRPr lang="en-US" altLang="zh-CN"/>
          </a:p>
          <a:p>
            <a:pPr lvl="1"/>
            <a:r>
              <a:rPr lang="zh-CN" altLang="en-US"/>
              <a:t>复杂的数据展示页面，折线图、文本框、仪表盘</a:t>
            </a:r>
            <a:r>
              <a:rPr lang="en-US" altLang="zh-CN"/>
              <a:t>……</a:t>
            </a:r>
            <a:endParaRPr lang="en-US" altLang="zh-CN" dirty="0"/>
          </a:p>
        </p:txBody>
      </p:sp>
      <p:pic>
        <p:nvPicPr>
          <p:cNvPr id="9" name="图片 8"/>
          <p:cNvPicPr/>
          <p:nvPr/>
        </p:nvPicPr>
        <p:blipFill>
          <a:blip r:embed="rId3"/>
          <a:stretch>
            <a:fillRect/>
          </a:stretch>
        </p:blipFill>
        <p:spPr>
          <a:xfrm>
            <a:off x="1363287" y="3053249"/>
            <a:ext cx="6201295" cy="3674222"/>
          </a:xfrm>
          <a:prstGeom prst="rect">
            <a:avLst/>
          </a:prstGeom>
        </p:spPr>
      </p:pic>
    </p:spTree>
    <p:extLst>
      <p:ext uri="{BB962C8B-B14F-4D97-AF65-F5344CB8AC3E}">
        <p14:creationId xmlns:p14="http://schemas.microsoft.com/office/powerpoint/2010/main" val="206349144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zh-CN" altLang="en-US"/>
              <a:t>概述</a:t>
            </a:r>
            <a:endParaRPr lang="zh-CN" altLang="en-US" dirty="0"/>
          </a:p>
        </p:txBody>
      </p:sp>
      <p:sp>
        <p:nvSpPr>
          <p:cNvPr id="9" name="内容占位符 2"/>
          <p:cNvSpPr>
            <a:spLocks noGrp="1"/>
          </p:cNvSpPr>
          <p:nvPr>
            <p:ph idx="1"/>
          </p:nvPr>
        </p:nvSpPr>
        <p:spPr/>
        <p:txBody>
          <a:bodyPr/>
          <a:lstStyle/>
          <a:p>
            <a:r>
              <a:rPr lang="zh-CN" altLang="en-US" dirty="0"/>
              <a:t>为解决上述问题，各大厂商推出云</a:t>
            </a:r>
            <a:r>
              <a:rPr lang="en-US" altLang="zh-CN" dirty="0"/>
              <a:t>-</a:t>
            </a:r>
            <a:r>
              <a:rPr lang="zh-CN" altLang="en-US" dirty="0"/>
              <a:t>端一体开发平台，如三星</a:t>
            </a:r>
            <a:r>
              <a:rPr lang="en-US" altLang="zh-CN" dirty="0"/>
              <a:t>SmartThings</a:t>
            </a:r>
            <a:r>
              <a:rPr lang="zh-CN" altLang="en-US" dirty="0"/>
              <a:t>、阿里云</a:t>
            </a:r>
            <a:r>
              <a:rPr lang="en-US" altLang="zh-CN" dirty="0"/>
              <a:t>IoT Studio</a:t>
            </a:r>
            <a:r>
              <a:rPr lang="zh-CN" altLang="en-US" dirty="0"/>
              <a:t>、涂鸦智能</a:t>
            </a:r>
            <a:r>
              <a:rPr lang="en-US" altLang="zh-CN" dirty="0" err="1"/>
              <a:t>Tuya</a:t>
            </a:r>
            <a:r>
              <a:rPr lang="en-US" altLang="zh-CN" dirty="0"/>
              <a:t> IoT</a:t>
            </a:r>
            <a:r>
              <a:rPr lang="zh-CN" altLang="en-US" dirty="0"/>
              <a:t>等，旨在通过云</a:t>
            </a:r>
            <a:r>
              <a:rPr lang="en-US" altLang="zh-CN" dirty="0"/>
              <a:t>-</a:t>
            </a:r>
            <a:r>
              <a:rPr lang="zh-CN" altLang="en-US" dirty="0"/>
              <a:t>端一体开发平台涵盖物联网应用的整个开发流程，解决物联网开发领域存在的应用开发碎片化、标准不统一、技术栈复杂等问题</a:t>
            </a:r>
            <a:endParaRPr lang="en-US" altLang="zh-CN" dirty="0"/>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308" y="3183432"/>
            <a:ext cx="3905367" cy="1118276"/>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33696" y="3449541"/>
            <a:ext cx="3496163" cy="521167"/>
          </a:xfrm>
          <a:prstGeom prst="rect">
            <a:avLst/>
          </a:prstGeom>
        </p:spPr>
      </p:pic>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33696" y="4833670"/>
            <a:ext cx="3496163" cy="1221550"/>
          </a:xfrm>
          <a:prstGeom prst="rect">
            <a:avLst/>
          </a:prstGeom>
        </p:spPr>
      </p:pic>
      <p:pic>
        <p:nvPicPr>
          <p:cNvPr id="8" name="图片 7">
            <a:extLst>
              <a:ext uri="{FF2B5EF4-FFF2-40B4-BE49-F238E27FC236}">
                <a16:creationId xmlns:a16="http://schemas.microsoft.com/office/drawing/2014/main" id="{0E08FB6E-4CE2-42BC-B6C3-EAFFDD9D4063}"/>
              </a:ext>
            </a:extLst>
          </p:cNvPr>
          <p:cNvPicPr>
            <a:picLocks noChangeAspect="1"/>
          </p:cNvPicPr>
          <p:nvPr/>
        </p:nvPicPr>
        <p:blipFill>
          <a:blip r:embed="rId6"/>
          <a:stretch>
            <a:fillRect/>
          </a:stretch>
        </p:blipFill>
        <p:spPr>
          <a:xfrm>
            <a:off x="1688625" y="4756900"/>
            <a:ext cx="1734602" cy="1221550"/>
          </a:xfrm>
          <a:prstGeom prst="rect">
            <a:avLst/>
          </a:prstGeom>
        </p:spPr>
      </p:pic>
    </p:spTree>
    <p:extLst>
      <p:ext uri="{BB962C8B-B14F-4D97-AF65-F5344CB8AC3E}">
        <p14:creationId xmlns:p14="http://schemas.microsoft.com/office/powerpoint/2010/main" val="240673550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a:t>目录</a:t>
            </a:r>
            <a:endParaRPr lang="zh-CN" altLang="en-US" dirty="0"/>
          </a:p>
        </p:txBody>
      </p:sp>
      <p:sp>
        <p:nvSpPr>
          <p:cNvPr id="3" name="内容占位符 2">
            <a:extLst>
              <a:ext uri="{FF2B5EF4-FFF2-40B4-BE49-F238E27FC236}">
                <a16:creationId xmlns:a16="http://schemas.microsoft.com/office/drawing/2014/main" id="{ED40F222-919A-4112-B196-161B6045F797}"/>
              </a:ext>
            </a:extLst>
          </p:cNvPr>
          <p:cNvSpPr>
            <a:spLocks noGrp="1"/>
          </p:cNvSpPr>
          <p:nvPr>
            <p:ph idx="1"/>
          </p:nvPr>
        </p:nvSpPr>
        <p:spPr/>
        <p:txBody>
          <a:bodyPr/>
          <a:lstStyle/>
          <a:p>
            <a:endParaRPr lang="en-US" altLang="zh-CN" sz="2800" dirty="0"/>
          </a:p>
          <a:p>
            <a:r>
              <a:rPr lang="zh-CN" altLang="en-US" sz="2800" dirty="0"/>
              <a:t>概述</a:t>
            </a:r>
          </a:p>
          <a:p>
            <a:r>
              <a:rPr lang="zh-CN" altLang="en-US" sz="2800" dirty="0">
                <a:solidFill>
                  <a:srgbClr val="C00000"/>
                </a:solidFill>
              </a:rPr>
              <a:t>云</a:t>
            </a:r>
            <a:r>
              <a:rPr lang="en-US" altLang="zh-CN" sz="2800" dirty="0">
                <a:solidFill>
                  <a:srgbClr val="C00000"/>
                </a:solidFill>
              </a:rPr>
              <a:t>-</a:t>
            </a:r>
            <a:r>
              <a:rPr lang="zh-CN" altLang="en-US" sz="2800" dirty="0">
                <a:solidFill>
                  <a:srgbClr val="C00000"/>
                </a:solidFill>
              </a:rPr>
              <a:t>端一体开发平台主要功能</a:t>
            </a:r>
          </a:p>
          <a:p>
            <a:r>
              <a:rPr lang="zh-CN" altLang="en-US" sz="2800" dirty="0"/>
              <a:t>典型物联网云</a:t>
            </a:r>
            <a:r>
              <a:rPr lang="en-US" altLang="zh-CN" sz="2800" dirty="0"/>
              <a:t>-</a:t>
            </a:r>
            <a:r>
              <a:rPr lang="zh-CN" altLang="en-US" sz="2800" dirty="0"/>
              <a:t>端一体开发平台</a:t>
            </a:r>
          </a:p>
          <a:p>
            <a:r>
              <a:rPr lang="zh-CN" altLang="en-US" sz="2800" dirty="0"/>
              <a:t>案例开发</a:t>
            </a:r>
          </a:p>
          <a:p>
            <a:r>
              <a:rPr lang="zh-CN" altLang="en-US" sz="2800" dirty="0"/>
              <a:t>总结</a:t>
            </a:r>
          </a:p>
          <a:p>
            <a:endParaRPr lang="zh-CN" altLang="en-US" sz="2800" dirty="0"/>
          </a:p>
        </p:txBody>
      </p:sp>
      <p:sp>
        <p:nvSpPr>
          <p:cNvPr id="28" name="灯片编号占位符 4"/>
          <p:cNvSpPr txBox="1">
            <a:spLocks noChangeArrowheads="1"/>
          </p:cNvSpPr>
          <p:nvPr/>
        </p:nvSpPr>
        <p:spPr bwMode="auto">
          <a:xfrm>
            <a:off x="8229600" y="6553200"/>
            <a:ext cx="762000" cy="228600"/>
          </a:xfrm>
          <a:prstGeom prst="rect">
            <a:avLst/>
          </a:prstGeom>
          <a:noFill/>
          <a:ln w="9525">
            <a:noFill/>
            <a:miter lim="800000"/>
            <a:headEnd/>
            <a:tailEnd/>
          </a:ln>
        </p:spPr>
        <p:txBody>
          <a:bodyPr lIns="92075" tIns="46038" rIns="92075" bIns="46038" anchor="ctr"/>
          <a:lstStyle/>
          <a:p>
            <a:pPr algn="r"/>
            <a:fld id="{5C42246B-9AD6-4994-8CF2-B420465BEF68}" type="slidenum">
              <a:rPr lang="en-US" altLang="zh-CN" sz="1800" baseline="0">
                <a:solidFill>
                  <a:srgbClr val="000000"/>
                </a:solidFill>
                <a:latin typeface="Monotype Corsiva" pitchFamily="66" charset="0"/>
              </a:rPr>
              <a:pPr algn="r"/>
              <a:t>9</a:t>
            </a:fld>
            <a:endParaRPr lang="zh-CN" altLang="zh-CN" sz="1800" baseline="0" dirty="0">
              <a:solidFill>
                <a:srgbClr val="000000"/>
              </a:solidFill>
              <a:latin typeface="Monotype Corsiva" pitchFamily="66" charset="0"/>
            </a:endParaRPr>
          </a:p>
        </p:txBody>
      </p:sp>
    </p:spTree>
    <p:extLst>
      <p:ext uri="{BB962C8B-B14F-4D97-AF65-F5344CB8AC3E}">
        <p14:creationId xmlns:p14="http://schemas.microsoft.com/office/powerpoint/2010/main" val="319869703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zh-CN" altLang="en-US"/>
              <a:t>主要功能</a:t>
            </a:r>
            <a:endParaRPr lang="zh-CN" altLang="en-US" dirty="0"/>
          </a:p>
        </p:txBody>
      </p:sp>
      <p:sp>
        <p:nvSpPr>
          <p:cNvPr id="7" name="内容占位符 2"/>
          <p:cNvSpPr>
            <a:spLocks noGrp="1"/>
          </p:cNvSpPr>
          <p:nvPr>
            <p:ph idx="1"/>
          </p:nvPr>
        </p:nvSpPr>
        <p:spPr/>
        <p:txBody>
          <a:bodyPr/>
          <a:lstStyle/>
          <a:p>
            <a:r>
              <a:rPr lang="zh-CN" altLang="en-US" dirty="0"/>
              <a:t>我们认为，理想的物联网云</a:t>
            </a:r>
            <a:r>
              <a:rPr lang="en-US" altLang="zh-CN" dirty="0"/>
              <a:t>-</a:t>
            </a:r>
            <a:r>
              <a:rPr lang="zh-CN" altLang="en-US" dirty="0"/>
              <a:t>端一体开发应该包括如下功能</a:t>
            </a:r>
            <a:endParaRPr lang="en-US" altLang="zh-CN" dirty="0"/>
          </a:p>
          <a:p>
            <a:endParaRPr lang="en-US" altLang="zh-CN" dirty="0"/>
          </a:p>
          <a:p>
            <a:pPr lvl="1"/>
            <a:r>
              <a:rPr lang="zh-CN" altLang="en-US" b="1" dirty="0">
                <a:solidFill>
                  <a:srgbClr val="C00000"/>
                </a:solidFill>
              </a:rPr>
              <a:t>支持设备端开发</a:t>
            </a:r>
            <a:endParaRPr lang="en-US" altLang="zh-CN" b="1" dirty="0">
              <a:solidFill>
                <a:srgbClr val="C00000"/>
              </a:solidFill>
            </a:endParaRPr>
          </a:p>
          <a:p>
            <a:pPr lvl="1"/>
            <a:r>
              <a:rPr lang="zh-CN" altLang="en-US" b="1" dirty="0"/>
              <a:t>支持云服务开发</a:t>
            </a:r>
            <a:endParaRPr lang="en-US" altLang="zh-CN" b="1" dirty="0"/>
          </a:p>
          <a:p>
            <a:pPr lvl="1"/>
            <a:r>
              <a:rPr lang="zh-CN" altLang="en-US" b="1" dirty="0"/>
              <a:t>支持</a:t>
            </a:r>
            <a:r>
              <a:rPr lang="en-US" altLang="zh-CN" b="1" dirty="0"/>
              <a:t>Web</a:t>
            </a:r>
            <a:r>
              <a:rPr lang="zh-CN" altLang="en-US" b="1" dirty="0"/>
              <a:t>应用</a:t>
            </a:r>
            <a:r>
              <a:rPr lang="en-US" altLang="zh-CN" b="1" dirty="0"/>
              <a:t>/</a:t>
            </a:r>
            <a:r>
              <a:rPr lang="zh-CN" altLang="en-US" b="1" dirty="0"/>
              <a:t>移动应用开发</a:t>
            </a:r>
            <a:endParaRPr lang="en-US" altLang="zh-CN" b="1" dirty="0"/>
          </a:p>
          <a:p>
            <a:pPr lvl="1"/>
            <a:r>
              <a:rPr lang="zh-CN" altLang="en-US" b="1" dirty="0"/>
              <a:t>支持三端集成开发流程的简化</a:t>
            </a:r>
            <a:endParaRPr lang="en-US" altLang="zh-CN" b="1" dirty="0"/>
          </a:p>
        </p:txBody>
      </p:sp>
    </p:spTree>
    <p:extLst>
      <p:ext uri="{BB962C8B-B14F-4D97-AF65-F5344CB8AC3E}">
        <p14:creationId xmlns:p14="http://schemas.microsoft.com/office/powerpoint/2010/main" val="186673770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zh-CN" altLang="en-US"/>
              <a:t>设备端开发</a:t>
            </a:r>
            <a:endParaRPr lang="zh-CN" altLang="en-US" dirty="0"/>
          </a:p>
        </p:txBody>
      </p:sp>
      <p:sp>
        <p:nvSpPr>
          <p:cNvPr id="7" name="内容占位符 2"/>
          <p:cNvSpPr>
            <a:spLocks noGrp="1"/>
          </p:cNvSpPr>
          <p:nvPr>
            <p:ph idx="1"/>
          </p:nvPr>
        </p:nvSpPr>
        <p:spPr/>
        <p:txBody>
          <a:bodyPr/>
          <a:lstStyle/>
          <a:p>
            <a:r>
              <a:rPr lang="zh-CN" altLang="en-US"/>
              <a:t>现状与问题</a:t>
            </a:r>
            <a:endParaRPr lang="en-US" altLang="zh-CN"/>
          </a:p>
          <a:p>
            <a:pPr lvl="1"/>
            <a:r>
              <a:rPr lang="zh-CN" altLang="en-US"/>
              <a:t>物联网设备种类繁多，不同种类的设备需要不同的开发语言、开发环境</a:t>
            </a:r>
            <a:endParaRPr lang="en-US" altLang="zh-CN"/>
          </a:p>
          <a:p>
            <a:pPr lvl="2"/>
            <a:r>
              <a:rPr lang="zh-CN" altLang="en-US"/>
              <a:t>开发语言：</a:t>
            </a:r>
            <a:r>
              <a:rPr lang="en-US" altLang="zh-CN"/>
              <a:t>C/C++</a:t>
            </a:r>
            <a:r>
              <a:rPr lang="zh-CN" altLang="en-US"/>
              <a:t>、</a:t>
            </a:r>
            <a:r>
              <a:rPr lang="en-US" altLang="zh-CN"/>
              <a:t>Python</a:t>
            </a:r>
            <a:r>
              <a:rPr lang="zh-CN" altLang="en-US"/>
              <a:t>、</a:t>
            </a:r>
            <a:r>
              <a:rPr lang="en-US" altLang="zh-CN"/>
              <a:t>JavaScript……</a:t>
            </a:r>
          </a:p>
          <a:p>
            <a:pPr lvl="2"/>
            <a:r>
              <a:rPr lang="en-US" altLang="zh-CN"/>
              <a:t>IDE</a:t>
            </a:r>
            <a:r>
              <a:rPr lang="zh-CN" altLang="en-US"/>
              <a:t>：</a:t>
            </a:r>
            <a:r>
              <a:rPr lang="en-US" altLang="zh-CN"/>
              <a:t>Keil</a:t>
            </a:r>
            <a:r>
              <a:rPr lang="zh-CN" altLang="en-US"/>
              <a:t>，</a:t>
            </a:r>
            <a:r>
              <a:rPr lang="en-US" altLang="zh-CN"/>
              <a:t>IAR</a:t>
            </a:r>
            <a:r>
              <a:rPr lang="zh-CN" altLang="en-US"/>
              <a:t>，</a:t>
            </a:r>
            <a:r>
              <a:rPr lang="en-US" altLang="zh-CN"/>
              <a:t>ARDUINO……</a:t>
            </a:r>
          </a:p>
          <a:p>
            <a:endParaRPr lang="en-US" altLang="zh-CN"/>
          </a:p>
          <a:p>
            <a:pPr lvl="1"/>
            <a:endParaRPr lang="en-US" altLang="zh-CN" dirty="0"/>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9656" y="4733200"/>
            <a:ext cx="2450261" cy="2041884"/>
          </a:xfrm>
          <a:prstGeom prst="rect">
            <a:avLst/>
          </a:prstGeom>
        </p:spPr>
      </p:pic>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48846" y="3344078"/>
            <a:ext cx="2562225" cy="1781175"/>
          </a:xfrm>
          <a:prstGeom prst="rect">
            <a:avLst/>
          </a:prstGeom>
        </p:spPr>
      </p:pic>
      <p:pic>
        <p:nvPicPr>
          <p:cNvPr id="5" name="图片 4"/>
          <p:cNvPicPr>
            <a:picLocks noChangeAspect="1"/>
          </p:cNvPicPr>
          <p:nvPr/>
        </p:nvPicPr>
        <p:blipFill rotWithShape="1">
          <a:blip r:embed="rId5">
            <a:extLst>
              <a:ext uri="{28A0092B-C50C-407E-A947-70E740481C1C}">
                <a14:useLocalDpi xmlns:a14="http://schemas.microsoft.com/office/drawing/2010/main" val="0"/>
              </a:ext>
            </a:extLst>
          </a:blip>
          <a:srcRect t="15843" r="1737" b="17866"/>
          <a:stretch/>
        </p:blipFill>
        <p:spPr>
          <a:xfrm>
            <a:off x="1640578" y="3561414"/>
            <a:ext cx="2424120" cy="1224952"/>
          </a:xfrm>
          <a:prstGeom prst="rect">
            <a:avLst/>
          </a:prstGeom>
        </p:spPr>
      </p:pic>
    </p:spTree>
    <p:extLst>
      <p:ext uri="{BB962C8B-B14F-4D97-AF65-F5344CB8AC3E}">
        <p14:creationId xmlns:p14="http://schemas.microsoft.com/office/powerpoint/2010/main" val="274407309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zh-CN" altLang="en-US"/>
              <a:t>设备端开发</a:t>
            </a:r>
            <a:endParaRPr lang="zh-CN" altLang="en-US" dirty="0"/>
          </a:p>
        </p:txBody>
      </p:sp>
      <p:sp>
        <p:nvSpPr>
          <p:cNvPr id="7" name="内容占位符 2"/>
          <p:cNvSpPr>
            <a:spLocks noGrp="1"/>
          </p:cNvSpPr>
          <p:nvPr>
            <p:ph idx="1"/>
          </p:nvPr>
        </p:nvSpPr>
        <p:spPr/>
        <p:txBody>
          <a:bodyPr/>
          <a:lstStyle/>
          <a:p>
            <a:r>
              <a:rPr lang="zh-CN" altLang="en-US"/>
              <a:t>基于本地编译的设备端开发</a:t>
            </a:r>
            <a:endParaRPr lang="en-US" altLang="zh-CN"/>
          </a:p>
          <a:p>
            <a:pPr lvl="1"/>
            <a:r>
              <a:rPr lang="zh-CN" altLang="en-US"/>
              <a:t>基于设备模型，通过</a:t>
            </a:r>
            <a:r>
              <a:rPr lang="en-US" altLang="zh-CN"/>
              <a:t>SDK</a:t>
            </a:r>
            <a:r>
              <a:rPr lang="zh-CN" altLang="en-US"/>
              <a:t>等方式，提供统一的设备操作与平台接入接口</a:t>
            </a:r>
            <a:endParaRPr lang="en-US" altLang="zh-CN"/>
          </a:p>
          <a:p>
            <a:pPr lvl="1"/>
            <a:r>
              <a:rPr lang="zh-CN" altLang="en-US"/>
              <a:t>需要开发者在本地配置开发环境</a:t>
            </a:r>
            <a:endParaRPr lang="en-US" altLang="zh-CN"/>
          </a:p>
          <a:p>
            <a:r>
              <a:rPr lang="zh-CN" altLang="en-US"/>
              <a:t>基于云端编译的设备端开发</a:t>
            </a:r>
            <a:endParaRPr lang="en-US" altLang="zh-CN"/>
          </a:p>
          <a:p>
            <a:pPr lvl="1"/>
            <a:r>
              <a:rPr lang="zh-CN" altLang="en-US"/>
              <a:t>代码编译过程放在云端，本地无需配置开发环境</a:t>
            </a:r>
            <a:endParaRPr lang="en-US" altLang="zh-CN"/>
          </a:p>
          <a:p>
            <a:r>
              <a:rPr lang="zh-CN" altLang="en-US"/>
              <a:t>基于解释型语言的设备开发</a:t>
            </a:r>
            <a:endParaRPr lang="en-US" altLang="zh-CN"/>
          </a:p>
          <a:p>
            <a:pPr lvl="1"/>
            <a:r>
              <a:rPr lang="zh-CN" altLang="en-US"/>
              <a:t>使用</a:t>
            </a:r>
            <a:r>
              <a:rPr lang="en-US" altLang="zh-CN"/>
              <a:t>JavaScript</a:t>
            </a:r>
            <a:r>
              <a:rPr lang="zh-CN" altLang="en-US"/>
              <a:t>，</a:t>
            </a:r>
            <a:r>
              <a:rPr lang="en-US" altLang="zh-CN"/>
              <a:t>MicroPython</a:t>
            </a:r>
            <a:r>
              <a:rPr lang="zh-CN" altLang="en-US"/>
              <a:t>等解释型语言，无需编译</a:t>
            </a:r>
            <a:endParaRPr lang="en-US" altLang="zh-CN"/>
          </a:p>
          <a:p>
            <a:pPr lvl="1"/>
            <a:r>
              <a:rPr lang="zh-CN" altLang="en-US"/>
              <a:t>设备端需要安装解释器</a:t>
            </a:r>
            <a:endParaRPr lang="en-US" altLang="zh-CN"/>
          </a:p>
          <a:p>
            <a:pPr lvl="1"/>
            <a:endParaRPr lang="en-US" altLang="zh-CN" dirty="0"/>
          </a:p>
        </p:txBody>
      </p:sp>
    </p:spTree>
    <p:extLst>
      <p:ext uri="{BB962C8B-B14F-4D97-AF65-F5344CB8AC3E}">
        <p14:creationId xmlns:p14="http://schemas.microsoft.com/office/powerpoint/2010/main" val="249979068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设备端开发</a:t>
            </a:r>
          </a:p>
        </p:txBody>
      </p:sp>
      <p:sp>
        <p:nvSpPr>
          <p:cNvPr id="3" name="内容占位符 2"/>
          <p:cNvSpPr>
            <a:spLocks noGrp="1"/>
          </p:cNvSpPr>
          <p:nvPr>
            <p:ph idx="1"/>
          </p:nvPr>
        </p:nvSpPr>
        <p:spPr/>
        <p:txBody>
          <a:bodyPr/>
          <a:lstStyle/>
          <a:p>
            <a:r>
              <a:rPr lang="zh-CN" altLang="en-US"/>
              <a:t>基于本地编译的设备端开发</a:t>
            </a:r>
            <a:endParaRPr lang="en-US" altLang="zh-CN"/>
          </a:p>
          <a:p>
            <a:pPr lvl="1"/>
            <a:r>
              <a:rPr lang="zh-CN" altLang="en-US"/>
              <a:t>基于</a:t>
            </a:r>
            <a:r>
              <a:rPr lang="en-US" altLang="zh-CN"/>
              <a:t>SDK</a:t>
            </a:r>
            <a:r>
              <a:rPr lang="zh-CN" altLang="en-US"/>
              <a:t>的设备端开发</a:t>
            </a:r>
            <a:endParaRPr lang="en-US" altLang="zh-CN"/>
          </a:p>
          <a:p>
            <a:pPr lvl="2"/>
            <a:r>
              <a:rPr lang="en-US" altLang="zh-CN"/>
              <a:t>SDK</a:t>
            </a:r>
            <a:r>
              <a:rPr lang="zh-CN" altLang="en-US"/>
              <a:t>是开发所需资源的集合，包括</a:t>
            </a:r>
            <a:r>
              <a:rPr lang="en-US" altLang="zh-CN"/>
              <a:t>API</a:t>
            </a:r>
            <a:r>
              <a:rPr lang="zh-CN" altLang="en-US"/>
              <a:t>函数、帮助文档、开发工具等</a:t>
            </a:r>
            <a:endParaRPr lang="en-US" altLang="zh-CN"/>
          </a:p>
          <a:p>
            <a:pPr lvl="2"/>
            <a:r>
              <a:rPr lang="zh-CN" altLang="en-US"/>
              <a:t>通过提供平台接入和设备开发的统一接口，为开发者屏蔽底层硬件细节，降低设备端应用的开发难度</a:t>
            </a:r>
            <a:endParaRPr lang="en-US" altLang="zh-CN"/>
          </a:p>
          <a:p>
            <a:pPr lvl="1"/>
            <a:r>
              <a:rPr lang="zh-CN" altLang="en-US"/>
              <a:t>基于物联网操作系统的设备端开发</a:t>
            </a:r>
            <a:endParaRPr lang="en-US" altLang="zh-CN"/>
          </a:p>
          <a:p>
            <a:pPr lvl="2"/>
            <a:r>
              <a:rPr lang="zh-CN" altLang="en-US"/>
              <a:t>提供统一的开发接口</a:t>
            </a:r>
            <a:endParaRPr lang="en-US" altLang="zh-CN"/>
          </a:p>
          <a:p>
            <a:pPr lvl="2"/>
            <a:r>
              <a:rPr lang="zh-CN" altLang="en-US"/>
              <a:t>提供任务调度、资源管理、软件更新等一系列功能</a:t>
            </a:r>
            <a:endParaRPr lang="en-US" altLang="zh-CN" dirty="0"/>
          </a:p>
        </p:txBody>
      </p:sp>
    </p:spTree>
    <p:extLst>
      <p:ext uri="{BB962C8B-B14F-4D97-AF65-F5344CB8AC3E}">
        <p14:creationId xmlns:p14="http://schemas.microsoft.com/office/powerpoint/2010/main" val="153696505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设备端开发</a:t>
            </a:r>
          </a:p>
        </p:txBody>
      </p:sp>
      <p:sp>
        <p:nvSpPr>
          <p:cNvPr id="3" name="内容占位符 2"/>
          <p:cNvSpPr>
            <a:spLocks noGrp="1"/>
          </p:cNvSpPr>
          <p:nvPr>
            <p:ph idx="1"/>
          </p:nvPr>
        </p:nvSpPr>
        <p:spPr/>
        <p:txBody>
          <a:bodyPr/>
          <a:lstStyle/>
          <a:p>
            <a:r>
              <a:rPr lang="zh-CN" altLang="en-US"/>
              <a:t>基于云端编译的设备端开发</a:t>
            </a:r>
            <a:endParaRPr lang="en-US" altLang="zh-CN"/>
          </a:p>
          <a:p>
            <a:pPr lvl="1"/>
            <a:r>
              <a:rPr lang="zh-CN" altLang="en-US"/>
              <a:t>代码可在本地或云端编写，在云端实现代码的编译</a:t>
            </a:r>
            <a:endParaRPr lang="en-US" altLang="zh-CN"/>
          </a:p>
          <a:p>
            <a:endParaRPr lang="en-US" altLang="zh-CN"/>
          </a:p>
          <a:p>
            <a:endParaRPr lang="en-US" altLang="zh-CN"/>
          </a:p>
          <a:p>
            <a:endParaRPr lang="en-US" altLang="zh-CN"/>
          </a:p>
          <a:p>
            <a:endParaRPr lang="en-US" altLang="zh-CN"/>
          </a:p>
          <a:p>
            <a:pPr lvl="1"/>
            <a:r>
              <a:rPr lang="zh-CN" altLang="en-US"/>
              <a:t>无需在本地搭建编译环境</a:t>
            </a:r>
            <a:endParaRPr lang="en-US" altLang="zh-CN"/>
          </a:p>
          <a:p>
            <a:pPr lvl="1"/>
            <a:r>
              <a:rPr lang="zh-CN" altLang="en-US"/>
              <a:t>编译资源可动态分配，编译速度快、编译成本低</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119" y="2081217"/>
            <a:ext cx="7905961" cy="1688143"/>
          </a:xfrm>
          <a:prstGeom prst="rect">
            <a:avLst/>
          </a:prstGeom>
        </p:spPr>
      </p:pic>
    </p:spTree>
    <p:extLst>
      <p:ext uri="{BB962C8B-B14F-4D97-AF65-F5344CB8AC3E}">
        <p14:creationId xmlns:p14="http://schemas.microsoft.com/office/powerpoint/2010/main" val="404949761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设备端开发</a:t>
            </a:r>
          </a:p>
        </p:txBody>
      </p:sp>
      <p:sp>
        <p:nvSpPr>
          <p:cNvPr id="3" name="内容占位符 2"/>
          <p:cNvSpPr>
            <a:spLocks noGrp="1"/>
          </p:cNvSpPr>
          <p:nvPr>
            <p:ph idx="1"/>
          </p:nvPr>
        </p:nvSpPr>
        <p:spPr/>
        <p:txBody>
          <a:bodyPr/>
          <a:lstStyle/>
          <a:p>
            <a:r>
              <a:rPr lang="zh-CN" altLang="en-US"/>
              <a:t>基于解释型语言的设备端开发</a:t>
            </a:r>
            <a:endParaRPr lang="en-US" altLang="zh-CN"/>
          </a:p>
          <a:p>
            <a:pPr lvl="1"/>
            <a:r>
              <a:rPr lang="zh-CN" altLang="en-US"/>
              <a:t>与基于编译型语言的设备端开发的不同</a:t>
            </a:r>
            <a:endParaRPr lang="en-US" altLang="zh-CN"/>
          </a:p>
          <a:p>
            <a:pPr lvl="2"/>
            <a:r>
              <a:rPr lang="zh-CN" altLang="en-US"/>
              <a:t>跨平台容易，代码可移植性强</a:t>
            </a:r>
            <a:endParaRPr lang="en-US" altLang="zh-CN"/>
          </a:p>
          <a:p>
            <a:pPr lvl="2"/>
            <a:r>
              <a:rPr lang="zh-CN" altLang="en-US"/>
              <a:t>需要在设备端运行解释器</a:t>
            </a:r>
            <a:endParaRPr lang="en-US" altLang="zh-CN"/>
          </a:p>
          <a:p>
            <a:pPr lvl="1"/>
            <a:r>
              <a:rPr lang="en-US" altLang="zh-CN"/>
              <a:t>IoT Studio </a:t>
            </a:r>
            <a:r>
              <a:rPr lang="zh-CN" altLang="en-US"/>
              <a:t>在线</a:t>
            </a:r>
            <a:r>
              <a:rPr lang="en-US" altLang="zh-CN"/>
              <a:t>JavaScript</a:t>
            </a:r>
            <a:r>
              <a:rPr lang="zh-CN" altLang="en-US"/>
              <a:t>开发工作台</a:t>
            </a:r>
            <a:endParaRPr lang="en-US" altLang="zh-CN"/>
          </a:p>
          <a:p>
            <a:endParaRPr lang="en-US" altLang="zh-CN"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7924" y="3219225"/>
            <a:ext cx="5028151" cy="3387837"/>
          </a:xfrm>
          <a:prstGeom prst="rect">
            <a:avLst/>
          </a:prstGeom>
        </p:spPr>
      </p:pic>
    </p:spTree>
    <p:extLst>
      <p:ext uri="{BB962C8B-B14F-4D97-AF65-F5344CB8AC3E}">
        <p14:creationId xmlns:p14="http://schemas.microsoft.com/office/powerpoint/2010/main" val="152045151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6C27F2-FD71-4BA3-B0EF-F46590418D70}"/>
              </a:ext>
            </a:extLst>
          </p:cNvPr>
          <p:cNvSpPr>
            <a:spLocks noGrp="1"/>
          </p:cNvSpPr>
          <p:nvPr>
            <p:ph type="title"/>
          </p:nvPr>
        </p:nvSpPr>
        <p:spPr/>
        <p:txBody>
          <a:bodyPr/>
          <a:lstStyle/>
          <a:p>
            <a:r>
              <a:rPr lang="zh-CN" altLang="en-US" dirty="0"/>
              <a:t>设备端开发</a:t>
            </a:r>
          </a:p>
        </p:txBody>
      </p:sp>
      <p:sp>
        <p:nvSpPr>
          <p:cNvPr id="3" name="内容占位符 2">
            <a:extLst>
              <a:ext uri="{FF2B5EF4-FFF2-40B4-BE49-F238E27FC236}">
                <a16:creationId xmlns:a16="http://schemas.microsoft.com/office/drawing/2014/main" id="{7726CE99-7AE5-4639-A262-91134611E482}"/>
              </a:ext>
            </a:extLst>
          </p:cNvPr>
          <p:cNvSpPr>
            <a:spLocks noGrp="1"/>
          </p:cNvSpPr>
          <p:nvPr>
            <p:ph idx="1"/>
          </p:nvPr>
        </p:nvSpPr>
        <p:spPr/>
        <p:txBody>
          <a:bodyPr/>
          <a:lstStyle/>
          <a:p>
            <a:r>
              <a:rPr lang="zh-CN" altLang="en-US"/>
              <a:t>平台对比</a:t>
            </a:r>
            <a:endParaRPr lang="zh-CN" altLang="en-US" dirty="0"/>
          </a:p>
        </p:txBody>
      </p:sp>
      <p:graphicFrame>
        <p:nvGraphicFramePr>
          <p:cNvPr id="4" name="内容占位符 3">
            <a:extLst>
              <a:ext uri="{FF2B5EF4-FFF2-40B4-BE49-F238E27FC236}">
                <a16:creationId xmlns:a16="http://schemas.microsoft.com/office/drawing/2014/main" id="{1089CBF1-6A06-40E7-8012-2628C723C2CB}"/>
              </a:ext>
            </a:extLst>
          </p:cNvPr>
          <p:cNvGraphicFramePr>
            <a:graphicFrameLocks/>
          </p:cNvGraphicFramePr>
          <p:nvPr>
            <p:extLst>
              <p:ext uri="{D42A27DB-BD31-4B8C-83A1-F6EECF244321}">
                <p14:modId xmlns:p14="http://schemas.microsoft.com/office/powerpoint/2010/main" val="966120250"/>
              </p:ext>
            </p:extLst>
          </p:nvPr>
        </p:nvGraphicFramePr>
        <p:xfrm>
          <a:off x="847940" y="1656188"/>
          <a:ext cx="7333820" cy="4744612"/>
        </p:xfrm>
        <a:graphic>
          <a:graphicData uri="http://schemas.openxmlformats.org/drawingml/2006/table">
            <a:tbl>
              <a:tblPr firstRow="1" firstCol="1">
                <a:tableStyleId>{08FB837D-C827-4EFA-A057-4D05807E0F7C}</a:tableStyleId>
              </a:tblPr>
              <a:tblGrid>
                <a:gridCol w="2141304">
                  <a:extLst>
                    <a:ext uri="{9D8B030D-6E8A-4147-A177-3AD203B41FA5}">
                      <a16:colId xmlns:a16="http://schemas.microsoft.com/office/drawing/2014/main" val="393836667"/>
                    </a:ext>
                  </a:extLst>
                </a:gridCol>
                <a:gridCol w="1935866">
                  <a:extLst>
                    <a:ext uri="{9D8B030D-6E8A-4147-A177-3AD203B41FA5}">
                      <a16:colId xmlns:a16="http://schemas.microsoft.com/office/drawing/2014/main" val="984286165"/>
                    </a:ext>
                  </a:extLst>
                </a:gridCol>
                <a:gridCol w="1683973">
                  <a:extLst>
                    <a:ext uri="{9D8B030D-6E8A-4147-A177-3AD203B41FA5}">
                      <a16:colId xmlns:a16="http://schemas.microsoft.com/office/drawing/2014/main" val="1458606952"/>
                    </a:ext>
                  </a:extLst>
                </a:gridCol>
                <a:gridCol w="1572677">
                  <a:extLst>
                    <a:ext uri="{9D8B030D-6E8A-4147-A177-3AD203B41FA5}">
                      <a16:colId xmlns:a16="http://schemas.microsoft.com/office/drawing/2014/main" val="20003"/>
                    </a:ext>
                  </a:extLst>
                </a:gridCol>
              </a:tblGrid>
              <a:tr h="1043575">
                <a:tc rowSpan="2">
                  <a:txBody>
                    <a:bodyPr/>
                    <a:lstStyle/>
                    <a:p>
                      <a:pPr algn="ctr" fontAlgn="ctr"/>
                      <a:r>
                        <a:rPr lang="zh-CN" altLang="en-US" sz="2200" u="none" strike="noStrike" dirty="0">
                          <a:effectLst/>
                          <a:latin typeface="+mj-ea"/>
                          <a:ea typeface="+mj-ea"/>
                        </a:rPr>
                        <a:t>一体开发平台</a:t>
                      </a:r>
                      <a:endParaRPr lang="zh-CN" altLang="en-US" sz="2200" b="0" i="0" u="none" strike="noStrike" dirty="0">
                        <a:solidFill>
                          <a:srgbClr val="000000"/>
                        </a:solidFill>
                        <a:effectLst/>
                        <a:latin typeface="+mj-ea"/>
                        <a:ea typeface="+mj-ea"/>
                        <a:cs typeface="Times New Roman" panose="02020603050405020304" pitchFamily="18" charset="0"/>
                      </a:endParaRPr>
                    </a:p>
                  </a:txBody>
                  <a:tcPr marL="82747" marR="82747" marT="41373" marB="41373" anchor="ctr"/>
                </a:tc>
                <a:tc gridSpan="3">
                  <a:txBody>
                    <a:bodyPr/>
                    <a:lstStyle/>
                    <a:p>
                      <a:pPr algn="ctr" fontAlgn="ctr"/>
                      <a:r>
                        <a:rPr lang="zh-CN" altLang="en-US" sz="2200" u="none" strike="noStrike" dirty="0">
                          <a:effectLst/>
                          <a:latin typeface="+mj-ea"/>
                          <a:ea typeface="+mj-ea"/>
                        </a:rPr>
                        <a:t>设备端开发</a:t>
                      </a:r>
                      <a:endParaRPr lang="zh-CN" altLang="en-US" sz="2200" b="0" i="0" u="none" strike="noStrike" dirty="0">
                        <a:solidFill>
                          <a:srgbClr val="000000"/>
                        </a:solidFill>
                        <a:effectLst/>
                        <a:latin typeface="+mj-ea"/>
                        <a:ea typeface="+mj-ea"/>
                        <a:cs typeface="Times New Roman" panose="02020603050405020304" pitchFamily="18" charset="0"/>
                      </a:endParaRPr>
                    </a:p>
                  </a:txBody>
                  <a:tcPr marL="8030" marR="8030" marT="8030" marB="0" anchor="ctr"/>
                </a:tc>
                <a:tc hMerge="1">
                  <a:txBody>
                    <a:bodyPr/>
                    <a:lstStyle/>
                    <a:p>
                      <a:endParaRPr lang="zh-CN" altLang="en-US"/>
                    </a:p>
                  </a:txBody>
                  <a:tcPr/>
                </a:tc>
                <a:tc hMerge="1">
                  <a:txBody>
                    <a:bodyPr/>
                    <a:lstStyle/>
                    <a:p>
                      <a:pPr algn="ctr" fontAlgn="ctr"/>
                      <a:endParaRPr lang="zh-CN" altLang="en-US" sz="1600" b="0" i="0" u="none" strike="noStrike" dirty="0">
                        <a:solidFill>
                          <a:srgbClr val="000000"/>
                        </a:solidFill>
                        <a:effectLst/>
                        <a:latin typeface="等线" panose="02010600030101010101" pitchFamily="2" charset="-122"/>
                        <a:ea typeface="等线" panose="02010600030101010101" pitchFamily="2" charset="-122"/>
                      </a:endParaRPr>
                    </a:p>
                  </a:txBody>
                  <a:tcPr marL="8874" marR="8874" marT="8874"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8159999"/>
                  </a:ext>
                </a:extLst>
              </a:tr>
              <a:tr h="725195">
                <a:tc vMerge="1">
                  <a:txBody>
                    <a:bodyPr/>
                    <a:lstStyle/>
                    <a:p>
                      <a:endParaRPr lang="zh-CN" altLang="en-US"/>
                    </a:p>
                  </a:txBody>
                  <a:tcPr/>
                </a:tc>
                <a:tc>
                  <a:txBody>
                    <a:bodyPr/>
                    <a:lstStyle/>
                    <a:p>
                      <a:pPr algn="ctr" rtl="0" fontAlgn="ctr"/>
                      <a:r>
                        <a:rPr lang="zh-CN" altLang="en-US" sz="2200" u="none" strike="noStrike" dirty="0">
                          <a:effectLst/>
                          <a:latin typeface="+mj-ea"/>
                          <a:ea typeface="+mj-ea"/>
                        </a:rPr>
                        <a:t>本地编译</a:t>
                      </a:r>
                      <a:endParaRPr lang="zh-CN" altLang="en-US" sz="2200" b="0" i="0" u="none" strike="noStrike" dirty="0">
                        <a:solidFill>
                          <a:schemeClr val="bg1"/>
                        </a:solidFill>
                        <a:effectLst/>
                        <a:latin typeface="+mj-ea"/>
                        <a:ea typeface="+mj-ea"/>
                        <a:cs typeface="Times New Roman" panose="02020603050405020304" pitchFamily="18" charset="0"/>
                      </a:endParaRPr>
                    </a:p>
                  </a:txBody>
                  <a:tcPr marL="8030" marR="8030" marT="8030" marB="0" anchor="ctr"/>
                </a:tc>
                <a:tc>
                  <a:txBody>
                    <a:bodyPr/>
                    <a:lstStyle/>
                    <a:p>
                      <a:pPr algn="ctr" rtl="0" fontAlgn="ctr"/>
                      <a:r>
                        <a:rPr lang="zh-CN" altLang="en-US" sz="2200" u="none" strike="noStrike" dirty="0">
                          <a:effectLst/>
                          <a:latin typeface="+mj-ea"/>
                          <a:ea typeface="+mj-ea"/>
                        </a:rPr>
                        <a:t>云端编译</a:t>
                      </a:r>
                      <a:endParaRPr lang="zh-CN" altLang="en-US" sz="2200" b="0" i="0" u="none" strike="noStrike" dirty="0">
                        <a:solidFill>
                          <a:schemeClr val="bg1"/>
                        </a:solidFill>
                        <a:effectLst/>
                        <a:latin typeface="+mj-ea"/>
                        <a:ea typeface="+mj-ea"/>
                        <a:cs typeface="Times New Roman" panose="02020603050405020304" pitchFamily="18" charset="0"/>
                      </a:endParaRPr>
                    </a:p>
                  </a:txBody>
                  <a:tcPr marL="8030" marR="8030" marT="8030" marB="0" anchor="ctr"/>
                </a:tc>
                <a:tc>
                  <a:txBody>
                    <a:bodyPr/>
                    <a:lstStyle/>
                    <a:p>
                      <a:pPr algn="ctr" rtl="0" fontAlgn="ctr"/>
                      <a:r>
                        <a:rPr lang="zh-CN" altLang="en-US" sz="2200" u="none" strike="noStrike" dirty="0">
                          <a:effectLst/>
                          <a:latin typeface="+mj-ea"/>
                          <a:ea typeface="+mj-ea"/>
                        </a:rPr>
                        <a:t>解释型语言</a:t>
                      </a:r>
                      <a:endParaRPr lang="zh-CN" altLang="en-US" sz="2200" b="0" i="0" u="none" strike="noStrike" dirty="0">
                        <a:solidFill>
                          <a:schemeClr val="bg1"/>
                        </a:solidFill>
                        <a:effectLst/>
                        <a:latin typeface="+mj-ea"/>
                        <a:ea typeface="+mj-ea"/>
                        <a:cs typeface="Times New Roman" panose="02020603050405020304" pitchFamily="18" charset="0"/>
                      </a:endParaRPr>
                    </a:p>
                  </a:txBody>
                  <a:tcPr marL="8030" marR="8030" marT="8030" marB="0" anchor="ctr"/>
                </a:tc>
                <a:extLst>
                  <a:ext uri="{0D108BD9-81ED-4DB2-BD59-A6C34878D82A}">
                    <a16:rowId xmlns:a16="http://schemas.microsoft.com/office/drawing/2014/main" val="1057826431"/>
                  </a:ext>
                </a:extLst>
              </a:tr>
              <a:tr h="1042588">
                <a:tc>
                  <a:txBody>
                    <a:bodyPr/>
                    <a:lstStyle/>
                    <a:p>
                      <a:pPr algn="ctr" rtl="0" fontAlgn="ctr"/>
                      <a:r>
                        <a:rPr lang="en-US" altLang="zh-CN" sz="2200" u="none" strike="noStrike" dirty="0" err="1">
                          <a:effectLst/>
                          <a:latin typeface="+mj-ea"/>
                          <a:ea typeface="+mj-ea"/>
                        </a:rPr>
                        <a:t>TinyLink</a:t>
                      </a:r>
                      <a:endParaRPr lang="en-US" sz="2200" b="0" i="0" u="none" strike="noStrike" dirty="0">
                        <a:solidFill>
                          <a:srgbClr val="000000"/>
                        </a:solidFill>
                        <a:effectLst/>
                        <a:latin typeface="+mj-ea"/>
                        <a:ea typeface="+mj-ea"/>
                        <a:cs typeface="Times New Roman" panose="02020603050405020304" pitchFamily="18" charset="0"/>
                      </a:endParaRPr>
                    </a:p>
                  </a:txBody>
                  <a:tcPr marL="8030" marR="8030" marT="803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800" u="none" strike="noStrike" kern="1200" dirty="0">
                          <a:effectLst/>
                          <a:latin typeface="+mj-ea"/>
                          <a:ea typeface="+mj-ea"/>
                        </a:rPr>
                        <a:t>×</a:t>
                      </a:r>
                      <a:endParaRPr lang="zh-CN" altLang="en-US" sz="1800" b="0" i="0" u="none" strike="noStrike" kern="1200" dirty="0">
                        <a:solidFill>
                          <a:srgbClr val="000000"/>
                        </a:solidFill>
                        <a:effectLst/>
                        <a:latin typeface="+mj-ea"/>
                        <a:ea typeface="+mj-ea"/>
                        <a:cs typeface="Times New Roman" panose="02020603050405020304" pitchFamily="18" charset="0"/>
                      </a:endParaRPr>
                    </a:p>
                  </a:txBody>
                  <a:tcPr marL="8030" marR="8030" marT="8030" marB="0" anchor="ctr"/>
                </a:tc>
                <a:tc>
                  <a:txBody>
                    <a:bodyPr/>
                    <a:lstStyle/>
                    <a:p>
                      <a:pPr algn="ctr" rtl="0" fontAlgn="ctr"/>
                      <a:r>
                        <a:rPr lang="zh-CN" altLang="en-US" sz="1800" u="none" strike="noStrike" dirty="0">
                          <a:effectLst/>
                          <a:latin typeface="+mj-ea"/>
                          <a:ea typeface="+mj-ea"/>
                        </a:rPr>
                        <a:t>云端编译</a:t>
                      </a:r>
                      <a:r>
                        <a:rPr lang="en-US" altLang="zh-CN" sz="1800" u="none" strike="noStrike" dirty="0">
                          <a:effectLst/>
                          <a:latin typeface="+mj-ea"/>
                          <a:ea typeface="+mj-ea"/>
                        </a:rPr>
                        <a:t>+</a:t>
                      </a:r>
                      <a:r>
                        <a:rPr lang="zh-CN" altLang="en-US" sz="1800" u="none" strike="noStrike" dirty="0">
                          <a:effectLst/>
                          <a:latin typeface="+mj-ea"/>
                          <a:ea typeface="+mj-ea"/>
                        </a:rPr>
                        <a:t>自顶向下的开发方式</a:t>
                      </a:r>
                      <a:endParaRPr lang="zh-CN" altLang="en-US" sz="1800" b="0" i="0" u="none" strike="noStrike" dirty="0">
                        <a:solidFill>
                          <a:srgbClr val="000000"/>
                        </a:solidFill>
                        <a:effectLst/>
                        <a:latin typeface="+mj-ea"/>
                        <a:ea typeface="+mj-ea"/>
                        <a:cs typeface="Times New Roman" panose="02020603050405020304" pitchFamily="18" charset="0"/>
                      </a:endParaRPr>
                    </a:p>
                  </a:txBody>
                  <a:tcPr marL="8030" marR="8030" marT="803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800" u="none" strike="noStrike" kern="1200" dirty="0">
                          <a:effectLst/>
                          <a:latin typeface="+mj-ea"/>
                          <a:ea typeface="+mj-ea"/>
                        </a:rPr>
                        <a:t>×</a:t>
                      </a:r>
                      <a:endParaRPr lang="zh-CN" altLang="en-US" sz="1800" b="0" i="0" u="none" strike="noStrike" kern="1200" dirty="0">
                        <a:solidFill>
                          <a:srgbClr val="000000"/>
                        </a:solidFill>
                        <a:effectLst/>
                        <a:latin typeface="+mj-ea"/>
                        <a:ea typeface="+mj-ea"/>
                        <a:cs typeface="Times New Roman" panose="02020603050405020304" pitchFamily="18" charset="0"/>
                      </a:endParaRPr>
                    </a:p>
                  </a:txBody>
                  <a:tcPr marL="8030" marR="8030" marT="8030" marB="0" anchor="ctr"/>
                </a:tc>
                <a:extLst>
                  <a:ext uri="{0D108BD9-81ED-4DB2-BD59-A6C34878D82A}">
                    <a16:rowId xmlns:a16="http://schemas.microsoft.com/office/drawing/2014/main" val="3857372589"/>
                  </a:ext>
                </a:extLst>
              </a:tr>
              <a:tr h="966627">
                <a:tc>
                  <a:txBody>
                    <a:bodyPr/>
                    <a:lstStyle/>
                    <a:p>
                      <a:pPr algn="ctr" rtl="0" fontAlgn="ctr"/>
                      <a:r>
                        <a:rPr lang="en-US" sz="2200" u="none" strike="noStrike" kern="1200" dirty="0" err="1">
                          <a:effectLst/>
                          <a:latin typeface="+mj-ea"/>
                          <a:ea typeface="+mj-ea"/>
                        </a:rPr>
                        <a:t>IoT</a:t>
                      </a:r>
                      <a:r>
                        <a:rPr lang="en-US" sz="2200" u="none" strike="noStrike" kern="1200" baseline="0" dirty="0">
                          <a:effectLst/>
                          <a:latin typeface="+mj-ea"/>
                          <a:ea typeface="+mj-ea"/>
                        </a:rPr>
                        <a:t> Studio</a:t>
                      </a:r>
                      <a:endParaRPr lang="en-US" sz="2200" b="1" i="0" u="none" strike="noStrike" kern="1200" dirty="0">
                        <a:solidFill>
                          <a:schemeClr val="dk1"/>
                        </a:solidFill>
                        <a:effectLst/>
                        <a:latin typeface="+mj-ea"/>
                        <a:ea typeface="+mj-ea"/>
                        <a:cs typeface="Times New Roman" panose="02020603050405020304" pitchFamily="18" charset="0"/>
                      </a:endParaRPr>
                    </a:p>
                  </a:txBody>
                  <a:tcPr marL="8030" marR="8030" marT="8030" marB="0" anchor="ctr"/>
                </a:tc>
                <a:tc>
                  <a:txBody>
                    <a:bodyPr/>
                    <a:lstStyle/>
                    <a:p>
                      <a:pPr algn="ctr" rtl="0" fontAlgn="ctr"/>
                      <a:r>
                        <a:rPr lang="zh-CN" altLang="en-US" sz="1800" u="none" strike="noStrike" kern="1200" dirty="0">
                          <a:effectLst/>
                          <a:latin typeface="+mj-ea"/>
                          <a:ea typeface="+mj-ea"/>
                        </a:rPr>
                        <a:t>提供多语言</a:t>
                      </a:r>
                      <a:r>
                        <a:rPr lang="en-US" altLang="zh-CN" sz="1800" u="none" strike="noStrike" kern="1200" dirty="0">
                          <a:effectLst/>
                          <a:latin typeface="+mj-ea"/>
                          <a:ea typeface="+mj-ea"/>
                        </a:rPr>
                        <a:t>SDK</a:t>
                      </a:r>
                      <a:r>
                        <a:rPr lang="zh-CN" altLang="en-US" sz="1800" u="none" strike="noStrike" kern="1200" dirty="0">
                          <a:effectLst/>
                          <a:latin typeface="+mj-ea"/>
                          <a:ea typeface="+mj-ea"/>
                        </a:rPr>
                        <a:t>，以及基于</a:t>
                      </a:r>
                      <a:r>
                        <a:rPr lang="en-US" altLang="zh-CN" sz="1800" u="none" strike="noStrike" kern="1200" dirty="0" err="1">
                          <a:effectLst/>
                          <a:latin typeface="+mj-ea"/>
                          <a:ea typeface="+mj-ea"/>
                        </a:rPr>
                        <a:t>AliOS</a:t>
                      </a:r>
                      <a:r>
                        <a:rPr lang="en-US" altLang="zh-CN" sz="1800" u="none" strike="noStrike" kern="1200" dirty="0">
                          <a:effectLst/>
                          <a:latin typeface="+mj-ea"/>
                          <a:ea typeface="+mj-ea"/>
                        </a:rPr>
                        <a:t> Things</a:t>
                      </a:r>
                      <a:r>
                        <a:rPr lang="zh-CN" altLang="en-US" sz="1800" u="none" strike="noStrike" kern="1200" dirty="0">
                          <a:effectLst/>
                          <a:latin typeface="+mj-ea"/>
                          <a:ea typeface="+mj-ea"/>
                        </a:rPr>
                        <a:t>的开发方式</a:t>
                      </a:r>
                      <a:endParaRPr lang="zh-CN" altLang="en-US" sz="1800" b="0" i="0" u="none" strike="noStrike" kern="1200" dirty="0">
                        <a:solidFill>
                          <a:schemeClr val="dk1"/>
                        </a:solidFill>
                        <a:effectLst/>
                        <a:latin typeface="+mj-ea"/>
                        <a:ea typeface="+mj-ea"/>
                        <a:cs typeface="Times New Roman" panose="02020603050405020304" pitchFamily="18" charset="0"/>
                      </a:endParaRPr>
                    </a:p>
                  </a:txBody>
                  <a:tcPr marL="8030" marR="8030" marT="803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800" u="none" strike="noStrike" dirty="0">
                          <a:effectLst/>
                          <a:latin typeface="+mj-ea"/>
                          <a:ea typeface="+mj-ea"/>
                        </a:rPr>
                        <a:t>√</a:t>
                      </a:r>
                      <a:endParaRPr lang="zh-CN" altLang="en-US" sz="1800" b="0" i="0" u="none" strike="noStrike" dirty="0">
                        <a:solidFill>
                          <a:srgbClr val="000000"/>
                        </a:solidFill>
                        <a:effectLst/>
                        <a:latin typeface="+mj-ea"/>
                        <a:ea typeface="+mj-ea"/>
                        <a:cs typeface="Times New Roman" panose="02020603050405020304" pitchFamily="18" charset="0"/>
                      </a:endParaRPr>
                    </a:p>
                  </a:txBody>
                  <a:tcPr marL="8030" marR="8030" marT="803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800" u="none" strike="noStrike" dirty="0">
                          <a:effectLst/>
                          <a:latin typeface="+mj-ea"/>
                          <a:ea typeface="+mj-ea"/>
                        </a:rPr>
                        <a:t>支持基于</a:t>
                      </a:r>
                      <a:r>
                        <a:rPr lang="en-US" altLang="zh-CN" sz="1800" u="none" strike="noStrike" dirty="0">
                          <a:effectLst/>
                          <a:latin typeface="+mj-ea"/>
                          <a:ea typeface="+mj-ea"/>
                        </a:rPr>
                        <a:t>JavaScript</a:t>
                      </a:r>
                      <a:r>
                        <a:rPr lang="zh-CN" altLang="en-US" sz="1800" u="none" strike="noStrike" dirty="0">
                          <a:effectLst/>
                          <a:latin typeface="+mj-ea"/>
                          <a:ea typeface="+mj-ea"/>
                        </a:rPr>
                        <a:t>语言的开发</a:t>
                      </a:r>
                      <a:endParaRPr lang="zh-CN" altLang="en-US" sz="1800" b="0" i="0" u="none" strike="noStrike" dirty="0">
                        <a:solidFill>
                          <a:srgbClr val="000000"/>
                        </a:solidFill>
                        <a:effectLst/>
                        <a:latin typeface="+mj-ea"/>
                        <a:ea typeface="+mj-ea"/>
                        <a:cs typeface="Times New Roman" panose="02020603050405020304" pitchFamily="18" charset="0"/>
                      </a:endParaRPr>
                    </a:p>
                  </a:txBody>
                  <a:tcPr marL="8030" marR="8030" marT="8030" marB="0" anchor="ctr"/>
                </a:tc>
                <a:extLst>
                  <a:ext uri="{0D108BD9-81ED-4DB2-BD59-A6C34878D82A}">
                    <a16:rowId xmlns:a16="http://schemas.microsoft.com/office/drawing/2014/main" val="3356318774"/>
                  </a:ext>
                </a:extLst>
              </a:tr>
              <a:tr h="966627">
                <a:tc>
                  <a:txBody>
                    <a:bodyPr/>
                    <a:lstStyle/>
                    <a:p>
                      <a:pPr algn="ctr" rtl="0" fontAlgn="ctr"/>
                      <a:r>
                        <a:rPr lang="en-US" sz="2200" u="none" strike="noStrike" kern="1200" dirty="0" err="1">
                          <a:effectLst/>
                          <a:latin typeface="+mj-ea"/>
                          <a:ea typeface="+mj-ea"/>
                        </a:rPr>
                        <a:t>Tuya</a:t>
                      </a:r>
                      <a:r>
                        <a:rPr lang="en-US" sz="2200" u="none" strike="noStrike" kern="1200" dirty="0">
                          <a:effectLst/>
                          <a:latin typeface="+mj-ea"/>
                          <a:ea typeface="+mj-ea"/>
                        </a:rPr>
                        <a:t> IoT</a:t>
                      </a:r>
                      <a:r>
                        <a:rPr lang="zh-CN" altLang="en-US" sz="2200" u="none" strike="noStrike" kern="1200" dirty="0">
                          <a:effectLst/>
                          <a:latin typeface="+mj-ea"/>
                          <a:ea typeface="+mj-ea"/>
                        </a:rPr>
                        <a:t>平台</a:t>
                      </a:r>
                      <a:endParaRPr lang="en-US" sz="2200" b="1" i="0" u="none" strike="noStrike" kern="1200" dirty="0">
                        <a:solidFill>
                          <a:schemeClr val="dk1"/>
                        </a:solidFill>
                        <a:effectLst/>
                        <a:latin typeface="+mj-ea"/>
                        <a:ea typeface="+mj-ea"/>
                        <a:cs typeface="Times New Roman" panose="02020603050405020304" pitchFamily="18" charset="0"/>
                      </a:endParaRPr>
                    </a:p>
                  </a:txBody>
                  <a:tcPr marL="8030" marR="8030" marT="8030" marB="0" anchor="ctr"/>
                </a:tc>
                <a:tc>
                  <a:txBody>
                    <a:bodyPr/>
                    <a:lstStyle/>
                    <a:p>
                      <a:pPr algn="ctr" rtl="0" fontAlgn="ctr"/>
                      <a:r>
                        <a:rPr lang="zh-CN" altLang="en-US" sz="1800" u="none" strike="noStrike" kern="1200" dirty="0">
                          <a:effectLst/>
                          <a:latin typeface="+mj-ea"/>
                          <a:ea typeface="+mj-ea"/>
                        </a:rPr>
                        <a:t>提供涂鸦</a:t>
                      </a:r>
                      <a:r>
                        <a:rPr lang="en-US" altLang="zh-CN" sz="1800" u="none" strike="noStrike" kern="1200" dirty="0">
                          <a:effectLst/>
                          <a:latin typeface="+mj-ea"/>
                          <a:ea typeface="+mj-ea"/>
                        </a:rPr>
                        <a:t>MCU SDK</a:t>
                      </a:r>
                      <a:endParaRPr lang="zh-CN" altLang="en-US" sz="1800" b="0" i="0" u="none" strike="noStrike" kern="1200" dirty="0">
                        <a:solidFill>
                          <a:schemeClr val="dk1"/>
                        </a:solidFill>
                        <a:effectLst/>
                        <a:latin typeface="+mj-ea"/>
                        <a:ea typeface="+mj-ea"/>
                        <a:cs typeface="Times New Roman" panose="02020603050405020304" pitchFamily="18" charset="0"/>
                      </a:endParaRPr>
                    </a:p>
                  </a:txBody>
                  <a:tcPr marL="8030" marR="8030" marT="803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800" u="none" strike="noStrike" kern="1200" dirty="0">
                          <a:effectLst/>
                          <a:latin typeface="+mj-ea"/>
                          <a:ea typeface="+mj-ea"/>
                        </a:rPr>
                        <a:t>×</a:t>
                      </a:r>
                      <a:endParaRPr lang="zh-CN" altLang="en-US" sz="1800" b="0" i="0" u="none" strike="noStrike" kern="1200" dirty="0">
                        <a:solidFill>
                          <a:srgbClr val="000000"/>
                        </a:solidFill>
                        <a:effectLst/>
                        <a:latin typeface="+mj-ea"/>
                        <a:ea typeface="+mj-ea"/>
                        <a:cs typeface="Times New Roman" panose="02020603050405020304" pitchFamily="18" charset="0"/>
                      </a:endParaRPr>
                    </a:p>
                  </a:txBody>
                  <a:tcPr marL="8030" marR="8030" marT="803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800" u="none" strike="noStrike" kern="1200" dirty="0">
                          <a:effectLst/>
                          <a:latin typeface="+mj-ea"/>
                          <a:ea typeface="+mj-ea"/>
                        </a:rPr>
                        <a:t>×</a:t>
                      </a:r>
                      <a:endParaRPr lang="zh-CN" altLang="en-US" sz="1800" b="0" i="0" u="none" strike="noStrike" kern="1200" dirty="0">
                        <a:solidFill>
                          <a:srgbClr val="000000"/>
                        </a:solidFill>
                        <a:effectLst/>
                        <a:latin typeface="+mj-ea"/>
                        <a:ea typeface="+mj-ea"/>
                        <a:cs typeface="Times New Roman" panose="02020603050405020304" pitchFamily="18" charset="0"/>
                      </a:endParaRPr>
                    </a:p>
                  </a:txBody>
                  <a:tcPr marL="8030" marR="8030" marT="8030" marB="0" anchor="ctr"/>
                </a:tc>
                <a:extLst>
                  <a:ext uri="{0D108BD9-81ED-4DB2-BD59-A6C34878D82A}">
                    <a16:rowId xmlns:a16="http://schemas.microsoft.com/office/drawing/2014/main" val="1476657015"/>
                  </a:ext>
                </a:extLst>
              </a:tr>
            </a:tbl>
          </a:graphicData>
        </a:graphic>
      </p:graphicFrame>
    </p:spTree>
    <p:extLst>
      <p:ext uri="{BB962C8B-B14F-4D97-AF65-F5344CB8AC3E}">
        <p14:creationId xmlns:p14="http://schemas.microsoft.com/office/powerpoint/2010/main" val="14103472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zh-CN" altLang="en-US"/>
              <a:t>主要功能</a:t>
            </a:r>
            <a:endParaRPr lang="zh-CN" altLang="en-US" dirty="0"/>
          </a:p>
        </p:txBody>
      </p:sp>
      <p:sp>
        <p:nvSpPr>
          <p:cNvPr id="7" name="内容占位符 2"/>
          <p:cNvSpPr>
            <a:spLocks noGrp="1"/>
          </p:cNvSpPr>
          <p:nvPr>
            <p:ph idx="1"/>
          </p:nvPr>
        </p:nvSpPr>
        <p:spPr/>
        <p:txBody>
          <a:bodyPr/>
          <a:lstStyle/>
          <a:p>
            <a:r>
              <a:rPr lang="zh-CN" altLang="en-US" dirty="0"/>
              <a:t>我们认为，理想的物联网云</a:t>
            </a:r>
            <a:r>
              <a:rPr lang="en-US" altLang="zh-CN" dirty="0"/>
              <a:t>-</a:t>
            </a:r>
            <a:r>
              <a:rPr lang="zh-CN" altLang="en-US" dirty="0"/>
              <a:t>端一体开发应该包括如下功能</a:t>
            </a:r>
            <a:endParaRPr lang="en-US" altLang="zh-CN" dirty="0"/>
          </a:p>
          <a:p>
            <a:endParaRPr lang="en-US" altLang="zh-CN" dirty="0"/>
          </a:p>
          <a:p>
            <a:pPr lvl="1"/>
            <a:r>
              <a:rPr lang="zh-CN" altLang="en-US" b="1" dirty="0"/>
              <a:t>支持设备端开发</a:t>
            </a:r>
            <a:endParaRPr lang="en-US" altLang="zh-CN" b="1" dirty="0"/>
          </a:p>
          <a:p>
            <a:pPr lvl="1"/>
            <a:r>
              <a:rPr lang="zh-CN" altLang="en-US" b="1" dirty="0">
                <a:solidFill>
                  <a:srgbClr val="C00000"/>
                </a:solidFill>
              </a:rPr>
              <a:t>支持云服务开发</a:t>
            </a:r>
            <a:endParaRPr lang="en-US" altLang="zh-CN" b="1" dirty="0">
              <a:solidFill>
                <a:srgbClr val="C00000"/>
              </a:solidFill>
            </a:endParaRPr>
          </a:p>
          <a:p>
            <a:pPr lvl="1"/>
            <a:r>
              <a:rPr lang="zh-CN" altLang="en-US" b="1" dirty="0"/>
              <a:t>支持</a:t>
            </a:r>
            <a:r>
              <a:rPr lang="en-US" altLang="zh-CN" b="1" dirty="0"/>
              <a:t>Web</a:t>
            </a:r>
            <a:r>
              <a:rPr lang="zh-CN" altLang="en-US" b="1" dirty="0"/>
              <a:t>应用</a:t>
            </a:r>
            <a:r>
              <a:rPr lang="en-US" altLang="zh-CN" b="1" dirty="0"/>
              <a:t>/</a:t>
            </a:r>
            <a:r>
              <a:rPr lang="zh-CN" altLang="en-US" b="1" dirty="0"/>
              <a:t>移动应用开发</a:t>
            </a:r>
            <a:endParaRPr lang="en-US" altLang="zh-CN" b="1" dirty="0"/>
          </a:p>
          <a:p>
            <a:pPr lvl="1"/>
            <a:r>
              <a:rPr lang="zh-CN" altLang="en-US" b="1" dirty="0"/>
              <a:t>支持三端集成开发流程的简化</a:t>
            </a:r>
            <a:endParaRPr lang="en-US" altLang="zh-CN" b="1" dirty="0"/>
          </a:p>
        </p:txBody>
      </p:sp>
    </p:spTree>
    <p:extLst>
      <p:ext uri="{BB962C8B-B14F-4D97-AF65-F5344CB8AC3E}">
        <p14:creationId xmlns:p14="http://schemas.microsoft.com/office/powerpoint/2010/main" val="191223194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17BBDC0-8846-4A80-B611-25E2EFFF8605}"/>
              </a:ext>
            </a:extLst>
          </p:cNvPr>
          <p:cNvSpPr>
            <a:spLocks noGrp="1"/>
          </p:cNvSpPr>
          <p:nvPr>
            <p:ph type="title"/>
          </p:nvPr>
        </p:nvSpPr>
        <p:spPr/>
        <p:txBody>
          <a:bodyPr/>
          <a:lstStyle/>
          <a:p>
            <a:r>
              <a:rPr lang="zh-CN" altLang="en-US" dirty="0"/>
              <a:t>云服务开发</a:t>
            </a:r>
          </a:p>
        </p:txBody>
      </p:sp>
      <p:sp>
        <p:nvSpPr>
          <p:cNvPr id="7" name="内容占位符 2"/>
          <p:cNvSpPr>
            <a:spLocks noGrp="1"/>
          </p:cNvSpPr>
          <p:nvPr>
            <p:ph idx="1"/>
          </p:nvPr>
        </p:nvSpPr>
        <p:spPr/>
        <p:txBody>
          <a:bodyPr/>
          <a:lstStyle/>
          <a:p>
            <a:r>
              <a:rPr lang="zh-CN" altLang="en-US"/>
              <a:t>物联网云服务的特点</a:t>
            </a:r>
            <a:endParaRPr lang="en-US" altLang="zh-CN"/>
          </a:p>
          <a:p>
            <a:pPr lvl="1"/>
            <a:r>
              <a:rPr lang="zh-CN" altLang="en-US"/>
              <a:t>需要接入大量不同厂商制造的拥有不同功能的设备，这些设备支持的通信协议也不尽相同</a:t>
            </a:r>
            <a:endParaRPr lang="en-US" altLang="zh-CN"/>
          </a:p>
          <a:p>
            <a:pPr lvl="1"/>
            <a:r>
              <a:rPr lang="zh-CN" altLang="en-US"/>
              <a:t>云服务包含大量由传感数据触发的规则</a:t>
            </a:r>
            <a:endParaRPr lang="en-US" altLang="zh-CN"/>
          </a:p>
          <a:p>
            <a:pPr lvl="1"/>
            <a:r>
              <a:rPr lang="zh-CN" altLang="en-US"/>
              <a:t>云服务包含大量可重用的应用逻辑，如数据存储、数据读取等</a:t>
            </a:r>
            <a:endParaRPr lang="en-US" altLang="zh-CN"/>
          </a:p>
          <a:p>
            <a:r>
              <a:rPr lang="zh-CN" altLang="en-US"/>
              <a:t>云服务开发</a:t>
            </a:r>
            <a:endParaRPr lang="en-US" altLang="zh-CN"/>
          </a:p>
          <a:p>
            <a:pPr lvl="1"/>
            <a:r>
              <a:rPr lang="zh-CN" altLang="en-US"/>
              <a:t>设备接入</a:t>
            </a:r>
            <a:endParaRPr lang="en-US" altLang="zh-CN"/>
          </a:p>
          <a:p>
            <a:pPr lvl="1"/>
            <a:r>
              <a:rPr lang="zh-CN" altLang="en-US"/>
              <a:t>基于</a:t>
            </a:r>
            <a:r>
              <a:rPr lang="en-US" altLang="zh-CN"/>
              <a:t>IFTTT</a:t>
            </a:r>
            <a:r>
              <a:rPr lang="zh-CN" altLang="en-US"/>
              <a:t>规则的云服务开发</a:t>
            </a:r>
            <a:endParaRPr lang="en-US" altLang="zh-CN"/>
          </a:p>
          <a:p>
            <a:pPr lvl="1"/>
            <a:r>
              <a:rPr lang="zh-CN" altLang="en-US"/>
              <a:t>基于服务编排的云服务开发</a:t>
            </a:r>
            <a:endParaRPr lang="en-US" altLang="zh-CN" dirty="0"/>
          </a:p>
        </p:txBody>
      </p:sp>
    </p:spTree>
    <p:extLst>
      <p:ext uri="{BB962C8B-B14F-4D97-AF65-F5344CB8AC3E}">
        <p14:creationId xmlns:p14="http://schemas.microsoft.com/office/powerpoint/2010/main" val="160615779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6E2357-6677-457C-9AAA-1ACFA4BB40E7}"/>
              </a:ext>
            </a:extLst>
          </p:cNvPr>
          <p:cNvSpPr>
            <a:spLocks noGrp="1"/>
          </p:cNvSpPr>
          <p:nvPr>
            <p:ph type="title"/>
          </p:nvPr>
        </p:nvSpPr>
        <p:spPr/>
        <p:txBody>
          <a:bodyPr/>
          <a:lstStyle/>
          <a:p>
            <a:r>
              <a:rPr lang="zh-CN" altLang="en-US" dirty="0"/>
              <a:t>云服务开发</a:t>
            </a:r>
          </a:p>
        </p:txBody>
      </p:sp>
      <p:sp>
        <p:nvSpPr>
          <p:cNvPr id="3" name="内容占位符 2">
            <a:extLst>
              <a:ext uri="{FF2B5EF4-FFF2-40B4-BE49-F238E27FC236}">
                <a16:creationId xmlns:a16="http://schemas.microsoft.com/office/drawing/2014/main" id="{02A70F07-9C39-4073-8D71-BB67FA92E38C}"/>
              </a:ext>
            </a:extLst>
          </p:cNvPr>
          <p:cNvSpPr>
            <a:spLocks noGrp="1"/>
          </p:cNvSpPr>
          <p:nvPr>
            <p:ph idx="1"/>
          </p:nvPr>
        </p:nvSpPr>
        <p:spPr/>
        <p:txBody>
          <a:bodyPr/>
          <a:lstStyle/>
          <a:p>
            <a:r>
              <a:rPr lang="zh-CN" altLang="en-US"/>
              <a:t>设备接入</a:t>
            </a:r>
            <a:endParaRPr lang="en-US" altLang="zh-CN"/>
          </a:p>
          <a:p>
            <a:pPr lvl="1"/>
            <a:r>
              <a:rPr lang="zh-CN" altLang="en-US"/>
              <a:t>设备发现：云平台发现可连接的物联网设备</a:t>
            </a:r>
            <a:endParaRPr lang="en-US" altLang="zh-CN"/>
          </a:p>
          <a:p>
            <a:pPr lvl="1"/>
            <a:r>
              <a:rPr lang="zh-CN" altLang="en-US"/>
              <a:t>控制认证：让设备确认云平台对其拥有控制权</a:t>
            </a:r>
            <a:endParaRPr lang="en-US" altLang="zh-CN"/>
          </a:p>
          <a:p>
            <a:pPr lvl="1"/>
            <a:r>
              <a:rPr lang="zh-CN" altLang="en-US"/>
              <a:t>设备注册：云平台会为设备分配</a:t>
            </a:r>
            <a:r>
              <a:rPr lang="en-US" altLang="zh-CN"/>
              <a:t>ID</a:t>
            </a:r>
            <a:r>
              <a:rPr lang="zh-CN" altLang="en-US"/>
              <a:t>，同时将设备的属性和控制接口对接到云平台</a:t>
            </a:r>
            <a:endParaRPr lang="zh-CN" altLang="en-US" dirty="0"/>
          </a:p>
        </p:txBody>
      </p:sp>
      <p:pic>
        <p:nvPicPr>
          <p:cNvPr id="4" name="图片 3">
            <a:extLst>
              <a:ext uri="{FF2B5EF4-FFF2-40B4-BE49-F238E27FC236}">
                <a16:creationId xmlns:a16="http://schemas.microsoft.com/office/drawing/2014/main" id="{22CA5B65-876F-4A52-B3C5-746DE6B8B4B0}"/>
              </a:ext>
            </a:extLst>
          </p:cNvPr>
          <p:cNvPicPr>
            <a:picLocks noChangeAspect="1"/>
          </p:cNvPicPr>
          <p:nvPr/>
        </p:nvPicPr>
        <p:blipFill>
          <a:blip r:embed="rId3"/>
          <a:stretch>
            <a:fillRect/>
          </a:stretch>
        </p:blipFill>
        <p:spPr>
          <a:xfrm>
            <a:off x="1198845" y="3232267"/>
            <a:ext cx="6746310" cy="3287913"/>
          </a:xfrm>
          <a:prstGeom prst="rect">
            <a:avLst/>
          </a:prstGeom>
        </p:spPr>
      </p:pic>
    </p:spTree>
    <p:extLst>
      <p:ext uri="{BB962C8B-B14F-4D97-AF65-F5344CB8AC3E}">
        <p14:creationId xmlns:p14="http://schemas.microsoft.com/office/powerpoint/2010/main" val="400250457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zh-CN" altLang="en-US" dirty="0"/>
              <a:t>云服务开发</a:t>
            </a:r>
          </a:p>
        </p:txBody>
      </p:sp>
      <p:sp>
        <p:nvSpPr>
          <p:cNvPr id="7" name="内容占位符 2"/>
          <p:cNvSpPr>
            <a:spLocks noGrp="1"/>
          </p:cNvSpPr>
          <p:nvPr>
            <p:ph idx="1"/>
          </p:nvPr>
        </p:nvSpPr>
        <p:spPr/>
        <p:txBody>
          <a:bodyPr/>
          <a:lstStyle/>
          <a:p>
            <a:r>
              <a:rPr lang="zh-CN" altLang="en-US"/>
              <a:t>基于</a:t>
            </a:r>
            <a:r>
              <a:rPr lang="en-US" altLang="zh-CN"/>
              <a:t>IFTTT</a:t>
            </a:r>
            <a:r>
              <a:rPr lang="zh-CN" altLang="en-US"/>
              <a:t>规则的云服务开发</a:t>
            </a:r>
            <a:endParaRPr lang="en-US" altLang="zh-CN"/>
          </a:p>
          <a:p>
            <a:pPr lvl="1"/>
            <a:r>
              <a:rPr lang="zh-CN" altLang="en-US"/>
              <a:t>通过开发工作台，设置</a:t>
            </a:r>
            <a:r>
              <a:rPr lang="en-US" altLang="zh-CN"/>
              <a:t>IFTTT</a:t>
            </a:r>
            <a:r>
              <a:rPr lang="zh-CN" altLang="en-US"/>
              <a:t>规则，可实现简单的云服务</a:t>
            </a:r>
          </a:p>
          <a:p>
            <a:pPr lvl="1"/>
            <a:r>
              <a:rPr lang="zh-CN" altLang="en-US"/>
              <a:t>示例为使用中国移动</a:t>
            </a:r>
            <a:r>
              <a:rPr lang="en-US" altLang="zh-CN"/>
              <a:t>OneNet</a:t>
            </a:r>
            <a:r>
              <a:rPr lang="zh-CN" altLang="en-US"/>
              <a:t>平台，通过</a:t>
            </a:r>
            <a:r>
              <a:rPr lang="en-US" altLang="zh-CN"/>
              <a:t>IFTTT</a:t>
            </a:r>
            <a:r>
              <a:rPr lang="zh-CN" altLang="en-US"/>
              <a:t>规则配置，开发一个温度告警服务</a:t>
            </a:r>
            <a:endParaRPr lang="en-US" altLang="zh-CN"/>
          </a:p>
          <a:p>
            <a:pPr lvl="2"/>
            <a:r>
              <a:rPr lang="zh-CN" altLang="en-US"/>
              <a:t>接收信息方式：</a:t>
            </a:r>
            <a:endParaRPr lang="en-US" altLang="zh-CN"/>
          </a:p>
          <a:p>
            <a:pPr lvl="3"/>
            <a:r>
              <a:rPr lang="zh-CN" altLang="en-US"/>
              <a:t>邮箱：用于把信息推送给用户</a:t>
            </a:r>
            <a:endParaRPr lang="en-US" altLang="zh-CN"/>
          </a:p>
          <a:p>
            <a:pPr lvl="3"/>
            <a:r>
              <a:rPr lang="en-US" altLang="zh-CN"/>
              <a:t>URL</a:t>
            </a:r>
            <a:r>
              <a:rPr lang="zh-CN" altLang="en-US"/>
              <a:t>：用于数据的进一步处理</a:t>
            </a:r>
            <a:endParaRPr lang="zh-CN" altLang="en-US" dirty="0"/>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4151" y="3790911"/>
            <a:ext cx="7584971" cy="2617910"/>
          </a:xfrm>
          <a:prstGeom prst="rect">
            <a:avLst/>
          </a:prstGeom>
        </p:spPr>
      </p:pic>
    </p:spTree>
    <p:extLst>
      <p:ext uri="{BB962C8B-B14F-4D97-AF65-F5344CB8AC3E}">
        <p14:creationId xmlns:p14="http://schemas.microsoft.com/office/powerpoint/2010/main" val="125143699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zh-CN" altLang="en-US" dirty="0"/>
              <a:t>云服务开发</a:t>
            </a:r>
          </a:p>
        </p:txBody>
      </p:sp>
      <p:sp>
        <p:nvSpPr>
          <p:cNvPr id="7" name="内容占位符 2"/>
          <p:cNvSpPr>
            <a:spLocks noGrp="1"/>
          </p:cNvSpPr>
          <p:nvPr>
            <p:ph idx="1"/>
          </p:nvPr>
        </p:nvSpPr>
        <p:spPr/>
        <p:txBody>
          <a:bodyPr/>
          <a:lstStyle/>
          <a:p>
            <a:r>
              <a:rPr lang="zh-CN" altLang="en-US"/>
              <a:t>基于服务编排的云端服务开发</a:t>
            </a:r>
            <a:endParaRPr lang="en-US" altLang="zh-CN"/>
          </a:p>
          <a:p>
            <a:pPr lvl="1"/>
            <a:r>
              <a:rPr lang="zh-CN" altLang="en-US"/>
              <a:t>服务节点</a:t>
            </a:r>
            <a:endParaRPr lang="en-US" altLang="zh-CN"/>
          </a:p>
          <a:p>
            <a:pPr lvl="2"/>
            <a:r>
              <a:rPr lang="zh-CN" altLang="en-US"/>
              <a:t>每一个服务节点代表一个基础的</a:t>
            </a:r>
            <a:r>
              <a:rPr lang="en-US" altLang="zh-CN"/>
              <a:t>API</a:t>
            </a:r>
            <a:r>
              <a:rPr lang="zh-CN" altLang="en-US"/>
              <a:t>，如数据查询、数据存储等</a:t>
            </a:r>
            <a:endParaRPr lang="en-US" altLang="zh-CN"/>
          </a:p>
          <a:p>
            <a:pPr lvl="1"/>
            <a:r>
              <a:rPr lang="zh-CN" altLang="en-US"/>
              <a:t>服务编排</a:t>
            </a:r>
            <a:endParaRPr lang="en-US" altLang="zh-CN"/>
          </a:p>
          <a:p>
            <a:pPr lvl="2"/>
            <a:r>
              <a:rPr lang="zh-CN" altLang="en-US"/>
              <a:t>组合不同的服务节点，并对节点进行配置，从而实现特定的功能</a:t>
            </a:r>
            <a:endParaRPr lang="en-US" altLang="zh-CN"/>
          </a:p>
          <a:p>
            <a:endParaRPr lang="en-US" altLang="zh-CN"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8104" y="3351855"/>
            <a:ext cx="4547792" cy="2686124"/>
          </a:xfrm>
          <a:prstGeom prst="rect">
            <a:avLst/>
          </a:prstGeom>
        </p:spPr>
      </p:pic>
    </p:spTree>
    <p:extLst>
      <p:ext uri="{BB962C8B-B14F-4D97-AF65-F5344CB8AC3E}">
        <p14:creationId xmlns:p14="http://schemas.microsoft.com/office/powerpoint/2010/main" val="421206848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zh-CN" altLang="en-US" dirty="0"/>
              <a:t>云服务开发</a:t>
            </a:r>
          </a:p>
        </p:txBody>
      </p:sp>
      <p:sp>
        <p:nvSpPr>
          <p:cNvPr id="7" name="内容占位符 2"/>
          <p:cNvSpPr>
            <a:spLocks noGrp="1"/>
          </p:cNvSpPr>
          <p:nvPr>
            <p:ph idx="1"/>
          </p:nvPr>
        </p:nvSpPr>
        <p:spPr/>
        <p:txBody>
          <a:bodyPr/>
          <a:lstStyle/>
          <a:p>
            <a:r>
              <a:rPr lang="zh-CN" altLang="en-US"/>
              <a:t>基于服务编排的云端服务开发</a:t>
            </a:r>
            <a:endParaRPr lang="en-US" altLang="zh-CN"/>
          </a:p>
          <a:p>
            <a:pPr lvl="1"/>
            <a:r>
              <a:rPr lang="zh-CN" altLang="en-US"/>
              <a:t>智能家居灯</a:t>
            </a:r>
            <a:endParaRPr lang="en-US" altLang="zh-CN"/>
          </a:p>
          <a:p>
            <a:pPr lvl="2"/>
            <a:r>
              <a:rPr lang="zh-CN" altLang="en-US"/>
              <a:t>当房间没有人并且电灯打开时，关闭电灯（房间有没有人通过摄像头判断，处理时间较长；电灯是否打开通过当前光照强度判断，处理时间较短）</a:t>
            </a:r>
            <a:endParaRPr lang="en-US" altLang="zh-CN"/>
          </a:p>
          <a:p>
            <a:endParaRPr lang="en-US" altLang="zh-CN" dirty="0"/>
          </a:p>
        </p:txBody>
      </p:sp>
      <p:grpSp>
        <p:nvGrpSpPr>
          <p:cNvPr id="6" name="组合 5">
            <a:extLst>
              <a:ext uri="{FF2B5EF4-FFF2-40B4-BE49-F238E27FC236}">
                <a16:creationId xmlns:a16="http://schemas.microsoft.com/office/drawing/2014/main" id="{27BFA1E5-09AB-4A37-9ACA-402E26886520}"/>
              </a:ext>
            </a:extLst>
          </p:cNvPr>
          <p:cNvGrpSpPr/>
          <p:nvPr/>
        </p:nvGrpSpPr>
        <p:grpSpPr>
          <a:xfrm>
            <a:off x="639755" y="3102474"/>
            <a:ext cx="7864491" cy="3399924"/>
            <a:chOff x="166364" y="2713203"/>
            <a:chExt cx="8764927" cy="3789195"/>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0572" y="2713203"/>
              <a:ext cx="4310719" cy="3789195"/>
            </a:xfrm>
            <a:prstGeom prst="rect">
              <a:avLst/>
            </a:prstGeom>
          </p:spPr>
        </p:pic>
        <p:sp>
          <p:nvSpPr>
            <p:cNvPr id="4" name="矩形 3"/>
            <p:cNvSpPr/>
            <p:nvPr/>
          </p:nvSpPr>
          <p:spPr bwMode="auto">
            <a:xfrm>
              <a:off x="5088895" y="3596242"/>
              <a:ext cx="2598091" cy="1775012"/>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spcBef>
                  <a:spcPct val="50000"/>
                </a:spcBef>
                <a:buClr>
                  <a:prstClr val="white"/>
                </a:buClr>
                <a:buSzPct val="100000"/>
              </a:pPr>
              <a:endParaRPr lang="zh-CN" altLang="en-US">
                <a:solidFill>
                  <a:prstClr val="black"/>
                </a:solidFill>
                <a:effectLst>
                  <a:outerShdw blurRad="38100" dist="38100" dir="2700000" algn="tl">
                    <a:srgbClr val="000000">
                      <a:alpha val="43137"/>
                    </a:srgbClr>
                  </a:outerShdw>
                </a:effectLst>
                <a:latin typeface="Arial" charset="0"/>
              </a:endParaRPr>
            </a:p>
          </p:txBody>
        </p:sp>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6364" y="2713203"/>
              <a:ext cx="4349628" cy="3789195"/>
            </a:xfrm>
            <a:prstGeom prst="rect">
              <a:avLst/>
            </a:prstGeom>
          </p:spPr>
        </p:pic>
        <p:sp>
          <p:nvSpPr>
            <p:cNvPr id="8" name="矩形 7"/>
            <p:cNvSpPr/>
            <p:nvPr/>
          </p:nvSpPr>
          <p:spPr bwMode="auto">
            <a:xfrm>
              <a:off x="400915" y="3596242"/>
              <a:ext cx="2704025" cy="1587787"/>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spcBef>
                  <a:spcPct val="50000"/>
                </a:spcBef>
                <a:buClr>
                  <a:prstClr val="white"/>
                </a:buClr>
                <a:buSzPct val="100000"/>
              </a:pPr>
              <a:endParaRPr lang="zh-CN" altLang="en-US">
                <a:solidFill>
                  <a:prstClr val="black"/>
                </a:solidFill>
                <a:effectLst>
                  <a:outerShdw blurRad="38100" dist="38100" dir="2700000" algn="tl">
                    <a:srgbClr val="000000">
                      <a:alpha val="43137"/>
                    </a:srgbClr>
                  </a:outerShdw>
                </a:effectLst>
                <a:latin typeface="Arial" charset="0"/>
              </a:endParaRPr>
            </a:p>
          </p:txBody>
        </p:sp>
      </p:grpSp>
    </p:spTree>
    <p:extLst>
      <p:ext uri="{BB962C8B-B14F-4D97-AF65-F5344CB8AC3E}">
        <p14:creationId xmlns:p14="http://schemas.microsoft.com/office/powerpoint/2010/main" val="311195885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6C27F2-FD71-4BA3-B0EF-F46590418D70}"/>
              </a:ext>
            </a:extLst>
          </p:cNvPr>
          <p:cNvSpPr>
            <a:spLocks noGrp="1"/>
          </p:cNvSpPr>
          <p:nvPr>
            <p:ph type="title"/>
          </p:nvPr>
        </p:nvSpPr>
        <p:spPr/>
        <p:txBody>
          <a:bodyPr/>
          <a:lstStyle/>
          <a:p>
            <a:r>
              <a:rPr lang="zh-CN" altLang="en-US" dirty="0"/>
              <a:t>云服务开发</a:t>
            </a:r>
          </a:p>
        </p:txBody>
      </p:sp>
      <p:sp>
        <p:nvSpPr>
          <p:cNvPr id="3" name="内容占位符 2">
            <a:extLst>
              <a:ext uri="{FF2B5EF4-FFF2-40B4-BE49-F238E27FC236}">
                <a16:creationId xmlns:a16="http://schemas.microsoft.com/office/drawing/2014/main" id="{7726CE99-7AE5-4639-A262-91134611E482}"/>
              </a:ext>
            </a:extLst>
          </p:cNvPr>
          <p:cNvSpPr>
            <a:spLocks noGrp="1"/>
          </p:cNvSpPr>
          <p:nvPr>
            <p:ph idx="1"/>
          </p:nvPr>
        </p:nvSpPr>
        <p:spPr/>
        <p:txBody>
          <a:bodyPr/>
          <a:lstStyle/>
          <a:p>
            <a:r>
              <a:rPr lang="zh-CN" altLang="en-US"/>
              <a:t>平台对比</a:t>
            </a:r>
            <a:endParaRPr lang="zh-CN" altLang="en-US" dirty="0"/>
          </a:p>
        </p:txBody>
      </p:sp>
      <p:graphicFrame>
        <p:nvGraphicFramePr>
          <p:cNvPr id="4" name="内容占位符 3">
            <a:extLst>
              <a:ext uri="{FF2B5EF4-FFF2-40B4-BE49-F238E27FC236}">
                <a16:creationId xmlns:a16="http://schemas.microsoft.com/office/drawing/2014/main" id="{1089CBF1-6A06-40E7-8012-2628C723C2CB}"/>
              </a:ext>
            </a:extLst>
          </p:cNvPr>
          <p:cNvGraphicFramePr>
            <a:graphicFrameLocks/>
          </p:cNvGraphicFramePr>
          <p:nvPr>
            <p:extLst>
              <p:ext uri="{D42A27DB-BD31-4B8C-83A1-F6EECF244321}">
                <p14:modId xmlns:p14="http://schemas.microsoft.com/office/powerpoint/2010/main" val="260194846"/>
              </p:ext>
            </p:extLst>
          </p:nvPr>
        </p:nvGraphicFramePr>
        <p:xfrm>
          <a:off x="847940" y="1656188"/>
          <a:ext cx="7333820" cy="4744612"/>
        </p:xfrm>
        <a:graphic>
          <a:graphicData uri="http://schemas.openxmlformats.org/drawingml/2006/table">
            <a:tbl>
              <a:tblPr firstRow="1" firstCol="1">
                <a:tableStyleId>{08FB837D-C827-4EFA-A057-4D05807E0F7C}</a:tableStyleId>
              </a:tblPr>
              <a:tblGrid>
                <a:gridCol w="2494700">
                  <a:extLst>
                    <a:ext uri="{9D8B030D-6E8A-4147-A177-3AD203B41FA5}">
                      <a16:colId xmlns:a16="http://schemas.microsoft.com/office/drawing/2014/main" val="393836667"/>
                    </a:ext>
                  </a:extLst>
                </a:gridCol>
                <a:gridCol w="2448560">
                  <a:extLst>
                    <a:ext uri="{9D8B030D-6E8A-4147-A177-3AD203B41FA5}">
                      <a16:colId xmlns:a16="http://schemas.microsoft.com/office/drawing/2014/main" val="984286165"/>
                    </a:ext>
                  </a:extLst>
                </a:gridCol>
                <a:gridCol w="2390560">
                  <a:extLst>
                    <a:ext uri="{9D8B030D-6E8A-4147-A177-3AD203B41FA5}">
                      <a16:colId xmlns:a16="http://schemas.microsoft.com/office/drawing/2014/main" val="1458606952"/>
                    </a:ext>
                  </a:extLst>
                </a:gridCol>
              </a:tblGrid>
              <a:tr h="1043575">
                <a:tc rowSpan="2">
                  <a:txBody>
                    <a:bodyPr/>
                    <a:lstStyle/>
                    <a:p>
                      <a:pPr algn="ctr" fontAlgn="ctr"/>
                      <a:r>
                        <a:rPr lang="zh-CN" altLang="en-US" sz="2400" u="none" strike="noStrike" dirty="0">
                          <a:effectLst/>
                        </a:rPr>
                        <a:t>一体开发平台</a:t>
                      </a:r>
                      <a:endParaRPr lang="zh-CN" altLang="en-US" sz="24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gridSpan="2">
                  <a:txBody>
                    <a:bodyPr/>
                    <a:lstStyle/>
                    <a:p>
                      <a:pPr algn="ctr" fontAlgn="ctr"/>
                      <a:r>
                        <a:rPr lang="zh-CN" altLang="en-US" sz="2400" u="none" strike="noStrike" dirty="0">
                          <a:effectLst/>
                        </a:rPr>
                        <a:t>云端服务开发</a:t>
                      </a:r>
                      <a:endParaRPr lang="zh-CN" altLang="en-US" sz="2400" b="0" i="0" u="none" strike="noStrike" dirty="0">
                        <a:solidFill>
                          <a:srgbClr val="000000"/>
                        </a:solidFill>
                        <a:effectLst/>
                        <a:latin typeface="+mj-ea"/>
                        <a:ea typeface="+mj-ea"/>
                        <a:cs typeface="Times New Roman" panose="02020603050405020304" pitchFamily="18" charset="0"/>
                      </a:endParaRPr>
                    </a:p>
                  </a:txBody>
                  <a:tcPr marL="8874" marR="8874" marT="8874" marB="0" anchor="ctr">
                    <a:lnR w="19050" cap="flat" cmpd="sng" algn="ctr">
                      <a:solidFill>
                        <a:schemeClr val="bg1"/>
                      </a:solidFill>
                      <a:prstDash val="solid"/>
                      <a:round/>
                      <a:headEnd type="none" w="med" len="med"/>
                      <a:tailEnd type="none" w="med" len="med"/>
                    </a:lnR>
                  </a:tcPr>
                </a:tc>
                <a:tc hMerge="1">
                  <a:txBody>
                    <a:bodyPr/>
                    <a:lstStyle/>
                    <a:p>
                      <a:pPr algn="ctr" fontAlgn="ctr"/>
                      <a:endParaRPr lang="zh-CN" altLang="en-US" sz="1600" b="0" i="0" u="none" strike="noStrike" dirty="0">
                        <a:solidFill>
                          <a:srgbClr val="000000"/>
                        </a:solidFill>
                        <a:effectLst/>
                        <a:latin typeface="等线" panose="02010600030101010101" pitchFamily="2" charset="-122"/>
                        <a:ea typeface="等线" panose="02010600030101010101" pitchFamily="2" charset="-122"/>
                      </a:endParaRPr>
                    </a:p>
                  </a:txBody>
                  <a:tcPr marL="8874" marR="8874" marT="8874" marB="0" anchor="ctr"/>
                </a:tc>
                <a:extLst>
                  <a:ext uri="{0D108BD9-81ED-4DB2-BD59-A6C34878D82A}">
                    <a16:rowId xmlns:a16="http://schemas.microsoft.com/office/drawing/2014/main" val="3938159999"/>
                  </a:ext>
                </a:extLst>
              </a:tr>
              <a:tr h="725195">
                <a:tc vMerge="1">
                  <a:txBody>
                    <a:bodyPr/>
                    <a:lstStyle/>
                    <a:p>
                      <a:endParaRPr lang="zh-CN" altLang="en-US"/>
                    </a:p>
                  </a:txBody>
                  <a:tcPr/>
                </a:tc>
                <a:tc>
                  <a:txBody>
                    <a:bodyPr/>
                    <a:lstStyle/>
                    <a:p>
                      <a:pPr algn="ctr" rtl="0" fontAlgn="ctr"/>
                      <a:r>
                        <a:rPr lang="zh-CN" altLang="en-US" sz="2400" u="none" strike="noStrike" dirty="0">
                          <a:effectLst/>
                        </a:rPr>
                        <a:t>基于</a:t>
                      </a:r>
                      <a:r>
                        <a:rPr lang="en-US" altLang="zh-CN" sz="2400" u="none" strike="noStrike" dirty="0">
                          <a:effectLst/>
                        </a:rPr>
                        <a:t>IFTTT</a:t>
                      </a:r>
                      <a:r>
                        <a:rPr lang="zh-CN" altLang="en-US" sz="2400" u="none" strike="noStrike" dirty="0">
                          <a:effectLst/>
                        </a:rPr>
                        <a:t>规则</a:t>
                      </a:r>
                      <a:endParaRPr lang="zh-CN" altLang="en-US" sz="2400" b="0" i="0" u="none" strike="noStrike" dirty="0">
                        <a:solidFill>
                          <a:schemeClr val="bg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2400" u="none" strike="noStrike" dirty="0">
                          <a:effectLst/>
                        </a:rPr>
                        <a:t>基于服务编排</a:t>
                      </a:r>
                      <a:endParaRPr lang="zh-CN" altLang="en-US" sz="2400" b="0" i="0" u="none" strike="noStrike" dirty="0">
                        <a:solidFill>
                          <a:schemeClr val="bg1"/>
                        </a:solidFill>
                        <a:effectLst/>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1057826431"/>
                  </a:ext>
                </a:extLst>
              </a:tr>
              <a:tr h="1042588">
                <a:tc>
                  <a:txBody>
                    <a:bodyPr/>
                    <a:lstStyle/>
                    <a:p>
                      <a:pPr algn="ctr" rtl="0" fontAlgn="ctr"/>
                      <a:r>
                        <a:rPr lang="en-US" altLang="zh-CN" sz="2400" u="none" strike="noStrike" dirty="0" err="1">
                          <a:effectLst/>
                        </a:rPr>
                        <a:t>TinyLink</a:t>
                      </a:r>
                      <a:endParaRPr lang="en-US" sz="24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2000" u="none" strike="noStrike" dirty="0">
                          <a:effectLst/>
                        </a:rPr>
                        <a:t>√</a:t>
                      </a:r>
                      <a:endParaRPr lang="zh-CN" altLang="en-US" sz="20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000" u="none" strike="noStrike" dirty="0">
                          <a:effectLst/>
                        </a:rPr>
                        <a:t>×</a:t>
                      </a:r>
                      <a:endParaRPr lang="zh-CN" altLang="en-US" sz="20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3857372589"/>
                  </a:ext>
                </a:extLst>
              </a:tr>
              <a:tr h="966627">
                <a:tc>
                  <a:txBody>
                    <a:bodyPr/>
                    <a:lstStyle/>
                    <a:p>
                      <a:pPr algn="ctr" rtl="0" fontAlgn="ctr"/>
                      <a:r>
                        <a:rPr lang="en-US" altLang="zh-CN" sz="2400" u="none" strike="noStrike" kern="1200" dirty="0" err="1">
                          <a:effectLst/>
                        </a:rPr>
                        <a:t>IoT</a:t>
                      </a:r>
                      <a:r>
                        <a:rPr lang="en-US" altLang="zh-CN" sz="2400" u="none" strike="noStrike" kern="1200" dirty="0">
                          <a:effectLst/>
                        </a:rPr>
                        <a:t> Studio</a:t>
                      </a:r>
                      <a:endParaRPr lang="en-US" sz="2400" b="1" i="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000" u="none" strike="noStrike" dirty="0">
                          <a:effectLst/>
                        </a:rPr>
                        <a:t>×</a:t>
                      </a:r>
                      <a:endParaRPr lang="zh-CN" altLang="en-US" sz="20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2000" u="none" strike="noStrike" dirty="0">
                          <a:effectLst/>
                        </a:rPr>
                        <a:t>√</a:t>
                      </a:r>
                      <a:endParaRPr lang="zh-CN" altLang="en-US" sz="20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3356318774"/>
                  </a:ext>
                </a:extLst>
              </a:tr>
              <a:tr h="966627">
                <a:tc>
                  <a:txBody>
                    <a:bodyPr/>
                    <a:lstStyle/>
                    <a:p>
                      <a:pPr algn="ctr" rtl="0" fontAlgn="ctr"/>
                      <a:r>
                        <a:rPr lang="en-US" sz="2400" u="none" strike="noStrike" kern="1200" dirty="0" err="1">
                          <a:effectLst/>
                        </a:rPr>
                        <a:t>Tuya</a:t>
                      </a:r>
                      <a:r>
                        <a:rPr lang="en-US" sz="2400" u="none" strike="noStrike" kern="1200" dirty="0">
                          <a:effectLst/>
                        </a:rPr>
                        <a:t> IoT</a:t>
                      </a:r>
                      <a:r>
                        <a:rPr lang="zh-CN" altLang="en-US" sz="2400" u="none" strike="noStrike" kern="1200" dirty="0">
                          <a:effectLst/>
                        </a:rPr>
                        <a:t>开发平台</a:t>
                      </a:r>
                      <a:endParaRPr lang="en-US" sz="2400" b="1" i="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2000" u="none" strike="noStrike" kern="1200" dirty="0">
                          <a:effectLst/>
                        </a:rPr>
                        <a:t>√</a:t>
                      </a:r>
                      <a:endParaRPr lang="zh-CN" altLang="en-US" sz="2000" b="0" i="0" u="none" strike="noStrike" kern="1200"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2000" u="none" strike="noStrike" kern="1200" cap="none" spc="0" normalizeH="0" baseline="0" noProof="0" dirty="0">
                          <a:ln>
                            <a:noFill/>
                          </a:ln>
                          <a:effectLst/>
                          <a:uLnTx/>
                          <a:uFillTx/>
                        </a:rPr>
                        <a:t>×</a:t>
                      </a:r>
                      <a:endParaRPr kumimoji="0" lang="zh-CN" altLang="en-US" sz="2000" b="0" i="0" u="none" strike="noStrike" kern="1200" cap="none" spc="0" normalizeH="0" baseline="0" noProof="0" dirty="0">
                        <a:ln>
                          <a:noFill/>
                        </a:ln>
                        <a:solidFill>
                          <a:srgbClr val="000000"/>
                        </a:solidFill>
                        <a:effectLst/>
                        <a:uLnTx/>
                        <a:uFillTx/>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1476657015"/>
                  </a:ext>
                </a:extLst>
              </a:tr>
            </a:tbl>
          </a:graphicData>
        </a:graphic>
      </p:graphicFrame>
    </p:spTree>
    <p:extLst>
      <p:ext uri="{BB962C8B-B14F-4D97-AF65-F5344CB8AC3E}">
        <p14:creationId xmlns:p14="http://schemas.microsoft.com/office/powerpoint/2010/main" val="4173830281"/>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zh-CN" altLang="en-US"/>
              <a:t>主要功能</a:t>
            </a:r>
            <a:endParaRPr lang="zh-CN" altLang="en-US" dirty="0"/>
          </a:p>
        </p:txBody>
      </p:sp>
      <p:sp>
        <p:nvSpPr>
          <p:cNvPr id="7" name="内容占位符 2"/>
          <p:cNvSpPr>
            <a:spLocks noGrp="1"/>
          </p:cNvSpPr>
          <p:nvPr>
            <p:ph idx="1"/>
          </p:nvPr>
        </p:nvSpPr>
        <p:spPr/>
        <p:txBody>
          <a:bodyPr/>
          <a:lstStyle/>
          <a:p>
            <a:r>
              <a:rPr lang="zh-CN" altLang="en-US" dirty="0"/>
              <a:t>我们认为，理想的物联网云</a:t>
            </a:r>
            <a:r>
              <a:rPr lang="en-US" altLang="zh-CN" dirty="0"/>
              <a:t>-</a:t>
            </a:r>
            <a:r>
              <a:rPr lang="zh-CN" altLang="en-US" dirty="0"/>
              <a:t>端一体开发应该包括如下功能</a:t>
            </a:r>
            <a:endParaRPr lang="en-US" altLang="zh-CN" dirty="0"/>
          </a:p>
          <a:p>
            <a:endParaRPr lang="en-US" altLang="zh-CN" dirty="0"/>
          </a:p>
          <a:p>
            <a:pPr lvl="1"/>
            <a:r>
              <a:rPr lang="zh-CN" altLang="en-US" b="1" dirty="0"/>
              <a:t>支持设备端开发</a:t>
            </a:r>
            <a:endParaRPr lang="en-US" altLang="zh-CN" b="1" dirty="0"/>
          </a:p>
          <a:p>
            <a:pPr lvl="1"/>
            <a:r>
              <a:rPr lang="zh-CN" altLang="en-US" b="1" dirty="0"/>
              <a:t>支持云服务开发</a:t>
            </a:r>
            <a:endParaRPr lang="en-US" altLang="zh-CN" b="1" dirty="0"/>
          </a:p>
          <a:p>
            <a:pPr lvl="1"/>
            <a:r>
              <a:rPr lang="zh-CN" altLang="en-US" b="1" dirty="0">
                <a:solidFill>
                  <a:srgbClr val="C00000"/>
                </a:solidFill>
              </a:rPr>
              <a:t>支持</a:t>
            </a:r>
            <a:r>
              <a:rPr lang="en-US" altLang="zh-CN" b="1" dirty="0">
                <a:solidFill>
                  <a:srgbClr val="C00000"/>
                </a:solidFill>
              </a:rPr>
              <a:t>Web</a:t>
            </a:r>
            <a:r>
              <a:rPr lang="zh-CN" altLang="en-US" b="1" dirty="0">
                <a:solidFill>
                  <a:srgbClr val="C00000"/>
                </a:solidFill>
              </a:rPr>
              <a:t>应用</a:t>
            </a:r>
            <a:r>
              <a:rPr lang="en-US" altLang="zh-CN" b="1" dirty="0">
                <a:solidFill>
                  <a:srgbClr val="C00000"/>
                </a:solidFill>
              </a:rPr>
              <a:t>/</a:t>
            </a:r>
            <a:r>
              <a:rPr lang="zh-CN" altLang="en-US" b="1" dirty="0">
                <a:solidFill>
                  <a:srgbClr val="C00000"/>
                </a:solidFill>
              </a:rPr>
              <a:t>移动应用开发</a:t>
            </a:r>
            <a:endParaRPr lang="en-US" altLang="zh-CN" b="1" dirty="0">
              <a:solidFill>
                <a:srgbClr val="C00000"/>
              </a:solidFill>
            </a:endParaRPr>
          </a:p>
          <a:p>
            <a:pPr lvl="1"/>
            <a:r>
              <a:rPr lang="zh-CN" altLang="en-US" b="1" dirty="0"/>
              <a:t>支持三端集成开发流程的简化</a:t>
            </a:r>
            <a:endParaRPr lang="en-US" altLang="zh-CN" b="1" dirty="0"/>
          </a:p>
        </p:txBody>
      </p:sp>
    </p:spTree>
    <p:extLst>
      <p:ext uri="{BB962C8B-B14F-4D97-AF65-F5344CB8AC3E}">
        <p14:creationId xmlns:p14="http://schemas.microsoft.com/office/powerpoint/2010/main" val="279022748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en-US" altLang="zh-CN" dirty="0"/>
              <a:t>Web</a:t>
            </a:r>
            <a:r>
              <a:rPr lang="zh-CN" altLang="en-US" dirty="0"/>
              <a:t>应用</a:t>
            </a:r>
            <a:r>
              <a:rPr lang="en-US" altLang="zh-CN" dirty="0"/>
              <a:t>/</a:t>
            </a:r>
            <a:r>
              <a:rPr lang="zh-CN" altLang="en-US" dirty="0"/>
              <a:t>移动应用开发</a:t>
            </a:r>
          </a:p>
        </p:txBody>
      </p:sp>
      <p:sp>
        <p:nvSpPr>
          <p:cNvPr id="7" name="内容占位符 2"/>
          <p:cNvSpPr>
            <a:spLocks noGrp="1"/>
          </p:cNvSpPr>
          <p:nvPr>
            <p:ph idx="1"/>
          </p:nvPr>
        </p:nvSpPr>
        <p:spPr/>
        <p:txBody>
          <a:bodyPr/>
          <a:lstStyle/>
          <a:p>
            <a:r>
              <a:rPr lang="zh-CN" altLang="en-US"/>
              <a:t>物联网</a:t>
            </a:r>
            <a:r>
              <a:rPr lang="en-US" altLang="zh-CN"/>
              <a:t>Web</a:t>
            </a:r>
            <a:r>
              <a:rPr lang="zh-CN" altLang="en-US"/>
              <a:t>应用</a:t>
            </a:r>
            <a:r>
              <a:rPr lang="en-US" altLang="zh-CN"/>
              <a:t>/</a:t>
            </a:r>
            <a:r>
              <a:rPr lang="zh-CN" altLang="en-US"/>
              <a:t>移动应用特点</a:t>
            </a:r>
            <a:endParaRPr lang="en-US" altLang="zh-CN"/>
          </a:p>
          <a:p>
            <a:pPr lvl="1"/>
            <a:r>
              <a:rPr lang="zh-CN" altLang="en-US"/>
              <a:t>应用</a:t>
            </a:r>
            <a:r>
              <a:rPr lang="en-US" altLang="zh-CN"/>
              <a:t>UI</a:t>
            </a:r>
            <a:r>
              <a:rPr lang="zh-CN" altLang="en-US"/>
              <a:t>与设备端所提供的功能密切相关</a:t>
            </a:r>
            <a:endParaRPr lang="en-US" altLang="zh-CN"/>
          </a:p>
          <a:p>
            <a:pPr lvl="1"/>
            <a:r>
              <a:rPr lang="zh-CN" altLang="en-US"/>
              <a:t>应用组件的可重用性高（开关、文本框、折线图、仪表盘等）</a:t>
            </a:r>
            <a:endParaRPr lang="en-US" altLang="zh-CN"/>
          </a:p>
          <a:p>
            <a:r>
              <a:rPr lang="en-US" altLang="zh-CN"/>
              <a:t>Web</a:t>
            </a:r>
            <a:r>
              <a:rPr lang="zh-CN" altLang="en-US"/>
              <a:t>应用</a:t>
            </a:r>
            <a:r>
              <a:rPr lang="en-US" altLang="zh-CN"/>
              <a:t>/</a:t>
            </a:r>
            <a:r>
              <a:rPr lang="zh-CN" altLang="en-US"/>
              <a:t>移动应用开发方式</a:t>
            </a:r>
            <a:endParaRPr lang="en-US" altLang="zh-CN"/>
          </a:p>
          <a:p>
            <a:pPr lvl="1"/>
            <a:r>
              <a:rPr lang="zh-CN" altLang="en-US"/>
              <a:t>基于设备端代码的应用框架自动生成</a:t>
            </a:r>
            <a:endParaRPr lang="en-US" altLang="zh-CN"/>
          </a:p>
          <a:p>
            <a:pPr lvl="1"/>
            <a:r>
              <a:rPr lang="zh-CN" altLang="en-US"/>
              <a:t>基于可视化拖拽的</a:t>
            </a:r>
            <a:r>
              <a:rPr lang="en-US" altLang="zh-CN"/>
              <a:t>Web</a:t>
            </a:r>
            <a:r>
              <a:rPr lang="zh-CN" altLang="en-US"/>
              <a:t>应用</a:t>
            </a:r>
            <a:r>
              <a:rPr lang="en-US" altLang="zh-CN"/>
              <a:t>/</a:t>
            </a:r>
            <a:r>
              <a:rPr lang="zh-CN" altLang="en-US"/>
              <a:t>移动应用开发</a:t>
            </a:r>
            <a:endParaRPr lang="en-US" altLang="zh-CN"/>
          </a:p>
          <a:p>
            <a:pPr lvl="1"/>
            <a:r>
              <a:rPr lang="zh-CN" altLang="en-US"/>
              <a:t>基于插件的</a:t>
            </a:r>
            <a:r>
              <a:rPr lang="en-US" altLang="zh-CN"/>
              <a:t>Web</a:t>
            </a:r>
            <a:r>
              <a:rPr lang="zh-CN" altLang="en-US"/>
              <a:t>应用</a:t>
            </a:r>
            <a:r>
              <a:rPr lang="en-US" altLang="zh-CN"/>
              <a:t>/</a:t>
            </a:r>
            <a:r>
              <a:rPr lang="zh-CN" altLang="en-US"/>
              <a:t>移动应用开发</a:t>
            </a:r>
            <a:endParaRPr lang="en-US" altLang="zh-CN" dirty="0"/>
          </a:p>
        </p:txBody>
      </p:sp>
    </p:spTree>
    <p:extLst>
      <p:ext uri="{BB962C8B-B14F-4D97-AF65-F5344CB8AC3E}">
        <p14:creationId xmlns:p14="http://schemas.microsoft.com/office/powerpoint/2010/main" val="133064975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en-US" altLang="zh-CN" dirty="0"/>
              <a:t>Web</a:t>
            </a:r>
            <a:r>
              <a:rPr lang="zh-CN" altLang="en-US" dirty="0"/>
              <a:t>应用</a:t>
            </a:r>
            <a:r>
              <a:rPr lang="en-US" altLang="zh-CN" dirty="0"/>
              <a:t>/</a:t>
            </a:r>
            <a:r>
              <a:rPr lang="zh-CN" altLang="en-US" dirty="0"/>
              <a:t>移动应用开发</a:t>
            </a:r>
          </a:p>
        </p:txBody>
      </p:sp>
      <p:sp>
        <p:nvSpPr>
          <p:cNvPr id="7" name="内容占位符 2"/>
          <p:cNvSpPr>
            <a:spLocks noGrp="1"/>
          </p:cNvSpPr>
          <p:nvPr>
            <p:ph idx="1"/>
          </p:nvPr>
        </p:nvSpPr>
        <p:spPr/>
        <p:txBody>
          <a:bodyPr/>
          <a:lstStyle/>
          <a:p>
            <a:r>
              <a:rPr lang="zh-CN" altLang="en-US"/>
              <a:t>基于设备端代码的应用框架自动生成</a:t>
            </a:r>
            <a:endParaRPr lang="en-US" altLang="zh-CN"/>
          </a:p>
          <a:p>
            <a:pPr lvl="1"/>
            <a:r>
              <a:rPr lang="zh-CN" altLang="en-US"/>
              <a:t>基于设备端应用代码，自动生成</a:t>
            </a:r>
            <a:r>
              <a:rPr lang="en-US" altLang="zh-CN"/>
              <a:t>Web</a:t>
            </a:r>
            <a:r>
              <a:rPr lang="zh-CN" altLang="en-US"/>
              <a:t>应用</a:t>
            </a:r>
            <a:r>
              <a:rPr lang="en-US" altLang="zh-CN"/>
              <a:t>/</a:t>
            </a:r>
            <a:r>
              <a:rPr lang="zh-CN" altLang="en-US"/>
              <a:t>移动应用框架，用户只需要简单的配置即可完成</a:t>
            </a:r>
            <a:r>
              <a:rPr lang="en-US" altLang="zh-CN"/>
              <a:t>Web</a:t>
            </a:r>
            <a:r>
              <a:rPr lang="zh-CN" altLang="en-US"/>
              <a:t>应用</a:t>
            </a:r>
            <a:r>
              <a:rPr lang="en-US" altLang="zh-CN"/>
              <a:t>/</a:t>
            </a:r>
            <a:r>
              <a:rPr lang="zh-CN" altLang="en-US"/>
              <a:t>移动应用开发</a:t>
            </a:r>
            <a:endParaRPr lang="en-US" altLang="zh-CN"/>
          </a:p>
          <a:p>
            <a:pPr lvl="1"/>
            <a:r>
              <a:rPr lang="zh-CN" altLang="en-US"/>
              <a:t>支持这种开发方式的有</a:t>
            </a:r>
            <a:r>
              <a:rPr lang="en-US" altLang="zh-CN"/>
              <a:t>TinyLink </a:t>
            </a:r>
            <a:r>
              <a:rPr lang="zh-CN" altLang="en-US"/>
              <a:t>、中移</a:t>
            </a:r>
            <a:r>
              <a:rPr lang="en-US" altLang="zh-CN"/>
              <a:t>OneNet</a:t>
            </a:r>
            <a:r>
              <a:rPr lang="zh-CN" altLang="en-US"/>
              <a:t>等</a:t>
            </a:r>
            <a:endParaRPr lang="en-US" altLang="zh-CN"/>
          </a:p>
          <a:p>
            <a:endParaRPr lang="en-US" altLang="zh-CN" dirty="0"/>
          </a:p>
        </p:txBody>
      </p:sp>
      <p:grpSp>
        <p:nvGrpSpPr>
          <p:cNvPr id="10" name="组合 9">
            <a:extLst>
              <a:ext uri="{FF2B5EF4-FFF2-40B4-BE49-F238E27FC236}">
                <a16:creationId xmlns:a16="http://schemas.microsoft.com/office/drawing/2014/main" id="{AD6A4D1A-2B86-49E3-93AB-A5278039705B}"/>
              </a:ext>
            </a:extLst>
          </p:cNvPr>
          <p:cNvGrpSpPr/>
          <p:nvPr/>
        </p:nvGrpSpPr>
        <p:grpSpPr>
          <a:xfrm>
            <a:off x="724042" y="2824480"/>
            <a:ext cx="7695917" cy="3614420"/>
            <a:chOff x="762141" y="2824480"/>
            <a:chExt cx="7695917" cy="3614420"/>
          </a:xfrm>
        </p:grpSpPr>
        <p:sp>
          <p:nvSpPr>
            <p:cNvPr id="31" name="矩形 30"/>
            <p:cNvSpPr/>
            <p:nvPr/>
          </p:nvSpPr>
          <p:spPr bwMode="auto">
            <a:xfrm>
              <a:off x="762141" y="2824480"/>
              <a:ext cx="7695917" cy="361442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r>
                <a:rPr lang="zh-CN" altLang="en-US" sz="2000" dirty="0">
                  <a:solidFill>
                    <a:prstClr val="black"/>
                  </a:solidFill>
                  <a:latin typeface="Times New Roman" panose="02020603050405020304" pitchFamily="18" charset="0"/>
                  <a:cs typeface="Times New Roman" panose="02020603050405020304" pitchFamily="18" charset="0"/>
                </a:rPr>
                <a:t>void mes</a:t>
              </a:r>
              <a:r>
                <a:rPr lang="en-US" altLang="zh-CN" sz="2000" dirty="0">
                  <a:solidFill>
                    <a:prstClr val="black"/>
                  </a:solidFill>
                  <a:latin typeface="Times New Roman" panose="02020603050405020304" pitchFamily="18" charset="0"/>
                  <a:cs typeface="Times New Roman" panose="02020603050405020304" pitchFamily="18" charset="0"/>
                </a:rPr>
                <a:t>g</a:t>
              </a:r>
              <a:r>
                <a:rPr lang="zh-CN" altLang="en-US" sz="2000" dirty="0">
                  <a:solidFill>
                    <a:prstClr val="black"/>
                  </a:solidFill>
                  <a:latin typeface="Times New Roman" panose="02020603050405020304" pitchFamily="18" charset="0"/>
                  <a:cs typeface="Times New Roman" panose="02020603050405020304" pitchFamily="18" charset="0"/>
                </a:rPr>
                <a:t>Arrived(MQTT::MessageData&amp; md){</a:t>
              </a:r>
            </a:p>
            <a:p>
              <a:r>
                <a:rPr lang="zh-CN" altLang="en-US" sz="2000" dirty="0">
                  <a:solidFill>
                    <a:prstClr val="black"/>
                  </a:solidFill>
                  <a:latin typeface="Times New Roman" panose="02020603050405020304" pitchFamily="18" charset="0"/>
                  <a:cs typeface="Times New Roman" panose="02020603050405020304" pitchFamily="18" charset="0"/>
                </a:rPr>
                <a:t>    MQTT::Message &amp;message = md.message;</a:t>
              </a:r>
            </a:p>
            <a:p>
              <a:r>
                <a:rPr lang="zh-CN" altLang="en-US" sz="2000" dirty="0">
                  <a:solidFill>
                    <a:srgbClr val="FF0000"/>
                  </a:solidFill>
                  <a:latin typeface="Times New Roman" panose="02020603050405020304" pitchFamily="18" charset="0"/>
                  <a:cs typeface="Times New Roman" panose="02020603050405020304" pitchFamily="18" charset="0"/>
                </a:rPr>
                <a:t> </a:t>
              </a:r>
              <a:r>
                <a:rPr lang="en-US" altLang="zh-CN" sz="2000" dirty="0">
                  <a:solidFill>
                    <a:srgbClr val="C00000"/>
                  </a:solidFill>
                  <a:latin typeface="Times New Roman" panose="02020603050405020304" pitchFamily="18" charset="0"/>
                  <a:cs typeface="Times New Roman" panose="02020603050405020304" pitchFamily="18" charset="0"/>
                </a:rPr>
                <a:t>/*</a:t>
              </a:r>
              <a:r>
                <a:rPr lang="zh-CN" altLang="en-US" sz="2000" dirty="0">
                  <a:solidFill>
                    <a:srgbClr val="C00000"/>
                  </a:solidFill>
                  <a:latin typeface="Times New Roman" panose="02020603050405020304" pitchFamily="18" charset="0"/>
                  <a:cs typeface="Times New Roman" panose="02020603050405020304" pitchFamily="18" charset="0"/>
                </a:rPr>
                <a:t>根据</a:t>
              </a:r>
              <a:r>
                <a:rPr lang="en-US" altLang="zh-CN" sz="2000" dirty="0">
                  <a:solidFill>
                    <a:srgbClr val="C00000"/>
                  </a:solidFill>
                  <a:latin typeface="Times New Roman" panose="02020603050405020304" pitchFamily="18" charset="0"/>
                  <a:cs typeface="Times New Roman" panose="02020603050405020304" pitchFamily="18" charset="0"/>
                </a:rPr>
                <a:t>MQTT</a:t>
              </a:r>
              <a:r>
                <a:rPr lang="zh-CN" altLang="en-US" sz="2000" dirty="0">
                  <a:solidFill>
                    <a:srgbClr val="C00000"/>
                  </a:solidFill>
                  <a:latin typeface="Times New Roman" panose="02020603050405020304" pitchFamily="18" charset="0"/>
                  <a:cs typeface="Times New Roman" panose="02020603050405020304" pitchFamily="18" charset="0"/>
                </a:rPr>
                <a:t>下行信息响应</a:t>
              </a:r>
              <a:r>
                <a:rPr lang="en-US" altLang="zh-CN" sz="2000" dirty="0">
                  <a:solidFill>
                    <a:srgbClr val="C00000"/>
                  </a:solidFill>
                  <a:latin typeface="Times New Roman" panose="02020603050405020304" pitchFamily="18" charset="0"/>
                  <a:cs typeface="Times New Roman" panose="02020603050405020304" pitchFamily="18" charset="0"/>
                </a:rPr>
                <a:t>*/</a:t>
              </a:r>
            </a:p>
            <a:p>
              <a:r>
                <a:rPr lang="en-US" altLang="zh-CN" sz="2000" dirty="0">
                  <a:solidFill>
                    <a:prstClr val="black"/>
                  </a:solidFill>
                  <a:latin typeface="Times New Roman" panose="02020603050405020304" pitchFamily="18" charset="0"/>
                  <a:cs typeface="Times New Roman" panose="02020603050405020304" pitchFamily="18" charset="0"/>
                </a:rPr>
                <a:t>    switch(message)</a:t>
              </a:r>
            </a:p>
            <a:p>
              <a:r>
                <a:rPr lang="en-US" altLang="zh-CN" sz="2000" dirty="0">
                  <a:solidFill>
                    <a:prstClr val="black"/>
                  </a:solidFill>
                  <a:latin typeface="Times New Roman" panose="02020603050405020304" pitchFamily="18" charset="0"/>
                  <a:cs typeface="Times New Roman" panose="02020603050405020304" pitchFamily="18" charset="0"/>
                </a:rPr>
                <a:t>      case 'MOTOR_TURNON': </a:t>
              </a:r>
            </a:p>
            <a:p>
              <a:r>
                <a:rPr lang="en-US" altLang="zh-CN" sz="2000" dirty="0">
                  <a:solidFill>
                    <a:prstClr val="black"/>
                  </a:solidFill>
                  <a:latin typeface="Times New Roman" panose="02020603050405020304" pitchFamily="18" charset="0"/>
                  <a:cs typeface="Times New Roman" panose="02020603050405020304" pitchFamily="18" charset="0"/>
                </a:rPr>
                <a:t>          </a:t>
              </a:r>
              <a:r>
                <a:rPr lang="en-US" altLang="zh-CN" sz="2000" dirty="0" err="1">
                  <a:solidFill>
                    <a:prstClr val="black"/>
                  </a:solidFill>
                  <a:latin typeface="Times New Roman" panose="02020603050405020304" pitchFamily="18" charset="0"/>
                  <a:cs typeface="Times New Roman" panose="02020603050405020304" pitchFamily="18" charset="0"/>
                </a:rPr>
                <a:t>TL_Motor.turnOn</a:t>
              </a:r>
              <a:r>
                <a:rPr lang="en-US" altLang="zh-CN" sz="2000" dirty="0">
                  <a:solidFill>
                    <a:prstClr val="black"/>
                  </a:solidFill>
                  <a:latin typeface="Times New Roman" panose="02020603050405020304" pitchFamily="18" charset="0"/>
                  <a:cs typeface="Times New Roman" panose="02020603050405020304" pitchFamily="18" charset="0"/>
                </a:rPr>
                <a:t>();</a:t>
              </a:r>
            </a:p>
            <a:p>
              <a:r>
                <a:rPr lang="en-US" altLang="zh-CN" sz="2000" dirty="0">
                  <a:solidFill>
                    <a:prstClr val="black"/>
                  </a:solidFill>
                  <a:latin typeface="Times New Roman" panose="02020603050405020304" pitchFamily="18" charset="0"/>
                  <a:cs typeface="Times New Roman" panose="02020603050405020304" pitchFamily="18" charset="0"/>
                </a:rPr>
                <a:t>      ......</a:t>
              </a:r>
              <a:endParaRPr lang="zh-CN" altLang="en-US" sz="2000" dirty="0">
                <a:solidFill>
                  <a:prstClr val="black"/>
                </a:solidFill>
                <a:latin typeface="Times New Roman" panose="02020603050405020304" pitchFamily="18" charset="0"/>
                <a:cs typeface="Times New Roman" panose="02020603050405020304" pitchFamily="18" charset="0"/>
              </a:endParaRPr>
            </a:p>
            <a:p>
              <a:r>
                <a:rPr lang="zh-CN" altLang="en-US" sz="2000" dirty="0">
                  <a:solidFill>
                    <a:prstClr val="black"/>
                  </a:solidFill>
                  <a:latin typeface="Times New Roman" panose="02020603050405020304" pitchFamily="18" charset="0"/>
                  <a:cs typeface="Times New Roman" panose="02020603050405020304" pitchFamily="18" charset="0"/>
                </a:rPr>
                <a:t>}</a:t>
              </a:r>
              <a:r>
                <a:rPr lang="en-US" altLang="zh-CN" sz="2000" dirty="0">
                  <a:solidFill>
                    <a:srgbClr val="C00000"/>
                  </a:solidFill>
                  <a:latin typeface="Times New Roman" panose="02020603050405020304" pitchFamily="18" charset="0"/>
                  <a:cs typeface="Times New Roman" panose="02020603050405020304" pitchFamily="18" charset="0"/>
                </a:rPr>
                <a:t>//</a:t>
              </a:r>
              <a:r>
                <a:rPr lang="zh-CN" altLang="zh-CN" sz="2000" dirty="0">
                  <a:solidFill>
                    <a:srgbClr val="C00000"/>
                  </a:solidFill>
                  <a:latin typeface="Times New Roman" panose="02020603050405020304" pitchFamily="18" charset="0"/>
                  <a:cs typeface="Times New Roman" panose="02020603050405020304" pitchFamily="18" charset="0"/>
                </a:rPr>
                <a:t>主循环周期读取环境温度数据上传</a:t>
              </a:r>
              <a:endParaRPr lang="zh-CN" altLang="en-US" sz="2000" dirty="0">
                <a:solidFill>
                  <a:srgbClr val="C00000"/>
                </a:solidFill>
                <a:latin typeface="Times New Roman" panose="02020603050405020304" pitchFamily="18" charset="0"/>
                <a:cs typeface="Times New Roman" panose="02020603050405020304" pitchFamily="18" charset="0"/>
              </a:endParaRPr>
            </a:p>
            <a:p>
              <a:r>
                <a:rPr lang="zh-CN" altLang="en-US" sz="2000" dirty="0">
                  <a:solidFill>
                    <a:prstClr val="black"/>
                  </a:solidFill>
                  <a:latin typeface="Times New Roman" panose="02020603050405020304" pitchFamily="18" charset="0"/>
                  <a:cs typeface="Times New Roman" panose="02020603050405020304" pitchFamily="18" charset="0"/>
                </a:rPr>
                <a:t>void loop() {</a:t>
              </a:r>
            </a:p>
            <a:p>
              <a:r>
                <a:rPr lang="zh-CN" altLang="en-US" sz="2000" dirty="0">
                  <a:solidFill>
                    <a:prstClr val="black"/>
                  </a:solidFill>
                  <a:latin typeface="Times New Roman" panose="02020603050405020304" pitchFamily="18" charset="0"/>
                  <a:cs typeface="Times New Roman" panose="02020603050405020304" pitchFamily="18" charset="0"/>
                </a:rPr>
                <a:t>    TL_Temperature.read();</a:t>
              </a:r>
            </a:p>
            <a:p>
              <a:r>
                <a:rPr lang="zh-CN" altLang="en-US" sz="2000" dirty="0">
                  <a:solidFill>
                    <a:prstClr val="black"/>
                  </a:solidFill>
                  <a:latin typeface="Times New Roman" panose="02020603050405020304" pitchFamily="18" charset="0"/>
                  <a:cs typeface="Times New Roman" panose="02020603050405020304" pitchFamily="18" charset="0"/>
                </a:rPr>
                <a:t>    String data = "{";</a:t>
              </a:r>
            </a:p>
            <a:p>
              <a:r>
                <a:rPr lang="zh-CN" altLang="en-US" sz="2000" dirty="0">
                  <a:solidFill>
                    <a:prstClr val="black"/>
                  </a:solidFill>
                  <a:latin typeface="Times New Roman" panose="02020603050405020304" pitchFamily="18" charset="0"/>
                  <a:cs typeface="Times New Roman" panose="02020603050405020304" pitchFamily="18" charset="0"/>
                </a:rPr>
                <a:t>    data += ",\"Temperature\":";</a:t>
              </a:r>
            </a:p>
            <a:p>
              <a:r>
                <a:rPr lang="zh-CN" altLang="en-US" sz="2000" dirty="0">
                  <a:solidFill>
                    <a:prstClr val="black"/>
                  </a:solidFill>
                  <a:latin typeface="Times New Roman" panose="02020603050405020304" pitchFamily="18" charset="0"/>
                  <a:cs typeface="Times New Roman" panose="02020603050405020304" pitchFamily="18" charset="0"/>
                </a:rPr>
                <a:t>    data += TL_Temperature.data();</a:t>
              </a:r>
            </a:p>
            <a:p>
              <a:r>
                <a:rPr lang="zh-CN" altLang="en-US" sz="2000" dirty="0">
                  <a:solidFill>
                    <a:prstClr val="black"/>
                  </a:solidFill>
                  <a:latin typeface="Times New Roman" panose="02020603050405020304" pitchFamily="18" charset="0"/>
                  <a:cs typeface="Times New Roman" panose="02020603050405020304" pitchFamily="18" charset="0"/>
                </a:rPr>
                <a:t>    data += "}";</a:t>
              </a:r>
            </a:p>
            <a:p>
              <a:r>
                <a:rPr lang="zh-CN" altLang="en-US" sz="2000" dirty="0">
                  <a:solidFill>
                    <a:prstClr val="black"/>
                  </a:solidFill>
                  <a:latin typeface="Times New Roman" panose="02020603050405020304" pitchFamily="18" charset="0"/>
                  <a:cs typeface="Times New Roman" panose="02020603050405020304" pitchFamily="18" charset="0"/>
                </a:rPr>
                <a:t>    char buf[100];</a:t>
              </a:r>
            </a:p>
            <a:p>
              <a:r>
                <a:rPr lang="zh-CN" altLang="en-US" sz="2000" dirty="0">
                  <a:solidFill>
                    <a:prstClr val="black"/>
                  </a:solidFill>
                  <a:latin typeface="Times New Roman" panose="02020603050405020304" pitchFamily="18" charset="0"/>
                  <a:cs typeface="Times New Roman" panose="02020603050405020304" pitchFamily="18" charset="0"/>
                </a:rPr>
                <a:t>    data.toCharArray( buf,100 );</a:t>
              </a:r>
            </a:p>
            <a:p>
              <a:r>
                <a:rPr lang="zh-CN" altLang="en-US" sz="2000" dirty="0">
                  <a:solidFill>
                    <a:prstClr val="black"/>
                  </a:solidFill>
                  <a:latin typeface="Times New Roman" panose="02020603050405020304" pitchFamily="18" charset="0"/>
                  <a:cs typeface="Times New Roman" panose="02020603050405020304" pitchFamily="18" charset="0"/>
                </a:rPr>
                <a:t>    </a:t>
              </a:r>
              <a:r>
                <a:rPr lang="en-US" altLang="zh-CN" sz="2000" dirty="0">
                  <a:solidFill>
                    <a:prstClr val="black"/>
                  </a:solidFill>
                  <a:latin typeface="Times New Roman" panose="02020603050405020304" pitchFamily="18" charset="0"/>
                  <a:cs typeface="Times New Roman" panose="02020603050405020304" pitchFamily="18" charset="0"/>
                </a:rPr>
                <a:t>......</a:t>
              </a:r>
              <a:r>
                <a:rPr lang="zh-CN" altLang="en-US" sz="2000" dirty="0">
                  <a:solidFill>
                    <a:prstClr val="black"/>
                  </a:solidFill>
                  <a:latin typeface="Times New Roman" panose="02020603050405020304" pitchFamily="18" charset="0"/>
                  <a:cs typeface="Times New Roman" panose="02020603050405020304" pitchFamily="18" charset="0"/>
                </a:rPr>
                <a:t>}</a:t>
              </a:r>
            </a:p>
          </p:txBody>
        </p:sp>
        <p:grpSp>
          <p:nvGrpSpPr>
            <p:cNvPr id="6" name="组合 5">
              <a:extLst>
                <a:ext uri="{FF2B5EF4-FFF2-40B4-BE49-F238E27FC236}">
                  <a16:creationId xmlns:a16="http://schemas.microsoft.com/office/drawing/2014/main" id="{AF09D760-9A04-4883-B07A-8AE81D465C98}"/>
                </a:ext>
              </a:extLst>
            </p:cNvPr>
            <p:cNvGrpSpPr/>
            <p:nvPr/>
          </p:nvGrpSpPr>
          <p:grpSpPr>
            <a:xfrm>
              <a:off x="4830298" y="2839823"/>
              <a:ext cx="3494535" cy="3581139"/>
              <a:chOff x="4614286" y="2486303"/>
              <a:chExt cx="3809764" cy="3904180"/>
            </a:xfrm>
          </p:grpSpPr>
          <p:pic>
            <p:nvPicPr>
              <p:cNvPr id="5" name="图片 4"/>
              <p:cNvPicPr>
                <a:picLocks noChangeAspect="1"/>
              </p:cNvPicPr>
              <p:nvPr/>
            </p:nvPicPr>
            <p:blipFill rotWithShape="1">
              <a:blip r:embed="rId3" cstate="print">
                <a:extLst>
                  <a:ext uri="{28A0092B-C50C-407E-A947-70E740481C1C}">
                    <a14:useLocalDpi xmlns:a14="http://schemas.microsoft.com/office/drawing/2010/main" val="0"/>
                  </a:ext>
                </a:extLst>
              </a:blip>
              <a:srcRect t="14002" b="1619"/>
              <a:stretch/>
            </p:blipFill>
            <p:spPr>
              <a:xfrm>
                <a:off x="4614286" y="2486303"/>
                <a:ext cx="2578387" cy="3904180"/>
              </a:xfrm>
              <a:prstGeom prst="rect">
                <a:avLst/>
              </a:prstGeom>
            </p:spPr>
          </p:pic>
          <p:sp>
            <p:nvSpPr>
              <p:cNvPr id="13" name="矩形 12"/>
              <p:cNvSpPr/>
              <p:nvPr/>
            </p:nvSpPr>
            <p:spPr bwMode="auto">
              <a:xfrm>
                <a:off x="4614943" y="3254234"/>
                <a:ext cx="2593483" cy="304425"/>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spcBef>
                    <a:spcPct val="50000"/>
                  </a:spcBef>
                  <a:buClr>
                    <a:prstClr val="white"/>
                  </a:buClr>
                  <a:buSzPct val="100000"/>
                </a:pPr>
                <a:endParaRPr lang="zh-CN" altLang="en-US">
                  <a:solidFill>
                    <a:prstClr val="black"/>
                  </a:solidFill>
                  <a:effectLst>
                    <a:outerShdw blurRad="38100" dist="38100" dir="2700000" algn="tl">
                      <a:srgbClr val="000000">
                        <a:alpha val="43137"/>
                      </a:srgbClr>
                    </a:outerShdw>
                  </a:effectLst>
                  <a:ea typeface="+mj-ea"/>
                  <a:cs typeface="Arial" panose="020B0604020202020204" pitchFamily="34" charset="0"/>
                </a:endParaRPr>
              </a:p>
            </p:txBody>
          </p:sp>
          <p:cxnSp>
            <p:nvCxnSpPr>
              <p:cNvPr id="14" name="直接箭头连接符 13"/>
              <p:cNvCxnSpPr>
                <a:stCxn id="13" idx="3"/>
              </p:cNvCxnSpPr>
              <p:nvPr/>
            </p:nvCxnSpPr>
            <p:spPr bwMode="auto">
              <a:xfrm flipV="1">
                <a:off x="7208427" y="3325361"/>
                <a:ext cx="343219" cy="81086"/>
              </a:xfrm>
              <a:prstGeom prst="straightConnector1">
                <a:avLst/>
              </a:prstGeom>
              <a:solidFill>
                <a:schemeClr val="accent1"/>
              </a:solidFill>
              <a:ln w="25400" cap="flat" cmpd="sng" algn="ctr">
                <a:solidFill>
                  <a:srgbClr val="C00000"/>
                </a:solidFill>
                <a:prstDash val="solid"/>
                <a:round/>
                <a:headEnd type="none" w="med" len="med"/>
                <a:tailEnd type="triangle"/>
              </a:ln>
              <a:effectLst/>
            </p:spPr>
          </p:cxnSp>
          <p:sp>
            <p:nvSpPr>
              <p:cNvPr id="15" name="文本框 14"/>
              <p:cNvSpPr txBox="1"/>
              <p:nvPr/>
            </p:nvSpPr>
            <p:spPr>
              <a:xfrm>
                <a:off x="7520946" y="2927843"/>
                <a:ext cx="872404" cy="637525"/>
              </a:xfrm>
              <a:prstGeom prst="rect">
                <a:avLst/>
              </a:prstGeom>
              <a:noFill/>
            </p:spPr>
            <p:txBody>
              <a:bodyPr wrap="none" rtlCol="0">
                <a:spAutoFit/>
              </a:bodyPr>
              <a:lstStyle/>
              <a:p>
                <a:r>
                  <a:rPr lang="zh-CN" altLang="en-US" dirty="0">
                    <a:solidFill>
                      <a:srgbClr val="C00000"/>
                    </a:solidFill>
                    <a:ea typeface="+mj-ea"/>
                    <a:cs typeface="Arial" panose="020B0604020202020204" pitchFamily="34" charset="0"/>
                  </a:rPr>
                  <a:t>关联节</a:t>
                </a:r>
                <a:endParaRPr lang="en-US" altLang="zh-CN" dirty="0">
                  <a:solidFill>
                    <a:srgbClr val="C00000"/>
                  </a:solidFill>
                  <a:ea typeface="+mj-ea"/>
                  <a:cs typeface="Arial" panose="020B0604020202020204" pitchFamily="34" charset="0"/>
                </a:endParaRPr>
              </a:p>
              <a:p>
                <a:r>
                  <a:rPr lang="zh-CN" altLang="en-US" dirty="0">
                    <a:solidFill>
                      <a:srgbClr val="C00000"/>
                    </a:solidFill>
                    <a:ea typeface="+mj-ea"/>
                    <a:cs typeface="Arial" panose="020B0604020202020204" pitchFamily="34" charset="0"/>
                  </a:rPr>
                  <a:t>点</a:t>
                </a:r>
                <a:r>
                  <a:rPr lang="en-US" altLang="zh-CN" dirty="0">
                    <a:solidFill>
                      <a:srgbClr val="C00000"/>
                    </a:solidFill>
                    <a:ea typeface="+mj-ea"/>
                    <a:cs typeface="Arial" panose="020B0604020202020204" pitchFamily="34" charset="0"/>
                  </a:rPr>
                  <a:t>ID</a:t>
                </a:r>
                <a:endParaRPr lang="zh-CN" altLang="en-US" dirty="0">
                  <a:solidFill>
                    <a:srgbClr val="C00000"/>
                  </a:solidFill>
                  <a:ea typeface="+mj-ea"/>
                  <a:cs typeface="Arial" panose="020B0604020202020204" pitchFamily="34" charset="0"/>
                </a:endParaRPr>
              </a:p>
            </p:txBody>
          </p:sp>
          <p:sp>
            <p:nvSpPr>
              <p:cNvPr id="16" name="矩形 15"/>
              <p:cNvSpPr/>
              <p:nvPr/>
            </p:nvSpPr>
            <p:spPr bwMode="auto">
              <a:xfrm>
                <a:off x="4614807" y="3551387"/>
                <a:ext cx="2593483" cy="574052"/>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spcBef>
                    <a:spcPct val="50000"/>
                  </a:spcBef>
                  <a:buClr>
                    <a:prstClr val="white"/>
                  </a:buClr>
                  <a:buSzPct val="100000"/>
                </a:pPr>
                <a:endParaRPr lang="zh-CN" altLang="en-US">
                  <a:solidFill>
                    <a:prstClr val="black"/>
                  </a:solidFill>
                  <a:effectLst>
                    <a:outerShdw blurRad="38100" dist="38100" dir="2700000" algn="tl">
                      <a:srgbClr val="000000">
                        <a:alpha val="43137"/>
                      </a:srgbClr>
                    </a:outerShdw>
                  </a:effectLst>
                  <a:ea typeface="+mj-ea"/>
                  <a:cs typeface="Arial" panose="020B0604020202020204" pitchFamily="34" charset="0"/>
                </a:endParaRPr>
              </a:p>
            </p:txBody>
          </p:sp>
          <p:cxnSp>
            <p:nvCxnSpPr>
              <p:cNvPr id="17" name="直接箭头连接符 16"/>
              <p:cNvCxnSpPr>
                <a:stCxn id="16" idx="3"/>
              </p:cNvCxnSpPr>
              <p:nvPr/>
            </p:nvCxnSpPr>
            <p:spPr bwMode="auto">
              <a:xfrm flipV="1">
                <a:off x="7208290" y="3740559"/>
                <a:ext cx="361136" cy="97855"/>
              </a:xfrm>
              <a:prstGeom prst="straightConnector1">
                <a:avLst/>
              </a:prstGeom>
              <a:solidFill>
                <a:schemeClr val="accent1"/>
              </a:solidFill>
              <a:ln w="25400" cap="flat" cmpd="sng" algn="ctr">
                <a:solidFill>
                  <a:srgbClr val="C00000"/>
                </a:solidFill>
                <a:prstDash val="solid"/>
                <a:round/>
                <a:headEnd type="none" w="med" len="med"/>
                <a:tailEnd type="triangle"/>
              </a:ln>
              <a:effectLst/>
            </p:spPr>
          </p:cxnSp>
          <p:sp>
            <p:nvSpPr>
              <p:cNvPr id="18" name="文本框 17"/>
              <p:cNvSpPr txBox="1"/>
              <p:nvPr/>
            </p:nvSpPr>
            <p:spPr>
              <a:xfrm>
                <a:off x="7515489" y="3443404"/>
                <a:ext cx="648711" cy="637525"/>
              </a:xfrm>
              <a:prstGeom prst="rect">
                <a:avLst/>
              </a:prstGeom>
              <a:noFill/>
            </p:spPr>
            <p:txBody>
              <a:bodyPr wrap="none" rtlCol="0">
                <a:spAutoFit/>
              </a:bodyPr>
              <a:lstStyle/>
              <a:p>
                <a:r>
                  <a:rPr lang="zh-CN" altLang="en-US" dirty="0">
                    <a:solidFill>
                      <a:srgbClr val="C00000"/>
                    </a:solidFill>
                    <a:ea typeface="+mj-ea"/>
                    <a:cs typeface="Arial" panose="020B0604020202020204" pitchFamily="34" charset="0"/>
                  </a:rPr>
                  <a:t>应用</a:t>
                </a:r>
                <a:endParaRPr lang="en-US" altLang="zh-CN" dirty="0">
                  <a:solidFill>
                    <a:srgbClr val="C00000"/>
                  </a:solidFill>
                  <a:ea typeface="+mj-ea"/>
                  <a:cs typeface="Arial" panose="020B0604020202020204" pitchFamily="34" charset="0"/>
                </a:endParaRPr>
              </a:p>
              <a:p>
                <a:r>
                  <a:rPr lang="zh-CN" altLang="en-US" dirty="0">
                    <a:solidFill>
                      <a:srgbClr val="C00000"/>
                    </a:solidFill>
                    <a:ea typeface="+mj-ea"/>
                    <a:cs typeface="Arial" panose="020B0604020202020204" pitchFamily="34" charset="0"/>
                  </a:rPr>
                  <a:t>描述</a:t>
                </a:r>
              </a:p>
            </p:txBody>
          </p:sp>
          <p:sp>
            <p:nvSpPr>
              <p:cNvPr id="19" name="矩形 18"/>
              <p:cNvSpPr/>
              <p:nvPr/>
            </p:nvSpPr>
            <p:spPr bwMode="auto">
              <a:xfrm>
                <a:off x="4614943" y="4152083"/>
                <a:ext cx="2593483" cy="512092"/>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spcBef>
                    <a:spcPct val="50000"/>
                  </a:spcBef>
                  <a:buClr>
                    <a:prstClr val="white"/>
                  </a:buClr>
                  <a:buSzPct val="100000"/>
                </a:pPr>
                <a:endParaRPr lang="zh-CN" altLang="en-US">
                  <a:solidFill>
                    <a:prstClr val="black"/>
                  </a:solidFill>
                  <a:effectLst>
                    <a:outerShdw blurRad="38100" dist="38100" dir="2700000" algn="tl">
                      <a:srgbClr val="000000">
                        <a:alpha val="43137"/>
                      </a:srgbClr>
                    </a:outerShdw>
                  </a:effectLst>
                  <a:ea typeface="+mj-ea"/>
                  <a:cs typeface="Arial" panose="020B0604020202020204" pitchFamily="34" charset="0"/>
                </a:endParaRPr>
              </a:p>
            </p:txBody>
          </p:sp>
          <p:cxnSp>
            <p:nvCxnSpPr>
              <p:cNvPr id="20" name="直接箭头连接符 19"/>
              <p:cNvCxnSpPr>
                <a:stCxn id="19" idx="3"/>
              </p:cNvCxnSpPr>
              <p:nvPr/>
            </p:nvCxnSpPr>
            <p:spPr bwMode="auto">
              <a:xfrm>
                <a:off x="7208427" y="4408129"/>
                <a:ext cx="361136" cy="30979"/>
              </a:xfrm>
              <a:prstGeom prst="straightConnector1">
                <a:avLst/>
              </a:prstGeom>
              <a:solidFill>
                <a:schemeClr val="accent1"/>
              </a:solidFill>
              <a:ln w="25400" cap="flat" cmpd="sng" algn="ctr">
                <a:solidFill>
                  <a:srgbClr val="C00000"/>
                </a:solidFill>
                <a:prstDash val="solid"/>
                <a:round/>
                <a:headEnd type="none" w="med" len="med"/>
                <a:tailEnd type="triangle"/>
              </a:ln>
              <a:effectLst/>
            </p:spPr>
          </p:cxnSp>
          <p:sp>
            <p:nvSpPr>
              <p:cNvPr id="21" name="文本框 20"/>
              <p:cNvSpPr txBox="1"/>
              <p:nvPr/>
            </p:nvSpPr>
            <p:spPr>
              <a:xfrm>
                <a:off x="7551646" y="3960682"/>
                <a:ext cx="872404" cy="637525"/>
              </a:xfrm>
              <a:prstGeom prst="rect">
                <a:avLst/>
              </a:prstGeom>
              <a:noFill/>
            </p:spPr>
            <p:txBody>
              <a:bodyPr wrap="none" rtlCol="0">
                <a:spAutoFit/>
              </a:bodyPr>
              <a:lstStyle/>
              <a:p>
                <a:r>
                  <a:rPr lang="zh-CN" altLang="en-US" dirty="0">
                    <a:solidFill>
                      <a:srgbClr val="C00000"/>
                    </a:solidFill>
                    <a:ea typeface="+mj-ea"/>
                    <a:cs typeface="Arial" panose="020B0604020202020204" pitchFamily="34" charset="0"/>
                  </a:rPr>
                  <a:t>数据展</a:t>
                </a:r>
                <a:endParaRPr lang="en-US" altLang="zh-CN" dirty="0">
                  <a:solidFill>
                    <a:srgbClr val="C00000"/>
                  </a:solidFill>
                  <a:ea typeface="+mj-ea"/>
                  <a:cs typeface="Arial" panose="020B0604020202020204" pitchFamily="34" charset="0"/>
                </a:endParaRPr>
              </a:p>
              <a:p>
                <a:r>
                  <a:rPr lang="zh-CN" altLang="en-US" dirty="0">
                    <a:solidFill>
                      <a:srgbClr val="C00000"/>
                    </a:solidFill>
                    <a:ea typeface="+mj-ea"/>
                    <a:cs typeface="Arial" panose="020B0604020202020204" pitchFamily="34" charset="0"/>
                  </a:rPr>
                  <a:t>示模块</a:t>
                </a:r>
              </a:p>
            </p:txBody>
          </p:sp>
          <p:sp>
            <p:nvSpPr>
              <p:cNvPr id="24" name="矩形 23"/>
              <p:cNvSpPr/>
              <p:nvPr/>
            </p:nvSpPr>
            <p:spPr bwMode="auto">
              <a:xfrm>
                <a:off x="4614807" y="4703331"/>
                <a:ext cx="2593483" cy="320941"/>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spcBef>
                    <a:spcPct val="50000"/>
                  </a:spcBef>
                  <a:buClr>
                    <a:prstClr val="white"/>
                  </a:buClr>
                  <a:buSzPct val="100000"/>
                </a:pPr>
                <a:endParaRPr lang="zh-CN" altLang="en-US">
                  <a:solidFill>
                    <a:prstClr val="black"/>
                  </a:solidFill>
                  <a:effectLst>
                    <a:outerShdw blurRad="38100" dist="38100" dir="2700000" algn="tl">
                      <a:srgbClr val="000000">
                        <a:alpha val="43137"/>
                      </a:srgbClr>
                    </a:outerShdw>
                  </a:effectLst>
                  <a:ea typeface="+mj-ea"/>
                  <a:cs typeface="Arial" panose="020B0604020202020204" pitchFamily="34" charset="0"/>
                </a:endParaRPr>
              </a:p>
            </p:txBody>
          </p:sp>
          <p:cxnSp>
            <p:nvCxnSpPr>
              <p:cNvPr id="26" name="直接箭头连接符 25"/>
              <p:cNvCxnSpPr/>
              <p:nvPr/>
            </p:nvCxnSpPr>
            <p:spPr bwMode="auto">
              <a:xfrm>
                <a:off x="7198787" y="4854306"/>
                <a:ext cx="370776" cy="30979"/>
              </a:xfrm>
              <a:prstGeom prst="straightConnector1">
                <a:avLst/>
              </a:prstGeom>
              <a:solidFill>
                <a:schemeClr val="accent1"/>
              </a:solidFill>
              <a:ln w="25400" cap="flat" cmpd="sng" algn="ctr">
                <a:solidFill>
                  <a:srgbClr val="C00000"/>
                </a:solidFill>
                <a:prstDash val="solid"/>
                <a:round/>
                <a:headEnd type="none" w="med" len="med"/>
                <a:tailEnd type="triangle"/>
              </a:ln>
              <a:effectLst/>
            </p:spPr>
          </p:cxnSp>
          <p:sp>
            <p:nvSpPr>
              <p:cNvPr id="27" name="文本框 26"/>
              <p:cNvSpPr txBox="1"/>
              <p:nvPr/>
            </p:nvSpPr>
            <p:spPr>
              <a:xfrm>
                <a:off x="7585316" y="4513091"/>
                <a:ext cx="648711" cy="637525"/>
              </a:xfrm>
              <a:prstGeom prst="rect">
                <a:avLst/>
              </a:prstGeom>
              <a:noFill/>
            </p:spPr>
            <p:txBody>
              <a:bodyPr wrap="none" rtlCol="0">
                <a:spAutoFit/>
              </a:bodyPr>
              <a:lstStyle/>
              <a:p>
                <a:r>
                  <a:rPr lang="zh-CN" altLang="en-US" dirty="0">
                    <a:solidFill>
                      <a:srgbClr val="C00000"/>
                    </a:solidFill>
                    <a:ea typeface="+mj-ea"/>
                    <a:cs typeface="Arial" panose="020B0604020202020204" pitchFamily="34" charset="0"/>
                  </a:rPr>
                  <a:t>控制</a:t>
                </a:r>
                <a:endParaRPr lang="en-US" altLang="zh-CN" dirty="0">
                  <a:solidFill>
                    <a:srgbClr val="C00000"/>
                  </a:solidFill>
                  <a:ea typeface="+mj-ea"/>
                  <a:cs typeface="Arial" panose="020B0604020202020204" pitchFamily="34" charset="0"/>
                </a:endParaRPr>
              </a:p>
              <a:p>
                <a:r>
                  <a:rPr lang="zh-CN" altLang="en-US" dirty="0">
                    <a:solidFill>
                      <a:srgbClr val="C00000"/>
                    </a:solidFill>
                    <a:ea typeface="+mj-ea"/>
                    <a:cs typeface="Arial" panose="020B0604020202020204" pitchFamily="34" charset="0"/>
                  </a:rPr>
                  <a:t>模块</a:t>
                </a:r>
              </a:p>
            </p:txBody>
          </p:sp>
        </p:grpSp>
        <p:sp>
          <p:nvSpPr>
            <p:cNvPr id="36" name="矩形 114"/>
            <p:cNvSpPr/>
            <p:nvPr/>
          </p:nvSpPr>
          <p:spPr>
            <a:xfrm>
              <a:off x="1251789" y="3932101"/>
              <a:ext cx="770051" cy="249948"/>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sp>
        <p:sp>
          <p:nvSpPr>
            <p:cNvPr id="37" name="矩形 114"/>
            <p:cNvSpPr/>
            <p:nvPr/>
          </p:nvSpPr>
          <p:spPr>
            <a:xfrm>
              <a:off x="981833" y="4734308"/>
              <a:ext cx="1188833" cy="243257"/>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sp>
        <p:cxnSp>
          <p:nvCxnSpPr>
            <p:cNvPr id="38" name="直接箭头连接符 37"/>
            <p:cNvCxnSpPr>
              <a:cxnSpLocks/>
              <a:stCxn id="37" idx="3"/>
            </p:cNvCxnSpPr>
            <p:nvPr/>
          </p:nvCxnSpPr>
          <p:spPr>
            <a:xfrm flipV="1">
              <a:off x="2170666" y="4777311"/>
              <a:ext cx="2299477" cy="78626"/>
            </a:xfrm>
            <a:prstGeom prst="straightConnector1">
              <a:avLst/>
            </a:prstGeom>
            <a:solidFill>
              <a:schemeClr val="accent1"/>
            </a:solidFill>
            <a:ln w="19050" cap="flat" cmpd="sng" algn="ctr">
              <a:solidFill>
                <a:srgbClr val="C00000"/>
              </a:solidFill>
              <a:prstDash val="solid"/>
              <a:round/>
              <a:headEnd type="none" w="med" len="med"/>
              <a:tailEnd type="arrow" w="med" len="med"/>
            </a:ln>
          </p:spPr>
        </p:cxnSp>
        <p:cxnSp>
          <p:nvCxnSpPr>
            <p:cNvPr id="39" name="直接箭头连接符 38"/>
            <p:cNvCxnSpPr>
              <a:cxnSpLocks/>
              <a:stCxn id="36" idx="2"/>
            </p:cNvCxnSpPr>
            <p:nvPr/>
          </p:nvCxnSpPr>
          <p:spPr>
            <a:xfrm>
              <a:off x="1636815" y="4182049"/>
              <a:ext cx="2801589" cy="1032369"/>
            </a:xfrm>
            <a:prstGeom prst="straightConnector1">
              <a:avLst/>
            </a:prstGeom>
            <a:solidFill>
              <a:schemeClr val="accent1"/>
            </a:solidFill>
            <a:ln w="19050" cap="flat" cmpd="sng" algn="ctr">
              <a:solidFill>
                <a:srgbClr val="C00000"/>
              </a:solidFill>
              <a:prstDash val="solid"/>
              <a:round/>
              <a:headEnd type="none" w="med" len="med"/>
              <a:tailEnd type="arrow" w="med" len="med"/>
            </a:ln>
          </p:spPr>
        </p:cxnSp>
      </p:grpSp>
    </p:spTree>
    <p:extLst>
      <p:ext uri="{BB962C8B-B14F-4D97-AF65-F5344CB8AC3E}">
        <p14:creationId xmlns:p14="http://schemas.microsoft.com/office/powerpoint/2010/main" val="177696713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en-US" altLang="zh-CN" dirty="0"/>
              <a:t>Web</a:t>
            </a:r>
            <a:r>
              <a:rPr lang="zh-CN" altLang="en-US" dirty="0"/>
              <a:t>应用</a:t>
            </a:r>
            <a:r>
              <a:rPr lang="en-US" altLang="zh-CN" dirty="0"/>
              <a:t>/</a:t>
            </a:r>
            <a:r>
              <a:rPr lang="zh-CN" altLang="en-US" dirty="0"/>
              <a:t>移动应用开发</a:t>
            </a:r>
          </a:p>
        </p:txBody>
      </p:sp>
      <p:sp>
        <p:nvSpPr>
          <p:cNvPr id="7" name="内容占位符 2"/>
          <p:cNvSpPr>
            <a:spLocks noGrp="1"/>
          </p:cNvSpPr>
          <p:nvPr>
            <p:ph idx="1"/>
          </p:nvPr>
        </p:nvSpPr>
        <p:spPr/>
        <p:txBody>
          <a:bodyPr/>
          <a:lstStyle/>
          <a:p>
            <a:r>
              <a:rPr lang="zh-CN" altLang="en-US"/>
              <a:t>基于可视化拖拽的</a:t>
            </a:r>
            <a:r>
              <a:rPr lang="en-US" altLang="zh-CN"/>
              <a:t>Web/</a:t>
            </a:r>
            <a:r>
              <a:rPr lang="zh-CN" altLang="en-US"/>
              <a:t>移动应用开发</a:t>
            </a:r>
            <a:endParaRPr lang="en-US" altLang="zh-CN"/>
          </a:p>
          <a:p>
            <a:pPr lvl="1"/>
            <a:r>
              <a:rPr lang="zh-CN" altLang="en-US"/>
              <a:t>采用可视化组件，开发者只需拖拽相关组件并进行简单配置，即可完成开发</a:t>
            </a:r>
            <a:endParaRPr lang="en-US" altLang="zh-CN"/>
          </a:p>
          <a:p>
            <a:pPr lvl="1"/>
            <a:r>
              <a:rPr lang="zh-CN" altLang="en-US"/>
              <a:t>示例为使用</a:t>
            </a:r>
            <a:r>
              <a:rPr lang="en-US" altLang="zh-CN"/>
              <a:t>IoT Studio</a:t>
            </a:r>
            <a:r>
              <a:rPr lang="zh-CN" altLang="en-US"/>
              <a:t>平台开发一个简单的温度数据展示应用</a:t>
            </a:r>
            <a:endParaRPr lang="en-US" altLang="zh-CN"/>
          </a:p>
          <a:p>
            <a:endParaRPr lang="en-US" altLang="zh-CN"/>
          </a:p>
          <a:p>
            <a:endParaRPr lang="en-US" altLang="zh-CN" dirty="0"/>
          </a:p>
        </p:txBody>
      </p:sp>
      <p:grpSp>
        <p:nvGrpSpPr>
          <p:cNvPr id="10" name="组合 9"/>
          <p:cNvGrpSpPr/>
          <p:nvPr/>
        </p:nvGrpSpPr>
        <p:grpSpPr>
          <a:xfrm>
            <a:off x="1588168" y="2807368"/>
            <a:ext cx="6814041" cy="3768817"/>
            <a:chOff x="3416060" y="2236893"/>
            <a:chExt cx="6347840" cy="3335245"/>
          </a:xfrm>
        </p:grpSpPr>
        <p:grpSp>
          <p:nvGrpSpPr>
            <p:cNvPr id="9" name="组合 8"/>
            <p:cNvGrpSpPr/>
            <p:nvPr/>
          </p:nvGrpSpPr>
          <p:grpSpPr>
            <a:xfrm>
              <a:off x="3416060" y="2236893"/>
              <a:ext cx="6347840" cy="3335245"/>
              <a:chOff x="1721224" y="3406139"/>
              <a:chExt cx="6347840" cy="3335245"/>
            </a:xfrm>
          </p:grpSpPr>
          <p:grpSp>
            <p:nvGrpSpPr>
              <p:cNvPr id="4" name="组合 3"/>
              <p:cNvGrpSpPr/>
              <p:nvPr/>
            </p:nvGrpSpPr>
            <p:grpSpPr>
              <a:xfrm>
                <a:off x="1721224" y="3453891"/>
                <a:ext cx="5525313" cy="3287493"/>
                <a:chOff x="1721224" y="3453891"/>
                <a:chExt cx="5525313" cy="3287493"/>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1224" y="3453891"/>
                  <a:ext cx="5467497" cy="3287493"/>
                </a:xfrm>
                <a:prstGeom prst="rect">
                  <a:avLst/>
                </a:prstGeom>
              </p:spPr>
            </p:pic>
            <p:pic>
              <p:nvPicPr>
                <p:cNvPr id="12" name="图片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81674" y="3525897"/>
                  <a:ext cx="1864863" cy="1822480"/>
                </a:xfrm>
                <a:prstGeom prst="rect">
                  <a:avLst/>
                </a:prstGeom>
              </p:spPr>
            </p:pic>
          </p:grpSp>
          <p:sp>
            <p:nvSpPr>
              <p:cNvPr id="13" name="矩形 12"/>
              <p:cNvSpPr/>
              <p:nvPr/>
            </p:nvSpPr>
            <p:spPr bwMode="auto">
              <a:xfrm>
                <a:off x="5295408" y="3406139"/>
                <a:ext cx="2019791" cy="2011247"/>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spcBef>
                    <a:spcPct val="50000"/>
                  </a:spcBef>
                  <a:buClr>
                    <a:prstClr val="white"/>
                  </a:buClr>
                  <a:buSzPct val="100000"/>
                </a:pPr>
                <a:endParaRPr lang="zh-CN" altLang="en-US">
                  <a:solidFill>
                    <a:prstClr val="black"/>
                  </a:solidFill>
                  <a:effectLst>
                    <a:outerShdw blurRad="38100" dist="38100" dir="2700000" algn="tl">
                      <a:srgbClr val="000000">
                        <a:alpha val="43137"/>
                      </a:srgbClr>
                    </a:outerShdw>
                  </a:effectLst>
                  <a:latin typeface="Arial" charset="0"/>
                </a:endParaRPr>
              </a:p>
            </p:txBody>
          </p:sp>
          <p:sp>
            <p:nvSpPr>
              <p:cNvPr id="14" name="文本框 13"/>
              <p:cNvSpPr txBox="1"/>
              <p:nvPr/>
            </p:nvSpPr>
            <p:spPr>
              <a:xfrm>
                <a:off x="6561334" y="5779896"/>
                <a:ext cx="1507730" cy="379591"/>
              </a:xfrm>
              <a:prstGeom prst="rect">
                <a:avLst/>
              </a:prstGeom>
              <a:noFill/>
            </p:spPr>
            <p:txBody>
              <a:bodyPr wrap="square" rtlCol="0">
                <a:spAutoFit/>
              </a:bodyPr>
              <a:lstStyle/>
              <a:p>
                <a:r>
                  <a:rPr lang="zh-CN" altLang="en-US" sz="2800" dirty="0">
                    <a:solidFill>
                      <a:srgbClr val="C00000"/>
                    </a:solidFill>
                    <a:latin typeface="微软雅黑"/>
                    <a:ea typeface="微软雅黑"/>
                  </a:rPr>
                  <a:t>组件配置</a:t>
                </a:r>
              </a:p>
            </p:txBody>
          </p:sp>
          <p:cxnSp>
            <p:nvCxnSpPr>
              <p:cNvPr id="15" name="直接箭头连接符 14"/>
              <p:cNvCxnSpPr/>
              <p:nvPr/>
            </p:nvCxnSpPr>
            <p:spPr bwMode="auto">
              <a:xfrm flipH="1" flipV="1">
                <a:off x="6867733" y="5482784"/>
                <a:ext cx="249154" cy="262606"/>
              </a:xfrm>
              <a:prstGeom prst="straightConnector1">
                <a:avLst/>
              </a:prstGeom>
              <a:solidFill>
                <a:schemeClr val="accent1"/>
              </a:solidFill>
              <a:ln w="25400" cap="flat" cmpd="sng" algn="ctr">
                <a:solidFill>
                  <a:srgbClr val="C00000"/>
                </a:solidFill>
                <a:prstDash val="solid"/>
                <a:round/>
                <a:headEnd type="none" w="med" len="med"/>
                <a:tailEnd type="triangle"/>
              </a:ln>
              <a:effectLst/>
            </p:spPr>
          </p:cxnSp>
        </p:grpSp>
        <p:sp>
          <p:nvSpPr>
            <p:cNvPr id="5" name="矩形 4"/>
            <p:cNvSpPr/>
            <p:nvPr/>
          </p:nvSpPr>
          <p:spPr bwMode="auto">
            <a:xfrm>
              <a:off x="5509494" y="4660811"/>
              <a:ext cx="952876" cy="658859"/>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spcBef>
                  <a:spcPct val="50000"/>
                </a:spcBef>
                <a:buClr>
                  <a:prstClr val="white"/>
                </a:buClr>
                <a:buSzPct val="100000"/>
              </a:pPr>
              <a:endParaRPr lang="zh-CN" altLang="en-US">
                <a:solidFill>
                  <a:prstClr val="black"/>
                </a:solidFill>
                <a:effectLst>
                  <a:outerShdw blurRad="38100" dist="38100" dir="2700000" algn="tl">
                    <a:srgbClr val="000000">
                      <a:alpha val="43137"/>
                    </a:srgbClr>
                  </a:outerShdw>
                </a:effectLst>
                <a:latin typeface="Arial" charset="0"/>
              </a:endParaRPr>
            </a:p>
          </p:txBody>
        </p:sp>
        <p:sp>
          <p:nvSpPr>
            <p:cNvPr id="6" name="文本框 5"/>
            <p:cNvSpPr txBox="1"/>
            <p:nvPr/>
          </p:nvSpPr>
          <p:spPr>
            <a:xfrm>
              <a:off x="3717228" y="5011007"/>
              <a:ext cx="1507730" cy="379591"/>
            </a:xfrm>
            <a:prstGeom prst="rect">
              <a:avLst/>
            </a:prstGeom>
            <a:noFill/>
          </p:spPr>
          <p:txBody>
            <a:bodyPr wrap="square" rtlCol="0">
              <a:spAutoFit/>
            </a:bodyPr>
            <a:lstStyle/>
            <a:p>
              <a:r>
                <a:rPr lang="zh-CN" altLang="en-US" sz="2800" dirty="0">
                  <a:solidFill>
                    <a:srgbClr val="C00000"/>
                  </a:solidFill>
                  <a:latin typeface="微软雅黑"/>
                  <a:ea typeface="微软雅黑"/>
                </a:rPr>
                <a:t>可视化组件</a:t>
              </a:r>
            </a:p>
          </p:txBody>
        </p:sp>
        <p:cxnSp>
          <p:nvCxnSpPr>
            <p:cNvPr id="8" name="直接箭头连接符 7"/>
            <p:cNvCxnSpPr/>
            <p:nvPr/>
          </p:nvCxnSpPr>
          <p:spPr bwMode="auto">
            <a:xfrm flipV="1">
              <a:off x="5047637" y="5024747"/>
              <a:ext cx="307838" cy="56983"/>
            </a:xfrm>
            <a:prstGeom prst="straightConnector1">
              <a:avLst/>
            </a:prstGeom>
            <a:solidFill>
              <a:schemeClr val="accent1"/>
            </a:solidFill>
            <a:ln w="25400" cap="flat" cmpd="sng" algn="ctr">
              <a:solidFill>
                <a:srgbClr val="C00000"/>
              </a:solidFill>
              <a:prstDash val="solid"/>
              <a:round/>
              <a:headEnd type="none" w="med" len="med"/>
              <a:tailEnd type="triangle"/>
            </a:ln>
            <a:effectLst/>
          </p:spPr>
        </p:cxnSp>
      </p:grpSp>
    </p:spTree>
    <p:extLst>
      <p:ext uri="{BB962C8B-B14F-4D97-AF65-F5344CB8AC3E}">
        <p14:creationId xmlns:p14="http://schemas.microsoft.com/office/powerpoint/2010/main" val="288315922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a:extLst>
              <a:ext uri="{FF2B5EF4-FFF2-40B4-BE49-F238E27FC236}">
                <a16:creationId xmlns:a16="http://schemas.microsoft.com/office/drawing/2014/main" id="{AA101047-5E2C-4714-9CE6-93011DBBEBD7}"/>
              </a:ext>
            </a:extLst>
          </p:cNvPr>
          <p:cNvGrpSpPr/>
          <p:nvPr/>
        </p:nvGrpSpPr>
        <p:grpSpPr>
          <a:xfrm>
            <a:off x="994312" y="3460316"/>
            <a:ext cx="5108449" cy="3390900"/>
            <a:chOff x="4222945" y="3089787"/>
            <a:chExt cx="5067359" cy="3730113"/>
          </a:xfrm>
        </p:grpSpPr>
        <p:pic>
          <p:nvPicPr>
            <p:cNvPr id="4" name="图片 3">
              <a:extLst>
                <a:ext uri="{FF2B5EF4-FFF2-40B4-BE49-F238E27FC236}">
                  <a16:creationId xmlns:a16="http://schemas.microsoft.com/office/drawing/2014/main" id="{8446FD80-18E1-40B3-A6A2-D449DAD12E7F}"/>
                </a:ext>
              </a:extLst>
            </p:cNvPr>
            <p:cNvPicPr>
              <a:picLocks noChangeAspect="1"/>
            </p:cNvPicPr>
            <p:nvPr/>
          </p:nvPicPr>
          <p:blipFill rotWithShape="1">
            <a:blip r:embed="rId3">
              <a:extLst>
                <a:ext uri="{28A0092B-C50C-407E-A947-70E740481C1C}">
                  <a14:useLocalDpi xmlns:a14="http://schemas.microsoft.com/office/drawing/2010/main" val="0"/>
                </a:ext>
              </a:extLst>
            </a:blip>
            <a:srcRect l="61490" t="4394" b="13619"/>
            <a:stretch/>
          </p:blipFill>
          <p:spPr>
            <a:xfrm>
              <a:off x="4222945" y="3089787"/>
              <a:ext cx="2095617" cy="3730113"/>
            </a:xfrm>
            <a:prstGeom prst="rect">
              <a:avLst/>
            </a:prstGeom>
          </p:spPr>
        </p:pic>
        <p:sp>
          <p:nvSpPr>
            <p:cNvPr id="6" name="矩形 5">
              <a:extLst>
                <a:ext uri="{FF2B5EF4-FFF2-40B4-BE49-F238E27FC236}">
                  <a16:creationId xmlns:a16="http://schemas.microsoft.com/office/drawing/2014/main" id="{1542BB7D-37D5-4372-A1D8-2C18630B3C28}"/>
                </a:ext>
              </a:extLst>
            </p:cNvPr>
            <p:cNvSpPr/>
            <p:nvPr/>
          </p:nvSpPr>
          <p:spPr bwMode="auto">
            <a:xfrm>
              <a:off x="4298771" y="3655468"/>
              <a:ext cx="2019791" cy="2339251"/>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spcBef>
                  <a:spcPct val="50000"/>
                </a:spcBef>
                <a:buClr>
                  <a:prstClr val="white"/>
                </a:buClr>
                <a:buSzPct val="100000"/>
              </a:pPr>
              <a:endParaRPr lang="zh-CN" altLang="en-US">
                <a:solidFill>
                  <a:prstClr val="black"/>
                </a:solidFill>
                <a:effectLst>
                  <a:outerShdw blurRad="38100" dist="38100" dir="2700000" algn="tl">
                    <a:srgbClr val="000000">
                      <a:alpha val="43137"/>
                    </a:srgbClr>
                  </a:outerShdw>
                </a:effectLst>
                <a:latin typeface="Arial" charset="0"/>
              </a:endParaRPr>
            </a:p>
          </p:txBody>
        </p:sp>
        <p:sp>
          <p:nvSpPr>
            <p:cNvPr id="8" name="文本框 7">
              <a:extLst>
                <a:ext uri="{FF2B5EF4-FFF2-40B4-BE49-F238E27FC236}">
                  <a16:creationId xmlns:a16="http://schemas.microsoft.com/office/drawing/2014/main" id="{E4AB6E3A-C011-4AED-AB6F-E592FB58F66A}"/>
                </a:ext>
              </a:extLst>
            </p:cNvPr>
            <p:cNvSpPr txBox="1"/>
            <p:nvPr/>
          </p:nvSpPr>
          <p:spPr>
            <a:xfrm>
              <a:off x="6669024" y="5657612"/>
              <a:ext cx="1804416" cy="666849"/>
            </a:xfrm>
            <a:prstGeom prst="rect">
              <a:avLst/>
            </a:prstGeom>
            <a:noFill/>
          </p:spPr>
          <p:txBody>
            <a:bodyPr wrap="square" rtlCol="0">
              <a:spAutoFit/>
            </a:bodyPr>
            <a:lstStyle/>
            <a:p>
              <a:r>
                <a:rPr lang="zh-CN" altLang="en-US" sz="2800" dirty="0">
                  <a:solidFill>
                    <a:srgbClr val="C00000"/>
                  </a:solidFill>
                  <a:latin typeface="微软雅黑"/>
                  <a:ea typeface="微软雅黑"/>
                </a:rPr>
                <a:t>用户在官方</a:t>
              </a:r>
              <a:r>
                <a:rPr lang="en-US" altLang="zh-CN" sz="2800" dirty="0">
                  <a:solidFill>
                    <a:srgbClr val="C00000"/>
                  </a:solidFill>
                  <a:latin typeface="微软雅黑"/>
                  <a:ea typeface="微软雅黑"/>
                </a:rPr>
                <a:t>app</a:t>
              </a:r>
              <a:r>
                <a:rPr lang="zh-CN" altLang="en-US" sz="2800" dirty="0">
                  <a:solidFill>
                    <a:srgbClr val="C00000"/>
                  </a:solidFill>
                  <a:latin typeface="微软雅黑"/>
                  <a:ea typeface="微软雅黑"/>
                </a:rPr>
                <a:t>中下载的插件</a:t>
              </a:r>
            </a:p>
          </p:txBody>
        </p:sp>
        <p:cxnSp>
          <p:nvCxnSpPr>
            <p:cNvPr id="9" name="直接箭头连接符 8">
              <a:extLst>
                <a:ext uri="{FF2B5EF4-FFF2-40B4-BE49-F238E27FC236}">
                  <a16:creationId xmlns:a16="http://schemas.microsoft.com/office/drawing/2014/main" id="{3C2973C5-9418-421A-9C24-F200D6EB4711}"/>
                </a:ext>
              </a:extLst>
            </p:cNvPr>
            <p:cNvCxnSpPr>
              <a:cxnSpLocks/>
            </p:cNvCxnSpPr>
            <p:nvPr/>
          </p:nvCxnSpPr>
          <p:spPr bwMode="auto">
            <a:xfrm>
              <a:off x="6318562" y="5851406"/>
              <a:ext cx="350462" cy="29263"/>
            </a:xfrm>
            <a:prstGeom prst="straightConnector1">
              <a:avLst/>
            </a:prstGeom>
            <a:solidFill>
              <a:schemeClr val="accent1"/>
            </a:solidFill>
            <a:ln w="25400" cap="flat" cmpd="sng" algn="ctr">
              <a:solidFill>
                <a:srgbClr val="C00000"/>
              </a:solidFill>
              <a:prstDash val="solid"/>
              <a:round/>
              <a:headEnd type="none" w="med" len="med"/>
              <a:tailEnd type="triangle"/>
            </a:ln>
            <a:effectLst/>
          </p:spPr>
        </p:cxnSp>
        <p:sp>
          <p:nvSpPr>
            <p:cNvPr id="10" name="文本框 9">
              <a:extLst>
                <a:ext uri="{FF2B5EF4-FFF2-40B4-BE49-F238E27FC236}">
                  <a16:creationId xmlns:a16="http://schemas.microsoft.com/office/drawing/2014/main" id="{3DE0908A-0FCE-4AA3-AAFE-45178D7160DD}"/>
                </a:ext>
              </a:extLst>
            </p:cNvPr>
            <p:cNvSpPr txBox="1"/>
            <p:nvPr/>
          </p:nvSpPr>
          <p:spPr>
            <a:xfrm>
              <a:off x="6669024" y="3735424"/>
              <a:ext cx="2621280" cy="666849"/>
            </a:xfrm>
            <a:prstGeom prst="rect">
              <a:avLst/>
            </a:prstGeom>
            <a:noFill/>
          </p:spPr>
          <p:txBody>
            <a:bodyPr wrap="square" rtlCol="0">
              <a:spAutoFit/>
            </a:bodyPr>
            <a:lstStyle/>
            <a:p>
              <a:r>
                <a:rPr lang="zh-CN" altLang="en-US" sz="2800" dirty="0">
                  <a:solidFill>
                    <a:srgbClr val="C00000"/>
                  </a:solidFill>
                  <a:latin typeface="微软雅黑"/>
                  <a:ea typeface="微软雅黑"/>
                </a:rPr>
                <a:t>点击</a:t>
              </a:r>
              <a:r>
                <a:rPr lang="en-US" altLang="zh-CN" sz="2800" dirty="0">
                  <a:solidFill>
                    <a:srgbClr val="C00000"/>
                  </a:solidFill>
                  <a:latin typeface="微软雅黑"/>
                  <a:ea typeface="微软雅黑"/>
                </a:rPr>
                <a:t>ADD DEVICE</a:t>
              </a:r>
              <a:r>
                <a:rPr lang="zh-CN" altLang="en-US" sz="2800" dirty="0">
                  <a:solidFill>
                    <a:srgbClr val="C00000"/>
                  </a:solidFill>
                  <a:latin typeface="微软雅黑"/>
                  <a:ea typeface="微软雅黑"/>
                </a:rPr>
                <a:t>可以添加新的设备（插件）</a:t>
              </a:r>
            </a:p>
          </p:txBody>
        </p:sp>
        <p:cxnSp>
          <p:nvCxnSpPr>
            <p:cNvPr id="11" name="直接箭头连接符 10">
              <a:extLst>
                <a:ext uri="{FF2B5EF4-FFF2-40B4-BE49-F238E27FC236}">
                  <a16:creationId xmlns:a16="http://schemas.microsoft.com/office/drawing/2014/main" id="{EB9751E0-B61E-4E1C-AC41-418498409768}"/>
                </a:ext>
              </a:extLst>
            </p:cNvPr>
            <p:cNvCxnSpPr>
              <a:cxnSpLocks/>
            </p:cNvCxnSpPr>
            <p:nvPr/>
          </p:nvCxnSpPr>
          <p:spPr bwMode="auto">
            <a:xfrm>
              <a:off x="5742432" y="3290424"/>
              <a:ext cx="1072896" cy="523360"/>
            </a:xfrm>
            <a:prstGeom prst="straightConnector1">
              <a:avLst/>
            </a:prstGeom>
            <a:solidFill>
              <a:schemeClr val="accent1"/>
            </a:solidFill>
            <a:ln w="25400" cap="flat" cmpd="sng" algn="ctr">
              <a:solidFill>
                <a:srgbClr val="C00000"/>
              </a:solidFill>
              <a:prstDash val="solid"/>
              <a:round/>
              <a:headEnd type="none" w="med" len="med"/>
              <a:tailEnd type="triangle"/>
            </a:ln>
            <a:effectLst/>
          </p:spPr>
        </p:cxnSp>
      </p:grpSp>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en-US" altLang="zh-CN" dirty="0"/>
              <a:t>Web</a:t>
            </a:r>
            <a:r>
              <a:rPr lang="zh-CN" altLang="en-US" dirty="0"/>
              <a:t>应用</a:t>
            </a:r>
            <a:r>
              <a:rPr lang="en-US" altLang="zh-CN" dirty="0"/>
              <a:t>/</a:t>
            </a:r>
            <a:r>
              <a:rPr lang="zh-CN" altLang="en-US" dirty="0"/>
              <a:t>移动应用开发</a:t>
            </a:r>
          </a:p>
        </p:txBody>
      </p:sp>
      <p:sp>
        <p:nvSpPr>
          <p:cNvPr id="7" name="内容占位符 2"/>
          <p:cNvSpPr>
            <a:spLocks noGrp="1"/>
          </p:cNvSpPr>
          <p:nvPr>
            <p:ph idx="1"/>
          </p:nvPr>
        </p:nvSpPr>
        <p:spPr/>
        <p:txBody>
          <a:bodyPr/>
          <a:lstStyle/>
          <a:p>
            <a:r>
              <a:rPr lang="zh-CN" altLang="en-US"/>
              <a:t>基于插件的</a:t>
            </a:r>
            <a:r>
              <a:rPr lang="en-US" altLang="zh-CN"/>
              <a:t>Web/</a:t>
            </a:r>
            <a:r>
              <a:rPr lang="zh-CN" altLang="en-US"/>
              <a:t>移动应用开发</a:t>
            </a:r>
            <a:endParaRPr lang="en-US" altLang="zh-CN"/>
          </a:p>
          <a:p>
            <a:pPr lvl="1"/>
            <a:r>
              <a:rPr lang="zh-CN" altLang="en-US"/>
              <a:t>插件：使用</a:t>
            </a:r>
            <a:r>
              <a:rPr lang="en-US" altLang="zh-CN"/>
              <a:t>HTML</a:t>
            </a:r>
            <a:r>
              <a:rPr lang="zh-CN" altLang="en-US"/>
              <a:t>、</a:t>
            </a:r>
            <a:r>
              <a:rPr lang="en-US" altLang="zh-CN"/>
              <a:t>CSS</a:t>
            </a:r>
            <a:r>
              <a:rPr lang="zh-CN" altLang="en-US"/>
              <a:t>、</a:t>
            </a:r>
            <a:r>
              <a:rPr lang="en-US" altLang="zh-CN"/>
              <a:t>JavaScript</a:t>
            </a:r>
            <a:r>
              <a:rPr lang="zh-CN" altLang="en-US"/>
              <a:t>和</a:t>
            </a:r>
            <a:r>
              <a:rPr lang="en-US" altLang="zh-CN"/>
              <a:t>JSON</a:t>
            </a:r>
            <a:r>
              <a:rPr lang="zh-CN" altLang="en-US"/>
              <a:t>来定义设备用户界面和行为的网页应用程序</a:t>
            </a:r>
            <a:endParaRPr lang="en-US" altLang="zh-CN"/>
          </a:p>
          <a:p>
            <a:pPr lvl="1"/>
            <a:r>
              <a:rPr lang="zh-CN" altLang="en-US"/>
              <a:t>开发者可自行开发插件并上传到平台，然后在官方</a:t>
            </a:r>
            <a:r>
              <a:rPr lang="en-US" altLang="zh-CN"/>
              <a:t>app</a:t>
            </a:r>
            <a:r>
              <a:rPr lang="zh-CN" altLang="en-US"/>
              <a:t>上按需加载插件</a:t>
            </a:r>
            <a:endParaRPr lang="en-US" altLang="zh-CN"/>
          </a:p>
          <a:p>
            <a:pPr lvl="1"/>
            <a:r>
              <a:rPr lang="zh-CN" altLang="en-US"/>
              <a:t>示例为</a:t>
            </a:r>
            <a:r>
              <a:rPr lang="en-US" altLang="zh-CN"/>
              <a:t>SmartThings app</a:t>
            </a:r>
            <a:r>
              <a:rPr lang="zh-CN" altLang="en-US"/>
              <a:t>设备插件界面和其中一个空调插件界面</a:t>
            </a:r>
            <a:endParaRPr lang="en-US" altLang="zh-CN"/>
          </a:p>
          <a:p>
            <a:endParaRPr lang="en-US" altLang="zh-CN" dirty="0"/>
          </a:p>
        </p:txBody>
      </p:sp>
      <p:cxnSp>
        <p:nvCxnSpPr>
          <p:cNvPr id="13" name="直接箭头连接符 12">
            <a:extLst>
              <a:ext uri="{FF2B5EF4-FFF2-40B4-BE49-F238E27FC236}">
                <a16:creationId xmlns:a16="http://schemas.microsoft.com/office/drawing/2014/main" id="{EB9751E0-B61E-4E1C-AC41-418498409768}"/>
              </a:ext>
            </a:extLst>
          </p:cNvPr>
          <p:cNvCxnSpPr>
            <a:cxnSpLocks/>
          </p:cNvCxnSpPr>
          <p:nvPr/>
        </p:nvCxnSpPr>
        <p:spPr bwMode="auto">
          <a:xfrm>
            <a:off x="2722456" y="4874811"/>
            <a:ext cx="1081596" cy="475766"/>
          </a:xfrm>
          <a:prstGeom prst="straightConnector1">
            <a:avLst/>
          </a:prstGeom>
          <a:solidFill>
            <a:schemeClr val="accent1"/>
          </a:solidFill>
          <a:ln w="25400" cap="flat" cmpd="sng" algn="ctr">
            <a:solidFill>
              <a:srgbClr val="C00000"/>
            </a:solidFill>
            <a:prstDash val="solid"/>
            <a:round/>
            <a:headEnd type="none" w="med" len="med"/>
            <a:tailEnd type="triangle"/>
          </a:ln>
          <a:effectLst/>
        </p:spPr>
      </p:cxnSp>
      <p:sp>
        <p:nvSpPr>
          <p:cNvPr id="15" name="文本框 14">
            <a:extLst>
              <a:ext uri="{FF2B5EF4-FFF2-40B4-BE49-F238E27FC236}">
                <a16:creationId xmlns:a16="http://schemas.microsoft.com/office/drawing/2014/main" id="{3DE0908A-0FCE-4AA3-AAFE-45178D7160DD}"/>
              </a:ext>
            </a:extLst>
          </p:cNvPr>
          <p:cNvSpPr txBox="1"/>
          <p:nvPr/>
        </p:nvSpPr>
        <p:spPr>
          <a:xfrm>
            <a:off x="3804052" y="5117328"/>
            <a:ext cx="2642535" cy="379591"/>
          </a:xfrm>
          <a:prstGeom prst="rect">
            <a:avLst/>
          </a:prstGeom>
          <a:noFill/>
        </p:spPr>
        <p:txBody>
          <a:bodyPr wrap="square" rtlCol="0">
            <a:spAutoFit/>
          </a:bodyPr>
          <a:lstStyle/>
          <a:p>
            <a:r>
              <a:rPr lang="en-US" altLang="zh-CN" sz="2800" dirty="0">
                <a:solidFill>
                  <a:srgbClr val="C00000"/>
                </a:solidFill>
                <a:latin typeface="微软雅黑"/>
                <a:ea typeface="微软雅黑"/>
              </a:rPr>
              <a:t>App</a:t>
            </a:r>
            <a:r>
              <a:rPr lang="zh-CN" altLang="en-US" sz="2800" dirty="0">
                <a:solidFill>
                  <a:srgbClr val="C00000"/>
                </a:solidFill>
                <a:latin typeface="微软雅黑"/>
                <a:ea typeface="微软雅黑"/>
              </a:rPr>
              <a:t>中嵌入的插件</a:t>
            </a:r>
          </a:p>
        </p:txBody>
      </p:sp>
      <p:pic>
        <p:nvPicPr>
          <p:cNvPr id="5" name="图片 4">
            <a:extLst>
              <a:ext uri="{FF2B5EF4-FFF2-40B4-BE49-F238E27FC236}">
                <a16:creationId xmlns:a16="http://schemas.microsoft.com/office/drawing/2014/main" id="{A2AEF703-30E9-4CF4-A5FE-702EF377AD66}"/>
              </a:ext>
            </a:extLst>
          </p:cNvPr>
          <p:cNvPicPr>
            <a:picLocks noChangeAspect="1"/>
          </p:cNvPicPr>
          <p:nvPr/>
        </p:nvPicPr>
        <p:blipFill rotWithShape="1">
          <a:blip r:embed="rId4">
            <a:extLst>
              <a:ext uri="{28A0092B-C50C-407E-A947-70E740481C1C}">
                <a14:useLocalDpi xmlns:a14="http://schemas.microsoft.com/office/drawing/2010/main" val="0"/>
              </a:ext>
            </a:extLst>
          </a:blip>
          <a:srcRect r="60291" b="5480"/>
          <a:stretch/>
        </p:blipFill>
        <p:spPr>
          <a:xfrm>
            <a:off x="6245803" y="3460316"/>
            <a:ext cx="1944525" cy="3390900"/>
          </a:xfrm>
          <a:prstGeom prst="rect">
            <a:avLst/>
          </a:prstGeom>
        </p:spPr>
      </p:pic>
    </p:spTree>
    <p:extLst>
      <p:ext uri="{BB962C8B-B14F-4D97-AF65-F5344CB8AC3E}">
        <p14:creationId xmlns:p14="http://schemas.microsoft.com/office/powerpoint/2010/main" val="1285289857"/>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6C27F2-FD71-4BA3-B0EF-F46590418D70}"/>
              </a:ext>
            </a:extLst>
          </p:cNvPr>
          <p:cNvSpPr>
            <a:spLocks noGrp="1"/>
          </p:cNvSpPr>
          <p:nvPr>
            <p:ph type="title"/>
          </p:nvPr>
        </p:nvSpPr>
        <p:spPr/>
        <p:txBody>
          <a:bodyPr/>
          <a:lstStyle/>
          <a:p>
            <a:r>
              <a:rPr lang="en-US" altLang="zh-CN" dirty="0"/>
              <a:t>Web</a:t>
            </a:r>
            <a:r>
              <a:rPr lang="zh-CN" altLang="en-US" dirty="0"/>
              <a:t>应用</a:t>
            </a:r>
            <a:r>
              <a:rPr lang="en-US" altLang="zh-CN" dirty="0"/>
              <a:t>/</a:t>
            </a:r>
            <a:r>
              <a:rPr lang="zh-CN" altLang="en-US" dirty="0"/>
              <a:t>移动应用开发</a:t>
            </a:r>
          </a:p>
        </p:txBody>
      </p:sp>
      <p:sp>
        <p:nvSpPr>
          <p:cNvPr id="3" name="内容占位符 2">
            <a:extLst>
              <a:ext uri="{FF2B5EF4-FFF2-40B4-BE49-F238E27FC236}">
                <a16:creationId xmlns:a16="http://schemas.microsoft.com/office/drawing/2014/main" id="{7726CE99-7AE5-4639-A262-91134611E482}"/>
              </a:ext>
            </a:extLst>
          </p:cNvPr>
          <p:cNvSpPr>
            <a:spLocks noGrp="1"/>
          </p:cNvSpPr>
          <p:nvPr>
            <p:ph idx="1"/>
          </p:nvPr>
        </p:nvSpPr>
        <p:spPr/>
        <p:txBody>
          <a:bodyPr/>
          <a:lstStyle/>
          <a:p>
            <a:r>
              <a:rPr lang="zh-CN" altLang="en-US"/>
              <a:t>平台对比</a:t>
            </a:r>
            <a:endParaRPr lang="zh-CN" altLang="en-US" dirty="0"/>
          </a:p>
        </p:txBody>
      </p:sp>
      <p:graphicFrame>
        <p:nvGraphicFramePr>
          <p:cNvPr id="4" name="内容占位符 3">
            <a:extLst>
              <a:ext uri="{FF2B5EF4-FFF2-40B4-BE49-F238E27FC236}">
                <a16:creationId xmlns:a16="http://schemas.microsoft.com/office/drawing/2014/main" id="{1089CBF1-6A06-40E7-8012-2628C723C2CB}"/>
              </a:ext>
            </a:extLst>
          </p:cNvPr>
          <p:cNvGraphicFramePr>
            <a:graphicFrameLocks/>
          </p:cNvGraphicFramePr>
          <p:nvPr>
            <p:extLst>
              <p:ext uri="{D42A27DB-BD31-4B8C-83A1-F6EECF244321}">
                <p14:modId xmlns:p14="http://schemas.microsoft.com/office/powerpoint/2010/main" val="20211647"/>
              </p:ext>
            </p:extLst>
          </p:nvPr>
        </p:nvGraphicFramePr>
        <p:xfrm>
          <a:off x="847940" y="1656188"/>
          <a:ext cx="7333820" cy="4897011"/>
        </p:xfrm>
        <a:graphic>
          <a:graphicData uri="http://schemas.openxmlformats.org/drawingml/2006/table">
            <a:tbl>
              <a:tblPr firstRow="1" firstCol="1">
                <a:tableStyleId>{08FB837D-C827-4EFA-A057-4D05807E0F7C}</a:tableStyleId>
              </a:tblPr>
              <a:tblGrid>
                <a:gridCol w="1741439">
                  <a:extLst>
                    <a:ext uri="{9D8B030D-6E8A-4147-A177-3AD203B41FA5}">
                      <a16:colId xmlns:a16="http://schemas.microsoft.com/office/drawing/2014/main" val="393836667"/>
                    </a:ext>
                  </a:extLst>
                </a:gridCol>
                <a:gridCol w="1574364">
                  <a:extLst>
                    <a:ext uri="{9D8B030D-6E8A-4147-A177-3AD203B41FA5}">
                      <a16:colId xmlns:a16="http://schemas.microsoft.com/office/drawing/2014/main" val="984286165"/>
                    </a:ext>
                  </a:extLst>
                </a:gridCol>
                <a:gridCol w="1369510">
                  <a:extLst>
                    <a:ext uri="{9D8B030D-6E8A-4147-A177-3AD203B41FA5}">
                      <a16:colId xmlns:a16="http://schemas.microsoft.com/office/drawing/2014/main" val="1458606952"/>
                    </a:ext>
                  </a:extLst>
                </a:gridCol>
                <a:gridCol w="1369510">
                  <a:extLst>
                    <a:ext uri="{9D8B030D-6E8A-4147-A177-3AD203B41FA5}">
                      <a16:colId xmlns:a16="http://schemas.microsoft.com/office/drawing/2014/main" val="1250962452"/>
                    </a:ext>
                  </a:extLst>
                </a:gridCol>
                <a:gridCol w="1278997">
                  <a:extLst>
                    <a:ext uri="{9D8B030D-6E8A-4147-A177-3AD203B41FA5}">
                      <a16:colId xmlns:a16="http://schemas.microsoft.com/office/drawing/2014/main" val="20003"/>
                    </a:ext>
                  </a:extLst>
                </a:gridCol>
              </a:tblGrid>
              <a:tr h="727094">
                <a:tc rowSpan="2">
                  <a:txBody>
                    <a:bodyPr/>
                    <a:lstStyle/>
                    <a:p>
                      <a:pPr algn="ctr" fontAlgn="ctr"/>
                      <a:r>
                        <a:rPr lang="zh-CN" altLang="en-US" sz="2400" u="none" strike="noStrike" dirty="0">
                          <a:effectLst/>
                          <a:latin typeface="+mj-ea"/>
                          <a:ea typeface="+mj-ea"/>
                        </a:rPr>
                        <a:t>一体开发平台</a:t>
                      </a:r>
                      <a:endParaRPr lang="zh-CN" altLang="en-US" sz="24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gridSpan="4">
                  <a:txBody>
                    <a:bodyPr/>
                    <a:lstStyle/>
                    <a:p>
                      <a:pPr algn="ctr" fontAlgn="ctr"/>
                      <a:r>
                        <a:rPr lang="en-US" altLang="zh-CN" sz="2400" u="none" strike="noStrike" dirty="0">
                          <a:effectLst/>
                          <a:latin typeface="+mj-ea"/>
                          <a:ea typeface="+mj-ea"/>
                        </a:rPr>
                        <a:t>Web</a:t>
                      </a:r>
                      <a:r>
                        <a:rPr lang="zh-CN" altLang="en-US" sz="2400" u="none" strike="noStrike" dirty="0">
                          <a:effectLst/>
                          <a:latin typeface="+mj-ea"/>
                          <a:ea typeface="+mj-ea"/>
                        </a:rPr>
                        <a:t>应用</a:t>
                      </a:r>
                      <a:r>
                        <a:rPr lang="en-US" altLang="zh-CN" sz="2400" u="none" strike="noStrike" dirty="0">
                          <a:effectLst/>
                          <a:latin typeface="+mj-ea"/>
                          <a:ea typeface="+mj-ea"/>
                        </a:rPr>
                        <a:t>/</a:t>
                      </a:r>
                      <a:r>
                        <a:rPr lang="zh-CN" altLang="en-US" sz="2400" u="none" strike="noStrike" dirty="0">
                          <a:effectLst/>
                          <a:latin typeface="+mj-ea"/>
                          <a:ea typeface="+mj-ea"/>
                        </a:rPr>
                        <a:t>移动应用开发</a:t>
                      </a:r>
                      <a:endParaRPr lang="zh-CN" altLang="en-US" sz="24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hMerge="1">
                  <a:txBody>
                    <a:bodyPr/>
                    <a:lstStyle/>
                    <a:p>
                      <a:endParaRPr lang="zh-CN" altLang="en-US"/>
                    </a:p>
                  </a:txBody>
                  <a:tcPr/>
                </a:tc>
                <a:tc hMerge="1">
                  <a:txBody>
                    <a:bodyPr/>
                    <a:lstStyle/>
                    <a:p>
                      <a:pPr algn="ctr" fontAlgn="ctr"/>
                      <a:endParaRPr lang="zh-CN" altLang="en-US" sz="1600" b="0" i="0" u="none" strike="noStrike" dirty="0">
                        <a:solidFill>
                          <a:srgbClr val="000000"/>
                        </a:solidFill>
                        <a:effectLst/>
                        <a:latin typeface="等线" panose="02010600030101010101" pitchFamily="2" charset="-122"/>
                        <a:ea typeface="等线" panose="02010600030101010101" pitchFamily="2" charset="-122"/>
                      </a:endParaRPr>
                    </a:p>
                  </a:txBody>
                  <a:tcPr marL="8874" marR="8874" marT="8874" marB="0" anchor="ctr"/>
                </a:tc>
                <a:tc hMerge="1">
                  <a:txBody>
                    <a:bodyPr/>
                    <a:lstStyle/>
                    <a:p>
                      <a:pPr algn="ctr" fontAlgn="ctr"/>
                      <a:endParaRPr lang="zh-CN" altLang="en-US" sz="2400" b="0" i="0" u="none" strike="noStrike" dirty="0">
                        <a:solidFill>
                          <a:srgbClr val="000000"/>
                        </a:solidFill>
                        <a:effectLst/>
                        <a:latin typeface="等线" panose="02010600030101010101" pitchFamily="2" charset="-122"/>
                        <a:ea typeface="等线" panose="02010600030101010101" pitchFamily="2" charset="-122"/>
                      </a:endParaRPr>
                    </a:p>
                  </a:txBody>
                  <a:tcPr marL="8874" marR="8874" marT="8874"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8159999"/>
                  </a:ext>
                </a:extLst>
              </a:tr>
              <a:tr h="1549313">
                <a:tc vMerge="1">
                  <a:txBody>
                    <a:bodyPr/>
                    <a:lstStyle/>
                    <a:p>
                      <a:endParaRPr lang="zh-CN" altLang="en-US"/>
                    </a:p>
                  </a:txBody>
                  <a:tcPr/>
                </a:tc>
                <a:tc>
                  <a:txBody>
                    <a:bodyPr/>
                    <a:lstStyle/>
                    <a:p>
                      <a:pPr algn="ctr" rtl="0" fontAlgn="ctr"/>
                      <a:r>
                        <a:rPr lang="zh-CN" altLang="en-US" sz="2400" u="none" strike="noStrike" dirty="0">
                          <a:effectLst/>
                          <a:latin typeface="+mj-ea"/>
                          <a:ea typeface="+mj-ea"/>
                        </a:rPr>
                        <a:t>基于设备端代码的应用框架自动生成</a:t>
                      </a:r>
                      <a:endParaRPr lang="zh-CN" altLang="en-US" sz="2400" b="0" i="0" u="none" strike="noStrike" dirty="0">
                        <a:solidFill>
                          <a:schemeClr val="bg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2400" u="none" strike="noStrike" dirty="0">
                          <a:effectLst/>
                          <a:latin typeface="+mj-ea"/>
                          <a:ea typeface="+mj-ea"/>
                        </a:rPr>
                        <a:t>基于可视化拖拽</a:t>
                      </a:r>
                      <a:endParaRPr lang="zh-CN" altLang="en-US" sz="2400" b="0" i="0" u="none" strike="noStrike" dirty="0">
                        <a:solidFill>
                          <a:schemeClr val="bg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2400" u="none" strike="noStrike" dirty="0">
                          <a:effectLst/>
                          <a:latin typeface="+mj-ea"/>
                          <a:ea typeface="+mj-ea"/>
                        </a:rPr>
                        <a:t>基于插件</a:t>
                      </a:r>
                      <a:endParaRPr lang="zh-CN" altLang="en-US" sz="2400" b="0" i="0" u="none" strike="noStrike" dirty="0">
                        <a:solidFill>
                          <a:schemeClr val="bg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2400" u="none" strike="noStrike" dirty="0">
                          <a:effectLst/>
                          <a:latin typeface="+mj-ea"/>
                          <a:ea typeface="+mj-ea"/>
                        </a:rPr>
                        <a:t>传统的</a:t>
                      </a:r>
                      <a:r>
                        <a:rPr lang="en-US" altLang="zh-CN" sz="2400" u="none" strike="noStrike" dirty="0">
                          <a:effectLst/>
                          <a:latin typeface="+mj-ea"/>
                          <a:ea typeface="+mj-ea"/>
                        </a:rPr>
                        <a:t>Web</a:t>
                      </a:r>
                      <a:r>
                        <a:rPr lang="zh-CN" altLang="en-US" sz="2400" u="none" strike="noStrike" dirty="0">
                          <a:effectLst/>
                          <a:latin typeface="+mj-ea"/>
                          <a:ea typeface="+mj-ea"/>
                        </a:rPr>
                        <a:t>应用</a:t>
                      </a:r>
                      <a:r>
                        <a:rPr lang="en-US" altLang="zh-CN" sz="2400" u="none" strike="noStrike" dirty="0">
                          <a:effectLst/>
                          <a:latin typeface="+mj-ea"/>
                          <a:ea typeface="+mj-ea"/>
                        </a:rPr>
                        <a:t>/</a:t>
                      </a:r>
                      <a:r>
                        <a:rPr lang="zh-CN" altLang="en-US" sz="2400" u="none" strike="noStrike" dirty="0">
                          <a:effectLst/>
                          <a:latin typeface="+mj-ea"/>
                          <a:ea typeface="+mj-ea"/>
                        </a:rPr>
                        <a:t>移动应用开发</a:t>
                      </a:r>
                      <a:endParaRPr lang="zh-CN" altLang="en-US" sz="2400" b="0" i="0" u="none" strike="noStrike" dirty="0">
                        <a:solidFill>
                          <a:schemeClr val="bg1"/>
                        </a:solidFill>
                        <a:effectLst/>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1057826431"/>
                  </a:ext>
                </a:extLst>
              </a:tr>
              <a:tr h="918130">
                <a:tc>
                  <a:txBody>
                    <a:bodyPr/>
                    <a:lstStyle/>
                    <a:p>
                      <a:pPr algn="ctr" rtl="0" fontAlgn="ctr"/>
                      <a:r>
                        <a:rPr lang="en-US" altLang="zh-CN" sz="2400" u="none" strike="noStrike" dirty="0" err="1">
                          <a:effectLst/>
                          <a:latin typeface="+mj-ea"/>
                          <a:ea typeface="+mj-ea"/>
                        </a:rPr>
                        <a:t>TinyLink</a:t>
                      </a:r>
                      <a:endParaRPr lang="en-US" sz="24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2000" u="none" strike="noStrike" dirty="0">
                          <a:effectLst/>
                          <a:latin typeface="+mj-ea"/>
                          <a:ea typeface="+mj-ea"/>
                        </a:rPr>
                        <a:t>√</a:t>
                      </a:r>
                      <a:endParaRPr lang="zh-CN" altLang="en-US" sz="20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000" u="none" strike="noStrike" dirty="0">
                          <a:effectLst/>
                          <a:latin typeface="+mj-ea"/>
                          <a:ea typeface="+mj-ea"/>
                        </a:rPr>
                        <a:t>×</a:t>
                      </a:r>
                      <a:endParaRPr lang="zh-CN" altLang="en-US" sz="20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000" u="none" strike="noStrike" dirty="0">
                          <a:effectLst/>
                          <a:latin typeface="+mj-ea"/>
                          <a:ea typeface="+mj-ea"/>
                        </a:rPr>
                        <a:t>×</a:t>
                      </a:r>
                      <a:endParaRPr lang="zh-CN" altLang="en-US" sz="20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000" u="none" strike="noStrike" dirty="0">
                          <a:effectLst/>
                          <a:latin typeface="+mj-ea"/>
                          <a:ea typeface="+mj-ea"/>
                        </a:rPr>
                        <a:t>×</a:t>
                      </a:r>
                      <a:endParaRPr lang="zh-CN" altLang="en-US" sz="20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3857372589"/>
                  </a:ext>
                </a:extLst>
              </a:tr>
              <a:tr h="851237">
                <a:tc>
                  <a:txBody>
                    <a:bodyPr/>
                    <a:lstStyle/>
                    <a:p>
                      <a:pPr algn="ctr" rtl="0" fontAlgn="ctr"/>
                      <a:r>
                        <a:rPr lang="en-US" altLang="zh-CN" sz="2400" u="none" strike="noStrike" kern="1200" dirty="0" err="1">
                          <a:effectLst/>
                          <a:latin typeface="+mj-ea"/>
                          <a:ea typeface="+mj-ea"/>
                        </a:rPr>
                        <a:t>IoT</a:t>
                      </a:r>
                      <a:r>
                        <a:rPr lang="en-US" altLang="zh-CN" sz="2400" u="none" strike="noStrike" kern="1200" dirty="0">
                          <a:effectLst/>
                          <a:latin typeface="+mj-ea"/>
                          <a:ea typeface="+mj-ea"/>
                        </a:rPr>
                        <a:t> Studio</a:t>
                      </a:r>
                      <a:endParaRPr lang="en-US" sz="2400" b="1" i="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000" u="none" strike="noStrike" dirty="0">
                          <a:effectLst/>
                          <a:latin typeface="+mj-ea"/>
                          <a:ea typeface="+mj-ea"/>
                        </a:rPr>
                        <a:t>×</a:t>
                      </a:r>
                      <a:endParaRPr lang="zh-CN" altLang="en-US" sz="20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2000" u="none" strike="noStrike" dirty="0">
                          <a:effectLst/>
                          <a:latin typeface="+mj-ea"/>
                          <a:ea typeface="+mj-ea"/>
                        </a:rPr>
                        <a:t>√</a:t>
                      </a:r>
                      <a:endParaRPr lang="zh-CN" altLang="en-US" sz="20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000" u="none" strike="noStrike" dirty="0">
                          <a:effectLst/>
                          <a:latin typeface="+mj-ea"/>
                          <a:ea typeface="+mj-ea"/>
                        </a:rPr>
                        <a:t>×</a:t>
                      </a:r>
                      <a:endParaRPr lang="zh-CN" altLang="en-US" sz="20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2000" u="none" strike="noStrike" dirty="0">
                          <a:effectLst/>
                          <a:latin typeface="+mj-ea"/>
                          <a:ea typeface="+mj-ea"/>
                        </a:rPr>
                        <a:t>√</a:t>
                      </a:r>
                      <a:endParaRPr lang="zh-CN" altLang="en-US" sz="20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3356318774"/>
                  </a:ext>
                </a:extLst>
              </a:tr>
              <a:tr h="851237">
                <a:tc>
                  <a:txBody>
                    <a:bodyPr/>
                    <a:lstStyle/>
                    <a:p>
                      <a:pPr algn="ctr" rtl="0" fontAlgn="ctr"/>
                      <a:r>
                        <a:rPr lang="en-US" sz="2400" u="none" strike="noStrike" kern="1200" dirty="0" err="1">
                          <a:effectLst/>
                          <a:latin typeface="+mj-ea"/>
                          <a:ea typeface="+mj-ea"/>
                        </a:rPr>
                        <a:t>Tuya</a:t>
                      </a:r>
                      <a:r>
                        <a:rPr lang="en-US" sz="2400" u="none" strike="noStrike" kern="1200" dirty="0">
                          <a:effectLst/>
                          <a:latin typeface="+mj-ea"/>
                          <a:ea typeface="+mj-ea"/>
                        </a:rPr>
                        <a:t> I</a:t>
                      </a:r>
                      <a:r>
                        <a:rPr lang="en-US" altLang="zh-CN" sz="2400" u="none" strike="noStrike" kern="1200" dirty="0">
                          <a:effectLst/>
                          <a:latin typeface="+mj-ea"/>
                          <a:ea typeface="+mj-ea"/>
                        </a:rPr>
                        <a:t>oT</a:t>
                      </a:r>
                      <a:r>
                        <a:rPr lang="zh-CN" altLang="en-US" sz="2400" u="none" strike="noStrike" kern="1200" dirty="0">
                          <a:effectLst/>
                          <a:latin typeface="+mj-ea"/>
                          <a:ea typeface="+mj-ea"/>
                        </a:rPr>
                        <a:t>平台</a:t>
                      </a:r>
                      <a:endParaRPr lang="en-US" sz="2400" b="1" i="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2000" u="none" strike="noStrike" kern="1200" cap="none" spc="0" normalizeH="0" baseline="0" noProof="0" dirty="0">
                          <a:ln>
                            <a:noFill/>
                          </a:ln>
                          <a:effectLst/>
                          <a:uLnTx/>
                          <a:uFillTx/>
                          <a:latin typeface="+mj-ea"/>
                          <a:ea typeface="+mj-ea"/>
                        </a:rPr>
                        <a:t>×</a:t>
                      </a:r>
                      <a:endParaRPr kumimoji="0" lang="zh-CN" altLang="en-US" sz="2000" b="0" i="0" u="none" strike="noStrike" kern="1200" cap="none" spc="0" normalizeH="0" baseline="0" noProof="0" dirty="0">
                        <a:ln>
                          <a:noFill/>
                        </a:ln>
                        <a:solidFill>
                          <a:srgbClr val="000000"/>
                        </a:solidFill>
                        <a:effectLst/>
                        <a:uLnTx/>
                        <a:uFillTx/>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2000" u="none" strike="noStrike" kern="1200" cap="none" spc="0" normalizeH="0" baseline="0" noProof="0" dirty="0">
                          <a:ln>
                            <a:noFill/>
                          </a:ln>
                          <a:effectLst/>
                          <a:uLnTx/>
                          <a:uFillTx/>
                          <a:latin typeface="+mj-ea"/>
                          <a:ea typeface="+mj-ea"/>
                        </a:rPr>
                        <a:t>√</a:t>
                      </a:r>
                      <a:endParaRPr kumimoji="0" lang="zh-CN" altLang="en-US" sz="2000" b="0" i="0" u="none" strike="noStrike" kern="1200" cap="none" spc="0" normalizeH="0" baseline="0" noProof="0" dirty="0">
                        <a:ln>
                          <a:noFill/>
                        </a:ln>
                        <a:solidFill>
                          <a:srgbClr val="000000"/>
                        </a:solidFill>
                        <a:effectLst/>
                        <a:uLnTx/>
                        <a:uFillTx/>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2000" u="none" strike="noStrike" kern="1200" cap="none" spc="0" normalizeH="0" baseline="0" noProof="0" dirty="0">
                          <a:ln>
                            <a:noFill/>
                          </a:ln>
                          <a:effectLst/>
                          <a:uLnTx/>
                          <a:uFillTx/>
                          <a:latin typeface="+mj-ea"/>
                          <a:ea typeface="+mj-ea"/>
                        </a:rPr>
                        <a:t>√</a:t>
                      </a:r>
                      <a:endParaRPr kumimoji="0" lang="zh-CN" altLang="en-US" sz="2000" b="0" i="0" u="none" strike="noStrike" kern="1200" cap="none" spc="0" normalizeH="0" baseline="0" noProof="0" dirty="0">
                        <a:ln>
                          <a:noFill/>
                        </a:ln>
                        <a:solidFill>
                          <a:srgbClr val="000000"/>
                        </a:solidFill>
                        <a:effectLst/>
                        <a:uLnTx/>
                        <a:uFillTx/>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2000" u="none" strike="noStrike" kern="1200" cap="none" spc="0" normalizeH="0" baseline="0" noProof="0" dirty="0">
                          <a:ln>
                            <a:noFill/>
                          </a:ln>
                          <a:effectLst/>
                          <a:uLnTx/>
                          <a:uFillTx/>
                          <a:latin typeface="+mj-ea"/>
                          <a:ea typeface="+mj-ea"/>
                        </a:rPr>
                        <a:t>√</a:t>
                      </a:r>
                      <a:endParaRPr kumimoji="0" lang="zh-CN" altLang="en-US" sz="2000" b="0" i="0" u="none" strike="noStrike" kern="1200" cap="none" spc="0" normalizeH="0" baseline="0" noProof="0" dirty="0">
                        <a:ln>
                          <a:noFill/>
                        </a:ln>
                        <a:solidFill>
                          <a:srgbClr val="000000"/>
                        </a:solidFill>
                        <a:effectLst/>
                        <a:uLnTx/>
                        <a:uFillTx/>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1476657015"/>
                  </a:ext>
                </a:extLst>
              </a:tr>
            </a:tbl>
          </a:graphicData>
        </a:graphic>
      </p:graphicFrame>
    </p:spTree>
    <p:extLst>
      <p:ext uri="{BB962C8B-B14F-4D97-AF65-F5344CB8AC3E}">
        <p14:creationId xmlns:p14="http://schemas.microsoft.com/office/powerpoint/2010/main" val="68275823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zh-CN" altLang="en-US"/>
              <a:t>主要功能</a:t>
            </a:r>
            <a:endParaRPr lang="zh-CN" altLang="en-US" dirty="0"/>
          </a:p>
        </p:txBody>
      </p:sp>
      <p:sp>
        <p:nvSpPr>
          <p:cNvPr id="7" name="内容占位符 2"/>
          <p:cNvSpPr>
            <a:spLocks noGrp="1"/>
          </p:cNvSpPr>
          <p:nvPr>
            <p:ph idx="1"/>
          </p:nvPr>
        </p:nvSpPr>
        <p:spPr/>
        <p:txBody>
          <a:bodyPr/>
          <a:lstStyle/>
          <a:p>
            <a:r>
              <a:rPr lang="zh-CN" altLang="en-US" dirty="0"/>
              <a:t>我们认为，理想的物联网云</a:t>
            </a:r>
            <a:r>
              <a:rPr lang="en-US" altLang="zh-CN" dirty="0"/>
              <a:t>-</a:t>
            </a:r>
            <a:r>
              <a:rPr lang="zh-CN" altLang="en-US" dirty="0"/>
              <a:t>端一体开发应该包括如下功能</a:t>
            </a:r>
            <a:endParaRPr lang="en-US" altLang="zh-CN" dirty="0"/>
          </a:p>
          <a:p>
            <a:endParaRPr lang="en-US" altLang="zh-CN" dirty="0"/>
          </a:p>
          <a:p>
            <a:pPr lvl="1"/>
            <a:r>
              <a:rPr lang="zh-CN" altLang="en-US" b="1" dirty="0"/>
              <a:t>支持设备端开发</a:t>
            </a:r>
            <a:endParaRPr lang="en-US" altLang="zh-CN" b="1" dirty="0"/>
          </a:p>
          <a:p>
            <a:pPr lvl="1"/>
            <a:r>
              <a:rPr lang="zh-CN" altLang="en-US" b="1" dirty="0"/>
              <a:t>支持云服务开发</a:t>
            </a:r>
            <a:endParaRPr lang="en-US" altLang="zh-CN" b="1" dirty="0"/>
          </a:p>
          <a:p>
            <a:pPr lvl="1"/>
            <a:r>
              <a:rPr lang="zh-CN" altLang="en-US" b="1" dirty="0"/>
              <a:t>支持</a:t>
            </a:r>
            <a:r>
              <a:rPr lang="en-US" altLang="zh-CN" b="1" dirty="0"/>
              <a:t>Web</a:t>
            </a:r>
            <a:r>
              <a:rPr lang="zh-CN" altLang="en-US" b="1" dirty="0"/>
              <a:t>应用</a:t>
            </a:r>
            <a:r>
              <a:rPr lang="en-US" altLang="zh-CN" b="1" dirty="0"/>
              <a:t>/</a:t>
            </a:r>
            <a:r>
              <a:rPr lang="zh-CN" altLang="en-US" b="1" dirty="0"/>
              <a:t>移动应用开发</a:t>
            </a:r>
            <a:endParaRPr lang="en-US" altLang="zh-CN" b="1" dirty="0"/>
          </a:p>
          <a:p>
            <a:pPr lvl="1"/>
            <a:r>
              <a:rPr lang="zh-CN" altLang="en-US" b="1" dirty="0">
                <a:solidFill>
                  <a:srgbClr val="C00000"/>
                </a:solidFill>
              </a:rPr>
              <a:t>支持三端集成开发流程的简化</a:t>
            </a:r>
            <a:endParaRPr lang="en-US" altLang="zh-CN" b="1" dirty="0">
              <a:solidFill>
                <a:srgbClr val="C00000"/>
              </a:solidFill>
            </a:endParaRPr>
          </a:p>
        </p:txBody>
      </p:sp>
    </p:spTree>
    <p:extLst>
      <p:ext uri="{BB962C8B-B14F-4D97-AF65-F5344CB8AC3E}">
        <p14:creationId xmlns:p14="http://schemas.microsoft.com/office/powerpoint/2010/main" val="50492368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zh-CN" altLang="en-US" dirty="0"/>
              <a:t>三端应用集成简化</a:t>
            </a:r>
          </a:p>
        </p:txBody>
      </p:sp>
      <p:sp>
        <p:nvSpPr>
          <p:cNvPr id="7" name="内容占位符 2"/>
          <p:cNvSpPr>
            <a:spLocks noGrp="1"/>
          </p:cNvSpPr>
          <p:nvPr>
            <p:ph idx="1"/>
          </p:nvPr>
        </p:nvSpPr>
        <p:spPr/>
        <p:txBody>
          <a:bodyPr/>
          <a:lstStyle/>
          <a:p>
            <a:r>
              <a:rPr lang="zh-CN" altLang="en-US"/>
              <a:t>现状与问题</a:t>
            </a:r>
            <a:endParaRPr lang="en-US" altLang="zh-CN"/>
          </a:p>
          <a:p>
            <a:pPr lvl="1"/>
            <a:r>
              <a:rPr lang="zh-CN" altLang="en-US"/>
              <a:t>很多平台可以提供对三端应用开发的支持</a:t>
            </a:r>
            <a:endParaRPr lang="en-US" altLang="zh-CN"/>
          </a:p>
          <a:p>
            <a:pPr lvl="1"/>
            <a:r>
              <a:rPr lang="zh-CN" altLang="en-US"/>
              <a:t>三端应用的集成还较为复杂，如设备端与云端服务交互的数据格式不统一，导致设备端数据无法被云端服务直接解析</a:t>
            </a:r>
            <a:endParaRPr lang="en-US" altLang="zh-CN"/>
          </a:p>
          <a:p>
            <a:r>
              <a:rPr lang="zh-CN" altLang="en-US"/>
              <a:t>三端应用集成简化</a:t>
            </a:r>
            <a:endParaRPr lang="en-US" altLang="zh-CN"/>
          </a:p>
          <a:p>
            <a:pPr lvl="1"/>
            <a:r>
              <a:rPr lang="zh-CN" altLang="en-US"/>
              <a:t>设备模型</a:t>
            </a:r>
            <a:endParaRPr lang="en-US" altLang="zh-CN"/>
          </a:p>
          <a:p>
            <a:pPr lvl="1"/>
            <a:r>
              <a:rPr lang="zh-CN" altLang="en-US"/>
              <a:t>命名机制</a:t>
            </a:r>
            <a:endParaRPr lang="en-US" altLang="zh-CN"/>
          </a:p>
          <a:p>
            <a:r>
              <a:rPr lang="zh-CN" altLang="en-US"/>
              <a:t>设备模型</a:t>
            </a:r>
            <a:endParaRPr lang="en-US" altLang="zh-CN"/>
          </a:p>
          <a:p>
            <a:pPr lvl="1"/>
            <a:r>
              <a:rPr lang="zh-CN" altLang="en-US"/>
              <a:t>设备的抽象描述，规定设备与云端数据交互规范</a:t>
            </a:r>
            <a:endParaRPr lang="en-US" altLang="zh-CN"/>
          </a:p>
          <a:p>
            <a:pPr lvl="1"/>
            <a:r>
              <a:rPr lang="zh-CN" altLang="en-US"/>
              <a:t>解耦设备开发与云服务开发</a:t>
            </a:r>
            <a:endParaRPr lang="en-US" altLang="zh-CN"/>
          </a:p>
          <a:p>
            <a:r>
              <a:rPr lang="zh-CN" altLang="en-US"/>
              <a:t>命名机制</a:t>
            </a:r>
            <a:endParaRPr lang="en-US" altLang="zh-CN"/>
          </a:p>
          <a:p>
            <a:pPr lvl="1"/>
            <a:r>
              <a:rPr lang="zh-CN" altLang="en-US"/>
              <a:t>物理设备与虚拟</a:t>
            </a:r>
            <a:r>
              <a:rPr lang="en-US" altLang="zh-CN"/>
              <a:t>ID</a:t>
            </a:r>
            <a:r>
              <a:rPr lang="zh-CN" altLang="en-US"/>
              <a:t>的映射</a:t>
            </a:r>
            <a:endParaRPr lang="en-US" altLang="zh-CN" dirty="0"/>
          </a:p>
        </p:txBody>
      </p:sp>
    </p:spTree>
    <p:extLst>
      <p:ext uri="{BB962C8B-B14F-4D97-AF65-F5344CB8AC3E}">
        <p14:creationId xmlns:p14="http://schemas.microsoft.com/office/powerpoint/2010/main" val="286907283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zh-CN" altLang="en-US" dirty="0"/>
              <a:t>三端应用集成简化</a:t>
            </a:r>
          </a:p>
        </p:txBody>
      </p:sp>
      <p:sp>
        <p:nvSpPr>
          <p:cNvPr id="7" name="内容占位符 2"/>
          <p:cNvSpPr>
            <a:spLocks noGrp="1"/>
          </p:cNvSpPr>
          <p:nvPr>
            <p:ph idx="1"/>
          </p:nvPr>
        </p:nvSpPr>
        <p:spPr/>
        <p:txBody>
          <a:bodyPr/>
          <a:lstStyle/>
          <a:p>
            <a:r>
              <a:rPr lang="zh-CN" altLang="en-US"/>
              <a:t>设备模型</a:t>
            </a:r>
            <a:endParaRPr lang="en-US" altLang="zh-CN"/>
          </a:p>
          <a:p>
            <a:pPr lvl="1"/>
            <a:r>
              <a:rPr lang="zh-CN" altLang="en-US"/>
              <a:t>传统的物联网开发方式</a:t>
            </a:r>
            <a:endParaRPr lang="en-US" altLang="zh-CN"/>
          </a:p>
          <a:p>
            <a:pPr lvl="2"/>
            <a:r>
              <a:rPr lang="zh-CN" altLang="en-US"/>
              <a:t>应用开发依赖硬件设备，开发流程无法同步进行</a:t>
            </a:r>
            <a:endParaRPr lang="en-US" altLang="zh-CN"/>
          </a:p>
          <a:p>
            <a:pPr lvl="1"/>
            <a:endParaRPr lang="en-US" altLang="zh-CN"/>
          </a:p>
          <a:p>
            <a:pPr lvl="1"/>
            <a:endParaRPr lang="en-US" altLang="zh-CN"/>
          </a:p>
          <a:p>
            <a:pPr lvl="1"/>
            <a:r>
              <a:rPr lang="zh-CN" altLang="en-US"/>
              <a:t>设备模型</a:t>
            </a:r>
            <a:endParaRPr lang="en-US" altLang="zh-CN"/>
          </a:p>
          <a:p>
            <a:pPr lvl="2"/>
            <a:r>
              <a:rPr lang="zh-CN" altLang="en-US"/>
              <a:t>设备所能提供功能的描述</a:t>
            </a:r>
            <a:endParaRPr lang="en-US" altLang="zh-CN"/>
          </a:p>
          <a:p>
            <a:pPr lvl="2"/>
            <a:r>
              <a:rPr lang="zh-CN" altLang="en-US"/>
              <a:t>设备开发和应用开发的桥梁，基于设备模型，应用开发与设备开发可完全分离</a:t>
            </a:r>
            <a:endParaRPr lang="en-US" altLang="zh-CN"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1418" y="2410059"/>
            <a:ext cx="5897363" cy="929476"/>
          </a:xfrm>
          <a:prstGeom prst="rect">
            <a:avLst/>
          </a:prstGeom>
        </p:spPr>
      </p:pic>
    </p:spTree>
    <p:extLst>
      <p:ext uri="{BB962C8B-B14F-4D97-AF65-F5344CB8AC3E}">
        <p14:creationId xmlns:p14="http://schemas.microsoft.com/office/powerpoint/2010/main" val="277643774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12CD184-5F3E-4BA7-A996-D9E3B752D8BC}"/>
              </a:ext>
            </a:extLst>
          </p:cNvPr>
          <p:cNvPicPr>
            <a:picLocks noChangeAspect="1"/>
          </p:cNvPicPr>
          <p:nvPr/>
        </p:nvPicPr>
        <p:blipFill rotWithShape="1">
          <a:blip r:embed="rId3">
            <a:extLst>
              <a:ext uri="{28A0092B-C50C-407E-A947-70E740481C1C}">
                <a14:useLocalDpi xmlns:a14="http://schemas.microsoft.com/office/drawing/2010/main" val="0"/>
              </a:ext>
            </a:extLst>
          </a:blip>
          <a:srcRect t="15070"/>
          <a:stretch/>
        </p:blipFill>
        <p:spPr>
          <a:xfrm>
            <a:off x="6911157" y="952500"/>
            <a:ext cx="2036675" cy="1729740"/>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85152" y="2587924"/>
            <a:ext cx="3582803" cy="3209025"/>
          </a:xfrm>
          <a:prstGeom prst="rect">
            <a:avLst/>
          </a:prstGeom>
        </p:spPr>
      </p:pic>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zh-CN" altLang="en-US" dirty="0"/>
              <a:t>三端应用集成简化</a:t>
            </a:r>
          </a:p>
        </p:txBody>
      </p:sp>
      <p:sp>
        <p:nvSpPr>
          <p:cNvPr id="7" name="内容占位符 2"/>
          <p:cNvSpPr>
            <a:spLocks noGrp="1"/>
          </p:cNvSpPr>
          <p:nvPr>
            <p:ph idx="1"/>
          </p:nvPr>
        </p:nvSpPr>
        <p:spPr/>
        <p:txBody>
          <a:bodyPr/>
          <a:lstStyle/>
          <a:p>
            <a:r>
              <a:rPr lang="zh-CN" altLang="en-US"/>
              <a:t>基于设备模型的开发流程（以智能灯泡为例）</a:t>
            </a:r>
            <a:endParaRPr lang="en-US" altLang="zh-CN"/>
          </a:p>
          <a:p>
            <a:pPr lvl="1"/>
            <a:r>
              <a:rPr lang="zh-CN" altLang="en-US"/>
              <a:t>步骤</a:t>
            </a:r>
            <a:r>
              <a:rPr lang="en-US" altLang="zh-CN"/>
              <a:t>1</a:t>
            </a:r>
            <a:r>
              <a:rPr lang="zh-CN" altLang="en-US"/>
              <a:t>：设备模型定义</a:t>
            </a:r>
            <a:endParaRPr lang="en-US" altLang="zh-CN"/>
          </a:p>
          <a:p>
            <a:pPr lvl="2"/>
            <a:r>
              <a:rPr lang="zh-CN" altLang="en-US"/>
              <a:t>包括开、关两个功能，可通过云平台进行控制</a:t>
            </a:r>
            <a:endParaRPr lang="en-US" altLang="zh-CN"/>
          </a:p>
          <a:p>
            <a:pPr lvl="2"/>
            <a:r>
              <a:rPr lang="zh-CN" altLang="en-US"/>
              <a:t>包含光照、声音强度两个属性</a:t>
            </a:r>
            <a:endParaRPr lang="en-US" altLang="zh-CN"/>
          </a:p>
          <a:p>
            <a:pPr lvl="2"/>
            <a:r>
              <a:rPr lang="zh-CN" altLang="en-US"/>
              <a:t>包含一个属性上报事件</a:t>
            </a:r>
            <a:endParaRPr lang="en-US" altLang="zh-CN"/>
          </a:p>
          <a:p>
            <a:pPr lvl="1"/>
            <a:endParaRPr lang="en-US" altLang="zh-CN"/>
          </a:p>
          <a:p>
            <a:pPr lvl="1"/>
            <a:endParaRPr lang="en-US" altLang="zh-CN" dirty="0"/>
          </a:p>
        </p:txBody>
      </p:sp>
      <p:sp>
        <p:nvSpPr>
          <p:cNvPr id="9" name="内容占位符 2">
            <a:extLst>
              <a:ext uri="{FF2B5EF4-FFF2-40B4-BE49-F238E27FC236}">
                <a16:creationId xmlns:a16="http://schemas.microsoft.com/office/drawing/2014/main" id="{C3627A8F-DE14-4FFA-A63E-9627BFC14F96}"/>
              </a:ext>
            </a:extLst>
          </p:cNvPr>
          <p:cNvSpPr txBox="1">
            <a:spLocks/>
          </p:cNvSpPr>
          <p:nvPr/>
        </p:nvSpPr>
        <p:spPr bwMode="auto">
          <a:xfrm>
            <a:off x="457200" y="2577764"/>
            <a:ext cx="4643120" cy="362999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20000"/>
              </a:lnSpc>
              <a:spcBef>
                <a:spcPct val="20000"/>
              </a:spcBef>
              <a:spcAft>
                <a:spcPct val="0"/>
              </a:spcAft>
              <a:buClr>
                <a:schemeClr val="tx1"/>
              </a:buClr>
              <a:buFont typeface="Wingdings" panose="05000000000000000000" pitchFamily="2" charset="2"/>
              <a:buChar char="l"/>
              <a:defRPr lang="zh-CN" altLang="en-US" sz="2400" b="1" baseline="0" dirty="0" smtClean="0">
                <a:solidFill>
                  <a:schemeClr val="tx1"/>
                </a:solidFill>
                <a:latin typeface="+mj-ea"/>
                <a:ea typeface="+mj-ea"/>
                <a:cs typeface="+mn-cs"/>
              </a:defRPr>
            </a:lvl1pPr>
            <a:lvl2pPr marL="742950" indent="-285750" algn="l" rtl="0" eaLnBrk="0" fontAlgn="base" hangingPunct="0">
              <a:lnSpc>
                <a:spcPct val="120000"/>
              </a:lnSpc>
              <a:spcBef>
                <a:spcPct val="20000"/>
              </a:spcBef>
              <a:spcAft>
                <a:spcPct val="0"/>
              </a:spcAft>
              <a:buClr>
                <a:schemeClr val="tx1"/>
              </a:buClr>
              <a:buFont typeface="Wingdings" panose="05000000000000000000" pitchFamily="2" charset="2"/>
              <a:buChar char="l"/>
              <a:defRPr sz="2000" b="0" baseline="0">
                <a:solidFill>
                  <a:schemeClr val="tx1"/>
                </a:solidFill>
                <a:effectLst/>
                <a:latin typeface="+mj-ea"/>
                <a:ea typeface="+mj-ea"/>
              </a:defRPr>
            </a:lvl2pPr>
            <a:lvl3pPr marL="1143000" indent="-228600" algn="l" rtl="0" eaLnBrk="0" fontAlgn="base" hangingPunct="0">
              <a:lnSpc>
                <a:spcPct val="120000"/>
              </a:lnSpc>
              <a:spcBef>
                <a:spcPct val="20000"/>
              </a:spcBef>
              <a:spcAft>
                <a:spcPct val="0"/>
              </a:spcAft>
              <a:buClrTx/>
              <a:buFont typeface="Wingdings" panose="05000000000000000000" pitchFamily="2" charset="2"/>
              <a:buChar char="l"/>
              <a:defRPr sz="1800" b="0" i="0" baseline="0">
                <a:solidFill>
                  <a:srgbClr val="5F5F5F"/>
                </a:solidFill>
                <a:latin typeface="+mj-ea"/>
                <a:ea typeface="+mj-ea"/>
              </a:defRPr>
            </a:lvl3pPr>
            <a:lvl4pPr marL="1600200" indent="-228600" algn="l" rtl="0" eaLnBrk="0" fontAlgn="base" hangingPunct="0">
              <a:lnSpc>
                <a:spcPct val="120000"/>
              </a:lnSpc>
              <a:spcBef>
                <a:spcPct val="20000"/>
              </a:spcBef>
              <a:spcAft>
                <a:spcPct val="0"/>
              </a:spcAft>
              <a:buClrTx/>
              <a:buSzPct val="100000"/>
              <a:buFont typeface="Wingdings" panose="05000000000000000000" pitchFamily="2" charset="2"/>
              <a:buChar char="l"/>
              <a:defRPr sz="1600" baseline="0">
                <a:solidFill>
                  <a:schemeClr val="tx1"/>
                </a:solidFill>
                <a:latin typeface="+mj-ea"/>
                <a:ea typeface="+mj-ea"/>
              </a:defRPr>
            </a:lvl4pPr>
            <a:lvl5pPr marL="2057400" indent="-228600" algn="l" rtl="0" eaLnBrk="0" fontAlgn="base" hangingPunct="0">
              <a:spcBef>
                <a:spcPct val="20000"/>
              </a:spcBef>
              <a:spcAft>
                <a:spcPct val="0"/>
              </a:spcAft>
              <a:buClr>
                <a:schemeClr val="accent2"/>
              </a:buClr>
              <a:buSzPct val="100000"/>
              <a:buFont typeface="Wingdings" pitchFamily="2" charset="2"/>
              <a:buChar char="ü"/>
              <a:defRPr sz="1600" b="1" i="1" baseline="0">
                <a:solidFill>
                  <a:srgbClr val="660066"/>
                </a:solidFill>
                <a:latin typeface="+mn-lt"/>
              </a:defRPr>
            </a:lvl5pPr>
            <a:lvl6pPr marL="25146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9pPr>
          </a:lstStyle>
          <a:p>
            <a:endParaRPr lang="en-US" altLang="zh-CN" dirty="0"/>
          </a:p>
          <a:p>
            <a:pPr lvl="1"/>
            <a:r>
              <a:rPr lang="zh-CN" altLang="en-US" dirty="0"/>
              <a:t>步骤</a:t>
            </a:r>
            <a:r>
              <a:rPr lang="en-US" altLang="zh-CN" dirty="0"/>
              <a:t>2</a:t>
            </a:r>
            <a:r>
              <a:rPr lang="zh-CN" altLang="en-US" dirty="0"/>
              <a:t>：应用开发</a:t>
            </a:r>
            <a:endParaRPr lang="en-US" altLang="zh-CN" dirty="0"/>
          </a:p>
          <a:p>
            <a:pPr lvl="2"/>
            <a:r>
              <a:rPr lang="zh-CN" altLang="en-US" dirty="0">
                <a:solidFill>
                  <a:schemeClr val="tx1"/>
                </a:solidFill>
              </a:rPr>
              <a:t>硬件开发人员设计电路，编写设备端代码，实现开灯、关灯两个功能</a:t>
            </a:r>
            <a:endParaRPr lang="en-US" altLang="zh-CN" dirty="0">
              <a:solidFill>
                <a:schemeClr val="tx1"/>
              </a:solidFill>
            </a:endParaRPr>
          </a:p>
          <a:p>
            <a:pPr lvl="2"/>
            <a:r>
              <a:rPr lang="zh-CN" altLang="en-US" dirty="0">
                <a:solidFill>
                  <a:schemeClr val="tx1"/>
                </a:solidFill>
              </a:rPr>
              <a:t>软件开发人员基于设备模型定义，使用虚拟设备模拟真实设备，开发</a:t>
            </a:r>
            <a:r>
              <a:rPr lang="en-US" altLang="zh-CN" dirty="0">
                <a:solidFill>
                  <a:schemeClr val="tx1"/>
                </a:solidFill>
              </a:rPr>
              <a:t>Web</a:t>
            </a:r>
            <a:r>
              <a:rPr lang="zh-CN" altLang="en-US" dirty="0">
                <a:solidFill>
                  <a:schemeClr val="tx1"/>
                </a:solidFill>
              </a:rPr>
              <a:t>应用</a:t>
            </a:r>
            <a:r>
              <a:rPr lang="en-US" altLang="zh-CN" dirty="0">
                <a:solidFill>
                  <a:schemeClr val="tx1"/>
                </a:solidFill>
              </a:rPr>
              <a:t>/</a:t>
            </a:r>
            <a:r>
              <a:rPr lang="zh-CN" altLang="en-US" dirty="0">
                <a:solidFill>
                  <a:schemeClr val="tx1"/>
                </a:solidFill>
              </a:rPr>
              <a:t>移动应用</a:t>
            </a:r>
            <a:endParaRPr lang="en-US" altLang="zh-CN" dirty="0">
              <a:solidFill>
                <a:schemeClr val="tx1"/>
              </a:solidFill>
            </a:endParaRPr>
          </a:p>
          <a:p>
            <a:pPr lvl="1"/>
            <a:endParaRPr lang="zh-CN" altLang="en-US" kern="0" dirty="0"/>
          </a:p>
        </p:txBody>
      </p:sp>
    </p:spTree>
    <p:extLst>
      <p:ext uri="{BB962C8B-B14F-4D97-AF65-F5344CB8AC3E}">
        <p14:creationId xmlns:p14="http://schemas.microsoft.com/office/powerpoint/2010/main" val="854708479"/>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zh-CN" altLang="en-US" dirty="0"/>
              <a:t>三端应用集成简化</a:t>
            </a:r>
          </a:p>
        </p:txBody>
      </p:sp>
      <p:sp>
        <p:nvSpPr>
          <p:cNvPr id="7" name="内容占位符 2"/>
          <p:cNvSpPr>
            <a:spLocks noGrp="1"/>
          </p:cNvSpPr>
          <p:nvPr>
            <p:ph idx="1"/>
          </p:nvPr>
        </p:nvSpPr>
        <p:spPr/>
        <p:txBody>
          <a:bodyPr/>
          <a:lstStyle/>
          <a:p>
            <a:r>
              <a:rPr lang="zh-CN" altLang="en-US"/>
              <a:t>设备模型</a:t>
            </a:r>
            <a:r>
              <a:rPr lang="en-US" altLang="zh-CN"/>
              <a:t>: SmartThings VS IoT Studio</a:t>
            </a:r>
          </a:p>
          <a:p>
            <a:pPr lvl="1"/>
            <a:r>
              <a:rPr lang="zh-CN" altLang="en-US"/>
              <a:t>设备档案（三星 </a:t>
            </a:r>
            <a:r>
              <a:rPr lang="en-US" altLang="zh-CN"/>
              <a:t>SmartThings</a:t>
            </a:r>
            <a:r>
              <a:rPr lang="zh-CN" altLang="en-US"/>
              <a:t>）</a:t>
            </a:r>
            <a:endParaRPr lang="en-US" altLang="zh-CN"/>
          </a:p>
          <a:p>
            <a:pPr lvl="2"/>
            <a:r>
              <a:rPr lang="zh-CN" altLang="en-US"/>
              <a:t>使用</a:t>
            </a:r>
            <a:r>
              <a:rPr lang="en-US" altLang="zh-CN"/>
              <a:t>JSON</a:t>
            </a:r>
            <a:r>
              <a:rPr lang="zh-CN" altLang="en-US"/>
              <a:t>语言描述</a:t>
            </a:r>
            <a:endParaRPr lang="en-US" altLang="zh-CN"/>
          </a:p>
          <a:p>
            <a:pPr lvl="2"/>
            <a:r>
              <a:rPr lang="zh-CN" altLang="en-US"/>
              <a:t>设备</a:t>
            </a:r>
            <a:r>
              <a:rPr lang="en-US" altLang="zh-CN"/>
              <a:t>&gt;</a:t>
            </a:r>
            <a:r>
              <a:rPr lang="zh-CN" altLang="en-US"/>
              <a:t>组件</a:t>
            </a:r>
            <a:r>
              <a:rPr lang="en-US" altLang="zh-CN"/>
              <a:t>&gt;</a:t>
            </a:r>
            <a:r>
              <a:rPr lang="zh-CN" altLang="en-US"/>
              <a:t>功能</a:t>
            </a:r>
            <a:r>
              <a:rPr lang="en-US" altLang="zh-CN"/>
              <a:t>&gt;</a:t>
            </a:r>
            <a:r>
              <a:rPr lang="zh-CN" altLang="en-US"/>
              <a:t>（属性，命令）</a:t>
            </a:r>
            <a:endParaRPr lang="en-US" altLang="zh-CN"/>
          </a:p>
          <a:p>
            <a:pPr lvl="2"/>
            <a:r>
              <a:rPr lang="zh-CN" altLang="en-US"/>
              <a:t>设备所包含的功能必须是平台已有的</a:t>
            </a:r>
            <a:endParaRPr lang="en-US" altLang="zh-CN"/>
          </a:p>
          <a:p>
            <a:pPr lvl="1"/>
            <a:r>
              <a:rPr lang="zh-CN" altLang="en-US"/>
              <a:t>物模型（</a:t>
            </a:r>
            <a:r>
              <a:rPr lang="en-US" altLang="zh-CN"/>
              <a:t>IoT Studio</a:t>
            </a:r>
            <a:r>
              <a:rPr lang="zh-CN" altLang="en-US"/>
              <a:t>）</a:t>
            </a:r>
            <a:endParaRPr lang="en-US" altLang="zh-CN"/>
          </a:p>
          <a:p>
            <a:pPr lvl="2"/>
            <a:r>
              <a:rPr lang="zh-CN" altLang="en-US"/>
              <a:t>使用</a:t>
            </a:r>
            <a:r>
              <a:rPr lang="en-US" altLang="zh-CN"/>
              <a:t>JSON</a:t>
            </a:r>
            <a:r>
              <a:rPr lang="zh-CN" altLang="en-US"/>
              <a:t>语言描述</a:t>
            </a:r>
            <a:endParaRPr lang="en-US" altLang="zh-CN"/>
          </a:p>
          <a:p>
            <a:pPr lvl="2"/>
            <a:r>
              <a:rPr lang="zh-CN" altLang="en-US"/>
              <a:t>将设备功能划分为“属性”、“事件”、“服务”三类</a:t>
            </a:r>
            <a:endParaRPr lang="en-US" altLang="zh-CN"/>
          </a:p>
          <a:p>
            <a:pPr lvl="2"/>
            <a:r>
              <a:rPr lang="zh-CN" altLang="en-US"/>
              <a:t>设备功能可使用平台提供的标准功能，也可由开发者自行定义</a:t>
            </a:r>
            <a:endParaRPr lang="en-US" altLang="zh-CN"/>
          </a:p>
          <a:p>
            <a:pPr lvl="1"/>
            <a:endParaRPr lang="en-US" altLang="zh-CN"/>
          </a:p>
          <a:p>
            <a:pPr lvl="1"/>
            <a:endParaRPr lang="en-US" altLang="zh-CN"/>
          </a:p>
          <a:p>
            <a:pPr lvl="1"/>
            <a:endParaRPr lang="en-US" altLang="zh-CN" dirty="0"/>
          </a:p>
        </p:txBody>
      </p:sp>
    </p:spTree>
    <p:extLst>
      <p:ext uri="{BB962C8B-B14F-4D97-AF65-F5344CB8AC3E}">
        <p14:creationId xmlns:p14="http://schemas.microsoft.com/office/powerpoint/2010/main" val="243874847"/>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zh-CN" altLang="en-US" dirty="0"/>
              <a:t>三端应用集成简化</a:t>
            </a:r>
          </a:p>
        </p:txBody>
      </p:sp>
      <p:sp>
        <p:nvSpPr>
          <p:cNvPr id="7" name="内容占位符 2"/>
          <p:cNvSpPr>
            <a:spLocks noGrp="1"/>
          </p:cNvSpPr>
          <p:nvPr>
            <p:ph idx="1"/>
          </p:nvPr>
        </p:nvSpPr>
        <p:spPr/>
        <p:txBody>
          <a:bodyPr/>
          <a:lstStyle/>
          <a:p>
            <a:r>
              <a:rPr lang="zh-CN" altLang="en-US"/>
              <a:t>智能灯泡设备模型定义</a:t>
            </a:r>
            <a:r>
              <a:rPr lang="en-US" altLang="zh-CN"/>
              <a:t>-</a:t>
            </a:r>
            <a:r>
              <a:rPr lang="zh-CN" altLang="en-US"/>
              <a:t>三星 </a:t>
            </a:r>
            <a:r>
              <a:rPr lang="en-US" altLang="zh-CN"/>
              <a:t>SmartThings</a:t>
            </a:r>
          </a:p>
          <a:p>
            <a:endParaRPr lang="en-US" altLang="zh-CN"/>
          </a:p>
          <a:p>
            <a:pPr lvl="1"/>
            <a:endParaRPr lang="en-US" altLang="zh-CN"/>
          </a:p>
          <a:p>
            <a:pPr lvl="1"/>
            <a:endParaRPr lang="en-US" altLang="zh-CN"/>
          </a:p>
          <a:p>
            <a:pPr lvl="1"/>
            <a:endParaRPr lang="en-US" altLang="zh-CN" dirty="0"/>
          </a:p>
        </p:txBody>
      </p:sp>
      <p:sp>
        <p:nvSpPr>
          <p:cNvPr id="4" name="文本框 3">
            <a:extLst>
              <a:ext uri="{FF2B5EF4-FFF2-40B4-BE49-F238E27FC236}">
                <a16:creationId xmlns:a16="http://schemas.microsoft.com/office/drawing/2014/main" id="{F3F96850-79FD-435B-AF8F-2AD6C24AC76C}"/>
              </a:ext>
            </a:extLst>
          </p:cNvPr>
          <p:cNvSpPr txBox="1"/>
          <p:nvPr/>
        </p:nvSpPr>
        <p:spPr>
          <a:xfrm>
            <a:off x="307086" y="1608738"/>
            <a:ext cx="3262591" cy="452431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"name": “smart-bulb",</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“components”: [ {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该灯泡包含一个组件</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"id": "main",</a:t>
            </a:r>
          </a:p>
          <a:p>
            <a:pPr>
              <a:defRPr/>
            </a:pPr>
            <a:r>
              <a:rPr lang="en-US" altLang="zh-CN" sz="1600" baseline="0" dirty="0">
                <a:solidFill>
                  <a:srgbClr val="9BBB59">
                    <a:lumMod val="75000"/>
                  </a:srgbClr>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该灯泡包含的二个功能</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“capabilities”: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每个</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id</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对应具体的功能定义</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 "id": “switch"},</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 "id":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soundSensor</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"metadata":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dthName</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“Smart Bulb",</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dthNamespace</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smartthings</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6" name="文本框 5">
            <a:extLst>
              <a:ext uri="{FF2B5EF4-FFF2-40B4-BE49-F238E27FC236}">
                <a16:creationId xmlns:a16="http://schemas.microsoft.com/office/drawing/2014/main" id="{9308E916-C486-4C02-8C44-9DC3A25D2E20}"/>
              </a:ext>
            </a:extLst>
          </p:cNvPr>
          <p:cNvSpPr txBox="1"/>
          <p:nvPr/>
        </p:nvSpPr>
        <p:spPr>
          <a:xfrm>
            <a:off x="4056806" y="1608738"/>
            <a:ext cx="4811150" cy="427809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lvl="0">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id: switch,	</a:t>
            </a:r>
            <a:r>
              <a:rPr lang="en-US" altLang="zh-CN" sz="1600" baseline="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//ID</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由官方提供，共</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73</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种，与功能对应</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lvl="0">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name: Switch</a:t>
            </a:r>
          </a:p>
          <a:p>
            <a:pPr lvl="0">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attributes:	</a:t>
            </a:r>
            <a:r>
              <a:rPr lang="en-US" altLang="zh-CN" sz="1600" baseline="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定义属性</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lvl="0">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switch:</a:t>
            </a:r>
          </a:p>
          <a:p>
            <a:pPr lvl="0">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schema:</a:t>
            </a:r>
          </a:p>
          <a:p>
            <a:pPr lvl="0">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type: object</a:t>
            </a:r>
          </a:p>
          <a:p>
            <a:pPr lvl="0">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properties:</a:t>
            </a:r>
          </a:p>
          <a:p>
            <a:pPr lvl="0">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type: string</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enum</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600" baseline="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属性数据类型：数字，字符串</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 'off’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枚举（</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ENUM</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）等</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 ‘on’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开关有</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”on”</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”off”</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两种状态</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lvl="0">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required: ["value"]</a:t>
            </a:r>
          </a:p>
          <a:p>
            <a:pPr lvl="0">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commands: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定义命令</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lvl="0">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‘off’: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off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命令</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lvl="0">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arguments:[]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命令参数</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lvl="0">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‘on’: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on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命令</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lvl="0">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arguments:[]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命令参数</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右箭头 2"/>
          <p:cNvSpPr/>
          <p:nvPr/>
        </p:nvSpPr>
        <p:spPr bwMode="auto">
          <a:xfrm>
            <a:off x="2345629" y="3559618"/>
            <a:ext cx="1711175" cy="308634"/>
          </a:xfrm>
          <a:prstGeom prst="rightArrow">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sp>
        <p:nvSpPr>
          <p:cNvPr id="9" name="矩形 8"/>
          <p:cNvSpPr/>
          <p:nvPr/>
        </p:nvSpPr>
        <p:spPr>
          <a:xfrm>
            <a:off x="198055" y="6135511"/>
            <a:ext cx="3858749" cy="420628"/>
          </a:xfrm>
          <a:prstGeom prst="rect">
            <a:avLst/>
          </a:prstGeom>
        </p:spPr>
        <p:txBody>
          <a:bodyPr wrap="none">
            <a:spAutoFit/>
          </a:bodyPr>
          <a:lstStyle/>
          <a:p>
            <a:r>
              <a:rPr lang="zh-CN" altLang="en-US" sz="3200" dirty="0">
                <a:latin typeface="+mj-ea"/>
                <a:ea typeface="+mj-ea"/>
              </a:rPr>
              <a:t>注：平台无</a:t>
            </a:r>
            <a:r>
              <a:rPr lang="en-US" altLang="zh-CN" sz="3200" dirty="0">
                <a:latin typeface="+mj-ea"/>
                <a:ea typeface="+mj-ea"/>
              </a:rPr>
              <a:t>Light</a:t>
            </a:r>
            <a:r>
              <a:rPr lang="zh-CN" altLang="en-US" sz="3200" dirty="0">
                <a:latin typeface="+mj-ea"/>
                <a:ea typeface="+mj-ea"/>
              </a:rPr>
              <a:t>相关功能定义</a:t>
            </a:r>
          </a:p>
        </p:txBody>
      </p:sp>
    </p:spTree>
    <p:extLst>
      <p:ext uri="{BB962C8B-B14F-4D97-AF65-F5344CB8AC3E}">
        <p14:creationId xmlns:p14="http://schemas.microsoft.com/office/powerpoint/2010/main" val="3634452236"/>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zh-CN" altLang="en-US" dirty="0"/>
              <a:t>三端应用集成简化</a:t>
            </a:r>
          </a:p>
        </p:txBody>
      </p:sp>
      <p:sp>
        <p:nvSpPr>
          <p:cNvPr id="7" name="内容占位符 2"/>
          <p:cNvSpPr>
            <a:spLocks noGrp="1"/>
          </p:cNvSpPr>
          <p:nvPr>
            <p:ph idx="1"/>
          </p:nvPr>
        </p:nvSpPr>
        <p:spPr/>
        <p:txBody>
          <a:bodyPr/>
          <a:lstStyle/>
          <a:p>
            <a:r>
              <a:rPr lang="zh-CN" altLang="en-US"/>
              <a:t>智能灯泡设备模型定义</a:t>
            </a:r>
            <a:r>
              <a:rPr lang="en-US" altLang="zh-CN"/>
              <a:t>-IoT Studio</a:t>
            </a:r>
          </a:p>
          <a:p>
            <a:endParaRPr lang="en-US" altLang="zh-CN"/>
          </a:p>
          <a:p>
            <a:pPr lvl="1"/>
            <a:endParaRPr lang="en-US" altLang="zh-CN"/>
          </a:p>
          <a:p>
            <a:pPr lvl="1"/>
            <a:endParaRPr lang="en-US" altLang="zh-CN"/>
          </a:p>
          <a:p>
            <a:pPr lvl="1"/>
            <a:endParaRPr lang="en-US" altLang="zh-CN" dirty="0"/>
          </a:p>
        </p:txBody>
      </p:sp>
      <p:sp>
        <p:nvSpPr>
          <p:cNvPr id="5" name="文本框 4">
            <a:extLst>
              <a:ext uri="{FF2B5EF4-FFF2-40B4-BE49-F238E27FC236}">
                <a16:creationId xmlns:a16="http://schemas.microsoft.com/office/drawing/2014/main" id="{F3F96850-79FD-435B-AF8F-2AD6C24AC76C}"/>
              </a:ext>
            </a:extLst>
          </p:cNvPr>
          <p:cNvSpPr txBox="1"/>
          <p:nvPr/>
        </p:nvSpPr>
        <p:spPr>
          <a:xfrm>
            <a:off x="332287" y="1554507"/>
            <a:ext cx="4169375" cy="427809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“services”: [   {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服务定义</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outputData</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输出参数</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“identifier”: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turnOn</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标识符</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inputData</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输入参数</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“method”: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thing.service.turnOn</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对应方法名</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“name”: “</a:t>
            </a:r>
            <a:r>
              <a:rPr lang="zh-CN" altLang="en-US"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开灯</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名称</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“required”: false,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是否必须</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callType</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async</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调用方式</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同步</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异步</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“identifier”: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turnOff</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"method":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thing.service.turnOff</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9" name="文本框 8">
            <a:extLst>
              <a:ext uri="{FF2B5EF4-FFF2-40B4-BE49-F238E27FC236}">
                <a16:creationId xmlns:a16="http://schemas.microsoft.com/office/drawing/2014/main" id="{F3F96850-79FD-435B-AF8F-2AD6C24AC76C}"/>
              </a:ext>
            </a:extLst>
          </p:cNvPr>
          <p:cNvSpPr txBox="1"/>
          <p:nvPr/>
        </p:nvSpPr>
        <p:spPr>
          <a:xfrm>
            <a:off x="4642338" y="1554507"/>
            <a:ext cx="4225617" cy="501675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“properties”: [   {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属性定义</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“identifier”: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SoundValue</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标识符</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dataType</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数据类型</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“specs”: {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数据参数</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“unit”: “dB”,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单位</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“min”: “0.0”,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最小值</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unitName</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分贝</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单位名称</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“max”: “100.0”,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最大值</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“step”: “0.1”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步长</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“type”: “float”      },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类型</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“name”: “</a:t>
            </a:r>
            <a:r>
              <a:rPr lang="zh-CN" altLang="en-US"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声音强度</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属性名称</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accessMode</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“r”,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是否可读写</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“required”: false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是否必须</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     "identifier”: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LightLuxValue</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396239740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8216A-D039-46C0-9524-186C7A394C88}"/>
              </a:ext>
            </a:extLst>
          </p:cNvPr>
          <p:cNvSpPr>
            <a:spLocks noGrp="1"/>
          </p:cNvSpPr>
          <p:nvPr>
            <p:ph type="title"/>
          </p:nvPr>
        </p:nvSpPr>
        <p:spPr/>
        <p:txBody>
          <a:bodyPr/>
          <a:lstStyle/>
          <a:p>
            <a:r>
              <a:rPr lang="zh-CN" altLang="en-US" dirty="0"/>
              <a:t>三端应用集成简化</a:t>
            </a:r>
          </a:p>
        </p:txBody>
      </p:sp>
      <p:sp>
        <p:nvSpPr>
          <p:cNvPr id="7" name="内容占位符 2"/>
          <p:cNvSpPr>
            <a:spLocks noGrp="1"/>
          </p:cNvSpPr>
          <p:nvPr>
            <p:ph idx="1"/>
          </p:nvPr>
        </p:nvSpPr>
        <p:spPr/>
        <p:txBody>
          <a:bodyPr/>
          <a:lstStyle/>
          <a:p>
            <a:r>
              <a:rPr lang="zh-CN" altLang="en-US"/>
              <a:t>智能灯泡设备模型定义</a:t>
            </a:r>
            <a:r>
              <a:rPr lang="en-US" altLang="zh-CN"/>
              <a:t>-IoT Studio</a:t>
            </a:r>
          </a:p>
          <a:p>
            <a:endParaRPr lang="en-US" altLang="zh-CN"/>
          </a:p>
          <a:p>
            <a:pPr lvl="1"/>
            <a:endParaRPr lang="en-US" altLang="zh-CN"/>
          </a:p>
          <a:p>
            <a:pPr lvl="1"/>
            <a:endParaRPr lang="en-US" altLang="zh-CN"/>
          </a:p>
          <a:p>
            <a:pPr lvl="1"/>
            <a:endParaRPr lang="en-US" altLang="zh-CN" dirty="0"/>
          </a:p>
        </p:txBody>
      </p:sp>
      <p:sp>
        <p:nvSpPr>
          <p:cNvPr id="5" name="文本框 4">
            <a:extLst>
              <a:ext uri="{FF2B5EF4-FFF2-40B4-BE49-F238E27FC236}">
                <a16:creationId xmlns:a16="http://schemas.microsoft.com/office/drawing/2014/main" id="{F3F96850-79FD-435B-AF8F-2AD6C24AC76C}"/>
              </a:ext>
            </a:extLst>
          </p:cNvPr>
          <p:cNvSpPr txBox="1"/>
          <p:nvPr/>
        </p:nvSpPr>
        <p:spPr>
          <a:xfrm>
            <a:off x="834359" y="1471760"/>
            <a:ext cx="7475282" cy="526297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“events”: [ {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事件定义</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outputData</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输出参数，包含声音强度和光照数据</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“identifier”: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SoundValue</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声音强度数据</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dataType</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参数类型</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"specs": {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“type”: “float“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数据类型</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srgbClr val="9BBB59">
                    <a:lumMod val="75000"/>
                  </a:srgbClr>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“name”: “</a:t>
            </a:r>
            <a:r>
              <a:rPr lang="zh-CN" altLang="en-US"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声音强度</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参数名称</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“identifier”: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LightLuxValue</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光照数据</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“identifier”: “post”,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事件标识符</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“method”: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thing.event.property.post</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方法</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“name”: “post”,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事件名称</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srgbClr val="9BBB59">
                    <a:lumMod val="75000"/>
                  </a:srgbClr>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type”: “info”,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事件类型</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“required”: true,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是否必须</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desc</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属性上报</a:t>
            </a: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600" baseline="0" dirty="0">
                <a:solidFill>
                  <a:srgbClr val="9BBB59">
                    <a:lumMod val="75000"/>
                  </a:srgbClr>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事件描述</a:t>
            </a:r>
            <a:endParaRPr lang="en-US" altLang="zh-CN" sz="1600" baseline="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p>
          <a:p>
            <a:pPr>
              <a:defRPr/>
            </a:pPr>
            <a:r>
              <a:rPr lang="en-US" altLang="zh-CN" sz="1600" baseline="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p>
        </p:txBody>
      </p:sp>
    </p:spTree>
    <p:extLst>
      <p:ext uri="{BB962C8B-B14F-4D97-AF65-F5344CB8AC3E}">
        <p14:creationId xmlns:p14="http://schemas.microsoft.com/office/powerpoint/2010/main" val="1646241431"/>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三端应用集成简化</a:t>
            </a:r>
          </a:p>
        </p:txBody>
      </p:sp>
      <p:sp>
        <p:nvSpPr>
          <p:cNvPr id="3" name="内容占位符 2"/>
          <p:cNvSpPr>
            <a:spLocks noGrp="1"/>
          </p:cNvSpPr>
          <p:nvPr>
            <p:ph idx="1"/>
          </p:nvPr>
        </p:nvSpPr>
        <p:spPr/>
        <p:txBody>
          <a:bodyPr/>
          <a:lstStyle/>
          <a:p>
            <a:r>
              <a:rPr lang="zh-CN" altLang="en-US"/>
              <a:t>命名机制</a:t>
            </a:r>
            <a:endParaRPr lang="en-US" altLang="zh-CN"/>
          </a:p>
          <a:p>
            <a:pPr lvl="1"/>
            <a:r>
              <a:rPr lang="zh-CN" altLang="en-US"/>
              <a:t>物联网场景中，内容检索和命令推送是两个基本功能</a:t>
            </a:r>
            <a:endParaRPr lang="en-US" altLang="zh-CN"/>
          </a:p>
          <a:p>
            <a:pPr lvl="2"/>
            <a:r>
              <a:rPr lang="zh-CN" altLang="en-US"/>
              <a:t>例如，“查询现在的室内光线强度”</a:t>
            </a:r>
            <a:r>
              <a:rPr lang="en-US" altLang="zh-CN"/>
              <a:t>,</a:t>
            </a:r>
            <a:r>
              <a:rPr lang="zh-CN" altLang="en-US"/>
              <a:t>“打开客厅的灯”</a:t>
            </a:r>
            <a:endParaRPr lang="en-US" altLang="zh-CN"/>
          </a:p>
          <a:p>
            <a:pPr lvl="1"/>
            <a:r>
              <a:rPr lang="zh-CN" altLang="en-US"/>
              <a:t>命名机制是支持这两种操作的基础</a:t>
            </a:r>
            <a:endParaRPr lang="en-US" altLang="zh-CN"/>
          </a:p>
          <a:p>
            <a:pPr lvl="2"/>
            <a:r>
              <a:rPr lang="zh-CN" altLang="en-US"/>
              <a:t>需要通过名字找到对应的数据或设备 </a:t>
            </a:r>
            <a:endParaRPr lang="en-US" altLang="zh-CN"/>
          </a:p>
          <a:p>
            <a:pPr lvl="1"/>
            <a:r>
              <a:rPr lang="zh-CN" altLang="en-US"/>
              <a:t>传统基于</a:t>
            </a:r>
            <a:r>
              <a:rPr lang="en-US" altLang="zh-CN"/>
              <a:t>TCP/IP</a:t>
            </a:r>
            <a:r>
              <a:rPr lang="zh-CN" altLang="en-US"/>
              <a:t>的命名机制</a:t>
            </a:r>
            <a:endParaRPr lang="en-US" altLang="zh-CN"/>
          </a:p>
          <a:p>
            <a:pPr lvl="2"/>
            <a:r>
              <a:rPr lang="zh-CN" altLang="en-US"/>
              <a:t>为设备分配</a:t>
            </a:r>
            <a:r>
              <a:rPr lang="en-US" altLang="zh-CN"/>
              <a:t>IP</a:t>
            </a:r>
            <a:r>
              <a:rPr lang="zh-CN" altLang="en-US"/>
              <a:t>地址，建立从设备到</a:t>
            </a:r>
            <a:r>
              <a:rPr lang="en-US" altLang="zh-CN"/>
              <a:t>IP</a:t>
            </a:r>
            <a:r>
              <a:rPr lang="zh-CN" altLang="en-US"/>
              <a:t>，再到应用层名称等多层映射关系</a:t>
            </a:r>
            <a:endParaRPr lang="en-US" altLang="zh-CN"/>
          </a:p>
          <a:p>
            <a:pPr lvl="2"/>
            <a:r>
              <a:rPr lang="zh-CN" altLang="en-US"/>
              <a:t>问题</a:t>
            </a:r>
            <a:endParaRPr lang="en-US" altLang="zh-CN"/>
          </a:p>
          <a:p>
            <a:pPr lvl="3"/>
            <a:r>
              <a:rPr lang="zh-CN" altLang="en-US"/>
              <a:t>关注于建立设备之间的连接，需要实现复杂的协议栈，通过多层映射建立设备之间的连接</a:t>
            </a:r>
            <a:endParaRPr lang="en-US" altLang="zh-CN"/>
          </a:p>
          <a:p>
            <a:pPr lvl="3"/>
            <a:r>
              <a:rPr lang="zh-CN" altLang="en-US"/>
              <a:t>当用户需要操作多个设备时，需要和多个设备分别建立连接</a:t>
            </a:r>
            <a:endParaRPr lang="en-US" altLang="zh-CN"/>
          </a:p>
          <a:p>
            <a:pPr lvl="1"/>
            <a:endParaRPr lang="en-US" altLang="zh-CN" dirty="0"/>
          </a:p>
        </p:txBody>
      </p:sp>
    </p:spTree>
    <p:extLst>
      <p:ext uri="{BB962C8B-B14F-4D97-AF65-F5344CB8AC3E}">
        <p14:creationId xmlns:p14="http://schemas.microsoft.com/office/powerpoint/2010/main" val="4214934193"/>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6540331" y="2457546"/>
            <a:ext cx="2222669" cy="2257978"/>
            <a:chOff x="8558679" y="5057222"/>
            <a:chExt cx="3422587" cy="3601556"/>
          </a:xfrm>
        </p:grpSpPr>
        <p:pic>
          <p:nvPicPr>
            <p:cNvPr id="4" name="图片 3"/>
            <p:cNvPicPr>
              <a:picLocks noChangeAspect="1"/>
            </p:cNvPicPr>
            <p:nvPr/>
          </p:nvPicPr>
          <p:blipFill>
            <a:blip r:embed="rId3"/>
            <a:stretch>
              <a:fillRect/>
            </a:stretch>
          </p:blipFill>
          <p:spPr>
            <a:xfrm>
              <a:off x="8636000" y="5057222"/>
              <a:ext cx="3345266" cy="3601556"/>
            </a:xfrm>
            <a:prstGeom prst="rect">
              <a:avLst/>
            </a:prstGeom>
          </p:spPr>
        </p:pic>
        <p:pic>
          <p:nvPicPr>
            <p:cNvPr id="1026" name="Picture 2" descr="ç¸å³å¾ç"/>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58679" y="6137394"/>
              <a:ext cx="582144" cy="58214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ç¸å³å¾ç"/>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98205" y="5413109"/>
              <a:ext cx="582144" cy="582144"/>
            </a:xfrm>
            <a:prstGeom prst="rect">
              <a:avLst/>
            </a:prstGeom>
            <a:noFill/>
            <a:extLst>
              <a:ext uri="{909E8E84-426E-40DD-AFC4-6F175D3DCCD1}">
                <a14:hiddenFill xmlns:a14="http://schemas.microsoft.com/office/drawing/2010/main">
                  <a:solidFill>
                    <a:srgbClr val="FFFFFF"/>
                  </a:solidFill>
                </a14:hiddenFill>
              </a:ext>
            </a:extLst>
          </p:spPr>
        </p:pic>
      </p:grpSp>
      <p:pic>
        <p:nvPicPr>
          <p:cNvPr id="11" name="图片 10"/>
          <p:cNvPicPr>
            <a:picLocks noChangeAspect="1"/>
          </p:cNvPicPr>
          <p:nvPr/>
        </p:nvPicPr>
        <p:blipFill>
          <a:blip r:embed="rId5"/>
          <a:stretch>
            <a:fillRect/>
          </a:stretch>
        </p:blipFill>
        <p:spPr>
          <a:xfrm>
            <a:off x="2245231" y="4561840"/>
            <a:ext cx="4558937" cy="2236953"/>
          </a:xfrm>
          <a:prstGeom prst="rect">
            <a:avLst/>
          </a:prstGeom>
        </p:spPr>
      </p:pic>
      <p:sp>
        <p:nvSpPr>
          <p:cNvPr id="2" name="标题 1"/>
          <p:cNvSpPr>
            <a:spLocks noGrp="1"/>
          </p:cNvSpPr>
          <p:nvPr>
            <p:ph type="title"/>
          </p:nvPr>
        </p:nvSpPr>
        <p:spPr/>
        <p:txBody>
          <a:bodyPr/>
          <a:lstStyle/>
          <a:p>
            <a:r>
              <a:rPr lang="zh-CN" altLang="en-US" dirty="0"/>
              <a:t>三端应用集成简化</a:t>
            </a:r>
          </a:p>
        </p:txBody>
      </p:sp>
      <p:sp>
        <p:nvSpPr>
          <p:cNvPr id="3" name="内容占位符 2"/>
          <p:cNvSpPr>
            <a:spLocks noGrp="1"/>
          </p:cNvSpPr>
          <p:nvPr>
            <p:ph idx="1"/>
          </p:nvPr>
        </p:nvSpPr>
        <p:spPr/>
        <p:txBody>
          <a:bodyPr/>
          <a:lstStyle/>
          <a:p>
            <a:r>
              <a:rPr lang="zh-CN" altLang="en-US"/>
              <a:t>命名机制：基于</a:t>
            </a:r>
            <a:r>
              <a:rPr lang="en-US" altLang="zh-CN"/>
              <a:t>TCP/IP</a:t>
            </a:r>
            <a:r>
              <a:rPr lang="zh-CN" altLang="en-US"/>
              <a:t>的命名机制</a:t>
            </a:r>
            <a:endParaRPr lang="en-US" altLang="zh-CN"/>
          </a:p>
          <a:p>
            <a:pPr lvl="1"/>
            <a:r>
              <a:rPr lang="zh-CN" altLang="en-US"/>
              <a:t>一个简单的例子</a:t>
            </a:r>
            <a:endParaRPr lang="en-US" altLang="zh-CN"/>
          </a:p>
          <a:p>
            <a:pPr lvl="2"/>
            <a:r>
              <a:rPr lang="en-US" altLang="zh-CN"/>
              <a:t>APP: </a:t>
            </a:r>
            <a:r>
              <a:rPr lang="zh-CN" altLang="en-US"/>
              <a:t>“查询现在的卧室光强” “打开卧室的台灯”</a:t>
            </a:r>
          </a:p>
          <a:p>
            <a:pPr lvl="1"/>
            <a:r>
              <a:rPr lang="zh-CN" altLang="en-US"/>
              <a:t>操作过程</a:t>
            </a:r>
            <a:endParaRPr lang="en-US" altLang="zh-CN"/>
          </a:p>
          <a:p>
            <a:pPr lvl="2"/>
            <a:r>
              <a:rPr lang="zh-CN" altLang="en-US"/>
              <a:t>查询映射：“卧室光强”</a:t>
            </a:r>
            <a:r>
              <a:rPr lang="en-US" altLang="zh-CN"/>
              <a:t>-&gt;</a:t>
            </a:r>
            <a:r>
              <a:rPr lang="zh-CN" altLang="en-US"/>
              <a:t>光强计 </a:t>
            </a:r>
            <a:r>
              <a:rPr lang="en-US" altLang="zh-CN"/>
              <a:t>URI</a:t>
            </a:r>
          </a:p>
          <a:p>
            <a:pPr lvl="2"/>
            <a:r>
              <a:rPr lang="zh-CN" altLang="en-US"/>
              <a:t>连接到</a:t>
            </a:r>
            <a:r>
              <a:rPr lang="en-US" altLang="zh-CN"/>
              <a:t>AlexHome.com</a:t>
            </a:r>
            <a:r>
              <a:rPr lang="zh-CN" altLang="en-US"/>
              <a:t>服务上</a:t>
            </a:r>
            <a:endParaRPr lang="en-US" altLang="zh-CN"/>
          </a:p>
          <a:p>
            <a:pPr lvl="2"/>
            <a:r>
              <a:rPr lang="en-US" altLang="zh-CN"/>
              <a:t>DNS</a:t>
            </a:r>
            <a:r>
              <a:rPr lang="zh-CN" altLang="en-US"/>
              <a:t>查询</a:t>
            </a:r>
            <a:r>
              <a:rPr lang="en-US" altLang="zh-CN"/>
              <a:t>AlexHome.com</a:t>
            </a:r>
            <a:r>
              <a:rPr lang="zh-CN" altLang="en-US"/>
              <a:t>服务</a:t>
            </a:r>
            <a:r>
              <a:rPr lang="en-US" altLang="zh-CN"/>
              <a:t>IP</a:t>
            </a:r>
            <a:r>
              <a:rPr lang="zh-CN" altLang="en-US"/>
              <a:t>地址</a:t>
            </a:r>
            <a:endParaRPr lang="en-US" altLang="zh-CN"/>
          </a:p>
          <a:p>
            <a:pPr lvl="2"/>
            <a:r>
              <a:rPr lang="en-US" altLang="zh-CN"/>
              <a:t>DHCP</a:t>
            </a:r>
            <a:r>
              <a:rPr lang="zh-CN" altLang="en-US"/>
              <a:t>为所有设备分配</a:t>
            </a:r>
            <a:r>
              <a:rPr lang="en-US" altLang="zh-CN"/>
              <a:t>IP</a:t>
            </a:r>
            <a:r>
              <a:rPr lang="zh-CN" altLang="en-US"/>
              <a:t>地址</a:t>
            </a:r>
            <a:endParaRPr lang="en-US" altLang="zh-CN"/>
          </a:p>
          <a:p>
            <a:pPr lvl="2"/>
            <a:r>
              <a:rPr lang="zh-CN" altLang="en-US"/>
              <a:t>建立手机到光强计设备的连接</a:t>
            </a:r>
            <a:endParaRPr lang="en-US" altLang="zh-CN"/>
          </a:p>
          <a:p>
            <a:pPr lvl="1"/>
            <a:endParaRPr lang="en-US" altLang="zh-CN"/>
          </a:p>
          <a:p>
            <a:pPr lvl="1"/>
            <a:endParaRPr lang="zh-CN" altLang="en-US"/>
          </a:p>
          <a:p>
            <a:pPr lvl="1"/>
            <a:endParaRPr lang="en-US" altLang="zh-CN" dirty="0"/>
          </a:p>
        </p:txBody>
      </p:sp>
      <p:pic>
        <p:nvPicPr>
          <p:cNvPr id="5" name="图片 4"/>
          <p:cNvPicPr>
            <a:picLocks noChangeAspect="1"/>
          </p:cNvPicPr>
          <p:nvPr/>
        </p:nvPicPr>
        <p:blipFill>
          <a:blip r:embed="rId6"/>
          <a:stretch>
            <a:fillRect/>
          </a:stretch>
        </p:blipFill>
        <p:spPr>
          <a:xfrm>
            <a:off x="6373129" y="2318214"/>
            <a:ext cx="329183" cy="592529"/>
          </a:xfrm>
          <a:prstGeom prst="rect">
            <a:avLst/>
          </a:prstGeom>
        </p:spPr>
      </p:pic>
    </p:spTree>
    <p:extLst>
      <p:ext uri="{BB962C8B-B14F-4D97-AF65-F5344CB8AC3E}">
        <p14:creationId xmlns:p14="http://schemas.microsoft.com/office/powerpoint/2010/main" val="3469512649"/>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三端应用集成简化</a:t>
            </a:r>
          </a:p>
        </p:txBody>
      </p:sp>
      <p:sp>
        <p:nvSpPr>
          <p:cNvPr id="3" name="内容占位符 2"/>
          <p:cNvSpPr>
            <a:spLocks noGrp="1"/>
          </p:cNvSpPr>
          <p:nvPr>
            <p:ph idx="1"/>
          </p:nvPr>
        </p:nvSpPr>
        <p:spPr/>
        <p:txBody>
          <a:bodyPr/>
          <a:lstStyle/>
          <a:p>
            <a:r>
              <a:rPr lang="zh-CN" altLang="en-US"/>
              <a:t>命名机制：基于</a:t>
            </a:r>
            <a:r>
              <a:rPr lang="en-US" altLang="zh-CN"/>
              <a:t>NDN</a:t>
            </a:r>
            <a:r>
              <a:rPr lang="zh-CN" altLang="en-US"/>
              <a:t>的命名机制</a:t>
            </a:r>
            <a:endParaRPr lang="en-US" altLang="zh-CN"/>
          </a:p>
          <a:p>
            <a:pPr lvl="1"/>
            <a:r>
              <a:rPr lang="en-US" altLang="zh-CN"/>
              <a:t>NDN: Name Data Networking</a:t>
            </a:r>
          </a:p>
          <a:p>
            <a:pPr lvl="2"/>
            <a:r>
              <a:rPr lang="zh-CN" altLang="zh-CN"/>
              <a:t>以</a:t>
            </a:r>
            <a:r>
              <a:rPr lang="zh-CN" altLang="en-US"/>
              <a:t>数据</a:t>
            </a:r>
            <a:r>
              <a:rPr lang="zh-CN" altLang="zh-CN"/>
              <a:t>为中心</a:t>
            </a:r>
            <a:r>
              <a:rPr lang="zh-CN" altLang="en-US"/>
              <a:t>的网络</a:t>
            </a:r>
            <a:endParaRPr lang="en-US" altLang="zh-CN"/>
          </a:p>
          <a:p>
            <a:pPr lvl="2"/>
            <a:r>
              <a:rPr lang="zh-CN" altLang="en-US"/>
              <a:t>与位置无关，直接通过名字获取数据</a:t>
            </a:r>
            <a:endParaRPr lang="en-US" altLang="zh-CN"/>
          </a:p>
          <a:p>
            <a:pPr lvl="2"/>
            <a:r>
              <a:rPr lang="zh-CN" altLang="en-US"/>
              <a:t>基于两种数据包通信，</a:t>
            </a:r>
            <a:r>
              <a:rPr lang="zh-CN" altLang="zh-CN"/>
              <a:t> “兴趣包（</a:t>
            </a:r>
            <a:r>
              <a:rPr lang="en-US" altLang="zh-CN"/>
              <a:t>Interest</a:t>
            </a:r>
            <a:r>
              <a:rPr lang="zh-CN" altLang="zh-CN"/>
              <a:t>）”和“数据包（</a:t>
            </a:r>
            <a:r>
              <a:rPr lang="en-US" altLang="zh-CN"/>
              <a:t>Data</a:t>
            </a:r>
            <a:r>
              <a:rPr lang="zh-CN" altLang="zh-CN"/>
              <a:t>）”，分别用于请求和传送内容</a:t>
            </a:r>
            <a:endParaRPr lang="en-US" altLang="zh-CN"/>
          </a:p>
          <a:p>
            <a:pPr lvl="3"/>
            <a:r>
              <a:rPr lang="zh-CN" altLang="en-US"/>
              <a:t>兴趣包：请求的数据名称，或希望执行的操作（作为名称的一部分）</a:t>
            </a:r>
            <a:endParaRPr lang="en-US" altLang="zh-CN"/>
          </a:p>
          <a:p>
            <a:pPr lvl="3"/>
            <a:r>
              <a:rPr lang="zh-CN" altLang="en-US"/>
              <a:t>数据包：回复的数据内容，或对操作执行的</a:t>
            </a:r>
            <a:r>
              <a:rPr lang="en-US" altLang="zh-CN"/>
              <a:t>ACK</a:t>
            </a:r>
          </a:p>
          <a:p>
            <a:pPr lvl="2"/>
            <a:endParaRPr lang="en-US" altLang="zh-CN"/>
          </a:p>
          <a:p>
            <a:pPr lvl="1"/>
            <a:endParaRPr lang="en-US" altLang="zh-CN"/>
          </a:p>
          <a:p>
            <a:pPr lvl="1"/>
            <a:endParaRPr lang="zh-CN" altLang="en-US"/>
          </a:p>
          <a:p>
            <a:endParaRPr lang="en-US" altLang="zh-CN"/>
          </a:p>
          <a:p>
            <a:endParaRPr lang="en-US" altLang="zh-CN" dirty="0"/>
          </a:p>
        </p:txBody>
      </p:sp>
      <p:pic>
        <p:nvPicPr>
          <p:cNvPr id="4" name="图片 3"/>
          <p:cNvPicPr>
            <a:picLocks noChangeAspect="1"/>
          </p:cNvPicPr>
          <p:nvPr/>
        </p:nvPicPr>
        <p:blipFill>
          <a:blip r:embed="rId3"/>
          <a:stretch>
            <a:fillRect/>
          </a:stretch>
        </p:blipFill>
        <p:spPr>
          <a:xfrm>
            <a:off x="2133600" y="4433027"/>
            <a:ext cx="4876800" cy="1516380"/>
          </a:xfrm>
          <a:prstGeom prst="rect">
            <a:avLst/>
          </a:prstGeom>
        </p:spPr>
      </p:pic>
    </p:spTree>
    <p:extLst>
      <p:ext uri="{BB962C8B-B14F-4D97-AF65-F5344CB8AC3E}">
        <p14:creationId xmlns:p14="http://schemas.microsoft.com/office/powerpoint/2010/main" val="4028632229"/>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三端应用集成简化</a:t>
            </a:r>
          </a:p>
        </p:txBody>
      </p:sp>
      <p:sp>
        <p:nvSpPr>
          <p:cNvPr id="3" name="内容占位符 2"/>
          <p:cNvSpPr>
            <a:spLocks noGrp="1"/>
          </p:cNvSpPr>
          <p:nvPr>
            <p:ph idx="1"/>
          </p:nvPr>
        </p:nvSpPr>
        <p:spPr/>
        <p:txBody>
          <a:bodyPr/>
          <a:lstStyle/>
          <a:p>
            <a:pPr>
              <a:spcBef>
                <a:spcPts val="0"/>
              </a:spcBef>
            </a:pPr>
            <a:r>
              <a:rPr lang="zh-CN" altLang="en-US" dirty="0"/>
              <a:t>命名机制：基于</a:t>
            </a:r>
            <a:r>
              <a:rPr lang="en-US" altLang="zh-CN" dirty="0"/>
              <a:t>NDN</a:t>
            </a:r>
            <a:r>
              <a:rPr lang="zh-CN" altLang="en-US" dirty="0"/>
              <a:t>的命名机制</a:t>
            </a:r>
            <a:endParaRPr lang="en-US" altLang="zh-CN" dirty="0"/>
          </a:p>
          <a:p>
            <a:pPr lvl="1">
              <a:spcBef>
                <a:spcPts val="0"/>
              </a:spcBef>
            </a:pPr>
            <a:r>
              <a:rPr lang="zh-CN" altLang="en-US" dirty="0"/>
              <a:t>分层命名机制</a:t>
            </a:r>
            <a:endParaRPr lang="en-US" altLang="zh-CN" dirty="0"/>
          </a:p>
          <a:p>
            <a:pPr lvl="2">
              <a:spcBef>
                <a:spcPts val="0"/>
              </a:spcBef>
            </a:pPr>
            <a:r>
              <a:rPr lang="zh-CN" altLang="en-US" dirty="0"/>
              <a:t>按照约定好的命名规则对数据对象命名</a:t>
            </a:r>
            <a:endParaRPr lang="en-US" altLang="zh-CN" dirty="0"/>
          </a:p>
          <a:p>
            <a:pPr lvl="2">
              <a:spcBef>
                <a:spcPts val="0"/>
              </a:spcBef>
            </a:pPr>
            <a:r>
              <a:rPr lang="zh-CN" altLang="en-US" dirty="0"/>
              <a:t>常见的命名规则：</a:t>
            </a:r>
            <a:r>
              <a:rPr lang="en-US" altLang="zh-CN" dirty="0"/>
              <a:t>/location/fixture-namespace/command/timestamp</a:t>
            </a:r>
          </a:p>
          <a:p>
            <a:pPr lvl="3">
              <a:spcBef>
                <a:spcPts val="0"/>
              </a:spcBef>
            </a:pPr>
            <a:r>
              <a:rPr lang="zh-CN" altLang="en-US" dirty="0"/>
              <a:t>例如，</a:t>
            </a:r>
            <a:r>
              <a:rPr lang="en-US" altLang="zh-CN" dirty="0"/>
              <a:t>/</a:t>
            </a:r>
            <a:r>
              <a:rPr lang="en-US" altLang="zh-CN" dirty="0" err="1"/>
              <a:t>MyHome</a:t>
            </a:r>
            <a:r>
              <a:rPr lang="en-US" altLang="zh-CN" dirty="0"/>
              <a:t>/Bedroom/Lighting/sensing/Intense/202112311920</a:t>
            </a:r>
          </a:p>
          <a:p>
            <a:pPr lvl="1">
              <a:spcBef>
                <a:spcPts val="0"/>
              </a:spcBef>
            </a:pPr>
            <a:r>
              <a:rPr lang="zh-CN" altLang="en-US" dirty="0"/>
              <a:t>数据高度可聚合</a:t>
            </a:r>
            <a:endParaRPr lang="en-US" altLang="zh-CN" dirty="0"/>
          </a:p>
          <a:p>
            <a:pPr lvl="2">
              <a:spcBef>
                <a:spcPts val="0"/>
              </a:spcBef>
            </a:pPr>
            <a:r>
              <a:rPr lang="zh-CN" altLang="en-US" dirty="0"/>
              <a:t>收集所有光强读数：</a:t>
            </a:r>
            <a:r>
              <a:rPr lang="en-US" altLang="zh-CN" dirty="0"/>
              <a:t>/</a:t>
            </a:r>
            <a:r>
              <a:rPr lang="en-US" altLang="zh-CN" dirty="0" err="1"/>
              <a:t>MyHome</a:t>
            </a:r>
            <a:r>
              <a:rPr lang="en-US" altLang="zh-CN" dirty="0"/>
              <a:t>/Bedroom/Lighting/sensing/Intense/</a:t>
            </a:r>
          </a:p>
          <a:p>
            <a:pPr lvl="1">
              <a:spcBef>
                <a:spcPts val="0"/>
              </a:spcBef>
            </a:pPr>
            <a:r>
              <a:rPr lang="zh-CN" altLang="en-US" dirty="0"/>
              <a:t>新设备的加入</a:t>
            </a:r>
            <a:endParaRPr lang="en-US" altLang="zh-CN" dirty="0"/>
          </a:p>
          <a:p>
            <a:pPr lvl="2">
              <a:spcBef>
                <a:spcPts val="0"/>
              </a:spcBef>
            </a:pPr>
            <a:r>
              <a:rPr lang="zh-CN" altLang="en-US" dirty="0"/>
              <a:t>新设备可以通过兴趣包来告诉配置管理器其设备标识和功能</a:t>
            </a:r>
            <a:endParaRPr lang="en-US" altLang="zh-CN" dirty="0"/>
          </a:p>
          <a:p>
            <a:pPr lvl="3">
              <a:spcBef>
                <a:spcPts val="0"/>
              </a:spcBef>
            </a:pPr>
            <a:r>
              <a:rPr lang="zh-CN" altLang="zh-CN" dirty="0"/>
              <a:t>例如，“</a:t>
            </a:r>
            <a:r>
              <a:rPr lang="en-US" altLang="zh-CN" dirty="0"/>
              <a:t>/ local / discovery / lighting / serial = 123456”</a:t>
            </a:r>
          </a:p>
          <a:p>
            <a:pPr lvl="2">
              <a:spcBef>
                <a:spcPts val="0"/>
              </a:spcBef>
            </a:pPr>
            <a:r>
              <a:rPr lang="zh-CN" altLang="en-US" dirty="0"/>
              <a:t>配置管理器进一步配置其属性，包括</a:t>
            </a:r>
            <a:r>
              <a:rPr lang="en-US" altLang="zh-CN" dirty="0"/>
              <a:t>ID</a:t>
            </a:r>
            <a:r>
              <a:rPr lang="zh-CN" altLang="en-US" dirty="0"/>
              <a:t>，</a:t>
            </a:r>
            <a:r>
              <a:rPr lang="en-US" altLang="zh-CN" dirty="0"/>
              <a:t>NDN</a:t>
            </a:r>
            <a:r>
              <a:rPr lang="zh-CN" altLang="en-US" dirty="0"/>
              <a:t>名称前缀，功能集合等</a:t>
            </a:r>
            <a:endParaRPr lang="en-US" altLang="zh-CN" dirty="0"/>
          </a:p>
          <a:p>
            <a:pPr lvl="3">
              <a:spcBef>
                <a:spcPts val="0"/>
              </a:spcBef>
            </a:pPr>
            <a:r>
              <a:rPr lang="en-US" altLang="zh-CN" dirty="0"/>
              <a:t>ID: “/</a:t>
            </a:r>
            <a:r>
              <a:rPr lang="en-US" altLang="zh-CN" dirty="0" err="1"/>
              <a:t>MyHome</a:t>
            </a:r>
            <a:r>
              <a:rPr lang="en-US" altLang="zh-CN" dirty="0"/>
              <a:t>/Bedroom/_fixtures/123456”</a:t>
            </a:r>
          </a:p>
          <a:p>
            <a:pPr lvl="3">
              <a:spcBef>
                <a:spcPts val="0"/>
              </a:spcBef>
            </a:pPr>
            <a:r>
              <a:rPr lang="zh-CN" altLang="en-US" dirty="0"/>
              <a:t>关联事物：“</a:t>
            </a:r>
            <a:r>
              <a:rPr lang="en-US" altLang="zh-CN" dirty="0"/>
              <a:t>/</a:t>
            </a:r>
            <a:r>
              <a:rPr lang="en-US" altLang="zh-CN" dirty="0" err="1"/>
              <a:t>MyHome</a:t>
            </a:r>
            <a:r>
              <a:rPr lang="en-US" altLang="zh-CN" dirty="0"/>
              <a:t>/Bedroom/ Lighting/</a:t>
            </a:r>
            <a:r>
              <a:rPr lang="en-US" altLang="zh-CN" dirty="0" err="1"/>
              <a:t>TableLamp</a:t>
            </a:r>
            <a:r>
              <a:rPr lang="zh-CN" altLang="en-US" dirty="0"/>
              <a:t>”</a:t>
            </a:r>
            <a:endParaRPr lang="en-US" altLang="zh-CN" dirty="0"/>
          </a:p>
          <a:p>
            <a:pPr lvl="3">
              <a:spcBef>
                <a:spcPts val="0"/>
              </a:spcBef>
            </a:pPr>
            <a:r>
              <a:rPr lang="zh-CN" altLang="en-US" dirty="0"/>
              <a:t>功能集合：</a:t>
            </a:r>
            <a:r>
              <a:rPr lang="zh-CN" altLang="zh-CN" dirty="0"/>
              <a:t> “</a:t>
            </a:r>
            <a:r>
              <a:rPr lang="en-US" altLang="zh-CN" dirty="0"/>
              <a:t>.../action/ON</a:t>
            </a:r>
            <a:r>
              <a:rPr lang="zh-CN" altLang="zh-CN" dirty="0"/>
              <a:t>”，“</a:t>
            </a:r>
            <a:r>
              <a:rPr lang="en-US" altLang="zh-CN" dirty="0"/>
              <a:t>.../action/OFF”</a:t>
            </a:r>
          </a:p>
          <a:p>
            <a:pPr lvl="1">
              <a:spcBef>
                <a:spcPts val="0"/>
              </a:spcBef>
            </a:pPr>
            <a:endParaRPr lang="en-US" altLang="zh-CN" dirty="0"/>
          </a:p>
          <a:p>
            <a:pPr lvl="1">
              <a:spcBef>
                <a:spcPts val="0"/>
              </a:spcBef>
            </a:pPr>
            <a:endParaRPr lang="zh-CN" altLang="en-US" dirty="0"/>
          </a:p>
          <a:p>
            <a:pPr>
              <a:spcBef>
                <a:spcPts val="0"/>
              </a:spcBef>
            </a:pPr>
            <a:endParaRPr lang="en-US" altLang="zh-CN" dirty="0"/>
          </a:p>
          <a:p>
            <a:pPr>
              <a:spcBef>
                <a:spcPts val="0"/>
              </a:spcBef>
            </a:pPr>
            <a:endParaRPr lang="en-US" altLang="zh-CN" dirty="0"/>
          </a:p>
        </p:txBody>
      </p:sp>
    </p:spTree>
    <p:extLst>
      <p:ext uri="{BB962C8B-B14F-4D97-AF65-F5344CB8AC3E}">
        <p14:creationId xmlns:p14="http://schemas.microsoft.com/office/powerpoint/2010/main" val="2420850026"/>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三端应用集成简化</a:t>
            </a:r>
          </a:p>
        </p:txBody>
      </p:sp>
      <p:sp>
        <p:nvSpPr>
          <p:cNvPr id="3" name="内容占位符 2"/>
          <p:cNvSpPr>
            <a:spLocks noGrp="1"/>
          </p:cNvSpPr>
          <p:nvPr>
            <p:ph idx="1"/>
          </p:nvPr>
        </p:nvSpPr>
        <p:spPr/>
        <p:txBody>
          <a:bodyPr/>
          <a:lstStyle/>
          <a:p>
            <a:r>
              <a:rPr lang="zh-CN" altLang="en-US"/>
              <a:t>命名机制：基于</a:t>
            </a:r>
            <a:r>
              <a:rPr lang="en-US" altLang="zh-CN"/>
              <a:t>NDN</a:t>
            </a:r>
            <a:r>
              <a:rPr lang="zh-CN" altLang="en-US"/>
              <a:t>的命名机制</a:t>
            </a:r>
            <a:endParaRPr lang="en-US" altLang="zh-CN"/>
          </a:p>
          <a:p>
            <a:pPr lvl="1"/>
            <a:r>
              <a:rPr lang="zh-CN" altLang="en-US"/>
              <a:t>一个简单的例子</a:t>
            </a:r>
            <a:endParaRPr lang="en-US" altLang="zh-CN" dirty="0"/>
          </a:p>
        </p:txBody>
      </p:sp>
      <p:pic>
        <p:nvPicPr>
          <p:cNvPr id="4" name="图片 3"/>
          <p:cNvPicPr>
            <a:picLocks noChangeAspect="1"/>
          </p:cNvPicPr>
          <p:nvPr/>
        </p:nvPicPr>
        <p:blipFill>
          <a:blip r:embed="rId3"/>
          <a:stretch>
            <a:fillRect/>
          </a:stretch>
        </p:blipFill>
        <p:spPr>
          <a:xfrm>
            <a:off x="4610100" y="2838239"/>
            <a:ext cx="3345266" cy="3601556"/>
          </a:xfrm>
          <a:prstGeom prst="rect">
            <a:avLst/>
          </a:prstGeom>
        </p:spPr>
      </p:pic>
      <p:pic>
        <p:nvPicPr>
          <p:cNvPr id="5" name="图片 4"/>
          <p:cNvPicPr>
            <a:picLocks noChangeAspect="1"/>
          </p:cNvPicPr>
          <p:nvPr/>
        </p:nvPicPr>
        <p:blipFill>
          <a:blip r:embed="rId4"/>
          <a:stretch>
            <a:fillRect/>
          </a:stretch>
        </p:blipFill>
        <p:spPr>
          <a:xfrm>
            <a:off x="457200" y="2085022"/>
            <a:ext cx="714375" cy="1285875"/>
          </a:xfrm>
          <a:prstGeom prst="rect">
            <a:avLst/>
          </a:prstGeom>
        </p:spPr>
      </p:pic>
      <p:sp>
        <p:nvSpPr>
          <p:cNvPr id="6" name="文本框 5"/>
          <p:cNvSpPr txBox="1"/>
          <p:nvPr/>
        </p:nvSpPr>
        <p:spPr>
          <a:xfrm>
            <a:off x="748546" y="3576539"/>
            <a:ext cx="2811988" cy="379591"/>
          </a:xfrm>
          <a:prstGeom prst="rect">
            <a:avLst/>
          </a:prstGeom>
          <a:noFill/>
        </p:spPr>
        <p:txBody>
          <a:bodyPr wrap="none" rtlCol="0">
            <a:spAutoFit/>
          </a:bodyPr>
          <a:lstStyle/>
          <a:p>
            <a:r>
              <a:rPr lang="zh-CN" altLang="en-US" sz="2800" dirty="0">
                <a:solidFill>
                  <a:srgbClr val="DB7622"/>
                </a:solidFill>
                <a:latin typeface="微软雅黑"/>
                <a:ea typeface="微软雅黑"/>
              </a:rPr>
              <a:t>“查询现在的室内光强”</a:t>
            </a:r>
          </a:p>
        </p:txBody>
      </p:sp>
      <p:sp>
        <p:nvSpPr>
          <p:cNvPr id="7" name="文本框 6"/>
          <p:cNvSpPr txBox="1"/>
          <p:nvPr/>
        </p:nvSpPr>
        <p:spPr>
          <a:xfrm>
            <a:off x="5772305" y="1592728"/>
            <a:ext cx="2334293" cy="379591"/>
          </a:xfrm>
          <a:prstGeom prst="rect">
            <a:avLst/>
          </a:prstGeom>
          <a:noFill/>
        </p:spPr>
        <p:txBody>
          <a:bodyPr wrap="none" rtlCol="0">
            <a:spAutoFit/>
          </a:bodyPr>
          <a:lstStyle/>
          <a:p>
            <a:r>
              <a:rPr lang="zh-CN" altLang="en-US" sz="2800" dirty="0">
                <a:solidFill>
                  <a:srgbClr val="678A64"/>
                </a:solidFill>
                <a:latin typeface="微软雅黑"/>
                <a:ea typeface="微软雅黑"/>
              </a:rPr>
              <a:t>“打开卧室的台灯”</a:t>
            </a:r>
          </a:p>
        </p:txBody>
      </p:sp>
      <p:sp>
        <p:nvSpPr>
          <p:cNvPr id="9" name="左箭头标注 8"/>
          <p:cNvSpPr/>
          <p:nvPr/>
        </p:nvSpPr>
        <p:spPr bwMode="auto">
          <a:xfrm rot="10800000">
            <a:off x="170323" y="4023746"/>
            <a:ext cx="4439773" cy="335617"/>
          </a:xfrm>
          <a:prstGeom prst="leftArrowCallout">
            <a:avLst>
              <a:gd name="adj1" fmla="val 25000"/>
              <a:gd name="adj2" fmla="val 25000"/>
              <a:gd name="adj3" fmla="val 25000"/>
              <a:gd name="adj4" fmla="val 94313"/>
            </a:avLst>
          </a:prstGeom>
          <a:solidFill>
            <a:srgbClr val="DB7622"/>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spcBef>
                <a:spcPct val="50000"/>
              </a:spcBef>
              <a:buClr>
                <a:prstClr val="white"/>
              </a:buClr>
              <a:buSzPct val="100000"/>
            </a:pPr>
            <a:endParaRPr lang="zh-CN" altLang="en-US">
              <a:solidFill>
                <a:prstClr val="black"/>
              </a:solidFill>
              <a:effectLst>
                <a:outerShdw blurRad="38100" dist="38100" dir="2700000" algn="tl">
                  <a:srgbClr val="000000">
                    <a:alpha val="43137"/>
                  </a:srgbClr>
                </a:outerShdw>
              </a:effectLst>
              <a:latin typeface="Arial" charset="0"/>
            </a:endParaRPr>
          </a:p>
        </p:txBody>
      </p:sp>
      <p:sp>
        <p:nvSpPr>
          <p:cNvPr id="8" name="文本框 7"/>
          <p:cNvSpPr txBox="1"/>
          <p:nvPr/>
        </p:nvSpPr>
        <p:spPr>
          <a:xfrm>
            <a:off x="154263" y="4023746"/>
            <a:ext cx="4312399" cy="297517"/>
          </a:xfrm>
          <a:prstGeom prst="rect">
            <a:avLst/>
          </a:prstGeom>
          <a:noFill/>
        </p:spPr>
        <p:txBody>
          <a:bodyPr wrap="none" rtlCol="0">
            <a:spAutoFit/>
          </a:bodyPr>
          <a:lstStyle/>
          <a:p>
            <a:r>
              <a:rPr lang="en-US" altLang="zh-CN" sz="2000" b="1" dirty="0">
                <a:solidFill>
                  <a:prstClr val="white"/>
                </a:solidFill>
                <a:latin typeface="微软雅黑"/>
                <a:ea typeface="微软雅黑"/>
              </a:rPr>
              <a:t>INTREST(/</a:t>
            </a:r>
            <a:r>
              <a:rPr lang="en-US" altLang="zh-CN" sz="2000" b="1" dirty="0" err="1">
                <a:solidFill>
                  <a:prstClr val="white"/>
                </a:solidFill>
                <a:latin typeface="微软雅黑"/>
                <a:ea typeface="微软雅黑"/>
              </a:rPr>
              <a:t>MyHome</a:t>
            </a:r>
            <a:r>
              <a:rPr lang="en-US" altLang="zh-CN" sz="2000" b="1" dirty="0">
                <a:solidFill>
                  <a:prstClr val="white"/>
                </a:solidFill>
                <a:latin typeface="微软雅黑"/>
                <a:ea typeface="微软雅黑"/>
              </a:rPr>
              <a:t>/Bedroom/Lighting/Intense)</a:t>
            </a:r>
            <a:endParaRPr lang="zh-CN" altLang="en-US" sz="2000" b="1" dirty="0">
              <a:solidFill>
                <a:prstClr val="white"/>
              </a:solidFill>
              <a:latin typeface="微软雅黑"/>
              <a:ea typeface="微软雅黑"/>
            </a:endParaRPr>
          </a:p>
        </p:txBody>
      </p:sp>
      <p:pic>
        <p:nvPicPr>
          <p:cNvPr id="1026" name="Picture 2" descr="ç¸å³å¾ç"/>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32779" y="3918411"/>
            <a:ext cx="582144" cy="58214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ç¸å³å¾ç"/>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72305" y="3194126"/>
            <a:ext cx="582144" cy="582144"/>
          </a:xfrm>
          <a:prstGeom prst="rect">
            <a:avLst/>
          </a:prstGeom>
          <a:noFill/>
          <a:extLst>
            <a:ext uri="{909E8E84-426E-40DD-AFC4-6F175D3DCCD1}">
              <a14:hiddenFill xmlns:a14="http://schemas.microsoft.com/office/drawing/2010/main">
                <a:solidFill>
                  <a:srgbClr val="FFFFFF"/>
                </a:solidFill>
              </a14:hiddenFill>
            </a:ext>
          </a:extLst>
        </p:spPr>
      </p:pic>
      <p:sp>
        <p:nvSpPr>
          <p:cNvPr id="15" name="左箭头标注 14"/>
          <p:cNvSpPr/>
          <p:nvPr/>
        </p:nvSpPr>
        <p:spPr bwMode="auto">
          <a:xfrm>
            <a:off x="1251503" y="4623079"/>
            <a:ext cx="2848117" cy="297517"/>
          </a:xfrm>
          <a:prstGeom prst="leftArrowCallout">
            <a:avLst>
              <a:gd name="adj1" fmla="val 25000"/>
              <a:gd name="adj2" fmla="val 25000"/>
              <a:gd name="adj3" fmla="val 25000"/>
              <a:gd name="adj4" fmla="val 94313"/>
            </a:avLst>
          </a:prstGeom>
          <a:solidFill>
            <a:srgbClr val="DB7622"/>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spcBef>
                <a:spcPct val="50000"/>
              </a:spcBef>
              <a:buClr>
                <a:prstClr val="white"/>
              </a:buClr>
              <a:buSzPct val="100000"/>
            </a:pPr>
            <a:endParaRPr lang="zh-CN" altLang="en-US">
              <a:solidFill>
                <a:prstClr val="black"/>
              </a:solidFill>
              <a:effectLst>
                <a:outerShdw blurRad="38100" dist="38100" dir="2700000" algn="tl">
                  <a:srgbClr val="000000">
                    <a:alpha val="43137"/>
                  </a:srgbClr>
                </a:outerShdw>
              </a:effectLst>
              <a:latin typeface="Arial" charset="0"/>
            </a:endParaRPr>
          </a:p>
        </p:txBody>
      </p:sp>
      <p:sp>
        <p:nvSpPr>
          <p:cNvPr id="16" name="文本框 15"/>
          <p:cNvSpPr txBox="1"/>
          <p:nvPr/>
        </p:nvSpPr>
        <p:spPr>
          <a:xfrm>
            <a:off x="1522311" y="4586899"/>
            <a:ext cx="2577309" cy="297517"/>
          </a:xfrm>
          <a:prstGeom prst="rect">
            <a:avLst/>
          </a:prstGeom>
          <a:noFill/>
        </p:spPr>
        <p:txBody>
          <a:bodyPr wrap="none" rtlCol="0">
            <a:spAutoFit/>
          </a:bodyPr>
          <a:lstStyle/>
          <a:p>
            <a:r>
              <a:rPr lang="en-US" altLang="zh-CN" sz="2000" b="1" dirty="0">
                <a:solidFill>
                  <a:prstClr val="white"/>
                </a:solidFill>
                <a:latin typeface="微软雅黑"/>
                <a:ea typeface="微软雅黑"/>
              </a:rPr>
              <a:t>DATA(</a:t>
            </a:r>
            <a:r>
              <a:rPr lang="en-US" altLang="zh-CN" sz="2000" b="1" dirty="0" err="1">
                <a:solidFill>
                  <a:prstClr val="white"/>
                </a:solidFill>
                <a:latin typeface="微软雅黑"/>
                <a:ea typeface="微软雅黑"/>
              </a:rPr>
              <a:t>name|data|signature</a:t>
            </a:r>
            <a:r>
              <a:rPr lang="en-US" altLang="zh-CN" sz="2000" b="1" dirty="0">
                <a:solidFill>
                  <a:prstClr val="white"/>
                </a:solidFill>
                <a:latin typeface="微软雅黑"/>
                <a:ea typeface="微软雅黑"/>
              </a:rPr>
              <a:t>)</a:t>
            </a:r>
            <a:endParaRPr lang="zh-CN" altLang="en-US" sz="2000" b="1" dirty="0">
              <a:solidFill>
                <a:prstClr val="white"/>
              </a:solidFill>
              <a:latin typeface="微软雅黑"/>
              <a:ea typeface="微软雅黑"/>
            </a:endParaRPr>
          </a:p>
        </p:txBody>
      </p:sp>
      <p:sp>
        <p:nvSpPr>
          <p:cNvPr id="18" name="左箭头标注 17"/>
          <p:cNvSpPr/>
          <p:nvPr/>
        </p:nvSpPr>
        <p:spPr bwMode="auto">
          <a:xfrm rot="10800000">
            <a:off x="3352800" y="2046919"/>
            <a:ext cx="5553634" cy="363705"/>
          </a:xfrm>
          <a:prstGeom prst="leftArrowCallout">
            <a:avLst>
              <a:gd name="adj1" fmla="val 25000"/>
              <a:gd name="adj2" fmla="val 25000"/>
              <a:gd name="adj3" fmla="val 25000"/>
              <a:gd name="adj4" fmla="val 96544"/>
            </a:avLst>
          </a:prstGeom>
          <a:solidFill>
            <a:srgbClr val="678A64"/>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spcBef>
                <a:spcPct val="50000"/>
              </a:spcBef>
              <a:buClr>
                <a:prstClr val="white"/>
              </a:buClr>
              <a:buSzPct val="100000"/>
            </a:pPr>
            <a:endParaRPr lang="zh-CN" altLang="en-US">
              <a:solidFill>
                <a:prstClr val="black"/>
              </a:solidFill>
              <a:effectLst>
                <a:outerShdw blurRad="38100" dist="38100" dir="2700000" algn="tl">
                  <a:srgbClr val="000000">
                    <a:alpha val="43137"/>
                  </a:srgbClr>
                </a:outerShdw>
              </a:effectLst>
              <a:latin typeface="Arial" charset="0"/>
            </a:endParaRPr>
          </a:p>
        </p:txBody>
      </p:sp>
      <p:sp>
        <p:nvSpPr>
          <p:cNvPr id="19" name="文本框 18"/>
          <p:cNvSpPr txBox="1"/>
          <p:nvPr/>
        </p:nvSpPr>
        <p:spPr>
          <a:xfrm>
            <a:off x="3278848" y="2018166"/>
            <a:ext cx="5585888" cy="297517"/>
          </a:xfrm>
          <a:prstGeom prst="rect">
            <a:avLst/>
          </a:prstGeom>
          <a:noFill/>
        </p:spPr>
        <p:txBody>
          <a:bodyPr wrap="none" rtlCol="0">
            <a:spAutoFit/>
          </a:bodyPr>
          <a:lstStyle/>
          <a:p>
            <a:r>
              <a:rPr lang="en-US" altLang="zh-CN" sz="2000" b="1" dirty="0">
                <a:solidFill>
                  <a:prstClr val="white"/>
                </a:solidFill>
                <a:latin typeface="微软雅黑"/>
                <a:ea typeface="微软雅黑"/>
              </a:rPr>
              <a:t>INTREST(/</a:t>
            </a:r>
            <a:r>
              <a:rPr lang="en-US" altLang="zh-CN" sz="2000" b="1" dirty="0" err="1">
                <a:solidFill>
                  <a:prstClr val="white"/>
                </a:solidFill>
                <a:latin typeface="微软雅黑"/>
                <a:ea typeface="微软雅黑"/>
              </a:rPr>
              <a:t>MyHome</a:t>
            </a:r>
            <a:r>
              <a:rPr lang="en-US" altLang="zh-CN" sz="2000" b="1" dirty="0">
                <a:solidFill>
                  <a:prstClr val="white"/>
                </a:solidFill>
                <a:latin typeface="微软雅黑"/>
                <a:ea typeface="微软雅黑"/>
              </a:rPr>
              <a:t>/Bedroom/Lighting/</a:t>
            </a:r>
            <a:r>
              <a:rPr lang="en-US" altLang="zh-CN" sz="2000" b="1" dirty="0" err="1">
                <a:solidFill>
                  <a:prstClr val="white"/>
                </a:solidFill>
                <a:latin typeface="微软雅黑"/>
                <a:ea typeface="微软雅黑"/>
              </a:rPr>
              <a:t>TableLamp</a:t>
            </a:r>
            <a:r>
              <a:rPr lang="en-US" altLang="zh-CN" sz="2000" b="1" dirty="0">
                <a:solidFill>
                  <a:prstClr val="white"/>
                </a:solidFill>
                <a:latin typeface="微软雅黑"/>
                <a:ea typeface="微软雅黑"/>
              </a:rPr>
              <a:t>/action/ON)</a:t>
            </a:r>
            <a:endParaRPr lang="zh-CN" altLang="en-US" sz="2000" b="1" dirty="0">
              <a:solidFill>
                <a:prstClr val="white"/>
              </a:solidFill>
              <a:latin typeface="微软雅黑"/>
              <a:ea typeface="微软雅黑"/>
            </a:endParaRPr>
          </a:p>
        </p:txBody>
      </p:sp>
      <p:sp>
        <p:nvSpPr>
          <p:cNvPr id="20" name="左箭头标注 19"/>
          <p:cNvSpPr/>
          <p:nvPr/>
        </p:nvSpPr>
        <p:spPr bwMode="auto">
          <a:xfrm>
            <a:off x="5688750" y="2551817"/>
            <a:ext cx="2848117" cy="297517"/>
          </a:xfrm>
          <a:prstGeom prst="leftArrowCallout">
            <a:avLst>
              <a:gd name="adj1" fmla="val 25000"/>
              <a:gd name="adj2" fmla="val 25000"/>
              <a:gd name="adj3" fmla="val 25000"/>
              <a:gd name="adj4" fmla="val 94313"/>
            </a:avLst>
          </a:prstGeom>
          <a:solidFill>
            <a:srgbClr val="678A64"/>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spcBef>
                <a:spcPct val="50000"/>
              </a:spcBef>
              <a:buClr>
                <a:prstClr val="white"/>
              </a:buClr>
              <a:buSzPct val="100000"/>
            </a:pPr>
            <a:endParaRPr lang="zh-CN" altLang="en-US">
              <a:solidFill>
                <a:prstClr val="black"/>
              </a:solidFill>
              <a:effectLst>
                <a:outerShdw blurRad="38100" dist="38100" dir="2700000" algn="tl">
                  <a:srgbClr val="000000">
                    <a:alpha val="43137"/>
                  </a:srgbClr>
                </a:outerShdw>
              </a:effectLst>
              <a:latin typeface="Arial" charset="0"/>
            </a:endParaRPr>
          </a:p>
        </p:txBody>
      </p:sp>
      <p:sp>
        <p:nvSpPr>
          <p:cNvPr id="21" name="文本框 20"/>
          <p:cNvSpPr txBox="1"/>
          <p:nvPr/>
        </p:nvSpPr>
        <p:spPr>
          <a:xfrm>
            <a:off x="5959558" y="2515637"/>
            <a:ext cx="2553712" cy="297517"/>
          </a:xfrm>
          <a:prstGeom prst="rect">
            <a:avLst/>
          </a:prstGeom>
          <a:noFill/>
        </p:spPr>
        <p:txBody>
          <a:bodyPr wrap="none" rtlCol="0">
            <a:spAutoFit/>
          </a:bodyPr>
          <a:lstStyle/>
          <a:p>
            <a:r>
              <a:rPr lang="en-US" altLang="zh-CN" sz="2000" b="1" dirty="0">
                <a:solidFill>
                  <a:prstClr val="white"/>
                </a:solidFill>
                <a:latin typeface="微软雅黑"/>
                <a:ea typeface="微软雅黑"/>
              </a:rPr>
              <a:t>DATA(</a:t>
            </a:r>
            <a:r>
              <a:rPr lang="en-US" altLang="zh-CN" sz="2000" b="1" dirty="0" err="1">
                <a:solidFill>
                  <a:prstClr val="white"/>
                </a:solidFill>
                <a:latin typeface="微软雅黑"/>
                <a:ea typeface="微软雅黑"/>
              </a:rPr>
              <a:t>name|ACK|signature</a:t>
            </a:r>
            <a:r>
              <a:rPr lang="en-US" altLang="zh-CN" sz="2000" b="1" dirty="0">
                <a:solidFill>
                  <a:prstClr val="white"/>
                </a:solidFill>
                <a:latin typeface="微软雅黑"/>
                <a:ea typeface="微软雅黑"/>
              </a:rPr>
              <a:t>)</a:t>
            </a:r>
            <a:endParaRPr lang="zh-CN" altLang="en-US" sz="2000" b="1" dirty="0">
              <a:solidFill>
                <a:prstClr val="white"/>
              </a:solidFill>
              <a:latin typeface="微软雅黑"/>
              <a:ea typeface="微软雅黑"/>
            </a:endParaRPr>
          </a:p>
        </p:txBody>
      </p:sp>
    </p:spTree>
    <p:extLst>
      <p:ext uri="{BB962C8B-B14F-4D97-AF65-F5344CB8AC3E}">
        <p14:creationId xmlns:p14="http://schemas.microsoft.com/office/powerpoint/2010/main" val="2905080322"/>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6C27F2-FD71-4BA3-B0EF-F46590418D70}"/>
              </a:ext>
            </a:extLst>
          </p:cNvPr>
          <p:cNvSpPr>
            <a:spLocks noGrp="1"/>
          </p:cNvSpPr>
          <p:nvPr>
            <p:ph type="title"/>
          </p:nvPr>
        </p:nvSpPr>
        <p:spPr/>
        <p:txBody>
          <a:bodyPr/>
          <a:lstStyle/>
          <a:p>
            <a:r>
              <a:rPr lang="zh-CN" altLang="en-US" dirty="0"/>
              <a:t>三端应用集成简化</a:t>
            </a:r>
          </a:p>
        </p:txBody>
      </p:sp>
      <p:sp>
        <p:nvSpPr>
          <p:cNvPr id="3" name="内容占位符 2">
            <a:extLst>
              <a:ext uri="{FF2B5EF4-FFF2-40B4-BE49-F238E27FC236}">
                <a16:creationId xmlns:a16="http://schemas.microsoft.com/office/drawing/2014/main" id="{7726CE99-7AE5-4639-A262-91134611E482}"/>
              </a:ext>
            </a:extLst>
          </p:cNvPr>
          <p:cNvSpPr>
            <a:spLocks noGrp="1"/>
          </p:cNvSpPr>
          <p:nvPr>
            <p:ph idx="1"/>
          </p:nvPr>
        </p:nvSpPr>
        <p:spPr/>
        <p:txBody>
          <a:bodyPr/>
          <a:lstStyle/>
          <a:p>
            <a:r>
              <a:rPr lang="zh-CN" altLang="en-US"/>
              <a:t>平台对比</a:t>
            </a:r>
            <a:endParaRPr lang="zh-CN" altLang="en-US" dirty="0"/>
          </a:p>
        </p:txBody>
      </p:sp>
      <p:graphicFrame>
        <p:nvGraphicFramePr>
          <p:cNvPr id="4" name="内容占位符 3">
            <a:extLst>
              <a:ext uri="{FF2B5EF4-FFF2-40B4-BE49-F238E27FC236}">
                <a16:creationId xmlns:a16="http://schemas.microsoft.com/office/drawing/2014/main" id="{1089CBF1-6A06-40E7-8012-2628C723C2CB}"/>
              </a:ext>
            </a:extLst>
          </p:cNvPr>
          <p:cNvGraphicFramePr>
            <a:graphicFrameLocks/>
          </p:cNvGraphicFramePr>
          <p:nvPr>
            <p:extLst>
              <p:ext uri="{D42A27DB-BD31-4B8C-83A1-F6EECF244321}">
                <p14:modId xmlns:p14="http://schemas.microsoft.com/office/powerpoint/2010/main" val="999803830"/>
              </p:ext>
            </p:extLst>
          </p:nvPr>
        </p:nvGraphicFramePr>
        <p:xfrm>
          <a:off x="847940" y="1656188"/>
          <a:ext cx="7333820" cy="4744612"/>
        </p:xfrm>
        <a:graphic>
          <a:graphicData uri="http://schemas.openxmlformats.org/drawingml/2006/table">
            <a:tbl>
              <a:tblPr firstRow="1" firstCol="1">
                <a:tableStyleId>{08FB837D-C827-4EFA-A057-4D05807E0F7C}</a:tableStyleId>
              </a:tblPr>
              <a:tblGrid>
                <a:gridCol w="2494700">
                  <a:extLst>
                    <a:ext uri="{9D8B030D-6E8A-4147-A177-3AD203B41FA5}">
                      <a16:colId xmlns:a16="http://schemas.microsoft.com/office/drawing/2014/main" val="393836667"/>
                    </a:ext>
                  </a:extLst>
                </a:gridCol>
                <a:gridCol w="2448560">
                  <a:extLst>
                    <a:ext uri="{9D8B030D-6E8A-4147-A177-3AD203B41FA5}">
                      <a16:colId xmlns:a16="http://schemas.microsoft.com/office/drawing/2014/main" val="984286165"/>
                    </a:ext>
                  </a:extLst>
                </a:gridCol>
                <a:gridCol w="2390560">
                  <a:extLst>
                    <a:ext uri="{9D8B030D-6E8A-4147-A177-3AD203B41FA5}">
                      <a16:colId xmlns:a16="http://schemas.microsoft.com/office/drawing/2014/main" val="1458606952"/>
                    </a:ext>
                  </a:extLst>
                </a:gridCol>
              </a:tblGrid>
              <a:tr h="1043575">
                <a:tc rowSpan="2">
                  <a:txBody>
                    <a:bodyPr/>
                    <a:lstStyle/>
                    <a:p>
                      <a:pPr algn="ctr" fontAlgn="ctr"/>
                      <a:r>
                        <a:rPr lang="zh-CN" altLang="en-US" sz="2400" u="none" strike="noStrike" dirty="0">
                          <a:effectLst/>
                          <a:latin typeface="+mj-ea"/>
                          <a:ea typeface="+mj-ea"/>
                        </a:rPr>
                        <a:t>一体开发平台</a:t>
                      </a:r>
                      <a:endParaRPr lang="zh-CN" altLang="en-US" sz="24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gridSpan="2">
                  <a:txBody>
                    <a:bodyPr/>
                    <a:lstStyle/>
                    <a:p>
                      <a:pPr algn="ctr" fontAlgn="ctr"/>
                      <a:r>
                        <a:rPr lang="zh-CN" altLang="en-US" sz="2400" u="none" strike="noStrike" dirty="0">
                          <a:effectLst/>
                          <a:latin typeface="+mj-ea"/>
                          <a:ea typeface="+mj-ea"/>
                        </a:rPr>
                        <a:t>三端应用集成简化</a:t>
                      </a:r>
                      <a:endParaRPr lang="zh-CN" altLang="en-US" sz="2400" b="0" i="0" u="none" strike="noStrike" dirty="0">
                        <a:solidFill>
                          <a:srgbClr val="000000"/>
                        </a:solidFill>
                        <a:effectLst/>
                        <a:latin typeface="+mj-ea"/>
                        <a:ea typeface="+mj-ea"/>
                        <a:cs typeface="Times New Roman" panose="02020603050405020304" pitchFamily="18" charset="0"/>
                      </a:endParaRPr>
                    </a:p>
                  </a:txBody>
                  <a:tcPr marL="8874" marR="8874" marT="8874" marB="0" anchor="ctr">
                    <a:lnR w="19050" cap="flat" cmpd="sng" algn="ctr">
                      <a:solidFill>
                        <a:schemeClr val="bg1"/>
                      </a:solidFill>
                      <a:prstDash val="solid"/>
                      <a:round/>
                      <a:headEnd type="none" w="med" len="med"/>
                      <a:tailEnd type="none" w="med" len="med"/>
                    </a:lnR>
                  </a:tcPr>
                </a:tc>
                <a:tc hMerge="1">
                  <a:txBody>
                    <a:bodyPr/>
                    <a:lstStyle/>
                    <a:p>
                      <a:endParaRPr lang="zh-CN" altLang="en-US"/>
                    </a:p>
                  </a:txBody>
                  <a:tcPr/>
                </a:tc>
                <a:extLst>
                  <a:ext uri="{0D108BD9-81ED-4DB2-BD59-A6C34878D82A}">
                    <a16:rowId xmlns:a16="http://schemas.microsoft.com/office/drawing/2014/main" val="3938159999"/>
                  </a:ext>
                </a:extLst>
              </a:tr>
              <a:tr h="725195">
                <a:tc vMerge="1">
                  <a:txBody>
                    <a:bodyPr/>
                    <a:lstStyle/>
                    <a:p>
                      <a:endParaRPr lang="zh-CN" altLang="en-US"/>
                    </a:p>
                  </a:txBody>
                  <a:tcPr/>
                </a:tc>
                <a:tc>
                  <a:txBody>
                    <a:bodyPr/>
                    <a:lstStyle/>
                    <a:p>
                      <a:pPr algn="ctr" rtl="0" fontAlgn="ctr"/>
                      <a:r>
                        <a:rPr lang="zh-CN" altLang="en-US" sz="2400" u="none" strike="noStrike" dirty="0">
                          <a:effectLst/>
                          <a:latin typeface="+mj-ea"/>
                          <a:ea typeface="+mj-ea"/>
                        </a:rPr>
                        <a:t>设备模型</a:t>
                      </a:r>
                      <a:endParaRPr lang="zh-CN" altLang="en-US" sz="2400" b="0" i="0" u="none" strike="noStrike" dirty="0">
                        <a:solidFill>
                          <a:schemeClr val="bg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2400" u="none" strike="noStrike" dirty="0">
                          <a:effectLst/>
                          <a:latin typeface="+mj-ea"/>
                          <a:ea typeface="+mj-ea"/>
                        </a:rPr>
                        <a:t>命名机制</a:t>
                      </a:r>
                      <a:endParaRPr lang="zh-CN" altLang="en-US" sz="2400" b="0" i="0" u="none" strike="noStrike" dirty="0">
                        <a:solidFill>
                          <a:schemeClr val="bg1"/>
                        </a:solidFill>
                        <a:effectLst/>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1057826431"/>
                  </a:ext>
                </a:extLst>
              </a:tr>
              <a:tr h="1042588">
                <a:tc>
                  <a:txBody>
                    <a:bodyPr/>
                    <a:lstStyle/>
                    <a:p>
                      <a:pPr algn="ctr" rtl="0" fontAlgn="ctr"/>
                      <a:r>
                        <a:rPr lang="en-US" altLang="zh-CN" sz="2400" u="none" strike="noStrike" dirty="0" err="1">
                          <a:effectLst/>
                          <a:latin typeface="+mj-ea"/>
                          <a:ea typeface="+mj-ea"/>
                        </a:rPr>
                        <a:t>TinyLink</a:t>
                      </a:r>
                      <a:endParaRPr lang="en-US" sz="24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400" u="none" strike="noStrike" dirty="0">
                          <a:effectLst/>
                          <a:latin typeface="+mj-ea"/>
                          <a:ea typeface="+mj-ea"/>
                        </a:rPr>
                        <a:t>×</a:t>
                      </a:r>
                      <a:endParaRPr lang="zh-CN" altLang="en-US" sz="24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2400" u="none" strike="noStrike" dirty="0">
                          <a:effectLst/>
                          <a:latin typeface="+mj-ea"/>
                          <a:ea typeface="+mj-ea"/>
                        </a:rPr>
                        <a:t>基于</a:t>
                      </a:r>
                      <a:r>
                        <a:rPr lang="en-US" altLang="zh-CN" sz="2400" u="none" strike="noStrike" dirty="0">
                          <a:effectLst/>
                          <a:latin typeface="+mj-ea"/>
                          <a:ea typeface="+mj-ea"/>
                        </a:rPr>
                        <a:t>TCP/IP</a:t>
                      </a:r>
                      <a:endParaRPr lang="zh-CN" altLang="en-US" sz="24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3857372589"/>
                  </a:ext>
                </a:extLst>
              </a:tr>
              <a:tr h="966627">
                <a:tc>
                  <a:txBody>
                    <a:bodyPr/>
                    <a:lstStyle/>
                    <a:p>
                      <a:pPr algn="ctr" rtl="0" fontAlgn="ctr"/>
                      <a:r>
                        <a:rPr lang="en-US" altLang="zh-CN" sz="2400" u="none" strike="noStrike" kern="1200" dirty="0" err="1">
                          <a:effectLst/>
                          <a:latin typeface="+mj-ea"/>
                          <a:ea typeface="+mj-ea"/>
                        </a:rPr>
                        <a:t>IoT</a:t>
                      </a:r>
                      <a:r>
                        <a:rPr lang="en-US" altLang="zh-CN" sz="2400" u="none" strike="noStrike" kern="1200" dirty="0">
                          <a:effectLst/>
                          <a:latin typeface="+mj-ea"/>
                          <a:ea typeface="+mj-ea"/>
                        </a:rPr>
                        <a:t> Studio</a:t>
                      </a:r>
                      <a:endParaRPr lang="en-US" sz="2400" b="1" i="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2400" u="none" strike="noStrike" dirty="0">
                          <a:effectLst/>
                          <a:latin typeface="+mj-ea"/>
                          <a:ea typeface="+mj-ea"/>
                        </a:rPr>
                        <a:t>物模型</a:t>
                      </a:r>
                      <a:endParaRPr lang="zh-CN" altLang="en-US" sz="24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2400" u="none" strike="noStrike" dirty="0">
                          <a:effectLst/>
                          <a:latin typeface="+mj-ea"/>
                          <a:ea typeface="+mj-ea"/>
                        </a:rPr>
                        <a:t>基于</a:t>
                      </a:r>
                      <a:r>
                        <a:rPr lang="en-US" altLang="zh-CN" sz="2400" u="none" strike="noStrike" dirty="0">
                          <a:effectLst/>
                          <a:latin typeface="+mj-ea"/>
                          <a:ea typeface="+mj-ea"/>
                        </a:rPr>
                        <a:t>TCP/IP</a:t>
                      </a:r>
                      <a:endParaRPr lang="zh-CN" altLang="en-US" sz="24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3356318774"/>
                  </a:ext>
                </a:extLst>
              </a:tr>
              <a:tr h="966627">
                <a:tc>
                  <a:txBody>
                    <a:bodyPr/>
                    <a:lstStyle/>
                    <a:p>
                      <a:pPr algn="ctr" rtl="0" fontAlgn="ctr"/>
                      <a:r>
                        <a:rPr lang="en-US" sz="2400" u="none" strike="noStrike" kern="1200" dirty="0" err="1">
                          <a:effectLst/>
                          <a:latin typeface="+mj-ea"/>
                          <a:ea typeface="+mj-ea"/>
                        </a:rPr>
                        <a:t>Tuya</a:t>
                      </a:r>
                      <a:r>
                        <a:rPr lang="en-US" sz="2400" u="none" strike="noStrike" kern="1200" dirty="0">
                          <a:effectLst/>
                          <a:latin typeface="+mj-ea"/>
                          <a:ea typeface="+mj-ea"/>
                        </a:rPr>
                        <a:t> IoT</a:t>
                      </a:r>
                      <a:r>
                        <a:rPr lang="zh-CN" altLang="en-US" sz="2400" u="none" strike="noStrike" kern="1200" dirty="0">
                          <a:effectLst/>
                          <a:latin typeface="+mj-ea"/>
                          <a:ea typeface="+mj-ea"/>
                        </a:rPr>
                        <a:t>平台</a:t>
                      </a:r>
                      <a:endParaRPr lang="en-US" sz="2400" b="1" i="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2400" u="none" strike="noStrike" kern="1200" cap="none" spc="0" normalizeH="0" baseline="0" noProof="0" dirty="0">
                          <a:ln>
                            <a:noFill/>
                          </a:ln>
                          <a:effectLst/>
                          <a:uLnTx/>
                          <a:uFillTx/>
                          <a:latin typeface="+mj-ea"/>
                          <a:ea typeface="+mj-ea"/>
                        </a:rPr>
                        <a:t>×</a:t>
                      </a:r>
                      <a:endParaRPr kumimoji="0" lang="zh-CN" altLang="en-US" sz="2400" b="0" i="0" u="none" strike="noStrike" kern="1200" cap="none" spc="0" normalizeH="0" baseline="0" noProof="0" dirty="0">
                        <a:ln>
                          <a:noFill/>
                        </a:ln>
                        <a:solidFill>
                          <a:srgbClr val="000000"/>
                        </a:solidFill>
                        <a:effectLst/>
                        <a:uLnTx/>
                        <a:uFillTx/>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2400" u="none" strike="noStrike" kern="1200" cap="none" spc="0" normalizeH="0" baseline="0" noProof="0" dirty="0">
                          <a:ln>
                            <a:noFill/>
                          </a:ln>
                          <a:effectLst/>
                          <a:uLnTx/>
                          <a:uFillTx/>
                          <a:latin typeface="+mj-ea"/>
                          <a:ea typeface="+mj-ea"/>
                        </a:rPr>
                        <a:t>基于</a:t>
                      </a:r>
                      <a:r>
                        <a:rPr kumimoji="0" lang="en-US" altLang="zh-CN" sz="2400" u="none" strike="noStrike" kern="1200" cap="none" spc="0" normalizeH="0" baseline="0" noProof="0" dirty="0">
                          <a:ln>
                            <a:noFill/>
                          </a:ln>
                          <a:effectLst/>
                          <a:uLnTx/>
                          <a:uFillTx/>
                          <a:latin typeface="+mj-ea"/>
                          <a:ea typeface="+mj-ea"/>
                        </a:rPr>
                        <a:t>TCP/IP</a:t>
                      </a:r>
                      <a:endParaRPr kumimoji="0" lang="zh-CN" altLang="en-US" sz="2400" b="0" i="0" u="none" strike="noStrike" kern="1200" cap="none" spc="0" normalizeH="0" baseline="0" noProof="0" dirty="0">
                        <a:ln>
                          <a:noFill/>
                        </a:ln>
                        <a:solidFill>
                          <a:srgbClr val="000000"/>
                        </a:solidFill>
                        <a:effectLst/>
                        <a:uLnTx/>
                        <a:uFillTx/>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1476657015"/>
                  </a:ext>
                </a:extLst>
              </a:tr>
            </a:tbl>
          </a:graphicData>
        </a:graphic>
      </p:graphicFrame>
    </p:spTree>
    <p:extLst>
      <p:ext uri="{BB962C8B-B14F-4D97-AF65-F5344CB8AC3E}">
        <p14:creationId xmlns:p14="http://schemas.microsoft.com/office/powerpoint/2010/main" val="3246891923"/>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EFA20E-F595-4972-83F6-F94FC50BF27A}"/>
              </a:ext>
            </a:extLst>
          </p:cNvPr>
          <p:cNvSpPr>
            <a:spLocks noGrp="1"/>
          </p:cNvSpPr>
          <p:nvPr>
            <p:ph type="title"/>
          </p:nvPr>
        </p:nvSpPr>
        <p:spPr/>
        <p:txBody>
          <a:bodyPr/>
          <a:lstStyle/>
          <a:p>
            <a:r>
              <a:rPr lang="zh-CN" altLang="en-US" dirty="0"/>
              <a:t>思考题</a:t>
            </a:r>
          </a:p>
        </p:txBody>
      </p:sp>
      <p:sp>
        <p:nvSpPr>
          <p:cNvPr id="3" name="内容占位符 2">
            <a:extLst>
              <a:ext uri="{FF2B5EF4-FFF2-40B4-BE49-F238E27FC236}">
                <a16:creationId xmlns:a16="http://schemas.microsoft.com/office/drawing/2014/main" id="{9F3163AD-A1B5-4114-9B3E-1F858BA33C3D}"/>
              </a:ext>
            </a:extLst>
          </p:cNvPr>
          <p:cNvSpPr>
            <a:spLocks noGrp="1"/>
          </p:cNvSpPr>
          <p:nvPr>
            <p:ph idx="1"/>
          </p:nvPr>
        </p:nvSpPr>
        <p:spPr/>
        <p:txBody>
          <a:bodyPr/>
          <a:lstStyle/>
          <a:p>
            <a:r>
              <a:rPr lang="zh-CN" altLang="en-US" dirty="0"/>
              <a:t>简述云</a:t>
            </a:r>
            <a:r>
              <a:rPr lang="en-US" altLang="zh-CN" dirty="0"/>
              <a:t>-</a:t>
            </a:r>
            <a:r>
              <a:rPr lang="zh-CN" altLang="en-US" dirty="0"/>
              <a:t>端一体开发平台是如何简化物联网应用开发的。</a:t>
            </a:r>
          </a:p>
        </p:txBody>
      </p:sp>
    </p:spTree>
    <p:extLst>
      <p:ext uri="{BB962C8B-B14F-4D97-AF65-F5344CB8AC3E}">
        <p14:creationId xmlns:p14="http://schemas.microsoft.com/office/powerpoint/2010/main" val="1462562772"/>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5AAC1D-6C9B-4266-B1BE-B5786C4D44CF}"/>
              </a:ext>
            </a:extLst>
          </p:cNvPr>
          <p:cNvSpPr>
            <a:spLocks noGrp="1"/>
          </p:cNvSpPr>
          <p:nvPr>
            <p:ph type="title"/>
          </p:nvPr>
        </p:nvSpPr>
        <p:spPr/>
        <p:txBody>
          <a:bodyPr/>
          <a:lstStyle/>
          <a:p>
            <a:r>
              <a:rPr lang="zh-CN" altLang="en-US"/>
              <a:t>市场主流云</a:t>
            </a:r>
            <a:r>
              <a:rPr lang="en-US" altLang="zh-CN"/>
              <a:t>-</a:t>
            </a:r>
            <a:r>
              <a:rPr lang="zh-CN" altLang="en-US"/>
              <a:t>端一体开发平台概览</a:t>
            </a:r>
            <a:endParaRPr lang="zh-CN" altLang="en-US" dirty="0"/>
          </a:p>
        </p:txBody>
      </p:sp>
      <p:graphicFrame>
        <p:nvGraphicFramePr>
          <p:cNvPr id="5" name="内容占位符 3"/>
          <p:cNvGraphicFramePr>
            <a:graphicFrameLocks noGrp="1"/>
          </p:cNvGraphicFramePr>
          <p:nvPr>
            <p:ph idx="1"/>
            <p:extLst>
              <p:ext uri="{D42A27DB-BD31-4B8C-83A1-F6EECF244321}">
                <p14:modId xmlns:p14="http://schemas.microsoft.com/office/powerpoint/2010/main" val="2750826902"/>
              </p:ext>
            </p:extLst>
          </p:nvPr>
        </p:nvGraphicFramePr>
        <p:xfrm>
          <a:off x="335139" y="990600"/>
          <a:ext cx="8473722" cy="5568685"/>
        </p:xfrm>
        <a:graphic>
          <a:graphicData uri="http://schemas.openxmlformats.org/drawingml/2006/table">
            <a:tbl>
              <a:tblPr firstRow="1" firstCol="1">
                <a:tableStyleId>{08FB837D-C827-4EFA-A057-4D05807E0F7C}</a:tableStyleId>
              </a:tblPr>
              <a:tblGrid>
                <a:gridCol w="898119">
                  <a:extLst>
                    <a:ext uri="{9D8B030D-6E8A-4147-A177-3AD203B41FA5}">
                      <a16:colId xmlns:a16="http://schemas.microsoft.com/office/drawing/2014/main" val="393836667"/>
                    </a:ext>
                  </a:extLst>
                </a:gridCol>
                <a:gridCol w="548361">
                  <a:extLst>
                    <a:ext uri="{9D8B030D-6E8A-4147-A177-3AD203B41FA5}">
                      <a16:colId xmlns:a16="http://schemas.microsoft.com/office/drawing/2014/main" val="984286165"/>
                    </a:ext>
                  </a:extLst>
                </a:gridCol>
                <a:gridCol w="576058">
                  <a:extLst>
                    <a:ext uri="{9D8B030D-6E8A-4147-A177-3AD203B41FA5}">
                      <a16:colId xmlns:a16="http://schemas.microsoft.com/office/drawing/2014/main" val="1458606952"/>
                    </a:ext>
                  </a:extLst>
                </a:gridCol>
                <a:gridCol w="759381">
                  <a:extLst>
                    <a:ext uri="{9D8B030D-6E8A-4147-A177-3AD203B41FA5}">
                      <a16:colId xmlns:a16="http://schemas.microsoft.com/office/drawing/2014/main" val="20003"/>
                    </a:ext>
                  </a:extLst>
                </a:gridCol>
                <a:gridCol w="692884">
                  <a:extLst>
                    <a:ext uri="{9D8B030D-6E8A-4147-A177-3AD203B41FA5}">
                      <a16:colId xmlns:a16="http://schemas.microsoft.com/office/drawing/2014/main" val="2929096940"/>
                    </a:ext>
                  </a:extLst>
                </a:gridCol>
                <a:gridCol w="665540">
                  <a:extLst>
                    <a:ext uri="{9D8B030D-6E8A-4147-A177-3AD203B41FA5}">
                      <a16:colId xmlns:a16="http://schemas.microsoft.com/office/drawing/2014/main" val="2395146114"/>
                    </a:ext>
                  </a:extLst>
                </a:gridCol>
                <a:gridCol w="864879">
                  <a:extLst>
                    <a:ext uri="{9D8B030D-6E8A-4147-A177-3AD203B41FA5}">
                      <a16:colId xmlns:a16="http://schemas.microsoft.com/office/drawing/2014/main" val="1322026602"/>
                    </a:ext>
                  </a:extLst>
                </a:gridCol>
                <a:gridCol w="867125">
                  <a:extLst>
                    <a:ext uri="{9D8B030D-6E8A-4147-A177-3AD203B41FA5}">
                      <a16:colId xmlns:a16="http://schemas.microsoft.com/office/drawing/2014/main" val="20008"/>
                    </a:ext>
                  </a:extLst>
                </a:gridCol>
                <a:gridCol w="867125">
                  <a:extLst>
                    <a:ext uri="{9D8B030D-6E8A-4147-A177-3AD203B41FA5}">
                      <a16:colId xmlns:a16="http://schemas.microsoft.com/office/drawing/2014/main" val="20009"/>
                    </a:ext>
                  </a:extLst>
                </a:gridCol>
                <a:gridCol w="867125">
                  <a:extLst>
                    <a:ext uri="{9D8B030D-6E8A-4147-A177-3AD203B41FA5}">
                      <a16:colId xmlns:a16="http://schemas.microsoft.com/office/drawing/2014/main" val="20010"/>
                    </a:ext>
                  </a:extLst>
                </a:gridCol>
                <a:gridCol w="867125">
                  <a:extLst>
                    <a:ext uri="{9D8B030D-6E8A-4147-A177-3AD203B41FA5}">
                      <a16:colId xmlns:a16="http://schemas.microsoft.com/office/drawing/2014/main" val="20011"/>
                    </a:ext>
                  </a:extLst>
                </a:gridCol>
              </a:tblGrid>
              <a:tr h="617268">
                <a:tc rowSpan="2">
                  <a:txBody>
                    <a:bodyPr/>
                    <a:lstStyle/>
                    <a:p>
                      <a:pPr algn="ctr" fontAlgn="ctr"/>
                      <a:r>
                        <a:rPr lang="zh-CN" altLang="en-US" sz="1600" u="none" strike="noStrike" dirty="0">
                          <a:effectLst/>
                          <a:latin typeface="+mj-ea"/>
                          <a:ea typeface="+mj-ea"/>
                        </a:rPr>
                        <a:t>一体化平台</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gridSpan="3">
                  <a:txBody>
                    <a:bodyPr/>
                    <a:lstStyle/>
                    <a:p>
                      <a:pPr algn="ctr" fontAlgn="ctr"/>
                      <a:r>
                        <a:rPr lang="zh-CN" altLang="en-US" sz="1600" u="none" strike="noStrike" dirty="0">
                          <a:effectLst/>
                          <a:latin typeface="+mj-ea"/>
                          <a:ea typeface="+mj-ea"/>
                        </a:rPr>
                        <a:t>设备端开发</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hMerge="1">
                  <a:txBody>
                    <a:bodyPr/>
                    <a:lstStyle/>
                    <a:p>
                      <a:endParaRPr lang="zh-CN" altLang="en-US"/>
                    </a:p>
                  </a:txBody>
                  <a:tcPr/>
                </a:tc>
                <a:tc hMerge="1">
                  <a:txBody>
                    <a:bodyPr/>
                    <a:lstStyle/>
                    <a:p>
                      <a:pPr algn="ctr" fontAlgn="ctr"/>
                      <a:endParaRPr lang="zh-CN" altLang="en-US" sz="1600" b="0" i="0" u="none" strike="noStrike" dirty="0">
                        <a:solidFill>
                          <a:srgbClr val="000000"/>
                        </a:solidFill>
                        <a:effectLst/>
                        <a:latin typeface="等线" panose="02010600030101010101" pitchFamily="2" charset="-122"/>
                        <a:ea typeface="等线" panose="02010600030101010101" pitchFamily="2" charset="-122"/>
                      </a:endParaRPr>
                    </a:p>
                  </a:txBody>
                  <a:tcPr marL="8874" marR="8874" marT="8874"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fontAlgn="ctr"/>
                      <a:r>
                        <a:rPr lang="zh-CN" altLang="en-US" sz="1600" u="none" strike="noStrike" dirty="0">
                          <a:effectLst/>
                          <a:latin typeface="+mj-ea"/>
                          <a:ea typeface="+mj-ea"/>
                        </a:rPr>
                        <a:t>服务开发</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hMerge="1">
                  <a:txBody>
                    <a:bodyPr/>
                    <a:lstStyle/>
                    <a:p>
                      <a:endParaRPr lang="zh-CN" altLang="en-US"/>
                    </a:p>
                  </a:txBody>
                  <a:tcPr/>
                </a:tc>
                <a:tc gridSpan="3">
                  <a:txBody>
                    <a:bodyPr/>
                    <a:lstStyle/>
                    <a:p>
                      <a:pPr algn="ctr" fontAlgn="ctr"/>
                      <a:r>
                        <a:rPr lang="zh-CN" altLang="en-US" sz="1600" u="none" strike="noStrike" dirty="0">
                          <a:effectLst/>
                          <a:latin typeface="+mj-ea"/>
                          <a:ea typeface="+mj-ea"/>
                        </a:rPr>
                        <a:t>应用开发</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hMerge="1">
                  <a:txBody>
                    <a:bodyPr/>
                    <a:lstStyle/>
                    <a:p>
                      <a:pPr algn="ctr" fontAlgn="ct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874" marR="8874" marT="8874" marB="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ct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874" marR="8874" marT="8874"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fontAlgn="ctr"/>
                      <a:r>
                        <a:rPr lang="zh-CN" altLang="en-US" sz="1600" u="none" strike="noStrike" kern="1200" dirty="0">
                          <a:effectLst/>
                          <a:latin typeface="+mj-ea"/>
                          <a:ea typeface="+mj-ea"/>
                        </a:rPr>
                        <a:t>三端应用集成简化</a:t>
                      </a:r>
                      <a:endParaRPr lang="zh-CN" altLang="en-US" sz="1600" b="1" i="0" u="none" strike="noStrike" kern="1200" dirty="0">
                        <a:solidFill>
                          <a:schemeClr val="lt1"/>
                        </a:solidFill>
                        <a:effectLst/>
                        <a:latin typeface="+mj-ea"/>
                        <a:ea typeface="+mj-ea"/>
                        <a:cs typeface="Times New Roman" panose="02020603050405020304" pitchFamily="18" charset="0"/>
                      </a:endParaRPr>
                    </a:p>
                  </a:txBody>
                  <a:tcPr marL="8874" marR="8874" marT="8874" marB="0" anchor="ctr"/>
                </a:tc>
                <a:tc hMerge="1">
                  <a:txBody>
                    <a:bodyPr/>
                    <a:lstStyle/>
                    <a:p>
                      <a:pPr algn="ctr" fontAlgn="ctr"/>
                      <a:endParaRPr lang="zh-CN" altLang="en-US" sz="1600" b="1" i="0" u="none" strike="noStrike" kern="1200" dirty="0">
                        <a:solidFill>
                          <a:schemeClr val="lt1"/>
                        </a:solidFill>
                        <a:effectLst/>
                        <a:latin typeface="+mn-lt"/>
                        <a:ea typeface="+mn-ea"/>
                        <a:cs typeface="+mn-cs"/>
                      </a:endParaRPr>
                    </a:p>
                  </a:txBody>
                  <a:tcPr marL="8874" marR="8874" marT="8874"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8159999"/>
                  </a:ext>
                </a:extLst>
              </a:tr>
              <a:tr h="776886">
                <a:tc vMerge="1">
                  <a:txBody>
                    <a:bodyPr/>
                    <a:lstStyle/>
                    <a:p>
                      <a:endParaRPr lang="zh-CN" altLang="en-US"/>
                    </a:p>
                  </a:txBody>
                  <a:tcPr/>
                </a:tc>
                <a:tc>
                  <a:txBody>
                    <a:bodyPr/>
                    <a:lstStyle/>
                    <a:p>
                      <a:pPr algn="ctr" rtl="0" fontAlgn="ctr"/>
                      <a:r>
                        <a:rPr lang="zh-CN" altLang="en-US" sz="1600" u="none" strike="noStrike" dirty="0">
                          <a:effectLst/>
                          <a:latin typeface="+mj-ea"/>
                          <a:ea typeface="+mj-ea"/>
                        </a:rPr>
                        <a:t>本地编译</a:t>
                      </a:r>
                      <a:endParaRPr lang="zh-CN" altLang="en-US" sz="1600" b="0" i="0" u="none" strike="noStrike" dirty="0">
                        <a:solidFill>
                          <a:schemeClr val="bg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dirty="0">
                          <a:effectLst/>
                          <a:latin typeface="+mj-ea"/>
                          <a:ea typeface="+mj-ea"/>
                        </a:rPr>
                        <a:t>云端编译</a:t>
                      </a:r>
                      <a:endParaRPr lang="zh-CN" altLang="en-US" sz="1600" b="0" i="0" u="none" strike="noStrike" dirty="0">
                        <a:solidFill>
                          <a:schemeClr val="bg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dirty="0">
                          <a:effectLst/>
                          <a:latin typeface="+mj-ea"/>
                          <a:ea typeface="+mj-ea"/>
                        </a:rPr>
                        <a:t>解释型语言</a:t>
                      </a:r>
                      <a:endParaRPr lang="zh-CN" altLang="en-US" sz="1600" b="0" i="0" u="none" strike="noStrike" dirty="0">
                        <a:solidFill>
                          <a:schemeClr val="bg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en-US" altLang="zh-CN" sz="1600" u="none" strike="noStrike" dirty="0">
                          <a:effectLst/>
                          <a:latin typeface="+mj-ea"/>
                          <a:ea typeface="+mj-ea"/>
                        </a:rPr>
                        <a:t>IFTTT</a:t>
                      </a:r>
                      <a:r>
                        <a:rPr lang="zh-CN" altLang="en-US" sz="1600" u="none" strike="noStrike" dirty="0">
                          <a:effectLst/>
                          <a:latin typeface="+mj-ea"/>
                          <a:ea typeface="+mj-ea"/>
                        </a:rPr>
                        <a:t>规则配置</a:t>
                      </a:r>
                      <a:endParaRPr lang="zh-CN" altLang="en-US" sz="1600" b="0" i="0" u="none" strike="noStrike" dirty="0">
                        <a:solidFill>
                          <a:schemeClr val="bg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dirty="0">
                          <a:effectLst/>
                          <a:latin typeface="+mj-ea"/>
                          <a:ea typeface="+mj-ea"/>
                        </a:rPr>
                        <a:t>服务编排</a:t>
                      </a:r>
                      <a:endParaRPr lang="zh-CN" altLang="en-US" sz="1600" b="0" i="0" u="none" strike="noStrike" dirty="0">
                        <a:solidFill>
                          <a:schemeClr val="bg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dirty="0">
                          <a:effectLst/>
                          <a:latin typeface="+mj-ea"/>
                          <a:ea typeface="+mj-ea"/>
                        </a:rPr>
                        <a:t>可视化拖拽</a:t>
                      </a:r>
                      <a:endParaRPr lang="zh-CN" altLang="en-US" sz="1600" b="0" i="0" u="none" strike="noStrike" dirty="0">
                        <a:solidFill>
                          <a:schemeClr val="bg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dirty="0">
                          <a:effectLst/>
                          <a:latin typeface="+mj-ea"/>
                          <a:ea typeface="+mj-ea"/>
                        </a:rPr>
                        <a:t>应用框架自动生成</a:t>
                      </a:r>
                      <a:endParaRPr lang="zh-CN" altLang="en-US" sz="1600" b="0" i="0" u="none" strike="noStrike" dirty="0">
                        <a:solidFill>
                          <a:schemeClr val="bg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dirty="0">
                          <a:effectLst/>
                          <a:latin typeface="+mj-ea"/>
                          <a:ea typeface="+mj-ea"/>
                        </a:rPr>
                        <a:t>基于插件</a:t>
                      </a:r>
                      <a:endParaRPr lang="zh-CN" altLang="en-US" sz="1600" b="0" i="0" u="none" strike="noStrike" dirty="0">
                        <a:solidFill>
                          <a:schemeClr val="bg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dirty="0">
                          <a:effectLst/>
                          <a:latin typeface="+mj-ea"/>
                          <a:ea typeface="+mj-ea"/>
                        </a:rPr>
                        <a:t>设备模型</a:t>
                      </a:r>
                      <a:endParaRPr lang="zh-CN" altLang="en-US" sz="1600" b="0" i="0" u="none" strike="noStrike" dirty="0">
                        <a:solidFill>
                          <a:schemeClr val="bg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dirty="0">
                          <a:effectLst/>
                          <a:latin typeface="+mj-ea"/>
                          <a:ea typeface="+mj-ea"/>
                        </a:rPr>
                        <a:t>命名机制</a:t>
                      </a:r>
                      <a:endParaRPr lang="zh-CN" altLang="en-US" sz="1600" b="0" i="0" u="none" strike="noStrike" dirty="0">
                        <a:solidFill>
                          <a:schemeClr val="bg1"/>
                        </a:solidFill>
                        <a:effectLst/>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1057826431"/>
                  </a:ext>
                </a:extLst>
              </a:tr>
              <a:tr h="699927">
                <a:tc>
                  <a:txBody>
                    <a:bodyPr/>
                    <a:lstStyle/>
                    <a:p>
                      <a:pPr algn="ctr" rtl="0" fontAlgn="ctr"/>
                      <a:r>
                        <a:rPr lang="en-US" altLang="zh-CN" sz="1600" u="none" strike="noStrike" kern="1200" dirty="0">
                          <a:effectLst/>
                          <a:latin typeface="+mj-ea"/>
                          <a:ea typeface="+mj-ea"/>
                        </a:rPr>
                        <a:t>ARM </a:t>
                      </a:r>
                      <a:r>
                        <a:rPr lang="en-US" altLang="zh-CN" sz="1600" u="none" strike="noStrike" kern="1200" dirty="0" err="1">
                          <a:effectLst/>
                          <a:latin typeface="+mj-ea"/>
                          <a:ea typeface="+mj-ea"/>
                        </a:rPr>
                        <a:t>Mbed</a:t>
                      </a:r>
                      <a:endParaRPr lang="en-US" sz="1600" b="1" i="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endParaRPr lang="en-US" altLang="zh-CN"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endParaRPr lang="en-US" altLang="zh-CN"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endParaRPr lang="en-US" altLang="zh-CN"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endParaRPr lang="en-US" altLang="zh-CN"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endParaRPr lang="en-US" altLang="zh-CN"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endParaRPr lang="en-US" altLang="zh-CN"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10002"/>
                  </a:ext>
                </a:extLst>
              </a:tr>
              <a:tr h="699927">
                <a:tc>
                  <a:txBody>
                    <a:bodyPr/>
                    <a:lstStyle/>
                    <a:p>
                      <a:pPr algn="ctr" rtl="0" fontAlgn="ctr"/>
                      <a:r>
                        <a:rPr lang="zh-CN" altLang="en-US" sz="1600" u="none" strike="noStrike" kern="1200" dirty="0">
                          <a:effectLst/>
                          <a:latin typeface="+mj-ea"/>
                          <a:ea typeface="+mj-ea"/>
                        </a:rPr>
                        <a:t>中移</a:t>
                      </a:r>
                      <a:r>
                        <a:rPr lang="zh-CN" altLang="en-US" sz="1600" u="none" strike="noStrike" kern="1200" baseline="0" dirty="0">
                          <a:effectLst/>
                          <a:latin typeface="+mj-ea"/>
                          <a:ea typeface="+mj-ea"/>
                        </a:rPr>
                        <a:t> </a:t>
                      </a:r>
                      <a:r>
                        <a:rPr lang="en-US" altLang="zh-CN" sz="1600" u="none" strike="noStrike" kern="1200" baseline="0" dirty="0" err="1">
                          <a:effectLst/>
                          <a:latin typeface="+mj-ea"/>
                          <a:ea typeface="+mj-ea"/>
                        </a:rPr>
                        <a:t>OneNet</a:t>
                      </a:r>
                      <a:endParaRPr lang="en-US" sz="1600" b="1" i="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endParaRPr lang="en-US" altLang="zh-CN"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endParaRPr lang="en-US" altLang="zh-CN"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endParaRPr lang="en-US" altLang="zh-CN"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endParaRPr lang="en-US" altLang="zh-CN"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endParaRPr lang="en-US" altLang="zh-CN"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en-US" altLang="zh-CN" sz="1600" u="none" strike="noStrike" dirty="0">
                          <a:effectLst/>
                          <a:latin typeface="+mj-ea"/>
                          <a:ea typeface="+mj-ea"/>
                        </a:rPr>
                        <a:t>×</a:t>
                      </a:r>
                      <a:endParaRPr 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10003"/>
                  </a:ext>
                </a:extLst>
              </a:tr>
              <a:tr h="699927">
                <a:tc>
                  <a:txBody>
                    <a:bodyPr/>
                    <a:lstStyle/>
                    <a:p>
                      <a:pPr algn="ctr" rtl="0" fontAlgn="ctr"/>
                      <a:r>
                        <a:rPr lang="en-US" altLang="zh-CN" sz="1600" u="none" strike="noStrike" dirty="0" err="1">
                          <a:effectLst/>
                          <a:latin typeface="+mj-ea"/>
                          <a:ea typeface="+mj-ea"/>
                        </a:rPr>
                        <a:t>TinyLink</a:t>
                      </a:r>
                      <a:r>
                        <a:rPr lang="en-US" altLang="zh-CN" sz="1600" u="none" strike="noStrike" dirty="0">
                          <a:effectLst/>
                          <a:latin typeface="+mj-ea"/>
                          <a:ea typeface="+mj-ea"/>
                        </a:rPr>
                        <a:t> </a:t>
                      </a:r>
                      <a:endParaRPr 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en-US" altLang="zh-CN"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en-US" altLang="zh-CN" sz="1600" u="none" strike="noStrike" dirty="0">
                          <a:effectLst/>
                          <a:latin typeface="+mj-ea"/>
                          <a:ea typeface="+mj-ea"/>
                        </a:rPr>
                        <a:t>×</a:t>
                      </a:r>
                      <a:endParaRPr 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en-US" altLang="zh-CN"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endParaRPr lang="en-US" altLang="zh-CN"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r>
                        <a:rPr lang="en-US" sz="1600" u="none" strike="noStrike" dirty="0">
                          <a:effectLst/>
                          <a:latin typeface="+mj-ea"/>
                          <a:ea typeface="+mj-ea"/>
                        </a:rPr>
                        <a:t> </a:t>
                      </a:r>
                      <a:endParaRPr 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3857372589"/>
                  </a:ext>
                </a:extLst>
              </a:tr>
              <a:tr h="776886">
                <a:tc>
                  <a:txBody>
                    <a:bodyPr/>
                    <a:lstStyle/>
                    <a:p>
                      <a:pPr algn="ctr" rtl="0" fontAlgn="ctr"/>
                      <a:r>
                        <a:rPr lang="zh-CN" altLang="en-US" sz="1600" u="none" strike="noStrike" kern="1200" dirty="0">
                          <a:effectLst/>
                          <a:latin typeface="+mj-ea"/>
                          <a:ea typeface="+mj-ea"/>
                        </a:rPr>
                        <a:t>三星 </a:t>
                      </a:r>
                      <a:r>
                        <a:rPr lang="en-US" altLang="zh-CN" sz="1600" u="none" strike="noStrike" kern="1200" dirty="0">
                          <a:effectLst/>
                          <a:latin typeface="+mj-ea"/>
                          <a:ea typeface="+mj-ea"/>
                        </a:rPr>
                        <a:t>SmartThings</a:t>
                      </a:r>
                      <a:endParaRPr lang="en-US" sz="1600" b="1" i="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r>
                        <a:rPr lang="zh-CN" altLang="en-US" sz="1600" u="none" strike="noStrike" dirty="0">
                          <a:effectLst/>
                          <a:latin typeface="+mj-ea"/>
                          <a:ea typeface="+mj-ea"/>
                        </a:rPr>
                        <a:t>　</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en-US" altLang="zh-CN"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en-US" altLang="zh-CN"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en-US" altLang="zh-CN" sz="1600" u="none" strike="noStrike" dirty="0">
                          <a:effectLst/>
                          <a:latin typeface="+mj-ea"/>
                          <a:ea typeface="+mj-ea"/>
                        </a:rPr>
                        <a:t>×</a:t>
                      </a:r>
                      <a:endParaRPr lang="en-US" altLang="zh-CN"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endParaRPr lang="en-US" altLang="zh-CN"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3121604294"/>
                  </a:ext>
                </a:extLst>
              </a:tr>
              <a:tr h="648932">
                <a:tc>
                  <a:txBody>
                    <a:bodyPr/>
                    <a:lstStyle/>
                    <a:p>
                      <a:pPr algn="ctr" rtl="0" fontAlgn="ctr"/>
                      <a:r>
                        <a:rPr lang="en-US" altLang="zh-CN" sz="1600" u="none" strike="noStrike" kern="1200" dirty="0" err="1">
                          <a:effectLst/>
                          <a:latin typeface="+mj-ea"/>
                          <a:ea typeface="+mj-ea"/>
                        </a:rPr>
                        <a:t>Tuya</a:t>
                      </a:r>
                      <a:r>
                        <a:rPr lang="en-US" altLang="zh-CN" sz="1600" u="none" strike="noStrike" kern="1200" dirty="0">
                          <a:effectLst/>
                          <a:latin typeface="+mj-ea"/>
                          <a:ea typeface="+mj-ea"/>
                        </a:rPr>
                        <a:t> IoT</a:t>
                      </a:r>
                      <a:endParaRPr lang="en-US" sz="1600" b="1" i="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en-US" altLang="zh-CN"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endParaRPr lang="en-US" altLang="zh-CN"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kern="1200" dirty="0">
                          <a:effectLst/>
                          <a:latin typeface="+mj-ea"/>
                          <a:ea typeface="+mj-ea"/>
                        </a:rPr>
                        <a:t>√</a:t>
                      </a:r>
                      <a:endParaRPr lang="zh-CN" altLang="en-US" sz="1600" b="0" i="0" u="none" strike="noStrike" kern="1200"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600" u="none" strike="noStrike" kern="1200" cap="none" spc="0" normalizeH="0" baseline="0" noProof="0" dirty="0">
                          <a:ln>
                            <a:noFill/>
                          </a:ln>
                          <a:effectLst/>
                          <a:uLnTx/>
                          <a:uFillTx/>
                          <a:latin typeface="+mj-ea"/>
                          <a:ea typeface="+mj-ea"/>
                        </a:rPr>
                        <a:t>×</a:t>
                      </a:r>
                      <a:endParaRPr kumimoji="0" lang="en-US" altLang="zh-CN" sz="1600" b="0" i="0" u="none" strike="noStrike" kern="1200" cap="none" spc="0" normalizeH="0" baseline="0" noProof="0" dirty="0">
                        <a:ln>
                          <a:noFill/>
                        </a:ln>
                        <a:solidFill>
                          <a:srgbClr val="000000"/>
                        </a:solidFill>
                        <a:effectLst/>
                        <a:uLnTx/>
                        <a:uFillTx/>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600" u="none" strike="noStrike" kern="1200" cap="none" spc="0" normalizeH="0" baseline="0" noProof="0" dirty="0">
                          <a:ln>
                            <a:noFill/>
                          </a:ln>
                          <a:effectLst/>
                          <a:uLnTx/>
                          <a:uFillTx/>
                          <a:latin typeface="+mj-ea"/>
                          <a:ea typeface="+mj-ea"/>
                        </a:rPr>
                        <a:t>√</a:t>
                      </a:r>
                      <a:endParaRPr kumimoji="0" lang="zh-CN" altLang="en-US" sz="1600" b="0" i="0" u="none" strike="noStrike" kern="1200" cap="none" spc="0" normalizeH="0" baseline="0" noProof="0" dirty="0">
                        <a:ln>
                          <a:noFill/>
                        </a:ln>
                        <a:solidFill>
                          <a:srgbClr val="000000"/>
                        </a:solidFill>
                        <a:effectLst/>
                        <a:uLnTx/>
                        <a:uFillTx/>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600" u="none" strike="noStrike" kern="1200" cap="none" spc="0" normalizeH="0" baseline="0" noProof="0" dirty="0">
                          <a:ln>
                            <a:noFill/>
                          </a:ln>
                          <a:effectLst/>
                          <a:uLnTx/>
                          <a:uFillTx/>
                          <a:latin typeface="+mj-ea"/>
                          <a:ea typeface="+mj-ea"/>
                        </a:rPr>
                        <a:t>×</a:t>
                      </a:r>
                      <a:endParaRPr kumimoji="0" lang="en-US" altLang="zh-CN" sz="1600" b="0" i="0" u="none" strike="noStrike" kern="1200" cap="none" spc="0" normalizeH="0" baseline="0" noProof="0" dirty="0">
                        <a:ln>
                          <a:noFill/>
                        </a:ln>
                        <a:solidFill>
                          <a:srgbClr val="000000"/>
                        </a:solidFill>
                        <a:effectLst/>
                        <a:uLnTx/>
                        <a:uFillTx/>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10006"/>
                  </a:ext>
                </a:extLst>
              </a:tr>
              <a:tr h="648932">
                <a:tc>
                  <a:txBody>
                    <a:bodyPr/>
                    <a:lstStyle/>
                    <a:p>
                      <a:pPr algn="ctr" rtl="0" fontAlgn="ctr"/>
                      <a:r>
                        <a:rPr lang="en-US" sz="1600" u="none" strike="noStrike" kern="1200" dirty="0" err="1">
                          <a:effectLst/>
                          <a:latin typeface="+mj-ea"/>
                          <a:ea typeface="+mj-ea"/>
                        </a:rPr>
                        <a:t>LinkDevelop</a:t>
                      </a:r>
                      <a:endParaRPr lang="en-US" sz="1600" b="1" i="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en-US" altLang="zh-CN"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endParaRPr lang="en-US" altLang="zh-CN"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dirty="0">
                          <a:effectLst/>
                          <a:latin typeface="+mj-ea"/>
                          <a:ea typeface="+mj-ea"/>
                        </a:rPr>
                        <a:t>×</a:t>
                      </a:r>
                      <a:endParaRPr lang="en-US" altLang="zh-CN"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dirty="0">
                          <a:effectLst/>
                          <a:latin typeface="+mj-ea"/>
                          <a:ea typeface="+mj-ea"/>
                        </a:rPr>
                        <a:t>√</a:t>
                      </a:r>
                      <a:endParaRPr lang="zh-CN" alt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3356318774"/>
                  </a:ext>
                </a:extLst>
              </a:tr>
            </a:tbl>
          </a:graphicData>
        </a:graphic>
      </p:graphicFrame>
    </p:spTree>
    <p:extLst>
      <p:ext uri="{BB962C8B-B14F-4D97-AF65-F5344CB8AC3E}">
        <p14:creationId xmlns:p14="http://schemas.microsoft.com/office/powerpoint/2010/main" val="2537603858"/>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a:t>目录</a:t>
            </a:r>
            <a:endParaRPr lang="zh-CN" altLang="en-US" dirty="0"/>
          </a:p>
        </p:txBody>
      </p:sp>
      <p:sp>
        <p:nvSpPr>
          <p:cNvPr id="3" name="内容占位符 2">
            <a:extLst>
              <a:ext uri="{FF2B5EF4-FFF2-40B4-BE49-F238E27FC236}">
                <a16:creationId xmlns:a16="http://schemas.microsoft.com/office/drawing/2014/main" id="{3C3118B4-4FD6-4222-B0D2-A4331CF1D358}"/>
              </a:ext>
            </a:extLst>
          </p:cNvPr>
          <p:cNvSpPr>
            <a:spLocks noGrp="1"/>
          </p:cNvSpPr>
          <p:nvPr>
            <p:ph idx="1"/>
          </p:nvPr>
        </p:nvSpPr>
        <p:spPr/>
        <p:txBody>
          <a:bodyPr/>
          <a:lstStyle/>
          <a:p>
            <a:endParaRPr lang="en-US" altLang="zh-CN" sz="2800" dirty="0"/>
          </a:p>
          <a:p>
            <a:r>
              <a:rPr lang="zh-CN" altLang="en-US" sz="2800" dirty="0"/>
              <a:t>概述</a:t>
            </a:r>
          </a:p>
          <a:p>
            <a:r>
              <a:rPr lang="zh-CN" altLang="en-US" sz="2800" dirty="0"/>
              <a:t>云</a:t>
            </a:r>
            <a:r>
              <a:rPr lang="en-US" altLang="zh-CN" sz="2800" dirty="0"/>
              <a:t>-</a:t>
            </a:r>
            <a:r>
              <a:rPr lang="zh-CN" altLang="en-US" sz="2800" dirty="0"/>
              <a:t>端一体开发平台主要功能</a:t>
            </a:r>
          </a:p>
          <a:p>
            <a:r>
              <a:rPr lang="zh-CN" altLang="en-US" sz="2800" dirty="0"/>
              <a:t>典型物联网云</a:t>
            </a:r>
            <a:r>
              <a:rPr lang="en-US" altLang="zh-CN" sz="2800" dirty="0"/>
              <a:t>-</a:t>
            </a:r>
            <a:r>
              <a:rPr lang="zh-CN" altLang="en-US" sz="2800" dirty="0"/>
              <a:t>端一体开发平台</a:t>
            </a:r>
          </a:p>
          <a:p>
            <a:pPr lvl="1"/>
            <a:r>
              <a:rPr lang="en-US" altLang="zh-CN" sz="2400" dirty="0" err="1">
                <a:solidFill>
                  <a:srgbClr val="C00000"/>
                </a:solidFill>
              </a:rPr>
              <a:t>TinyLink</a:t>
            </a:r>
            <a:endParaRPr lang="en-US" altLang="zh-CN" sz="2400" dirty="0">
              <a:solidFill>
                <a:srgbClr val="C00000"/>
              </a:solidFill>
            </a:endParaRPr>
          </a:p>
          <a:p>
            <a:pPr lvl="1"/>
            <a:r>
              <a:rPr lang="en-US" altLang="zh-CN" sz="2400" dirty="0"/>
              <a:t>IoT Studio</a:t>
            </a:r>
          </a:p>
          <a:p>
            <a:pPr lvl="1"/>
            <a:r>
              <a:rPr lang="en-US" altLang="zh-CN" sz="2400" dirty="0" err="1"/>
              <a:t>Tuya</a:t>
            </a:r>
            <a:r>
              <a:rPr lang="en-US" altLang="zh-CN" sz="2400" dirty="0"/>
              <a:t> IoT</a:t>
            </a:r>
            <a:r>
              <a:rPr lang="zh-CN" altLang="en-US" sz="2400" dirty="0"/>
              <a:t>开发平台</a:t>
            </a:r>
          </a:p>
          <a:p>
            <a:r>
              <a:rPr lang="zh-CN" altLang="en-US" sz="2800" dirty="0"/>
              <a:t>案例开发</a:t>
            </a:r>
          </a:p>
          <a:p>
            <a:r>
              <a:rPr lang="zh-CN" altLang="en-US" sz="2800" dirty="0"/>
              <a:t>总结</a:t>
            </a:r>
          </a:p>
          <a:p>
            <a:endParaRPr lang="zh-CN" altLang="en-US" sz="2800" dirty="0"/>
          </a:p>
        </p:txBody>
      </p:sp>
      <p:sp>
        <p:nvSpPr>
          <p:cNvPr id="28" name="灯片编号占位符 4"/>
          <p:cNvSpPr txBox="1">
            <a:spLocks noChangeArrowheads="1"/>
          </p:cNvSpPr>
          <p:nvPr/>
        </p:nvSpPr>
        <p:spPr bwMode="auto">
          <a:xfrm>
            <a:off x="8229600" y="6553200"/>
            <a:ext cx="762000" cy="228600"/>
          </a:xfrm>
          <a:prstGeom prst="rect">
            <a:avLst/>
          </a:prstGeom>
          <a:noFill/>
          <a:ln w="9525">
            <a:noFill/>
            <a:miter lim="800000"/>
            <a:headEnd/>
            <a:tailEnd/>
          </a:ln>
        </p:spPr>
        <p:txBody>
          <a:bodyPr lIns="92075" tIns="46038" rIns="92075" bIns="46038" anchor="ctr"/>
          <a:lstStyle/>
          <a:p>
            <a:pPr algn="r"/>
            <a:fld id="{5C42246B-9AD6-4994-8CF2-B420465BEF68}" type="slidenum">
              <a:rPr lang="en-US" altLang="zh-CN" sz="1800" baseline="0">
                <a:solidFill>
                  <a:srgbClr val="000000"/>
                </a:solidFill>
                <a:latin typeface="Monotype Corsiva" pitchFamily="66" charset="0"/>
              </a:rPr>
              <a:pPr algn="r"/>
              <a:t>46</a:t>
            </a:fld>
            <a:endParaRPr lang="zh-CN" altLang="zh-CN" sz="1800" baseline="0" dirty="0">
              <a:solidFill>
                <a:srgbClr val="000000"/>
              </a:solidFill>
              <a:latin typeface="Monotype Corsiva" pitchFamily="66" charset="0"/>
            </a:endParaRPr>
          </a:p>
        </p:txBody>
      </p:sp>
      <p:sp>
        <p:nvSpPr>
          <p:cNvPr id="7" name="内容占位符 2"/>
          <p:cNvSpPr>
            <a:spLocks noGrp="1"/>
          </p:cNvSpPr>
          <p:nvPr/>
        </p:nvSpPr>
        <p:spPr bwMode="auto">
          <a:xfrm>
            <a:off x="457200" y="990000"/>
            <a:ext cx="8305800" cy="5410200"/>
          </a:xfrm>
          <a:prstGeom prst="rect">
            <a:avLst/>
          </a:prstGeom>
          <a:noFill/>
          <a:ln w="9525">
            <a:noFill/>
            <a:miter lim="800000"/>
          </a:ln>
          <a:effectLst/>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Tx/>
              <a:buFont typeface="Wingdings" panose="05000000000000000000" pitchFamily="2" charset="2"/>
              <a:buChar char="l"/>
              <a:defRPr lang="zh-CN" altLang="en-US" sz="2800" b="1" baseline="0" dirty="0" smtClean="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20000"/>
              </a:spcBef>
              <a:spcAft>
                <a:spcPct val="0"/>
              </a:spcAft>
              <a:buClrTx/>
              <a:buFont typeface="Wingdings" panose="05000000000000000000" pitchFamily="2" charset="2"/>
              <a:buChar char="l"/>
              <a:defRPr kumimoji="1" lang="zh-CN" altLang="en-US" sz="2800" b="1" baseline="0" dirty="0">
                <a:solidFill>
                  <a:schemeClr val="tx1"/>
                </a:solidFill>
                <a:effectLst/>
                <a:latin typeface="+mj-ea"/>
                <a:ea typeface="+mj-ea"/>
                <a:cs typeface="+mn-cs"/>
              </a:defRPr>
            </a:lvl2pPr>
            <a:lvl3pPr marL="1143000" indent="-228600" algn="l" rtl="0" eaLnBrk="0" fontAlgn="base" hangingPunct="0">
              <a:spcBef>
                <a:spcPct val="20000"/>
              </a:spcBef>
              <a:spcAft>
                <a:spcPct val="0"/>
              </a:spcAft>
              <a:buClrTx/>
              <a:buFont typeface="Wingdings" panose="05000000000000000000" pitchFamily="2" charset="2"/>
              <a:buChar char="l"/>
              <a:defRPr lang="en-US" altLang="zh-CN" sz="2400" b="1" i="0" baseline="0">
                <a:solidFill>
                  <a:schemeClr val="tx1"/>
                </a:solidFill>
                <a:effectLst/>
                <a:latin typeface="微软雅黑" panose="020B0503020204020204" pitchFamily="34" charset="-122"/>
                <a:ea typeface="微软雅黑" panose="020B0503020204020204" pitchFamily="34" charset="-122"/>
                <a:cs typeface="+mn-cs"/>
              </a:defRPr>
            </a:lvl3pPr>
            <a:lvl4pPr marL="1600200" indent="-228600" algn="l" rtl="0" eaLnBrk="0" fontAlgn="base" hangingPunct="0">
              <a:spcBef>
                <a:spcPct val="20000"/>
              </a:spcBef>
              <a:spcAft>
                <a:spcPct val="0"/>
              </a:spcAft>
              <a:buClrTx/>
              <a:buSzPct val="100000"/>
              <a:buFont typeface="Wingdings" panose="05000000000000000000" pitchFamily="2" charset="2"/>
              <a:buChar char="l"/>
              <a:defRPr lang="en-US" altLang="zh-CN" sz="2400" b="1" baseline="0">
                <a:solidFill>
                  <a:schemeClr val="tx1"/>
                </a:solidFill>
                <a:effectLst/>
                <a:latin typeface="微软雅黑" panose="020B0503020204020204" pitchFamily="34" charset="-122"/>
                <a:ea typeface="微软雅黑" panose="020B0503020204020204" pitchFamily="34" charset="-122"/>
                <a:cs typeface="+mn-cs"/>
              </a:defRPr>
            </a:lvl4pPr>
            <a:lvl5pPr marL="2057400" indent="-228600" algn="l" rtl="0" eaLnBrk="0" fontAlgn="base" hangingPunct="0">
              <a:spcBef>
                <a:spcPct val="20000"/>
              </a:spcBef>
              <a:spcAft>
                <a:spcPct val="0"/>
              </a:spcAft>
              <a:buClrTx/>
              <a:buSzPct val="100000"/>
              <a:buFont typeface="Wingdings" panose="05000000000000000000" pitchFamily="2" charset="2"/>
              <a:buChar char="l"/>
              <a:defRPr lang="en-US" altLang="zh-CN" sz="2400" b="1" i="1" baseline="0">
                <a:solidFill>
                  <a:schemeClr val="tx1"/>
                </a:solidFill>
                <a:effectLst/>
                <a:latin typeface="微软雅黑" panose="020B0503020204020204" pitchFamily="34" charset="-122"/>
                <a:ea typeface="微软雅黑" panose="020B0503020204020204" pitchFamily="34" charset="-122"/>
                <a:cs typeface="+mn-cs"/>
              </a:defRPr>
            </a:lvl5pPr>
            <a:lvl6pPr marL="25146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9pPr>
          </a:lstStyle>
          <a:p>
            <a:endParaRPr lang="zh-CN" altLang="en-US" dirty="0"/>
          </a:p>
        </p:txBody>
      </p:sp>
    </p:spTree>
    <p:extLst>
      <p:ext uri="{BB962C8B-B14F-4D97-AF65-F5344CB8AC3E}">
        <p14:creationId xmlns:p14="http://schemas.microsoft.com/office/powerpoint/2010/main" val="3632058161"/>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TinyLink</a:t>
            </a:r>
            <a:endParaRPr lang="en-US" altLang="zh-CN" dirty="0"/>
          </a:p>
        </p:txBody>
      </p:sp>
      <p:sp>
        <p:nvSpPr>
          <p:cNvPr id="3" name="内容占位符 2"/>
          <p:cNvSpPr>
            <a:spLocks noGrp="1"/>
          </p:cNvSpPr>
          <p:nvPr>
            <p:ph idx="1"/>
          </p:nvPr>
        </p:nvSpPr>
        <p:spPr/>
        <p:txBody>
          <a:bodyPr/>
          <a:lstStyle/>
          <a:p>
            <a:r>
              <a:rPr lang="zh-CN" altLang="en-US"/>
              <a:t>简介</a:t>
            </a:r>
            <a:endParaRPr lang="en-US" altLang="zh-CN"/>
          </a:p>
          <a:p>
            <a:pPr lvl="1"/>
            <a:r>
              <a:rPr lang="en-US" altLang="zh-CN"/>
              <a:t>2017</a:t>
            </a:r>
            <a:r>
              <a:rPr lang="zh-CN" altLang="en-US"/>
              <a:t>年</a:t>
            </a:r>
            <a:r>
              <a:rPr lang="en-US" altLang="zh-CN"/>
              <a:t>3</a:t>
            </a:r>
            <a:r>
              <a:rPr lang="zh-CN" altLang="en-US"/>
              <a:t>月浙大</a:t>
            </a:r>
            <a:r>
              <a:rPr lang="en-US" altLang="zh-CN"/>
              <a:t>EmNets</a:t>
            </a:r>
            <a:r>
              <a:rPr lang="zh-CN" altLang="en-US"/>
              <a:t>实验室推出软硬件一体快速开发平台</a:t>
            </a:r>
            <a:r>
              <a:rPr lang="en-US" altLang="zh-CN"/>
              <a:t>——Tinylink 1.0</a:t>
            </a:r>
            <a:endParaRPr lang="zh-CN" altLang="en-US"/>
          </a:p>
          <a:p>
            <a:pPr lvl="1"/>
            <a:r>
              <a:rPr lang="en-US" altLang="zh-CN"/>
              <a:t>2017</a:t>
            </a:r>
            <a:r>
              <a:rPr lang="zh-CN" altLang="en-US"/>
              <a:t>年</a:t>
            </a:r>
            <a:r>
              <a:rPr lang="en-US" altLang="zh-CN"/>
              <a:t>12</a:t>
            </a:r>
            <a:r>
              <a:rPr lang="zh-CN" altLang="en-US"/>
              <a:t>月浙大</a:t>
            </a:r>
            <a:r>
              <a:rPr lang="en-US" altLang="zh-CN"/>
              <a:t>EmNets</a:t>
            </a:r>
            <a:r>
              <a:rPr lang="zh-CN" altLang="en-US"/>
              <a:t>实验室推出</a:t>
            </a:r>
            <a:r>
              <a:rPr lang="en-US" altLang="zh-CN"/>
              <a:t>Tinylink</a:t>
            </a:r>
            <a:r>
              <a:rPr lang="zh-CN" altLang="en-US"/>
              <a:t> </a:t>
            </a:r>
            <a:r>
              <a:rPr lang="en-US" altLang="zh-CN"/>
              <a:t>2.0</a:t>
            </a:r>
            <a:r>
              <a:rPr lang="zh-CN" altLang="en-US"/>
              <a:t>开发平台，在</a:t>
            </a:r>
            <a:r>
              <a:rPr lang="en-US" altLang="zh-CN"/>
              <a:t>1.0</a:t>
            </a:r>
            <a:r>
              <a:rPr lang="zh-CN" altLang="en-US"/>
              <a:t>平台设备端开发的基础上，集成</a:t>
            </a:r>
            <a:r>
              <a:rPr lang="en-US" altLang="zh-CN"/>
              <a:t>Web</a:t>
            </a:r>
            <a:r>
              <a:rPr lang="zh-CN" altLang="en-US"/>
              <a:t>端应用和手机端应用开发，构成了物联网一体化开发平台</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rcRect l="38936" t="15910" r="30227" b="18857"/>
          <a:stretch>
            <a:fillRect/>
          </a:stretch>
        </p:blipFill>
        <p:spPr>
          <a:xfrm>
            <a:off x="4408301" y="4676140"/>
            <a:ext cx="1987550" cy="1405890"/>
          </a:xfrm>
          <a:prstGeom prst="rect">
            <a:avLst/>
          </a:prstGeom>
        </p:spPr>
      </p:pic>
      <p:pic>
        <p:nvPicPr>
          <p:cNvPr id="7" name="图片 6" descr="手机 (2)"/>
          <p:cNvPicPr>
            <a:picLocks noChangeAspect="1"/>
          </p:cNvPicPr>
          <p:nvPr/>
        </p:nvPicPr>
        <p:blipFill>
          <a:blip r:embed="rId4"/>
          <a:stretch>
            <a:fillRect/>
          </a:stretch>
        </p:blipFill>
        <p:spPr>
          <a:xfrm>
            <a:off x="7227066" y="4705350"/>
            <a:ext cx="1348105" cy="1348105"/>
          </a:xfrm>
          <a:prstGeom prst="rect">
            <a:avLst/>
          </a:prstGeom>
        </p:spPr>
      </p:pic>
      <p:pic>
        <p:nvPicPr>
          <p:cNvPr id="9" name="图片 8" descr="设备 (1)"/>
          <p:cNvPicPr>
            <a:picLocks noChangeAspect="1"/>
          </p:cNvPicPr>
          <p:nvPr/>
        </p:nvPicPr>
        <p:blipFill>
          <a:blip r:embed="rId5"/>
          <a:stretch>
            <a:fillRect/>
          </a:stretch>
        </p:blipFill>
        <p:spPr>
          <a:xfrm>
            <a:off x="2324231" y="4726305"/>
            <a:ext cx="1256030" cy="1256030"/>
          </a:xfrm>
          <a:prstGeom prst="rect">
            <a:avLst/>
          </a:prstGeom>
        </p:spPr>
      </p:pic>
      <p:pic>
        <p:nvPicPr>
          <p:cNvPr id="10" name="图片 9" descr="平台管理"/>
          <p:cNvPicPr>
            <a:picLocks noChangeAspect="1"/>
          </p:cNvPicPr>
          <p:nvPr/>
        </p:nvPicPr>
        <p:blipFill>
          <a:blip r:embed="rId6"/>
          <a:stretch>
            <a:fillRect/>
          </a:stretch>
        </p:blipFill>
        <p:spPr>
          <a:xfrm>
            <a:off x="4972181" y="3317240"/>
            <a:ext cx="935990" cy="935990"/>
          </a:xfrm>
          <a:prstGeom prst="rect">
            <a:avLst/>
          </a:prstGeom>
        </p:spPr>
      </p:pic>
      <p:cxnSp>
        <p:nvCxnSpPr>
          <p:cNvPr id="11" name="肘形连接符 10"/>
          <p:cNvCxnSpPr>
            <a:stCxn id="10" idx="2"/>
            <a:endCxn id="9" idx="0"/>
          </p:cNvCxnSpPr>
          <p:nvPr/>
        </p:nvCxnSpPr>
        <p:spPr>
          <a:xfrm rot="5400000">
            <a:off x="3959991" y="3245485"/>
            <a:ext cx="473075" cy="2487930"/>
          </a:xfrm>
          <a:prstGeom prst="bentConnector3">
            <a:avLst>
              <a:gd name="adj1" fmla="val 50000"/>
            </a:avLst>
          </a:prstGeom>
          <a:solidFill>
            <a:schemeClr val="accent1"/>
          </a:solidFill>
          <a:ln w="19050" cap="flat" cmpd="sng" algn="ctr">
            <a:solidFill>
              <a:schemeClr val="tx1"/>
            </a:solidFill>
            <a:prstDash val="solid"/>
            <a:round/>
            <a:headEnd type="none" w="med" len="med"/>
            <a:tailEnd type="arrow" w="med" len="med"/>
          </a:ln>
        </p:spPr>
      </p:cxnSp>
      <p:cxnSp>
        <p:nvCxnSpPr>
          <p:cNvPr id="13" name="肘形连接符 12"/>
          <p:cNvCxnSpPr>
            <a:stCxn id="10" idx="2"/>
            <a:endCxn id="7" idx="0"/>
          </p:cNvCxnSpPr>
          <p:nvPr/>
        </p:nvCxnSpPr>
        <p:spPr>
          <a:xfrm rot="5400000" flipV="1">
            <a:off x="6444746" y="3248660"/>
            <a:ext cx="452120" cy="2461260"/>
          </a:xfrm>
          <a:prstGeom prst="bentConnector3">
            <a:avLst>
              <a:gd name="adj1" fmla="val 50000"/>
            </a:avLst>
          </a:prstGeom>
          <a:solidFill>
            <a:schemeClr val="accent1"/>
          </a:solidFill>
          <a:ln w="19050" cap="flat" cmpd="sng" algn="ctr">
            <a:solidFill>
              <a:schemeClr val="tx1"/>
            </a:solidFill>
            <a:prstDash val="solid"/>
            <a:round/>
            <a:headEnd type="none" w="med" len="med"/>
            <a:tailEnd type="arrow" w="med" len="med"/>
          </a:ln>
        </p:spPr>
      </p:cxnSp>
      <p:cxnSp>
        <p:nvCxnSpPr>
          <p:cNvPr id="14" name="直接箭头连接符 13"/>
          <p:cNvCxnSpPr>
            <a:stCxn id="10" idx="2"/>
          </p:cNvCxnSpPr>
          <p:nvPr/>
        </p:nvCxnSpPr>
        <p:spPr>
          <a:xfrm>
            <a:off x="5440176" y="4253230"/>
            <a:ext cx="3175" cy="452120"/>
          </a:xfrm>
          <a:prstGeom prst="straightConnector1">
            <a:avLst/>
          </a:prstGeom>
          <a:ln w="19050">
            <a:headEnd type="none" w="med" len="med"/>
            <a:tailEnd type="arrow" w="med" len="med"/>
          </a:ln>
          <a:effectLst/>
        </p:spPr>
        <p:style>
          <a:lnRef idx="2">
            <a:schemeClr val="dk1"/>
          </a:lnRef>
          <a:fillRef idx="0">
            <a:schemeClr val="dk1"/>
          </a:fillRef>
          <a:effectRef idx="1">
            <a:schemeClr val="dk1"/>
          </a:effectRef>
          <a:fontRef idx="minor">
            <a:schemeClr val="tx1"/>
          </a:fontRef>
        </p:style>
      </p:cxnSp>
      <p:sp>
        <p:nvSpPr>
          <p:cNvPr id="15" name="文本框 14"/>
          <p:cNvSpPr txBox="1"/>
          <p:nvPr/>
        </p:nvSpPr>
        <p:spPr>
          <a:xfrm>
            <a:off x="5908171" y="3480435"/>
            <a:ext cx="1562100" cy="338554"/>
          </a:xfrm>
          <a:prstGeom prst="rect">
            <a:avLst/>
          </a:prstGeom>
          <a:noFill/>
        </p:spPr>
        <p:txBody>
          <a:bodyPr wrap="square" rtlCol="0">
            <a:spAutoFit/>
          </a:bodyPr>
          <a:lstStyle/>
          <a:p>
            <a:r>
              <a:rPr lang="en-US" altLang="zh-CN" b="1" dirty="0" err="1">
                <a:solidFill>
                  <a:prstClr val="black">
                    <a:lumMod val="75000"/>
                    <a:lumOff val="25000"/>
                  </a:prstClr>
                </a:solidFill>
                <a:latin typeface="+mj-ea"/>
                <a:ea typeface="+mj-ea"/>
                <a:cs typeface="Times New Roman" panose="02020603050405020304" pitchFamily="18" charset="0"/>
              </a:rPr>
              <a:t>TinyLink</a:t>
            </a:r>
            <a:r>
              <a:rPr lang="en-US" altLang="zh-CN" b="1" dirty="0">
                <a:solidFill>
                  <a:prstClr val="black">
                    <a:lumMod val="75000"/>
                    <a:lumOff val="25000"/>
                  </a:prstClr>
                </a:solidFill>
                <a:latin typeface="+mj-ea"/>
                <a:ea typeface="+mj-ea"/>
                <a:cs typeface="Times New Roman" panose="02020603050405020304" pitchFamily="18" charset="0"/>
              </a:rPr>
              <a:t> 2.0</a:t>
            </a:r>
            <a:endParaRPr lang="zh-CN" altLang="en-US" b="1" dirty="0">
              <a:solidFill>
                <a:prstClr val="black">
                  <a:lumMod val="75000"/>
                  <a:lumOff val="25000"/>
                </a:prstClr>
              </a:solidFill>
              <a:latin typeface="+mj-ea"/>
              <a:ea typeface="+mj-ea"/>
              <a:cs typeface="Times New Roman" panose="02020603050405020304" pitchFamily="18" charset="0"/>
            </a:endParaRPr>
          </a:p>
        </p:txBody>
      </p:sp>
      <p:sp>
        <p:nvSpPr>
          <p:cNvPr id="16" name="文本框 15"/>
          <p:cNvSpPr txBox="1"/>
          <p:nvPr/>
        </p:nvSpPr>
        <p:spPr>
          <a:xfrm>
            <a:off x="5109976" y="6082030"/>
            <a:ext cx="798195" cy="338554"/>
          </a:xfrm>
          <a:prstGeom prst="rect">
            <a:avLst/>
          </a:prstGeom>
          <a:noFill/>
        </p:spPr>
        <p:txBody>
          <a:bodyPr wrap="square" rtlCol="0">
            <a:spAutoFit/>
          </a:bodyPr>
          <a:lstStyle/>
          <a:p>
            <a:r>
              <a:rPr lang="zh-CN" altLang="en-US" b="1">
                <a:solidFill>
                  <a:prstClr val="black">
                    <a:lumMod val="75000"/>
                    <a:lumOff val="25000"/>
                  </a:prstClr>
                </a:solidFill>
                <a:latin typeface="Times New Roman" panose="02020603050405020304" pitchFamily="18" charset="0"/>
                <a:ea typeface="+mj-ea"/>
                <a:cs typeface="Times New Roman" panose="02020603050405020304" pitchFamily="18" charset="0"/>
              </a:rPr>
              <a:t>云端</a:t>
            </a:r>
          </a:p>
        </p:txBody>
      </p:sp>
      <p:sp>
        <p:nvSpPr>
          <p:cNvPr id="17" name="文本框 16"/>
          <p:cNvSpPr txBox="1"/>
          <p:nvPr/>
        </p:nvSpPr>
        <p:spPr>
          <a:xfrm>
            <a:off x="2561720" y="6082030"/>
            <a:ext cx="1015365" cy="338554"/>
          </a:xfrm>
          <a:prstGeom prst="rect">
            <a:avLst/>
          </a:prstGeom>
          <a:noFill/>
        </p:spPr>
        <p:txBody>
          <a:bodyPr wrap="square" rtlCol="0">
            <a:spAutoFit/>
          </a:bodyPr>
          <a:lstStyle/>
          <a:p>
            <a:r>
              <a:rPr lang="zh-CN" altLang="en-US" b="1" dirty="0">
                <a:solidFill>
                  <a:prstClr val="black">
                    <a:lumMod val="75000"/>
                    <a:lumOff val="25000"/>
                  </a:prstClr>
                </a:solidFill>
                <a:latin typeface="Times New Roman" panose="02020603050405020304" pitchFamily="18" charset="0"/>
                <a:ea typeface="+mj-ea"/>
                <a:cs typeface="Times New Roman" panose="02020603050405020304" pitchFamily="18" charset="0"/>
              </a:rPr>
              <a:t>设备端</a:t>
            </a:r>
            <a:endParaRPr lang="en-US" altLang="zh-CN" b="1" dirty="0">
              <a:solidFill>
                <a:prstClr val="black">
                  <a:lumMod val="75000"/>
                  <a:lumOff val="25000"/>
                </a:prstClr>
              </a:solidFill>
              <a:latin typeface="Times New Roman" panose="02020603050405020304" pitchFamily="18" charset="0"/>
              <a:ea typeface="+mj-ea"/>
              <a:cs typeface="Times New Roman" panose="02020603050405020304" pitchFamily="18" charset="0"/>
            </a:endParaRPr>
          </a:p>
        </p:txBody>
      </p:sp>
      <p:sp>
        <p:nvSpPr>
          <p:cNvPr id="18" name="文本框 17"/>
          <p:cNvSpPr txBox="1"/>
          <p:nvPr/>
        </p:nvSpPr>
        <p:spPr>
          <a:xfrm>
            <a:off x="7470271" y="6082030"/>
            <a:ext cx="889000" cy="338554"/>
          </a:xfrm>
          <a:prstGeom prst="rect">
            <a:avLst/>
          </a:prstGeom>
          <a:noFill/>
        </p:spPr>
        <p:txBody>
          <a:bodyPr wrap="square" rtlCol="0">
            <a:spAutoFit/>
          </a:bodyPr>
          <a:lstStyle/>
          <a:p>
            <a:r>
              <a:rPr lang="zh-CN" altLang="en-US" b="1">
                <a:solidFill>
                  <a:prstClr val="black">
                    <a:lumMod val="75000"/>
                    <a:lumOff val="25000"/>
                  </a:prstClr>
                </a:solidFill>
                <a:latin typeface="Times New Roman" panose="02020603050405020304" pitchFamily="18" charset="0"/>
                <a:ea typeface="+mj-ea"/>
                <a:cs typeface="Times New Roman" panose="02020603050405020304" pitchFamily="18" charset="0"/>
              </a:rPr>
              <a:t>手机端</a:t>
            </a:r>
          </a:p>
        </p:txBody>
      </p:sp>
      <p:pic>
        <p:nvPicPr>
          <p:cNvPr id="19" name="图片 18" descr="平台管理">
            <a:extLst>
              <a:ext uri="{FF2B5EF4-FFF2-40B4-BE49-F238E27FC236}">
                <a16:creationId xmlns:a16="http://schemas.microsoft.com/office/drawing/2014/main" id="{66D77191-AB3B-4026-B8F8-700EF4CB7D84}"/>
              </a:ext>
            </a:extLst>
          </p:cNvPr>
          <p:cNvPicPr>
            <a:picLocks noChangeAspect="1"/>
          </p:cNvPicPr>
          <p:nvPr/>
        </p:nvPicPr>
        <p:blipFill>
          <a:blip r:embed="rId6"/>
          <a:stretch>
            <a:fillRect/>
          </a:stretch>
        </p:blipFill>
        <p:spPr>
          <a:xfrm>
            <a:off x="504638" y="4819650"/>
            <a:ext cx="935990" cy="935990"/>
          </a:xfrm>
          <a:prstGeom prst="rect">
            <a:avLst/>
          </a:prstGeom>
        </p:spPr>
      </p:pic>
      <p:sp>
        <p:nvSpPr>
          <p:cNvPr id="20" name="文本框 19">
            <a:extLst>
              <a:ext uri="{FF2B5EF4-FFF2-40B4-BE49-F238E27FC236}">
                <a16:creationId xmlns:a16="http://schemas.microsoft.com/office/drawing/2014/main" id="{D52F7406-BAB0-48BB-A2DD-182E33ED7760}"/>
              </a:ext>
            </a:extLst>
          </p:cNvPr>
          <p:cNvSpPr txBox="1"/>
          <p:nvPr/>
        </p:nvSpPr>
        <p:spPr>
          <a:xfrm>
            <a:off x="243840" y="5743476"/>
            <a:ext cx="1562100" cy="338554"/>
          </a:xfrm>
          <a:prstGeom prst="rect">
            <a:avLst/>
          </a:prstGeom>
          <a:noFill/>
        </p:spPr>
        <p:txBody>
          <a:bodyPr wrap="square" rtlCol="0">
            <a:spAutoFit/>
          </a:bodyPr>
          <a:lstStyle/>
          <a:p>
            <a:r>
              <a:rPr lang="en-US" altLang="zh-CN" b="1" dirty="0" err="1">
                <a:solidFill>
                  <a:prstClr val="black">
                    <a:lumMod val="75000"/>
                    <a:lumOff val="25000"/>
                  </a:prstClr>
                </a:solidFill>
                <a:latin typeface="+mj-ea"/>
                <a:ea typeface="+mj-ea"/>
                <a:cs typeface="Times New Roman" panose="02020603050405020304" pitchFamily="18" charset="0"/>
              </a:rPr>
              <a:t>TinyLink</a:t>
            </a:r>
            <a:r>
              <a:rPr lang="en-US" altLang="zh-CN" b="1" dirty="0">
                <a:solidFill>
                  <a:prstClr val="black">
                    <a:lumMod val="75000"/>
                    <a:lumOff val="25000"/>
                  </a:prstClr>
                </a:solidFill>
                <a:latin typeface="+mj-ea"/>
                <a:ea typeface="+mj-ea"/>
                <a:cs typeface="Times New Roman" panose="02020603050405020304" pitchFamily="18" charset="0"/>
              </a:rPr>
              <a:t> 1.0</a:t>
            </a:r>
            <a:endParaRPr lang="zh-CN" altLang="en-US" b="1" dirty="0">
              <a:solidFill>
                <a:prstClr val="black">
                  <a:lumMod val="75000"/>
                  <a:lumOff val="25000"/>
                </a:prstClr>
              </a:solidFill>
              <a:latin typeface="+mj-ea"/>
              <a:ea typeface="+mj-ea"/>
              <a:cs typeface="Times New Roman" panose="02020603050405020304" pitchFamily="18" charset="0"/>
            </a:endParaRPr>
          </a:p>
        </p:txBody>
      </p:sp>
      <p:cxnSp>
        <p:nvCxnSpPr>
          <p:cNvPr id="21" name="直接箭头连接符 20">
            <a:extLst>
              <a:ext uri="{FF2B5EF4-FFF2-40B4-BE49-F238E27FC236}">
                <a16:creationId xmlns:a16="http://schemas.microsoft.com/office/drawing/2014/main" id="{D75D23BB-23B5-43A4-AB1F-B8ED6D80FF05}"/>
              </a:ext>
            </a:extLst>
          </p:cNvPr>
          <p:cNvCxnSpPr>
            <a:cxnSpLocks/>
          </p:cNvCxnSpPr>
          <p:nvPr/>
        </p:nvCxnSpPr>
        <p:spPr>
          <a:xfrm>
            <a:off x="1572629" y="5207635"/>
            <a:ext cx="656352" cy="0"/>
          </a:xfrm>
          <a:prstGeom prst="straightConnector1">
            <a:avLst/>
          </a:prstGeom>
          <a:ln w="19050">
            <a:headEnd type="none" w="med" len="med"/>
            <a:tailEnd type="arrow" w="med" len="med"/>
          </a:ln>
          <a:effectLst/>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859530789"/>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传统物联网应用开发</a:t>
            </a:r>
            <a:endParaRPr lang="zh-CN" altLang="en-US" dirty="0"/>
          </a:p>
        </p:txBody>
      </p:sp>
      <p:sp>
        <p:nvSpPr>
          <p:cNvPr id="3" name="内容占位符 2"/>
          <p:cNvSpPr>
            <a:spLocks noGrp="1"/>
          </p:cNvSpPr>
          <p:nvPr>
            <p:ph idx="1"/>
          </p:nvPr>
        </p:nvSpPr>
        <p:spPr/>
        <p:txBody>
          <a:bodyPr/>
          <a:lstStyle/>
          <a:p>
            <a:r>
              <a:rPr lang="zh-CN" altLang="en-US"/>
              <a:t>编程模式：自底向上</a:t>
            </a:r>
            <a:endParaRPr lang="en-US" altLang="zh-CN"/>
          </a:p>
          <a:p>
            <a:pPr lvl="1"/>
            <a:r>
              <a:rPr lang="zh-CN" altLang="en-US"/>
              <a:t>根据应用需求，构思应用程序的功能和逻辑</a:t>
            </a:r>
            <a:endParaRPr lang="en-US" altLang="zh-CN"/>
          </a:p>
          <a:p>
            <a:pPr lvl="1"/>
            <a:r>
              <a:rPr lang="zh-CN" altLang="zh-CN"/>
              <a:t>选择满足需求的开发板、外设和扩展板，设计与之相对应的硬件连接图，并组装硬件平台</a:t>
            </a:r>
            <a:endParaRPr lang="en-US" altLang="zh-CN"/>
          </a:p>
          <a:p>
            <a:pPr lvl="1"/>
            <a:r>
              <a:rPr lang="zh-CN" altLang="en-US"/>
              <a:t>开发物联网应用程序，包括将网络配置和外设管脚连接等信息写入程序</a:t>
            </a:r>
            <a:endParaRPr lang="en-US" altLang="zh-CN"/>
          </a:p>
          <a:p>
            <a:pPr lvl="1"/>
            <a:r>
              <a:rPr lang="zh-CN" altLang="en-US"/>
              <a:t>交叉编译程序代码，得到二进制文件</a:t>
            </a:r>
            <a:endParaRPr lang="en-US" altLang="zh-CN"/>
          </a:p>
          <a:p>
            <a:pPr lvl="1"/>
            <a:r>
              <a:rPr lang="zh-CN" altLang="en-US"/>
              <a:t>将二进制文件烧录至开发板</a:t>
            </a:r>
            <a:endParaRPr lang="en-US" altLang="zh-CN"/>
          </a:p>
          <a:p>
            <a:pPr lvl="1"/>
            <a:r>
              <a:rPr lang="zh-CN" altLang="en-US"/>
              <a:t>最后，观察应用运行结果并调试程序。</a:t>
            </a:r>
            <a:endParaRPr lang="en-US" altLang="zh-CN"/>
          </a:p>
          <a:p>
            <a:pPr lvl="1"/>
            <a:endParaRPr lang="zh-CN" altLang="en-US" dirty="0"/>
          </a:p>
        </p:txBody>
      </p:sp>
    </p:spTree>
    <p:extLst>
      <p:ext uri="{BB962C8B-B14F-4D97-AF65-F5344CB8AC3E}">
        <p14:creationId xmlns:p14="http://schemas.microsoft.com/office/powerpoint/2010/main" val="2704122379"/>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案例回顾：室内环境监测应用</a:t>
            </a:r>
            <a:endParaRPr lang="zh-CN" altLang="en-US" dirty="0"/>
          </a:p>
        </p:txBody>
      </p:sp>
      <p:sp>
        <p:nvSpPr>
          <p:cNvPr id="3" name="内容占位符 2"/>
          <p:cNvSpPr>
            <a:spLocks noGrp="1"/>
          </p:cNvSpPr>
          <p:nvPr>
            <p:ph idx="1"/>
          </p:nvPr>
        </p:nvSpPr>
        <p:spPr/>
        <p:txBody>
          <a:bodyPr/>
          <a:lstStyle/>
          <a:p>
            <a:r>
              <a:rPr lang="zh-CN" altLang="en-US"/>
              <a:t>确定物联网节点所需功能：</a:t>
            </a:r>
            <a:r>
              <a:rPr lang="en-US" altLang="zh-CN"/>
              <a:t>PM25</a:t>
            </a:r>
            <a:r>
              <a:rPr lang="zh-CN" altLang="en-US"/>
              <a:t>、温度和光照</a:t>
            </a:r>
            <a:endParaRPr lang="en-US" altLang="zh-CN"/>
          </a:p>
          <a:p>
            <a:r>
              <a:rPr lang="zh-CN" altLang="en-US"/>
              <a:t>根据功能确定硬件选型：</a:t>
            </a:r>
            <a:r>
              <a:rPr lang="en-US" altLang="zh-CN"/>
              <a:t>Arduino+SDS018+Light+DHT11</a:t>
            </a:r>
            <a:r>
              <a:rPr lang="zh-CN" altLang="en-US"/>
              <a:t>，根据硬件连接特点，组装硬件平台</a:t>
            </a:r>
          </a:p>
          <a:p>
            <a:r>
              <a:rPr lang="zh-CN" altLang="en-US"/>
              <a:t>基于</a:t>
            </a:r>
            <a:r>
              <a:rPr lang="en-US" altLang="zh-CN"/>
              <a:t>Arduino</a:t>
            </a:r>
            <a:r>
              <a:rPr lang="zh-CN" altLang="en-US"/>
              <a:t>编程环境，进行软件编程</a:t>
            </a:r>
            <a:endParaRPr lang="zh-CN" altLang="en-US" dirty="0"/>
          </a:p>
        </p:txBody>
      </p:sp>
      <p:grpSp>
        <p:nvGrpSpPr>
          <p:cNvPr id="8" name="组合 7">
            <a:extLst>
              <a:ext uri="{FF2B5EF4-FFF2-40B4-BE49-F238E27FC236}">
                <a16:creationId xmlns:a16="http://schemas.microsoft.com/office/drawing/2014/main" id="{0E373D4F-6C05-4F8B-88B5-367A4F465215}"/>
              </a:ext>
            </a:extLst>
          </p:cNvPr>
          <p:cNvGrpSpPr/>
          <p:nvPr/>
        </p:nvGrpSpPr>
        <p:grpSpPr>
          <a:xfrm>
            <a:off x="396736" y="3345869"/>
            <a:ext cx="8350529" cy="3234244"/>
            <a:chOff x="228933" y="3229442"/>
            <a:chExt cx="8651133" cy="3350671"/>
          </a:xfrm>
        </p:grpSpPr>
        <p:pic>
          <p:nvPicPr>
            <p:cNvPr id="2050" name="Picture 2" descr="See the source im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6147" y="5111134"/>
              <a:ext cx="1362848" cy="84416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ee the source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7044" y="3408085"/>
              <a:ext cx="1725912" cy="1044379"/>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See the source imag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58146" y="3229442"/>
              <a:ext cx="1647368" cy="13605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See the source image"/>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37379" t="21446" r="12058" b="19404"/>
            <a:stretch/>
          </p:blipFill>
          <p:spPr bwMode="auto">
            <a:xfrm>
              <a:off x="3340365" y="5149776"/>
              <a:ext cx="1022424" cy="740839"/>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See the source imag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53328" y="4984178"/>
              <a:ext cx="1533469" cy="906437"/>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bwMode="auto">
            <a:xfrm>
              <a:off x="228933" y="3267542"/>
              <a:ext cx="4503048" cy="3312570"/>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sp>
          <p:nvSpPr>
            <p:cNvPr id="6" name="文本框 5"/>
            <p:cNvSpPr txBox="1"/>
            <p:nvPr/>
          </p:nvSpPr>
          <p:spPr>
            <a:xfrm>
              <a:off x="576619" y="4421108"/>
              <a:ext cx="1402948" cy="279604"/>
            </a:xfrm>
            <a:prstGeom prst="rect">
              <a:avLst/>
            </a:prstGeom>
            <a:noFill/>
          </p:spPr>
          <p:txBody>
            <a:bodyPr wrap="none" rtlCol="0">
              <a:spAutoFit/>
            </a:bodyPr>
            <a:lstStyle/>
            <a:p>
              <a:r>
                <a:rPr lang="en-US" altLang="zh-CN" dirty="0"/>
                <a:t>Arduino UNO</a:t>
              </a:r>
              <a:endParaRPr lang="zh-CN" altLang="en-US" dirty="0"/>
            </a:p>
          </p:txBody>
        </p:sp>
        <p:sp>
          <p:nvSpPr>
            <p:cNvPr id="15" name="文本框 14"/>
            <p:cNvSpPr txBox="1"/>
            <p:nvPr/>
          </p:nvSpPr>
          <p:spPr>
            <a:xfrm>
              <a:off x="2973493" y="4420690"/>
              <a:ext cx="1075936" cy="338554"/>
            </a:xfrm>
            <a:prstGeom prst="rect">
              <a:avLst/>
            </a:prstGeom>
            <a:noFill/>
          </p:spPr>
          <p:txBody>
            <a:bodyPr wrap="none" rtlCol="0">
              <a:spAutoFit/>
            </a:bodyPr>
            <a:lstStyle/>
            <a:p>
              <a:r>
                <a:rPr lang="en-US" altLang="zh-CN" dirty="0"/>
                <a:t>I/O</a:t>
              </a:r>
              <a:r>
                <a:rPr lang="zh-CN" altLang="en-US" dirty="0"/>
                <a:t>扩展板</a:t>
              </a:r>
            </a:p>
          </p:txBody>
        </p:sp>
        <p:sp>
          <p:nvSpPr>
            <p:cNvPr id="16" name="文本框 15"/>
            <p:cNvSpPr txBox="1"/>
            <p:nvPr/>
          </p:nvSpPr>
          <p:spPr>
            <a:xfrm>
              <a:off x="329085" y="5974344"/>
              <a:ext cx="1393330" cy="279604"/>
            </a:xfrm>
            <a:prstGeom prst="rect">
              <a:avLst/>
            </a:prstGeom>
            <a:noFill/>
          </p:spPr>
          <p:txBody>
            <a:bodyPr wrap="none" rtlCol="0">
              <a:spAutoFit/>
            </a:bodyPr>
            <a:lstStyle/>
            <a:p>
              <a:r>
                <a:rPr lang="en-US" altLang="zh-CN" dirty="0"/>
                <a:t>PM2.5</a:t>
              </a:r>
              <a:r>
                <a:rPr lang="zh-CN" altLang="en-US" dirty="0"/>
                <a:t>传感器</a:t>
              </a:r>
            </a:p>
          </p:txBody>
        </p:sp>
        <p:sp>
          <p:nvSpPr>
            <p:cNvPr id="17" name="文本框 16"/>
            <p:cNvSpPr txBox="1"/>
            <p:nvPr/>
          </p:nvSpPr>
          <p:spPr>
            <a:xfrm>
              <a:off x="1926287" y="5974344"/>
              <a:ext cx="1210588" cy="279604"/>
            </a:xfrm>
            <a:prstGeom prst="rect">
              <a:avLst/>
            </a:prstGeom>
            <a:noFill/>
          </p:spPr>
          <p:txBody>
            <a:bodyPr wrap="none" rtlCol="0">
              <a:spAutoFit/>
            </a:bodyPr>
            <a:lstStyle/>
            <a:p>
              <a:r>
                <a:rPr lang="zh-CN" altLang="en-US" dirty="0"/>
                <a:t>光照传感器</a:t>
              </a:r>
            </a:p>
          </p:txBody>
        </p:sp>
        <p:sp>
          <p:nvSpPr>
            <p:cNvPr id="18" name="文本框 17"/>
            <p:cNvSpPr txBox="1"/>
            <p:nvPr/>
          </p:nvSpPr>
          <p:spPr>
            <a:xfrm>
              <a:off x="3511461" y="5832525"/>
              <a:ext cx="800219" cy="482953"/>
            </a:xfrm>
            <a:prstGeom prst="rect">
              <a:avLst/>
            </a:prstGeom>
            <a:noFill/>
          </p:spPr>
          <p:txBody>
            <a:bodyPr wrap="none" rtlCol="0">
              <a:spAutoFit/>
            </a:bodyPr>
            <a:lstStyle/>
            <a:p>
              <a:r>
                <a:rPr lang="zh-CN" altLang="en-US" dirty="0"/>
                <a:t>温湿度</a:t>
              </a:r>
              <a:endParaRPr lang="en-US" altLang="zh-CN" dirty="0"/>
            </a:p>
            <a:p>
              <a:r>
                <a:rPr lang="zh-CN" altLang="en-US" dirty="0"/>
                <a:t>传感器</a:t>
              </a:r>
            </a:p>
          </p:txBody>
        </p:sp>
        <p:sp>
          <p:nvSpPr>
            <p:cNvPr id="22" name="文本框 21"/>
            <p:cNvSpPr txBox="1"/>
            <p:nvPr/>
          </p:nvSpPr>
          <p:spPr>
            <a:xfrm>
              <a:off x="6303620" y="5921570"/>
              <a:ext cx="1210588" cy="338554"/>
            </a:xfrm>
            <a:prstGeom prst="rect">
              <a:avLst/>
            </a:prstGeom>
            <a:noFill/>
          </p:spPr>
          <p:txBody>
            <a:bodyPr wrap="none" rtlCol="0">
              <a:spAutoFit/>
            </a:bodyPr>
            <a:lstStyle/>
            <a:p>
              <a:r>
                <a:rPr lang="zh-CN" altLang="en-US" dirty="0"/>
                <a:t>硬件组装图</a:t>
              </a:r>
            </a:p>
          </p:txBody>
        </p:sp>
        <p:sp>
          <p:nvSpPr>
            <p:cNvPr id="25" name="矩形 24"/>
            <p:cNvSpPr/>
            <p:nvPr/>
          </p:nvSpPr>
          <p:spPr bwMode="auto">
            <a:xfrm>
              <a:off x="4950821" y="3267544"/>
              <a:ext cx="3929245" cy="3312569"/>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grpSp>
          <p:nvGrpSpPr>
            <p:cNvPr id="21" name="组合 20"/>
            <p:cNvGrpSpPr/>
            <p:nvPr/>
          </p:nvGrpSpPr>
          <p:grpSpPr>
            <a:xfrm>
              <a:off x="5380597" y="3490905"/>
              <a:ext cx="3056646" cy="2375311"/>
              <a:chOff x="4916520" y="5154627"/>
              <a:chExt cx="1968087" cy="1529394"/>
            </a:xfrm>
          </p:grpSpPr>
          <p:pic>
            <p:nvPicPr>
              <p:cNvPr id="23" name="Picture 4" descr="https://pic3.zhimg.com/80/v2-643a0d983d30ffaed3407e097996796d_hd.jpg"/>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7025" t="13537" r="20921" b="11741"/>
              <a:stretch/>
            </p:blipFill>
            <p:spPr bwMode="auto">
              <a:xfrm>
                <a:off x="4918243" y="5154627"/>
                <a:ext cx="1966364" cy="152939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6" name="Picture 12" descr="See the source image"/>
              <p:cNvPicPr>
                <a:picLocks noChangeAspect="1" noChangeArrowheads="1"/>
              </p:cNvPicPr>
              <p:nvPr/>
            </p:nvPicPr>
            <p:blipFill rotWithShape="1">
              <a:blip r:embed="rId9" cstate="print">
                <a:extLst>
                  <a:ext uri="{BEBA8EAE-BF5A-486C-A8C5-ECC9F3942E4B}">
                    <a14:imgProps xmlns:a14="http://schemas.microsoft.com/office/drawing/2010/main">
                      <a14:imgLayer r:embed="rId10">
                        <a14:imgEffect>
                          <a14:backgroundRemoval t="0" b="97727" l="4878" r="92683">
                            <a14:foregroundMark x1="60976" y1="46591" x2="82114" y2="64015"/>
                          </a14:backgroundRemoval>
                        </a14:imgEffect>
                      </a14:imgLayer>
                    </a14:imgProps>
                  </a:ext>
                  <a:ext uri="{28A0092B-C50C-407E-A947-70E740481C1C}">
                    <a14:useLocalDpi xmlns:a14="http://schemas.microsoft.com/office/drawing/2010/main" val="0"/>
                  </a:ext>
                </a:extLst>
              </a:blip>
              <a:srcRect l="48684"/>
              <a:stretch/>
            </p:blipFill>
            <p:spPr bwMode="auto">
              <a:xfrm>
                <a:off x="4916520" y="5484888"/>
                <a:ext cx="580923" cy="810226"/>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2385331289"/>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案例回顾：室内环境监测应用</a:t>
            </a:r>
            <a:endParaRPr lang="zh-CN" altLang="en-US" dirty="0"/>
          </a:p>
        </p:txBody>
      </p:sp>
      <p:sp>
        <p:nvSpPr>
          <p:cNvPr id="7" name="内容占位符 6">
            <a:extLst>
              <a:ext uri="{FF2B5EF4-FFF2-40B4-BE49-F238E27FC236}">
                <a16:creationId xmlns:a16="http://schemas.microsoft.com/office/drawing/2014/main" id="{86941FCB-ED4F-43FB-B2BF-5BE6087DAB2B}"/>
              </a:ext>
            </a:extLst>
          </p:cNvPr>
          <p:cNvSpPr>
            <a:spLocks noGrp="1"/>
          </p:cNvSpPr>
          <p:nvPr>
            <p:ph idx="1"/>
          </p:nvPr>
        </p:nvSpPr>
        <p:spPr/>
        <p:txBody>
          <a:bodyPr/>
          <a:lstStyle/>
          <a:p>
            <a:r>
              <a:rPr lang="zh-CN" altLang="en-US"/>
              <a:t>确定物联网节点所需功能：</a:t>
            </a:r>
            <a:r>
              <a:rPr lang="en-US" altLang="zh-CN"/>
              <a:t>PM25</a:t>
            </a:r>
            <a:r>
              <a:rPr lang="zh-CN" altLang="en-US"/>
              <a:t>、温度和光照</a:t>
            </a:r>
          </a:p>
          <a:p>
            <a:r>
              <a:rPr lang="zh-CN" altLang="en-US"/>
              <a:t>根据功能确定硬件选型</a:t>
            </a:r>
          </a:p>
          <a:p>
            <a:pPr lvl="1"/>
            <a:r>
              <a:rPr lang="en-US" altLang="zh-CN"/>
              <a:t>Arduino+SDS018+Light+DHT11</a:t>
            </a:r>
          </a:p>
          <a:p>
            <a:pPr lvl="1"/>
            <a:r>
              <a:rPr lang="zh-CN" altLang="en-US"/>
              <a:t>根据硬件连接特点，组装硬件平台</a:t>
            </a:r>
          </a:p>
          <a:p>
            <a:r>
              <a:rPr lang="zh-CN" altLang="en-US"/>
              <a:t>基于</a:t>
            </a:r>
            <a:r>
              <a:rPr lang="en-US" altLang="zh-CN"/>
              <a:t>Arduino</a:t>
            </a:r>
            <a:r>
              <a:rPr lang="zh-CN" altLang="en-US"/>
              <a:t>编程环境，进行软件编程</a:t>
            </a:r>
          </a:p>
          <a:p>
            <a:endParaRPr lang="zh-CN" altLang="en-US" dirty="0"/>
          </a:p>
        </p:txBody>
      </p:sp>
      <p:pic>
        <p:nvPicPr>
          <p:cNvPr id="5" name="图片 4" descr="4-1"/>
          <p:cNvPicPr/>
          <p:nvPr/>
        </p:nvPicPr>
        <p:blipFill>
          <a:blip r:embed="rId3"/>
          <a:stretch>
            <a:fillRect/>
          </a:stretch>
        </p:blipFill>
        <p:spPr>
          <a:xfrm>
            <a:off x="1685232" y="3421900"/>
            <a:ext cx="5877289" cy="2978900"/>
          </a:xfrm>
          <a:prstGeom prst="rect">
            <a:avLst/>
          </a:prstGeom>
        </p:spPr>
      </p:pic>
    </p:spTree>
    <p:extLst>
      <p:ext uri="{BB962C8B-B14F-4D97-AF65-F5344CB8AC3E}">
        <p14:creationId xmlns:p14="http://schemas.microsoft.com/office/powerpoint/2010/main" val="3130497116"/>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F4B471-BEC9-4E63-817A-A7BF87CF67BD}"/>
              </a:ext>
            </a:extLst>
          </p:cNvPr>
          <p:cNvSpPr>
            <a:spLocks noGrp="1"/>
          </p:cNvSpPr>
          <p:nvPr>
            <p:ph type="title"/>
          </p:nvPr>
        </p:nvSpPr>
        <p:spPr/>
        <p:txBody>
          <a:bodyPr/>
          <a:lstStyle/>
          <a:p>
            <a:r>
              <a:rPr lang="zh-CN" altLang="en-US"/>
              <a:t>案例回顾：室内环境监测应用</a:t>
            </a:r>
            <a:endParaRPr lang="zh-CN" altLang="en-US" dirty="0"/>
          </a:p>
        </p:txBody>
      </p:sp>
      <p:sp>
        <p:nvSpPr>
          <p:cNvPr id="3" name="内容占位符 2">
            <a:extLst>
              <a:ext uri="{FF2B5EF4-FFF2-40B4-BE49-F238E27FC236}">
                <a16:creationId xmlns:a16="http://schemas.microsoft.com/office/drawing/2014/main" id="{DF0941AE-26F5-4DA1-A578-F3BFB3014C04}"/>
              </a:ext>
            </a:extLst>
          </p:cNvPr>
          <p:cNvSpPr>
            <a:spLocks noGrp="1"/>
          </p:cNvSpPr>
          <p:nvPr>
            <p:ph idx="1"/>
          </p:nvPr>
        </p:nvSpPr>
        <p:spPr/>
        <p:txBody>
          <a:bodyPr/>
          <a:lstStyle/>
          <a:p>
            <a:r>
              <a:rPr lang="zh-CN" altLang="en-US"/>
              <a:t>打开</a:t>
            </a:r>
            <a:r>
              <a:rPr lang="en-US" altLang="zh-CN"/>
              <a:t>Arduino IDE</a:t>
            </a:r>
            <a:r>
              <a:rPr lang="zh-CN" altLang="en-US"/>
              <a:t>，编写应用程序代码</a:t>
            </a:r>
            <a:endParaRPr lang="zh-CN" altLang="en-US" dirty="0"/>
          </a:p>
        </p:txBody>
      </p:sp>
      <p:grpSp>
        <p:nvGrpSpPr>
          <p:cNvPr id="4" name="组合 3"/>
          <p:cNvGrpSpPr/>
          <p:nvPr/>
        </p:nvGrpSpPr>
        <p:grpSpPr>
          <a:xfrm>
            <a:off x="685800" y="1562744"/>
            <a:ext cx="7848600" cy="5063734"/>
            <a:chOff x="685800" y="2076994"/>
            <a:chExt cx="7848600" cy="5063734"/>
          </a:xfrm>
        </p:grpSpPr>
        <p:sp>
          <p:nvSpPr>
            <p:cNvPr id="6" name="矩形 5">
              <a:extLst>
                <a:ext uri="{FF2B5EF4-FFF2-40B4-BE49-F238E27FC236}">
                  <a16:creationId xmlns:a16="http://schemas.microsoft.com/office/drawing/2014/main" id="{4B017216-7E6B-4A22-86BF-6CDBE263844D}"/>
                </a:ext>
              </a:extLst>
            </p:cNvPr>
            <p:cNvSpPr/>
            <p:nvPr/>
          </p:nvSpPr>
          <p:spPr bwMode="auto">
            <a:xfrm>
              <a:off x="685800" y="2076994"/>
              <a:ext cx="7848600" cy="5063734"/>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sz="2200" dirty="0">
                  <a:latin typeface="Courier New" panose="02070309020205020404" pitchFamily="49" charset="0"/>
                  <a:cs typeface="Courier New" panose="02070309020205020404" pitchFamily="49" charset="0"/>
                </a:rPr>
                <a:t>#include "</a:t>
              </a:r>
              <a:r>
                <a:rPr lang="en-US" altLang="zh-CN" sz="2200" dirty="0" err="1">
                  <a:latin typeface="Courier New" panose="02070309020205020404" pitchFamily="49" charset="0"/>
                  <a:cs typeface="Courier New" panose="02070309020205020404" pitchFamily="49" charset="0"/>
                </a:rPr>
                <a:t>DHT.h</a:t>
              </a:r>
              <a:r>
                <a:rPr lang="en-US" altLang="zh-CN" sz="2200" dirty="0">
                  <a:latin typeface="Courier New" panose="02070309020205020404" pitchFamily="49" charset="0"/>
                  <a:cs typeface="Courier New" panose="02070309020205020404" pitchFamily="49" charset="0"/>
                </a:rPr>
                <a:t>“</a:t>
              </a:r>
            </a:p>
            <a:p>
              <a:r>
                <a:rPr lang="en-US" altLang="zh-CN" sz="2200" dirty="0">
                  <a:latin typeface="Courier New" panose="02070309020205020404" pitchFamily="49" charset="0"/>
                  <a:cs typeface="Courier New" panose="02070309020205020404" pitchFamily="49" charset="0"/>
                </a:rPr>
                <a:t>DHT </a:t>
              </a:r>
              <a:r>
                <a:rPr lang="en-US" altLang="zh-CN" sz="2200" dirty="0" err="1">
                  <a:latin typeface="Courier New" panose="02070309020205020404" pitchFamily="49" charset="0"/>
                  <a:cs typeface="Courier New" panose="02070309020205020404" pitchFamily="49" charset="0"/>
                </a:rPr>
                <a:t>dht</a:t>
              </a:r>
              <a:r>
                <a:rPr lang="en-US" altLang="zh-CN" sz="2200" dirty="0">
                  <a:latin typeface="Courier New" panose="02070309020205020404" pitchFamily="49" charset="0"/>
                  <a:cs typeface="Courier New" panose="02070309020205020404" pitchFamily="49" charset="0"/>
                </a:rPr>
                <a:t>(2, DHT11);     </a:t>
              </a:r>
              <a:r>
                <a:rPr lang="en-US" altLang="zh-CN" sz="2200" dirty="0">
                  <a:solidFill>
                    <a:srgbClr val="C00000"/>
                  </a:solidFill>
                  <a:latin typeface="宋体" panose="02010600030101010101" pitchFamily="2" charset="-122"/>
                  <a:cs typeface="Courier New" panose="02070309020205020404" pitchFamily="49" charset="0"/>
                </a:rPr>
                <a:t>//</a:t>
              </a:r>
              <a:r>
                <a:rPr lang="zh-CN" altLang="en-US" sz="2200" dirty="0">
                  <a:solidFill>
                    <a:srgbClr val="C00000"/>
                  </a:solidFill>
                  <a:latin typeface="宋体" panose="02010600030101010101" pitchFamily="2" charset="-122"/>
                  <a:cs typeface="Courier New" panose="02070309020205020404" pitchFamily="49" charset="0"/>
                </a:rPr>
                <a:t>温湿度传感器数据引脚接开发板</a:t>
              </a:r>
              <a:r>
                <a:rPr lang="en-US" altLang="zh-CN" sz="2200" dirty="0">
                  <a:solidFill>
                    <a:srgbClr val="C00000"/>
                  </a:solidFill>
                  <a:latin typeface="宋体" panose="02010600030101010101" pitchFamily="2" charset="-122"/>
                  <a:cs typeface="Courier New" panose="02070309020205020404" pitchFamily="49" charset="0"/>
                </a:rPr>
                <a:t>2</a:t>
              </a:r>
              <a:r>
                <a:rPr lang="zh-CN" altLang="en-US" sz="2200" dirty="0">
                  <a:solidFill>
                    <a:srgbClr val="C00000"/>
                  </a:solidFill>
                  <a:latin typeface="宋体" panose="02010600030101010101" pitchFamily="2" charset="-122"/>
                  <a:cs typeface="Courier New" panose="02070309020205020404" pitchFamily="49" charset="0"/>
                </a:rPr>
                <a:t>号端口</a:t>
              </a:r>
              <a:endParaRPr lang="en-US" altLang="zh-CN" sz="2200" dirty="0">
                <a:solidFill>
                  <a:srgbClr val="C00000"/>
                </a:solidFill>
                <a:latin typeface="宋体" panose="02010600030101010101" pitchFamily="2" charset="-122"/>
                <a:cs typeface="Courier New" panose="02070309020205020404" pitchFamily="49" charset="0"/>
              </a:endParaRPr>
            </a:p>
            <a:p>
              <a:r>
                <a:rPr lang="en-US" altLang="zh-CN" sz="2200" dirty="0" err="1">
                  <a:latin typeface="Courier New" panose="02070309020205020404" pitchFamily="49" charset="0"/>
                  <a:cs typeface="Courier New" panose="02070309020205020404" pitchFamily="49" charset="0"/>
                </a:rPr>
                <a:t>SoftwareSerial</a:t>
              </a:r>
              <a:r>
                <a:rPr lang="en-US" altLang="zh-CN" sz="2200" dirty="0">
                  <a:latin typeface="Courier New" panose="02070309020205020404" pitchFamily="49" charset="0"/>
                  <a:cs typeface="Courier New" panose="02070309020205020404" pitchFamily="49" charset="0"/>
                </a:rPr>
                <a:t> SDS018_Serial(14, 15); </a:t>
              </a:r>
              <a:r>
                <a:rPr lang="en-US" altLang="zh-CN" sz="2200" dirty="0">
                  <a:solidFill>
                    <a:srgbClr val="C00000"/>
                  </a:solidFill>
                  <a:latin typeface="宋体" panose="02010600030101010101" pitchFamily="2" charset="-122"/>
                  <a:cs typeface="Courier New" panose="02070309020205020404" pitchFamily="49" charset="0"/>
                </a:rPr>
                <a:t>//PM2.5</a:t>
              </a:r>
              <a:r>
                <a:rPr lang="zh-CN" altLang="en-US" sz="2200" dirty="0">
                  <a:solidFill>
                    <a:srgbClr val="C00000"/>
                  </a:solidFill>
                  <a:latin typeface="宋体" panose="02010600030101010101" pitchFamily="2" charset="-122"/>
                  <a:cs typeface="Courier New" panose="02070309020205020404" pitchFamily="49" charset="0"/>
                </a:rPr>
                <a:t>传感器连接开发板（</a:t>
              </a:r>
              <a:r>
                <a:rPr lang="en-US" altLang="zh-CN" sz="2200" dirty="0">
                  <a:solidFill>
                    <a:srgbClr val="C00000"/>
                  </a:solidFill>
                  <a:latin typeface="宋体" panose="02010600030101010101" pitchFamily="2" charset="-122"/>
                  <a:cs typeface="Courier New" panose="02070309020205020404" pitchFamily="49" charset="0"/>
                </a:rPr>
                <a:t>14,15</a:t>
              </a:r>
              <a:r>
                <a:rPr lang="zh-CN" altLang="en-US" sz="2200" dirty="0">
                  <a:solidFill>
                    <a:srgbClr val="C00000"/>
                  </a:solidFill>
                  <a:latin typeface="宋体" panose="02010600030101010101" pitchFamily="2" charset="-122"/>
                  <a:cs typeface="Courier New" panose="02070309020205020404" pitchFamily="49" charset="0"/>
                </a:rPr>
                <a:t>）引脚</a:t>
              </a:r>
              <a:endParaRPr lang="en-US" altLang="zh-CN" sz="2200" dirty="0">
                <a:solidFill>
                  <a:srgbClr val="C00000"/>
                </a:solidFill>
                <a:latin typeface="宋体" panose="02010600030101010101" pitchFamily="2" charset="-122"/>
                <a:cs typeface="Courier New" panose="02070309020205020404" pitchFamily="49" charset="0"/>
              </a:endParaRPr>
            </a:p>
            <a:p>
              <a:endParaRPr lang="en-US" altLang="zh-CN" sz="2200" dirty="0">
                <a:latin typeface="Courier New" panose="02070309020205020404" pitchFamily="49" charset="0"/>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void </a:t>
              </a:r>
              <a:r>
                <a:rPr lang="en-US" altLang="zh-CN" sz="2200" dirty="0">
                  <a:solidFill>
                    <a:schemeClr val="accent1"/>
                  </a:solidFill>
                  <a:latin typeface="Courier New" panose="02070309020205020404" pitchFamily="49" charset="0"/>
                  <a:cs typeface="Courier New" panose="02070309020205020404" pitchFamily="49" charset="0"/>
                </a:rPr>
                <a:t>setup</a:t>
              </a:r>
              <a:r>
                <a:rPr lang="en-US" altLang="zh-CN" sz="2200" dirty="0">
                  <a:latin typeface="Courier New" panose="02070309020205020404" pitchFamily="49" charset="0"/>
                  <a:cs typeface="Courier New" panose="02070309020205020404" pitchFamily="49" charset="0"/>
                </a:rPr>
                <a:t>() { </a:t>
              </a:r>
            </a:p>
            <a:p>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Serial.begin</a:t>
              </a:r>
              <a:r>
                <a:rPr lang="en-US" altLang="zh-CN" sz="2200" dirty="0">
                  <a:latin typeface="Courier New" panose="02070309020205020404" pitchFamily="49" charset="0"/>
                  <a:cs typeface="Courier New" panose="02070309020205020404" pitchFamily="49" charset="0"/>
                </a:rPr>
                <a:t>(9600);           </a:t>
              </a:r>
              <a:r>
                <a:rPr lang="en-US" altLang="zh-CN" sz="2200" dirty="0">
                  <a:solidFill>
                    <a:srgbClr val="C00000"/>
                  </a:solidFill>
                  <a:latin typeface="宋体" panose="02010600030101010101" pitchFamily="2" charset="-122"/>
                  <a:cs typeface="Courier New" panose="02070309020205020404" pitchFamily="49" charset="0"/>
                </a:rPr>
                <a:t>//</a:t>
              </a:r>
              <a:r>
                <a:rPr lang="zh-CN" altLang="en-US" sz="2200" dirty="0">
                  <a:solidFill>
                    <a:srgbClr val="C00000"/>
                  </a:solidFill>
                  <a:latin typeface="宋体" panose="02010600030101010101" pitchFamily="2" charset="-122"/>
                  <a:cs typeface="Courier New" panose="02070309020205020404" pitchFamily="49" charset="0"/>
                </a:rPr>
                <a:t>串口初始化，串口打印波特率为</a:t>
              </a:r>
              <a:r>
                <a:rPr lang="en-US" altLang="zh-CN" sz="2200" dirty="0">
                  <a:solidFill>
                    <a:srgbClr val="C00000"/>
                  </a:solidFill>
                  <a:latin typeface="宋体" panose="02010600030101010101" pitchFamily="2" charset="-122"/>
                  <a:cs typeface="Courier New" panose="02070309020205020404" pitchFamily="49" charset="0"/>
                </a:rPr>
                <a:t>9600</a:t>
              </a:r>
            </a:p>
            <a:p>
              <a:r>
                <a:rPr lang="en-US" altLang="zh-CN" sz="2200" dirty="0">
                  <a:latin typeface="Courier New" panose="02070309020205020404" pitchFamily="49" charset="0"/>
                  <a:cs typeface="Courier New" panose="02070309020205020404" pitchFamily="49" charset="0"/>
                </a:rPr>
                <a:t>	SDS018_Serial.begin(9600);  </a:t>
              </a:r>
              <a:r>
                <a:rPr lang="en-US" altLang="zh-CN" sz="2200" dirty="0">
                  <a:solidFill>
                    <a:srgbClr val="FF0000"/>
                  </a:solidFill>
                  <a:latin typeface="Courier New" panose="02070309020205020404" pitchFamily="49" charset="0"/>
                  <a:cs typeface="Courier New" panose="02070309020205020404" pitchFamily="49" charset="0"/>
                </a:rPr>
                <a:t>  </a:t>
              </a:r>
              <a:r>
                <a:rPr lang="en-US" altLang="zh-CN" sz="2200" dirty="0">
                  <a:solidFill>
                    <a:srgbClr val="C00000"/>
                  </a:solidFill>
                  <a:latin typeface="宋体" panose="02010600030101010101" pitchFamily="2" charset="-122"/>
                  <a:cs typeface="Courier New" panose="02070309020205020404" pitchFamily="49" charset="0"/>
                </a:rPr>
                <a:t>//PM2.5</a:t>
              </a:r>
              <a:r>
                <a:rPr lang="zh-CN" altLang="en-US" sz="2200" dirty="0">
                  <a:solidFill>
                    <a:srgbClr val="C00000"/>
                  </a:solidFill>
                  <a:latin typeface="宋体" panose="02010600030101010101" pitchFamily="2" charset="-122"/>
                  <a:cs typeface="Courier New" panose="02070309020205020404" pitchFamily="49" charset="0"/>
                </a:rPr>
                <a:t>传感器初始化</a:t>
              </a:r>
              <a:endParaRPr lang="en-US" altLang="zh-CN" sz="2200" dirty="0">
                <a:solidFill>
                  <a:srgbClr val="C00000"/>
                </a:solidFill>
                <a:latin typeface="宋体" panose="02010600030101010101" pitchFamily="2" charset="-122"/>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dht.begin</a:t>
              </a:r>
              <a:r>
                <a:rPr lang="en-US" altLang="zh-CN" sz="2200" dirty="0">
                  <a:latin typeface="Courier New" panose="02070309020205020404" pitchFamily="49" charset="0"/>
                  <a:cs typeface="Courier New" panose="02070309020205020404" pitchFamily="49" charset="0"/>
                </a:rPr>
                <a:t>();</a:t>
              </a:r>
            </a:p>
            <a:p>
              <a:r>
                <a:rPr lang="en-US" altLang="zh-CN" sz="2200" dirty="0">
                  <a:latin typeface="Courier New" panose="02070309020205020404" pitchFamily="49" charset="0"/>
                  <a:cs typeface="Courier New" panose="02070309020205020404" pitchFamily="49" charset="0"/>
                </a:rPr>
                <a:t>}</a:t>
              </a:r>
            </a:p>
            <a:p>
              <a:endParaRPr lang="en-US" altLang="zh-CN" sz="2200" dirty="0">
                <a:latin typeface="Courier New" panose="02070309020205020404" pitchFamily="49" charset="0"/>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void </a:t>
              </a:r>
              <a:r>
                <a:rPr lang="en-US" altLang="zh-CN" sz="2200" dirty="0">
                  <a:solidFill>
                    <a:schemeClr val="accent1"/>
                  </a:solidFill>
                  <a:latin typeface="Courier New" panose="02070309020205020404" pitchFamily="49" charset="0"/>
                  <a:cs typeface="Courier New" panose="02070309020205020404" pitchFamily="49" charset="0"/>
                </a:rPr>
                <a:t>loop</a:t>
              </a:r>
              <a:r>
                <a:rPr lang="en-US" altLang="zh-CN" sz="2200" dirty="0">
                  <a:latin typeface="Courier New" panose="02070309020205020404" pitchFamily="49" charset="0"/>
                  <a:cs typeface="Courier New" panose="02070309020205020404" pitchFamily="49" charset="0"/>
                </a:rPr>
                <a:t>() {  </a:t>
              </a:r>
            </a:p>
            <a:p>
              <a:r>
                <a:rPr lang="en-US" altLang="zh-CN" sz="2200" dirty="0">
                  <a:latin typeface="Courier New" panose="02070309020205020404" pitchFamily="49" charset="0"/>
                  <a:cs typeface="Courier New" panose="02070309020205020404" pitchFamily="49" charset="0"/>
                </a:rPr>
                <a:t>	float h = </a:t>
              </a:r>
              <a:r>
                <a:rPr lang="en-US" altLang="zh-CN" sz="2200" dirty="0" err="1">
                  <a:latin typeface="Courier New" panose="02070309020205020404" pitchFamily="49" charset="0"/>
                  <a:cs typeface="Courier New" panose="02070309020205020404" pitchFamily="49" charset="0"/>
                </a:rPr>
                <a:t>dht.readHumidity</a:t>
              </a:r>
              <a:r>
                <a:rPr lang="en-US" altLang="zh-CN" sz="2200" dirty="0">
                  <a:latin typeface="Courier New" panose="02070309020205020404" pitchFamily="49" charset="0"/>
                  <a:cs typeface="Courier New" panose="02070309020205020404" pitchFamily="49" charset="0"/>
                </a:rPr>
                <a:t>(); </a:t>
              </a:r>
              <a:r>
                <a:rPr lang="en-US" altLang="zh-CN" sz="2200" dirty="0">
                  <a:solidFill>
                    <a:srgbClr val="C00000"/>
                  </a:solidFill>
                  <a:latin typeface="宋体" panose="02010600030101010101" pitchFamily="2" charset="-122"/>
                  <a:cs typeface="Courier New" panose="02070309020205020404" pitchFamily="49" charset="0"/>
                </a:rPr>
                <a:t>//</a:t>
              </a:r>
              <a:r>
                <a:rPr lang="zh-CN" altLang="en-US" sz="2200" dirty="0">
                  <a:solidFill>
                    <a:srgbClr val="C00000"/>
                  </a:solidFill>
                  <a:latin typeface="宋体" panose="02010600030101010101" pitchFamily="2" charset="-122"/>
                  <a:cs typeface="Courier New" panose="02070309020205020404" pitchFamily="49" charset="0"/>
                </a:rPr>
                <a:t>读取</a:t>
              </a:r>
              <a:r>
                <a:rPr lang="en-US" altLang="zh-CN" sz="2200" dirty="0">
                  <a:solidFill>
                    <a:srgbClr val="C00000"/>
                  </a:solidFill>
                  <a:latin typeface="宋体" panose="02010600030101010101" pitchFamily="2" charset="-122"/>
                  <a:cs typeface="Courier New" panose="02070309020205020404" pitchFamily="49" charset="0"/>
                </a:rPr>
                <a:t>DHT11</a:t>
              </a:r>
              <a:r>
                <a:rPr lang="zh-CN" altLang="en-US" sz="2200" dirty="0">
                  <a:solidFill>
                    <a:srgbClr val="C00000"/>
                  </a:solidFill>
                  <a:latin typeface="宋体" panose="02010600030101010101" pitchFamily="2" charset="-122"/>
                  <a:cs typeface="Courier New" panose="02070309020205020404" pitchFamily="49" charset="0"/>
                </a:rPr>
                <a:t>传感器的温度和湿度数据</a:t>
              </a:r>
              <a:endParaRPr lang="en-US" altLang="zh-CN" sz="2200" dirty="0">
                <a:solidFill>
                  <a:srgbClr val="C00000"/>
                </a:solidFill>
                <a:latin typeface="宋体" panose="02010600030101010101" pitchFamily="2" charset="-122"/>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	float t = </a:t>
              </a:r>
              <a:r>
                <a:rPr lang="en-US" altLang="zh-CN" sz="2200" dirty="0" err="1">
                  <a:latin typeface="Courier New" panose="02070309020205020404" pitchFamily="49" charset="0"/>
                  <a:cs typeface="Courier New" panose="02070309020205020404" pitchFamily="49" charset="0"/>
                </a:rPr>
                <a:t>dht.readTemperature</a:t>
              </a:r>
              <a:r>
                <a:rPr lang="en-US" altLang="zh-CN" sz="2200" dirty="0">
                  <a:latin typeface="Courier New" panose="02070309020205020404" pitchFamily="49" charset="0"/>
                  <a:cs typeface="Courier New" panose="02070309020205020404" pitchFamily="49" charset="0"/>
                </a:rPr>
                <a:t>();  </a:t>
              </a:r>
            </a:p>
            <a:p>
              <a:r>
                <a:rPr lang="en-US" altLang="zh-CN" sz="2200" dirty="0">
                  <a:latin typeface="Courier New" panose="02070309020205020404" pitchFamily="49" charset="0"/>
                  <a:cs typeface="Courier New" panose="02070309020205020404" pitchFamily="49" charset="0"/>
                </a:rPr>
                <a:t>	float l = </a:t>
              </a:r>
              <a:r>
                <a:rPr lang="en-US" altLang="zh-CN" sz="2200" dirty="0" err="1">
                  <a:latin typeface="Courier New" panose="02070309020205020404" pitchFamily="49" charset="0"/>
                  <a:cs typeface="Courier New" panose="02070309020205020404" pitchFamily="49" charset="0"/>
                </a:rPr>
                <a:t>analogRead</a:t>
              </a:r>
              <a:r>
                <a:rPr lang="en-US" altLang="zh-CN" sz="2200" dirty="0">
                  <a:latin typeface="Courier New" panose="02070309020205020404" pitchFamily="49" charset="0"/>
                  <a:cs typeface="Courier New" panose="02070309020205020404" pitchFamily="49" charset="0"/>
                </a:rPr>
                <a:t>(A0);     </a:t>
              </a:r>
              <a:r>
                <a:rPr lang="en-US" altLang="zh-CN" sz="2200" dirty="0">
                  <a:solidFill>
                    <a:srgbClr val="C00000"/>
                  </a:solidFill>
                  <a:latin typeface="宋体" panose="02010600030101010101" pitchFamily="2" charset="-122"/>
                  <a:cs typeface="Courier New" panose="02070309020205020404" pitchFamily="49" charset="0"/>
                </a:rPr>
                <a:t>//</a:t>
              </a:r>
              <a:r>
                <a:rPr lang="zh-CN" altLang="en-US" sz="2200" dirty="0">
                  <a:solidFill>
                    <a:srgbClr val="C00000"/>
                  </a:solidFill>
                  <a:latin typeface="宋体" panose="02010600030101010101" pitchFamily="2" charset="-122"/>
                  <a:cs typeface="Courier New" panose="02070309020205020404" pitchFamily="49" charset="0"/>
                </a:rPr>
                <a:t>光照传感器数据引脚接开发板</a:t>
              </a:r>
              <a:r>
                <a:rPr lang="en-US" altLang="zh-CN" sz="2200" dirty="0">
                  <a:solidFill>
                    <a:srgbClr val="C00000"/>
                  </a:solidFill>
                  <a:latin typeface="宋体" panose="02010600030101010101" pitchFamily="2" charset="-122"/>
                  <a:cs typeface="Courier New" panose="02070309020205020404" pitchFamily="49" charset="0"/>
                </a:rPr>
                <a:t>A0</a:t>
              </a:r>
              <a:r>
                <a:rPr lang="zh-CN" altLang="en-US" sz="2200" dirty="0">
                  <a:solidFill>
                    <a:srgbClr val="C00000"/>
                  </a:solidFill>
                  <a:latin typeface="宋体" panose="02010600030101010101" pitchFamily="2" charset="-122"/>
                  <a:cs typeface="Courier New" panose="02070309020205020404" pitchFamily="49" charset="0"/>
                </a:rPr>
                <a:t>号引脚</a:t>
              </a:r>
              <a:endParaRPr lang="en-US" altLang="zh-CN" sz="2200" dirty="0">
                <a:solidFill>
                  <a:srgbClr val="C00000"/>
                </a:solidFill>
                <a:latin typeface="宋体" panose="02010600030101010101" pitchFamily="2" charset="-122"/>
                <a:cs typeface="Courier New" panose="02070309020205020404" pitchFamily="49" charset="0"/>
              </a:endParaRPr>
            </a:p>
            <a:p>
              <a:pPr lvl="1"/>
              <a:r>
                <a:rPr lang="en-US" altLang="zh-CN" sz="2200" dirty="0">
                  <a:latin typeface="Courier New" panose="02070309020205020404" pitchFamily="49" charset="0"/>
                  <a:cs typeface="Courier New" panose="02070309020205020404" pitchFamily="49" charset="0"/>
                </a:rPr>
                <a:t>	float p = pm25Read();	  </a:t>
              </a:r>
              <a:r>
                <a:rPr lang="en-US" altLang="zh-CN" sz="2200" dirty="0">
                  <a:latin typeface="宋体" panose="02010600030101010101" pitchFamily="2" charset="-122"/>
                  <a:cs typeface="Courier New" panose="02070309020205020404" pitchFamily="49" charset="0"/>
                </a:rPr>
                <a:t>   </a:t>
              </a:r>
              <a:r>
                <a:rPr lang="en-US" altLang="zh-CN" sz="2200" dirty="0">
                  <a:solidFill>
                    <a:srgbClr val="FF0000"/>
                  </a:solidFill>
                  <a:latin typeface="宋体" panose="02010600030101010101" pitchFamily="2" charset="-122"/>
                  <a:cs typeface="Courier New" panose="02070309020205020404" pitchFamily="49" charset="0"/>
                </a:rPr>
                <a:t> </a:t>
              </a:r>
              <a:r>
                <a:rPr lang="en-US" altLang="zh-CN" sz="2200" dirty="0">
                  <a:solidFill>
                    <a:srgbClr val="C00000"/>
                  </a:solidFill>
                  <a:latin typeface="宋体" panose="02010600030101010101" pitchFamily="2" charset="-122"/>
                  <a:cs typeface="Courier New" panose="02070309020205020404" pitchFamily="49" charset="0"/>
                </a:rPr>
                <a:t>//</a:t>
              </a:r>
              <a:r>
                <a:rPr lang="zh-CN" altLang="en-US" sz="2200" dirty="0">
                  <a:solidFill>
                    <a:srgbClr val="C00000"/>
                  </a:solidFill>
                  <a:latin typeface="宋体" panose="02010600030101010101" pitchFamily="2" charset="-122"/>
                  <a:cs typeface="Courier New" panose="02070309020205020404" pitchFamily="49" charset="0"/>
                </a:rPr>
                <a:t>读取</a:t>
              </a:r>
              <a:r>
                <a:rPr lang="en-US" altLang="zh-CN" sz="2200" dirty="0">
                  <a:solidFill>
                    <a:srgbClr val="C00000"/>
                  </a:solidFill>
                  <a:latin typeface="宋体" panose="02010600030101010101" pitchFamily="2" charset="-122"/>
                  <a:cs typeface="Courier New" panose="02070309020205020404" pitchFamily="49" charset="0"/>
                </a:rPr>
                <a:t>PM2.5</a:t>
              </a:r>
              <a:r>
                <a:rPr lang="zh-CN" altLang="en-US" sz="2200" dirty="0">
                  <a:solidFill>
                    <a:srgbClr val="C00000"/>
                  </a:solidFill>
                  <a:latin typeface="宋体" panose="02010600030101010101" pitchFamily="2" charset="-122"/>
                  <a:cs typeface="Courier New" panose="02070309020205020404" pitchFamily="49" charset="0"/>
                </a:rPr>
                <a:t>传感器数据</a:t>
              </a:r>
              <a:endParaRPr lang="en-US" altLang="zh-CN" sz="2200" dirty="0">
                <a:solidFill>
                  <a:srgbClr val="C00000"/>
                </a:solidFill>
                <a:latin typeface="宋体" panose="02010600030101010101" pitchFamily="2" charset="-122"/>
                <a:cs typeface="Courier New" panose="02070309020205020404" pitchFamily="49" charset="0"/>
              </a:endParaRPr>
            </a:p>
            <a:p>
              <a:r>
                <a:rPr lang="en-US" altLang="zh-CN" sz="2200" dirty="0">
                  <a:latin typeface="宋体" panose="02010600030101010101" pitchFamily="2" charset="-122"/>
                  <a:cs typeface="Courier New" panose="02070309020205020404" pitchFamily="49" charset="0"/>
                </a:rPr>
                <a:t>	</a:t>
              </a:r>
            </a:p>
            <a:p>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Serial.println</a:t>
              </a:r>
              <a:r>
                <a:rPr lang="en-US" altLang="zh-CN" sz="2200" dirty="0">
                  <a:latin typeface="Courier New" panose="02070309020205020404" pitchFamily="49" charset="0"/>
                  <a:cs typeface="Courier New" panose="02070309020205020404" pitchFamily="49" charset="0"/>
                </a:rPr>
                <a:t>("Humidity: " + h);   </a:t>
              </a:r>
            </a:p>
            <a:p>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Serial.print</a:t>
              </a:r>
              <a:r>
                <a:rPr lang="en-US" altLang="zh-CN" sz="2200" dirty="0">
                  <a:latin typeface="Courier New" panose="02070309020205020404" pitchFamily="49" charset="0"/>
                  <a:cs typeface="Courier New" panose="02070309020205020404" pitchFamily="49" charset="0"/>
                </a:rPr>
                <a:t>("Temperature: "  + t);  </a:t>
              </a:r>
            </a:p>
            <a:p>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Serial.print</a:t>
              </a:r>
              <a:r>
                <a:rPr lang="en-US" altLang="zh-CN" sz="2200" dirty="0">
                  <a:latin typeface="Courier New" panose="02070309020205020404" pitchFamily="49" charset="0"/>
                  <a:cs typeface="Courier New" panose="02070309020205020404" pitchFamily="49" charset="0"/>
                </a:rPr>
                <a:t>("Light: " + l);</a:t>
              </a:r>
            </a:p>
            <a:p>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Serial.print</a:t>
              </a:r>
              <a:r>
                <a:rPr lang="en-US" altLang="zh-CN" sz="2200" dirty="0">
                  <a:latin typeface="Courier New" panose="02070309020205020404" pitchFamily="49" charset="0"/>
                  <a:cs typeface="Courier New" panose="02070309020205020404" pitchFamily="49" charset="0"/>
                </a:rPr>
                <a:t>("PM25: " + p);</a:t>
              </a:r>
            </a:p>
            <a:p>
              <a:r>
                <a:rPr lang="en-US" altLang="zh-CN" sz="2200" dirty="0">
                  <a:latin typeface="Courier New" panose="02070309020205020404" pitchFamily="49" charset="0"/>
                  <a:cs typeface="Courier New" panose="02070309020205020404" pitchFamily="49" charset="0"/>
                </a:rPr>
                <a:t>	delay(3000);                  </a:t>
              </a:r>
              <a:r>
                <a:rPr lang="en-US" altLang="zh-CN" sz="2200" dirty="0">
                  <a:solidFill>
                    <a:srgbClr val="C00000"/>
                  </a:solidFill>
                  <a:latin typeface="宋体" panose="02010600030101010101" pitchFamily="2" charset="-122"/>
                  <a:cs typeface="Courier New" panose="02070309020205020404" pitchFamily="49" charset="0"/>
                </a:rPr>
                <a:t>//</a:t>
              </a:r>
              <a:r>
                <a:rPr lang="zh-CN" altLang="en-US" sz="2200" dirty="0">
                  <a:solidFill>
                    <a:srgbClr val="C00000"/>
                  </a:solidFill>
                  <a:latin typeface="宋体" panose="02010600030101010101" pitchFamily="2" charset="-122"/>
                  <a:cs typeface="Courier New" panose="02070309020205020404" pitchFamily="49" charset="0"/>
                </a:rPr>
                <a:t>每间隔</a:t>
              </a:r>
              <a:r>
                <a:rPr lang="en-US" altLang="zh-CN" sz="2200" dirty="0">
                  <a:solidFill>
                    <a:srgbClr val="C00000"/>
                  </a:solidFill>
                  <a:latin typeface="宋体" panose="02010600030101010101" pitchFamily="2" charset="-122"/>
                  <a:cs typeface="Courier New" panose="02070309020205020404" pitchFamily="49" charset="0"/>
                </a:rPr>
                <a:t>3</a:t>
              </a:r>
              <a:r>
                <a:rPr lang="zh-CN" altLang="en-US" sz="2200" dirty="0">
                  <a:solidFill>
                    <a:srgbClr val="C00000"/>
                  </a:solidFill>
                  <a:latin typeface="宋体" panose="02010600030101010101" pitchFamily="2" charset="-122"/>
                  <a:cs typeface="Courier New" panose="02070309020205020404" pitchFamily="49" charset="0"/>
                </a:rPr>
                <a:t>秒打印一次环境数据</a:t>
              </a:r>
              <a:endParaRPr lang="en-US" altLang="zh-CN" sz="2200" dirty="0">
                <a:solidFill>
                  <a:srgbClr val="C00000"/>
                </a:solidFill>
                <a:latin typeface="宋体" panose="02010600030101010101" pitchFamily="2" charset="-122"/>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a:t>
              </a:r>
            </a:p>
          </p:txBody>
        </p:sp>
        <p:sp>
          <p:nvSpPr>
            <p:cNvPr id="7" name="TextBox 6"/>
            <p:cNvSpPr txBox="1"/>
            <p:nvPr/>
          </p:nvSpPr>
          <p:spPr>
            <a:xfrm>
              <a:off x="4680294" y="3031782"/>
              <a:ext cx="184731" cy="338554"/>
            </a:xfrm>
            <a:prstGeom prst="rect">
              <a:avLst/>
            </a:prstGeom>
            <a:noFill/>
          </p:spPr>
          <p:txBody>
            <a:bodyPr wrap="none" rtlCol="0">
              <a:spAutoFit/>
            </a:bodyPr>
            <a:lstStyle/>
            <a:p>
              <a:endParaRPr lang="zh-CN" altLang="en-US" dirty="0">
                <a:solidFill>
                  <a:srgbClr val="FF0000"/>
                </a:solidFill>
              </a:endParaRPr>
            </a:p>
          </p:txBody>
        </p:sp>
        <p:sp>
          <p:nvSpPr>
            <p:cNvPr id="9" name="TextBox 8"/>
            <p:cNvSpPr txBox="1"/>
            <p:nvPr/>
          </p:nvSpPr>
          <p:spPr>
            <a:xfrm>
              <a:off x="4632370" y="2324092"/>
              <a:ext cx="184731" cy="318036"/>
            </a:xfrm>
            <a:prstGeom prst="rect">
              <a:avLst/>
            </a:prstGeom>
            <a:noFill/>
          </p:spPr>
          <p:txBody>
            <a:bodyPr wrap="none" rtlCol="0">
              <a:spAutoFit/>
            </a:bodyPr>
            <a:lstStyle/>
            <a:p>
              <a:endParaRPr lang="zh-CN" altLang="en-US" sz="2200" dirty="0">
                <a:solidFill>
                  <a:srgbClr val="FF0000"/>
                </a:solidFill>
              </a:endParaRPr>
            </a:p>
          </p:txBody>
        </p:sp>
        <p:sp>
          <p:nvSpPr>
            <p:cNvPr id="12" name="TextBox 11"/>
            <p:cNvSpPr txBox="1"/>
            <p:nvPr/>
          </p:nvSpPr>
          <p:spPr>
            <a:xfrm>
              <a:off x="4641958" y="4512905"/>
              <a:ext cx="184731" cy="338554"/>
            </a:xfrm>
            <a:prstGeom prst="rect">
              <a:avLst/>
            </a:prstGeom>
            <a:noFill/>
          </p:spPr>
          <p:txBody>
            <a:bodyPr wrap="none" rtlCol="0">
              <a:spAutoFit/>
            </a:bodyPr>
            <a:lstStyle/>
            <a:p>
              <a:endParaRPr lang="zh-CN" altLang="en-US" dirty="0">
                <a:solidFill>
                  <a:srgbClr val="FF0000"/>
                </a:solidFill>
              </a:endParaRPr>
            </a:p>
          </p:txBody>
        </p:sp>
        <p:sp>
          <p:nvSpPr>
            <p:cNvPr id="14" name="TextBox 13"/>
            <p:cNvSpPr txBox="1"/>
            <p:nvPr/>
          </p:nvSpPr>
          <p:spPr>
            <a:xfrm>
              <a:off x="4666834" y="6273746"/>
              <a:ext cx="184731" cy="338554"/>
            </a:xfrm>
            <a:prstGeom prst="rect">
              <a:avLst/>
            </a:prstGeom>
            <a:noFill/>
          </p:spPr>
          <p:txBody>
            <a:bodyPr wrap="none" rtlCol="0">
              <a:spAutoFit/>
            </a:bodyPr>
            <a:lstStyle/>
            <a:p>
              <a:endParaRPr lang="zh-CN" altLang="en-US" dirty="0">
                <a:solidFill>
                  <a:srgbClr val="FF0000"/>
                </a:solidFill>
              </a:endParaRPr>
            </a:p>
          </p:txBody>
        </p:sp>
        <p:sp>
          <p:nvSpPr>
            <p:cNvPr id="15" name="TextBox 11"/>
            <p:cNvSpPr txBox="1"/>
            <p:nvPr/>
          </p:nvSpPr>
          <p:spPr>
            <a:xfrm>
              <a:off x="4666834" y="4159060"/>
              <a:ext cx="184731" cy="338554"/>
            </a:xfrm>
            <a:prstGeom prst="rect">
              <a:avLst/>
            </a:prstGeom>
            <a:noFill/>
          </p:spPr>
          <p:txBody>
            <a:bodyPr wrap="none" rtlCol="0">
              <a:spAutoFit/>
            </a:bodyPr>
            <a:lstStyle/>
            <a:p>
              <a:endParaRPr lang="zh-CN" altLang="en-US" dirty="0">
                <a:solidFill>
                  <a:srgbClr val="FF0000"/>
                </a:solidFill>
              </a:endParaRPr>
            </a:p>
          </p:txBody>
        </p:sp>
      </p:grpSp>
    </p:spTree>
    <p:extLst>
      <p:ext uri="{BB962C8B-B14F-4D97-AF65-F5344CB8AC3E}">
        <p14:creationId xmlns:p14="http://schemas.microsoft.com/office/powerpoint/2010/main" val="1053133452"/>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F4B471-BEC9-4E63-817A-A7BF87CF67BD}"/>
              </a:ext>
            </a:extLst>
          </p:cNvPr>
          <p:cNvSpPr>
            <a:spLocks noGrp="1"/>
          </p:cNvSpPr>
          <p:nvPr>
            <p:ph type="title"/>
          </p:nvPr>
        </p:nvSpPr>
        <p:spPr/>
        <p:txBody>
          <a:bodyPr/>
          <a:lstStyle/>
          <a:p>
            <a:r>
              <a:rPr lang="zh-CN" altLang="en-US"/>
              <a:t>案例回顾：室内环境监测应用</a:t>
            </a:r>
            <a:endParaRPr lang="zh-CN" altLang="en-US" dirty="0"/>
          </a:p>
        </p:txBody>
      </p:sp>
      <p:sp>
        <p:nvSpPr>
          <p:cNvPr id="3" name="内容占位符 2">
            <a:extLst>
              <a:ext uri="{FF2B5EF4-FFF2-40B4-BE49-F238E27FC236}">
                <a16:creationId xmlns:a16="http://schemas.microsoft.com/office/drawing/2014/main" id="{DF0941AE-26F5-4DA1-A578-F3BFB3014C04}"/>
              </a:ext>
            </a:extLst>
          </p:cNvPr>
          <p:cNvSpPr>
            <a:spLocks noGrp="1"/>
          </p:cNvSpPr>
          <p:nvPr>
            <p:ph idx="1"/>
          </p:nvPr>
        </p:nvSpPr>
        <p:spPr/>
        <p:txBody>
          <a:bodyPr/>
          <a:lstStyle/>
          <a:p>
            <a:r>
              <a:rPr lang="en-US" altLang="zh-CN"/>
              <a:t>PM2.5</a:t>
            </a:r>
            <a:r>
              <a:rPr lang="zh-CN" altLang="en-US"/>
              <a:t>传感器需要自行封装读取函数</a:t>
            </a:r>
            <a:endParaRPr lang="zh-CN" altLang="en-US" dirty="0"/>
          </a:p>
        </p:txBody>
      </p:sp>
      <p:grpSp>
        <p:nvGrpSpPr>
          <p:cNvPr id="4" name="组合 3"/>
          <p:cNvGrpSpPr/>
          <p:nvPr/>
        </p:nvGrpSpPr>
        <p:grpSpPr>
          <a:xfrm>
            <a:off x="685800" y="1544585"/>
            <a:ext cx="7848600" cy="4734089"/>
            <a:chOff x="685800" y="1878211"/>
            <a:chExt cx="7848600" cy="4734089"/>
          </a:xfrm>
        </p:grpSpPr>
        <p:sp>
          <p:nvSpPr>
            <p:cNvPr id="6" name="矩形 5">
              <a:extLst>
                <a:ext uri="{FF2B5EF4-FFF2-40B4-BE49-F238E27FC236}">
                  <a16:creationId xmlns:a16="http://schemas.microsoft.com/office/drawing/2014/main" id="{4B017216-7E6B-4A22-86BF-6CDBE263844D}"/>
                </a:ext>
              </a:extLst>
            </p:cNvPr>
            <p:cNvSpPr/>
            <p:nvPr/>
          </p:nvSpPr>
          <p:spPr bwMode="auto">
            <a:xfrm>
              <a:off x="685800" y="1878211"/>
              <a:ext cx="7848600" cy="402597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sz="2200" dirty="0">
                  <a:latin typeface="Courier New" panose="02070309020205020404" pitchFamily="49" charset="0"/>
                  <a:cs typeface="Courier New" panose="02070309020205020404" pitchFamily="49" charset="0"/>
                </a:rPr>
                <a:t>double </a:t>
              </a:r>
              <a:r>
                <a:rPr lang="en-US" altLang="zh-CN" sz="2200" dirty="0">
                  <a:solidFill>
                    <a:schemeClr val="accent1"/>
                  </a:solidFill>
                  <a:latin typeface="Courier New" panose="02070309020205020404" pitchFamily="49" charset="0"/>
                  <a:cs typeface="Courier New" panose="02070309020205020404" pitchFamily="49" charset="0"/>
                </a:rPr>
                <a:t>pm25Read</a:t>
              </a:r>
              <a:r>
                <a:rPr lang="en-US" altLang="zh-CN" sz="2200" dirty="0">
                  <a:latin typeface="Courier New" panose="02070309020205020404" pitchFamily="49" charset="0"/>
                  <a:cs typeface="Courier New" panose="02070309020205020404" pitchFamily="49" charset="0"/>
                </a:rPr>
                <a:t>() {</a:t>
              </a:r>
              <a:r>
                <a:rPr lang="en-US" altLang="zh-CN" sz="2200" dirty="0">
                  <a:latin typeface="宋体" panose="02010600030101010101" pitchFamily="2" charset="-122"/>
                  <a:cs typeface="Courier New" panose="02070309020205020404" pitchFamily="49" charset="0"/>
                </a:rPr>
                <a:t>	</a:t>
              </a:r>
              <a:r>
                <a:rPr lang="en-US" altLang="zh-CN" sz="2200" dirty="0">
                  <a:solidFill>
                    <a:srgbClr val="C00000"/>
                  </a:solidFill>
                  <a:latin typeface="宋体" panose="02010600030101010101" pitchFamily="2" charset="-122"/>
                  <a:cs typeface="Courier New" panose="02070309020205020404" pitchFamily="49" charset="0"/>
                </a:rPr>
                <a:t>//PM2.5</a:t>
              </a:r>
              <a:r>
                <a:rPr lang="zh-CN" altLang="en-US" sz="2200" dirty="0">
                  <a:solidFill>
                    <a:srgbClr val="C00000"/>
                  </a:solidFill>
                  <a:latin typeface="宋体" panose="02010600030101010101" pitchFamily="2" charset="-122"/>
                  <a:cs typeface="Courier New" panose="02070309020205020404" pitchFamily="49" charset="0"/>
                </a:rPr>
                <a:t>传感器读取函数实现</a:t>
              </a:r>
              <a:endParaRPr lang="en-US" altLang="zh-CN" sz="2200" dirty="0">
                <a:solidFill>
                  <a:srgbClr val="C00000"/>
                </a:solidFill>
                <a:latin typeface="宋体" panose="02010600030101010101" pitchFamily="2" charset="-122"/>
                <a:cs typeface="Courier New" panose="02070309020205020404" pitchFamily="49" charset="0"/>
              </a:endParaRPr>
            </a:p>
            <a:p>
              <a:r>
                <a:rPr lang="en-US" altLang="zh-CN" sz="2200" dirty="0">
                  <a:solidFill>
                    <a:srgbClr val="FF0000"/>
                  </a:solidFill>
                  <a:latin typeface="Courier New" panose="02070309020205020404" pitchFamily="49" charset="0"/>
                  <a:cs typeface="Courier New" panose="02070309020205020404" pitchFamily="49" charset="0"/>
                </a:rPr>
                <a:t>        ……</a:t>
              </a:r>
            </a:p>
            <a:p>
              <a:r>
                <a:rPr lang="en-US" altLang="zh-CN" sz="2200" dirty="0">
                  <a:solidFill>
                    <a:srgbClr val="FF0000"/>
                  </a:solidFill>
                  <a:latin typeface="Courier New" panose="02070309020205020404" pitchFamily="49" charset="0"/>
                  <a:cs typeface="Courier New" panose="02070309020205020404" pitchFamily="49" charset="0"/>
                </a:rPr>
                <a:t>        </a:t>
              </a:r>
              <a:r>
                <a:rPr lang="en-US" altLang="zh-CN" sz="2200" dirty="0">
                  <a:latin typeface="Courier New" panose="02070309020205020404" pitchFamily="49" charset="0"/>
                  <a:cs typeface="Courier New" panose="02070309020205020404" pitchFamily="49" charset="0"/>
                </a:rPr>
                <a:t>while(SDS018_Serial.available()){</a:t>
              </a:r>
            </a:p>
            <a:p>
              <a:r>
                <a:rPr lang="en-US" altLang="zh-CN" sz="2200" dirty="0">
                  <a:latin typeface="Courier New" panose="02070309020205020404" pitchFamily="49" charset="0"/>
                  <a:cs typeface="Courier New" panose="02070309020205020404" pitchFamily="49" charset="0"/>
                </a:rPr>
                <a:t>               …… </a:t>
              </a:r>
            </a:p>
            <a:p>
              <a:r>
                <a:rPr lang="en-US" altLang="zh-CN" sz="2200" dirty="0">
                  <a:latin typeface="Courier New" panose="02070309020205020404" pitchFamily="49" charset="0"/>
                  <a:cs typeface="Courier New" panose="02070309020205020404" pitchFamily="49" charset="0"/>
                </a:rPr>
                <a:t>               readSerialDataFromSDS018();   </a:t>
              </a:r>
              <a:r>
                <a:rPr lang="en-US" altLang="zh-CN" sz="2200" dirty="0">
                  <a:solidFill>
                    <a:srgbClr val="C00000"/>
                  </a:solidFill>
                  <a:latin typeface="宋体" panose="02010600030101010101" pitchFamily="2" charset="-122"/>
                  <a:cs typeface="Courier New" panose="02070309020205020404" pitchFamily="49" charset="0"/>
                </a:rPr>
                <a:t>//</a:t>
              </a:r>
              <a:r>
                <a:rPr lang="zh-CN" altLang="en-US" sz="2200" dirty="0">
                  <a:solidFill>
                    <a:srgbClr val="C00000"/>
                  </a:solidFill>
                  <a:latin typeface="宋体" panose="02010600030101010101" pitchFamily="2" charset="-122"/>
                  <a:cs typeface="Courier New" panose="02070309020205020404" pitchFamily="49" charset="0"/>
                </a:rPr>
                <a:t>从</a:t>
              </a:r>
              <a:r>
                <a:rPr lang="en-US" altLang="zh-CN" sz="2200" dirty="0">
                  <a:solidFill>
                    <a:srgbClr val="C00000"/>
                  </a:solidFill>
                  <a:latin typeface="宋体" panose="02010600030101010101" pitchFamily="2" charset="-122"/>
                  <a:cs typeface="Courier New" panose="02070309020205020404" pitchFamily="49" charset="0"/>
                </a:rPr>
                <a:t>SDS018</a:t>
              </a:r>
              <a:r>
                <a:rPr lang="zh-CN" altLang="en-US" sz="2200" dirty="0">
                  <a:solidFill>
                    <a:srgbClr val="C00000"/>
                  </a:solidFill>
                  <a:latin typeface="宋体" panose="02010600030101010101" pitchFamily="2" charset="-122"/>
                  <a:cs typeface="Courier New" panose="02070309020205020404" pitchFamily="49" charset="0"/>
                </a:rPr>
                <a:t>读取串口数据</a:t>
              </a:r>
              <a:endParaRPr lang="en-US" altLang="zh-CN" sz="2200" dirty="0">
                <a:solidFill>
                  <a:srgbClr val="C00000"/>
                </a:solidFill>
                <a:latin typeface="宋体" panose="02010600030101010101" pitchFamily="2" charset="-122"/>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               ……</a:t>
              </a:r>
            </a:p>
            <a:p>
              <a:r>
                <a:rPr lang="en-US" altLang="zh-CN" sz="2200" dirty="0">
                  <a:latin typeface="Courier New" panose="02070309020205020404" pitchFamily="49" charset="0"/>
                  <a:cs typeface="Courier New" panose="02070309020205020404" pitchFamily="49" charset="0"/>
                </a:rPr>
                <a:t>               fetchPM25DataFromSerialData();</a:t>
              </a:r>
              <a:r>
                <a:rPr lang="en-US" altLang="zh-CN" sz="2200" dirty="0">
                  <a:solidFill>
                    <a:srgbClr val="C00000"/>
                  </a:solidFill>
                  <a:latin typeface="宋体" panose="02010600030101010101" pitchFamily="2" charset="-122"/>
                  <a:cs typeface="Courier New" panose="02070309020205020404" pitchFamily="49" charset="0"/>
                </a:rPr>
                <a:t>//</a:t>
              </a:r>
              <a:r>
                <a:rPr lang="zh-CN" altLang="en-US" sz="2200" dirty="0">
                  <a:solidFill>
                    <a:srgbClr val="C00000"/>
                  </a:solidFill>
                  <a:latin typeface="宋体" panose="02010600030101010101" pitchFamily="2" charset="-122"/>
                  <a:cs typeface="Courier New" panose="02070309020205020404" pitchFamily="49" charset="0"/>
                </a:rPr>
                <a:t>从串口数据中提取</a:t>
              </a:r>
              <a:r>
                <a:rPr lang="en-US" altLang="zh-CN" sz="2200" dirty="0">
                  <a:solidFill>
                    <a:srgbClr val="C00000"/>
                  </a:solidFill>
                  <a:latin typeface="宋体" panose="02010600030101010101" pitchFamily="2" charset="-122"/>
                  <a:cs typeface="Courier New" panose="02070309020205020404" pitchFamily="49" charset="0"/>
                </a:rPr>
                <a:t>PM2.5</a:t>
              </a:r>
              <a:r>
                <a:rPr lang="zh-CN" altLang="en-US" sz="2200" dirty="0">
                  <a:solidFill>
                    <a:srgbClr val="C00000"/>
                  </a:solidFill>
                  <a:latin typeface="宋体" panose="02010600030101010101" pitchFamily="2" charset="-122"/>
                  <a:cs typeface="Courier New" panose="02070309020205020404" pitchFamily="49" charset="0"/>
                </a:rPr>
                <a:t>数据</a:t>
              </a:r>
              <a:endParaRPr lang="en-US" altLang="zh-CN" sz="2200" dirty="0">
                <a:solidFill>
                  <a:srgbClr val="C00000"/>
                </a:solidFill>
                <a:latin typeface="宋体" panose="02010600030101010101" pitchFamily="2" charset="-122"/>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               ……</a:t>
              </a:r>
            </a:p>
            <a:p>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checkCRC</a:t>
              </a:r>
              <a:r>
                <a:rPr lang="en-US" altLang="zh-CN" sz="2200" dirty="0">
                  <a:latin typeface="Courier New" panose="02070309020205020404" pitchFamily="49" charset="0"/>
                  <a:cs typeface="Courier New" panose="02070309020205020404" pitchFamily="49" charset="0"/>
                </a:rPr>
                <a:t>();		    </a:t>
              </a:r>
              <a:r>
                <a:rPr lang="en-US" altLang="zh-CN" sz="2200" dirty="0">
                  <a:solidFill>
                    <a:srgbClr val="C00000"/>
                  </a:solidFill>
                  <a:latin typeface="宋体" panose="02010600030101010101" pitchFamily="2" charset="-122"/>
                  <a:cs typeface="Courier New" panose="02070309020205020404" pitchFamily="49" charset="0"/>
                </a:rPr>
                <a:t>//</a:t>
              </a:r>
              <a:r>
                <a:rPr lang="zh-CN" altLang="en-US" sz="2200" dirty="0">
                  <a:solidFill>
                    <a:srgbClr val="C00000"/>
                  </a:solidFill>
                  <a:latin typeface="Courier New" panose="02070309020205020404" pitchFamily="49" charset="0"/>
                  <a:cs typeface="Courier New" panose="02070309020205020404" pitchFamily="49" charset="0"/>
                </a:rPr>
                <a:t>传输数据</a:t>
              </a:r>
              <a:r>
                <a:rPr lang="en-US" altLang="zh-CN" sz="2200" dirty="0" err="1">
                  <a:solidFill>
                    <a:srgbClr val="C00000"/>
                  </a:solidFill>
                  <a:latin typeface="Courier New" panose="02070309020205020404" pitchFamily="49" charset="0"/>
                  <a:cs typeface="Courier New" panose="02070309020205020404" pitchFamily="49" charset="0"/>
                </a:rPr>
                <a:t>crc</a:t>
              </a:r>
              <a:r>
                <a:rPr lang="zh-CN" altLang="en-US" sz="2200" dirty="0">
                  <a:solidFill>
                    <a:srgbClr val="C00000"/>
                  </a:solidFill>
                  <a:latin typeface="Courier New" panose="02070309020205020404" pitchFamily="49" charset="0"/>
                  <a:cs typeface="Courier New" panose="02070309020205020404" pitchFamily="49" charset="0"/>
                </a:rPr>
                <a:t>校验</a:t>
              </a:r>
              <a:endParaRPr lang="en-US" altLang="zh-CN" sz="2200" dirty="0">
                <a:solidFill>
                  <a:srgbClr val="C00000"/>
                </a:solidFill>
                <a:latin typeface="Courier New" panose="02070309020205020404" pitchFamily="49" charset="0"/>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               ……</a:t>
              </a:r>
            </a:p>
            <a:p>
              <a:r>
                <a:rPr lang="en-US" altLang="zh-CN" sz="2200" dirty="0">
                  <a:latin typeface="Courier New" panose="02070309020205020404" pitchFamily="49" charset="0"/>
                  <a:cs typeface="Courier New" panose="02070309020205020404" pitchFamily="49" charset="0"/>
                </a:rPr>
                <a:t>        }</a:t>
              </a:r>
            </a:p>
            <a:p>
              <a:r>
                <a:rPr lang="en-US" altLang="zh-CN" sz="2200" dirty="0">
                  <a:latin typeface="Courier New" panose="02070309020205020404" pitchFamily="49" charset="0"/>
                  <a:cs typeface="Courier New" panose="02070309020205020404" pitchFamily="49" charset="0"/>
                </a:rPr>
                <a:t>        ……</a:t>
              </a:r>
            </a:p>
            <a:p>
              <a:r>
                <a:rPr lang="en-US" altLang="zh-CN" sz="2200" dirty="0">
                  <a:latin typeface="Courier New" panose="02070309020205020404" pitchFamily="49" charset="0"/>
                  <a:cs typeface="Courier New" panose="02070309020205020404" pitchFamily="49" charset="0"/>
                </a:rPr>
                <a:t>        storePM25DataToBuffer();		</a:t>
              </a:r>
              <a:r>
                <a:rPr lang="en-US" altLang="zh-CN" sz="2200" dirty="0">
                  <a:solidFill>
                    <a:srgbClr val="C00000"/>
                  </a:solidFill>
                  <a:latin typeface="宋体" panose="02010600030101010101" pitchFamily="2" charset="-122"/>
                  <a:cs typeface="Courier New" panose="02070309020205020404" pitchFamily="49" charset="0"/>
                </a:rPr>
                <a:t>//</a:t>
              </a:r>
              <a:r>
                <a:rPr lang="zh-CN" altLang="en-US" sz="2200" dirty="0">
                  <a:solidFill>
                    <a:srgbClr val="C00000"/>
                  </a:solidFill>
                  <a:latin typeface="Courier New" panose="02070309020205020404" pitchFamily="49" charset="0"/>
                  <a:cs typeface="Courier New" panose="02070309020205020404" pitchFamily="49" charset="0"/>
                </a:rPr>
                <a:t>将</a:t>
              </a:r>
              <a:r>
                <a:rPr lang="en-US" altLang="zh-CN" sz="2200" dirty="0">
                  <a:solidFill>
                    <a:srgbClr val="C00000"/>
                  </a:solidFill>
                  <a:latin typeface="Courier New" panose="02070309020205020404" pitchFamily="49" charset="0"/>
                  <a:cs typeface="Courier New" panose="02070309020205020404" pitchFamily="49" charset="0"/>
                </a:rPr>
                <a:t>PM25</a:t>
              </a:r>
              <a:r>
                <a:rPr lang="zh-CN" altLang="en-US" sz="2200" dirty="0">
                  <a:solidFill>
                    <a:srgbClr val="C00000"/>
                  </a:solidFill>
                  <a:latin typeface="Courier New" panose="02070309020205020404" pitchFamily="49" charset="0"/>
                  <a:cs typeface="Courier New" panose="02070309020205020404" pitchFamily="49" charset="0"/>
                </a:rPr>
                <a:t>数据放入数据缓冲区</a:t>
              </a:r>
              <a:endParaRPr lang="en-US" altLang="zh-CN" sz="2200" dirty="0">
                <a:solidFill>
                  <a:srgbClr val="C00000"/>
                </a:solidFill>
                <a:latin typeface="Courier New" panose="02070309020205020404" pitchFamily="49" charset="0"/>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        ……</a:t>
              </a:r>
            </a:p>
            <a:p>
              <a:r>
                <a:rPr lang="en-US" altLang="zh-CN" sz="2200" dirty="0">
                  <a:latin typeface="Courier New" panose="02070309020205020404" pitchFamily="49" charset="0"/>
                  <a:cs typeface="Courier New" panose="02070309020205020404" pitchFamily="49" charset="0"/>
                </a:rPr>
                <a:t>        </a:t>
              </a:r>
              <a:r>
                <a:rPr lang="en-US" altLang="zh-CN" sz="2200" dirty="0">
                  <a:solidFill>
                    <a:srgbClr val="0033CC"/>
                  </a:solidFill>
                  <a:latin typeface="Courier New" panose="02070309020205020404" pitchFamily="49" charset="0"/>
                  <a:cs typeface="Courier New" panose="02070309020205020404" pitchFamily="49" charset="0"/>
                </a:rPr>
                <a:t>return</a:t>
              </a:r>
              <a:r>
                <a:rPr lang="en-US" altLang="zh-CN" sz="2200" dirty="0">
                  <a:latin typeface="Courier New" panose="02070309020205020404" pitchFamily="49" charset="0"/>
                  <a:cs typeface="Courier New" panose="02070309020205020404" pitchFamily="49" charset="0"/>
                </a:rPr>
                <a:t> movingAverageOfPM25Buffer();</a:t>
              </a:r>
              <a:r>
                <a:rPr lang="en-US" altLang="zh-CN" sz="2200" dirty="0">
                  <a:solidFill>
                    <a:srgbClr val="C00000"/>
                  </a:solidFill>
                  <a:latin typeface="宋体" panose="02010600030101010101" pitchFamily="2" charset="-122"/>
                  <a:cs typeface="Courier New" panose="02070309020205020404" pitchFamily="49" charset="0"/>
                </a:rPr>
                <a:t>//</a:t>
              </a:r>
              <a:r>
                <a:rPr lang="zh-CN" altLang="en-US" sz="2200" dirty="0">
                  <a:solidFill>
                    <a:srgbClr val="C00000"/>
                  </a:solidFill>
                  <a:latin typeface="Courier New" panose="02070309020205020404" pitchFamily="49" charset="0"/>
                  <a:cs typeface="Courier New" panose="02070309020205020404" pitchFamily="49" charset="0"/>
                </a:rPr>
                <a:t>从数据缓冲区取滑动平均值返回</a:t>
              </a:r>
              <a:endParaRPr lang="en-US" altLang="zh-CN" sz="2200" dirty="0">
                <a:solidFill>
                  <a:srgbClr val="C00000"/>
                </a:solidFill>
                <a:latin typeface="Courier New" panose="02070309020205020404" pitchFamily="49" charset="0"/>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a:t>
              </a:r>
            </a:p>
          </p:txBody>
        </p:sp>
        <p:sp>
          <p:nvSpPr>
            <p:cNvPr id="7" name="TextBox 6"/>
            <p:cNvSpPr txBox="1"/>
            <p:nvPr/>
          </p:nvSpPr>
          <p:spPr>
            <a:xfrm>
              <a:off x="4680294" y="3031782"/>
              <a:ext cx="184731" cy="338554"/>
            </a:xfrm>
            <a:prstGeom prst="rect">
              <a:avLst/>
            </a:prstGeom>
            <a:noFill/>
          </p:spPr>
          <p:txBody>
            <a:bodyPr wrap="none" rtlCol="0">
              <a:spAutoFit/>
            </a:bodyPr>
            <a:lstStyle/>
            <a:p>
              <a:endParaRPr lang="zh-CN" altLang="en-US" dirty="0">
                <a:solidFill>
                  <a:srgbClr val="FF0000"/>
                </a:solidFill>
              </a:endParaRPr>
            </a:p>
          </p:txBody>
        </p:sp>
        <p:sp>
          <p:nvSpPr>
            <p:cNvPr id="9" name="TextBox 8"/>
            <p:cNvSpPr txBox="1"/>
            <p:nvPr/>
          </p:nvSpPr>
          <p:spPr>
            <a:xfrm>
              <a:off x="4632370" y="2324092"/>
              <a:ext cx="184731" cy="318036"/>
            </a:xfrm>
            <a:prstGeom prst="rect">
              <a:avLst/>
            </a:prstGeom>
            <a:noFill/>
          </p:spPr>
          <p:txBody>
            <a:bodyPr wrap="none" rtlCol="0">
              <a:spAutoFit/>
            </a:bodyPr>
            <a:lstStyle/>
            <a:p>
              <a:endParaRPr lang="zh-CN" altLang="en-US" sz="2200" dirty="0">
                <a:solidFill>
                  <a:srgbClr val="FF0000"/>
                </a:solidFill>
              </a:endParaRPr>
            </a:p>
          </p:txBody>
        </p:sp>
        <p:sp>
          <p:nvSpPr>
            <p:cNvPr id="12" name="TextBox 11"/>
            <p:cNvSpPr txBox="1"/>
            <p:nvPr/>
          </p:nvSpPr>
          <p:spPr>
            <a:xfrm>
              <a:off x="4641958" y="4512905"/>
              <a:ext cx="184731" cy="338554"/>
            </a:xfrm>
            <a:prstGeom prst="rect">
              <a:avLst/>
            </a:prstGeom>
            <a:noFill/>
          </p:spPr>
          <p:txBody>
            <a:bodyPr wrap="none" rtlCol="0">
              <a:spAutoFit/>
            </a:bodyPr>
            <a:lstStyle/>
            <a:p>
              <a:endParaRPr lang="zh-CN" altLang="en-US" dirty="0">
                <a:solidFill>
                  <a:srgbClr val="FF0000"/>
                </a:solidFill>
              </a:endParaRPr>
            </a:p>
          </p:txBody>
        </p:sp>
        <p:sp>
          <p:nvSpPr>
            <p:cNvPr id="14" name="TextBox 13"/>
            <p:cNvSpPr txBox="1"/>
            <p:nvPr/>
          </p:nvSpPr>
          <p:spPr>
            <a:xfrm>
              <a:off x="4666834" y="6273746"/>
              <a:ext cx="184731" cy="338554"/>
            </a:xfrm>
            <a:prstGeom prst="rect">
              <a:avLst/>
            </a:prstGeom>
            <a:noFill/>
          </p:spPr>
          <p:txBody>
            <a:bodyPr wrap="none" rtlCol="0">
              <a:spAutoFit/>
            </a:bodyPr>
            <a:lstStyle/>
            <a:p>
              <a:endParaRPr lang="zh-CN" altLang="en-US" dirty="0">
                <a:solidFill>
                  <a:srgbClr val="FF0000"/>
                </a:solidFill>
              </a:endParaRPr>
            </a:p>
          </p:txBody>
        </p:sp>
        <p:sp>
          <p:nvSpPr>
            <p:cNvPr id="15" name="TextBox 11"/>
            <p:cNvSpPr txBox="1"/>
            <p:nvPr/>
          </p:nvSpPr>
          <p:spPr>
            <a:xfrm>
              <a:off x="4889881" y="4174351"/>
              <a:ext cx="184731" cy="338554"/>
            </a:xfrm>
            <a:prstGeom prst="rect">
              <a:avLst/>
            </a:prstGeom>
            <a:noFill/>
          </p:spPr>
          <p:txBody>
            <a:bodyPr wrap="none" rtlCol="0">
              <a:spAutoFit/>
            </a:bodyPr>
            <a:lstStyle/>
            <a:p>
              <a:endParaRPr lang="zh-CN" altLang="en-US" dirty="0">
                <a:solidFill>
                  <a:srgbClr val="FF0000"/>
                </a:solidFill>
              </a:endParaRPr>
            </a:p>
          </p:txBody>
        </p:sp>
      </p:grpSp>
    </p:spTree>
    <p:extLst>
      <p:ext uri="{BB962C8B-B14F-4D97-AF65-F5344CB8AC3E}">
        <p14:creationId xmlns:p14="http://schemas.microsoft.com/office/powerpoint/2010/main" val="2686902938"/>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传统物联网应用开发的不便之处</a:t>
            </a:r>
            <a:endParaRPr lang="zh-CN" altLang="en-US" dirty="0"/>
          </a:p>
        </p:txBody>
      </p:sp>
      <p:sp>
        <p:nvSpPr>
          <p:cNvPr id="3" name="内容占位符 2"/>
          <p:cNvSpPr>
            <a:spLocks noGrp="1"/>
          </p:cNvSpPr>
          <p:nvPr>
            <p:ph idx="1"/>
          </p:nvPr>
        </p:nvSpPr>
        <p:spPr/>
        <p:txBody>
          <a:bodyPr/>
          <a:lstStyle/>
          <a:p>
            <a:r>
              <a:rPr lang="zh-CN" altLang="zh-CN"/>
              <a:t>硬件选择方面</a:t>
            </a:r>
            <a:endParaRPr lang="en-US" altLang="zh-CN"/>
          </a:p>
          <a:p>
            <a:pPr lvl="1"/>
            <a:r>
              <a:rPr lang="zh-CN" altLang="zh-CN"/>
              <a:t>需要了解一定硬件知识，根据应用需求选择适合的</a:t>
            </a:r>
            <a:r>
              <a:rPr lang="zh-CN" altLang="en-US"/>
              <a:t>硬件</a:t>
            </a:r>
            <a:endParaRPr lang="en-US" altLang="zh-CN"/>
          </a:p>
          <a:p>
            <a:pPr lvl="1"/>
            <a:r>
              <a:rPr lang="zh-CN" altLang="zh-CN"/>
              <a:t>需要掌握一定的硬件特性，正确地选择开发板和外接设备的连接关系，保证硬件之间的兼容性</a:t>
            </a:r>
            <a:endParaRPr lang="en-US" altLang="zh-CN"/>
          </a:p>
          <a:p>
            <a:r>
              <a:rPr lang="zh-CN" altLang="en-US"/>
              <a:t>软件设计方面</a:t>
            </a:r>
            <a:endParaRPr lang="en-US" altLang="zh-CN"/>
          </a:p>
          <a:p>
            <a:pPr lvl="1"/>
            <a:r>
              <a:rPr lang="zh-CN" altLang="en-US"/>
              <a:t>需要掌握各类外设在不同硬件平台下的驱动编写</a:t>
            </a:r>
          </a:p>
          <a:p>
            <a:pPr lvl="1"/>
            <a:r>
              <a:rPr lang="zh-CN" altLang="en-US"/>
              <a:t>需要有一定的开发经验，选择合适的驱动库开发应用</a:t>
            </a:r>
            <a:endParaRPr lang="en-US" altLang="zh-CN"/>
          </a:p>
          <a:p>
            <a:r>
              <a:rPr lang="zh-CN" altLang="zh-CN"/>
              <a:t>软硬件协同方面</a:t>
            </a:r>
            <a:endParaRPr lang="zh-CN" altLang="en-US"/>
          </a:p>
          <a:p>
            <a:pPr lvl="1"/>
            <a:r>
              <a:rPr lang="zh-CN" altLang="en-US"/>
              <a:t>硬件选型需要考虑外设驱动库在所选硬件平台的兼容性</a:t>
            </a:r>
            <a:endParaRPr lang="en-US" altLang="zh-CN"/>
          </a:p>
          <a:p>
            <a:pPr lvl="1"/>
            <a:r>
              <a:rPr lang="zh-CN" altLang="zh-CN"/>
              <a:t>软件设计需要基于硬件连接关系确定每个外接设备对应到硬件平台的通信引脚和端口</a:t>
            </a:r>
            <a:endParaRPr lang="en-US" altLang="zh-CN"/>
          </a:p>
          <a:p>
            <a:pPr lvl="1"/>
            <a:r>
              <a:rPr lang="zh-CN" altLang="zh-CN"/>
              <a:t>由于物联网没有固定硬件平台且各平台差异性较大，更换硬件平台时，将原有软件迁移到新硬件平台需要大量的开发工作</a:t>
            </a:r>
            <a:endParaRPr lang="en-US" altLang="zh-CN"/>
          </a:p>
          <a:p>
            <a:pPr lvl="1"/>
            <a:endParaRPr lang="zh-CN" altLang="en-US" dirty="0"/>
          </a:p>
        </p:txBody>
      </p:sp>
    </p:spTree>
    <p:extLst>
      <p:ext uri="{BB962C8B-B14F-4D97-AF65-F5344CB8AC3E}">
        <p14:creationId xmlns:p14="http://schemas.microsoft.com/office/powerpoint/2010/main" val="4271144513"/>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4650258" y="3353875"/>
            <a:ext cx="1864946" cy="379591"/>
          </a:xfrm>
          <a:prstGeom prst="rect">
            <a:avLst/>
          </a:prstGeom>
          <a:noFill/>
          <a:ln w="12700" cap="flat">
            <a:noFill/>
            <a:miter lim="400000"/>
          </a:ln>
          <a:effectLst/>
          <a:sp3d/>
        </p:spPr>
        <p:txBody>
          <a:bodyPr rot="0" spcFirstLastPara="1" vertOverflow="overflow" horzOverflow="overflow" vert="horz" wrap="square" lIns="50800" tIns="50800" rIns="50800" bIns="50800" numCol="1" spcCol="38100" rtlCol="0" anchor="ctr">
            <a:spAutoFit/>
          </a:bodyPr>
          <a:lstStyle/>
          <a:p>
            <a:pPr marL="0" marR="0" lvl="0" indent="0" algn="ctr" defTabSz="825500" eaLnBrk="1" fontAlgn="auto" latinLnBrk="0" hangingPunct="0">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Helvetica Neue"/>
              </a:rPr>
              <a:t>分析用户代码</a:t>
            </a:r>
          </a:p>
        </p:txBody>
      </p:sp>
      <p:sp>
        <p:nvSpPr>
          <p:cNvPr id="30" name="文本框 29"/>
          <p:cNvSpPr txBox="1"/>
          <p:nvPr/>
        </p:nvSpPr>
        <p:spPr>
          <a:xfrm>
            <a:off x="1185384" y="1930111"/>
            <a:ext cx="2300766" cy="41000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lvl="0" algn="ctr" defTabSz="825500" fontAlgn="auto" hangingPunct="0">
              <a:spcBef>
                <a:spcPts val="0"/>
              </a:spcBef>
              <a:spcAft>
                <a:spcPts val="0"/>
              </a:spcAft>
            </a:pPr>
            <a:r>
              <a:rPr lang="zh-CN" altLang="en-US" sz="2000" b="1" baseline="0" dirty="0">
                <a:solidFill>
                  <a:prstClr val="black"/>
                </a:solidFill>
                <a:latin typeface="+mj-ea"/>
                <a:ea typeface="+mj-ea"/>
                <a:sym typeface="Helvetica Neue"/>
              </a:rPr>
              <a:t>应用需求分析</a:t>
            </a:r>
          </a:p>
        </p:txBody>
      </p:sp>
      <p:sp>
        <p:nvSpPr>
          <p:cNvPr id="32" name="文本框 31"/>
          <p:cNvSpPr txBox="1"/>
          <p:nvPr/>
        </p:nvSpPr>
        <p:spPr>
          <a:xfrm>
            <a:off x="1176418" y="3740204"/>
            <a:ext cx="2232871"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zh-CN" altLang="en-US" sz="2000" b="1" i="0" u="none" strike="noStrike" cap="none" spc="0" normalizeH="0" baseline="0" dirty="0">
                <a:ln>
                  <a:noFill/>
                </a:ln>
                <a:effectLst/>
                <a:uFillTx/>
                <a:latin typeface="+mj-ea"/>
                <a:ea typeface="+mj-ea"/>
                <a:sym typeface="Helvetica Neue"/>
              </a:rPr>
              <a:t>硬件平台搭建</a:t>
            </a:r>
          </a:p>
        </p:txBody>
      </p:sp>
      <p:sp>
        <p:nvSpPr>
          <p:cNvPr id="2" name="Title 1"/>
          <p:cNvSpPr>
            <a:spLocks noGrp="1"/>
          </p:cNvSpPr>
          <p:nvPr>
            <p:ph type="title"/>
          </p:nvPr>
        </p:nvSpPr>
        <p:spPr/>
        <p:txBody>
          <a:bodyPr/>
          <a:lstStyle/>
          <a:p>
            <a:r>
              <a:rPr lang="en-US" altLang="zh-CN" dirty="0" err="1"/>
              <a:t>TinyLink</a:t>
            </a:r>
            <a:r>
              <a:rPr lang="en-US" altLang="zh-CN" dirty="0"/>
              <a:t> 1.0</a:t>
            </a:r>
            <a:endParaRPr lang="zh-CN" altLang="en-US" dirty="0"/>
          </a:p>
        </p:txBody>
      </p:sp>
      <p:sp>
        <p:nvSpPr>
          <p:cNvPr id="5" name="内容占位符 4">
            <a:extLst>
              <a:ext uri="{FF2B5EF4-FFF2-40B4-BE49-F238E27FC236}">
                <a16:creationId xmlns:a16="http://schemas.microsoft.com/office/drawing/2014/main" id="{F0DC80A9-A252-4E82-869C-05AC8A2EB2DD}"/>
              </a:ext>
            </a:extLst>
          </p:cNvPr>
          <p:cNvSpPr>
            <a:spLocks noGrp="1"/>
          </p:cNvSpPr>
          <p:nvPr>
            <p:ph idx="1"/>
          </p:nvPr>
        </p:nvSpPr>
        <p:spPr/>
        <p:txBody>
          <a:bodyPr/>
          <a:lstStyle/>
          <a:p>
            <a:r>
              <a:rPr lang="zh-CN" altLang="en-US" dirty="0"/>
              <a:t>开发过程</a:t>
            </a:r>
          </a:p>
        </p:txBody>
      </p:sp>
      <p:pic>
        <p:nvPicPr>
          <p:cNvPr id="7" name="图片 4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18145" y="3141935"/>
            <a:ext cx="64770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Down Arrow 7"/>
          <p:cNvSpPr/>
          <p:nvPr/>
        </p:nvSpPr>
        <p:spPr bwMode="auto">
          <a:xfrm>
            <a:off x="675272" y="1819719"/>
            <a:ext cx="445273" cy="2598206"/>
          </a:xfrm>
          <a:prstGeom prst="downArrow">
            <a:avLst/>
          </a:prstGeom>
          <a:solidFill>
            <a:srgbClr val="C00000"/>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sp>
        <p:nvSpPr>
          <p:cNvPr id="9" name="矩形 5"/>
          <p:cNvSpPr/>
          <p:nvPr/>
        </p:nvSpPr>
        <p:spPr>
          <a:xfrm>
            <a:off x="5234114" y="128684"/>
            <a:ext cx="3704861" cy="482183"/>
          </a:xfrm>
          <a:prstGeom prst="rect">
            <a:avLst/>
          </a:prstGeom>
        </p:spPr>
        <p:txBody>
          <a:bodyPr wrap="none">
            <a:spAutoFit/>
          </a:bodyPr>
          <a:lstStyle/>
          <a:p>
            <a:pPr algn="ctr"/>
            <a:r>
              <a:rPr lang="en-US" altLang="zh-CN" sz="38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http://tinylink.emnets.org</a:t>
            </a:r>
            <a:endParaRPr lang="zh-CN" altLang="en-US" sz="3800" b="1"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4" name="TextBox 3"/>
          <p:cNvSpPr txBox="1"/>
          <p:nvPr/>
        </p:nvSpPr>
        <p:spPr>
          <a:xfrm>
            <a:off x="797179" y="5798095"/>
            <a:ext cx="8028772" cy="646331"/>
          </a:xfrm>
          <a:prstGeom prst="rect">
            <a:avLst/>
          </a:prstGeom>
          <a:noFill/>
          <a:ln>
            <a:solidFill>
              <a:schemeClr val="tx1"/>
            </a:solidFill>
          </a:ln>
        </p:spPr>
        <p:txBody>
          <a:bodyPr wrap="square" rtlCol="0">
            <a:spAutoFit/>
          </a:bodyPr>
          <a:lstStyle/>
          <a:p>
            <a:r>
              <a:rPr lang="en-US" altLang="zh-CN" sz="1800" baseline="0" dirty="0">
                <a:latin typeface="+mj-ea"/>
                <a:ea typeface="+mj-ea"/>
                <a:cs typeface="Times New Roman" pitchFamily="18" charset="0"/>
              </a:rPr>
              <a:t>G. Guan, W. Dong*, et. al, </a:t>
            </a:r>
            <a:r>
              <a:rPr lang="en-US" altLang="zh-CN" sz="1800" b="1" baseline="0" dirty="0">
                <a:latin typeface="+mj-ea"/>
                <a:ea typeface="+mj-ea"/>
                <a:cs typeface="Times New Roman" pitchFamily="18" charset="0"/>
              </a:rPr>
              <a:t>TinyLink: a Holistic System for Rapid Development of </a:t>
            </a:r>
            <a:r>
              <a:rPr lang="en-US" altLang="zh-CN" sz="1800" b="1" baseline="0" dirty="0" err="1">
                <a:latin typeface="+mj-ea"/>
                <a:ea typeface="+mj-ea"/>
                <a:cs typeface="Times New Roman" pitchFamily="18" charset="0"/>
              </a:rPr>
              <a:t>IoT</a:t>
            </a:r>
            <a:r>
              <a:rPr lang="en-US" altLang="zh-CN" sz="1800" b="1" baseline="0" dirty="0">
                <a:latin typeface="+mj-ea"/>
                <a:ea typeface="+mj-ea"/>
                <a:cs typeface="Times New Roman" pitchFamily="18" charset="0"/>
              </a:rPr>
              <a:t> Applications, </a:t>
            </a:r>
            <a:r>
              <a:rPr lang="en-US" altLang="zh-CN" sz="1800" b="1" baseline="0" dirty="0">
                <a:solidFill>
                  <a:srgbClr val="C00000"/>
                </a:solidFill>
                <a:latin typeface="+mj-ea"/>
                <a:ea typeface="+mj-ea"/>
                <a:cs typeface="Times New Roman" pitchFamily="18" charset="0"/>
              </a:rPr>
              <a:t>ACM </a:t>
            </a:r>
            <a:r>
              <a:rPr lang="en-US" altLang="zh-CN" sz="1800" b="1" baseline="0" dirty="0" err="1">
                <a:solidFill>
                  <a:srgbClr val="C00000"/>
                </a:solidFill>
                <a:latin typeface="+mj-ea"/>
                <a:ea typeface="+mj-ea"/>
                <a:cs typeface="Times New Roman" pitchFamily="18" charset="0"/>
              </a:rPr>
              <a:t>MobiCom</a:t>
            </a:r>
            <a:r>
              <a:rPr lang="en-US" altLang="zh-CN" sz="1800" b="1" baseline="0" dirty="0">
                <a:solidFill>
                  <a:srgbClr val="C00000"/>
                </a:solidFill>
                <a:latin typeface="+mj-ea"/>
                <a:ea typeface="+mj-ea"/>
                <a:cs typeface="Times New Roman" pitchFamily="18" charset="0"/>
              </a:rPr>
              <a:t> 2017</a:t>
            </a:r>
            <a:r>
              <a:rPr lang="en-US" altLang="zh-CN" sz="1800" b="1" baseline="0" dirty="0">
                <a:latin typeface="+mj-ea"/>
                <a:ea typeface="+mj-ea"/>
                <a:cs typeface="Times New Roman" pitchFamily="18" charset="0"/>
              </a:rPr>
              <a:t>. </a:t>
            </a:r>
            <a:endParaRPr lang="zh-CN" altLang="en-US" sz="1800" b="1" baseline="0" dirty="0">
              <a:latin typeface="+mj-ea"/>
              <a:ea typeface="+mj-ea"/>
              <a:cs typeface="Times New Roman" pitchFamily="18" charset="0"/>
            </a:endParaRPr>
          </a:p>
        </p:txBody>
      </p:sp>
      <p:pic>
        <p:nvPicPr>
          <p:cNvPr id="19" name="图片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08376" y="3969326"/>
            <a:ext cx="2478846" cy="1534276"/>
          </a:xfrm>
          <a:prstGeom prst="rect">
            <a:avLst/>
          </a:prstGeom>
        </p:spPr>
      </p:pic>
      <p:sp>
        <p:nvSpPr>
          <p:cNvPr id="20" name="文本框 19"/>
          <p:cNvSpPr txBox="1"/>
          <p:nvPr/>
        </p:nvSpPr>
        <p:spPr>
          <a:xfrm>
            <a:off x="3758060" y="1202776"/>
            <a:ext cx="5514290" cy="1949252"/>
          </a:xfrm>
          <a:prstGeom prst="rect">
            <a:avLst/>
          </a:prstGeom>
          <a:noFill/>
          <a:ln w="12700" cap="flat">
            <a:noFill/>
            <a:miter lim="400000"/>
          </a:ln>
          <a:effectLst/>
          <a:sp3d/>
        </p:spPr>
        <p:txBody>
          <a:bodyPr rot="0" spcFirstLastPara="1" vertOverflow="overflow" horzOverflow="overflow" vert="horz" wrap="square" lIns="50800" tIns="50800" rIns="50800" bIns="50800" numCol="1" spcCol="38100" rtlCol="0" anchor="ctr">
            <a:spAutoFit/>
          </a:bodyPr>
          <a:lstStyle/>
          <a:p>
            <a:pPr marL="0" marR="0" lvl="1" indent="228600" defTabSz="825500" eaLnBrk="1" fontAlgn="auto" latinLnBrk="0" hangingPunct="0">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Courier New" panose="02070309020205020404" pitchFamily="49" charset="0"/>
                <a:ea typeface="微软雅黑" panose="020B0503020204020204" pitchFamily="34" charset="-122"/>
                <a:cs typeface="Courier New" panose="02070309020205020404" pitchFamily="49" charset="0"/>
                <a:sym typeface="Helvetica Neue"/>
              </a:rPr>
              <a:t>void setup()	{</a:t>
            </a:r>
          </a:p>
          <a:p>
            <a:pPr marL="0" marR="0" lvl="1" indent="228600" defTabSz="825500" eaLnBrk="1" fontAlgn="auto" latinLnBrk="0" hangingPunct="0">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Courier New" panose="02070309020205020404" pitchFamily="49" charset="0"/>
                <a:ea typeface="微软雅黑" panose="020B0503020204020204" pitchFamily="34" charset="-122"/>
                <a:cs typeface="Courier New" panose="02070309020205020404" pitchFamily="49" charset="0"/>
                <a:sym typeface="Helvetica Neue"/>
              </a:rPr>
              <a:t>	</a:t>
            </a:r>
            <a:r>
              <a:rPr kumimoji="0" lang="en-US" altLang="zh-CN" sz="1200" b="0" i="0" u="none" strike="noStrike" kern="0" cap="none" spc="0" normalizeH="0" baseline="0" noProof="0" dirty="0" err="1">
                <a:ln>
                  <a:noFill/>
                </a:ln>
                <a:effectLst/>
                <a:uLnTx/>
                <a:uFillTx/>
                <a:latin typeface="Courier New" panose="02070309020205020404" pitchFamily="49" charset="0"/>
                <a:ea typeface="微软雅黑" panose="020B0503020204020204" pitchFamily="34" charset="-122"/>
                <a:cs typeface="Courier New" panose="02070309020205020404" pitchFamily="49" charset="0"/>
                <a:sym typeface="Helvetica Neue"/>
              </a:rPr>
              <a:t>TL_WiFi.init</a:t>
            </a:r>
            <a:r>
              <a:rPr kumimoji="0" lang="en-US" altLang="zh-CN" sz="1200" b="0" i="0" u="none" strike="noStrike" kern="0" cap="none" spc="0" normalizeH="0" baseline="0" noProof="0" dirty="0">
                <a:ln>
                  <a:noFill/>
                </a:ln>
                <a:effectLst/>
                <a:uLnTx/>
                <a:uFillTx/>
                <a:latin typeface="Courier New" panose="02070309020205020404" pitchFamily="49" charset="0"/>
                <a:ea typeface="微软雅黑" panose="020B0503020204020204" pitchFamily="34" charset="-122"/>
                <a:cs typeface="Courier New" panose="02070309020205020404" pitchFamily="49" charset="0"/>
                <a:sym typeface="Helvetica Neue"/>
              </a:rPr>
              <a:t>();</a:t>
            </a:r>
          </a:p>
          <a:p>
            <a:pPr marL="0" marR="0" lvl="1" indent="228600" defTabSz="825500" eaLnBrk="1" fontAlgn="auto" latinLnBrk="0" hangingPunct="0">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Courier New" panose="02070309020205020404" pitchFamily="49" charset="0"/>
                <a:ea typeface="微软雅黑" panose="020B0503020204020204" pitchFamily="34" charset="-122"/>
                <a:cs typeface="Courier New" panose="02070309020205020404" pitchFamily="49" charset="0"/>
                <a:sym typeface="Helvetica Neue"/>
              </a:rPr>
              <a:t>	</a:t>
            </a:r>
            <a:r>
              <a:rPr kumimoji="0" lang="en-US" altLang="zh-CN" sz="1200" b="0" i="0" u="none" strike="noStrike" kern="0" cap="none" spc="0" normalizeH="0" baseline="0" noProof="0" dirty="0" err="1">
                <a:ln>
                  <a:noFill/>
                </a:ln>
                <a:effectLst/>
                <a:uLnTx/>
                <a:uFillTx/>
                <a:latin typeface="Courier New" panose="02070309020205020404" pitchFamily="49" charset="0"/>
                <a:ea typeface="微软雅黑" panose="020B0503020204020204" pitchFamily="34" charset="-122"/>
                <a:cs typeface="Courier New" panose="02070309020205020404" pitchFamily="49" charset="0"/>
                <a:sym typeface="Helvetica Neue"/>
              </a:rPr>
              <a:t>TL_WiFi.join</a:t>
            </a:r>
            <a:r>
              <a:rPr kumimoji="0" lang="en-US" altLang="zh-CN" sz="1200" b="0" i="0" u="none" strike="noStrike" kern="0" cap="none" spc="0" normalizeH="0" baseline="0" noProof="0" dirty="0">
                <a:ln>
                  <a:noFill/>
                </a:ln>
                <a:effectLst/>
                <a:uLnTx/>
                <a:uFillTx/>
                <a:latin typeface="Courier New" panose="02070309020205020404" pitchFamily="49" charset="0"/>
                <a:ea typeface="微软雅黑" panose="020B0503020204020204" pitchFamily="34" charset="-122"/>
                <a:cs typeface="Courier New" panose="02070309020205020404" pitchFamily="49" charset="0"/>
                <a:sym typeface="Helvetica Neue"/>
              </a:rPr>
              <a:t>("SSID", "PASSWORD");</a:t>
            </a:r>
          </a:p>
          <a:p>
            <a:pPr marL="0" marR="0" lvl="1" indent="228600" defTabSz="825500" eaLnBrk="1" fontAlgn="auto" latinLnBrk="0" hangingPunct="0">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Courier New" panose="02070309020205020404" pitchFamily="49" charset="0"/>
                <a:ea typeface="微软雅黑" panose="020B0503020204020204" pitchFamily="34" charset="-122"/>
                <a:cs typeface="Courier New" panose="02070309020205020404" pitchFamily="49" charset="0"/>
                <a:sym typeface="Helvetica Neue"/>
              </a:rPr>
              <a:t>	</a:t>
            </a:r>
            <a:r>
              <a:rPr kumimoji="0" lang="en-US" altLang="zh-CN" sz="1200" b="0" i="0" u="none" strike="noStrike" kern="0" cap="none" spc="0" normalizeH="0" baseline="0" noProof="0" dirty="0" err="1">
                <a:ln>
                  <a:noFill/>
                </a:ln>
                <a:effectLst/>
                <a:uLnTx/>
                <a:uFillTx/>
                <a:latin typeface="Courier New" panose="02070309020205020404" pitchFamily="49" charset="0"/>
                <a:ea typeface="微软雅黑" panose="020B0503020204020204" pitchFamily="34" charset="-122"/>
                <a:cs typeface="Courier New" panose="02070309020205020404" pitchFamily="49" charset="0"/>
                <a:sym typeface="Helvetica Neue"/>
              </a:rPr>
              <a:t>TL_Light.setMeasuringRange</a:t>
            </a:r>
            <a:r>
              <a:rPr kumimoji="0" lang="en-US" altLang="zh-CN" sz="1200" b="0" i="0" u="none" strike="noStrike" kern="0" cap="none" spc="0" normalizeH="0" baseline="0" noProof="0" dirty="0">
                <a:ln>
                  <a:noFill/>
                </a:ln>
                <a:effectLst/>
                <a:uLnTx/>
                <a:uFillTx/>
                <a:latin typeface="Courier New" panose="02070309020205020404" pitchFamily="49" charset="0"/>
                <a:ea typeface="微软雅黑" panose="020B0503020204020204" pitchFamily="34" charset="-122"/>
                <a:cs typeface="Courier New" panose="02070309020205020404" pitchFamily="49" charset="0"/>
                <a:sym typeface="Helvetica Neue"/>
              </a:rPr>
              <a:t>(1, 30000, "LUX");</a:t>
            </a:r>
          </a:p>
          <a:p>
            <a:pPr marL="0" marR="0" lvl="1" indent="228600" defTabSz="825500" eaLnBrk="1" fontAlgn="auto" latinLnBrk="0" hangingPunct="0">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Courier New" panose="02070309020205020404" pitchFamily="49" charset="0"/>
                <a:ea typeface="微软雅黑" panose="020B0503020204020204" pitchFamily="34" charset="-122"/>
                <a:cs typeface="Courier New" panose="02070309020205020404" pitchFamily="49" charset="0"/>
                <a:sym typeface="Helvetica Neue"/>
              </a:rPr>
              <a:t>}</a:t>
            </a:r>
          </a:p>
          <a:p>
            <a:pPr marL="0" marR="0" lvl="1" indent="228600" defTabSz="825500" eaLnBrk="1" fontAlgn="auto" latinLnBrk="0" hangingPunct="0">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Courier New" panose="02070309020205020404" pitchFamily="49" charset="0"/>
                <a:ea typeface="微软雅黑" panose="020B0503020204020204" pitchFamily="34" charset="-122"/>
                <a:cs typeface="Courier New" panose="02070309020205020404" pitchFamily="49" charset="0"/>
                <a:sym typeface="Helvetica Neue"/>
              </a:rPr>
              <a:t>void loop()	{</a:t>
            </a:r>
          </a:p>
          <a:p>
            <a:pPr marL="0" marR="0" lvl="1" indent="228600" defTabSz="825500" eaLnBrk="1" fontAlgn="auto" latinLnBrk="0" hangingPunct="0">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Courier New" panose="02070309020205020404" pitchFamily="49" charset="0"/>
                <a:ea typeface="微软雅黑" panose="020B0503020204020204" pitchFamily="34" charset="-122"/>
                <a:cs typeface="Courier New" panose="02070309020205020404" pitchFamily="49" charset="0"/>
                <a:sym typeface="Helvetica Neue"/>
              </a:rPr>
              <a:t>	</a:t>
            </a:r>
            <a:r>
              <a:rPr kumimoji="0" lang="en-US" altLang="zh-CN" sz="1200" b="0" i="0" u="none" strike="noStrike" kern="0" cap="none" spc="0" normalizeH="0" baseline="0" noProof="0" dirty="0" err="1">
                <a:ln>
                  <a:noFill/>
                </a:ln>
                <a:effectLst/>
                <a:uLnTx/>
                <a:uFillTx/>
                <a:latin typeface="Courier New" panose="02070309020205020404" pitchFamily="49" charset="0"/>
                <a:ea typeface="微软雅黑" panose="020B0503020204020204" pitchFamily="34" charset="-122"/>
                <a:cs typeface="Courier New" panose="02070309020205020404" pitchFamily="49" charset="0"/>
                <a:sym typeface="Helvetica Neue"/>
              </a:rPr>
              <a:t>TL_Light.read</a:t>
            </a:r>
            <a:r>
              <a:rPr kumimoji="0" lang="en-US" altLang="zh-CN" sz="1200" b="0" i="0" u="none" strike="noStrike" kern="0" cap="none" spc="0" normalizeH="0" baseline="0" noProof="0" dirty="0">
                <a:ln>
                  <a:noFill/>
                </a:ln>
                <a:effectLst/>
                <a:uLnTx/>
                <a:uFillTx/>
                <a:latin typeface="Courier New" panose="02070309020205020404" pitchFamily="49" charset="0"/>
                <a:ea typeface="微软雅黑" panose="020B0503020204020204" pitchFamily="34" charset="-122"/>
                <a:cs typeface="Courier New" panose="02070309020205020404" pitchFamily="49" charset="0"/>
                <a:sym typeface="Helvetica Neue"/>
              </a:rPr>
              <a:t>();</a:t>
            </a:r>
          </a:p>
          <a:p>
            <a:pPr marL="0" marR="0" lvl="1" indent="228600" defTabSz="825500" eaLnBrk="1" fontAlgn="auto" latinLnBrk="0" hangingPunct="0">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Courier New" panose="02070309020205020404" pitchFamily="49" charset="0"/>
                <a:ea typeface="微软雅黑" panose="020B0503020204020204" pitchFamily="34" charset="-122"/>
                <a:cs typeface="Courier New" panose="02070309020205020404" pitchFamily="49" charset="0"/>
                <a:sym typeface="Helvetica Neue"/>
              </a:rPr>
              <a:t>	</a:t>
            </a:r>
            <a:r>
              <a:rPr kumimoji="0" lang="en-US" altLang="zh-CN" sz="1200" b="0" i="0" u="none" strike="noStrike" kern="0" cap="none" spc="0" normalizeH="0" baseline="0" noProof="0" dirty="0" err="1">
                <a:ln>
                  <a:noFill/>
                </a:ln>
                <a:effectLst/>
                <a:uLnTx/>
                <a:uFillTx/>
                <a:latin typeface="Courier New" panose="02070309020205020404" pitchFamily="49" charset="0"/>
                <a:ea typeface="微软雅黑" panose="020B0503020204020204" pitchFamily="34" charset="-122"/>
                <a:cs typeface="Courier New" panose="02070309020205020404" pitchFamily="49" charset="0"/>
                <a:sym typeface="Helvetica Neue"/>
              </a:rPr>
              <a:t>TL_Soil_Humidity.read</a:t>
            </a:r>
            <a:r>
              <a:rPr kumimoji="0" lang="en-US" altLang="zh-CN" sz="1200" b="0" i="0" u="none" strike="noStrike" kern="0" cap="none" spc="0" normalizeH="0" baseline="0" noProof="0" dirty="0">
                <a:ln>
                  <a:noFill/>
                </a:ln>
                <a:effectLst/>
                <a:uLnTx/>
                <a:uFillTx/>
                <a:latin typeface="Courier New" panose="02070309020205020404" pitchFamily="49" charset="0"/>
                <a:ea typeface="微软雅黑" panose="020B0503020204020204" pitchFamily="34" charset="-122"/>
                <a:cs typeface="Courier New" panose="02070309020205020404" pitchFamily="49" charset="0"/>
                <a:sym typeface="Helvetica Neue"/>
              </a:rPr>
              <a:t>();</a:t>
            </a:r>
          </a:p>
          <a:p>
            <a:pPr marL="0" marR="0" lvl="1" indent="228600" defTabSz="825500" eaLnBrk="1" fontAlgn="auto" latinLnBrk="0" hangingPunct="0">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Courier New" panose="02070309020205020404" pitchFamily="49" charset="0"/>
                <a:ea typeface="微软雅黑" panose="020B0503020204020204" pitchFamily="34" charset="-122"/>
                <a:cs typeface="Courier New" panose="02070309020205020404" pitchFamily="49" charset="0"/>
                <a:sym typeface="Helvetica Neue"/>
              </a:rPr>
              <a:t>	……</a:t>
            </a:r>
          </a:p>
          <a:p>
            <a:pPr marL="0" marR="0" lvl="1" indent="228600" defTabSz="825500" eaLnBrk="1" fontAlgn="auto" latinLnBrk="0" hangingPunct="0">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Courier New" panose="02070309020205020404" pitchFamily="49" charset="0"/>
                <a:ea typeface="微软雅黑" panose="020B0503020204020204" pitchFamily="34" charset="-122"/>
                <a:cs typeface="Courier New" panose="02070309020205020404" pitchFamily="49" charset="0"/>
                <a:sym typeface="Helvetica Neue"/>
              </a:rPr>
              <a:t>  }</a:t>
            </a:r>
          </a:p>
        </p:txBody>
      </p:sp>
      <p:pic>
        <p:nvPicPr>
          <p:cNvPr id="21" name="图片 20"/>
          <p:cNvPicPr>
            <a:picLocks noChangeAspect="1"/>
          </p:cNvPicPr>
          <p:nvPr/>
        </p:nvPicPr>
        <p:blipFill>
          <a:blip r:embed="rId4"/>
          <a:stretch>
            <a:fillRect/>
          </a:stretch>
        </p:blipFill>
        <p:spPr>
          <a:xfrm>
            <a:off x="6894759" y="4223499"/>
            <a:ext cx="1787371" cy="995241"/>
          </a:xfrm>
          <a:prstGeom prst="rect">
            <a:avLst/>
          </a:prstGeom>
        </p:spPr>
      </p:pic>
      <p:sp>
        <p:nvSpPr>
          <p:cNvPr id="22" name="左大括号 21"/>
          <p:cNvSpPr/>
          <p:nvPr/>
        </p:nvSpPr>
        <p:spPr>
          <a:xfrm rot="5400000">
            <a:off x="6279414" y="2717552"/>
            <a:ext cx="262508" cy="2125737"/>
          </a:xfrm>
          <a:prstGeom prst="leftBrace">
            <a:avLst/>
          </a:prstGeom>
          <a:noFill/>
          <a:ln w="57150" cap="flat">
            <a:solidFill>
              <a:srgbClr val="C00000"/>
            </a:solidFill>
            <a:prstDash val="solid"/>
            <a:miter lim="400000"/>
          </a:ln>
          <a:effectLst/>
          <a:sp3d/>
        </p:spPr>
        <p:txBody>
          <a:bodyPr rot="0" spcFirstLastPara="1" vertOverflow="overflow" horzOverflow="overflow" vert="horz" wrap="square" lIns="91439" tIns="45719" rIns="91439" bIns="45719" numCol="1" spcCol="38100" rtlCol="0" anchor="t">
            <a:noAutofit/>
          </a:bodyPr>
          <a:lstStyle/>
          <a:p>
            <a:pPr marL="0" marR="0" lvl="0" indent="0" defTabSz="914400" eaLnBrk="1" fontAlgn="auto" latinLnBrk="1" hangingPunct="0">
              <a:lnSpc>
                <a:spcPct val="100000"/>
              </a:lnSpc>
              <a:spcBef>
                <a:spcPts val="0"/>
              </a:spcBef>
              <a:spcAft>
                <a:spcPts val="0"/>
              </a:spcAft>
              <a:buClrTx/>
              <a:buSzTx/>
              <a:buFontTx/>
              <a:buNone/>
              <a:tabLst/>
              <a:defRPr/>
            </a:pPr>
            <a:endParaRPr kumimoji="0" lang="zh-CN" altLang="en-US" sz="10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sym typeface="Helvetica Neue"/>
            </a:endParaRPr>
          </a:p>
        </p:txBody>
      </p:sp>
      <p:cxnSp>
        <p:nvCxnSpPr>
          <p:cNvPr id="23" name="直接箭头连接符 22"/>
          <p:cNvCxnSpPr/>
          <p:nvPr/>
        </p:nvCxnSpPr>
        <p:spPr>
          <a:xfrm>
            <a:off x="6411767" y="3332248"/>
            <a:ext cx="0" cy="316919"/>
          </a:xfrm>
          <a:prstGeom prst="straightConnector1">
            <a:avLst/>
          </a:prstGeom>
          <a:noFill/>
          <a:ln w="57150" cap="flat">
            <a:solidFill>
              <a:srgbClr val="C00000"/>
            </a:solidFill>
            <a:prstDash val="solid"/>
            <a:miter lim="400000"/>
            <a:tailEnd type="triangle"/>
          </a:ln>
          <a:effectLst/>
          <a:sp3d/>
        </p:spPr>
      </p:cxnSp>
      <p:sp>
        <p:nvSpPr>
          <p:cNvPr id="25" name="圆角矩形 24">
            <a:extLst>
              <a:ext uri="{FF2B5EF4-FFF2-40B4-BE49-F238E27FC236}">
                <a16:creationId xmlns:a16="http://schemas.microsoft.com/office/drawing/2014/main" id="{E337C883-9C4A-3A46-9A8B-35704813B9D8}"/>
              </a:ext>
            </a:extLst>
          </p:cNvPr>
          <p:cNvSpPr/>
          <p:nvPr/>
        </p:nvSpPr>
        <p:spPr>
          <a:xfrm>
            <a:off x="3965845" y="1132720"/>
            <a:ext cx="4716285" cy="2108092"/>
          </a:xfrm>
          <a:prstGeom prst="roundRect">
            <a:avLst>
              <a:gd name="adj" fmla="val 3397"/>
            </a:avLst>
          </a:prstGeom>
          <a:noFill/>
          <a:ln w="38100" cap="flat">
            <a:solidFill>
              <a:schemeClr val="tx1"/>
            </a:solidFill>
            <a:miter lim="400000"/>
          </a:ln>
          <a:effectLst/>
          <a:sp3d/>
        </p:spPr>
        <p:txBody>
          <a:bodyPr rot="0" spcFirstLastPara="1" vertOverflow="overflow" horzOverflow="overflow" vert="horz" wrap="square" lIns="0" tIns="0" rIns="0" bIns="0" numCol="1" spcCol="38100" rtlCol="0" anchor="ctr">
            <a:spAutoFit/>
          </a:bodyPr>
          <a:lstStyle/>
          <a:p>
            <a:pPr marL="0" marR="0" lvl="0" indent="0" algn="ctr" defTabSz="825500" eaLnBrk="1" fontAlgn="auto" latinLnBrk="0" hangingPunct="0">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latin typeface="微软雅黑" panose="020B0503020204020204" pitchFamily="34" charset="-122"/>
              <a:ea typeface="微软雅黑" panose="020B0503020204020204" pitchFamily="34" charset="-122"/>
              <a:sym typeface="Helvetica Neue Medium"/>
            </a:endParaRPr>
          </a:p>
        </p:txBody>
      </p:sp>
      <p:sp>
        <p:nvSpPr>
          <p:cNvPr id="28" name="文本框 27"/>
          <p:cNvSpPr txBox="1"/>
          <p:nvPr/>
        </p:nvSpPr>
        <p:spPr>
          <a:xfrm>
            <a:off x="213166" y="2104622"/>
            <a:ext cx="656590" cy="16078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eaVert"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zh-CN" altLang="en-US" sz="3600" b="1" dirty="0">
                <a:latin typeface="+mj-ea"/>
                <a:ea typeface="+mj-ea"/>
              </a:rPr>
              <a:t>自 顶 向 下</a:t>
            </a:r>
            <a:endParaRPr kumimoji="0" lang="zh-CN" altLang="en-US" sz="3600" b="1" i="0" u="none" strike="noStrike" cap="none" spc="0" normalizeH="0" baseline="0" dirty="0">
              <a:ln>
                <a:noFill/>
              </a:ln>
              <a:effectLst/>
              <a:uFillTx/>
              <a:latin typeface="+mj-ea"/>
              <a:ea typeface="+mj-ea"/>
              <a:sym typeface="Helvetica Neue"/>
            </a:endParaRPr>
          </a:p>
        </p:txBody>
      </p:sp>
      <p:sp>
        <p:nvSpPr>
          <p:cNvPr id="31" name="文本框 30"/>
          <p:cNvSpPr txBox="1"/>
          <p:nvPr/>
        </p:nvSpPr>
        <p:spPr>
          <a:xfrm>
            <a:off x="1185384" y="2809605"/>
            <a:ext cx="2223906"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zh-CN" altLang="en-US" sz="2000" b="1" i="0" u="none" strike="noStrike" cap="none" spc="0" normalizeH="0" baseline="0" dirty="0">
                <a:ln>
                  <a:noFill/>
                </a:ln>
                <a:effectLst/>
                <a:uFillTx/>
                <a:latin typeface="+mj-ea"/>
                <a:ea typeface="+mj-ea"/>
                <a:sym typeface="Helvetica Neue"/>
              </a:rPr>
              <a:t>节点软件编程</a:t>
            </a:r>
          </a:p>
        </p:txBody>
      </p:sp>
      <p:sp>
        <p:nvSpPr>
          <p:cNvPr id="33" name="Down Arrow 7"/>
          <p:cNvSpPr/>
          <p:nvPr/>
        </p:nvSpPr>
        <p:spPr bwMode="auto">
          <a:xfrm>
            <a:off x="2261797" y="2432606"/>
            <a:ext cx="135469" cy="306793"/>
          </a:xfrm>
          <a:prstGeom prst="downArrow">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1200" b="0" i="0" u="none" strike="noStrike" cap="none" normalizeH="0" baseline="-25000">
              <a:ln>
                <a:noFill/>
              </a:ln>
              <a:effectLst>
                <a:outerShdw blurRad="38100" dist="38100" dir="2700000" algn="tl">
                  <a:srgbClr val="000000">
                    <a:alpha val="43137"/>
                  </a:srgbClr>
                </a:outerShdw>
              </a:effectLst>
              <a:latin typeface="Arial" charset="0"/>
            </a:endParaRPr>
          </a:p>
        </p:txBody>
      </p:sp>
      <p:sp>
        <p:nvSpPr>
          <p:cNvPr id="34" name="圆角矩形 33">
            <a:extLst>
              <a:ext uri="{FF2B5EF4-FFF2-40B4-BE49-F238E27FC236}">
                <a16:creationId xmlns:a16="http://schemas.microsoft.com/office/drawing/2014/main" id="{E7EE0C83-83C0-7D4F-B8BE-D34E27402FB0}"/>
              </a:ext>
            </a:extLst>
          </p:cNvPr>
          <p:cNvSpPr/>
          <p:nvPr/>
        </p:nvSpPr>
        <p:spPr>
          <a:xfrm>
            <a:off x="1306724" y="1904194"/>
            <a:ext cx="2045615" cy="461838"/>
          </a:xfrm>
          <a:prstGeom prst="roundRect">
            <a:avLst>
              <a:gd name="adj" fmla="val 17000"/>
            </a:avLst>
          </a:prstGeom>
          <a:noFill/>
          <a:ln w="381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600" b="0" i="0" u="none" strike="noStrike" cap="none" spc="0" normalizeH="0" baseline="0">
              <a:ln>
                <a:noFill/>
              </a:ln>
              <a:effectLst/>
              <a:uFillTx/>
              <a:latin typeface="+mn-lt"/>
              <a:ea typeface="+mn-ea"/>
              <a:cs typeface="+mn-cs"/>
              <a:sym typeface="Helvetica Neue Medium"/>
            </a:endParaRPr>
          </a:p>
        </p:txBody>
      </p:sp>
      <p:sp>
        <p:nvSpPr>
          <p:cNvPr id="35" name="圆角矩形 34">
            <a:extLst>
              <a:ext uri="{FF2B5EF4-FFF2-40B4-BE49-F238E27FC236}">
                <a16:creationId xmlns:a16="http://schemas.microsoft.com/office/drawing/2014/main" id="{6BEDF5AC-F27E-A549-9CC2-FC74117720D8}"/>
              </a:ext>
            </a:extLst>
          </p:cNvPr>
          <p:cNvSpPr/>
          <p:nvPr/>
        </p:nvSpPr>
        <p:spPr>
          <a:xfrm>
            <a:off x="1306724" y="2807059"/>
            <a:ext cx="2045615" cy="458638"/>
          </a:xfrm>
          <a:prstGeom prst="roundRect">
            <a:avLst>
              <a:gd name="adj" fmla="val 17000"/>
            </a:avLst>
          </a:prstGeom>
          <a:noFill/>
          <a:ln w="381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600" b="0" i="0" u="none" strike="noStrike" cap="none" spc="0" normalizeH="0" baseline="0">
              <a:ln>
                <a:noFill/>
              </a:ln>
              <a:effectLst/>
              <a:uFillTx/>
              <a:latin typeface="+mn-lt"/>
              <a:ea typeface="+mn-ea"/>
              <a:cs typeface="+mn-cs"/>
              <a:sym typeface="Helvetica Neue Medium"/>
            </a:endParaRPr>
          </a:p>
        </p:txBody>
      </p:sp>
      <p:sp>
        <p:nvSpPr>
          <p:cNvPr id="36" name="圆角矩形 35">
            <a:extLst>
              <a:ext uri="{FF2B5EF4-FFF2-40B4-BE49-F238E27FC236}">
                <a16:creationId xmlns:a16="http://schemas.microsoft.com/office/drawing/2014/main" id="{0446BD8B-80DD-1B4D-8054-C32E730678C5}"/>
              </a:ext>
            </a:extLst>
          </p:cNvPr>
          <p:cNvSpPr/>
          <p:nvPr/>
        </p:nvSpPr>
        <p:spPr>
          <a:xfrm>
            <a:off x="1306724" y="3733467"/>
            <a:ext cx="2045615" cy="473956"/>
          </a:xfrm>
          <a:prstGeom prst="roundRect">
            <a:avLst>
              <a:gd name="adj" fmla="val 17000"/>
            </a:avLst>
          </a:prstGeom>
          <a:noFill/>
          <a:ln w="381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600" b="0" i="0" u="none" strike="noStrike" cap="none" spc="0" normalizeH="0" baseline="0">
              <a:ln>
                <a:noFill/>
              </a:ln>
              <a:effectLst/>
              <a:uFillTx/>
              <a:latin typeface="+mn-lt"/>
              <a:ea typeface="+mn-ea"/>
              <a:cs typeface="+mn-cs"/>
              <a:sym typeface="Helvetica Neue Medium"/>
            </a:endParaRPr>
          </a:p>
        </p:txBody>
      </p:sp>
      <p:sp>
        <p:nvSpPr>
          <p:cNvPr id="37" name="Down Arrow 7">
            <a:extLst>
              <a:ext uri="{FF2B5EF4-FFF2-40B4-BE49-F238E27FC236}">
                <a16:creationId xmlns:a16="http://schemas.microsoft.com/office/drawing/2014/main" id="{7B22CEE9-11D8-B94C-82C5-FF441E7A2B7C}"/>
              </a:ext>
            </a:extLst>
          </p:cNvPr>
          <p:cNvSpPr/>
          <p:nvPr/>
        </p:nvSpPr>
        <p:spPr bwMode="auto">
          <a:xfrm>
            <a:off x="2261797" y="3344014"/>
            <a:ext cx="135469" cy="306793"/>
          </a:xfrm>
          <a:prstGeom prst="downArrow">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1200" b="0" i="0" u="none" strike="noStrike" cap="none" normalizeH="0" baseline="-25000">
              <a:ln>
                <a:noFill/>
              </a:ln>
              <a:effectLst>
                <a:outerShdw blurRad="38100" dist="38100" dir="2700000" algn="tl">
                  <a:srgbClr val="000000">
                    <a:alpha val="43137"/>
                  </a:srgbClr>
                </a:outerShdw>
              </a:effectLst>
              <a:latin typeface="Arial" charset="0"/>
            </a:endParaRPr>
          </a:p>
        </p:txBody>
      </p:sp>
    </p:spTree>
    <p:extLst>
      <p:ext uri="{BB962C8B-B14F-4D97-AF65-F5344CB8AC3E}">
        <p14:creationId xmlns:p14="http://schemas.microsoft.com/office/powerpoint/2010/main" val="891780090"/>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en-US" altLang="zh-CN" dirty="0"/>
              <a:t> 1.0</a:t>
            </a:r>
            <a:endParaRPr lang="zh-CN" altLang="en-US" dirty="0"/>
          </a:p>
        </p:txBody>
      </p:sp>
      <p:sp>
        <p:nvSpPr>
          <p:cNvPr id="5" name="内容占位符 4">
            <a:extLst>
              <a:ext uri="{FF2B5EF4-FFF2-40B4-BE49-F238E27FC236}">
                <a16:creationId xmlns:a16="http://schemas.microsoft.com/office/drawing/2014/main" id="{6FAE9DC5-E40E-4156-B7C4-82D8DE32960D}"/>
              </a:ext>
            </a:extLst>
          </p:cNvPr>
          <p:cNvSpPr>
            <a:spLocks noGrp="1"/>
          </p:cNvSpPr>
          <p:nvPr>
            <p:ph idx="1"/>
          </p:nvPr>
        </p:nvSpPr>
        <p:spPr/>
        <p:txBody>
          <a:bodyPr/>
          <a:lstStyle/>
          <a:p>
            <a:r>
              <a:rPr lang="zh-CN" altLang="en-US" dirty="0"/>
              <a:t>使用</a:t>
            </a:r>
            <a:r>
              <a:rPr lang="zh-CN" altLang="zh-CN" dirty="0"/>
              <a:t>流程</a:t>
            </a:r>
            <a:endParaRPr lang="zh-CN" altLang="en-US" dirty="0"/>
          </a:p>
        </p:txBody>
      </p:sp>
      <p:grpSp>
        <p:nvGrpSpPr>
          <p:cNvPr id="3" name="组合 2"/>
          <p:cNvGrpSpPr/>
          <p:nvPr/>
        </p:nvGrpSpPr>
        <p:grpSpPr>
          <a:xfrm>
            <a:off x="584189" y="1297963"/>
            <a:ext cx="7975623" cy="4698300"/>
            <a:chOff x="723760" y="1501163"/>
            <a:chExt cx="7975623" cy="4698300"/>
          </a:xfrm>
        </p:grpSpPr>
        <p:sp>
          <p:nvSpPr>
            <p:cNvPr id="9" name="右箭头 8"/>
            <p:cNvSpPr/>
            <p:nvPr/>
          </p:nvSpPr>
          <p:spPr>
            <a:xfrm>
              <a:off x="3426811" y="2739738"/>
              <a:ext cx="2275647" cy="355283"/>
            </a:xfrm>
            <a:prstGeom prst="rightArrow">
              <a:avLst>
                <a:gd name="adj1" fmla="val 34421"/>
                <a:gd name="adj2" fmla="val 79601"/>
              </a:avLst>
            </a:prstGeom>
            <a:solidFill>
              <a:schemeClr val="accent2">
                <a:lumMod val="60000"/>
                <a:lumOff val="40000"/>
              </a:schemeClr>
            </a:solidFill>
            <a:ln w="12700" cap="flat">
              <a:solidFill>
                <a:schemeClr val="accent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800" b="0" i="0" u="none" strike="noStrike" cap="none" spc="0" normalizeH="0" baseline="0">
                <a:ln>
                  <a:noFill/>
                </a:ln>
                <a:effectLst/>
                <a:uFillTx/>
                <a:latin typeface="+mn-ea"/>
                <a:ea typeface="+mn-ea"/>
                <a:cs typeface="+mn-cs"/>
                <a:sym typeface="Helvetica Neue Medium"/>
              </a:endParaRPr>
            </a:p>
          </p:txBody>
        </p:sp>
        <p:sp>
          <p:nvSpPr>
            <p:cNvPr id="14" name="文本框 13"/>
            <p:cNvSpPr txBox="1"/>
            <p:nvPr/>
          </p:nvSpPr>
          <p:spPr>
            <a:xfrm>
              <a:off x="1354720" y="1501163"/>
              <a:ext cx="1171737"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zh-CN" altLang="en-US" sz="3600" b="1" dirty="0">
                  <a:latin typeface="+mj-ea"/>
                  <a:ea typeface="+mj-ea"/>
                </a:rPr>
                <a:t>用户端</a:t>
              </a:r>
              <a:endParaRPr kumimoji="0" lang="zh-CN" altLang="en-US" sz="3600" b="1" i="0" u="none" strike="noStrike" cap="none" spc="0" normalizeH="0" baseline="0" dirty="0">
                <a:ln>
                  <a:noFill/>
                </a:ln>
                <a:effectLst/>
                <a:uFillTx/>
                <a:latin typeface="+mj-ea"/>
                <a:ea typeface="+mj-ea"/>
                <a:sym typeface="Helvetica Neue"/>
              </a:endParaRPr>
            </a:p>
          </p:txBody>
        </p:sp>
        <p:sp>
          <p:nvSpPr>
            <p:cNvPr id="15" name="文本框 14"/>
            <p:cNvSpPr txBox="1"/>
            <p:nvPr/>
          </p:nvSpPr>
          <p:spPr>
            <a:xfrm>
              <a:off x="6726680" y="1685829"/>
              <a:ext cx="176808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zh-CN" altLang="en-US" sz="3600" b="1" dirty="0">
                  <a:latin typeface="+mj-ea"/>
                  <a:ea typeface="+mj-ea"/>
                </a:rPr>
                <a:t>服务器端</a:t>
              </a:r>
            </a:p>
          </p:txBody>
        </p:sp>
        <p:sp>
          <p:nvSpPr>
            <p:cNvPr id="19" name="右箭头 18"/>
            <p:cNvSpPr/>
            <p:nvPr/>
          </p:nvSpPr>
          <p:spPr>
            <a:xfrm rot="5400000" flipV="1">
              <a:off x="7616143" y="4365278"/>
              <a:ext cx="416548" cy="888206"/>
            </a:xfrm>
            <a:prstGeom prst="rightArrow">
              <a:avLst>
                <a:gd name="adj1" fmla="val 34421"/>
                <a:gd name="adj2" fmla="val 79601"/>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2000" b="0" i="0" u="none" strike="noStrike" cap="none" spc="0" normalizeH="0" baseline="0">
                <a:ln>
                  <a:noFill/>
                </a:ln>
                <a:effectLst/>
                <a:uFillTx/>
                <a:latin typeface="黑体" panose="02010609060101010101" pitchFamily="49" charset="-122"/>
                <a:ea typeface="黑体" panose="02010609060101010101" pitchFamily="49" charset="-122"/>
                <a:sym typeface="Helvetica Neue Medium"/>
              </a:endParaRPr>
            </a:p>
          </p:txBody>
        </p:sp>
        <p:sp>
          <p:nvSpPr>
            <p:cNvPr id="21" name="圆角矩形 20">
              <a:extLst>
                <a:ext uri="{FF2B5EF4-FFF2-40B4-BE49-F238E27FC236}">
                  <a16:creationId xmlns:a16="http://schemas.microsoft.com/office/drawing/2014/main" id="{E97AFD69-37E2-344B-9A2E-6A66EC5E7B69}"/>
                </a:ext>
              </a:extLst>
            </p:cNvPr>
            <p:cNvSpPr/>
            <p:nvPr/>
          </p:nvSpPr>
          <p:spPr>
            <a:xfrm>
              <a:off x="724868" y="3806432"/>
              <a:ext cx="2490441" cy="884148"/>
            </a:xfrm>
            <a:prstGeom prst="roundRect">
              <a:avLst/>
            </a:prstGeom>
            <a:solidFill>
              <a:schemeClr val="bg1">
                <a:lumMod val="95000"/>
              </a:schemeClr>
            </a:solidFill>
            <a:ln w="1905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600" b="0" i="0" u="none" strike="noStrike" cap="none" spc="0" normalizeH="0" baseline="0">
                <a:ln>
                  <a:noFill/>
                </a:ln>
                <a:effectLst/>
                <a:uFillTx/>
                <a:latin typeface="黑体" panose="02010609060101010101" pitchFamily="49" charset="-122"/>
                <a:ea typeface="黑体" panose="02010609060101010101" pitchFamily="49" charset="-122"/>
                <a:sym typeface="Helvetica Neue Medium"/>
              </a:endParaRPr>
            </a:p>
          </p:txBody>
        </p:sp>
        <p:sp>
          <p:nvSpPr>
            <p:cNvPr id="23" name="右箭头 22">
              <a:extLst>
                <a:ext uri="{FF2B5EF4-FFF2-40B4-BE49-F238E27FC236}">
                  <a16:creationId xmlns:a16="http://schemas.microsoft.com/office/drawing/2014/main" id="{51AD9EDC-F2DB-2E41-8F18-B816FA2745CA}"/>
                </a:ext>
              </a:extLst>
            </p:cNvPr>
            <p:cNvSpPr/>
            <p:nvPr/>
          </p:nvSpPr>
          <p:spPr>
            <a:xfrm rot="10800000">
              <a:off x="3390985" y="4084395"/>
              <a:ext cx="2397419" cy="355283"/>
            </a:xfrm>
            <a:prstGeom prst="rightArrow">
              <a:avLst>
                <a:gd name="adj1" fmla="val 34421"/>
                <a:gd name="adj2" fmla="val 79601"/>
              </a:avLst>
            </a:prstGeom>
            <a:solidFill>
              <a:schemeClr val="accent2">
                <a:lumMod val="60000"/>
                <a:lumOff val="40000"/>
              </a:schemeClr>
            </a:solidFill>
            <a:ln w="12700" cap="flat">
              <a:solidFill>
                <a:schemeClr val="accent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algn="ctr" defTabSz="825500" fontAlgn="auto" hangingPunct="0">
                <a:spcBef>
                  <a:spcPts val="0"/>
                </a:spcBef>
                <a:spcAft>
                  <a:spcPts val="0"/>
                </a:spcAft>
              </a:pPr>
              <a:endParaRPr lang="zh-CN" altLang="en-US" sz="800" baseline="0">
                <a:latin typeface="+mn-ea"/>
                <a:ea typeface="+mn-ea"/>
                <a:sym typeface="Helvetica Neue Medium"/>
              </a:endParaRPr>
            </a:p>
          </p:txBody>
        </p:sp>
        <p:sp>
          <p:nvSpPr>
            <p:cNvPr id="24" name="右箭头 23">
              <a:extLst>
                <a:ext uri="{FF2B5EF4-FFF2-40B4-BE49-F238E27FC236}">
                  <a16:creationId xmlns:a16="http://schemas.microsoft.com/office/drawing/2014/main" id="{40DE63BC-414F-E94F-9730-6BBB674BA2A8}"/>
                </a:ext>
              </a:extLst>
            </p:cNvPr>
            <p:cNvSpPr/>
            <p:nvPr/>
          </p:nvSpPr>
          <p:spPr>
            <a:xfrm rot="10800000">
              <a:off x="3390985" y="5368713"/>
              <a:ext cx="2397419" cy="355283"/>
            </a:xfrm>
            <a:prstGeom prst="rightArrow">
              <a:avLst>
                <a:gd name="adj1" fmla="val 34421"/>
                <a:gd name="adj2" fmla="val 79601"/>
              </a:avLst>
            </a:prstGeom>
            <a:solidFill>
              <a:schemeClr val="accent2">
                <a:lumMod val="60000"/>
                <a:lumOff val="40000"/>
              </a:schemeClr>
            </a:solidFill>
            <a:ln w="12700" cap="flat">
              <a:solidFill>
                <a:schemeClr val="accent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algn="ctr" defTabSz="825500" fontAlgn="auto" hangingPunct="0">
                <a:spcBef>
                  <a:spcPts val="0"/>
                </a:spcBef>
                <a:spcAft>
                  <a:spcPts val="0"/>
                </a:spcAft>
              </a:pPr>
              <a:endParaRPr lang="zh-CN" altLang="en-US" sz="800" baseline="0">
                <a:latin typeface="+mn-ea"/>
                <a:ea typeface="+mn-ea"/>
                <a:sym typeface="Helvetica Neue Medium"/>
              </a:endParaRPr>
            </a:p>
          </p:txBody>
        </p:sp>
        <p:sp>
          <p:nvSpPr>
            <p:cNvPr id="25" name="圆角矩形 24">
              <a:extLst>
                <a:ext uri="{FF2B5EF4-FFF2-40B4-BE49-F238E27FC236}">
                  <a16:creationId xmlns:a16="http://schemas.microsoft.com/office/drawing/2014/main" id="{EA9B73E6-8391-8B43-B886-3116A9E211A0}"/>
                </a:ext>
              </a:extLst>
            </p:cNvPr>
            <p:cNvSpPr/>
            <p:nvPr/>
          </p:nvSpPr>
          <p:spPr>
            <a:xfrm>
              <a:off x="6110620" y="2382472"/>
              <a:ext cx="2588763" cy="3816991"/>
            </a:xfrm>
            <a:prstGeom prst="roundRect">
              <a:avLst>
                <a:gd name="adj" fmla="val 4167"/>
              </a:avLst>
            </a:prstGeom>
            <a:solidFill>
              <a:srgbClr val="FFFFCC"/>
            </a:solidFill>
            <a:ln w="28575" cap="flat">
              <a:solidFill>
                <a:schemeClr val="tx1"/>
              </a:solidFill>
              <a:prstDash val="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600" b="0" i="0" u="none" strike="noStrike" cap="none" spc="0" normalizeH="0" baseline="0">
                <a:ln>
                  <a:noFill/>
                </a:ln>
                <a:effectLst/>
                <a:uFillTx/>
                <a:latin typeface="黑体" panose="02010609060101010101" pitchFamily="49" charset="-122"/>
                <a:ea typeface="黑体" panose="02010609060101010101" pitchFamily="49" charset="-122"/>
                <a:sym typeface="Helvetica Neue Medium"/>
              </a:endParaRPr>
            </a:p>
          </p:txBody>
        </p:sp>
        <p:sp>
          <p:nvSpPr>
            <p:cNvPr id="26" name="圆角矩形 25">
              <a:extLst>
                <a:ext uri="{FF2B5EF4-FFF2-40B4-BE49-F238E27FC236}">
                  <a16:creationId xmlns:a16="http://schemas.microsoft.com/office/drawing/2014/main" id="{70FCE900-FD8D-304D-8F8D-6B73A4A5B587}"/>
                </a:ext>
              </a:extLst>
            </p:cNvPr>
            <p:cNvSpPr/>
            <p:nvPr/>
          </p:nvSpPr>
          <p:spPr>
            <a:xfrm>
              <a:off x="6446053" y="3448562"/>
              <a:ext cx="1975682" cy="911184"/>
            </a:xfrm>
            <a:prstGeom prst="roundRect">
              <a:avLst>
                <a:gd name="adj" fmla="val 9879"/>
              </a:avLst>
            </a:prstGeom>
            <a:solidFill>
              <a:schemeClr val="accent1">
                <a:lumMod val="20000"/>
                <a:lumOff val="80000"/>
              </a:schemeClr>
            </a:solidFill>
            <a:ln w="1905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600" b="0" i="0" u="none" strike="noStrike" cap="none" spc="0" normalizeH="0" baseline="0">
                <a:ln>
                  <a:noFill/>
                </a:ln>
                <a:effectLst/>
                <a:uFillTx/>
                <a:latin typeface="黑体" panose="02010609060101010101" pitchFamily="49" charset="-122"/>
                <a:ea typeface="黑体" panose="02010609060101010101" pitchFamily="49" charset="-122"/>
                <a:sym typeface="Helvetica Neue Medium"/>
              </a:endParaRPr>
            </a:p>
          </p:txBody>
        </p:sp>
        <p:sp>
          <p:nvSpPr>
            <p:cNvPr id="29" name="文本框 28"/>
            <p:cNvSpPr txBox="1"/>
            <p:nvPr/>
          </p:nvSpPr>
          <p:spPr>
            <a:xfrm>
              <a:off x="1045254" y="3813031"/>
              <a:ext cx="1829347" cy="748923"/>
            </a:xfrm>
            <a:prstGeom prst="rect">
              <a:avLst/>
            </a:prstGeom>
            <a:noFill/>
          </p:spPr>
          <p:txBody>
            <a:bodyPr wrap="none" rtlCol="0">
              <a:spAutoFit/>
            </a:bodyPr>
            <a:lstStyle/>
            <a:p>
              <a:pPr algn="ctr"/>
              <a:r>
                <a:rPr lang="zh-CN" altLang="en-US" sz="3200" dirty="0">
                  <a:latin typeface="+mj-ea"/>
                  <a:ea typeface="+mj-ea"/>
                </a:rPr>
                <a:t>④组装物联网</a:t>
              </a:r>
              <a:endParaRPr lang="en-US" altLang="zh-CN" sz="3200" dirty="0">
                <a:latin typeface="+mj-ea"/>
                <a:ea typeface="+mj-ea"/>
              </a:endParaRPr>
            </a:p>
            <a:p>
              <a:pPr algn="ctr"/>
              <a:r>
                <a:rPr lang="zh-CN" altLang="en-US" sz="3200" dirty="0">
                  <a:latin typeface="+mj-ea"/>
                  <a:ea typeface="+mj-ea"/>
                </a:rPr>
                <a:t>平台</a:t>
              </a:r>
            </a:p>
          </p:txBody>
        </p:sp>
        <p:sp>
          <p:nvSpPr>
            <p:cNvPr id="20" name="圆角矩形 19">
              <a:extLst>
                <a:ext uri="{FF2B5EF4-FFF2-40B4-BE49-F238E27FC236}">
                  <a16:creationId xmlns:a16="http://schemas.microsoft.com/office/drawing/2014/main" id="{25FC732D-887B-3641-9128-3551C99B0279}"/>
                </a:ext>
              </a:extLst>
            </p:cNvPr>
            <p:cNvSpPr/>
            <p:nvPr/>
          </p:nvSpPr>
          <p:spPr>
            <a:xfrm>
              <a:off x="723760" y="2501853"/>
              <a:ext cx="2491549" cy="871272"/>
            </a:xfrm>
            <a:prstGeom prst="roundRect">
              <a:avLst/>
            </a:prstGeom>
            <a:solidFill>
              <a:schemeClr val="bg1">
                <a:lumMod val="95000"/>
              </a:schemeClr>
            </a:solidFill>
            <a:ln w="1905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600" b="0" i="0" u="none" strike="noStrike" cap="none" spc="0" normalizeH="0" baseline="0" dirty="0">
                <a:ln>
                  <a:noFill/>
                </a:ln>
                <a:effectLst/>
                <a:uFillTx/>
                <a:latin typeface="黑体" panose="02010609060101010101" pitchFamily="49" charset="-122"/>
                <a:ea typeface="黑体" panose="02010609060101010101" pitchFamily="49" charset="-122"/>
                <a:sym typeface="Helvetica Neue Medium"/>
              </a:endParaRPr>
            </a:p>
          </p:txBody>
        </p:sp>
        <p:sp>
          <p:nvSpPr>
            <p:cNvPr id="31" name="文本框 30"/>
            <p:cNvSpPr txBox="1"/>
            <p:nvPr/>
          </p:nvSpPr>
          <p:spPr>
            <a:xfrm>
              <a:off x="896875" y="2627164"/>
              <a:ext cx="2103461" cy="420628"/>
            </a:xfrm>
            <a:prstGeom prst="rect">
              <a:avLst/>
            </a:prstGeom>
            <a:noFill/>
          </p:spPr>
          <p:txBody>
            <a:bodyPr wrap="none" rtlCol="0">
              <a:spAutoFit/>
            </a:bodyPr>
            <a:lstStyle/>
            <a:p>
              <a:pPr algn="ctr"/>
              <a:r>
                <a:rPr lang="zh-CN" altLang="en-US" sz="3200" dirty="0">
                  <a:latin typeface="+mj-ea"/>
                  <a:ea typeface="+mj-ea"/>
                </a:rPr>
                <a:t>①编写程序代码</a:t>
              </a:r>
            </a:p>
          </p:txBody>
        </p:sp>
        <p:sp>
          <p:nvSpPr>
            <p:cNvPr id="36" name="文本框 35"/>
            <p:cNvSpPr txBox="1"/>
            <p:nvPr/>
          </p:nvSpPr>
          <p:spPr>
            <a:xfrm>
              <a:off x="3600176" y="2302770"/>
              <a:ext cx="1829348" cy="420628"/>
            </a:xfrm>
            <a:prstGeom prst="rect">
              <a:avLst/>
            </a:prstGeom>
            <a:noFill/>
          </p:spPr>
          <p:txBody>
            <a:bodyPr wrap="none" rtlCol="0">
              <a:spAutoFit/>
            </a:bodyPr>
            <a:lstStyle/>
            <a:p>
              <a:pPr algn="ctr"/>
              <a:r>
                <a:rPr lang="zh-CN" altLang="en-US" sz="3200" dirty="0">
                  <a:latin typeface="+mj-ea"/>
                  <a:ea typeface="+mj-ea"/>
                </a:rPr>
                <a:t>②上传到云端</a:t>
              </a:r>
            </a:p>
          </p:txBody>
        </p:sp>
        <p:grpSp>
          <p:nvGrpSpPr>
            <p:cNvPr id="34" name="组合 33"/>
            <p:cNvGrpSpPr/>
            <p:nvPr/>
          </p:nvGrpSpPr>
          <p:grpSpPr>
            <a:xfrm>
              <a:off x="724868" y="5127773"/>
              <a:ext cx="2490441" cy="884148"/>
              <a:chOff x="724868" y="5194885"/>
              <a:chExt cx="2490441" cy="884148"/>
            </a:xfrm>
          </p:grpSpPr>
          <p:sp>
            <p:nvSpPr>
              <p:cNvPr id="32" name="圆角矩形 31">
                <a:extLst>
                  <a:ext uri="{FF2B5EF4-FFF2-40B4-BE49-F238E27FC236}">
                    <a16:creationId xmlns:a16="http://schemas.microsoft.com/office/drawing/2014/main" id="{E97AFD69-37E2-344B-9A2E-6A66EC5E7B69}"/>
                  </a:ext>
                </a:extLst>
              </p:cNvPr>
              <p:cNvSpPr/>
              <p:nvPr/>
            </p:nvSpPr>
            <p:spPr>
              <a:xfrm>
                <a:off x="724868" y="5194885"/>
                <a:ext cx="2490441" cy="884148"/>
              </a:xfrm>
              <a:prstGeom prst="roundRect">
                <a:avLst/>
              </a:prstGeom>
              <a:solidFill>
                <a:schemeClr val="bg1">
                  <a:lumMod val="95000"/>
                </a:schemeClr>
              </a:solidFill>
              <a:ln w="1905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600" b="0" i="0" u="none" strike="noStrike" cap="none" spc="0" normalizeH="0" baseline="0">
                  <a:ln>
                    <a:noFill/>
                  </a:ln>
                  <a:effectLst/>
                  <a:uFillTx/>
                  <a:latin typeface="黑体" panose="02010609060101010101" pitchFamily="49" charset="-122"/>
                  <a:ea typeface="黑体" panose="02010609060101010101" pitchFamily="49" charset="-122"/>
                  <a:sym typeface="Helvetica Neue Medium"/>
                </a:endParaRPr>
              </a:p>
            </p:txBody>
          </p:sp>
          <p:sp>
            <p:nvSpPr>
              <p:cNvPr id="33" name="文本框 32"/>
              <p:cNvSpPr txBox="1"/>
              <p:nvPr/>
            </p:nvSpPr>
            <p:spPr>
              <a:xfrm>
                <a:off x="908197" y="5201484"/>
                <a:ext cx="2103460" cy="748923"/>
              </a:xfrm>
              <a:prstGeom prst="rect">
                <a:avLst/>
              </a:prstGeom>
              <a:noFill/>
            </p:spPr>
            <p:txBody>
              <a:bodyPr wrap="none" rtlCol="0">
                <a:spAutoFit/>
              </a:bodyPr>
              <a:lstStyle/>
              <a:p>
                <a:pPr algn="ctr"/>
                <a:r>
                  <a:rPr lang="zh-CN" altLang="en-US" sz="3200" dirty="0">
                    <a:latin typeface="+mj-ea"/>
                    <a:ea typeface="+mj-ea"/>
                  </a:rPr>
                  <a:t>⑤程序代码烧入</a:t>
                </a:r>
                <a:endParaRPr lang="en-US" altLang="zh-CN" sz="3200" dirty="0">
                  <a:latin typeface="+mj-ea"/>
                  <a:ea typeface="+mj-ea"/>
                </a:endParaRPr>
              </a:p>
              <a:p>
                <a:pPr algn="ctr"/>
                <a:r>
                  <a:rPr lang="zh-CN" altLang="en-US" sz="3200" dirty="0">
                    <a:latin typeface="+mj-ea"/>
                    <a:ea typeface="+mj-ea"/>
                  </a:rPr>
                  <a:t>开发板</a:t>
                </a:r>
              </a:p>
            </p:txBody>
          </p:sp>
        </p:grpSp>
        <p:sp>
          <p:nvSpPr>
            <p:cNvPr id="37" name="文本框 36"/>
            <p:cNvSpPr txBox="1"/>
            <p:nvPr/>
          </p:nvSpPr>
          <p:spPr>
            <a:xfrm>
              <a:off x="3836886" y="3663283"/>
              <a:ext cx="1555234" cy="420628"/>
            </a:xfrm>
            <a:prstGeom prst="rect">
              <a:avLst/>
            </a:prstGeom>
            <a:noFill/>
          </p:spPr>
          <p:txBody>
            <a:bodyPr wrap="none" rtlCol="0">
              <a:spAutoFit/>
            </a:bodyPr>
            <a:lstStyle/>
            <a:p>
              <a:pPr algn="ctr"/>
              <a:r>
                <a:rPr lang="zh-CN" altLang="en-US" sz="3200" dirty="0">
                  <a:latin typeface="+mj-ea"/>
                  <a:ea typeface="+mj-ea"/>
                </a:rPr>
                <a:t>③得到输出</a:t>
              </a:r>
            </a:p>
          </p:txBody>
        </p:sp>
        <p:sp>
          <p:nvSpPr>
            <p:cNvPr id="38" name="文本框 37"/>
            <p:cNvSpPr txBox="1"/>
            <p:nvPr/>
          </p:nvSpPr>
          <p:spPr>
            <a:xfrm>
              <a:off x="3513647" y="4271432"/>
              <a:ext cx="2377574" cy="420628"/>
            </a:xfrm>
            <a:prstGeom prst="rect">
              <a:avLst/>
            </a:prstGeom>
            <a:noFill/>
          </p:spPr>
          <p:txBody>
            <a:bodyPr wrap="none" rtlCol="0">
              <a:spAutoFit/>
            </a:bodyPr>
            <a:lstStyle/>
            <a:p>
              <a:pPr algn="ctr"/>
              <a:r>
                <a:rPr lang="zh-CN" altLang="en-US" sz="3200" dirty="0">
                  <a:latin typeface="+mj-ea"/>
                  <a:ea typeface="+mj-ea"/>
                </a:rPr>
                <a:t>（硬件配置文件）</a:t>
              </a:r>
            </a:p>
          </p:txBody>
        </p:sp>
        <p:sp>
          <p:nvSpPr>
            <p:cNvPr id="39" name="文本框 38"/>
            <p:cNvSpPr txBox="1"/>
            <p:nvPr/>
          </p:nvSpPr>
          <p:spPr>
            <a:xfrm>
              <a:off x="3826065" y="4962894"/>
              <a:ext cx="1555234" cy="420628"/>
            </a:xfrm>
            <a:prstGeom prst="rect">
              <a:avLst/>
            </a:prstGeom>
            <a:noFill/>
          </p:spPr>
          <p:txBody>
            <a:bodyPr wrap="none" rtlCol="0">
              <a:spAutoFit/>
            </a:bodyPr>
            <a:lstStyle/>
            <a:p>
              <a:pPr algn="ctr"/>
              <a:r>
                <a:rPr lang="zh-CN" altLang="en-US" sz="3200" dirty="0">
                  <a:latin typeface="+mj-ea"/>
                  <a:ea typeface="+mj-ea"/>
                </a:rPr>
                <a:t>③得到输出</a:t>
              </a:r>
            </a:p>
          </p:txBody>
        </p:sp>
        <p:sp>
          <p:nvSpPr>
            <p:cNvPr id="40" name="文本框 39"/>
            <p:cNvSpPr txBox="1"/>
            <p:nvPr/>
          </p:nvSpPr>
          <p:spPr>
            <a:xfrm>
              <a:off x="3684943" y="5579027"/>
              <a:ext cx="2103461" cy="420628"/>
            </a:xfrm>
            <a:prstGeom prst="rect">
              <a:avLst/>
            </a:prstGeom>
            <a:noFill/>
          </p:spPr>
          <p:txBody>
            <a:bodyPr wrap="none" rtlCol="0">
              <a:spAutoFit/>
            </a:bodyPr>
            <a:lstStyle/>
            <a:p>
              <a:pPr algn="ctr"/>
              <a:r>
                <a:rPr lang="zh-CN" altLang="en-US" sz="3200" dirty="0">
                  <a:latin typeface="+mj-ea"/>
                  <a:ea typeface="+mj-ea"/>
                </a:rPr>
                <a:t>（二进制程序）</a:t>
              </a:r>
            </a:p>
          </p:txBody>
        </p:sp>
        <p:sp>
          <p:nvSpPr>
            <p:cNvPr id="41" name="文本框 40"/>
            <p:cNvSpPr txBox="1"/>
            <p:nvPr/>
          </p:nvSpPr>
          <p:spPr>
            <a:xfrm>
              <a:off x="6809018" y="3487114"/>
              <a:ext cx="1281120" cy="748923"/>
            </a:xfrm>
            <a:prstGeom prst="rect">
              <a:avLst/>
            </a:prstGeom>
            <a:noFill/>
          </p:spPr>
          <p:txBody>
            <a:bodyPr wrap="none" rtlCol="0">
              <a:spAutoFit/>
            </a:bodyPr>
            <a:lstStyle/>
            <a:p>
              <a:pPr algn="ctr"/>
              <a:r>
                <a:rPr lang="zh-CN" altLang="en-US" sz="3200" dirty="0">
                  <a:latin typeface="+mj-ea"/>
                  <a:ea typeface="+mj-ea"/>
                </a:rPr>
                <a:t>硬件生成</a:t>
              </a:r>
            </a:p>
            <a:p>
              <a:pPr algn="ctr"/>
              <a:r>
                <a:rPr lang="zh-CN" altLang="en-US" sz="3200" dirty="0">
                  <a:latin typeface="+mj-ea"/>
                  <a:ea typeface="+mj-ea"/>
                </a:rPr>
                <a:t>系统</a:t>
              </a:r>
            </a:p>
          </p:txBody>
        </p:sp>
        <p:sp>
          <p:nvSpPr>
            <p:cNvPr id="42" name="文本框 41"/>
            <p:cNvSpPr txBox="1"/>
            <p:nvPr/>
          </p:nvSpPr>
          <p:spPr>
            <a:xfrm>
              <a:off x="6394508" y="2484218"/>
              <a:ext cx="2100255" cy="461665"/>
            </a:xfrm>
            <a:prstGeom prst="rect">
              <a:avLst/>
            </a:prstGeom>
            <a:noFill/>
          </p:spPr>
          <p:txBody>
            <a:bodyPr wrap="none" rtlCol="0">
              <a:spAutoFit/>
            </a:bodyPr>
            <a:lstStyle/>
            <a:p>
              <a:pPr algn="ctr"/>
              <a:r>
                <a:rPr lang="en-US" altLang="zh-CN" sz="3600" b="1" dirty="0">
                  <a:latin typeface="+mj-ea"/>
                  <a:ea typeface="+mj-ea"/>
                </a:rPr>
                <a:t>TinyLink</a:t>
              </a:r>
              <a:r>
                <a:rPr lang="zh-CN" altLang="en-US" sz="3600" b="1" dirty="0">
                  <a:latin typeface="+mj-ea"/>
                  <a:ea typeface="+mj-ea"/>
                </a:rPr>
                <a:t>系统</a:t>
              </a:r>
            </a:p>
          </p:txBody>
        </p:sp>
        <p:sp>
          <p:nvSpPr>
            <p:cNvPr id="43" name="圆角矩形 42">
              <a:extLst>
                <a:ext uri="{FF2B5EF4-FFF2-40B4-BE49-F238E27FC236}">
                  <a16:creationId xmlns:a16="http://schemas.microsoft.com/office/drawing/2014/main" id="{70FCE900-FD8D-304D-8F8D-6B73A4A5B587}"/>
                </a:ext>
              </a:extLst>
            </p:cNvPr>
            <p:cNvSpPr/>
            <p:nvPr/>
          </p:nvSpPr>
          <p:spPr>
            <a:xfrm>
              <a:off x="6459452" y="4878534"/>
              <a:ext cx="1975682" cy="911184"/>
            </a:xfrm>
            <a:prstGeom prst="roundRect">
              <a:avLst>
                <a:gd name="adj" fmla="val 9879"/>
              </a:avLst>
            </a:prstGeom>
            <a:solidFill>
              <a:schemeClr val="accent1">
                <a:lumMod val="20000"/>
                <a:lumOff val="80000"/>
              </a:schemeClr>
            </a:solidFill>
            <a:ln w="1905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600" b="0" i="0" u="none" strike="noStrike" cap="none" spc="0" normalizeH="0" baseline="0">
                <a:ln>
                  <a:noFill/>
                </a:ln>
                <a:effectLst/>
                <a:uFillTx/>
                <a:latin typeface="黑体" panose="02010609060101010101" pitchFamily="49" charset="-122"/>
                <a:ea typeface="黑体" panose="02010609060101010101" pitchFamily="49" charset="-122"/>
                <a:sym typeface="Helvetica Neue Medium"/>
              </a:endParaRPr>
            </a:p>
          </p:txBody>
        </p:sp>
        <p:sp>
          <p:nvSpPr>
            <p:cNvPr id="44" name="文本框 43"/>
            <p:cNvSpPr txBox="1"/>
            <p:nvPr/>
          </p:nvSpPr>
          <p:spPr>
            <a:xfrm>
              <a:off x="6822417" y="4917086"/>
              <a:ext cx="1281120" cy="748923"/>
            </a:xfrm>
            <a:prstGeom prst="rect">
              <a:avLst/>
            </a:prstGeom>
            <a:noFill/>
          </p:spPr>
          <p:txBody>
            <a:bodyPr wrap="none" rtlCol="0">
              <a:spAutoFit/>
            </a:bodyPr>
            <a:lstStyle/>
            <a:p>
              <a:pPr algn="ctr"/>
              <a:r>
                <a:rPr lang="zh-CN" altLang="en-US" sz="3200" dirty="0">
                  <a:latin typeface="+mj-ea"/>
                  <a:ea typeface="+mj-ea"/>
                </a:rPr>
                <a:t>软件生成</a:t>
              </a:r>
            </a:p>
            <a:p>
              <a:pPr algn="ctr"/>
              <a:r>
                <a:rPr lang="zh-CN" altLang="en-US" sz="3200" dirty="0">
                  <a:latin typeface="+mj-ea"/>
                  <a:ea typeface="+mj-ea"/>
                </a:rPr>
                <a:t>系统</a:t>
              </a:r>
            </a:p>
          </p:txBody>
        </p:sp>
      </p:grpSp>
    </p:spTree>
    <p:extLst>
      <p:ext uri="{BB962C8B-B14F-4D97-AF65-F5344CB8AC3E}">
        <p14:creationId xmlns:p14="http://schemas.microsoft.com/office/powerpoint/2010/main" val="4032637415"/>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zh-CN" altLang="zh-CN" dirty="0"/>
              <a:t>开发流程</a:t>
            </a:r>
            <a:endParaRPr lang="zh-CN" altLang="en-US" dirty="0"/>
          </a:p>
        </p:txBody>
      </p:sp>
      <p:sp>
        <p:nvSpPr>
          <p:cNvPr id="3" name="内容占位符 2"/>
          <p:cNvSpPr>
            <a:spLocks noGrp="1"/>
          </p:cNvSpPr>
          <p:nvPr>
            <p:ph idx="1"/>
          </p:nvPr>
        </p:nvSpPr>
        <p:spPr/>
        <p:txBody>
          <a:bodyPr/>
          <a:lstStyle/>
          <a:p>
            <a:r>
              <a:rPr lang="zh-CN" altLang="en-US"/>
              <a:t>准备</a:t>
            </a:r>
            <a:r>
              <a:rPr lang="en-US" altLang="zh-CN"/>
              <a:t>1</a:t>
            </a:r>
            <a:r>
              <a:rPr lang="zh-CN" altLang="en-US"/>
              <a:t>：下载</a:t>
            </a:r>
            <a:r>
              <a:rPr lang="en-US" altLang="zh-CN"/>
              <a:t>TinyLink</a:t>
            </a:r>
            <a:r>
              <a:rPr lang="zh-CN" altLang="en-US"/>
              <a:t>客户端并注册</a:t>
            </a:r>
            <a:endParaRPr lang="en-US" altLang="zh-CN"/>
          </a:p>
          <a:p>
            <a:pPr lvl="1"/>
            <a:r>
              <a:rPr lang="en-US" altLang="zh-CN"/>
              <a:t>http://tinylink.emnets.org</a:t>
            </a:r>
            <a:endParaRPr lang="en-US" altLang="zh-CN" dirty="0"/>
          </a:p>
        </p:txBody>
      </p:sp>
      <p:pic>
        <p:nvPicPr>
          <p:cNvPr id="7" name="图片 6"/>
          <p:cNvPicPr>
            <a:picLocks noChangeAspect="1"/>
          </p:cNvPicPr>
          <p:nvPr/>
        </p:nvPicPr>
        <p:blipFill>
          <a:blip r:embed="rId2"/>
          <a:stretch>
            <a:fillRect/>
          </a:stretch>
        </p:blipFill>
        <p:spPr>
          <a:xfrm>
            <a:off x="555081" y="1972688"/>
            <a:ext cx="4885868" cy="3865282"/>
          </a:xfrm>
          <a:prstGeom prst="rect">
            <a:avLst/>
          </a:prstGeom>
          <a:ln>
            <a:noFill/>
          </a:ln>
          <a:effectLst>
            <a:outerShdw blurRad="292100" dist="139700" dir="2700000" algn="tl" rotWithShape="0">
              <a:srgbClr val="333333">
                <a:alpha val="65000"/>
              </a:srgbClr>
            </a:outerShdw>
          </a:effectLst>
        </p:spPr>
      </p:pic>
      <p:pic>
        <p:nvPicPr>
          <p:cNvPr id="8" name="图片 7"/>
          <p:cNvPicPr>
            <a:picLocks noChangeAspect="1"/>
          </p:cNvPicPr>
          <p:nvPr/>
        </p:nvPicPr>
        <p:blipFill rotWithShape="1">
          <a:blip r:embed="rId3"/>
          <a:srcRect l="650" r="843" b="1646"/>
          <a:stretch/>
        </p:blipFill>
        <p:spPr>
          <a:xfrm>
            <a:off x="4768809" y="2272685"/>
            <a:ext cx="3936733" cy="3769846"/>
          </a:xfrm>
          <a:prstGeom prst="rect">
            <a:avLst/>
          </a:prstGeom>
          <a:ln>
            <a:noFill/>
          </a:ln>
          <a:effectLst>
            <a:outerShdw blurRad="292100" dist="139700" dir="2700000" algn="tl" rotWithShape="0">
              <a:srgbClr val="333333">
                <a:alpha val="65000"/>
              </a:srgbClr>
            </a:outerShdw>
          </a:effectLst>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61915" y="31959"/>
            <a:ext cx="1282085" cy="1282085"/>
          </a:xfrm>
          <a:prstGeom prst="rect">
            <a:avLst/>
          </a:prstGeom>
        </p:spPr>
      </p:pic>
      <p:sp>
        <p:nvSpPr>
          <p:cNvPr id="9" name="文本框 8"/>
          <p:cNvSpPr txBox="1"/>
          <p:nvPr/>
        </p:nvSpPr>
        <p:spPr>
          <a:xfrm>
            <a:off x="1542473" y="5975927"/>
            <a:ext cx="1822935" cy="420628"/>
          </a:xfrm>
          <a:prstGeom prst="rect">
            <a:avLst/>
          </a:prstGeom>
          <a:noFill/>
        </p:spPr>
        <p:txBody>
          <a:bodyPr wrap="none" rtlCol="0">
            <a:spAutoFit/>
          </a:bodyPr>
          <a:lstStyle/>
          <a:p>
            <a:r>
              <a:rPr lang="en-US" altLang="zh-CN" sz="3200" dirty="0">
                <a:latin typeface="+mj-ea"/>
                <a:ea typeface="+mj-ea"/>
              </a:rPr>
              <a:t>TinyLink</a:t>
            </a:r>
            <a:r>
              <a:rPr lang="zh-CN" altLang="en-US" sz="3200" dirty="0">
                <a:latin typeface="+mj-ea"/>
                <a:ea typeface="+mj-ea"/>
              </a:rPr>
              <a:t>网页</a:t>
            </a:r>
          </a:p>
        </p:txBody>
      </p:sp>
      <p:sp>
        <p:nvSpPr>
          <p:cNvPr id="10" name="文本框 9"/>
          <p:cNvSpPr txBox="1"/>
          <p:nvPr/>
        </p:nvSpPr>
        <p:spPr>
          <a:xfrm>
            <a:off x="6151345" y="6138449"/>
            <a:ext cx="2097049" cy="420628"/>
          </a:xfrm>
          <a:prstGeom prst="rect">
            <a:avLst/>
          </a:prstGeom>
          <a:noFill/>
        </p:spPr>
        <p:txBody>
          <a:bodyPr wrap="none" rtlCol="0">
            <a:spAutoFit/>
          </a:bodyPr>
          <a:lstStyle/>
          <a:p>
            <a:r>
              <a:rPr lang="en-US" altLang="zh-CN" sz="3200" dirty="0">
                <a:latin typeface="+mj-ea"/>
                <a:ea typeface="+mj-ea"/>
              </a:rPr>
              <a:t>TinyLink</a:t>
            </a:r>
            <a:r>
              <a:rPr lang="zh-CN" altLang="en-US" sz="3200" dirty="0">
                <a:latin typeface="+mj-ea"/>
                <a:ea typeface="+mj-ea"/>
              </a:rPr>
              <a:t>客户端</a:t>
            </a:r>
          </a:p>
        </p:txBody>
      </p:sp>
    </p:spTree>
    <p:extLst>
      <p:ext uri="{BB962C8B-B14F-4D97-AF65-F5344CB8AC3E}">
        <p14:creationId xmlns:p14="http://schemas.microsoft.com/office/powerpoint/2010/main" val="113225538"/>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E49A3E0F-85AD-4363-90AB-F8AD4CFFA540}"/>
              </a:ext>
            </a:extLst>
          </p:cNvPr>
          <p:cNvSpPr>
            <a:spLocks noGrp="1"/>
          </p:cNvSpPr>
          <p:nvPr>
            <p:ph type="title"/>
          </p:nvPr>
        </p:nvSpPr>
        <p:spPr/>
        <p:txBody>
          <a:bodyPr/>
          <a:lstStyle/>
          <a:p>
            <a:r>
              <a:rPr lang="en-US" altLang="zh-CN" dirty="0" err="1"/>
              <a:t>TinyLink</a:t>
            </a:r>
            <a:r>
              <a:rPr lang="zh-CN" altLang="zh-CN" dirty="0"/>
              <a:t>开发流程</a:t>
            </a:r>
            <a:endParaRPr lang="zh-CN" altLang="en-US" dirty="0"/>
          </a:p>
        </p:txBody>
      </p:sp>
      <p:sp>
        <p:nvSpPr>
          <p:cNvPr id="9" name="内容占位符 8">
            <a:extLst>
              <a:ext uri="{FF2B5EF4-FFF2-40B4-BE49-F238E27FC236}">
                <a16:creationId xmlns:a16="http://schemas.microsoft.com/office/drawing/2014/main" id="{3488227F-395E-466A-AD2D-1F86C9C68369}"/>
              </a:ext>
            </a:extLst>
          </p:cNvPr>
          <p:cNvSpPr>
            <a:spLocks noGrp="1"/>
          </p:cNvSpPr>
          <p:nvPr>
            <p:ph idx="1"/>
          </p:nvPr>
        </p:nvSpPr>
        <p:spPr/>
        <p:txBody>
          <a:bodyPr/>
          <a:lstStyle/>
          <a:p>
            <a:r>
              <a:rPr lang="zh-CN" altLang="en-US"/>
              <a:t>准备</a:t>
            </a:r>
            <a:r>
              <a:rPr lang="en-US" altLang="zh-CN"/>
              <a:t>2</a:t>
            </a:r>
            <a:r>
              <a:rPr lang="zh-CN" altLang="en-US"/>
              <a:t>：阅读</a:t>
            </a:r>
            <a:r>
              <a:rPr lang="en-US" altLang="zh-CN"/>
              <a:t>TinyLink</a:t>
            </a:r>
            <a:r>
              <a:rPr lang="zh-CN" altLang="en-US"/>
              <a:t>文档</a:t>
            </a:r>
            <a:endParaRPr lang="zh-CN" altLang="en-US" dirty="0"/>
          </a:p>
        </p:txBody>
      </p:sp>
      <p:grpSp>
        <p:nvGrpSpPr>
          <p:cNvPr id="12" name="组合 11">
            <a:extLst>
              <a:ext uri="{FF2B5EF4-FFF2-40B4-BE49-F238E27FC236}">
                <a16:creationId xmlns:a16="http://schemas.microsoft.com/office/drawing/2014/main" id="{1510608A-F101-4B8D-AC8D-650C0F7F2EE5}"/>
              </a:ext>
            </a:extLst>
          </p:cNvPr>
          <p:cNvGrpSpPr/>
          <p:nvPr/>
        </p:nvGrpSpPr>
        <p:grpSpPr>
          <a:xfrm>
            <a:off x="603577" y="1534160"/>
            <a:ext cx="7936847" cy="4975375"/>
            <a:chOff x="511193" y="1452880"/>
            <a:chExt cx="7936847" cy="4975375"/>
          </a:xfrm>
        </p:grpSpPr>
        <p:grpSp>
          <p:nvGrpSpPr>
            <p:cNvPr id="11" name="组合 10">
              <a:extLst>
                <a:ext uri="{FF2B5EF4-FFF2-40B4-BE49-F238E27FC236}">
                  <a16:creationId xmlns:a16="http://schemas.microsoft.com/office/drawing/2014/main" id="{07A845B9-E8F0-448B-883F-C65C0F53147F}"/>
                </a:ext>
              </a:extLst>
            </p:cNvPr>
            <p:cNvGrpSpPr/>
            <p:nvPr/>
          </p:nvGrpSpPr>
          <p:grpSpPr>
            <a:xfrm>
              <a:off x="511193" y="1452880"/>
              <a:ext cx="4596488" cy="4967293"/>
              <a:chOff x="511193" y="1452880"/>
              <a:chExt cx="4596488" cy="4967293"/>
            </a:xfrm>
          </p:grpSpPr>
          <p:pic>
            <p:nvPicPr>
              <p:cNvPr id="5" name="图片 4"/>
              <p:cNvPicPr>
                <a:picLocks noChangeAspect="1"/>
              </p:cNvPicPr>
              <p:nvPr/>
            </p:nvPicPr>
            <p:blipFill rotWithShape="1">
              <a:blip r:embed="rId2"/>
              <a:srcRect b="11846"/>
              <a:stretch/>
            </p:blipFill>
            <p:spPr>
              <a:xfrm>
                <a:off x="511193" y="1452880"/>
                <a:ext cx="4596488" cy="4638502"/>
              </a:xfrm>
              <a:prstGeom prst="rect">
                <a:avLst/>
              </a:prstGeom>
            </p:spPr>
          </p:pic>
          <p:sp>
            <p:nvSpPr>
              <p:cNvPr id="6" name="文本框 5"/>
              <p:cNvSpPr txBox="1"/>
              <p:nvPr/>
            </p:nvSpPr>
            <p:spPr>
              <a:xfrm>
                <a:off x="1765369" y="6040582"/>
                <a:ext cx="2088136" cy="379591"/>
              </a:xfrm>
              <a:prstGeom prst="rect">
                <a:avLst/>
              </a:prstGeom>
              <a:noFill/>
            </p:spPr>
            <p:txBody>
              <a:bodyPr wrap="none" rtlCol="0">
                <a:spAutoFit/>
              </a:bodyPr>
              <a:lstStyle/>
              <a:p>
                <a:r>
                  <a:rPr lang="en-US" altLang="zh-CN" sz="2800" dirty="0">
                    <a:ea typeface="+mn-ea"/>
                    <a:cs typeface="Arial" panose="020B0604020202020204" pitchFamily="34" charset="0"/>
                  </a:rPr>
                  <a:t>TinyLink </a:t>
                </a:r>
                <a:r>
                  <a:rPr lang="zh-CN" altLang="en-US" sz="2800" dirty="0">
                    <a:latin typeface="+mj-ea"/>
                    <a:ea typeface="+mj-ea"/>
                    <a:cs typeface="Arial" panose="020B0604020202020204" pitchFamily="34" charset="0"/>
                  </a:rPr>
                  <a:t>用户手册</a:t>
                </a:r>
              </a:p>
            </p:txBody>
          </p:sp>
        </p:grpSp>
        <p:grpSp>
          <p:nvGrpSpPr>
            <p:cNvPr id="10" name="组合 9">
              <a:extLst>
                <a:ext uri="{FF2B5EF4-FFF2-40B4-BE49-F238E27FC236}">
                  <a16:creationId xmlns:a16="http://schemas.microsoft.com/office/drawing/2014/main" id="{3D693F61-7367-455C-A090-4EFE3F22785C}"/>
                </a:ext>
              </a:extLst>
            </p:cNvPr>
            <p:cNvGrpSpPr/>
            <p:nvPr/>
          </p:nvGrpSpPr>
          <p:grpSpPr>
            <a:xfrm>
              <a:off x="5649254" y="1454146"/>
              <a:ext cx="2798786" cy="4974109"/>
              <a:chOff x="5811814" y="1454146"/>
              <a:chExt cx="2798786" cy="4974109"/>
            </a:xfrm>
          </p:grpSpPr>
          <p:pic>
            <p:nvPicPr>
              <p:cNvPr id="4" name="图片 3"/>
              <p:cNvPicPr>
                <a:picLocks noChangeAspect="1"/>
              </p:cNvPicPr>
              <p:nvPr/>
            </p:nvPicPr>
            <p:blipFill>
              <a:blip r:embed="rId3"/>
              <a:stretch>
                <a:fillRect/>
              </a:stretch>
            </p:blipFill>
            <p:spPr>
              <a:xfrm>
                <a:off x="5811814" y="1454146"/>
                <a:ext cx="2798786" cy="4666698"/>
              </a:xfrm>
              <a:prstGeom prst="rect">
                <a:avLst/>
              </a:prstGeom>
            </p:spPr>
          </p:pic>
          <p:sp>
            <p:nvSpPr>
              <p:cNvPr id="7" name="文本框 6"/>
              <p:cNvSpPr txBox="1"/>
              <p:nvPr/>
            </p:nvSpPr>
            <p:spPr>
              <a:xfrm>
                <a:off x="6146653" y="6048664"/>
                <a:ext cx="2129109" cy="379591"/>
              </a:xfrm>
              <a:prstGeom prst="rect">
                <a:avLst/>
              </a:prstGeom>
              <a:noFill/>
            </p:spPr>
            <p:txBody>
              <a:bodyPr wrap="none" rtlCol="0">
                <a:spAutoFit/>
              </a:bodyPr>
              <a:lstStyle/>
              <a:p>
                <a:r>
                  <a:rPr lang="en-US" altLang="zh-CN" sz="2800" dirty="0">
                    <a:latin typeface="+mj-ea"/>
                    <a:ea typeface="+mj-ea"/>
                    <a:cs typeface="Arial" panose="020B0604020202020204" pitchFamily="34" charset="0"/>
                  </a:rPr>
                  <a:t>TinyLink</a:t>
                </a:r>
                <a:r>
                  <a:rPr lang="zh-CN" altLang="en-US" sz="2800" dirty="0">
                    <a:latin typeface="+mj-ea"/>
                    <a:ea typeface="+mj-ea"/>
                    <a:cs typeface="Arial" panose="020B0604020202020204" pitchFamily="34" charset="0"/>
                  </a:rPr>
                  <a:t> </a:t>
                </a:r>
                <a:r>
                  <a:rPr lang="en-US" altLang="zh-CN" sz="2800" dirty="0">
                    <a:latin typeface="+mj-ea"/>
                    <a:ea typeface="+mj-ea"/>
                    <a:cs typeface="Arial" panose="020B0604020202020204" pitchFamily="34" charset="0"/>
                  </a:rPr>
                  <a:t>API </a:t>
                </a:r>
                <a:r>
                  <a:rPr lang="zh-CN" altLang="en-US" sz="2800" dirty="0">
                    <a:latin typeface="+mj-ea"/>
                    <a:ea typeface="+mj-ea"/>
                    <a:cs typeface="Arial" panose="020B0604020202020204" pitchFamily="34" charset="0"/>
                  </a:rPr>
                  <a:t>文档</a:t>
                </a:r>
              </a:p>
            </p:txBody>
          </p:sp>
        </p:grpSp>
      </p:grpSp>
    </p:spTree>
    <p:extLst>
      <p:ext uri="{BB962C8B-B14F-4D97-AF65-F5344CB8AC3E}">
        <p14:creationId xmlns:p14="http://schemas.microsoft.com/office/powerpoint/2010/main" val="1656304963"/>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zh-CN" altLang="zh-CN" dirty="0"/>
              <a:t>开发流程</a:t>
            </a:r>
            <a:endParaRPr lang="zh-CN" altLang="en-US" dirty="0"/>
          </a:p>
        </p:txBody>
      </p:sp>
      <p:sp>
        <p:nvSpPr>
          <p:cNvPr id="3" name="内容占位符 2"/>
          <p:cNvSpPr>
            <a:spLocks noGrp="1"/>
          </p:cNvSpPr>
          <p:nvPr>
            <p:ph idx="1"/>
          </p:nvPr>
        </p:nvSpPr>
        <p:spPr/>
        <p:txBody>
          <a:bodyPr/>
          <a:lstStyle/>
          <a:p>
            <a:r>
              <a:rPr lang="zh-CN" altLang="en-US"/>
              <a:t>步骤①：编写程序代码</a:t>
            </a:r>
            <a:endParaRPr lang="en-US" altLang="zh-CN"/>
          </a:p>
          <a:p>
            <a:pPr lvl="1"/>
            <a:r>
              <a:rPr lang="zh-CN" altLang="en-US"/>
              <a:t>本地文本编辑器编写室内环境监测程序</a:t>
            </a:r>
            <a:endParaRPr lang="zh-CN" altLang="en-US" dirty="0"/>
          </a:p>
        </p:txBody>
      </p:sp>
      <p:grpSp>
        <p:nvGrpSpPr>
          <p:cNvPr id="4" name="组合 3"/>
          <p:cNvGrpSpPr/>
          <p:nvPr/>
        </p:nvGrpSpPr>
        <p:grpSpPr>
          <a:xfrm>
            <a:off x="685800" y="1697178"/>
            <a:ext cx="7848600" cy="4816636"/>
            <a:chOff x="685800" y="2324092"/>
            <a:chExt cx="7848600" cy="4816636"/>
          </a:xfrm>
        </p:grpSpPr>
        <p:sp>
          <p:nvSpPr>
            <p:cNvPr id="5" name="矩形 4">
              <a:extLst>
                <a:ext uri="{FF2B5EF4-FFF2-40B4-BE49-F238E27FC236}">
                  <a16:creationId xmlns:a16="http://schemas.microsoft.com/office/drawing/2014/main" id="{4B017216-7E6B-4A22-86BF-6CDBE263844D}"/>
                </a:ext>
              </a:extLst>
            </p:cNvPr>
            <p:cNvSpPr/>
            <p:nvPr/>
          </p:nvSpPr>
          <p:spPr bwMode="auto">
            <a:xfrm>
              <a:off x="685800" y="2570014"/>
              <a:ext cx="7848600" cy="4570714"/>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dirty="0"/>
                <a:t>void setup() {</a:t>
              </a:r>
            </a:p>
            <a:p>
              <a:r>
                <a:rPr lang="en-US" altLang="zh-CN" dirty="0"/>
                <a:t>        </a:t>
              </a:r>
              <a:r>
                <a:rPr lang="en-US" altLang="zh-CN" dirty="0" err="1"/>
                <a:t>TL_Serial.begin</a:t>
              </a:r>
              <a:r>
                <a:rPr lang="en-US" altLang="zh-CN" dirty="0"/>
                <a:t>(9600);			</a:t>
              </a:r>
              <a:r>
                <a:rPr lang="en-US" altLang="zh-CN" dirty="0">
                  <a:solidFill>
                    <a:srgbClr val="FF0000"/>
                  </a:solidFill>
                </a:rPr>
                <a:t>//</a:t>
              </a:r>
              <a:r>
                <a:rPr lang="zh-CN" altLang="en-US" dirty="0">
                  <a:solidFill>
                    <a:srgbClr val="FF0000"/>
                  </a:solidFill>
                </a:rPr>
                <a:t>初始化串口，波特率为</a:t>
              </a:r>
              <a:r>
                <a:rPr lang="en-US" altLang="zh-CN" dirty="0">
                  <a:solidFill>
                    <a:srgbClr val="FF0000"/>
                  </a:solidFill>
                </a:rPr>
                <a:t>9600</a:t>
              </a:r>
            </a:p>
            <a:p>
              <a:r>
                <a:rPr lang="en-US" altLang="zh-CN" dirty="0"/>
                <a:t>}</a:t>
              </a:r>
            </a:p>
            <a:p>
              <a:endParaRPr lang="en-US" altLang="zh-CN" dirty="0"/>
            </a:p>
            <a:p>
              <a:r>
                <a:rPr lang="en-US" altLang="zh-CN" dirty="0"/>
                <a:t>void loop() {</a:t>
              </a:r>
            </a:p>
            <a:p>
              <a:r>
                <a:rPr lang="en-US" altLang="zh-CN" dirty="0"/>
                <a:t>        TL_PM25.read();			</a:t>
              </a:r>
              <a:r>
                <a:rPr lang="en-US" altLang="zh-CN" dirty="0">
                  <a:solidFill>
                    <a:srgbClr val="FF0000"/>
                  </a:solidFill>
                </a:rPr>
                <a:t>//</a:t>
              </a:r>
              <a:r>
                <a:rPr lang="zh-CN" altLang="en-US" dirty="0">
                  <a:solidFill>
                    <a:srgbClr val="FF0000"/>
                  </a:solidFill>
                </a:rPr>
                <a:t>读取各传感器</a:t>
              </a:r>
              <a:endParaRPr lang="en-US" altLang="zh-CN" dirty="0">
                <a:solidFill>
                  <a:srgbClr val="FF0000"/>
                </a:solidFill>
              </a:endParaRPr>
            </a:p>
            <a:p>
              <a:r>
                <a:rPr lang="en-US" altLang="zh-CN" dirty="0"/>
                <a:t>        </a:t>
              </a:r>
              <a:r>
                <a:rPr lang="en-US" altLang="zh-CN" dirty="0" err="1"/>
                <a:t>TL_Temperature.read</a:t>
              </a:r>
              <a:r>
                <a:rPr lang="en-US" altLang="zh-CN" dirty="0"/>
                <a:t>();</a:t>
              </a:r>
            </a:p>
            <a:p>
              <a:r>
                <a:rPr lang="en-US" altLang="zh-CN" dirty="0"/>
                <a:t>        </a:t>
              </a:r>
              <a:r>
                <a:rPr lang="en-US" altLang="zh-CN" dirty="0" err="1"/>
                <a:t>TL_Humidity.read</a:t>
              </a:r>
              <a:r>
                <a:rPr lang="en-US" altLang="zh-CN" dirty="0"/>
                <a:t>();</a:t>
              </a:r>
            </a:p>
            <a:p>
              <a:r>
                <a:rPr lang="en-US" altLang="zh-CN" dirty="0"/>
                <a:t>        </a:t>
              </a:r>
              <a:r>
                <a:rPr lang="en-US" altLang="zh-CN" dirty="0" err="1"/>
                <a:t>TL_Light.read</a:t>
              </a:r>
              <a:r>
                <a:rPr lang="en-US" altLang="zh-CN" dirty="0"/>
                <a:t>();</a:t>
              </a:r>
            </a:p>
            <a:p>
              <a:endParaRPr lang="en-US" altLang="zh-CN" dirty="0"/>
            </a:p>
            <a:p>
              <a:r>
                <a:rPr lang="en-US" altLang="zh-CN" dirty="0"/>
                <a:t>        </a:t>
              </a:r>
              <a:r>
                <a:rPr lang="en-US" altLang="zh-CN" dirty="0">
                  <a:solidFill>
                    <a:srgbClr val="FF0000"/>
                  </a:solidFill>
                </a:rPr>
                <a:t>/* </a:t>
              </a:r>
              <a:r>
                <a:rPr lang="zh-CN" altLang="en-US" dirty="0">
                  <a:solidFill>
                    <a:srgbClr val="FF0000"/>
                  </a:solidFill>
                </a:rPr>
                <a:t>打印各传感器数据 </a:t>
              </a:r>
              <a:r>
                <a:rPr lang="en-US" altLang="zh-CN" dirty="0">
                  <a:solidFill>
                    <a:srgbClr val="FF0000"/>
                  </a:solidFill>
                </a:rPr>
                <a:t>*/</a:t>
              </a:r>
              <a:endParaRPr lang="en-US" altLang="zh-CN" dirty="0"/>
            </a:p>
            <a:p>
              <a:r>
                <a:rPr lang="en-US" altLang="zh-CN" dirty="0"/>
                <a:t>        </a:t>
              </a:r>
              <a:r>
                <a:rPr lang="en-US" altLang="zh-CN" dirty="0" err="1"/>
                <a:t>TL_Serial.println</a:t>
              </a:r>
              <a:r>
                <a:rPr lang="en-US" altLang="zh-CN" dirty="0"/>
                <a:t>(String("Temperature data is ") + </a:t>
              </a:r>
              <a:r>
                <a:rPr lang="en-US" altLang="zh-CN" dirty="0" err="1"/>
                <a:t>TL_Temperature.data</a:t>
              </a:r>
              <a:r>
                <a:rPr lang="en-US" altLang="zh-CN" dirty="0"/>
                <a:t>());</a:t>
              </a:r>
              <a:endParaRPr lang="en-US" altLang="zh-CN" dirty="0">
                <a:solidFill>
                  <a:srgbClr val="FF0000"/>
                </a:solidFill>
              </a:endParaRPr>
            </a:p>
            <a:p>
              <a:pPr lvl="1"/>
              <a:r>
                <a:rPr lang="en-US" altLang="zh-CN" dirty="0" err="1"/>
                <a:t>TL_Serial.println</a:t>
              </a:r>
              <a:r>
                <a:rPr lang="en-US" altLang="zh-CN" dirty="0"/>
                <a:t>(String("Humidity data is ") + </a:t>
              </a:r>
              <a:r>
                <a:rPr lang="en-US" altLang="zh-CN" dirty="0" err="1"/>
                <a:t>TL_Humidity.data</a:t>
              </a:r>
              <a:r>
                <a:rPr lang="en-US" altLang="zh-CN" dirty="0"/>
                <a:t>());</a:t>
              </a:r>
            </a:p>
            <a:p>
              <a:pPr lvl="1"/>
              <a:r>
                <a:rPr lang="en-US" altLang="zh-CN" dirty="0" err="1"/>
                <a:t>TL_Serial.println</a:t>
              </a:r>
              <a:r>
                <a:rPr lang="en-US" altLang="zh-CN" dirty="0"/>
                <a:t>(String("Light: ") + </a:t>
              </a:r>
              <a:r>
                <a:rPr lang="en-US" altLang="zh-CN" dirty="0" err="1"/>
                <a:t>TL_Light.data</a:t>
              </a:r>
              <a:r>
                <a:rPr lang="en-US" altLang="zh-CN" dirty="0"/>
                <a:t>());</a:t>
              </a:r>
            </a:p>
            <a:p>
              <a:pPr lvl="1"/>
              <a:r>
                <a:rPr lang="en-US" altLang="zh-CN" dirty="0" err="1"/>
                <a:t>TL_Serial.println</a:t>
              </a:r>
              <a:r>
                <a:rPr lang="en-US" altLang="zh-CN" dirty="0"/>
                <a:t>(String("PM25 data is ") + TL_PM25.data());</a:t>
              </a:r>
            </a:p>
            <a:p>
              <a:r>
                <a:rPr lang="en-US" altLang="zh-CN" dirty="0"/>
                <a:t>        </a:t>
              </a:r>
              <a:r>
                <a:rPr lang="en-US" altLang="zh-CN" dirty="0" err="1"/>
                <a:t>TL_Time.delayMillis</a:t>
              </a:r>
              <a:r>
                <a:rPr lang="en-US" altLang="zh-CN" dirty="0"/>
                <a:t>(3000);		</a:t>
              </a:r>
              <a:r>
                <a:rPr lang="en-US" altLang="zh-CN" dirty="0">
                  <a:solidFill>
                    <a:srgbClr val="FF0000"/>
                  </a:solidFill>
                </a:rPr>
                <a:t>//</a:t>
              </a:r>
              <a:r>
                <a:rPr lang="zh-CN" altLang="en-US" dirty="0">
                  <a:solidFill>
                    <a:srgbClr val="FF0000"/>
                  </a:solidFill>
                </a:rPr>
                <a:t>每间隔</a:t>
              </a:r>
              <a:r>
                <a:rPr lang="en-US" altLang="zh-CN" dirty="0">
                  <a:solidFill>
                    <a:srgbClr val="FF0000"/>
                  </a:solidFill>
                </a:rPr>
                <a:t>3</a:t>
              </a:r>
              <a:r>
                <a:rPr lang="zh-CN" altLang="en-US" dirty="0">
                  <a:solidFill>
                    <a:srgbClr val="FF0000"/>
                  </a:solidFill>
                </a:rPr>
                <a:t>秒打印一次环境数据</a:t>
              </a:r>
              <a:endParaRPr lang="en-US" altLang="zh-CN" dirty="0"/>
            </a:p>
            <a:p>
              <a:r>
                <a:rPr lang="en-US" altLang="zh-CN" dirty="0"/>
                <a:t>}</a:t>
              </a:r>
            </a:p>
          </p:txBody>
        </p:sp>
        <p:sp>
          <p:nvSpPr>
            <p:cNvPr id="6" name="TextBox 6"/>
            <p:cNvSpPr txBox="1"/>
            <p:nvPr/>
          </p:nvSpPr>
          <p:spPr>
            <a:xfrm>
              <a:off x="4680294" y="3031782"/>
              <a:ext cx="184731" cy="338554"/>
            </a:xfrm>
            <a:prstGeom prst="rect">
              <a:avLst/>
            </a:prstGeom>
            <a:noFill/>
          </p:spPr>
          <p:txBody>
            <a:bodyPr wrap="none" rtlCol="0">
              <a:spAutoFit/>
            </a:bodyPr>
            <a:lstStyle/>
            <a:p>
              <a:endParaRPr lang="zh-CN" altLang="en-US" dirty="0">
                <a:solidFill>
                  <a:srgbClr val="FF0000"/>
                </a:solidFill>
              </a:endParaRPr>
            </a:p>
          </p:txBody>
        </p:sp>
        <p:sp>
          <p:nvSpPr>
            <p:cNvPr id="7" name="TextBox 8"/>
            <p:cNvSpPr txBox="1"/>
            <p:nvPr/>
          </p:nvSpPr>
          <p:spPr>
            <a:xfrm>
              <a:off x="4632370" y="2324092"/>
              <a:ext cx="184731" cy="318036"/>
            </a:xfrm>
            <a:prstGeom prst="rect">
              <a:avLst/>
            </a:prstGeom>
            <a:noFill/>
          </p:spPr>
          <p:txBody>
            <a:bodyPr wrap="none" rtlCol="0">
              <a:spAutoFit/>
            </a:bodyPr>
            <a:lstStyle/>
            <a:p>
              <a:endParaRPr lang="zh-CN" altLang="en-US" sz="2200" dirty="0">
                <a:solidFill>
                  <a:srgbClr val="FF0000"/>
                </a:solidFill>
              </a:endParaRPr>
            </a:p>
          </p:txBody>
        </p:sp>
        <p:sp>
          <p:nvSpPr>
            <p:cNvPr id="9" name="TextBox 13"/>
            <p:cNvSpPr txBox="1"/>
            <p:nvPr/>
          </p:nvSpPr>
          <p:spPr>
            <a:xfrm>
              <a:off x="4666834" y="6273746"/>
              <a:ext cx="184731" cy="338554"/>
            </a:xfrm>
            <a:prstGeom prst="rect">
              <a:avLst/>
            </a:prstGeom>
            <a:noFill/>
          </p:spPr>
          <p:txBody>
            <a:bodyPr wrap="none" rtlCol="0">
              <a:spAutoFit/>
            </a:bodyPr>
            <a:lstStyle/>
            <a:p>
              <a:endParaRPr lang="zh-CN" altLang="en-US" dirty="0">
                <a:solidFill>
                  <a:srgbClr val="FF0000"/>
                </a:solidFill>
              </a:endParaRPr>
            </a:p>
          </p:txBody>
        </p:sp>
        <p:sp>
          <p:nvSpPr>
            <p:cNvPr id="10" name="TextBox 11"/>
            <p:cNvSpPr txBox="1"/>
            <p:nvPr/>
          </p:nvSpPr>
          <p:spPr>
            <a:xfrm>
              <a:off x="4666834" y="4159060"/>
              <a:ext cx="184731" cy="338554"/>
            </a:xfrm>
            <a:prstGeom prst="rect">
              <a:avLst/>
            </a:prstGeom>
            <a:noFill/>
          </p:spPr>
          <p:txBody>
            <a:bodyPr wrap="none" rtlCol="0">
              <a:spAutoFit/>
            </a:bodyPr>
            <a:lstStyle/>
            <a:p>
              <a:endParaRPr lang="zh-CN" altLang="en-US" dirty="0">
                <a:solidFill>
                  <a:srgbClr val="FF0000"/>
                </a:solidFill>
              </a:endParaRPr>
            </a:p>
          </p:txBody>
        </p:sp>
      </p:grpSp>
      <p:pic>
        <p:nvPicPr>
          <p:cNvPr id="37" name="图片 36"/>
          <p:cNvPicPr>
            <a:picLocks noChangeAspect="1"/>
          </p:cNvPicPr>
          <p:nvPr/>
        </p:nvPicPr>
        <p:blipFill>
          <a:blip r:embed="rId2"/>
          <a:stretch>
            <a:fillRect/>
          </a:stretch>
        </p:blipFill>
        <p:spPr>
          <a:xfrm>
            <a:off x="7052805" y="0"/>
            <a:ext cx="2083242" cy="129249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69982561"/>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zh-CN" altLang="zh-CN" dirty="0"/>
              <a:t>开发流程</a:t>
            </a:r>
            <a:endParaRPr lang="zh-CN" altLang="en-US" dirty="0"/>
          </a:p>
        </p:txBody>
      </p:sp>
      <p:sp>
        <p:nvSpPr>
          <p:cNvPr id="5" name="内容占位符 4">
            <a:extLst>
              <a:ext uri="{FF2B5EF4-FFF2-40B4-BE49-F238E27FC236}">
                <a16:creationId xmlns:a16="http://schemas.microsoft.com/office/drawing/2014/main" id="{F065114E-31B5-452B-85EB-D5CC735A6DF4}"/>
              </a:ext>
            </a:extLst>
          </p:cNvPr>
          <p:cNvSpPr>
            <a:spLocks noGrp="1"/>
          </p:cNvSpPr>
          <p:nvPr>
            <p:ph idx="1"/>
          </p:nvPr>
        </p:nvSpPr>
        <p:spPr/>
        <p:txBody>
          <a:bodyPr/>
          <a:lstStyle/>
          <a:p>
            <a:r>
              <a:rPr lang="zh-CN" altLang="en-US"/>
              <a:t>步骤②：上传代码并编译</a:t>
            </a:r>
            <a:endParaRPr lang="zh-CN" altLang="en-US" dirty="0"/>
          </a:p>
        </p:txBody>
      </p:sp>
      <p:pic>
        <p:nvPicPr>
          <p:cNvPr id="30" name="图片 29"/>
          <p:cNvPicPr>
            <a:picLocks noChangeAspect="1"/>
          </p:cNvPicPr>
          <p:nvPr/>
        </p:nvPicPr>
        <p:blipFill>
          <a:blip r:embed="rId2"/>
          <a:stretch>
            <a:fillRect/>
          </a:stretch>
        </p:blipFill>
        <p:spPr>
          <a:xfrm>
            <a:off x="7055013" y="-1"/>
            <a:ext cx="2088987" cy="1296064"/>
          </a:xfrm>
          <a:prstGeom prst="rect">
            <a:avLst/>
          </a:prstGeom>
          <a:ln>
            <a:noFill/>
          </a:ln>
          <a:effectLst>
            <a:outerShdw blurRad="292100" dist="139700" dir="2700000" algn="tl" rotWithShape="0">
              <a:srgbClr val="333333">
                <a:alpha val="65000"/>
              </a:srgbClr>
            </a:outerShdw>
          </a:effectLst>
        </p:spPr>
      </p:pic>
      <p:grpSp>
        <p:nvGrpSpPr>
          <p:cNvPr id="3" name="组合 2">
            <a:extLst>
              <a:ext uri="{FF2B5EF4-FFF2-40B4-BE49-F238E27FC236}">
                <a16:creationId xmlns:a16="http://schemas.microsoft.com/office/drawing/2014/main" id="{2832B1BF-0BBA-49AE-805D-028BF7478D24}"/>
              </a:ext>
            </a:extLst>
          </p:cNvPr>
          <p:cNvGrpSpPr/>
          <p:nvPr/>
        </p:nvGrpSpPr>
        <p:grpSpPr>
          <a:xfrm>
            <a:off x="896804" y="1451610"/>
            <a:ext cx="7600798" cy="5337810"/>
            <a:chOff x="328897" y="921515"/>
            <a:chExt cx="8371905" cy="5879335"/>
          </a:xfrm>
        </p:grpSpPr>
        <p:pic>
          <p:nvPicPr>
            <p:cNvPr id="20" name="图片 19"/>
            <p:cNvPicPr>
              <a:picLocks noChangeAspect="1"/>
            </p:cNvPicPr>
            <p:nvPr/>
          </p:nvPicPr>
          <p:blipFill rotWithShape="1">
            <a:blip r:embed="rId3"/>
            <a:srcRect t="-1" r="320" b="25020"/>
            <a:stretch/>
          </p:blipFill>
          <p:spPr>
            <a:xfrm>
              <a:off x="328897" y="5392680"/>
              <a:ext cx="8357903" cy="1408170"/>
            </a:xfrm>
            <a:prstGeom prst="rect">
              <a:avLst/>
            </a:prstGeom>
          </p:spPr>
        </p:pic>
        <p:pic>
          <p:nvPicPr>
            <p:cNvPr id="16" name="图片 15"/>
            <p:cNvPicPr>
              <a:picLocks noChangeAspect="1"/>
            </p:cNvPicPr>
            <p:nvPr/>
          </p:nvPicPr>
          <p:blipFill>
            <a:blip r:embed="rId4"/>
            <a:stretch>
              <a:fillRect/>
            </a:stretch>
          </p:blipFill>
          <p:spPr>
            <a:xfrm>
              <a:off x="328897" y="921515"/>
              <a:ext cx="8371905" cy="4482428"/>
            </a:xfrm>
            <a:prstGeom prst="rect">
              <a:avLst/>
            </a:prstGeom>
          </p:spPr>
        </p:pic>
        <p:sp>
          <p:nvSpPr>
            <p:cNvPr id="6" name="矩形 5"/>
            <p:cNvSpPr/>
            <p:nvPr/>
          </p:nvSpPr>
          <p:spPr bwMode="auto">
            <a:xfrm>
              <a:off x="1230047" y="3273714"/>
              <a:ext cx="748146" cy="443345"/>
            </a:xfrm>
            <a:prstGeom prst="rect">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sp>
          <p:nvSpPr>
            <p:cNvPr id="7" name="文本框 6"/>
            <p:cNvSpPr txBox="1"/>
            <p:nvPr/>
          </p:nvSpPr>
          <p:spPr>
            <a:xfrm>
              <a:off x="1978193" y="3063399"/>
              <a:ext cx="2103462" cy="418101"/>
            </a:xfrm>
            <a:prstGeom prst="rect">
              <a:avLst/>
            </a:prstGeom>
            <a:noFill/>
          </p:spPr>
          <p:txBody>
            <a:bodyPr wrap="square" rtlCol="0">
              <a:spAutoFit/>
            </a:bodyPr>
            <a:lstStyle/>
            <a:p>
              <a:r>
                <a:rPr lang="zh-CN" altLang="en-US" sz="2800" b="1" dirty="0">
                  <a:solidFill>
                    <a:srgbClr val="C00000"/>
                  </a:solidFill>
                  <a:latin typeface="+mj-ea"/>
                  <a:ea typeface="+mj-ea"/>
                </a:rPr>
                <a:t>选择待上传文件</a:t>
              </a:r>
            </a:p>
          </p:txBody>
        </p:sp>
        <p:sp>
          <p:nvSpPr>
            <p:cNvPr id="9" name="矩形 8"/>
            <p:cNvSpPr/>
            <p:nvPr/>
          </p:nvSpPr>
          <p:spPr bwMode="auto">
            <a:xfrm>
              <a:off x="3561590" y="3589670"/>
              <a:ext cx="748146" cy="443345"/>
            </a:xfrm>
            <a:prstGeom prst="rect">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sp>
          <p:nvSpPr>
            <p:cNvPr id="10" name="文本框 9"/>
            <p:cNvSpPr txBox="1"/>
            <p:nvPr/>
          </p:nvSpPr>
          <p:spPr>
            <a:xfrm>
              <a:off x="4348201" y="3490192"/>
              <a:ext cx="1829347" cy="418101"/>
            </a:xfrm>
            <a:prstGeom prst="rect">
              <a:avLst/>
            </a:prstGeom>
            <a:noFill/>
          </p:spPr>
          <p:txBody>
            <a:bodyPr wrap="square" rtlCol="0">
              <a:spAutoFit/>
            </a:bodyPr>
            <a:lstStyle/>
            <a:p>
              <a:r>
                <a:rPr lang="zh-CN" altLang="en-US" sz="2800" b="1" dirty="0">
                  <a:solidFill>
                    <a:srgbClr val="C00000"/>
                  </a:solidFill>
                  <a:latin typeface="+mj-ea"/>
                  <a:ea typeface="+mj-ea"/>
                </a:rPr>
                <a:t>提交上传文件</a:t>
              </a:r>
            </a:p>
          </p:txBody>
        </p:sp>
        <p:sp>
          <p:nvSpPr>
            <p:cNvPr id="11" name="矩形 10"/>
            <p:cNvSpPr/>
            <p:nvPr/>
          </p:nvSpPr>
          <p:spPr bwMode="auto">
            <a:xfrm>
              <a:off x="1230046" y="5494976"/>
              <a:ext cx="5327772" cy="1216616"/>
            </a:xfrm>
            <a:prstGeom prst="rect">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sp>
          <p:nvSpPr>
            <p:cNvPr id="12" name="文本框 11"/>
            <p:cNvSpPr txBox="1"/>
            <p:nvPr/>
          </p:nvSpPr>
          <p:spPr>
            <a:xfrm>
              <a:off x="2572722" y="4794235"/>
              <a:ext cx="3474028" cy="418101"/>
            </a:xfrm>
            <a:prstGeom prst="rect">
              <a:avLst/>
            </a:prstGeom>
            <a:solidFill>
              <a:schemeClr val="bg1">
                <a:lumMod val="95000"/>
                <a:alpha val="81000"/>
              </a:schemeClr>
            </a:solidFill>
          </p:spPr>
          <p:txBody>
            <a:bodyPr wrap="square" rtlCol="0">
              <a:spAutoFit/>
            </a:bodyPr>
            <a:lstStyle/>
            <a:p>
              <a:r>
                <a:rPr lang="zh-CN" altLang="en-US" sz="2800" b="1" dirty="0">
                  <a:solidFill>
                    <a:srgbClr val="C00000"/>
                  </a:solidFill>
                  <a:latin typeface="+mj-ea"/>
                  <a:ea typeface="+mj-ea"/>
                </a:rPr>
                <a:t>生成硬件及代码编译的结果</a:t>
              </a:r>
            </a:p>
          </p:txBody>
        </p:sp>
        <p:sp>
          <p:nvSpPr>
            <p:cNvPr id="13" name="文本框 12"/>
            <p:cNvSpPr txBox="1"/>
            <p:nvPr/>
          </p:nvSpPr>
          <p:spPr>
            <a:xfrm>
              <a:off x="4896428" y="5840356"/>
              <a:ext cx="1281121" cy="418101"/>
            </a:xfrm>
            <a:prstGeom prst="rect">
              <a:avLst/>
            </a:prstGeom>
            <a:noFill/>
          </p:spPr>
          <p:txBody>
            <a:bodyPr wrap="square" rtlCol="0">
              <a:spAutoFit/>
            </a:bodyPr>
            <a:lstStyle/>
            <a:p>
              <a:r>
                <a:rPr lang="zh-CN" altLang="en-US" sz="2800" b="1" dirty="0">
                  <a:solidFill>
                    <a:srgbClr val="C00000"/>
                  </a:solidFill>
                  <a:latin typeface="+mj-ea"/>
                  <a:ea typeface="+mj-ea"/>
                </a:rPr>
                <a:t>具体信息</a:t>
              </a:r>
            </a:p>
          </p:txBody>
        </p:sp>
        <p:sp>
          <p:nvSpPr>
            <p:cNvPr id="14" name="矩形 13"/>
            <p:cNvSpPr/>
            <p:nvPr/>
          </p:nvSpPr>
          <p:spPr bwMode="auto">
            <a:xfrm>
              <a:off x="1304878" y="4736048"/>
              <a:ext cx="5057822" cy="602570"/>
            </a:xfrm>
            <a:prstGeom prst="rect">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grpSp>
    </p:spTree>
    <p:extLst>
      <p:ext uri="{BB962C8B-B14F-4D97-AF65-F5344CB8AC3E}">
        <p14:creationId xmlns:p14="http://schemas.microsoft.com/office/powerpoint/2010/main" val="1600638095"/>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zh-CN" altLang="zh-CN" dirty="0"/>
              <a:t>开发流程</a:t>
            </a:r>
            <a:endParaRPr lang="zh-CN" altLang="en-US" dirty="0"/>
          </a:p>
        </p:txBody>
      </p:sp>
      <p:sp>
        <p:nvSpPr>
          <p:cNvPr id="3" name="内容占位符 2"/>
          <p:cNvSpPr>
            <a:spLocks noGrp="1"/>
          </p:cNvSpPr>
          <p:nvPr>
            <p:ph idx="1"/>
          </p:nvPr>
        </p:nvSpPr>
        <p:spPr/>
        <p:txBody>
          <a:bodyPr/>
          <a:lstStyle/>
          <a:p>
            <a:r>
              <a:rPr lang="zh-CN" altLang="en-US"/>
              <a:t>步骤③：获取硬件配置</a:t>
            </a:r>
            <a:endParaRPr lang="en-US" altLang="zh-CN"/>
          </a:p>
          <a:p>
            <a:pPr lvl="1"/>
            <a:r>
              <a:rPr lang="zh-CN" altLang="en-US"/>
              <a:t>硬件列表</a:t>
            </a:r>
            <a:endParaRPr lang="en-US" altLang="zh-CN" dirty="0"/>
          </a:p>
        </p:txBody>
      </p:sp>
      <p:pic>
        <p:nvPicPr>
          <p:cNvPr id="60" name="图片 59"/>
          <p:cNvPicPr>
            <a:picLocks noChangeAspect="1"/>
          </p:cNvPicPr>
          <p:nvPr/>
        </p:nvPicPr>
        <p:blipFill>
          <a:blip r:embed="rId3"/>
          <a:stretch>
            <a:fillRect/>
          </a:stretch>
        </p:blipFill>
        <p:spPr>
          <a:xfrm>
            <a:off x="7055014" y="-1"/>
            <a:ext cx="2088988" cy="1296064"/>
          </a:xfrm>
          <a:prstGeom prst="rect">
            <a:avLst/>
          </a:prstGeom>
          <a:ln>
            <a:noFill/>
          </a:ln>
          <a:effectLst>
            <a:outerShdw blurRad="292100" dist="139700" dir="2700000" algn="tl" rotWithShape="0">
              <a:srgbClr val="333333">
                <a:alpha val="65000"/>
              </a:srgbClr>
            </a:outerShdw>
          </a:effectLst>
        </p:spPr>
      </p:pic>
      <p:graphicFrame>
        <p:nvGraphicFramePr>
          <p:cNvPr id="62" name="表格 61"/>
          <p:cNvGraphicFramePr>
            <a:graphicFrameLocks noGrp="1"/>
          </p:cNvGraphicFramePr>
          <p:nvPr>
            <p:extLst>
              <p:ext uri="{D42A27DB-BD31-4B8C-83A1-F6EECF244321}">
                <p14:modId xmlns:p14="http://schemas.microsoft.com/office/powerpoint/2010/main" val="2299221113"/>
              </p:ext>
            </p:extLst>
          </p:nvPr>
        </p:nvGraphicFramePr>
        <p:xfrm>
          <a:off x="842818" y="1899920"/>
          <a:ext cx="7458364" cy="4806207"/>
        </p:xfrm>
        <a:graphic>
          <a:graphicData uri="http://schemas.openxmlformats.org/drawingml/2006/table">
            <a:tbl>
              <a:tblPr firstRow="1">
                <a:tableStyleId>{08FB837D-C827-4EFA-A057-4D05807E0F7C}</a:tableStyleId>
              </a:tblPr>
              <a:tblGrid>
                <a:gridCol w="1093932">
                  <a:extLst>
                    <a:ext uri="{9D8B030D-6E8A-4147-A177-3AD203B41FA5}">
                      <a16:colId xmlns:a16="http://schemas.microsoft.com/office/drawing/2014/main" val="2213915072"/>
                    </a:ext>
                  </a:extLst>
                </a:gridCol>
                <a:gridCol w="1432560">
                  <a:extLst>
                    <a:ext uri="{9D8B030D-6E8A-4147-A177-3AD203B41FA5}">
                      <a16:colId xmlns:a16="http://schemas.microsoft.com/office/drawing/2014/main" val="3924542681"/>
                    </a:ext>
                  </a:extLst>
                </a:gridCol>
                <a:gridCol w="1656080">
                  <a:extLst>
                    <a:ext uri="{9D8B030D-6E8A-4147-A177-3AD203B41FA5}">
                      <a16:colId xmlns:a16="http://schemas.microsoft.com/office/drawing/2014/main" val="422771428"/>
                    </a:ext>
                  </a:extLst>
                </a:gridCol>
                <a:gridCol w="3275792">
                  <a:extLst>
                    <a:ext uri="{9D8B030D-6E8A-4147-A177-3AD203B41FA5}">
                      <a16:colId xmlns:a16="http://schemas.microsoft.com/office/drawing/2014/main" val="274233902"/>
                    </a:ext>
                  </a:extLst>
                </a:gridCol>
              </a:tblGrid>
              <a:tr h="325120">
                <a:tc>
                  <a:txBody>
                    <a:bodyPr/>
                    <a:lstStyle/>
                    <a:p>
                      <a:pPr algn="ctr" fontAlgn="ctr"/>
                      <a:r>
                        <a:rPr lang="zh-CN" altLang="en-US" sz="1600" u="none" strike="noStrike" dirty="0">
                          <a:effectLst/>
                          <a:latin typeface="+mj-ea"/>
                          <a:ea typeface="+mj-ea"/>
                        </a:rPr>
                        <a:t>类型</a:t>
                      </a:r>
                      <a:endParaRPr lang="zh-CN" altLang="en-US" sz="1600" b="0" i="0" u="none" strike="noStrike" dirty="0">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dirty="0">
                          <a:effectLst/>
                          <a:latin typeface="+mj-ea"/>
                          <a:ea typeface="+mj-ea"/>
                        </a:rPr>
                        <a:t>名称</a:t>
                      </a:r>
                      <a:endParaRPr lang="zh-CN" altLang="en-US" sz="1600" b="0" i="0" u="none" strike="noStrike" dirty="0">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dirty="0">
                          <a:effectLst/>
                          <a:latin typeface="+mj-ea"/>
                          <a:ea typeface="+mj-ea"/>
                        </a:rPr>
                        <a:t>功能</a:t>
                      </a:r>
                      <a:endParaRPr lang="zh-CN" altLang="en-US" sz="1600" b="0" i="0" u="none" strike="noStrike" dirty="0">
                        <a:solidFill>
                          <a:srgbClr val="000000"/>
                        </a:solidFill>
                        <a:effectLst/>
                        <a:latin typeface="+mj-ea"/>
                        <a:ea typeface="+mj-ea"/>
                      </a:endParaRPr>
                    </a:p>
                  </a:txBody>
                  <a:tcPr marL="9525" marR="9525" marT="9525" marB="0" anchor="ctr"/>
                </a:tc>
                <a:tc>
                  <a:txBody>
                    <a:bodyPr/>
                    <a:lstStyle/>
                    <a:p>
                      <a:pPr algn="ctr" fontAlgn="ctr"/>
                      <a:r>
                        <a:rPr lang="zh-CN" altLang="en-US" sz="1600" u="none" strike="noStrike" dirty="0">
                          <a:effectLst/>
                          <a:latin typeface="+mj-ea"/>
                          <a:ea typeface="+mj-ea"/>
                        </a:rPr>
                        <a:t>链接</a:t>
                      </a:r>
                      <a:endParaRPr lang="zh-CN" altLang="en-US" sz="1600" b="0" i="0" u="none" strike="noStrike" dirty="0">
                        <a:solidFill>
                          <a:srgbClr val="000000"/>
                        </a:solidFill>
                        <a:effectLst/>
                        <a:latin typeface="+mj-ea"/>
                        <a:ea typeface="+mj-ea"/>
                      </a:endParaRPr>
                    </a:p>
                  </a:txBody>
                  <a:tcPr marL="9525" marR="9525" marT="9525" marB="0" anchor="ctr"/>
                </a:tc>
                <a:extLst>
                  <a:ext uri="{0D108BD9-81ED-4DB2-BD59-A6C34878D82A}">
                    <a16:rowId xmlns:a16="http://schemas.microsoft.com/office/drawing/2014/main" val="2293644873"/>
                  </a:ext>
                </a:extLst>
              </a:tr>
              <a:tr h="882566">
                <a:tc>
                  <a:txBody>
                    <a:bodyPr/>
                    <a:lstStyle/>
                    <a:p>
                      <a:pPr algn="ctr" fontAlgn="ctr"/>
                      <a:r>
                        <a:rPr lang="zh-CN" altLang="en-US" sz="1600" u="none" strike="noStrike" dirty="0">
                          <a:effectLst/>
                          <a:latin typeface="+mj-ea"/>
                          <a:ea typeface="+mj-ea"/>
                        </a:rPr>
                        <a:t>开发板</a:t>
                      </a:r>
                      <a:r>
                        <a:rPr lang="en-US" sz="1600" u="none" strike="noStrike" dirty="0">
                          <a:effectLst/>
                          <a:latin typeface="+mj-ea"/>
                          <a:ea typeface="+mj-ea"/>
                        </a:rPr>
                        <a:t>     </a:t>
                      </a:r>
                      <a:endParaRPr lang="en-US" sz="1600" b="0" i="0" u="none" strike="noStrike" dirty="0">
                        <a:solidFill>
                          <a:srgbClr val="000000"/>
                        </a:solidFill>
                        <a:effectLst/>
                        <a:latin typeface="+mj-ea"/>
                        <a:ea typeface="+mj-ea"/>
                      </a:endParaRPr>
                    </a:p>
                  </a:txBody>
                  <a:tcPr marL="9525" marR="9525" marT="9525" marB="0" anchor="ctr"/>
                </a:tc>
                <a:tc>
                  <a:txBody>
                    <a:bodyPr/>
                    <a:lstStyle/>
                    <a:p>
                      <a:pPr algn="ctr" fontAlgn="ctr"/>
                      <a:r>
                        <a:rPr lang="en-US" sz="1600" u="none" strike="noStrike" dirty="0">
                          <a:effectLst/>
                          <a:latin typeface="+mj-ea"/>
                          <a:ea typeface="+mj-ea"/>
                        </a:rPr>
                        <a:t>Arduino MEGA 2560</a:t>
                      </a:r>
                      <a:endParaRPr lang="en-US" sz="1600" b="0" i="0" u="none" strike="noStrike" dirty="0">
                        <a:solidFill>
                          <a:srgbClr val="000000"/>
                        </a:solidFill>
                        <a:effectLst/>
                        <a:latin typeface="+mj-ea"/>
                        <a:ea typeface="+mj-ea"/>
                        <a:cs typeface="Times New Roman" panose="02020603050405020304" pitchFamily="18" charset="0"/>
                      </a:endParaRPr>
                    </a:p>
                  </a:txBody>
                  <a:tcPr marL="9525" marR="9525" marT="9525" marB="0" anchor="ctr"/>
                </a:tc>
                <a:tc>
                  <a:txBody>
                    <a:bodyPr/>
                    <a:lstStyle/>
                    <a:p>
                      <a:pPr algn="ctr" fontAlgn="ctr"/>
                      <a:endParaRPr lang="en-US" sz="1600" b="0" i="0" u="none" strike="noStrike" dirty="0">
                        <a:solidFill>
                          <a:srgbClr val="000000"/>
                        </a:solidFill>
                        <a:effectLst/>
                        <a:latin typeface="+mj-ea"/>
                        <a:ea typeface="+mj-ea"/>
                        <a:cs typeface="Times New Roman" panose="02020603050405020304" pitchFamily="18" charset="0"/>
                      </a:endParaRPr>
                    </a:p>
                  </a:txBody>
                  <a:tcPr marL="9525" marR="9525" marT="9525" marB="0" anchor="ctr"/>
                </a:tc>
                <a:tc>
                  <a:txBody>
                    <a:bodyPr/>
                    <a:lstStyle/>
                    <a:p>
                      <a:pPr algn="ctr" fontAlgn="ctr"/>
                      <a:r>
                        <a:rPr lang="en-US" sz="1400" u="none" strike="noStrike" dirty="0">
                          <a:effectLst/>
                          <a:latin typeface="+mj-ea"/>
                          <a:ea typeface="+mj-ea"/>
                        </a:rPr>
                        <a:t>https://detail.tmall.com/item.htm?spm=a230r.1.14.1.4c7b5c9dRzIn7c&amp;id=38816270178&amp;cm_id=140105335569ed55e27b&amp;abbucket=3</a:t>
                      </a:r>
                      <a:endParaRPr lang="en-US" sz="1400" b="0" i="0" u="none" strike="noStrike" dirty="0">
                        <a:solidFill>
                          <a:srgbClr val="000000"/>
                        </a:solidFill>
                        <a:effectLst/>
                        <a:latin typeface="+mj-ea"/>
                        <a:ea typeface="+mj-ea"/>
                        <a:cs typeface="Times New Roman" panose="02020603050405020304" pitchFamily="18" charset="0"/>
                      </a:endParaRPr>
                    </a:p>
                  </a:txBody>
                  <a:tcPr marL="9525" marR="9525" marT="9525" marB="0" anchor="ctr"/>
                </a:tc>
                <a:extLst>
                  <a:ext uri="{0D108BD9-81ED-4DB2-BD59-A6C34878D82A}">
                    <a16:rowId xmlns:a16="http://schemas.microsoft.com/office/drawing/2014/main" val="482447997"/>
                  </a:ext>
                </a:extLst>
              </a:tr>
              <a:tr h="882566">
                <a:tc>
                  <a:txBody>
                    <a:bodyPr/>
                    <a:lstStyle/>
                    <a:p>
                      <a:pPr algn="ctr" fontAlgn="ctr"/>
                      <a:r>
                        <a:rPr lang="zh-CN" altLang="en-US" sz="1600" u="none" strike="noStrike" dirty="0">
                          <a:effectLst/>
                          <a:latin typeface="+mj-ea"/>
                          <a:ea typeface="+mj-ea"/>
                        </a:rPr>
                        <a:t>扩展板</a:t>
                      </a:r>
                      <a:r>
                        <a:rPr lang="en-US" sz="1600" u="none" strike="noStrike" dirty="0">
                          <a:effectLst/>
                          <a:latin typeface="+mj-ea"/>
                          <a:ea typeface="+mj-ea"/>
                        </a:rPr>
                        <a:t>    </a:t>
                      </a:r>
                      <a:endParaRPr lang="en-US" sz="1600" b="0" i="0" u="none" strike="noStrike" dirty="0">
                        <a:solidFill>
                          <a:srgbClr val="000000"/>
                        </a:solidFill>
                        <a:effectLst/>
                        <a:latin typeface="+mj-ea"/>
                        <a:ea typeface="+mj-ea"/>
                      </a:endParaRPr>
                    </a:p>
                  </a:txBody>
                  <a:tcPr marL="9525" marR="9525" marT="9525" marB="0" anchor="ctr"/>
                </a:tc>
                <a:tc>
                  <a:txBody>
                    <a:bodyPr/>
                    <a:lstStyle/>
                    <a:p>
                      <a:pPr algn="ctr" fontAlgn="ctr"/>
                      <a:r>
                        <a:rPr lang="en-US" sz="1600" u="none" strike="noStrike" dirty="0">
                          <a:effectLst/>
                          <a:latin typeface="+mj-ea"/>
                          <a:ea typeface="+mj-ea"/>
                        </a:rPr>
                        <a:t>Mega Shield</a:t>
                      </a:r>
                      <a:endParaRPr lang="en-US" sz="1600" b="0" i="0" u="none" strike="noStrike" dirty="0">
                        <a:solidFill>
                          <a:srgbClr val="000000"/>
                        </a:solidFill>
                        <a:effectLst/>
                        <a:latin typeface="+mj-ea"/>
                        <a:ea typeface="+mj-ea"/>
                        <a:cs typeface="Times New Roman" panose="02020603050405020304" pitchFamily="18" charset="0"/>
                      </a:endParaRPr>
                    </a:p>
                  </a:txBody>
                  <a:tcPr marL="9525" marR="9525" marT="9525" marB="0" anchor="ctr"/>
                </a:tc>
                <a:tc>
                  <a:txBody>
                    <a:bodyPr/>
                    <a:lstStyle/>
                    <a:p>
                      <a:pPr algn="ctr" fontAlgn="ctr"/>
                      <a:endParaRPr lang="en-US" sz="1600" b="0" i="0" u="none" strike="noStrike" dirty="0">
                        <a:solidFill>
                          <a:srgbClr val="000000"/>
                        </a:solidFill>
                        <a:effectLst/>
                        <a:latin typeface="+mj-ea"/>
                        <a:ea typeface="+mj-ea"/>
                        <a:cs typeface="Times New Roman" panose="02020603050405020304" pitchFamily="18" charset="0"/>
                      </a:endParaRPr>
                    </a:p>
                  </a:txBody>
                  <a:tcPr marL="9525" marR="9525" marT="9525" marB="0" anchor="ctr"/>
                </a:tc>
                <a:tc>
                  <a:txBody>
                    <a:bodyPr/>
                    <a:lstStyle/>
                    <a:p>
                      <a:pPr algn="ctr" fontAlgn="ctr"/>
                      <a:r>
                        <a:rPr lang="en-US" sz="1400" u="none" strike="noStrike" dirty="0">
                          <a:effectLst/>
                          <a:latin typeface="+mj-ea"/>
                          <a:ea typeface="+mj-ea"/>
                        </a:rPr>
                        <a:t>https://detail.tmall.com/item.htm?spm=a230r.1.14.8.46f914famJ2fgU&amp;id=560459071060&amp;cm_id=140105335569ed55e27b&amp;abbucket=3</a:t>
                      </a:r>
                      <a:endParaRPr lang="en-US" sz="1400" b="0" i="0" u="none" strike="noStrike" dirty="0">
                        <a:solidFill>
                          <a:srgbClr val="000000"/>
                        </a:solidFill>
                        <a:effectLst/>
                        <a:latin typeface="+mj-ea"/>
                        <a:ea typeface="+mj-ea"/>
                        <a:cs typeface="Times New Roman" panose="02020603050405020304" pitchFamily="18" charset="0"/>
                      </a:endParaRPr>
                    </a:p>
                  </a:txBody>
                  <a:tcPr marL="9525" marR="9525" marT="9525" marB="0" anchor="ctr"/>
                </a:tc>
                <a:extLst>
                  <a:ext uri="{0D108BD9-81ED-4DB2-BD59-A6C34878D82A}">
                    <a16:rowId xmlns:a16="http://schemas.microsoft.com/office/drawing/2014/main" val="1968033168"/>
                  </a:ext>
                </a:extLst>
              </a:tr>
              <a:tr h="882566">
                <a:tc>
                  <a:txBody>
                    <a:bodyPr/>
                    <a:lstStyle/>
                    <a:p>
                      <a:pPr algn="ctr" fontAlgn="ctr"/>
                      <a:r>
                        <a:rPr lang="zh-CN" altLang="en-US" sz="1600" u="none" strike="noStrike" dirty="0">
                          <a:effectLst/>
                          <a:latin typeface="+mj-ea"/>
                          <a:ea typeface="+mj-ea"/>
                        </a:rPr>
                        <a:t>外设</a:t>
                      </a:r>
                      <a:endParaRPr lang="en-US" sz="1600" b="0" i="0" u="none" strike="noStrike" dirty="0">
                        <a:solidFill>
                          <a:srgbClr val="000000"/>
                        </a:solidFill>
                        <a:effectLst/>
                        <a:latin typeface="+mj-ea"/>
                        <a:ea typeface="+mj-ea"/>
                      </a:endParaRPr>
                    </a:p>
                  </a:txBody>
                  <a:tcPr marL="9525" marR="9525" marT="9525" marB="0" anchor="ctr"/>
                </a:tc>
                <a:tc>
                  <a:txBody>
                    <a:bodyPr/>
                    <a:lstStyle/>
                    <a:p>
                      <a:pPr algn="ctr" fontAlgn="ctr"/>
                      <a:r>
                        <a:rPr lang="en-US" sz="1600" u="none" strike="noStrike" dirty="0">
                          <a:effectLst/>
                          <a:latin typeface="+mj-ea"/>
                          <a:ea typeface="+mj-ea"/>
                        </a:rPr>
                        <a:t>Grove Light Sensor</a:t>
                      </a:r>
                      <a:endParaRPr lang="en-US" sz="1600" b="0" i="0" u="none" strike="noStrike" dirty="0">
                        <a:solidFill>
                          <a:srgbClr val="000000"/>
                        </a:solidFill>
                        <a:effectLst/>
                        <a:latin typeface="+mj-ea"/>
                        <a:ea typeface="+mj-ea"/>
                        <a:cs typeface="Times New Roman" panose="02020603050405020304" pitchFamily="18" charset="0"/>
                      </a:endParaRPr>
                    </a:p>
                  </a:txBody>
                  <a:tcPr marL="9525" marR="9525" marT="9525" marB="0" anchor="ctr"/>
                </a:tc>
                <a:tc>
                  <a:txBody>
                    <a:bodyPr/>
                    <a:lstStyle/>
                    <a:p>
                      <a:pPr algn="ctr" fontAlgn="ctr"/>
                      <a:r>
                        <a:rPr lang="en-US" altLang="zh-CN" sz="1600" u="none" strike="noStrike" dirty="0" err="1">
                          <a:effectLst/>
                          <a:latin typeface="+mj-ea"/>
                          <a:ea typeface="+mj-ea"/>
                        </a:rPr>
                        <a:t>TL_Light</a:t>
                      </a:r>
                      <a:endParaRPr lang="en-US" sz="1600" b="1" i="0" u="none" strike="noStrike" dirty="0">
                        <a:solidFill>
                          <a:srgbClr val="000000"/>
                        </a:solidFill>
                        <a:effectLst/>
                        <a:latin typeface="+mj-ea"/>
                        <a:ea typeface="+mj-ea"/>
                        <a:cs typeface="Times New Roman" panose="02020603050405020304" pitchFamily="18" charset="0"/>
                      </a:endParaRPr>
                    </a:p>
                  </a:txBody>
                  <a:tcPr marL="9525" marR="9525" marT="9525" marB="0" anchor="ctr"/>
                </a:tc>
                <a:tc>
                  <a:txBody>
                    <a:bodyPr/>
                    <a:lstStyle/>
                    <a:p>
                      <a:pPr algn="ctr" fontAlgn="ctr"/>
                      <a:r>
                        <a:rPr lang="en-US" sz="1400" u="none" strike="noStrike" dirty="0">
                          <a:effectLst/>
                          <a:latin typeface="+mj-ea"/>
                          <a:ea typeface="+mj-ea"/>
                        </a:rPr>
                        <a:t>https://item.taobao.com/item.htm?spm=a1z10.3-c-s.w4002-17798475645.11.6e2933dbzZbcZV&amp;id=544373791068</a:t>
                      </a:r>
                      <a:endParaRPr lang="en-US" sz="1400" b="0" i="0" u="none" strike="noStrike" dirty="0">
                        <a:solidFill>
                          <a:srgbClr val="000000"/>
                        </a:solidFill>
                        <a:effectLst/>
                        <a:latin typeface="+mj-ea"/>
                        <a:ea typeface="+mj-ea"/>
                        <a:cs typeface="Times New Roman" panose="02020603050405020304" pitchFamily="18" charset="0"/>
                      </a:endParaRPr>
                    </a:p>
                  </a:txBody>
                  <a:tcPr marL="9525" marR="9525" marT="9525" marB="0" anchor="ctr"/>
                </a:tc>
                <a:extLst>
                  <a:ext uri="{0D108BD9-81ED-4DB2-BD59-A6C34878D82A}">
                    <a16:rowId xmlns:a16="http://schemas.microsoft.com/office/drawing/2014/main" val="1119587142"/>
                  </a:ext>
                </a:extLst>
              </a:tr>
              <a:tr h="1007255">
                <a:tc>
                  <a:txBody>
                    <a:bodyPr/>
                    <a:lstStyle/>
                    <a:p>
                      <a:pPr algn="ctr" fontAlgn="ctr"/>
                      <a:r>
                        <a:rPr lang="zh-CN" altLang="en-US" sz="1600" u="none" strike="noStrike" dirty="0">
                          <a:effectLst/>
                          <a:latin typeface="+mj-ea"/>
                          <a:ea typeface="+mj-ea"/>
                        </a:rPr>
                        <a:t>外设</a:t>
                      </a:r>
                      <a:endParaRPr lang="en-US" sz="1600" b="0" i="0" u="none" strike="noStrike" dirty="0">
                        <a:solidFill>
                          <a:srgbClr val="000000"/>
                        </a:solidFill>
                        <a:effectLst/>
                        <a:latin typeface="+mj-ea"/>
                        <a:ea typeface="+mj-ea"/>
                      </a:endParaRPr>
                    </a:p>
                  </a:txBody>
                  <a:tcPr marL="9525" marR="9525" marT="9525" marB="0" anchor="ctr"/>
                </a:tc>
                <a:tc>
                  <a:txBody>
                    <a:bodyPr/>
                    <a:lstStyle/>
                    <a:p>
                      <a:pPr algn="ctr" fontAlgn="ctr"/>
                      <a:r>
                        <a:rPr lang="en-US" sz="1600" u="none" strike="noStrike" dirty="0">
                          <a:effectLst/>
                          <a:latin typeface="+mj-ea"/>
                          <a:ea typeface="+mj-ea"/>
                        </a:rPr>
                        <a:t>Grove Temperature and Humidity Sensor</a:t>
                      </a:r>
                      <a:endParaRPr lang="en-US" sz="1600" b="0" i="0" u="none" strike="noStrike" dirty="0">
                        <a:solidFill>
                          <a:srgbClr val="000000"/>
                        </a:solidFill>
                        <a:effectLst/>
                        <a:latin typeface="+mj-ea"/>
                        <a:ea typeface="+mj-ea"/>
                        <a:cs typeface="Times New Roman" panose="02020603050405020304" pitchFamily="18" charset="0"/>
                      </a:endParaRPr>
                    </a:p>
                  </a:txBody>
                  <a:tcPr marL="9525" marR="9525" marT="9525" marB="0" anchor="ctr"/>
                </a:tc>
                <a:tc>
                  <a:txBody>
                    <a:bodyPr/>
                    <a:lstStyle/>
                    <a:p>
                      <a:pPr algn="ctr" fontAlgn="ctr"/>
                      <a:r>
                        <a:rPr lang="en-US" sz="1600" u="none" strike="noStrike" dirty="0" err="1">
                          <a:effectLst/>
                          <a:latin typeface="+mj-ea"/>
                          <a:ea typeface="+mj-ea"/>
                        </a:rPr>
                        <a:t>TL_Temperature</a:t>
                      </a:r>
                      <a:endParaRPr lang="en-US" sz="1600" u="none" strike="noStrike" dirty="0">
                        <a:effectLst/>
                        <a:latin typeface="+mj-ea"/>
                        <a:ea typeface="+mj-ea"/>
                      </a:endParaRPr>
                    </a:p>
                    <a:p>
                      <a:pPr algn="ctr" fontAlgn="ctr"/>
                      <a:r>
                        <a:rPr lang="en-US" sz="1600" u="none" strike="noStrike" dirty="0" err="1">
                          <a:effectLst/>
                          <a:latin typeface="+mj-ea"/>
                          <a:ea typeface="+mj-ea"/>
                        </a:rPr>
                        <a:t>TL_Humidity</a:t>
                      </a:r>
                      <a:endParaRPr lang="en-US" sz="1600" b="1" i="0" u="none" strike="noStrike" dirty="0">
                        <a:solidFill>
                          <a:srgbClr val="000000"/>
                        </a:solidFill>
                        <a:effectLst/>
                        <a:latin typeface="+mj-ea"/>
                        <a:ea typeface="+mj-ea"/>
                        <a:cs typeface="Times New Roman" panose="02020603050405020304" pitchFamily="18" charset="0"/>
                      </a:endParaRPr>
                    </a:p>
                  </a:txBody>
                  <a:tcPr marL="9525" marR="9525" marT="9525" marB="0" anchor="ctr"/>
                </a:tc>
                <a:tc>
                  <a:txBody>
                    <a:bodyPr/>
                    <a:lstStyle/>
                    <a:p>
                      <a:pPr algn="ctr" fontAlgn="ctr"/>
                      <a:r>
                        <a:rPr lang="en-US" sz="1400" u="none" strike="noStrike" dirty="0">
                          <a:effectLst/>
                          <a:latin typeface="+mj-ea"/>
                          <a:ea typeface="+mj-ea"/>
                        </a:rPr>
                        <a:t>https://item.taobao.com/item.htm?spm=a1z09.2.0.0.310a2e8dAJ51zN&amp;id=520059997040&amp;_u=k1pckkov703e</a:t>
                      </a:r>
                      <a:endParaRPr lang="en-US" sz="1400" b="0" i="0" u="none" strike="noStrike" dirty="0">
                        <a:solidFill>
                          <a:srgbClr val="000000"/>
                        </a:solidFill>
                        <a:effectLst/>
                        <a:latin typeface="+mj-ea"/>
                        <a:ea typeface="+mj-ea"/>
                        <a:cs typeface="Times New Roman" panose="02020603050405020304" pitchFamily="18" charset="0"/>
                      </a:endParaRPr>
                    </a:p>
                  </a:txBody>
                  <a:tcPr marL="9525" marR="9525" marT="9525" marB="0" anchor="ctr"/>
                </a:tc>
                <a:extLst>
                  <a:ext uri="{0D108BD9-81ED-4DB2-BD59-A6C34878D82A}">
                    <a16:rowId xmlns:a16="http://schemas.microsoft.com/office/drawing/2014/main" val="4222216735"/>
                  </a:ext>
                </a:extLst>
              </a:tr>
              <a:tr h="826134">
                <a:tc>
                  <a:txBody>
                    <a:bodyPr/>
                    <a:lstStyle/>
                    <a:p>
                      <a:pPr algn="ctr" fontAlgn="ctr"/>
                      <a:r>
                        <a:rPr lang="zh-CN" altLang="en-US" sz="1600" u="none" strike="noStrike" dirty="0">
                          <a:effectLst/>
                          <a:latin typeface="+mj-ea"/>
                          <a:ea typeface="+mj-ea"/>
                        </a:rPr>
                        <a:t>外设</a:t>
                      </a:r>
                      <a:endParaRPr lang="en-US" sz="1600" b="0" i="0" u="none" strike="noStrike" dirty="0">
                        <a:solidFill>
                          <a:srgbClr val="000000"/>
                        </a:solidFill>
                        <a:effectLst/>
                        <a:latin typeface="+mj-ea"/>
                        <a:ea typeface="+mj-ea"/>
                      </a:endParaRPr>
                    </a:p>
                  </a:txBody>
                  <a:tcPr marL="9525" marR="9525" marT="9525" marB="0" anchor="ctr"/>
                </a:tc>
                <a:tc>
                  <a:txBody>
                    <a:bodyPr/>
                    <a:lstStyle/>
                    <a:p>
                      <a:pPr algn="ctr" fontAlgn="ctr"/>
                      <a:r>
                        <a:rPr lang="en-US" sz="1600" u="none" strike="noStrike" dirty="0">
                          <a:effectLst/>
                          <a:latin typeface="+mj-ea"/>
                          <a:ea typeface="+mj-ea"/>
                        </a:rPr>
                        <a:t>SDS018</a:t>
                      </a:r>
                      <a:endParaRPr lang="en-US" sz="1600" b="0" i="0" u="none" strike="noStrike" dirty="0">
                        <a:solidFill>
                          <a:srgbClr val="000000"/>
                        </a:solidFill>
                        <a:effectLst/>
                        <a:latin typeface="+mj-ea"/>
                        <a:ea typeface="+mj-ea"/>
                        <a:cs typeface="Times New Roman" panose="02020603050405020304" pitchFamily="18" charset="0"/>
                      </a:endParaRPr>
                    </a:p>
                  </a:txBody>
                  <a:tcPr marL="9525" marR="9525" marT="9525" marB="0" anchor="ctr"/>
                </a:tc>
                <a:tc>
                  <a:txBody>
                    <a:bodyPr/>
                    <a:lstStyle/>
                    <a:p>
                      <a:pPr algn="ctr" fontAlgn="ctr"/>
                      <a:r>
                        <a:rPr lang="en-US" sz="1600" u="none" strike="noStrike" dirty="0">
                          <a:effectLst/>
                          <a:latin typeface="+mj-ea"/>
                          <a:ea typeface="+mj-ea"/>
                        </a:rPr>
                        <a:t>TL_PM25</a:t>
                      </a:r>
                      <a:endParaRPr lang="en-US" sz="1600" b="1" i="0" u="none" strike="noStrike" dirty="0">
                        <a:solidFill>
                          <a:srgbClr val="000000"/>
                        </a:solidFill>
                        <a:effectLst/>
                        <a:latin typeface="+mj-ea"/>
                        <a:ea typeface="+mj-ea"/>
                        <a:cs typeface="Times New Roman" panose="02020603050405020304" pitchFamily="18" charset="0"/>
                      </a:endParaRPr>
                    </a:p>
                  </a:txBody>
                  <a:tcPr marL="9525" marR="9525" marT="9525" marB="0" anchor="ctr"/>
                </a:tc>
                <a:tc>
                  <a:txBody>
                    <a:bodyPr/>
                    <a:lstStyle/>
                    <a:p>
                      <a:pPr algn="ctr" fontAlgn="ctr"/>
                      <a:r>
                        <a:rPr lang="en-US" sz="1400" u="none" strike="noStrike" dirty="0">
                          <a:effectLst/>
                          <a:latin typeface="+mj-ea"/>
                          <a:ea typeface="+mj-ea"/>
                        </a:rPr>
                        <a:t>https://item.taobao.com/item.htm?spm=a1z09.2.0.0.3ff52e8d5FMsWV&amp;id=530210699388&amp;_u=k1pckkov4fa7</a:t>
                      </a:r>
                      <a:endParaRPr lang="en-US" sz="1400" b="0" i="0" u="none" strike="noStrike" dirty="0">
                        <a:solidFill>
                          <a:srgbClr val="000000"/>
                        </a:solidFill>
                        <a:effectLst/>
                        <a:latin typeface="+mj-ea"/>
                        <a:ea typeface="+mj-ea"/>
                        <a:cs typeface="Times New Roman" panose="02020603050405020304" pitchFamily="18" charset="0"/>
                      </a:endParaRPr>
                    </a:p>
                  </a:txBody>
                  <a:tcPr marL="9525" marR="9525" marT="9525" marB="0" anchor="ctr"/>
                </a:tc>
                <a:extLst>
                  <a:ext uri="{0D108BD9-81ED-4DB2-BD59-A6C34878D82A}">
                    <a16:rowId xmlns:a16="http://schemas.microsoft.com/office/drawing/2014/main" val="2727773176"/>
                  </a:ext>
                </a:extLst>
              </a:tr>
            </a:tbl>
          </a:graphicData>
        </a:graphic>
      </p:graphicFrame>
    </p:spTree>
    <p:extLst>
      <p:ext uri="{BB962C8B-B14F-4D97-AF65-F5344CB8AC3E}">
        <p14:creationId xmlns:p14="http://schemas.microsoft.com/office/powerpoint/2010/main" val="3138270579"/>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zh-CN" altLang="zh-CN" dirty="0"/>
              <a:t>开发流程</a:t>
            </a:r>
            <a:endParaRPr lang="zh-CN" altLang="en-US" dirty="0"/>
          </a:p>
        </p:txBody>
      </p:sp>
      <p:sp>
        <p:nvSpPr>
          <p:cNvPr id="3" name="内容占位符 2"/>
          <p:cNvSpPr>
            <a:spLocks noGrp="1"/>
          </p:cNvSpPr>
          <p:nvPr>
            <p:ph idx="1"/>
          </p:nvPr>
        </p:nvSpPr>
        <p:spPr/>
        <p:txBody>
          <a:bodyPr/>
          <a:lstStyle/>
          <a:p>
            <a:r>
              <a:rPr lang="zh-CN" altLang="en-US"/>
              <a:t>步骤③：获取硬件配置</a:t>
            </a:r>
            <a:endParaRPr lang="en-US" altLang="zh-CN"/>
          </a:p>
          <a:p>
            <a:pPr lvl="1"/>
            <a:r>
              <a:rPr lang="zh-CN" altLang="en-US"/>
              <a:t>硬件连接图</a:t>
            </a:r>
            <a:endParaRPr lang="zh-CN" altLang="en-US" dirty="0"/>
          </a:p>
        </p:txBody>
      </p:sp>
      <p:pic>
        <p:nvPicPr>
          <p:cNvPr id="60" name="图片 59"/>
          <p:cNvPicPr>
            <a:picLocks noChangeAspect="1"/>
          </p:cNvPicPr>
          <p:nvPr/>
        </p:nvPicPr>
        <p:blipFill>
          <a:blip r:embed="rId3"/>
          <a:stretch>
            <a:fillRect/>
          </a:stretch>
        </p:blipFill>
        <p:spPr>
          <a:xfrm>
            <a:off x="7055014" y="-1"/>
            <a:ext cx="2088988" cy="1296064"/>
          </a:xfrm>
          <a:prstGeom prst="rect">
            <a:avLst/>
          </a:prstGeom>
          <a:ln>
            <a:noFill/>
          </a:ln>
          <a:effectLst>
            <a:outerShdw blurRad="292100" dist="139700" dir="2700000" algn="tl" rotWithShape="0">
              <a:srgbClr val="333333">
                <a:alpha val="65000"/>
              </a:srgbClr>
            </a:outerShdw>
          </a:effectLst>
        </p:spPr>
      </p:pic>
      <p:pic>
        <p:nvPicPr>
          <p:cNvPr id="7" name="图片 6"/>
          <p:cNvPicPr>
            <a:picLocks noChangeAspect="1"/>
          </p:cNvPicPr>
          <p:nvPr/>
        </p:nvPicPr>
        <p:blipFill>
          <a:blip r:embed="rId4"/>
          <a:stretch>
            <a:fillRect/>
          </a:stretch>
        </p:blipFill>
        <p:spPr>
          <a:xfrm>
            <a:off x="996218" y="2286664"/>
            <a:ext cx="7048655" cy="3547893"/>
          </a:xfrm>
          <a:prstGeom prst="rect">
            <a:avLst/>
          </a:prstGeom>
        </p:spPr>
      </p:pic>
    </p:spTree>
    <p:extLst>
      <p:ext uri="{BB962C8B-B14F-4D97-AF65-F5344CB8AC3E}">
        <p14:creationId xmlns:p14="http://schemas.microsoft.com/office/powerpoint/2010/main" val="2013008743"/>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zh-CN" altLang="zh-CN" dirty="0"/>
              <a:t>开发流程</a:t>
            </a:r>
            <a:endParaRPr lang="zh-CN" altLang="en-US" dirty="0"/>
          </a:p>
        </p:txBody>
      </p:sp>
      <p:sp>
        <p:nvSpPr>
          <p:cNvPr id="3" name="内容占位符 2"/>
          <p:cNvSpPr>
            <a:spLocks noGrp="1"/>
          </p:cNvSpPr>
          <p:nvPr>
            <p:ph idx="1"/>
          </p:nvPr>
        </p:nvSpPr>
        <p:spPr/>
        <p:txBody>
          <a:bodyPr/>
          <a:lstStyle/>
          <a:p>
            <a:r>
              <a:rPr lang="zh-CN" altLang="en-US"/>
              <a:t>步骤④：组装物联网平台</a:t>
            </a:r>
            <a:endParaRPr lang="en-US" altLang="zh-CN"/>
          </a:p>
          <a:p>
            <a:pPr lvl="1"/>
            <a:r>
              <a:rPr lang="zh-CN" altLang="en-US"/>
              <a:t>购买硬件列表中的硬件</a:t>
            </a:r>
            <a:endParaRPr lang="en-US" altLang="zh-CN"/>
          </a:p>
          <a:p>
            <a:pPr lvl="1"/>
            <a:r>
              <a:rPr lang="zh-CN" altLang="en-US"/>
              <a:t>按照硬件连接示意图组装硬件平台</a:t>
            </a:r>
            <a:endParaRPr lang="zh-CN" altLang="en-US" dirty="0"/>
          </a:p>
        </p:txBody>
      </p:sp>
      <p:sp>
        <p:nvSpPr>
          <p:cNvPr id="5" name="文本框 4"/>
          <p:cNvSpPr txBox="1"/>
          <p:nvPr/>
        </p:nvSpPr>
        <p:spPr>
          <a:xfrm>
            <a:off x="1535829" y="2283099"/>
            <a:ext cx="2698175" cy="523220"/>
          </a:xfrm>
          <a:prstGeom prst="rect">
            <a:avLst/>
          </a:prstGeom>
          <a:noFill/>
        </p:spPr>
        <p:txBody>
          <a:bodyPr wrap="none" rtlCol="0">
            <a:spAutoFit/>
          </a:bodyPr>
          <a:lstStyle/>
          <a:p>
            <a:r>
              <a:rPr lang="zh-CN" altLang="en-US" sz="2800" dirty="0">
                <a:latin typeface="微软雅黑" panose="020B0503020204020204" pitchFamily="34" charset="-122"/>
                <a:ea typeface="微软雅黑" panose="020B0503020204020204" pitchFamily="34" charset="-122"/>
              </a:rPr>
              <a:t>硬件连接示意图</a:t>
            </a:r>
          </a:p>
        </p:txBody>
      </p:sp>
      <p:sp>
        <p:nvSpPr>
          <p:cNvPr id="7" name="文本框 6"/>
          <p:cNvSpPr txBox="1"/>
          <p:nvPr/>
        </p:nvSpPr>
        <p:spPr>
          <a:xfrm>
            <a:off x="5769615" y="2283099"/>
            <a:ext cx="2339102" cy="523220"/>
          </a:xfrm>
          <a:prstGeom prst="rect">
            <a:avLst/>
          </a:prstGeom>
          <a:noFill/>
        </p:spPr>
        <p:txBody>
          <a:bodyPr wrap="none" rtlCol="0">
            <a:spAutoFit/>
          </a:bodyPr>
          <a:lstStyle/>
          <a:p>
            <a:r>
              <a:rPr lang="zh-CN" altLang="en-US" sz="2800" dirty="0">
                <a:latin typeface="微软雅黑" panose="020B0503020204020204" pitchFamily="34" charset="-122"/>
                <a:ea typeface="微软雅黑" panose="020B0503020204020204" pitchFamily="34" charset="-122"/>
              </a:rPr>
              <a:t>物联网平台图</a:t>
            </a:r>
          </a:p>
        </p:txBody>
      </p:sp>
      <p:sp>
        <p:nvSpPr>
          <p:cNvPr id="8" name="文本框 7"/>
          <p:cNvSpPr txBox="1"/>
          <p:nvPr/>
        </p:nvSpPr>
        <p:spPr>
          <a:xfrm>
            <a:off x="4160911" y="6013542"/>
            <a:ext cx="2698175" cy="523220"/>
          </a:xfrm>
          <a:prstGeom prst="rect">
            <a:avLst/>
          </a:prstGeom>
          <a:noFill/>
        </p:spPr>
        <p:txBody>
          <a:bodyPr wrap="none" rtlCol="0">
            <a:spAutoFit/>
          </a:bodyPr>
          <a:lstStyle/>
          <a:p>
            <a:r>
              <a:rPr lang="zh-CN" altLang="en-US" sz="2800" dirty="0">
                <a:latin typeface="微软雅黑" panose="020B0503020204020204" pitchFamily="34" charset="-122"/>
                <a:ea typeface="微软雅黑" panose="020B0503020204020204" pitchFamily="34" charset="-122"/>
              </a:rPr>
              <a:t>购买硬件并组装</a:t>
            </a:r>
          </a:p>
        </p:txBody>
      </p:sp>
      <p:sp>
        <p:nvSpPr>
          <p:cNvPr id="9" name="下弧形箭头 8"/>
          <p:cNvSpPr/>
          <p:nvPr/>
        </p:nvSpPr>
        <p:spPr>
          <a:xfrm>
            <a:off x="3816805" y="5275757"/>
            <a:ext cx="2591318" cy="763571"/>
          </a:xfrm>
          <a:prstGeom prst="curvedUp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0" name="Picture 2" descr="IMG_20180927_100853">
            <a:extLst>
              <a:ext uri="{FF2B5EF4-FFF2-40B4-BE49-F238E27FC236}">
                <a16:creationId xmlns:a16="http://schemas.microsoft.com/office/drawing/2014/main" id="{F9A1796A-477F-42BC-A1C9-589456C48E6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81678" y="2837148"/>
            <a:ext cx="3916067" cy="244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图片 35"/>
          <p:cNvPicPr>
            <a:picLocks noChangeAspect="1"/>
          </p:cNvPicPr>
          <p:nvPr/>
        </p:nvPicPr>
        <p:blipFill>
          <a:blip r:embed="rId4"/>
          <a:stretch>
            <a:fillRect/>
          </a:stretch>
        </p:blipFill>
        <p:spPr>
          <a:xfrm>
            <a:off x="7052807" y="194"/>
            <a:ext cx="2083241" cy="1292499"/>
          </a:xfrm>
          <a:prstGeom prst="rect">
            <a:avLst/>
          </a:prstGeom>
          <a:ln>
            <a:noFill/>
          </a:ln>
          <a:effectLst>
            <a:outerShdw blurRad="292100" dist="139700" dir="2700000" algn="tl" rotWithShape="0">
              <a:srgbClr val="333333">
                <a:alpha val="65000"/>
              </a:srgbClr>
            </a:outerShdw>
          </a:effectLst>
        </p:spPr>
      </p:pic>
      <p:pic>
        <p:nvPicPr>
          <p:cNvPr id="11" name="图片 10"/>
          <p:cNvPicPr>
            <a:picLocks noChangeAspect="1"/>
          </p:cNvPicPr>
          <p:nvPr/>
        </p:nvPicPr>
        <p:blipFill>
          <a:blip r:embed="rId5"/>
          <a:stretch>
            <a:fillRect/>
          </a:stretch>
        </p:blipFill>
        <p:spPr>
          <a:xfrm>
            <a:off x="206072" y="2900942"/>
            <a:ext cx="4656835" cy="2343986"/>
          </a:xfrm>
          <a:prstGeom prst="rect">
            <a:avLst/>
          </a:prstGeom>
        </p:spPr>
      </p:pic>
    </p:spTree>
    <p:extLst>
      <p:ext uri="{BB962C8B-B14F-4D97-AF65-F5344CB8AC3E}">
        <p14:creationId xmlns:p14="http://schemas.microsoft.com/office/powerpoint/2010/main" val="4226547484"/>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zh-CN" altLang="zh-CN" dirty="0"/>
              <a:t>开发流程</a:t>
            </a:r>
            <a:endParaRPr lang="zh-CN" altLang="en-US" dirty="0"/>
          </a:p>
        </p:txBody>
      </p:sp>
      <p:sp>
        <p:nvSpPr>
          <p:cNvPr id="3" name="内容占位符 2"/>
          <p:cNvSpPr>
            <a:spLocks noGrp="1"/>
          </p:cNvSpPr>
          <p:nvPr>
            <p:ph idx="1"/>
          </p:nvPr>
        </p:nvSpPr>
        <p:spPr/>
        <p:txBody>
          <a:bodyPr/>
          <a:lstStyle/>
          <a:p>
            <a:r>
              <a:rPr lang="zh-CN" altLang="en-US"/>
              <a:t>步骤⑤：烧录应用程序</a:t>
            </a:r>
            <a:endParaRPr lang="en-US" altLang="zh-CN"/>
          </a:p>
          <a:p>
            <a:pPr lvl="1"/>
            <a:r>
              <a:rPr lang="zh-CN" altLang="en-US"/>
              <a:t>硬件平台通过</a:t>
            </a:r>
            <a:r>
              <a:rPr lang="en-US" altLang="zh-CN"/>
              <a:t>USB</a:t>
            </a:r>
            <a:r>
              <a:rPr lang="zh-CN" altLang="en-US"/>
              <a:t>线连接电脑</a:t>
            </a:r>
            <a:endParaRPr lang="en-US" altLang="zh-CN"/>
          </a:p>
          <a:p>
            <a:pPr lvl="1"/>
            <a:r>
              <a:rPr lang="zh-CN" altLang="en-US"/>
              <a:t>点击</a:t>
            </a:r>
            <a:r>
              <a:rPr lang="en-US" altLang="zh-CN"/>
              <a:t>TinyLink</a:t>
            </a:r>
            <a:r>
              <a:rPr lang="zh-CN" altLang="en-US"/>
              <a:t>客户端一键烧写按钮即可</a:t>
            </a:r>
            <a:endParaRPr lang="zh-CN" altLang="en-US" dirty="0"/>
          </a:p>
        </p:txBody>
      </p:sp>
      <p:pic>
        <p:nvPicPr>
          <p:cNvPr id="4" name="Picture 2" descr="https://pic2.zhimg.com/80/v2-7db553c5d03b241ad5209d51ca43c5a9_h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198" y="2405897"/>
            <a:ext cx="6858000" cy="369570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643844" y="5825452"/>
            <a:ext cx="4157220" cy="379591"/>
          </a:xfrm>
          <a:prstGeom prst="rect">
            <a:avLst/>
          </a:prstGeom>
          <a:noFill/>
        </p:spPr>
        <p:txBody>
          <a:bodyPr wrap="square" rtlCol="0">
            <a:spAutoFit/>
          </a:bodyPr>
          <a:lstStyle/>
          <a:p>
            <a:endParaRPr lang="zh-CN" altLang="en-US" sz="2800" dirty="0">
              <a:latin typeface="微软雅黑" panose="020B0503020204020204" pitchFamily="34" charset="-122"/>
              <a:ea typeface="微软雅黑" panose="020B0503020204020204" pitchFamily="34" charset="-122"/>
            </a:endParaRPr>
          </a:p>
        </p:txBody>
      </p:sp>
      <p:pic>
        <p:nvPicPr>
          <p:cNvPr id="32" name="图片 31"/>
          <p:cNvPicPr>
            <a:picLocks noChangeAspect="1"/>
          </p:cNvPicPr>
          <p:nvPr/>
        </p:nvPicPr>
        <p:blipFill>
          <a:blip r:embed="rId3"/>
          <a:stretch>
            <a:fillRect/>
          </a:stretch>
        </p:blipFill>
        <p:spPr>
          <a:xfrm>
            <a:off x="7052808" y="0"/>
            <a:ext cx="2091192" cy="1297431"/>
          </a:xfrm>
          <a:prstGeom prst="rect">
            <a:avLst/>
          </a:prstGeom>
          <a:ln>
            <a:noFill/>
          </a:ln>
          <a:effectLst>
            <a:outerShdw blurRad="292100" dist="139700" dir="2700000" algn="tl" rotWithShape="0">
              <a:srgbClr val="333333">
                <a:alpha val="65000"/>
              </a:srgbClr>
            </a:outerShdw>
          </a:effectLst>
        </p:spPr>
      </p:pic>
      <p:grpSp>
        <p:nvGrpSpPr>
          <p:cNvPr id="7" name="组合 6"/>
          <p:cNvGrpSpPr/>
          <p:nvPr/>
        </p:nvGrpSpPr>
        <p:grpSpPr>
          <a:xfrm>
            <a:off x="4892159" y="4878457"/>
            <a:ext cx="2171026" cy="1687100"/>
            <a:chOff x="4991067" y="5154627"/>
            <a:chExt cx="1968084" cy="1529394"/>
          </a:xfrm>
        </p:grpSpPr>
        <p:pic>
          <p:nvPicPr>
            <p:cNvPr id="5" name="Picture 4" descr="https://pic3.zhimg.com/80/v2-643a0d983d30ffaed3407e097996796d_hd.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7025" t="13537" r="20921" b="11741"/>
            <a:stretch/>
          </p:blipFill>
          <p:spPr bwMode="auto">
            <a:xfrm>
              <a:off x="4992787" y="5154627"/>
              <a:ext cx="1966364" cy="152939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8" name="Picture 12" descr="See the source image"/>
            <p:cNvPicPr>
              <a:picLocks noChangeAspect="1" noChangeArrowheads="1"/>
            </p:cNvPicPr>
            <p:nvPr/>
          </p:nvPicPr>
          <p:blipFill rotWithShape="1">
            <a:blip r:embed="rId5" cstate="print">
              <a:extLst>
                <a:ext uri="{BEBA8EAE-BF5A-486C-A8C5-ECC9F3942E4B}">
                  <a14:imgProps xmlns:a14="http://schemas.microsoft.com/office/drawing/2010/main">
                    <a14:imgLayer r:embed="rId6">
                      <a14:imgEffect>
                        <a14:backgroundRemoval t="0" b="97727" l="4878" r="92683">
                          <a14:foregroundMark x1="60976" y1="46591" x2="82114" y2="64015"/>
                        </a14:backgroundRemoval>
                      </a14:imgEffect>
                    </a14:imgLayer>
                  </a14:imgProps>
                </a:ext>
                <a:ext uri="{28A0092B-C50C-407E-A947-70E740481C1C}">
                  <a14:useLocalDpi xmlns:a14="http://schemas.microsoft.com/office/drawing/2010/main" val="0"/>
                </a:ext>
              </a:extLst>
            </a:blip>
            <a:srcRect l="48684"/>
            <a:stretch/>
          </p:blipFill>
          <p:spPr bwMode="auto">
            <a:xfrm>
              <a:off x="4991067" y="5484888"/>
              <a:ext cx="580923" cy="81022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562340967"/>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en-US" altLang="zh-CN" dirty="0" err="1"/>
              <a:t>TinyLink</a:t>
            </a:r>
            <a:r>
              <a:rPr lang="zh-CN" altLang="en-US" dirty="0"/>
              <a:t>特点小结</a:t>
            </a:r>
          </a:p>
        </p:txBody>
      </p:sp>
      <p:sp>
        <p:nvSpPr>
          <p:cNvPr id="5" name="内容占位符 2"/>
          <p:cNvSpPr>
            <a:spLocks noGrp="1"/>
          </p:cNvSpPr>
          <p:nvPr>
            <p:ph idx="1"/>
          </p:nvPr>
        </p:nvSpPr>
        <p:spPr/>
        <p:txBody>
          <a:bodyPr/>
          <a:lstStyle/>
          <a:p>
            <a:r>
              <a:rPr lang="zh-CN" altLang="en-US"/>
              <a:t>开发模式转变</a:t>
            </a:r>
            <a:endParaRPr lang="en-US" altLang="zh-CN"/>
          </a:p>
          <a:p>
            <a:pPr lvl="1"/>
            <a:r>
              <a:rPr lang="zh-CN" altLang="en-US"/>
              <a:t>自顶向下 </a:t>
            </a:r>
            <a:r>
              <a:rPr lang="en-US" altLang="zh-CN"/>
              <a:t>vs </a:t>
            </a:r>
            <a:r>
              <a:rPr lang="zh-CN" altLang="en-US"/>
              <a:t>自底向上</a:t>
            </a:r>
            <a:endParaRPr lang="en-US" altLang="zh-CN"/>
          </a:p>
          <a:p>
            <a:r>
              <a:rPr lang="zh-CN" altLang="en-US"/>
              <a:t>自动</a:t>
            </a:r>
            <a:endParaRPr lang="en-US" altLang="zh-CN"/>
          </a:p>
          <a:p>
            <a:pPr lvl="1"/>
            <a:r>
              <a:rPr lang="zh-CN" altLang="en-US"/>
              <a:t>自动生成硬件配置和二进制代码</a:t>
            </a:r>
            <a:endParaRPr lang="en-US" altLang="zh-CN"/>
          </a:p>
          <a:p>
            <a:pPr lvl="1"/>
            <a:r>
              <a:rPr lang="zh-CN" altLang="en-US"/>
              <a:t>自动接入物联网平台，如</a:t>
            </a:r>
            <a:r>
              <a:rPr lang="en-US" altLang="zh-CN"/>
              <a:t>IBM Waston IoT, OneNet</a:t>
            </a:r>
          </a:p>
          <a:p>
            <a:pPr lvl="1"/>
            <a:r>
              <a:rPr lang="zh-CN" altLang="en-US"/>
              <a:t>并能优化指定目标，如价格、功耗</a:t>
            </a:r>
            <a:endParaRPr lang="en-US" altLang="zh-CN"/>
          </a:p>
          <a:p>
            <a:r>
              <a:rPr lang="zh-CN" altLang="en-US"/>
              <a:t>简单</a:t>
            </a:r>
            <a:endParaRPr lang="en-US" altLang="zh-CN"/>
          </a:p>
          <a:p>
            <a:pPr lvl="1"/>
            <a:r>
              <a:rPr lang="en-US" altLang="zh-CN"/>
              <a:t>TinyLink</a:t>
            </a:r>
            <a:r>
              <a:rPr lang="zh-CN" altLang="en-US"/>
              <a:t>编程简单 （</a:t>
            </a:r>
            <a:r>
              <a:rPr lang="en-US" altLang="zh-CN"/>
              <a:t>Arduino setup/loop, TinyLink APIs</a:t>
            </a:r>
            <a:r>
              <a:rPr lang="zh-CN" altLang="en-US"/>
              <a:t>）</a:t>
            </a:r>
            <a:endParaRPr lang="en-US" altLang="zh-CN"/>
          </a:p>
          <a:p>
            <a:pPr lvl="1"/>
            <a:r>
              <a:rPr lang="zh-CN" altLang="en-US"/>
              <a:t>云编译：不需要复杂的本地编译环境</a:t>
            </a:r>
            <a:endParaRPr lang="en-US" altLang="zh-CN"/>
          </a:p>
          <a:p>
            <a:endParaRPr lang="en-US" altLang="zh-CN"/>
          </a:p>
          <a:p>
            <a:pPr lvl="1"/>
            <a:endParaRPr lang="en-US" altLang="zh-CN" dirty="0"/>
          </a:p>
        </p:txBody>
      </p:sp>
      <p:sp>
        <p:nvSpPr>
          <p:cNvPr id="28" name="灯片编号占位符 4"/>
          <p:cNvSpPr txBox="1">
            <a:spLocks noChangeArrowheads="1"/>
          </p:cNvSpPr>
          <p:nvPr/>
        </p:nvSpPr>
        <p:spPr bwMode="auto">
          <a:xfrm>
            <a:off x="8229600" y="6553200"/>
            <a:ext cx="762000" cy="228600"/>
          </a:xfrm>
          <a:prstGeom prst="rect">
            <a:avLst/>
          </a:prstGeom>
          <a:noFill/>
          <a:ln w="9525">
            <a:noFill/>
            <a:miter lim="800000"/>
            <a:headEnd/>
            <a:tailEnd/>
          </a:ln>
        </p:spPr>
        <p:txBody>
          <a:bodyPr lIns="92075" tIns="46038" rIns="92075" bIns="46038" anchor="ctr"/>
          <a:lstStyle/>
          <a:p>
            <a:pPr algn="r"/>
            <a:fld id="{5C42246B-9AD6-4994-8CF2-B420465BEF68}" type="slidenum">
              <a:rPr lang="en-US" altLang="zh-CN" sz="1800" baseline="0">
                <a:solidFill>
                  <a:schemeClr val="folHlink"/>
                </a:solidFill>
                <a:latin typeface="Monotype Corsiva" pitchFamily="66" charset="0"/>
              </a:rPr>
              <a:pPr algn="r"/>
              <a:t>64</a:t>
            </a:fld>
            <a:endParaRPr lang="zh-CN" altLang="zh-CN" sz="1800" baseline="0" dirty="0">
              <a:solidFill>
                <a:schemeClr val="folHlink"/>
              </a:solidFill>
              <a:latin typeface="Monotype Corsiva" pitchFamily="66"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135327705"/>
              </p:ext>
            </p:extLst>
          </p:nvPr>
        </p:nvGraphicFramePr>
        <p:xfrm>
          <a:off x="504933" y="5092531"/>
          <a:ext cx="5119449" cy="1689269"/>
        </p:xfrm>
        <a:graphic>
          <a:graphicData uri="http://schemas.openxmlformats.org/drawingml/2006/table">
            <a:tbl>
              <a:tblPr firstRow="1" bandRow="1">
                <a:tableStyleId>{93296810-A885-4BE3-A3E7-6D5BEEA58F35}</a:tableStyleId>
              </a:tblPr>
              <a:tblGrid>
                <a:gridCol w="3268980">
                  <a:extLst>
                    <a:ext uri="{9D8B030D-6E8A-4147-A177-3AD203B41FA5}">
                      <a16:colId xmlns:a16="http://schemas.microsoft.com/office/drawing/2014/main" val="4068232762"/>
                    </a:ext>
                  </a:extLst>
                </a:gridCol>
                <a:gridCol w="1850469">
                  <a:extLst>
                    <a:ext uri="{9D8B030D-6E8A-4147-A177-3AD203B41FA5}">
                      <a16:colId xmlns:a16="http://schemas.microsoft.com/office/drawing/2014/main" val="3285077616"/>
                    </a:ext>
                  </a:extLst>
                </a:gridCol>
              </a:tblGrid>
              <a:tr h="348149">
                <a:tc>
                  <a:txBody>
                    <a:bodyPr/>
                    <a:lstStyle/>
                    <a:p>
                      <a:pPr algn="ctr"/>
                      <a:r>
                        <a:rPr lang="zh-CN" altLang="en-US" sz="1600" dirty="0"/>
                        <a:t>客户端</a:t>
                      </a:r>
                      <a:endParaRPr lang="zh-CN" altLang="en-US" sz="1600" dirty="0">
                        <a:latin typeface="+mj-ea"/>
                        <a:ea typeface="+mj-ea"/>
                      </a:endParaRPr>
                    </a:p>
                  </a:txBody>
                  <a:tcPr anchor="ctr"/>
                </a:tc>
                <a:tc>
                  <a:txBody>
                    <a:bodyPr/>
                    <a:lstStyle/>
                    <a:p>
                      <a:pPr algn="ctr"/>
                      <a:r>
                        <a:rPr lang="zh-CN" altLang="en-US" sz="1600" dirty="0"/>
                        <a:t>大小</a:t>
                      </a:r>
                      <a:endParaRPr lang="zh-CN" altLang="en-US" sz="1600" dirty="0">
                        <a:latin typeface="+mj-ea"/>
                        <a:ea typeface="+mj-ea"/>
                      </a:endParaRPr>
                    </a:p>
                  </a:txBody>
                  <a:tcPr anchor="ctr"/>
                </a:tc>
                <a:extLst>
                  <a:ext uri="{0D108BD9-81ED-4DB2-BD59-A6C34878D82A}">
                    <a16:rowId xmlns:a16="http://schemas.microsoft.com/office/drawing/2014/main" val="1865950845"/>
                  </a:ext>
                </a:extLst>
              </a:tr>
              <a:tr h="308527">
                <a:tc>
                  <a:txBody>
                    <a:bodyPr/>
                    <a:lstStyle/>
                    <a:p>
                      <a:pPr algn="ctr"/>
                      <a:r>
                        <a:rPr lang="en-US" altLang="zh-CN" sz="1600" dirty="0"/>
                        <a:t>Arduino IDE + </a:t>
                      </a:r>
                      <a:r>
                        <a:rPr lang="en-US" altLang="zh-CN" sz="1600" dirty="0" err="1"/>
                        <a:t>LinkIt</a:t>
                      </a:r>
                      <a:r>
                        <a:rPr lang="en-US" altLang="zh-CN" sz="1600" dirty="0"/>
                        <a:t> One</a:t>
                      </a:r>
                      <a:r>
                        <a:rPr lang="zh-CN" altLang="en-US" sz="1600" dirty="0"/>
                        <a:t>包</a:t>
                      </a:r>
                      <a:endParaRPr lang="zh-CN" altLang="en-US" sz="1600" dirty="0">
                        <a:latin typeface="+mj-ea"/>
                        <a:ea typeface="+mj-ea"/>
                      </a:endParaRPr>
                    </a:p>
                  </a:txBody>
                  <a:tcPr anchor="ctr"/>
                </a:tc>
                <a:tc>
                  <a:txBody>
                    <a:bodyPr/>
                    <a:lstStyle/>
                    <a:p>
                      <a:pPr algn="ctr"/>
                      <a:r>
                        <a:rPr lang="en-US" altLang="zh-CN" sz="1600" dirty="0"/>
                        <a:t>420 MB</a:t>
                      </a:r>
                      <a:endParaRPr lang="zh-CN" altLang="en-US" sz="1600" dirty="0">
                        <a:latin typeface="+mj-ea"/>
                        <a:ea typeface="+mj-ea"/>
                      </a:endParaRPr>
                    </a:p>
                  </a:txBody>
                  <a:tcPr anchor="ctr"/>
                </a:tc>
                <a:extLst>
                  <a:ext uri="{0D108BD9-81ED-4DB2-BD59-A6C34878D82A}">
                    <a16:rowId xmlns:a16="http://schemas.microsoft.com/office/drawing/2014/main" val="880127284"/>
                  </a:ext>
                </a:extLst>
              </a:tr>
              <a:tr h="308527">
                <a:tc>
                  <a:txBody>
                    <a:bodyPr/>
                    <a:lstStyle/>
                    <a:p>
                      <a:pPr algn="ctr"/>
                      <a:r>
                        <a:rPr lang="zh-CN" altLang="en-US" sz="1600" dirty="0"/>
                        <a:t>树莓派交叉编译链</a:t>
                      </a:r>
                      <a:endParaRPr lang="zh-CN" altLang="en-US" sz="1600" dirty="0">
                        <a:latin typeface="+mj-ea"/>
                        <a:ea typeface="+mj-ea"/>
                      </a:endParaRPr>
                    </a:p>
                  </a:txBody>
                  <a:tcPr anchor="ctr"/>
                </a:tc>
                <a:tc>
                  <a:txBody>
                    <a:bodyPr/>
                    <a:lstStyle/>
                    <a:p>
                      <a:pPr algn="ctr"/>
                      <a:r>
                        <a:rPr lang="en-US" altLang="zh-CN" sz="1600" dirty="0"/>
                        <a:t>266 MB</a:t>
                      </a:r>
                      <a:endParaRPr lang="zh-CN" altLang="en-US" sz="1600" dirty="0">
                        <a:latin typeface="+mj-ea"/>
                        <a:ea typeface="+mj-ea"/>
                      </a:endParaRPr>
                    </a:p>
                  </a:txBody>
                  <a:tcPr anchor="ctr"/>
                </a:tc>
                <a:extLst>
                  <a:ext uri="{0D108BD9-81ED-4DB2-BD59-A6C34878D82A}">
                    <a16:rowId xmlns:a16="http://schemas.microsoft.com/office/drawing/2014/main" val="286806922"/>
                  </a:ext>
                </a:extLst>
              </a:tr>
              <a:tr h="308527">
                <a:tc>
                  <a:txBody>
                    <a:bodyPr/>
                    <a:lstStyle/>
                    <a:p>
                      <a:pPr algn="ctr"/>
                      <a:r>
                        <a:rPr lang="en-US" altLang="zh-CN" sz="1600" dirty="0"/>
                        <a:t>BBB</a:t>
                      </a:r>
                      <a:r>
                        <a:rPr lang="zh-CN" altLang="en-US" sz="1600" dirty="0"/>
                        <a:t>交叉编译链</a:t>
                      </a:r>
                      <a:endParaRPr lang="zh-CN" altLang="en-US" sz="1600" dirty="0">
                        <a:latin typeface="+mj-ea"/>
                        <a:ea typeface="+mj-ea"/>
                      </a:endParaRPr>
                    </a:p>
                  </a:txBody>
                  <a:tcPr anchor="ctr"/>
                </a:tc>
                <a:tc>
                  <a:txBody>
                    <a:bodyPr/>
                    <a:lstStyle/>
                    <a:p>
                      <a:pPr algn="ctr"/>
                      <a:r>
                        <a:rPr lang="en-US" altLang="zh-CN" sz="1600" dirty="0"/>
                        <a:t>302 MB</a:t>
                      </a:r>
                      <a:endParaRPr lang="zh-CN" altLang="en-US" sz="1600" dirty="0">
                        <a:latin typeface="+mj-ea"/>
                        <a:ea typeface="+mj-ea"/>
                      </a:endParaRPr>
                    </a:p>
                  </a:txBody>
                  <a:tcPr anchor="ctr"/>
                </a:tc>
                <a:extLst>
                  <a:ext uri="{0D108BD9-81ED-4DB2-BD59-A6C34878D82A}">
                    <a16:rowId xmlns:a16="http://schemas.microsoft.com/office/drawing/2014/main" val="1112482392"/>
                  </a:ext>
                </a:extLst>
              </a:tr>
              <a:tr h="308527">
                <a:tc>
                  <a:txBody>
                    <a:bodyPr/>
                    <a:lstStyle/>
                    <a:p>
                      <a:pPr algn="ctr"/>
                      <a:r>
                        <a:rPr lang="en-US" altLang="zh-CN" sz="1600" dirty="0"/>
                        <a:t>TinyLink</a:t>
                      </a:r>
                      <a:r>
                        <a:rPr lang="zh-CN" altLang="en-US" sz="1600" dirty="0"/>
                        <a:t>客户端</a:t>
                      </a:r>
                      <a:endParaRPr lang="zh-CN" altLang="en-US" sz="1600" dirty="0">
                        <a:latin typeface="+mj-ea"/>
                        <a:ea typeface="+mj-ea"/>
                      </a:endParaRPr>
                    </a:p>
                  </a:txBody>
                  <a:tcPr anchor="ctr"/>
                </a:tc>
                <a:tc>
                  <a:txBody>
                    <a:bodyPr/>
                    <a:lstStyle/>
                    <a:p>
                      <a:pPr algn="ctr"/>
                      <a:r>
                        <a:rPr lang="en-US" altLang="zh-CN" sz="1600" dirty="0"/>
                        <a:t>69 MB</a:t>
                      </a:r>
                      <a:endParaRPr lang="zh-CN" altLang="en-US" sz="1600" b="1" dirty="0">
                        <a:solidFill>
                          <a:srgbClr val="C00000"/>
                        </a:solidFill>
                        <a:latin typeface="+mj-ea"/>
                        <a:ea typeface="+mj-ea"/>
                      </a:endParaRPr>
                    </a:p>
                  </a:txBody>
                  <a:tcPr anchor="ctr"/>
                </a:tc>
                <a:extLst>
                  <a:ext uri="{0D108BD9-81ED-4DB2-BD59-A6C34878D82A}">
                    <a16:rowId xmlns:a16="http://schemas.microsoft.com/office/drawing/2014/main" val="3927716034"/>
                  </a:ext>
                </a:extLst>
              </a:tr>
            </a:tbl>
          </a:graphicData>
        </a:graphic>
      </p:graphicFrame>
      <p:grpSp>
        <p:nvGrpSpPr>
          <p:cNvPr id="7" name="组合 6"/>
          <p:cNvGrpSpPr/>
          <p:nvPr/>
        </p:nvGrpSpPr>
        <p:grpSpPr>
          <a:xfrm>
            <a:off x="6031345" y="5000731"/>
            <a:ext cx="2571755" cy="1781069"/>
            <a:chOff x="936799" y="1076798"/>
            <a:chExt cx="7633203" cy="5286375"/>
          </a:xfrm>
        </p:grpSpPr>
        <p:pic>
          <p:nvPicPr>
            <p:cNvPr id="8" name="Picture 2" descr="相关图片"/>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6800" y="1076798"/>
              <a:ext cx="7086600" cy="528637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相关图片"/>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119" t="9142" r="1388" b="10857"/>
            <a:stretch/>
          </p:blipFill>
          <p:spPr bwMode="auto">
            <a:xfrm>
              <a:off x="936799" y="3578261"/>
              <a:ext cx="1584653" cy="132756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0" descr="“linkit one”的图片搜索结果"/>
            <p:cNvPicPr>
              <a:picLocks noChangeAspect="1" noChangeArrowheads="1"/>
            </p:cNvPicPr>
            <p:nvPr/>
          </p:nvPicPr>
          <p:blipFill>
            <a:blip r:embed="rId5" cstate="print">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rot="20979695">
              <a:off x="1735524" y="4060051"/>
              <a:ext cx="2510018" cy="188251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2" descr="“raspberry”的图片搜索结果"/>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774679" y="4548161"/>
              <a:ext cx="1560966" cy="156096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4" descr="“beaglebone black”的图片搜索结果"/>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487292" y="4398383"/>
              <a:ext cx="1660241" cy="139128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6" descr="“mbed m0”的图片搜索结果"/>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r="10646"/>
            <a:stretch/>
          </p:blipFill>
          <p:spPr bwMode="auto">
            <a:xfrm flipH="1">
              <a:off x="6993909" y="3680071"/>
              <a:ext cx="1576093" cy="132123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078467419"/>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zh-CN" altLang="en-US" dirty="0"/>
              <a:t>推荐系统</a:t>
            </a:r>
            <a:endParaRPr lang="en-US" altLang="zh-CN" dirty="0"/>
          </a:p>
        </p:txBody>
      </p:sp>
      <p:sp>
        <p:nvSpPr>
          <p:cNvPr id="3" name="内容占位符 2"/>
          <p:cNvSpPr>
            <a:spLocks noGrp="1"/>
          </p:cNvSpPr>
          <p:nvPr>
            <p:ph idx="1"/>
          </p:nvPr>
        </p:nvSpPr>
        <p:spPr/>
        <p:txBody>
          <a:bodyPr/>
          <a:lstStyle/>
          <a:p>
            <a:r>
              <a:rPr lang="zh-CN" altLang="en-US"/>
              <a:t>为用户推荐可实现相同功能的不同硬件平台</a:t>
            </a:r>
            <a:endParaRPr lang="en-US" altLang="zh-CN"/>
          </a:p>
          <a:p>
            <a:r>
              <a:rPr lang="zh-CN" altLang="en-US"/>
              <a:t>上述例子，选择</a:t>
            </a:r>
            <a:r>
              <a:rPr lang="en-US" altLang="zh-CN"/>
              <a:t>LinkIt One</a:t>
            </a:r>
            <a:r>
              <a:rPr lang="zh-CN" altLang="en-US"/>
              <a:t>平台后，推荐了</a:t>
            </a:r>
            <a:r>
              <a:rPr lang="en-US" altLang="zh-CN"/>
              <a:t>34</a:t>
            </a:r>
            <a:r>
              <a:rPr lang="zh-CN" altLang="en-US"/>
              <a:t>种不同可行硬件方案，其中</a:t>
            </a:r>
            <a:r>
              <a:rPr lang="en-US" altLang="zh-CN"/>
              <a:t>TinyLink</a:t>
            </a:r>
            <a:r>
              <a:rPr lang="zh-CN" altLang="en-US"/>
              <a:t>目前可支持编译的有</a:t>
            </a:r>
            <a:r>
              <a:rPr lang="en-US" altLang="zh-CN"/>
              <a:t>8</a:t>
            </a:r>
            <a:r>
              <a:rPr lang="zh-CN" altLang="en-US"/>
              <a:t>种</a:t>
            </a:r>
            <a:endParaRPr lang="en-US" altLang="zh-CN"/>
          </a:p>
          <a:p>
            <a:endParaRPr lang="zh-CN" altLang="en-US" dirty="0"/>
          </a:p>
        </p:txBody>
      </p:sp>
      <p:pic>
        <p:nvPicPr>
          <p:cNvPr id="6" name="图片 5"/>
          <p:cNvPicPr>
            <a:picLocks noChangeAspect="1"/>
          </p:cNvPicPr>
          <p:nvPr/>
        </p:nvPicPr>
        <p:blipFill>
          <a:blip r:embed="rId3"/>
          <a:stretch>
            <a:fillRect/>
          </a:stretch>
        </p:blipFill>
        <p:spPr>
          <a:xfrm>
            <a:off x="1274445" y="2453240"/>
            <a:ext cx="6595110" cy="4146430"/>
          </a:xfrm>
          <a:prstGeom prst="rect">
            <a:avLst/>
          </a:prstGeom>
        </p:spPr>
      </p:pic>
    </p:spTree>
    <p:extLst>
      <p:ext uri="{BB962C8B-B14F-4D97-AF65-F5344CB8AC3E}">
        <p14:creationId xmlns:p14="http://schemas.microsoft.com/office/powerpoint/2010/main" val="3596394572"/>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zh-CN" altLang="en-US" dirty="0"/>
              <a:t>功能描述</a:t>
            </a:r>
          </a:p>
        </p:txBody>
      </p:sp>
      <p:sp>
        <p:nvSpPr>
          <p:cNvPr id="3" name="内容占位符 2"/>
          <p:cNvSpPr>
            <a:spLocks noGrp="1"/>
          </p:cNvSpPr>
          <p:nvPr>
            <p:ph idx="1"/>
          </p:nvPr>
        </p:nvSpPr>
        <p:spPr/>
        <p:txBody>
          <a:bodyPr/>
          <a:lstStyle/>
          <a:p>
            <a:r>
              <a:rPr lang="zh-CN" altLang="en-US"/>
              <a:t>支持设备列表</a:t>
            </a:r>
            <a:endParaRPr lang="zh-CN" altLang="en-US" dirty="0"/>
          </a:p>
        </p:txBody>
      </p:sp>
      <p:graphicFrame>
        <p:nvGraphicFramePr>
          <p:cNvPr id="4" name="内容占位符 3"/>
          <p:cNvGraphicFramePr>
            <a:graphicFrameLocks/>
          </p:cNvGraphicFramePr>
          <p:nvPr>
            <p:extLst>
              <p:ext uri="{D42A27DB-BD31-4B8C-83A1-F6EECF244321}">
                <p14:modId xmlns:p14="http://schemas.microsoft.com/office/powerpoint/2010/main" val="2587888140"/>
              </p:ext>
            </p:extLst>
          </p:nvPr>
        </p:nvGraphicFramePr>
        <p:xfrm>
          <a:off x="390836" y="1591708"/>
          <a:ext cx="3910654" cy="2654550"/>
        </p:xfrm>
        <a:graphic>
          <a:graphicData uri="http://schemas.openxmlformats.org/drawingml/2006/table">
            <a:tbl>
              <a:tblPr firstCol="1">
                <a:tableStyleId>{93296810-A885-4BE3-A3E7-6D5BEEA58F35}</a:tableStyleId>
              </a:tblPr>
              <a:tblGrid>
                <a:gridCol w="877362">
                  <a:extLst>
                    <a:ext uri="{9D8B030D-6E8A-4147-A177-3AD203B41FA5}">
                      <a16:colId xmlns:a16="http://schemas.microsoft.com/office/drawing/2014/main" val="3103261556"/>
                    </a:ext>
                  </a:extLst>
                </a:gridCol>
                <a:gridCol w="3033292">
                  <a:extLst>
                    <a:ext uri="{9D8B030D-6E8A-4147-A177-3AD203B41FA5}">
                      <a16:colId xmlns:a16="http://schemas.microsoft.com/office/drawing/2014/main" val="1793251090"/>
                    </a:ext>
                  </a:extLst>
                </a:gridCol>
              </a:tblGrid>
              <a:tr h="271061">
                <a:tc rowSpan="6">
                  <a:txBody>
                    <a:bodyPr/>
                    <a:lstStyle/>
                    <a:p>
                      <a:pPr algn="ctr" fontAlgn="ctr"/>
                      <a:r>
                        <a:rPr lang="zh-CN" altLang="en-US" sz="1400" u="none" strike="noStrike" dirty="0">
                          <a:effectLst/>
                          <a:latin typeface="+mj-ea"/>
                          <a:ea typeface="+mj-ea"/>
                        </a:rPr>
                        <a:t>开发板                                                                                              </a:t>
                      </a:r>
                      <a:endParaRPr lang="zh-CN" altLang="en-US" sz="1400" b="0" i="0" u="none" strike="noStrike" dirty="0">
                        <a:solidFill>
                          <a:srgbClr val="000000"/>
                        </a:solidFill>
                        <a:effectLst/>
                        <a:latin typeface="+mj-ea"/>
                        <a:ea typeface="+mj-ea"/>
                        <a:cs typeface="Times New Roman" panose="02020603050405020304" pitchFamily="18" charset="0"/>
                      </a:endParaRPr>
                    </a:p>
                  </a:txBody>
                  <a:tcPr marL="7989" marR="7989" marT="7989" marB="0" anchor="ctr"/>
                </a:tc>
                <a:tc>
                  <a:txBody>
                    <a:bodyPr/>
                    <a:lstStyle/>
                    <a:p>
                      <a:pPr algn="l" fontAlgn="ctr"/>
                      <a:r>
                        <a:rPr lang="en-US" sz="1400" u="none" strike="noStrike" dirty="0">
                          <a:effectLst/>
                          <a:latin typeface="+mj-ea"/>
                          <a:ea typeface="+mj-ea"/>
                        </a:rPr>
                        <a:t>Arduino UNO/Mega2560/DUE</a:t>
                      </a:r>
                      <a:endParaRPr lang="en-US" sz="1400" b="0" i="0" u="none" strike="noStrike" dirty="0">
                        <a:solidFill>
                          <a:srgbClr val="000000"/>
                        </a:solidFill>
                        <a:effectLst/>
                        <a:latin typeface="+mj-ea"/>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2822336330"/>
                  </a:ext>
                </a:extLst>
              </a:tr>
              <a:tr h="267677">
                <a:tc vMerge="1">
                  <a:txBody>
                    <a:bodyPr/>
                    <a:lstStyle/>
                    <a:p>
                      <a:endParaRPr lang="zh-CN" altLang="en-US"/>
                    </a:p>
                  </a:txBody>
                  <a:tcPr/>
                </a:tc>
                <a:tc>
                  <a:txBody>
                    <a:bodyPr/>
                    <a:lstStyle/>
                    <a:p>
                      <a:pPr algn="l" fontAlgn="ctr"/>
                      <a:r>
                        <a:rPr lang="en-US" sz="1400" u="none" strike="noStrike" dirty="0" err="1">
                          <a:effectLst/>
                          <a:latin typeface="+mj-ea"/>
                          <a:ea typeface="+mj-ea"/>
                        </a:rPr>
                        <a:t>LinkIt</a:t>
                      </a:r>
                      <a:r>
                        <a:rPr lang="en-US" sz="1400" u="none" strike="noStrike" dirty="0">
                          <a:effectLst/>
                          <a:latin typeface="+mj-ea"/>
                          <a:ea typeface="+mj-ea"/>
                        </a:rPr>
                        <a:t> One/Smart</a:t>
                      </a:r>
                      <a:r>
                        <a:rPr lang="en-US" sz="1400" u="none" strike="noStrike" baseline="0" dirty="0">
                          <a:effectLst/>
                          <a:latin typeface="+mj-ea"/>
                          <a:ea typeface="+mj-ea"/>
                        </a:rPr>
                        <a:t> 7688</a:t>
                      </a:r>
                      <a:endParaRPr lang="en-US" sz="1400" b="0" i="0" u="none" strike="noStrike" dirty="0">
                        <a:solidFill>
                          <a:srgbClr val="000000"/>
                        </a:solidFill>
                        <a:effectLst/>
                        <a:latin typeface="+mj-ea"/>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3010685074"/>
                  </a:ext>
                </a:extLst>
              </a:tr>
              <a:tr h="265723">
                <a:tc vMerge="1">
                  <a:txBody>
                    <a:bodyPr/>
                    <a:lstStyle/>
                    <a:p>
                      <a:pPr algn="ctr" fontAlgn="ctr"/>
                      <a:endParaRPr lang="zh-CN" altLang="en-US" sz="1200" b="0" i="0" u="none" strike="noStrike" dirty="0">
                        <a:solidFill>
                          <a:srgbClr val="000000"/>
                        </a:solidFill>
                        <a:effectLst/>
                        <a:latin typeface="等线" panose="02010600030101010101" pitchFamily="2" charset="-122"/>
                        <a:ea typeface="等线" panose="02010600030101010101" pitchFamily="2" charset="-122"/>
                      </a:endParaRPr>
                    </a:p>
                  </a:txBody>
                  <a:tcPr marL="7989" marR="7989" marT="7989" marB="0" anchor="ctr"/>
                </a:tc>
                <a:tc>
                  <a:txBody>
                    <a:bodyPr/>
                    <a:lstStyle/>
                    <a:p>
                      <a:pPr algn="l" fontAlgn="ctr"/>
                      <a:r>
                        <a:rPr lang="zh-CN" altLang="en-US" sz="1400" u="none" strike="noStrike" dirty="0">
                          <a:effectLst/>
                          <a:latin typeface="+mj-ea"/>
                          <a:ea typeface="+mj-ea"/>
                        </a:rPr>
                        <a:t>树莓派 </a:t>
                      </a:r>
                      <a:r>
                        <a:rPr lang="en-US" altLang="zh-CN" sz="1400" u="none" strike="noStrike" dirty="0">
                          <a:effectLst/>
                          <a:latin typeface="+mj-ea"/>
                          <a:ea typeface="+mj-ea"/>
                        </a:rPr>
                        <a:t>2/3</a:t>
                      </a:r>
                      <a:endParaRPr lang="zh-CN" altLang="en-US" sz="1400" b="0" i="0" u="none" strike="noStrike" dirty="0">
                        <a:solidFill>
                          <a:srgbClr val="000000"/>
                        </a:solidFill>
                        <a:effectLst/>
                        <a:latin typeface="+mj-ea"/>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1978715819"/>
                  </a:ext>
                </a:extLst>
              </a:tr>
              <a:tr h="267677">
                <a:tc vMerge="1">
                  <a:txBody>
                    <a:bodyPr/>
                    <a:lstStyle/>
                    <a:p>
                      <a:endParaRPr lang="zh-CN" altLang="en-US"/>
                    </a:p>
                  </a:txBody>
                  <a:tcPr/>
                </a:tc>
                <a:tc>
                  <a:txBody>
                    <a:bodyPr/>
                    <a:lstStyle/>
                    <a:p>
                      <a:pPr algn="l" fontAlgn="ctr"/>
                      <a:r>
                        <a:rPr lang="en-US" sz="1400" u="none" strike="noStrike" dirty="0" err="1">
                          <a:effectLst/>
                          <a:latin typeface="+mj-ea"/>
                          <a:ea typeface="+mj-ea"/>
                        </a:rPr>
                        <a:t>BeagleBone</a:t>
                      </a:r>
                      <a:r>
                        <a:rPr lang="en-US" sz="1400" u="none" strike="noStrike" dirty="0">
                          <a:effectLst/>
                          <a:latin typeface="+mj-ea"/>
                          <a:ea typeface="+mj-ea"/>
                        </a:rPr>
                        <a:t> Black</a:t>
                      </a:r>
                      <a:endParaRPr lang="en-US" sz="1400" b="0" i="0" u="none" strike="noStrike" dirty="0">
                        <a:solidFill>
                          <a:srgbClr val="000000"/>
                        </a:solidFill>
                        <a:effectLst/>
                        <a:latin typeface="+mj-ea"/>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227287757"/>
                  </a:ext>
                </a:extLst>
              </a:tr>
              <a:tr h="266700">
                <a:tc vMerge="1">
                  <a:txBody>
                    <a:bodyPr/>
                    <a:lstStyle/>
                    <a:p>
                      <a:pPr algn="ctr" fontAlgn="ctr"/>
                      <a:endParaRPr lang="zh-CN" altLang="en-US" sz="1200" b="0" i="0" u="none" strike="noStrike" dirty="0">
                        <a:solidFill>
                          <a:srgbClr val="000000"/>
                        </a:solidFill>
                        <a:effectLst/>
                        <a:latin typeface="等线" panose="02010600030101010101" pitchFamily="2" charset="-122"/>
                        <a:ea typeface="等线" panose="02010600030101010101" pitchFamily="2" charset="-122"/>
                      </a:endParaRPr>
                    </a:p>
                  </a:txBody>
                  <a:tcPr marL="7989" marR="7989" marT="7989" marB="0" anchor="ctr"/>
                </a:tc>
                <a:tc>
                  <a:txBody>
                    <a:bodyPr/>
                    <a:lstStyle/>
                    <a:p>
                      <a:pPr algn="l" fontAlgn="ctr"/>
                      <a:r>
                        <a:rPr lang="en-US" sz="1400" u="none" strike="noStrike" dirty="0" err="1">
                          <a:effectLst/>
                          <a:latin typeface="+mj-ea"/>
                          <a:ea typeface="+mj-ea"/>
                        </a:rPr>
                        <a:t>Mbed</a:t>
                      </a:r>
                      <a:r>
                        <a:rPr lang="en-US" sz="1400" u="none" strike="noStrike" dirty="0">
                          <a:effectLst/>
                          <a:latin typeface="+mj-ea"/>
                          <a:ea typeface="+mj-ea"/>
                        </a:rPr>
                        <a:t> </a:t>
                      </a:r>
                      <a:r>
                        <a:rPr lang="en-US" sz="1400" u="none" strike="noStrike" dirty="0" err="1">
                          <a:effectLst/>
                          <a:latin typeface="+mj-ea"/>
                          <a:ea typeface="+mj-ea"/>
                        </a:rPr>
                        <a:t>TinyBLE</a:t>
                      </a:r>
                      <a:endParaRPr lang="en-US" sz="1400" b="0" i="0" u="none" strike="noStrike" dirty="0">
                        <a:solidFill>
                          <a:srgbClr val="000000"/>
                        </a:solidFill>
                        <a:effectLst/>
                        <a:latin typeface="+mj-ea"/>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3495117434"/>
                  </a:ext>
                </a:extLst>
              </a:tr>
              <a:tr h="266700">
                <a:tc vMerge="1">
                  <a:txBody>
                    <a:bodyPr/>
                    <a:lstStyle/>
                    <a:p>
                      <a:pPr algn="ctr" fontAlgn="ctr"/>
                      <a:endParaRPr lang="zh-CN" altLang="en-US" sz="1200" b="0" i="0" u="none" strike="noStrike" dirty="0">
                        <a:solidFill>
                          <a:srgbClr val="000000"/>
                        </a:solidFill>
                        <a:effectLst/>
                        <a:latin typeface="等线" panose="02010600030101010101" pitchFamily="2" charset="-122"/>
                        <a:ea typeface="等线" panose="02010600030101010101" pitchFamily="2" charset="-122"/>
                      </a:endParaRPr>
                    </a:p>
                  </a:txBody>
                  <a:tcPr marL="7989" marR="7989" marT="7989" marB="0" anchor="ctr"/>
                </a:tc>
                <a:tc>
                  <a:txBody>
                    <a:bodyPr/>
                    <a:lstStyle/>
                    <a:p>
                      <a:pPr algn="l" fontAlgn="ctr"/>
                      <a:r>
                        <a:rPr lang="en-US" sz="1400" u="none" strike="noStrike" dirty="0">
                          <a:effectLst/>
                          <a:latin typeface="+mj-ea"/>
                          <a:ea typeface="+mj-ea"/>
                        </a:rPr>
                        <a:t>AliOS MK3060</a:t>
                      </a:r>
                      <a:endParaRPr lang="en-US" sz="1400" b="0" i="0" u="none" strike="noStrike" dirty="0">
                        <a:solidFill>
                          <a:srgbClr val="000000"/>
                        </a:solidFill>
                        <a:effectLst/>
                        <a:latin typeface="+mj-ea"/>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2618223933"/>
                  </a:ext>
                </a:extLst>
              </a:tr>
              <a:tr h="274473">
                <a:tc rowSpan="4">
                  <a:txBody>
                    <a:bodyPr/>
                    <a:lstStyle/>
                    <a:p>
                      <a:pPr algn="ctr" fontAlgn="ctr"/>
                      <a:r>
                        <a:rPr lang="zh-CN" altLang="en-US" sz="1400" u="none" strike="noStrike" dirty="0">
                          <a:effectLst/>
                          <a:latin typeface="+mj-ea"/>
                          <a:ea typeface="+mj-ea"/>
                        </a:rPr>
                        <a:t>扩展板</a:t>
                      </a:r>
                      <a:endParaRPr lang="zh-CN" altLang="en-US" sz="1400" b="0" i="0" u="none" strike="noStrike" dirty="0">
                        <a:solidFill>
                          <a:srgbClr val="000000"/>
                        </a:solidFill>
                        <a:effectLst/>
                        <a:latin typeface="+mj-ea"/>
                        <a:ea typeface="+mj-ea"/>
                        <a:cs typeface="Times New Roman" panose="02020603050405020304" pitchFamily="18" charset="0"/>
                      </a:endParaRPr>
                    </a:p>
                  </a:txBody>
                  <a:tcPr marL="7989" marR="7989" marT="7989" marB="0" anchor="ctr"/>
                </a:tc>
                <a:tc>
                  <a:txBody>
                    <a:bodyPr/>
                    <a:lstStyle/>
                    <a:p>
                      <a:pPr algn="l" fontAlgn="ctr"/>
                      <a:r>
                        <a:rPr lang="en-US" sz="1400" u="none" strike="noStrike" dirty="0">
                          <a:effectLst/>
                          <a:latin typeface="+mj-ea"/>
                          <a:ea typeface="+mj-ea"/>
                        </a:rPr>
                        <a:t>Grove Base Shield</a:t>
                      </a:r>
                      <a:endParaRPr lang="en-US" sz="1400" b="0" i="0" u="none" strike="noStrike" dirty="0">
                        <a:solidFill>
                          <a:srgbClr val="000000"/>
                        </a:solidFill>
                        <a:effectLst/>
                        <a:latin typeface="+mj-ea"/>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1800308792"/>
                  </a:ext>
                </a:extLst>
              </a:tr>
              <a:tr h="246673">
                <a:tc vMerge="1">
                  <a:txBody>
                    <a:bodyPr/>
                    <a:lstStyle/>
                    <a:p>
                      <a:pPr algn="l" fontAlgn="ctr"/>
                      <a:endParaRPr lang="zh-CN" altLang="en-US" sz="1200" b="0" i="0" u="none" strike="noStrike" dirty="0">
                        <a:solidFill>
                          <a:srgbClr val="000000"/>
                        </a:solidFill>
                        <a:effectLst/>
                        <a:latin typeface="等线" panose="02010600030101010101" pitchFamily="2" charset="-122"/>
                        <a:ea typeface="等线" panose="02010600030101010101" pitchFamily="2" charset="-122"/>
                      </a:endParaRPr>
                    </a:p>
                  </a:txBody>
                  <a:tcPr marL="7989" marR="7989" marT="7989" marB="0" anchor="ctr"/>
                </a:tc>
                <a:tc>
                  <a:txBody>
                    <a:bodyPr/>
                    <a:lstStyle/>
                    <a:p>
                      <a:pPr algn="l" fontAlgn="ctr"/>
                      <a:r>
                        <a:rPr lang="en-US" sz="1400" u="none" strike="noStrike" dirty="0">
                          <a:effectLst/>
                          <a:latin typeface="+mj-ea"/>
                          <a:ea typeface="+mj-ea"/>
                        </a:rPr>
                        <a:t>Grove </a:t>
                      </a:r>
                      <a:r>
                        <a:rPr lang="en-US" sz="1400" u="none" strike="noStrike" dirty="0" err="1">
                          <a:effectLst/>
                          <a:latin typeface="+mj-ea"/>
                          <a:ea typeface="+mj-ea"/>
                        </a:rPr>
                        <a:t>WiFi</a:t>
                      </a:r>
                      <a:r>
                        <a:rPr lang="en-US" sz="1400" u="none" strike="noStrike" dirty="0">
                          <a:effectLst/>
                          <a:latin typeface="+mj-ea"/>
                          <a:ea typeface="+mj-ea"/>
                        </a:rPr>
                        <a:t> Shield</a:t>
                      </a:r>
                      <a:endParaRPr lang="en-US" sz="1400" b="0" i="0" u="none" strike="noStrike" dirty="0">
                        <a:solidFill>
                          <a:srgbClr val="000000"/>
                        </a:solidFill>
                        <a:effectLst/>
                        <a:latin typeface="+mj-ea"/>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3263083137"/>
                  </a:ext>
                </a:extLst>
              </a:tr>
              <a:tr h="270691">
                <a:tc vMerge="1">
                  <a:txBody>
                    <a:bodyPr/>
                    <a:lstStyle/>
                    <a:p>
                      <a:endParaRPr lang="zh-CN" altLang="en-US"/>
                    </a:p>
                  </a:txBody>
                  <a:tcPr/>
                </a:tc>
                <a:tc>
                  <a:txBody>
                    <a:bodyPr/>
                    <a:lstStyle/>
                    <a:p>
                      <a:pPr algn="l" fontAlgn="ctr"/>
                      <a:r>
                        <a:rPr lang="en-US" sz="1400" u="none" strike="noStrike" dirty="0">
                          <a:effectLst/>
                          <a:latin typeface="+mj-ea"/>
                          <a:ea typeface="+mj-ea"/>
                        </a:rPr>
                        <a:t>Grove SD Shield</a:t>
                      </a:r>
                      <a:endParaRPr lang="en-US" sz="1400" b="0" i="0" u="none" strike="noStrike" dirty="0">
                        <a:solidFill>
                          <a:srgbClr val="000000"/>
                        </a:solidFill>
                        <a:effectLst/>
                        <a:latin typeface="+mj-ea"/>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3719843846"/>
                  </a:ext>
                </a:extLst>
              </a:tr>
              <a:tr h="257175">
                <a:tc vMerge="1">
                  <a:txBody>
                    <a:bodyPr/>
                    <a:lstStyle/>
                    <a:p>
                      <a:endParaRPr lang="zh-CN" altLang="en-US"/>
                    </a:p>
                  </a:txBody>
                  <a:tcPr/>
                </a:tc>
                <a:tc>
                  <a:txBody>
                    <a:bodyPr/>
                    <a:lstStyle/>
                    <a:p>
                      <a:pPr algn="l" fontAlgn="ctr"/>
                      <a:r>
                        <a:rPr lang="en-US" sz="1400" u="none" strike="noStrike" dirty="0" err="1">
                          <a:effectLst/>
                          <a:latin typeface="+mj-ea"/>
                          <a:ea typeface="+mj-ea"/>
                        </a:rPr>
                        <a:t>GrovePi</a:t>
                      </a:r>
                      <a:r>
                        <a:rPr lang="en-US" sz="1400" u="none" strike="noStrike" dirty="0">
                          <a:effectLst/>
                          <a:latin typeface="+mj-ea"/>
                          <a:ea typeface="+mj-ea"/>
                        </a:rPr>
                        <a:t>+</a:t>
                      </a:r>
                      <a:endParaRPr lang="en-US" sz="1400" b="0" i="0" u="none" strike="noStrike" dirty="0">
                        <a:solidFill>
                          <a:srgbClr val="000000"/>
                        </a:solidFill>
                        <a:effectLst/>
                        <a:latin typeface="+mj-ea"/>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986649277"/>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1417095383"/>
              </p:ext>
            </p:extLst>
          </p:nvPr>
        </p:nvGraphicFramePr>
        <p:xfrm>
          <a:off x="4500186" y="990600"/>
          <a:ext cx="4186614" cy="5515685"/>
        </p:xfrm>
        <a:graphic>
          <a:graphicData uri="http://schemas.openxmlformats.org/drawingml/2006/table">
            <a:tbl>
              <a:tblPr firstCol="1">
                <a:tableStyleId>{93296810-A885-4BE3-A3E7-6D5BEEA58F35}</a:tableStyleId>
              </a:tblPr>
              <a:tblGrid>
                <a:gridCol w="939274">
                  <a:extLst>
                    <a:ext uri="{9D8B030D-6E8A-4147-A177-3AD203B41FA5}">
                      <a16:colId xmlns:a16="http://schemas.microsoft.com/office/drawing/2014/main" val="1809973454"/>
                    </a:ext>
                  </a:extLst>
                </a:gridCol>
                <a:gridCol w="3247340">
                  <a:extLst>
                    <a:ext uri="{9D8B030D-6E8A-4147-A177-3AD203B41FA5}">
                      <a16:colId xmlns:a16="http://schemas.microsoft.com/office/drawing/2014/main" val="1954383642"/>
                    </a:ext>
                  </a:extLst>
                </a:gridCol>
              </a:tblGrid>
              <a:tr h="320404">
                <a:tc rowSpan="17">
                  <a:txBody>
                    <a:bodyPr/>
                    <a:lstStyle/>
                    <a:p>
                      <a:pPr algn="ctr" fontAlgn="ctr"/>
                      <a:r>
                        <a:rPr lang="zh-CN" altLang="en-US" sz="1400" u="none" strike="noStrike" dirty="0">
                          <a:effectLst/>
                        </a:rPr>
                        <a:t>传感器</a:t>
                      </a:r>
                      <a:endParaRPr lang="zh-CN" altLang="en-US" sz="1400" b="0" i="0" u="none" strike="noStrike" dirty="0">
                        <a:solidFill>
                          <a:srgbClr val="000000"/>
                        </a:solidFill>
                        <a:effectLst/>
                        <a:latin typeface="Times New Roman" panose="02020603050405020304" pitchFamily="18" charset="0"/>
                        <a:ea typeface="+mj-ea"/>
                        <a:cs typeface="Times New Roman" panose="02020603050405020304" pitchFamily="18" charset="0"/>
                      </a:endParaRPr>
                    </a:p>
                  </a:txBody>
                  <a:tcPr marL="7989" marR="7989" marT="7989" marB="0" anchor="ctr"/>
                </a:tc>
                <a:tc>
                  <a:txBody>
                    <a:bodyPr/>
                    <a:lstStyle/>
                    <a:p>
                      <a:pPr algn="l" fontAlgn="t"/>
                      <a:r>
                        <a:rPr lang="en-US" sz="1400" u="none" strike="noStrike" dirty="0">
                          <a:effectLst/>
                        </a:rPr>
                        <a:t>Temperature and Humidity Sensor Pro (DHT22)</a:t>
                      </a:r>
                      <a:endParaRPr lang="en-US" sz="1400" b="0" i="0" u="none" strike="noStrike" dirty="0">
                        <a:solidFill>
                          <a:srgbClr val="333333"/>
                        </a:solidFill>
                        <a:effectLst/>
                        <a:latin typeface="Times New Roman" panose="02020603050405020304" pitchFamily="18" charset="0"/>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465834515"/>
                  </a:ext>
                </a:extLst>
              </a:tr>
              <a:tr h="347051">
                <a:tc vMerge="1">
                  <a:txBody>
                    <a:bodyPr/>
                    <a:lstStyle/>
                    <a:p>
                      <a:pPr algn="l" fontAlgn="ctr"/>
                      <a:endParaRPr lang="zh-CN" altLang="en-US" sz="1200" b="0" i="0" u="none" strike="noStrike" dirty="0">
                        <a:solidFill>
                          <a:srgbClr val="000000"/>
                        </a:solidFill>
                        <a:effectLst/>
                        <a:latin typeface="等线" panose="02010600030101010101" pitchFamily="2" charset="-122"/>
                        <a:ea typeface="等线" panose="02010600030101010101" pitchFamily="2" charset="-122"/>
                      </a:endParaRPr>
                    </a:p>
                  </a:txBody>
                  <a:tcPr marL="7989" marR="7989" marT="7989" marB="0" anchor="ctr"/>
                </a:tc>
                <a:tc>
                  <a:txBody>
                    <a:bodyPr/>
                    <a:lstStyle/>
                    <a:p>
                      <a:pPr algn="l" fontAlgn="t"/>
                      <a:r>
                        <a:rPr lang="en-US" sz="1400" u="none" strike="noStrike" dirty="0">
                          <a:effectLst/>
                        </a:rPr>
                        <a:t>Temperature and Humidity Sensor (DHT11)</a:t>
                      </a:r>
                      <a:endParaRPr lang="en-US" sz="1400" b="0" i="0" u="none" strike="noStrike" dirty="0">
                        <a:solidFill>
                          <a:srgbClr val="333333"/>
                        </a:solidFill>
                        <a:effectLst/>
                        <a:latin typeface="Times New Roman" panose="02020603050405020304" pitchFamily="18" charset="0"/>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4004121249"/>
                  </a:ext>
                </a:extLst>
              </a:tr>
              <a:tr h="304800">
                <a:tc vMerge="1">
                  <a:txBody>
                    <a:bodyPr/>
                    <a:lstStyle/>
                    <a:p>
                      <a:pPr algn="l" fontAlgn="ctr"/>
                      <a:endParaRPr lang="zh-CN" altLang="en-US" sz="1200" b="0" i="0" u="none" strike="noStrike" dirty="0">
                        <a:solidFill>
                          <a:srgbClr val="000000"/>
                        </a:solidFill>
                        <a:effectLst/>
                        <a:latin typeface="等线" panose="02010600030101010101" pitchFamily="2" charset="-122"/>
                        <a:ea typeface="等线" panose="02010600030101010101" pitchFamily="2" charset="-122"/>
                      </a:endParaRPr>
                    </a:p>
                  </a:txBody>
                  <a:tcPr marL="7989" marR="7989" marT="7989" marB="0" anchor="ctr"/>
                </a:tc>
                <a:tc>
                  <a:txBody>
                    <a:bodyPr/>
                    <a:lstStyle/>
                    <a:p>
                      <a:pPr algn="l" fontAlgn="t"/>
                      <a:r>
                        <a:rPr lang="en-US" sz="1400" u="none" strike="noStrike" dirty="0">
                          <a:effectLst/>
                        </a:rPr>
                        <a:t>Grove UART </a:t>
                      </a:r>
                      <a:r>
                        <a:rPr lang="en-US" sz="1400" u="none" strike="noStrike" dirty="0" err="1">
                          <a:effectLst/>
                        </a:rPr>
                        <a:t>WiFi</a:t>
                      </a:r>
                      <a:endParaRPr lang="en-US" sz="1400" b="0" i="0" u="none" strike="noStrike" dirty="0">
                        <a:solidFill>
                          <a:srgbClr val="333333"/>
                        </a:solidFill>
                        <a:effectLst/>
                        <a:latin typeface="Times New Roman" panose="02020603050405020304" pitchFamily="18" charset="0"/>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1632473192"/>
                  </a:ext>
                </a:extLst>
              </a:tr>
              <a:tr h="333006">
                <a:tc vMerge="1">
                  <a:txBody>
                    <a:bodyPr/>
                    <a:lstStyle/>
                    <a:p>
                      <a:pPr algn="l" fontAlgn="ctr"/>
                      <a:endParaRPr lang="zh-CN" altLang="en-US" sz="1200" b="0" i="0" u="none" strike="noStrike" dirty="0">
                        <a:solidFill>
                          <a:srgbClr val="000000"/>
                        </a:solidFill>
                        <a:effectLst/>
                        <a:latin typeface="等线" panose="02010600030101010101" pitchFamily="2" charset="-122"/>
                        <a:ea typeface="等线" panose="02010600030101010101" pitchFamily="2" charset="-122"/>
                      </a:endParaRPr>
                    </a:p>
                  </a:txBody>
                  <a:tcPr marL="7989" marR="7989" marT="7989" marB="0" anchor="ctr"/>
                </a:tc>
                <a:tc>
                  <a:txBody>
                    <a:bodyPr/>
                    <a:lstStyle/>
                    <a:p>
                      <a:pPr algn="l" fontAlgn="t"/>
                      <a:r>
                        <a:rPr lang="en-US" sz="1400" u="none" strike="noStrike" dirty="0">
                          <a:effectLst/>
                        </a:rPr>
                        <a:t>Grove GPS</a:t>
                      </a:r>
                      <a:endParaRPr lang="en-US" sz="1400" b="0" i="0" u="none" strike="noStrike" dirty="0">
                        <a:solidFill>
                          <a:srgbClr val="333333"/>
                        </a:solidFill>
                        <a:effectLst/>
                        <a:latin typeface="Times New Roman" panose="02020603050405020304" pitchFamily="18" charset="0"/>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2656289739"/>
                  </a:ext>
                </a:extLst>
              </a:tr>
              <a:tr h="361212">
                <a:tc vMerge="1">
                  <a:txBody>
                    <a:bodyPr/>
                    <a:lstStyle/>
                    <a:p>
                      <a:pPr algn="l" fontAlgn="ctr"/>
                      <a:endParaRPr lang="zh-CN" altLang="en-US" sz="1200" b="0" i="0" u="none" strike="noStrike" dirty="0">
                        <a:solidFill>
                          <a:srgbClr val="000000"/>
                        </a:solidFill>
                        <a:effectLst/>
                        <a:latin typeface="等线" panose="02010600030101010101" pitchFamily="2" charset="-122"/>
                        <a:ea typeface="等线" panose="02010600030101010101" pitchFamily="2" charset="-122"/>
                      </a:endParaRPr>
                    </a:p>
                  </a:txBody>
                  <a:tcPr marL="7989" marR="7989" marT="7989" marB="0" anchor="ctr"/>
                </a:tc>
                <a:tc>
                  <a:txBody>
                    <a:bodyPr/>
                    <a:lstStyle/>
                    <a:p>
                      <a:pPr algn="l" fontAlgn="t"/>
                      <a:r>
                        <a:rPr lang="en-US" sz="1400" u="none" strike="noStrike" dirty="0">
                          <a:effectLst/>
                        </a:rPr>
                        <a:t>Air Quality SDS018</a:t>
                      </a:r>
                      <a:endParaRPr lang="en-US" sz="1400" b="0" i="0" u="none" strike="noStrike" dirty="0">
                        <a:solidFill>
                          <a:srgbClr val="333333"/>
                        </a:solidFill>
                        <a:effectLst/>
                        <a:latin typeface="Times New Roman" panose="02020603050405020304" pitchFamily="18" charset="0"/>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3664849739"/>
                  </a:ext>
                </a:extLst>
              </a:tr>
              <a:tr h="322743">
                <a:tc vMerge="1">
                  <a:txBody>
                    <a:bodyPr/>
                    <a:lstStyle/>
                    <a:p>
                      <a:pPr algn="l" fontAlgn="ctr"/>
                      <a:endParaRPr lang="zh-CN" altLang="en-US" sz="1200" b="0" i="0" u="none" strike="noStrike" dirty="0">
                        <a:solidFill>
                          <a:srgbClr val="000000"/>
                        </a:solidFill>
                        <a:effectLst/>
                        <a:latin typeface="等线" panose="02010600030101010101" pitchFamily="2" charset="-122"/>
                        <a:ea typeface="等线" panose="02010600030101010101" pitchFamily="2" charset="-122"/>
                      </a:endParaRPr>
                    </a:p>
                  </a:txBody>
                  <a:tcPr marL="7989" marR="7989" marT="7989" marB="0" anchor="ctr"/>
                </a:tc>
                <a:tc>
                  <a:txBody>
                    <a:bodyPr/>
                    <a:lstStyle/>
                    <a:p>
                      <a:pPr algn="l" fontAlgn="t"/>
                      <a:r>
                        <a:rPr lang="en-US" sz="1400" u="none" strike="noStrike" dirty="0">
                          <a:effectLst/>
                        </a:rPr>
                        <a:t>Sound Sensor</a:t>
                      </a:r>
                      <a:endParaRPr lang="en-US" sz="1400" b="0" i="0" u="none" strike="noStrike" dirty="0">
                        <a:solidFill>
                          <a:srgbClr val="333333"/>
                        </a:solidFill>
                        <a:effectLst/>
                        <a:latin typeface="Times New Roman" panose="02020603050405020304" pitchFamily="18" charset="0"/>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876086051"/>
                  </a:ext>
                </a:extLst>
              </a:tr>
              <a:tr h="303324">
                <a:tc vMerge="1">
                  <a:txBody>
                    <a:bodyPr/>
                    <a:lstStyle/>
                    <a:p>
                      <a:endParaRPr lang="zh-CN" altLang="en-US"/>
                    </a:p>
                  </a:txBody>
                  <a:tcPr/>
                </a:tc>
                <a:tc>
                  <a:txBody>
                    <a:bodyPr/>
                    <a:lstStyle/>
                    <a:p>
                      <a:pPr algn="l" fontAlgn="t"/>
                      <a:r>
                        <a:rPr lang="en-US" sz="1400" u="none" strike="noStrike" dirty="0">
                          <a:effectLst/>
                        </a:rPr>
                        <a:t>Grove Dust Sensor</a:t>
                      </a:r>
                      <a:endParaRPr lang="en-US" sz="1400" b="0" i="0" u="none" strike="noStrike" dirty="0">
                        <a:solidFill>
                          <a:srgbClr val="333333"/>
                        </a:solidFill>
                        <a:effectLst/>
                        <a:latin typeface="Times New Roman" panose="02020603050405020304" pitchFamily="18" charset="0"/>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3910501086"/>
                  </a:ext>
                </a:extLst>
              </a:tr>
              <a:tr h="350580">
                <a:tc vMerge="1">
                  <a:txBody>
                    <a:bodyPr/>
                    <a:lstStyle/>
                    <a:p>
                      <a:pPr algn="l" fontAlgn="ctr"/>
                      <a:endParaRPr lang="zh-CN" altLang="en-US" sz="1200" b="0" i="0" u="none" strike="noStrike" dirty="0">
                        <a:solidFill>
                          <a:srgbClr val="000000"/>
                        </a:solidFill>
                        <a:effectLst/>
                        <a:latin typeface="等线" panose="02010600030101010101" pitchFamily="2" charset="-122"/>
                        <a:ea typeface="等线" panose="02010600030101010101" pitchFamily="2" charset="-122"/>
                      </a:endParaRPr>
                    </a:p>
                  </a:txBody>
                  <a:tcPr marL="7989" marR="7989" marT="7989" marB="0" anchor="ctr"/>
                </a:tc>
                <a:tc>
                  <a:txBody>
                    <a:bodyPr/>
                    <a:lstStyle/>
                    <a:p>
                      <a:pPr algn="l" fontAlgn="t"/>
                      <a:r>
                        <a:rPr lang="en-US" sz="1400" u="none" strike="noStrike" dirty="0">
                          <a:effectLst/>
                        </a:rPr>
                        <a:t>Loudness Sensor</a:t>
                      </a:r>
                      <a:endParaRPr lang="en-US" sz="1400" b="0" i="0" u="none" strike="noStrike" dirty="0">
                        <a:solidFill>
                          <a:srgbClr val="333333"/>
                        </a:solidFill>
                        <a:effectLst/>
                        <a:latin typeface="Times New Roman" panose="02020603050405020304" pitchFamily="18" charset="0"/>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2307434284"/>
                  </a:ext>
                </a:extLst>
              </a:tr>
              <a:tr h="309598">
                <a:tc vMerge="1">
                  <a:txBody>
                    <a:bodyPr/>
                    <a:lstStyle/>
                    <a:p>
                      <a:pPr algn="l" fontAlgn="ctr"/>
                      <a:endParaRPr lang="zh-CN" altLang="en-US" sz="1200" b="0" i="0" u="none" strike="noStrike" dirty="0">
                        <a:solidFill>
                          <a:srgbClr val="000000"/>
                        </a:solidFill>
                        <a:effectLst/>
                        <a:latin typeface="等线" panose="02010600030101010101" pitchFamily="2" charset="-122"/>
                        <a:ea typeface="等线" panose="02010600030101010101" pitchFamily="2" charset="-122"/>
                      </a:endParaRPr>
                    </a:p>
                  </a:txBody>
                  <a:tcPr marL="7989" marR="7989" marT="7989" marB="0" anchor="ctr"/>
                </a:tc>
                <a:tc>
                  <a:txBody>
                    <a:bodyPr/>
                    <a:lstStyle/>
                    <a:p>
                      <a:pPr algn="l" fontAlgn="t"/>
                      <a:r>
                        <a:rPr lang="en-US" sz="1400" u="none" strike="noStrike" dirty="0">
                          <a:effectLst/>
                        </a:rPr>
                        <a:t>Grove BLE</a:t>
                      </a:r>
                      <a:endParaRPr lang="en-US" sz="1400" b="0" i="0" u="none" strike="noStrike" dirty="0">
                        <a:solidFill>
                          <a:srgbClr val="333333"/>
                        </a:solidFill>
                        <a:effectLst/>
                        <a:latin typeface="Times New Roman" panose="02020603050405020304" pitchFamily="18" charset="0"/>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4095821234"/>
                  </a:ext>
                </a:extLst>
              </a:tr>
              <a:tr h="297788">
                <a:tc vMerge="1">
                  <a:txBody>
                    <a:bodyPr/>
                    <a:lstStyle/>
                    <a:p>
                      <a:endParaRPr lang="zh-CN" altLang="en-US"/>
                    </a:p>
                  </a:txBody>
                  <a:tcPr/>
                </a:tc>
                <a:tc>
                  <a:txBody>
                    <a:bodyPr/>
                    <a:lstStyle/>
                    <a:p>
                      <a:pPr algn="l" fontAlgn="t"/>
                      <a:r>
                        <a:rPr lang="en-US" sz="1400" u="none" strike="noStrike" dirty="0">
                          <a:effectLst/>
                        </a:rPr>
                        <a:t>Grove IMU 9DOF</a:t>
                      </a:r>
                      <a:endParaRPr lang="en-US" sz="1400" b="0" i="0" u="none" strike="noStrike" dirty="0">
                        <a:solidFill>
                          <a:srgbClr val="333333"/>
                        </a:solidFill>
                        <a:effectLst/>
                        <a:latin typeface="Times New Roman" panose="02020603050405020304" pitchFamily="18" charset="0"/>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1141042928"/>
                  </a:ext>
                </a:extLst>
              </a:tr>
              <a:tr h="289204">
                <a:tc vMerge="1">
                  <a:txBody>
                    <a:bodyPr/>
                    <a:lstStyle/>
                    <a:p>
                      <a:pPr algn="l" fontAlgn="ctr"/>
                      <a:endParaRPr lang="zh-CN" altLang="en-US" sz="1200" b="0" i="0" u="none" strike="noStrike" dirty="0">
                        <a:solidFill>
                          <a:srgbClr val="000000"/>
                        </a:solidFill>
                        <a:effectLst/>
                        <a:latin typeface="等线" panose="02010600030101010101" pitchFamily="2" charset="-122"/>
                        <a:ea typeface="等线" panose="02010600030101010101" pitchFamily="2" charset="-122"/>
                      </a:endParaRPr>
                    </a:p>
                  </a:txBody>
                  <a:tcPr marL="7989" marR="7989" marT="7989" marB="0" anchor="ctr"/>
                </a:tc>
                <a:tc>
                  <a:txBody>
                    <a:bodyPr/>
                    <a:lstStyle/>
                    <a:p>
                      <a:pPr algn="l" fontAlgn="t"/>
                      <a:r>
                        <a:rPr lang="en-US" sz="1400" u="none" strike="noStrike" dirty="0">
                          <a:effectLst/>
                        </a:rPr>
                        <a:t>Grove Digital Light Sensor</a:t>
                      </a:r>
                      <a:endParaRPr lang="en-US" sz="1400" b="0" i="0" u="none" strike="noStrike" dirty="0">
                        <a:solidFill>
                          <a:srgbClr val="333333"/>
                        </a:solidFill>
                        <a:effectLst/>
                        <a:latin typeface="Times New Roman" panose="02020603050405020304" pitchFamily="18" charset="0"/>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999745786"/>
                  </a:ext>
                </a:extLst>
              </a:tr>
              <a:tr h="317444">
                <a:tc vMerge="1">
                  <a:txBody>
                    <a:bodyPr/>
                    <a:lstStyle/>
                    <a:p>
                      <a:pPr algn="l" fontAlgn="ctr"/>
                      <a:endParaRPr lang="zh-CN" altLang="en-US" sz="1200" b="0" i="0" u="none" strike="noStrike" dirty="0">
                        <a:solidFill>
                          <a:srgbClr val="000000"/>
                        </a:solidFill>
                        <a:effectLst/>
                        <a:latin typeface="等线" panose="02010600030101010101" pitchFamily="2" charset="-122"/>
                        <a:ea typeface="等线" panose="02010600030101010101" pitchFamily="2" charset="-122"/>
                      </a:endParaRPr>
                    </a:p>
                  </a:txBody>
                  <a:tcPr marL="7989" marR="7989" marT="7989" marB="0" anchor="ctr"/>
                </a:tc>
                <a:tc>
                  <a:txBody>
                    <a:bodyPr/>
                    <a:lstStyle/>
                    <a:p>
                      <a:pPr algn="l" fontAlgn="t"/>
                      <a:r>
                        <a:rPr lang="en-US" sz="1400" u="none" strike="noStrike" dirty="0">
                          <a:effectLst/>
                        </a:rPr>
                        <a:t>Grove IMU 10DOF</a:t>
                      </a:r>
                      <a:endParaRPr lang="en-US" sz="1400" b="0" i="0" u="none" strike="noStrike" dirty="0">
                        <a:solidFill>
                          <a:srgbClr val="333333"/>
                        </a:solidFill>
                        <a:effectLst/>
                        <a:latin typeface="Times New Roman" panose="02020603050405020304" pitchFamily="18" charset="0"/>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3018298415"/>
                  </a:ext>
                </a:extLst>
              </a:tr>
              <a:tr h="289204">
                <a:tc vMerge="1">
                  <a:txBody>
                    <a:bodyPr/>
                    <a:lstStyle/>
                    <a:p>
                      <a:pPr algn="l" fontAlgn="ctr"/>
                      <a:endParaRPr lang="zh-CN" altLang="en-US" sz="1200" b="0" i="0" u="none" strike="noStrike" dirty="0">
                        <a:solidFill>
                          <a:srgbClr val="000000"/>
                        </a:solidFill>
                        <a:effectLst/>
                        <a:latin typeface="等线" panose="02010600030101010101" pitchFamily="2" charset="-122"/>
                        <a:ea typeface="等线" panose="02010600030101010101" pitchFamily="2" charset="-122"/>
                      </a:endParaRPr>
                    </a:p>
                  </a:txBody>
                  <a:tcPr marL="7989" marR="7989" marT="7989" marB="0" anchor="ctr"/>
                </a:tc>
                <a:tc>
                  <a:txBody>
                    <a:bodyPr/>
                    <a:lstStyle/>
                    <a:p>
                      <a:pPr algn="l" fontAlgn="t"/>
                      <a:r>
                        <a:rPr lang="en-US" sz="1400" u="none" strike="noStrike" dirty="0">
                          <a:effectLst/>
                        </a:rPr>
                        <a:t>Grove Temperature Sensor</a:t>
                      </a:r>
                      <a:endParaRPr lang="en-US" sz="1400" b="0" i="0" u="none" strike="noStrike" dirty="0">
                        <a:solidFill>
                          <a:srgbClr val="333333"/>
                        </a:solidFill>
                        <a:effectLst/>
                        <a:latin typeface="Times New Roman" panose="02020603050405020304" pitchFamily="18" charset="0"/>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3170558793"/>
                  </a:ext>
                </a:extLst>
              </a:tr>
              <a:tr h="316585">
                <a:tc vMerge="1">
                  <a:txBody>
                    <a:bodyPr/>
                    <a:lstStyle/>
                    <a:p>
                      <a:pPr algn="l" fontAlgn="ctr"/>
                      <a:endParaRPr lang="zh-CN" altLang="en-US" sz="1200" b="0" i="0" u="none" strike="noStrike" dirty="0">
                        <a:solidFill>
                          <a:srgbClr val="000000"/>
                        </a:solidFill>
                        <a:effectLst/>
                        <a:latin typeface="等线" panose="02010600030101010101" pitchFamily="2" charset="-122"/>
                        <a:ea typeface="等线" panose="02010600030101010101" pitchFamily="2" charset="-122"/>
                      </a:endParaRPr>
                    </a:p>
                  </a:txBody>
                  <a:tcPr marL="7989" marR="7989" marT="7989" marB="0" anchor="ctr"/>
                </a:tc>
                <a:tc>
                  <a:txBody>
                    <a:bodyPr/>
                    <a:lstStyle/>
                    <a:p>
                      <a:pPr algn="l" fontAlgn="t"/>
                      <a:r>
                        <a:rPr lang="en-US" sz="1400" u="none" strike="noStrike" dirty="0">
                          <a:effectLst/>
                        </a:rPr>
                        <a:t>Grove 3-Axis Analog Accelerometer</a:t>
                      </a:r>
                      <a:endParaRPr lang="en-US" sz="1400" b="0" i="0" u="none" strike="noStrike" dirty="0">
                        <a:solidFill>
                          <a:srgbClr val="333333"/>
                        </a:solidFill>
                        <a:effectLst/>
                        <a:latin typeface="Times New Roman" panose="02020603050405020304" pitchFamily="18" charset="0"/>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2042750272"/>
                  </a:ext>
                </a:extLst>
              </a:tr>
              <a:tr h="289204">
                <a:tc vMerge="1">
                  <a:txBody>
                    <a:bodyPr/>
                    <a:lstStyle/>
                    <a:p>
                      <a:pPr algn="l" fontAlgn="ctr"/>
                      <a:endParaRPr lang="zh-CN" altLang="en-US" sz="1200" b="0" i="0" u="none" strike="noStrike" dirty="0">
                        <a:solidFill>
                          <a:srgbClr val="000000"/>
                        </a:solidFill>
                        <a:effectLst/>
                        <a:latin typeface="等线" panose="02010600030101010101" pitchFamily="2" charset="-122"/>
                        <a:ea typeface="等线" panose="02010600030101010101" pitchFamily="2" charset="-122"/>
                      </a:endParaRPr>
                    </a:p>
                  </a:txBody>
                  <a:tcPr marL="7989" marR="7989" marT="7989" marB="0" anchor="ctr"/>
                </a:tc>
                <a:tc>
                  <a:txBody>
                    <a:bodyPr/>
                    <a:lstStyle/>
                    <a:p>
                      <a:pPr algn="l" fontAlgn="t"/>
                      <a:r>
                        <a:rPr lang="en-US" sz="1400" u="none" strike="noStrike" dirty="0">
                          <a:effectLst/>
                        </a:rPr>
                        <a:t>Grove 3-Axis Digital Compass</a:t>
                      </a:r>
                      <a:endParaRPr lang="en-US" sz="1400" b="0" i="0" u="none" strike="noStrike" dirty="0">
                        <a:solidFill>
                          <a:srgbClr val="333333"/>
                        </a:solidFill>
                        <a:effectLst/>
                        <a:latin typeface="Times New Roman" panose="02020603050405020304" pitchFamily="18" charset="0"/>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1305756522"/>
                  </a:ext>
                </a:extLst>
              </a:tr>
              <a:tr h="289204">
                <a:tc vMerge="1">
                  <a:txBody>
                    <a:bodyPr/>
                    <a:lstStyle/>
                    <a:p>
                      <a:pPr algn="l" fontAlgn="ctr"/>
                      <a:endParaRPr lang="zh-CN" altLang="en-US" sz="1200" b="0" i="0" u="none" strike="noStrike" dirty="0">
                        <a:solidFill>
                          <a:srgbClr val="000000"/>
                        </a:solidFill>
                        <a:effectLst/>
                        <a:latin typeface="等线" panose="02010600030101010101" pitchFamily="2" charset="-122"/>
                        <a:ea typeface="等线" panose="02010600030101010101" pitchFamily="2" charset="-122"/>
                      </a:endParaRPr>
                    </a:p>
                  </a:txBody>
                  <a:tcPr marL="7989" marR="7989" marT="7989" marB="0" anchor="ctr"/>
                </a:tc>
                <a:tc>
                  <a:txBody>
                    <a:bodyPr/>
                    <a:lstStyle/>
                    <a:p>
                      <a:pPr algn="l" fontAlgn="t"/>
                      <a:r>
                        <a:rPr lang="en-US" sz="1400" u="none" strike="noStrike" dirty="0">
                          <a:effectLst/>
                        </a:rPr>
                        <a:t>Grove 3-Axis Digital Gyro</a:t>
                      </a:r>
                      <a:endParaRPr lang="en-US" sz="1400" b="0" i="0" u="none" strike="noStrike" dirty="0">
                        <a:solidFill>
                          <a:srgbClr val="333333"/>
                        </a:solidFill>
                        <a:effectLst/>
                        <a:latin typeface="Times New Roman" panose="02020603050405020304" pitchFamily="18" charset="0"/>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4195396713"/>
                  </a:ext>
                </a:extLst>
              </a:tr>
              <a:tr h="360029">
                <a:tc vMerge="1">
                  <a:txBody>
                    <a:bodyPr/>
                    <a:lstStyle/>
                    <a:p>
                      <a:pPr algn="l" fontAlgn="ctr"/>
                      <a:endParaRPr lang="zh-CN" altLang="en-US" sz="1200" b="0" i="0" u="none" strike="noStrike" dirty="0">
                        <a:solidFill>
                          <a:srgbClr val="000000"/>
                        </a:solidFill>
                        <a:effectLst/>
                        <a:latin typeface="等线" panose="02010600030101010101" pitchFamily="2" charset="-122"/>
                        <a:ea typeface="等线" panose="02010600030101010101" pitchFamily="2" charset="-122"/>
                      </a:endParaRPr>
                    </a:p>
                  </a:txBody>
                  <a:tcPr marL="7989" marR="7989" marT="7989" marB="0" anchor="ctr"/>
                </a:tc>
                <a:tc>
                  <a:txBody>
                    <a:bodyPr/>
                    <a:lstStyle/>
                    <a:p>
                      <a:pPr algn="l" fontAlgn="t"/>
                      <a:r>
                        <a:rPr lang="en-US" sz="1400" u="none" strike="noStrike" dirty="0">
                          <a:effectLst/>
                        </a:rPr>
                        <a:t>Grove Light Sensor</a:t>
                      </a:r>
                      <a:endParaRPr lang="en-US" sz="1400" b="0" i="0" u="none" strike="noStrike" dirty="0">
                        <a:solidFill>
                          <a:srgbClr val="333333"/>
                        </a:solidFill>
                        <a:effectLst/>
                        <a:latin typeface="Times New Roman" panose="02020603050405020304" pitchFamily="18" charset="0"/>
                        <a:ea typeface="+mj-ea"/>
                        <a:cs typeface="Times New Roman" panose="02020603050405020304" pitchFamily="18" charset="0"/>
                      </a:endParaRPr>
                    </a:p>
                  </a:txBody>
                  <a:tcPr marL="7989" marR="7989" marT="7989" marB="0" anchor="ctr"/>
                </a:tc>
                <a:extLst>
                  <a:ext uri="{0D108BD9-81ED-4DB2-BD59-A6C34878D82A}">
                    <a16:rowId xmlns:a16="http://schemas.microsoft.com/office/drawing/2014/main" val="1060988932"/>
                  </a:ext>
                </a:extLst>
              </a:tr>
            </a:tbl>
          </a:graphicData>
        </a:graphic>
      </p:graphicFrame>
    </p:spTree>
    <p:extLst>
      <p:ext uri="{BB962C8B-B14F-4D97-AF65-F5344CB8AC3E}">
        <p14:creationId xmlns:p14="http://schemas.microsoft.com/office/powerpoint/2010/main" val="4154914779"/>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en-US" altLang="zh-CN" dirty="0"/>
              <a:t> 1.0 </a:t>
            </a:r>
            <a:r>
              <a:rPr lang="zh-CN" altLang="zh-CN" dirty="0"/>
              <a:t>系统框架</a:t>
            </a:r>
            <a:endParaRPr lang="zh-CN" altLang="en-US" dirty="0"/>
          </a:p>
        </p:txBody>
      </p:sp>
      <p:sp>
        <p:nvSpPr>
          <p:cNvPr id="3" name="内容占位符 2"/>
          <p:cNvSpPr>
            <a:spLocks noGrp="1"/>
          </p:cNvSpPr>
          <p:nvPr>
            <p:ph idx="1"/>
          </p:nvPr>
        </p:nvSpPr>
        <p:spPr/>
        <p:txBody>
          <a:bodyPr/>
          <a:lstStyle/>
          <a:p>
            <a:r>
              <a:rPr lang="zh-CN" altLang="zh-CN" dirty="0"/>
              <a:t>硬件生成系统</a:t>
            </a:r>
            <a:endParaRPr lang="en-US" altLang="zh-CN" dirty="0"/>
          </a:p>
          <a:p>
            <a:pPr lvl="1"/>
            <a:r>
              <a:rPr lang="zh-CN" altLang="zh-CN" dirty="0"/>
              <a:t>通过分析应用程序代码，结合硬件数据库的领域知识，自动生成硬件配置</a:t>
            </a:r>
            <a:endParaRPr lang="en-US" altLang="zh-CN" dirty="0"/>
          </a:p>
          <a:p>
            <a:r>
              <a:rPr lang="zh-CN" altLang="zh-CN" dirty="0"/>
              <a:t>软件生成系统</a:t>
            </a:r>
            <a:endParaRPr lang="en-US" altLang="zh-CN" dirty="0"/>
          </a:p>
          <a:p>
            <a:pPr lvl="1"/>
            <a:r>
              <a:rPr lang="zh-CN" altLang="zh-CN" dirty="0"/>
              <a:t>结合硬件配置和对应软件库，通过交叉编译链生成应用程序的二进制代码</a:t>
            </a:r>
            <a:endParaRPr lang="zh-CN" altLang="en-US" dirty="0"/>
          </a:p>
        </p:txBody>
      </p:sp>
      <p:pic>
        <p:nvPicPr>
          <p:cNvPr id="4" name="图片 3" descr="4-12"/>
          <p:cNvPicPr/>
          <p:nvPr/>
        </p:nvPicPr>
        <p:blipFill>
          <a:blip r:embed="rId2"/>
          <a:stretch>
            <a:fillRect/>
          </a:stretch>
        </p:blipFill>
        <p:spPr>
          <a:xfrm>
            <a:off x="2411700" y="3497899"/>
            <a:ext cx="4487863" cy="3152755"/>
          </a:xfrm>
          <a:prstGeom prst="rect">
            <a:avLst/>
          </a:prstGeom>
        </p:spPr>
      </p:pic>
    </p:spTree>
    <p:extLst>
      <p:ext uri="{BB962C8B-B14F-4D97-AF65-F5344CB8AC3E}">
        <p14:creationId xmlns:p14="http://schemas.microsoft.com/office/powerpoint/2010/main" val="3951855823"/>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en-US" altLang="zh-CN" dirty="0"/>
              <a:t> 1.0 </a:t>
            </a:r>
            <a:r>
              <a:rPr lang="zh-CN" altLang="zh-CN" dirty="0"/>
              <a:t>硬件生成系统</a:t>
            </a:r>
            <a:endParaRPr lang="zh-CN" altLang="en-US" dirty="0"/>
          </a:p>
        </p:txBody>
      </p:sp>
      <p:sp>
        <p:nvSpPr>
          <p:cNvPr id="3" name="内容占位符 2"/>
          <p:cNvSpPr>
            <a:spLocks noGrp="1"/>
          </p:cNvSpPr>
          <p:nvPr>
            <p:ph idx="1"/>
          </p:nvPr>
        </p:nvSpPr>
        <p:spPr/>
        <p:txBody>
          <a:bodyPr/>
          <a:lstStyle/>
          <a:p>
            <a:r>
              <a:rPr lang="zh-CN" altLang="zh-CN"/>
              <a:t>硬件数据库</a:t>
            </a:r>
            <a:endParaRPr lang="en-US" altLang="zh-CN"/>
          </a:p>
          <a:p>
            <a:pPr lvl="1"/>
            <a:r>
              <a:rPr lang="zh-CN" altLang="zh-CN"/>
              <a:t>主要包含已有硬件的信息及其特征</a:t>
            </a:r>
            <a:endParaRPr lang="en-US" altLang="zh-CN"/>
          </a:p>
          <a:p>
            <a:pPr lvl="1"/>
            <a:r>
              <a:rPr lang="zh-CN" altLang="zh-CN"/>
              <a:t>作为自动生成配置的关键信息源</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109497795"/>
              </p:ext>
            </p:extLst>
          </p:nvPr>
        </p:nvGraphicFramePr>
        <p:xfrm>
          <a:off x="444502" y="2715446"/>
          <a:ext cx="8254997" cy="3764297"/>
        </p:xfrm>
        <a:graphic>
          <a:graphicData uri="http://schemas.openxmlformats.org/drawingml/2006/table">
            <a:tbl>
              <a:tblPr firstRow="1" firstCol="1" bandRow="1">
                <a:tableStyleId>{93296810-A885-4BE3-A3E7-6D5BEEA58F35}</a:tableStyleId>
              </a:tblPr>
              <a:tblGrid>
                <a:gridCol w="1340775">
                  <a:extLst>
                    <a:ext uri="{9D8B030D-6E8A-4147-A177-3AD203B41FA5}">
                      <a16:colId xmlns:a16="http://schemas.microsoft.com/office/drawing/2014/main" val="1442967342"/>
                    </a:ext>
                  </a:extLst>
                </a:gridCol>
                <a:gridCol w="358164">
                  <a:extLst>
                    <a:ext uri="{9D8B030D-6E8A-4147-A177-3AD203B41FA5}">
                      <a16:colId xmlns:a16="http://schemas.microsoft.com/office/drawing/2014/main" val="4229016824"/>
                    </a:ext>
                  </a:extLst>
                </a:gridCol>
                <a:gridCol w="654327">
                  <a:extLst>
                    <a:ext uri="{9D8B030D-6E8A-4147-A177-3AD203B41FA5}">
                      <a16:colId xmlns:a16="http://schemas.microsoft.com/office/drawing/2014/main" val="2057109251"/>
                    </a:ext>
                  </a:extLst>
                </a:gridCol>
                <a:gridCol w="654327">
                  <a:extLst>
                    <a:ext uri="{9D8B030D-6E8A-4147-A177-3AD203B41FA5}">
                      <a16:colId xmlns:a16="http://schemas.microsoft.com/office/drawing/2014/main" val="3507657146"/>
                    </a:ext>
                  </a:extLst>
                </a:gridCol>
                <a:gridCol w="653501">
                  <a:extLst>
                    <a:ext uri="{9D8B030D-6E8A-4147-A177-3AD203B41FA5}">
                      <a16:colId xmlns:a16="http://schemas.microsoft.com/office/drawing/2014/main" val="3950083557"/>
                    </a:ext>
                  </a:extLst>
                </a:gridCol>
                <a:gridCol w="653501">
                  <a:extLst>
                    <a:ext uri="{9D8B030D-6E8A-4147-A177-3AD203B41FA5}">
                      <a16:colId xmlns:a16="http://schemas.microsoft.com/office/drawing/2014/main" val="3932225907"/>
                    </a:ext>
                  </a:extLst>
                </a:gridCol>
                <a:gridCol w="653501">
                  <a:extLst>
                    <a:ext uri="{9D8B030D-6E8A-4147-A177-3AD203B41FA5}">
                      <a16:colId xmlns:a16="http://schemas.microsoft.com/office/drawing/2014/main" val="3121395417"/>
                    </a:ext>
                  </a:extLst>
                </a:gridCol>
                <a:gridCol w="653501">
                  <a:extLst>
                    <a:ext uri="{9D8B030D-6E8A-4147-A177-3AD203B41FA5}">
                      <a16:colId xmlns:a16="http://schemas.microsoft.com/office/drawing/2014/main" val="4155988496"/>
                    </a:ext>
                  </a:extLst>
                </a:gridCol>
                <a:gridCol w="653501">
                  <a:extLst>
                    <a:ext uri="{9D8B030D-6E8A-4147-A177-3AD203B41FA5}">
                      <a16:colId xmlns:a16="http://schemas.microsoft.com/office/drawing/2014/main" val="1547623334"/>
                    </a:ext>
                  </a:extLst>
                </a:gridCol>
                <a:gridCol w="653501">
                  <a:extLst>
                    <a:ext uri="{9D8B030D-6E8A-4147-A177-3AD203B41FA5}">
                      <a16:colId xmlns:a16="http://schemas.microsoft.com/office/drawing/2014/main" val="3563728769"/>
                    </a:ext>
                  </a:extLst>
                </a:gridCol>
                <a:gridCol w="611505">
                  <a:extLst>
                    <a:ext uri="{9D8B030D-6E8A-4147-A177-3AD203B41FA5}">
                      <a16:colId xmlns:a16="http://schemas.microsoft.com/office/drawing/2014/main" val="1548654104"/>
                    </a:ext>
                  </a:extLst>
                </a:gridCol>
                <a:gridCol w="714893">
                  <a:extLst>
                    <a:ext uri="{9D8B030D-6E8A-4147-A177-3AD203B41FA5}">
                      <a16:colId xmlns:a16="http://schemas.microsoft.com/office/drawing/2014/main" val="3933454930"/>
                    </a:ext>
                  </a:extLst>
                </a:gridCol>
              </a:tblGrid>
              <a:tr h="348082">
                <a:tc rowSpan="2">
                  <a:txBody>
                    <a:bodyPr/>
                    <a:lstStyle/>
                    <a:p>
                      <a:pPr algn="ctr">
                        <a:spcBef>
                          <a:spcPts val="600"/>
                        </a:spcBef>
                        <a:spcAft>
                          <a:spcPts val="0"/>
                        </a:spcAft>
                      </a:pPr>
                      <a:r>
                        <a:rPr lang="zh-CN" sz="1600" kern="500" dirty="0">
                          <a:effectLst/>
                          <a:latin typeface="+mj-ea"/>
                          <a:ea typeface="+mj-ea"/>
                        </a:rPr>
                        <a:t>组件</a:t>
                      </a:r>
                      <a:endParaRPr lang="zh-CN" sz="1600" kern="750" dirty="0">
                        <a:effectLst/>
                        <a:latin typeface="+mj-ea"/>
                        <a:ea typeface="+mj-ea"/>
                        <a:cs typeface="Times New Roman" panose="02020603050405020304" pitchFamily="18" charset="0"/>
                      </a:endParaRPr>
                    </a:p>
                  </a:txBody>
                  <a:tcPr marL="45727" marR="45727" marT="0" marB="0" anchor="ctr"/>
                </a:tc>
                <a:tc rowSpan="2">
                  <a:txBody>
                    <a:bodyPr/>
                    <a:lstStyle/>
                    <a:p>
                      <a:pPr algn="ctr">
                        <a:spcBef>
                          <a:spcPts val="600"/>
                        </a:spcBef>
                        <a:spcAft>
                          <a:spcPts val="0"/>
                        </a:spcAft>
                      </a:pPr>
                      <a:r>
                        <a:rPr lang="en-US" sz="1600" kern="500" dirty="0">
                          <a:effectLst/>
                          <a:latin typeface="+mj-ea"/>
                          <a:ea typeface="+mj-ea"/>
                        </a:rPr>
                        <a:t>ID</a:t>
                      </a:r>
                      <a:endParaRPr lang="zh-CN" sz="1600" kern="750" dirty="0">
                        <a:effectLst/>
                        <a:latin typeface="+mj-ea"/>
                        <a:ea typeface="+mj-ea"/>
                        <a:cs typeface="Times New Roman" panose="02020603050405020304" pitchFamily="18" charset="0"/>
                      </a:endParaRPr>
                    </a:p>
                  </a:txBody>
                  <a:tcPr marL="45727" marR="45727" marT="0" marB="0" anchor="ctr"/>
                </a:tc>
                <a:tc rowSpan="2">
                  <a:txBody>
                    <a:bodyPr/>
                    <a:lstStyle/>
                    <a:p>
                      <a:pPr algn="ctr">
                        <a:lnSpc>
                          <a:spcPts val="1400"/>
                        </a:lnSpc>
                        <a:spcBef>
                          <a:spcPts val="600"/>
                        </a:spcBef>
                        <a:spcAft>
                          <a:spcPts val="0"/>
                        </a:spcAft>
                      </a:pPr>
                      <a:r>
                        <a:rPr lang="zh-CN" sz="1600" kern="500" dirty="0">
                          <a:effectLst/>
                          <a:latin typeface="+mj-ea"/>
                          <a:ea typeface="+mj-ea"/>
                        </a:rPr>
                        <a:t>成本</a:t>
                      </a:r>
                      <a:endParaRPr lang="zh-CN" sz="1600" kern="750" dirty="0">
                        <a:effectLst/>
                        <a:latin typeface="+mj-ea"/>
                        <a:ea typeface="+mj-ea"/>
                      </a:endParaRPr>
                    </a:p>
                    <a:p>
                      <a:pPr algn="ctr">
                        <a:lnSpc>
                          <a:spcPts val="1400"/>
                        </a:lnSpc>
                        <a:spcBef>
                          <a:spcPts val="600"/>
                        </a:spcBef>
                        <a:spcAft>
                          <a:spcPts val="0"/>
                        </a:spcAft>
                      </a:pPr>
                      <a:r>
                        <a:rPr lang="en-US" sz="1600" kern="500" dirty="0">
                          <a:effectLst/>
                          <a:latin typeface="+mj-ea"/>
                          <a:ea typeface="+mj-ea"/>
                        </a:rPr>
                        <a:t>(</a:t>
                      </a:r>
                      <a:r>
                        <a:rPr lang="zh-CN" sz="1600" kern="750" dirty="0">
                          <a:effectLst/>
                          <a:latin typeface="+mj-ea"/>
                          <a:ea typeface="+mj-ea"/>
                        </a:rPr>
                        <a:t>￥</a:t>
                      </a:r>
                      <a:r>
                        <a:rPr lang="en-US" sz="1600" kern="500" dirty="0">
                          <a:effectLst/>
                          <a:latin typeface="+mj-ea"/>
                          <a:ea typeface="+mj-ea"/>
                        </a:rPr>
                        <a:t>)</a:t>
                      </a:r>
                      <a:endParaRPr lang="zh-CN" sz="1600" kern="750" dirty="0">
                        <a:effectLst/>
                        <a:latin typeface="+mj-ea"/>
                        <a:ea typeface="+mj-ea"/>
                        <a:cs typeface="Times New Roman" panose="02020603050405020304" pitchFamily="18" charset="0"/>
                      </a:endParaRPr>
                    </a:p>
                  </a:txBody>
                  <a:tcPr marL="45727" marR="45727" marT="0" marB="0" anchor="ctr"/>
                </a:tc>
                <a:tc gridSpan="4">
                  <a:txBody>
                    <a:bodyPr/>
                    <a:lstStyle/>
                    <a:p>
                      <a:pPr algn="ctr">
                        <a:spcBef>
                          <a:spcPts val="600"/>
                        </a:spcBef>
                        <a:spcAft>
                          <a:spcPts val="0"/>
                        </a:spcAft>
                      </a:pPr>
                      <a:r>
                        <a:rPr lang="zh-CN" sz="1600" kern="500">
                          <a:effectLst/>
                          <a:latin typeface="+mj-ea"/>
                          <a:ea typeface="+mj-ea"/>
                        </a:rPr>
                        <a:t>提供接口</a:t>
                      </a:r>
                      <a:endParaRPr lang="zh-CN" sz="1600" kern="750">
                        <a:effectLst/>
                        <a:latin typeface="+mj-ea"/>
                        <a:ea typeface="+mj-ea"/>
                        <a:cs typeface="Times New Roman" panose="02020603050405020304" pitchFamily="18" charset="0"/>
                      </a:endParaRPr>
                    </a:p>
                  </a:txBody>
                  <a:tcPr marL="45727" marR="45727"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a:spcBef>
                          <a:spcPts val="600"/>
                        </a:spcBef>
                        <a:spcAft>
                          <a:spcPts val="0"/>
                        </a:spcAft>
                      </a:pPr>
                      <a:r>
                        <a:rPr lang="zh-CN" sz="1600" kern="500">
                          <a:effectLst/>
                          <a:latin typeface="+mj-ea"/>
                          <a:ea typeface="+mj-ea"/>
                        </a:rPr>
                        <a:t>占用接口</a:t>
                      </a:r>
                      <a:endParaRPr lang="zh-CN" sz="1600" kern="750">
                        <a:effectLst/>
                        <a:latin typeface="+mj-ea"/>
                        <a:ea typeface="+mj-ea"/>
                        <a:cs typeface="Times New Roman" panose="02020603050405020304" pitchFamily="18" charset="0"/>
                      </a:endParaRPr>
                    </a:p>
                  </a:txBody>
                  <a:tcPr marL="45727" marR="45727"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p>
                      <a:pPr algn="ctr">
                        <a:spcBef>
                          <a:spcPts val="600"/>
                        </a:spcBef>
                        <a:spcAft>
                          <a:spcPts val="0"/>
                        </a:spcAft>
                      </a:pPr>
                      <a:r>
                        <a:rPr lang="zh-CN" sz="1600" kern="500">
                          <a:effectLst/>
                          <a:latin typeface="+mj-ea"/>
                          <a:ea typeface="+mj-ea"/>
                        </a:rPr>
                        <a:t>功能</a:t>
                      </a:r>
                      <a:endParaRPr lang="zh-CN" sz="1600" kern="750">
                        <a:effectLst/>
                        <a:latin typeface="+mj-ea"/>
                        <a:ea typeface="+mj-ea"/>
                        <a:cs typeface="Times New Roman" panose="02020603050405020304" pitchFamily="18" charset="0"/>
                      </a:endParaRPr>
                    </a:p>
                  </a:txBody>
                  <a:tcPr marL="45727" marR="45727" marT="0" marB="0" anchor="ctr"/>
                </a:tc>
                <a:extLst>
                  <a:ext uri="{0D108BD9-81ED-4DB2-BD59-A6C34878D82A}">
                    <a16:rowId xmlns:a16="http://schemas.microsoft.com/office/drawing/2014/main" val="1889058736"/>
                  </a:ext>
                </a:extLst>
              </a:tr>
              <a:tr h="669675">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lnSpc>
                          <a:spcPct val="100000"/>
                        </a:lnSpc>
                        <a:spcBef>
                          <a:spcPts val="600"/>
                        </a:spcBef>
                        <a:spcAft>
                          <a:spcPts val="0"/>
                        </a:spcAft>
                      </a:pPr>
                      <a:r>
                        <a:rPr lang="zh-CN" sz="1600" kern="500" dirty="0">
                          <a:effectLst/>
                          <a:latin typeface="+mj-ea"/>
                          <a:ea typeface="+mj-ea"/>
                        </a:rPr>
                        <a:t>模拟信号引脚</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lnSpc>
                          <a:spcPct val="100000"/>
                        </a:lnSpc>
                        <a:spcBef>
                          <a:spcPts val="600"/>
                        </a:spcBef>
                        <a:spcAft>
                          <a:spcPts val="0"/>
                        </a:spcAft>
                      </a:pPr>
                      <a:r>
                        <a:rPr lang="en-US" sz="1600" kern="500">
                          <a:effectLst/>
                          <a:latin typeface="+mj-ea"/>
                          <a:ea typeface="+mj-ea"/>
                        </a:rPr>
                        <a:t>UART</a:t>
                      </a:r>
                      <a:endParaRPr lang="zh-CN" sz="1600" kern="750">
                        <a:effectLst/>
                        <a:latin typeface="+mj-ea"/>
                        <a:ea typeface="+mj-ea"/>
                      </a:endParaRPr>
                    </a:p>
                    <a:p>
                      <a:pPr algn="ctr">
                        <a:lnSpc>
                          <a:spcPct val="100000"/>
                        </a:lnSpc>
                        <a:spcBef>
                          <a:spcPts val="600"/>
                        </a:spcBef>
                        <a:spcAft>
                          <a:spcPts val="0"/>
                        </a:spcAft>
                      </a:pPr>
                      <a:r>
                        <a:rPr lang="zh-CN" sz="1600" kern="500">
                          <a:effectLst/>
                          <a:latin typeface="+mj-ea"/>
                          <a:ea typeface="+mj-ea"/>
                        </a:rPr>
                        <a:t>引脚</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lnSpc>
                          <a:spcPct val="100000"/>
                        </a:lnSpc>
                        <a:spcBef>
                          <a:spcPts val="600"/>
                        </a:spcBef>
                        <a:spcAft>
                          <a:spcPts val="0"/>
                        </a:spcAft>
                      </a:pPr>
                      <a:r>
                        <a:rPr lang="zh-CN" sz="1600" kern="500" dirty="0">
                          <a:effectLst/>
                          <a:latin typeface="+mj-ea"/>
                          <a:ea typeface="+mj-ea"/>
                        </a:rPr>
                        <a:t>模拟信号端口</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lnSpc>
                          <a:spcPct val="100000"/>
                        </a:lnSpc>
                        <a:spcBef>
                          <a:spcPts val="600"/>
                        </a:spcBef>
                        <a:spcAft>
                          <a:spcPts val="0"/>
                        </a:spcAft>
                      </a:pPr>
                      <a:r>
                        <a:rPr lang="en-US" sz="1600" kern="500">
                          <a:effectLst/>
                          <a:latin typeface="+mj-ea"/>
                          <a:ea typeface="+mj-ea"/>
                        </a:rPr>
                        <a:t>UART</a:t>
                      </a:r>
                      <a:endParaRPr lang="zh-CN" sz="1600" kern="750">
                        <a:effectLst/>
                        <a:latin typeface="+mj-ea"/>
                        <a:ea typeface="+mj-ea"/>
                      </a:endParaRPr>
                    </a:p>
                    <a:p>
                      <a:pPr algn="ctr">
                        <a:lnSpc>
                          <a:spcPct val="100000"/>
                        </a:lnSpc>
                        <a:spcBef>
                          <a:spcPts val="600"/>
                        </a:spcBef>
                        <a:spcAft>
                          <a:spcPts val="0"/>
                        </a:spcAft>
                      </a:pPr>
                      <a:r>
                        <a:rPr lang="zh-CN" sz="1600" kern="500">
                          <a:effectLst/>
                          <a:latin typeface="+mj-ea"/>
                          <a:ea typeface="+mj-ea"/>
                        </a:rPr>
                        <a:t>端口</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lnSpc>
                          <a:spcPct val="100000"/>
                        </a:lnSpc>
                        <a:spcBef>
                          <a:spcPts val="600"/>
                        </a:spcBef>
                        <a:spcAft>
                          <a:spcPts val="0"/>
                        </a:spcAft>
                      </a:pPr>
                      <a:r>
                        <a:rPr lang="zh-CN" sz="1600" kern="500" dirty="0">
                          <a:effectLst/>
                          <a:latin typeface="+mj-ea"/>
                          <a:ea typeface="+mj-ea"/>
                        </a:rPr>
                        <a:t>模拟信号引脚</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lnSpc>
                          <a:spcPct val="100000"/>
                        </a:lnSpc>
                        <a:spcBef>
                          <a:spcPts val="600"/>
                        </a:spcBef>
                        <a:spcAft>
                          <a:spcPts val="0"/>
                        </a:spcAft>
                      </a:pPr>
                      <a:r>
                        <a:rPr lang="en-US" sz="1600" kern="500" dirty="0">
                          <a:effectLst/>
                          <a:latin typeface="+mj-ea"/>
                          <a:ea typeface="+mj-ea"/>
                        </a:rPr>
                        <a:t>UART</a:t>
                      </a:r>
                      <a:endParaRPr lang="zh-CN" sz="1600" kern="750" dirty="0">
                        <a:effectLst/>
                        <a:latin typeface="+mj-ea"/>
                        <a:ea typeface="+mj-ea"/>
                      </a:endParaRPr>
                    </a:p>
                    <a:p>
                      <a:pPr algn="ctr">
                        <a:lnSpc>
                          <a:spcPct val="100000"/>
                        </a:lnSpc>
                        <a:spcBef>
                          <a:spcPts val="600"/>
                        </a:spcBef>
                        <a:spcAft>
                          <a:spcPts val="0"/>
                        </a:spcAft>
                      </a:pPr>
                      <a:r>
                        <a:rPr lang="zh-CN" sz="1600" kern="500" dirty="0">
                          <a:effectLst/>
                          <a:latin typeface="+mj-ea"/>
                          <a:ea typeface="+mj-ea"/>
                        </a:rPr>
                        <a:t>引脚</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lnSpc>
                          <a:spcPct val="100000"/>
                        </a:lnSpc>
                        <a:spcBef>
                          <a:spcPts val="600"/>
                        </a:spcBef>
                        <a:spcAft>
                          <a:spcPts val="0"/>
                        </a:spcAft>
                      </a:pPr>
                      <a:r>
                        <a:rPr lang="zh-CN" sz="1600" kern="500" dirty="0">
                          <a:effectLst/>
                          <a:latin typeface="+mj-ea"/>
                          <a:ea typeface="+mj-ea"/>
                        </a:rPr>
                        <a:t>模拟信号端口</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lnSpc>
                          <a:spcPct val="100000"/>
                        </a:lnSpc>
                        <a:spcBef>
                          <a:spcPts val="600"/>
                        </a:spcBef>
                        <a:spcAft>
                          <a:spcPts val="0"/>
                        </a:spcAft>
                      </a:pPr>
                      <a:r>
                        <a:rPr lang="en-US" sz="1600" kern="500" dirty="0">
                          <a:effectLst/>
                          <a:latin typeface="+mj-ea"/>
                          <a:ea typeface="+mj-ea"/>
                        </a:rPr>
                        <a:t>UART</a:t>
                      </a:r>
                      <a:r>
                        <a:rPr lang="zh-CN" sz="1600" kern="500" dirty="0">
                          <a:effectLst/>
                          <a:latin typeface="+mj-ea"/>
                          <a:ea typeface="+mj-ea"/>
                        </a:rPr>
                        <a:t>端口</a:t>
                      </a:r>
                      <a:endParaRPr lang="zh-CN" sz="1600" kern="750" dirty="0">
                        <a:effectLst/>
                        <a:latin typeface="+mj-ea"/>
                        <a:ea typeface="+mj-ea"/>
                        <a:cs typeface="Times New Roman" panose="02020603050405020304" pitchFamily="18" charset="0"/>
                      </a:endParaRPr>
                    </a:p>
                  </a:txBody>
                  <a:tcPr marL="45727" marR="45727" marT="0" marB="0" anchor="ctr"/>
                </a:tc>
                <a:tc vMerge="1">
                  <a:txBody>
                    <a:bodyPr/>
                    <a:lstStyle/>
                    <a:p>
                      <a:endParaRPr lang="zh-CN" altLang="en-US"/>
                    </a:p>
                  </a:txBody>
                  <a:tcPr/>
                </a:tc>
                <a:extLst>
                  <a:ext uri="{0D108BD9-81ED-4DB2-BD59-A6C34878D82A}">
                    <a16:rowId xmlns:a16="http://schemas.microsoft.com/office/drawing/2014/main" val="3194801227"/>
                  </a:ext>
                </a:extLst>
              </a:tr>
              <a:tr h="536939">
                <a:tc>
                  <a:txBody>
                    <a:bodyPr/>
                    <a:lstStyle/>
                    <a:p>
                      <a:pPr algn="ctr">
                        <a:spcBef>
                          <a:spcPts val="600"/>
                        </a:spcBef>
                        <a:spcAft>
                          <a:spcPts val="0"/>
                        </a:spcAft>
                      </a:pPr>
                      <a:r>
                        <a:rPr lang="en-US" sz="1600" kern="500" dirty="0">
                          <a:effectLst/>
                          <a:latin typeface="+mj-ea"/>
                          <a:ea typeface="+mj-ea"/>
                        </a:rPr>
                        <a:t>Arduino UNO</a:t>
                      </a:r>
                      <a:r>
                        <a:rPr lang="zh-CN" sz="1600" kern="500" dirty="0">
                          <a:effectLst/>
                          <a:latin typeface="+mj-ea"/>
                          <a:ea typeface="+mj-ea"/>
                        </a:rPr>
                        <a:t>开发板</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1</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149.5</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dirty="0">
                          <a:effectLst/>
                          <a:latin typeface="+mj-ea"/>
                          <a:ea typeface="+mj-ea"/>
                        </a:rPr>
                        <a:t>6</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dirty="0">
                          <a:effectLst/>
                          <a:latin typeface="+mj-ea"/>
                          <a:ea typeface="+mj-ea"/>
                        </a:rPr>
                        <a:t>2</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dirty="0">
                          <a:effectLst/>
                          <a:latin typeface="+mj-ea"/>
                          <a:ea typeface="+mj-ea"/>
                        </a:rPr>
                        <a:t>0</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dirty="0">
                          <a:effectLst/>
                          <a:latin typeface="+mj-ea"/>
                          <a:ea typeface="+mj-ea"/>
                        </a:rPr>
                        <a:t>0</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0</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0</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0</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0</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LED</a:t>
                      </a:r>
                      <a:endParaRPr lang="zh-CN" sz="1600" kern="750">
                        <a:effectLst/>
                        <a:latin typeface="+mj-ea"/>
                        <a:ea typeface="+mj-ea"/>
                        <a:cs typeface="Times New Roman" panose="02020603050405020304" pitchFamily="18" charset="0"/>
                      </a:endParaRPr>
                    </a:p>
                  </a:txBody>
                  <a:tcPr marL="45727" marR="45727" marT="0" marB="0" anchor="ctr"/>
                </a:tc>
                <a:extLst>
                  <a:ext uri="{0D108BD9-81ED-4DB2-BD59-A6C34878D82A}">
                    <a16:rowId xmlns:a16="http://schemas.microsoft.com/office/drawing/2014/main" val="1889622409"/>
                  </a:ext>
                </a:extLst>
              </a:tr>
              <a:tr h="536939">
                <a:tc>
                  <a:txBody>
                    <a:bodyPr/>
                    <a:lstStyle/>
                    <a:p>
                      <a:pPr algn="ctr">
                        <a:spcBef>
                          <a:spcPts val="600"/>
                        </a:spcBef>
                        <a:spcAft>
                          <a:spcPts val="0"/>
                        </a:spcAft>
                      </a:pPr>
                      <a:r>
                        <a:rPr lang="en-US" sz="1600" kern="500">
                          <a:effectLst/>
                          <a:latin typeface="+mj-ea"/>
                          <a:ea typeface="+mj-ea"/>
                        </a:rPr>
                        <a:t>WiFi</a:t>
                      </a:r>
                      <a:r>
                        <a:rPr lang="zh-CN" sz="1600" kern="500">
                          <a:effectLst/>
                          <a:latin typeface="+mj-ea"/>
                          <a:ea typeface="+mj-ea"/>
                        </a:rPr>
                        <a:t>扩展板</a:t>
                      </a:r>
                      <a:r>
                        <a:rPr lang="en-US" sz="1600" kern="500">
                          <a:effectLst/>
                          <a:latin typeface="+mj-ea"/>
                          <a:ea typeface="+mj-ea"/>
                        </a:rPr>
                        <a:t>V2.0</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4</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271.7</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6</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2</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dirty="0">
                          <a:effectLst/>
                          <a:latin typeface="+mj-ea"/>
                          <a:ea typeface="+mj-ea"/>
                        </a:rPr>
                        <a:t>1</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dirty="0">
                          <a:effectLst/>
                          <a:latin typeface="+mj-ea"/>
                          <a:ea typeface="+mj-ea"/>
                        </a:rPr>
                        <a:t>0</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dirty="0">
                          <a:effectLst/>
                          <a:latin typeface="+mj-ea"/>
                          <a:ea typeface="+mj-ea"/>
                        </a:rPr>
                        <a:t>6</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dirty="0">
                          <a:effectLst/>
                          <a:latin typeface="+mj-ea"/>
                          <a:ea typeface="+mj-ea"/>
                        </a:rPr>
                        <a:t>2</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0</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0</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WiFi</a:t>
                      </a:r>
                      <a:endParaRPr lang="zh-CN" sz="1600" kern="750">
                        <a:effectLst/>
                        <a:latin typeface="+mj-ea"/>
                        <a:ea typeface="+mj-ea"/>
                        <a:cs typeface="Times New Roman" panose="02020603050405020304" pitchFamily="18" charset="0"/>
                      </a:endParaRPr>
                    </a:p>
                  </a:txBody>
                  <a:tcPr marL="45727" marR="45727" marT="0" marB="0" anchor="ctr"/>
                </a:tc>
                <a:extLst>
                  <a:ext uri="{0D108BD9-81ED-4DB2-BD59-A6C34878D82A}">
                    <a16:rowId xmlns:a16="http://schemas.microsoft.com/office/drawing/2014/main" val="1457909354"/>
                  </a:ext>
                </a:extLst>
              </a:tr>
              <a:tr h="536939">
                <a:tc>
                  <a:txBody>
                    <a:bodyPr/>
                    <a:lstStyle/>
                    <a:p>
                      <a:pPr algn="ctr">
                        <a:spcBef>
                          <a:spcPts val="600"/>
                        </a:spcBef>
                        <a:spcAft>
                          <a:spcPts val="0"/>
                        </a:spcAft>
                      </a:pPr>
                      <a:r>
                        <a:rPr lang="zh-CN" sz="1600" kern="500">
                          <a:effectLst/>
                          <a:latin typeface="+mj-ea"/>
                          <a:ea typeface="+mj-ea"/>
                        </a:rPr>
                        <a:t>基础扩展板</a:t>
                      </a:r>
                      <a:r>
                        <a:rPr lang="en-US" sz="1600" kern="500">
                          <a:effectLst/>
                          <a:latin typeface="+mj-ea"/>
                          <a:ea typeface="+mj-ea"/>
                        </a:rPr>
                        <a:t>V1.3</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5</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60.5</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6</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2</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2</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dirty="0">
                          <a:effectLst/>
                          <a:latin typeface="+mj-ea"/>
                          <a:ea typeface="+mj-ea"/>
                        </a:rPr>
                        <a:t>1</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dirty="0">
                          <a:effectLst/>
                          <a:latin typeface="+mj-ea"/>
                          <a:ea typeface="+mj-ea"/>
                        </a:rPr>
                        <a:t>6</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dirty="0">
                          <a:effectLst/>
                          <a:latin typeface="+mj-ea"/>
                          <a:ea typeface="+mj-ea"/>
                        </a:rPr>
                        <a:t>2</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dirty="0">
                          <a:effectLst/>
                          <a:latin typeface="+mj-ea"/>
                          <a:ea typeface="+mj-ea"/>
                        </a:rPr>
                        <a:t>0</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0</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a:t>
                      </a:r>
                      <a:endParaRPr lang="zh-CN" sz="1600" kern="750">
                        <a:effectLst/>
                        <a:latin typeface="+mj-ea"/>
                        <a:ea typeface="+mj-ea"/>
                        <a:cs typeface="Times New Roman" panose="02020603050405020304" pitchFamily="18" charset="0"/>
                      </a:endParaRPr>
                    </a:p>
                  </a:txBody>
                  <a:tcPr marL="45727" marR="45727" marT="0" marB="0" anchor="ctr"/>
                </a:tc>
                <a:extLst>
                  <a:ext uri="{0D108BD9-81ED-4DB2-BD59-A6C34878D82A}">
                    <a16:rowId xmlns:a16="http://schemas.microsoft.com/office/drawing/2014/main" val="2576142767"/>
                  </a:ext>
                </a:extLst>
              </a:tr>
              <a:tr h="536939">
                <a:tc>
                  <a:txBody>
                    <a:bodyPr/>
                    <a:lstStyle/>
                    <a:p>
                      <a:pPr algn="ctr">
                        <a:spcBef>
                          <a:spcPts val="600"/>
                        </a:spcBef>
                        <a:spcAft>
                          <a:spcPts val="0"/>
                        </a:spcAft>
                      </a:pPr>
                      <a:r>
                        <a:rPr lang="en-US" sz="1600" kern="500">
                          <a:effectLst/>
                          <a:latin typeface="+mj-ea"/>
                          <a:ea typeface="+mj-ea"/>
                        </a:rPr>
                        <a:t>Grove</a:t>
                      </a:r>
                      <a:r>
                        <a:rPr lang="zh-CN" sz="1600" kern="500">
                          <a:effectLst/>
                          <a:latin typeface="+mj-ea"/>
                          <a:ea typeface="+mj-ea"/>
                        </a:rPr>
                        <a:t>光照传感器</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6</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19.7</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0</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0</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0</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0</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dirty="0">
                          <a:effectLst/>
                          <a:latin typeface="+mj-ea"/>
                          <a:ea typeface="+mj-ea"/>
                        </a:rPr>
                        <a:t>0</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dirty="0">
                          <a:effectLst/>
                          <a:latin typeface="+mj-ea"/>
                          <a:ea typeface="+mj-ea"/>
                        </a:rPr>
                        <a:t>0</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dirty="0">
                          <a:effectLst/>
                          <a:latin typeface="+mj-ea"/>
                          <a:ea typeface="+mj-ea"/>
                        </a:rPr>
                        <a:t>1</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dirty="0">
                          <a:effectLst/>
                          <a:latin typeface="+mj-ea"/>
                          <a:ea typeface="+mj-ea"/>
                        </a:rPr>
                        <a:t>0</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dirty="0">
                          <a:effectLst/>
                          <a:latin typeface="+mj-ea"/>
                          <a:ea typeface="+mj-ea"/>
                        </a:rPr>
                        <a:t>Light</a:t>
                      </a:r>
                      <a:endParaRPr lang="zh-CN" sz="1600" kern="750" dirty="0">
                        <a:effectLst/>
                        <a:latin typeface="+mj-ea"/>
                        <a:ea typeface="+mj-ea"/>
                        <a:cs typeface="Times New Roman" panose="02020603050405020304" pitchFamily="18" charset="0"/>
                      </a:endParaRPr>
                    </a:p>
                  </a:txBody>
                  <a:tcPr marL="45727" marR="45727" marT="0" marB="0" anchor="ctr"/>
                </a:tc>
                <a:extLst>
                  <a:ext uri="{0D108BD9-81ED-4DB2-BD59-A6C34878D82A}">
                    <a16:rowId xmlns:a16="http://schemas.microsoft.com/office/drawing/2014/main" val="1744649117"/>
                  </a:ext>
                </a:extLst>
              </a:tr>
              <a:tr h="536939">
                <a:tc>
                  <a:txBody>
                    <a:bodyPr/>
                    <a:lstStyle/>
                    <a:p>
                      <a:pPr algn="ctr">
                        <a:spcBef>
                          <a:spcPts val="600"/>
                        </a:spcBef>
                        <a:spcAft>
                          <a:spcPts val="0"/>
                        </a:spcAft>
                      </a:pPr>
                      <a:r>
                        <a:rPr lang="en-US" sz="1600" kern="500">
                          <a:effectLst/>
                          <a:latin typeface="+mj-ea"/>
                          <a:ea typeface="+mj-ea"/>
                        </a:rPr>
                        <a:t>Grove UART WiFi</a:t>
                      </a:r>
                      <a:r>
                        <a:rPr lang="zh-CN" sz="1600" kern="500">
                          <a:effectLst/>
                          <a:latin typeface="+mj-ea"/>
                          <a:ea typeface="+mj-ea"/>
                        </a:rPr>
                        <a:t>模块</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10</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94.5</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0</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0</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0</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0</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a:effectLst/>
                          <a:latin typeface="+mj-ea"/>
                          <a:ea typeface="+mj-ea"/>
                        </a:rPr>
                        <a:t>0</a:t>
                      </a:r>
                      <a:endParaRPr lang="zh-CN" sz="1600" kern="75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dirty="0">
                          <a:effectLst/>
                          <a:latin typeface="+mj-ea"/>
                          <a:ea typeface="+mj-ea"/>
                        </a:rPr>
                        <a:t>0</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dirty="0">
                          <a:effectLst/>
                          <a:latin typeface="+mj-ea"/>
                          <a:ea typeface="+mj-ea"/>
                        </a:rPr>
                        <a:t>0</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dirty="0">
                          <a:effectLst/>
                          <a:latin typeface="+mj-ea"/>
                          <a:ea typeface="+mj-ea"/>
                        </a:rPr>
                        <a:t>1</a:t>
                      </a:r>
                      <a:endParaRPr lang="zh-CN" sz="1600" kern="750" dirty="0">
                        <a:effectLst/>
                        <a:latin typeface="+mj-ea"/>
                        <a:ea typeface="+mj-ea"/>
                        <a:cs typeface="Times New Roman" panose="02020603050405020304" pitchFamily="18" charset="0"/>
                      </a:endParaRPr>
                    </a:p>
                  </a:txBody>
                  <a:tcPr marL="45727" marR="45727" marT="0" marB="0" anchor="ctr"/>
                </a:tc>
                <a:tc>
                  <a:txBody>
                    <a:bodyPr/>
                    <a:lstStyle/>
                    <a:p>
                      <a:pPr algn="ctr">
                        <a:spcBef>
                          <a:spcPts val="600"/>
                        </a:spcBef>
                        <a:spcAft>
                          <a:spcPts val="0"/>
                        </a:spcAft>
                      </a:pPr>
                      <a:r>
                        <a:rPr lang="en-US" sz="1600" kern="500" dirty="0" err="1">
                          <a:effectLst/>
                          <a:latin typeface="+mj-ea"/>
                          <a:ea typeface="+mj-ea"/>
                        </a:rPr>
                        <a:t>WiFi</a:t>
                      </a:r>
                      <a:endParaRPr lang="zh-CN" sz="1600" kern="750" dirty="0">
                        <a:effectLst/>
                        <a:latin typeface="+mj-ea"/>
                        <a:ea typeface="+mj-ea"/>
                        <a:cs typeface="Times New Roman" panose="02020603050405020304" pitchFamily="18" charset="0"/>
                      </a:endParaRPr>
                    </a:p>
                  </a:txBody>
                  <a:tcPr marL="45727" marR="45727" marT="0" marB="0" anchor="ctr"/>
                </a:tc>
                <a:extLst>
                  <a:ext uri="{0D108BD9-81ED-4DB2-BD59-A6C34878D82A}">
                    <a16:rowId xmlns:a16="http://schemas.microsoft.com/office/drawing/2014/main" val="145201041"/>
                  </a:ext>
                </a:extLst>
              </a:tr>
            </a:tbl>
          </a:graphicData>
        </a:graphic>
      </p:graphicFrame>
      <p:sp>
        <p:nvSpPr>
          <p:cNvPr id="6" name="矩形 5"/>
          <p:cNvSpPr/>
          <p:nvPr/>
        </p:nvSpPr>
        <p:spPr>
          <a:xfrm>
            <a:off x="3107598" y="2296503"/>
            <a:ext cx="2672526" cy="338554"/>
          </a:xfrm>
          <a:prstGeom prst="rect">
            <a:avLst/>
          </a:prstGeom>
        </p:spPr>
        <p:txBody>
          <a:bodyPr wrap="none">
            <a:spAutoFit/>
          </a:bodyPr>
          <a:lstStyle/>
          <a:p>
            <a:r>
              <a:rPr lang="zh-CN" altLang="en-US" dirty="0">
                <a:latin typeface="+mj-ea"/>
                <a:ea typeface="+mj-ea"/>
              </a:rPr>
              <a:t>表</a:t>
            </a:r>
            <a:r>
              <a:rPr lang="en-US" altLang="zh-CN" dirty="0">
                <a:latin typeface="+mj-ea"/>
                <a:ea typeface="+mj-ea"/>
              </a:rPr>
              <a:t>4-3  TinyLink</a:t>
            </a:r>
            <a:r>
              <a:rPr lang="zh-CN" altLang="en-US" dirty="0">
                <a:latin typeface="+mj-ea"/>
                <a:ea typeface="+mj-ea"/>
              </a:rPr>
              <a:t>数据库举例</a:t>
            </a:r>
          </a:p>
        </p:txBody>
      </p:sp>
    </p:spTree>
    <p:extLst>
      <p:ext uri="{BB962C8B-B14F-4D97-AF65-F5344CB8AC3E}">
        <p14:creationId xmlns:p14="http://schemas.microsoft.com/office/powerpoint/2010/main" val="515275018"/>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
          <p:cNvSpPr>
            <a:spLocks noGrp="1"/>
          </p:cNvSpPr>
          <p:nvPr>
            <p:ph type="title"/>
          </p:nvPr>
        </p:nvSpPr>
        <p:spPr/>
        <p:txBody>
          <a:bodyPr/>
          <a:lstStyle/>
          <a:p>
            <a:r>
              <a:rPr lang="en-US" altLang="zh-CN" dirty="0" err="1"/>
              <a:t>TinyLink</a:t>
            </a:r>
            <a:r>
              <a:rPr lang="en-US" altLang="zh-CN" dirty="0"/>
              <a:t> 1.0 </a:t>
            </a:r>
            <a:r>
              <a:rPr lang="zh-CN" altLang="zh-CN" dirty="0"/>
              <a:t>硬件生成系统</a:t>
            </a:r>
            <a:endParaRPr lang="zh-CN" altLang="en-US" dirty="0"/>
          </a:p>
        </p:txBody>
      </p:sp>
      <p:sp>
        <p:nvSpPr>
          <p:cNvPr id="6" name="内容占位符 5">
            <a:extLst>
              <a:ext uri="{FF2B5EF4-FFF2-40B4-BE49-F238E27FC236}">
                <a16:creationId xmlns:a16="http://schemas.microsoft.com/office/drawing/2014/main" id="{1EDC1BF0-22EE-4E38-BD64-656434DDA2AB}"/>
              </a:ext>
            </a:extLst>
          </p:cNvPr>
          <p:cNvSpPr>
            <a:spLocks noGrp="1"/>
          </p:cNvSpPr>
          <p:nvPr>
            <p:ph idx="1"/>
          </p:nvPr>
        </p:nvSpPr>
        <p:spPr/>
        <p:txBody>
          <a:bodyPr/>
          <a:lstStyle/>
          <a:p>
            <a:r>
              <a:rPr lang="zh-CN" altLang="en-US"/>
              <a:t>用户需求功能</a:t>
            </a:r>
          </a:p>
          <a:p>
            <a:endParaRPr lang="zh-CN" altLang="en-US" dirty="0"/>
          </a:p>
        </p:txBody>
      </p:sp>
      <p:cxnSp>
        <p:nvCxnSpPr>
          <p:cNvPr id="27" name="直接箭头连接符 26"/>
          <p:cNvCxnSpPr>
            <a:endCxn id="24" idx="1"/>
          </p:cNvCxnSpPr>
          <p:nvPr/>
        </p:nvCxnSpPr>
        <p:spPr>
          <a:xfrm flipV="1">
            <a:off x="4528457" y="2290272"/>
            <a:ext cx="2761120" cy="1179"/>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803563" y="1624637"/>
            <a:ext cx="6060545" cy="4770537"/>
            <a:chOff x="583411" y="1769903"/>
            <a:chExt cx="6482028" cy="5102306"/>
          </a:xfrm>
        </p:grpSpPr>
        <p:sp>
          <p:nvSpPr>
            <p:cNvPr id="20" name="矩形 19"/>
            <p:cNvSpPr/>
            <p:nvPr/>
          </p:nvSpPr>
          <p:spPr>
            <a:xfrm>
              <a:off x="583411" y="1769903"/>
              <a:ext cx="6482028" cy="5102306"/>
            </a:xfrm>
            <a:prstGeom prst="rect">
              <a:avLst/>
            </a:prstGeom>
            <a:ln w="28575">
              <a:solidFill>
                <a:schemeClr val="accent6"/>
              </a:solidFill>
            </a:ln>
          </p:spPr>
          <p:txBody>
            <a:bodyPr wrap="square">
              <a:spAutoFit/>
            </a:bodyPr>
            <a:lstStyle/>
            <a:p>
              <a:pPr eaLnBrk="1" hangingPunct="1">
                <a:defRPr/>
              </a:pPr>
              <a:endParaRPr lang="en-US" altLang="zh-CN" b="1" spc="-100" dirty="0">
                <a:latin typeface="Courier New" panose="02070309020205020404" pitchFamily="49" charset="0"/>
                <a:ea typeface="黑体" panose="02010609060101010101" pitchFamily="49" charset="-122"/>
                <a:cs typeface="Courier New" panose="02070309020205020404" pitchFamily="49" charset="0"/>
              </a:endParaRPr>
            </a:p>
            <a:p>
              <a:pPr eaLnBrk="1" hangingPunct="1">
                <a:defRPr/>
              </a:pPr>
              <a:endParaRPr lang="en-US" altLang="zh-CN" b="1" spc="-100" dirty="0">
                <a:latin typeface="Courier New" panose="02070309020205020404" pitchFamily="49" charset="0"/>
                <a:ea typeface="黑体" panose="02010609060101010101" pitchFamily="49" charset="-122"/>
                <a:cs typeface="Courier New" panose="02070309020205020404" pitchFamily="49" charset="0"/>
              </a:endParaRPr>
            </a:p>
            <a:p>
              <a:pPr eaLnBrk="1" hangingPunct="1">
                <a:defRPr/>
              </a:pP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void upload() {</a:t>
              </a:r>
            </a:p>
            <a:p>
              <a:pPr eaLnBrk="1" hangingPunct="1">
                <a:defRPr/>
              </a:pP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    int light = </a:t>
              </a:r>
              <a:r>
                <a:rPr lang="en-US" altLang="zh-CN" b="1" spc="-100"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TL_Light</a:t>
              </a:r>
              <a:r>
                <a:rPr lang="en-US" altLang="zh-CN" b="1" spc="-100" dirty="0" err="1">
                  <a:latin typeface="Times New Roman" panose="02020603050405020304" pitchFamily="18" charset="0"/>
                  <a:ea typeface="黑体" panose="02010609060101010101" pitchFamily="49" charset="-122"/>
                  <a:cs typeface="Times New Roman" panose="02020603050405020304" pitchFamily="18" charset="0"/>
                </a:rPr>
                <a:t>.data</a:t>
              </a: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a:t>
              </a:r>
            </a:p>
            <a:p>
              <a:pPr eaLnBrk="1" hangingPunct="1">
                <a:defRPr/>
              </a:pP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    int </a:t>
              </a:r>
              <a:r>
                <a:rPr lang="en-US" altLang="zh-CN" b="1" spc="-100" dirty="0" err="1">
                  <a:latin typeface="Times New Roman" panose="02020603050405020304" pitchFamily="18" charset="0"/>
                  <a:ea typeface="黑体" panose="02010609060101010101" pitchFamily="49" charset="-122"/>
                  <a:cs typeface="Times New Roman" panose="02020603050405020304" pitchFamily="18" charset="0"/>
                </a:rPr>
                <a:t>sm</a:t>
              </a: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 = </a:t>
              </a:r>
              <a:r>
                <a:rPr lang="en-US" altLang="zh-CN" b="1" spc="-100" dirty="0" err="1">
                  <a:latin typeface="Times New Roman" panose="02020603050405020304" pitchFamily="18" charset="0"/>
                  <a:ea typeface="黑体" panose="02010609060101010101" pitchFamily="49" charset="-122"/>
                  <a:cs typeface="Times New Roman" panose="02020603050405020304" pitchFamily="18" charset="0"/>
                </a:rPr>
                <a:t>TL_Soil_Moisture.data</a:t>
              </a: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a:t>
              </a:r>
            </a:p>
            <a:p>
              <a:pPr eaLnBrk="1" hangingPunct="1">
                <a:defRPr/>
              </a:pP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    String </a:t>
              </a:r>
              <a:r>
                <a:rPr lang="en-US" altLang="zh-CN" b="1" spc="-100" dirty="0" err="1">
                  <a:latin typeface="Times New Roman" panose="02020603050405020304" pitchFamily="18" charset="0"/>
                  <a:ea typeface="黑体" panose="02010609060101010101" pitchFamily="49" charset="-122"/>
                  <a:cs typeface="Times New Roman" panose="02020603050405020304" pitchFamily="18" charset="0"/>
                </a:rPr>
                <a:t>url</a:t>
              </a: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 =   "http://localhost/upload.php?";</a:t>
              </a:r>
            </a:p>
            <a:p>
              <a:pPr eaLnBrk="1" hangingPunct="1">
                <a:defRPr/>
              </a:pP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1" spc="-100" dirty="0" err="1">
                  <a:latin typeface="Times New Roman" panose="02020603050405020304" pitchFamily="18" charset="0"/>
                  <a:ea typeface="黑体" panose="02010609060101010101" pitchFamily="49" charset="-122"/>
                  <a:cs typeface="Times New Roman" panose="02020603050405020304" pitchFamily="18" charset="0"/>
                </a:rPr>
                <a:t>url</a:t>
              </a: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 += String("light=") + String(light);</a:t>
              </a:r>
            </a:p>
            <a:p>
              <a:pPr eaLnBrk="1" hangingPunct="1">
                <a:defRPr/>
              </a:pP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1" spc="-100" dirty="0" err="1">
                  <a:latin typeface="Times New Roman" panose="02020603050405020304" pitchFamily="18" charset="0"/>
                  <a:ea typeface="黑体" panose="02010609060101010101" pitchFamily="49" charset="-122"/>
                  <a:cs typeface="Times New Roman" panose="02020603050405020304" pitchFamily="18" charset="0"/>
                </a:rPr>
                <a:t>url</a:t>
              </a: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 += String("&amp;</a:t>
              </a:r>
              <a:r>
                <a:rPr lang="en-US" altLang="zh-CN" b="1" spc="-100" dirty="0" err="1">
                  <a:latin typeface="Times New Roman" panose="02020603050405020304" pitchFamily="18" charset="0"/>
                  <a:ea typeface="黑体" panose="02010609060101010101" pitchFamily="49" charset="-122"/>
                  <a:cs typeface="Times New Roman" panose="02020603050405020304" pitchFamily="18" charset="0"/>
                </a:rPr>
                <a:t>sh</a:t>
              </a: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 + String(</a:t>
              </a:r>
              <a:r>
                <a:rPr lang="en-US" altLang="zh-CN" b="1" spc="-100" dirty="0" err="1">
                  <a:latin typeface="Times New Roman" panose="02020603050405020304" pitchFamily="18" charset="0"/>
                  <a:ea typeface="黑体" panose="02010609060101010101" pitchFamily="49" charset="-122"/>
                  <a:cs typeface="Times New Roman" panose="02020603050405020304" pitchFamily="18" charset="0"/>
                </a:rPr>
                <a:t>sm</a:t>
              </a: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a:t>
              </a:r>
            </a:p>
            <a:p>
              <a:pPr eaLnBrk="1" hangingPunct="1">
                <a:defRPr/>
              </a:pP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1" spc="-100"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TL_WiFi</a:t>
              </a:r>
              <a:r>
                <a:rPr lang="en-US" altLang="zh-CN" b="1" spc="-100" dirty="0" err="1">
                  <a:latin typeface="Times New Roman" panose="02020603050405020304" pitchFamily="18" charset="0"/>
                  <a:ea typeface="黑体" panose="02010609060101010101" pitchFamily="49" charset="-122"/>
                  <a:cs typeface="Times New Roman" panose="02020603050405020304" pitchFamily="18" charset="0"/>
                </a:rPr>
                <a:t>.get</a:t>
              </a: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b="1" spc="-100" dirty="0" err="1">
                  <a:latin typeface="Times New Roman" panose="02020603050405020304" pitchFamily="18" charset="0"/>
                  <a:ea typeface="黑体" panose="02010609060101010101" pitchFamily="49" charset="-122"/>
                  <a:cs typeface="Times New Roman" panose="02020603050405020304" pitchFamily="18" charset="0"/>
                </a:rPr>
                <a:t>url</a:t>
              </a: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a:t>
              </a:r>
            </a:p>
            <a:p>
              <a:pPr eaLnBrk="1" hangingPunct="1">
                <a:defRPr/>
              </a:pP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a:t>
              </a:r>
            </a:p>
            <a:p>
              <a:pPr eaLnBrk="1" hangingPunct="1">
                <a:defRPr/>
              </a:pP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void setup() {</a:t>
              </a:r>
            </a:p>
            <a:p>
              <a:pPr eaLnBrk="1" hangingPunct="1">
                <a:defRPr/>
              </a:pP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1" spc="-100" dirty="0" err="1">
                  <a:latin typeface="Times New Roman" panose="02020603050405020304" pitchFamily="18" charset="0"/>
                  <a:ea typeface="黑体" panose="02010609060101010101" pitchFamily="49" charset="-122"/>
                  <a:cs typeface="Times New Roman" panose="02020603050405020304" pitchFamily="18" charset="0"/>
                </a:rPr>
                <a:t>TL_WiFi.init</a:t>
              </a: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a:t>
              </a:r>
            </a:p>
            <a:p>
              <a:pPr eaLnBrk="1" hangingPunct="1">
                <a:defRPr/>
              </a:pP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1" spc="-100" dirty="0" err="1">
                  <a:latin typeface="Times New Roman" panose="02020603050405020304" pitchFamily="18" charset="0"/>
                  <a:ea typeface="黑体" panose="02010609060101010101" pitchFamily="49" charset="-122"/>
                  <a:cs typeface="Times New Roman" panose="02020603050405020304" pitchFamily="18" charset="0"/>
                </a:rPr>
                <a:t>TL_WiFi.join</a:t>
              </a: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("SSID", "PASSWORD");</a:t>
              </a:r>
            </a:p>
            <a:p>
              <a:pPr eaLnBrk="1" hangingPunct="1">
                <a:defRPr/>
              </a:pP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a:t>
              </a:r>
            </a:p>
            <a:p>
              <a:pPr eaLnBrk="1" hangingPunct="1">
                <a:defRPr/>
              </a:pP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void loop() {</a:t>
              </a:r>
            </a:p>
            <a:p>
              <a:pPr eaLnBrk="1" hangingPunct="1">
                <a:defRPr/>
              </a:pP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1" spc="-100" dirty="0" err="1">
                  <a:latin typeface="Times New Roman" panose="02020603050405020304" pitchFamily="18" charset="0"/>
                  <a:ea typeface="黑体" panose="02010609060101010101" pitchFamily="49" charset="-122"/>
                  <a:cs typeface="Times New Roman" panose="02020603050405020304" pitchFamily="18" charset="0"/>
                </a:rPr>
                <a:t>TL_Light.read</a:t>
              </a: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a:t>
              </a:r>
            </a:p>
            <a:p>
              <a:pPr eaLnBrk="1" hangingPunct="1">
                <a:defRPr/>
              </a:pP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1" spc="-100"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TL_Soil_Moisture</a:t>
              </a:r>
              <a:r>
                <a:rPr lang="en-US" altLang="zh-CN" b="1" spc="-100" dirty="0" err="1">
                  <a:latin typeface="Times New Roman" panose="02020603050405020304" pitchFamily="18" charset="0"/>
                  <a:ea typeface="黑体" panose="02010609060101010101" pitchFamily="49" charset="-122"/>
                  <a:cs typeface="Times New Roman" panose="02020603050405020304" pitchFamily="18" charset="0"/>
                </a:rPr>
                <a:t>.read</a:t>
              </a: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a:t>
              </a:r>
            </a:p>
            <a:p>
              <a:pPr eaLnBrk="1" hangingPunct="1">
                <a:defRPr/>
              </a:pP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    upload();</a:t>
              </a:r>
            </a:p>
            <a:p>
              <a:pPr eaLnBrk="1" hangingPunct="1">
                <a:defRPr/>
              </a:pPr>
              <a:r>
                <a:rPr lang="en-US" altLang="zh-CN" b="1" spc="-100" dirty="0">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4" name="矩形 3"/>
            <p:cNvSpPr/>
            <p:nvPr/>
          </p:nvSpPr>
          <p:spPr>
            <a:xfrm>
              <a:off x="583411" y="1769903"/>
              <a:ext cx="6482028" cy="56689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baseline="0" dirty="0">
                  <a:solidFill>
                    <a:schemeClr val="bg1"/>
                  </a:solidFill>
                  <a:latin typeface="+mj-ea"/>
                  <a:ea typeface="+mj-ea"/>
                </a:rPr>
                <a:t>应用代码</a:t>
              </a:r>
              <a:endParaRPr lang="en-US" b="1" baseline="0" dirty="0">
                <a:solidFill>
                  <a:schemeClr val="bg1"/>
                </a:solidFill>
                <a:latin typeface="+mj-ea"/>
                <a:ea typeface="+mj-ea"/>
              </a:endParaRPr>
            </a:p>
          </p:txBody>
        </p:sp>
      </p:grpSp>
      <p:sp>
        <p:nvSpPr>
          <p:cNvPr id="24" name="圆角矩形 23"/>
          <p:cNvSpPr/>
          <p:nvPr/>
        </p:nvSpPr>
        <p:spPr>
          <a:xfrm>
            <a:off x="7289577" y="1978556"/>
            <a:ext cx="1437364" cy="623431"/>
          </a:xfrm>
          <a:prstGeom prst="roundRect">
            <a:avLst/>
          </a:prstGeom>
          <a:solidFill>
            <a:srgbClr val="0070C0"/>
          </a:solidFill>
          <a:ln>
            <a:noFill/>
          </a:ln>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b="1" baseline="0" dirty="0">
                <a:solidFill>
                  <a:schemeClr val="bg1"/>
                </a:solidFill>
                <a:latin typeface="+mj-ea"/>
                <a:ea typeface="+mj-ea"/>
              </a:rPr>
              <a:t>光照</a:t>
            </a:r>
            <a:endParaRPr lang="en-US" b="1" baseline="0" dirty="0">
              <a:solidFill>
                <a:schemeClr val="bg1"/>
              </a:solidFill>
              <a:latin typeface="+mj-ea"/>
              <a:ea typeface="+mj-ea"/>
            </a:endParaRPr>
          </a:p>
        </p:txBody>
      </p:sp>
      <p:cxnSp>
        <p:nvCxnSpPr>
          <p:cNvPr id="26" name="直接箭头连接符 25"/>
          <p:cNvCxnSpPr>
            <a:cxnSpLocks/>
            <a:endCxn id="29" idx="1"/>
          </p:cNvCxnSpPr>
          <p:nvPr/>
        </p:nvCxnSpPr>
        <p:spPr>
          <a:xfrm flipV="1">
            <a:off x="4107543" y="5763688"/>
            <a:ext cx="2980605" cy="56542"/>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9" name="圆角矩形 28"/>
          <p:cNvSpPr/>
          <p:nvPr/>
        </p:nvSpPr>
        <p:spPr>
          <a:xfrm>
            <a:off x="7088148" y="5409087"/>
            <a:ext cx="1879605" cy="709201"/>
          </a:xfrm>
          <a:prstGeom prst="roundRect">
            <a:avLst/>
          </a:prstGeom>
          <a:solidFill>
            <a:srgbClr val="0070C0"/>
          </a:solidFill>
          <a:ln>
            <a:noFill/>
          </a:ln>
        </p:spPr>
        <p:style>
          <a:lnRef idx="3">
            <a:schemeClr val="lt1"/>
          </a:lnRef>
          <a:fillRef idx="1">
            <a:schemeClr val="accent6"/>
          </a:fillRef>
          <a:effectRef idx="1">
            <a:schemeClr val="accent6"/>
          </a:effectRef>
          <a:fontRef idx="minor">
            <a:schemeClr val="lt1"/>
          </a:fontRef>
        </p:style>
        <p:txBody>
          <a:bodyPr rtlCol="0" anchor="ctr"/>
          <a:lstStyle/>
          <a:p>
            <a:pPr algn="ctr">
              <a:lnSpc>
                <a:spcPct val="70000"/>
              </a:lnSpc>
            </a:pPr>
            <a:r>
              <a:rPr lang="zh-CN" altLang="en-US" b="1" baseline="0" dirty="0">
                <a:solidFill>
                  <a:schemeClr val="bg1"/>
                </a:solidFill>
                <a:latin typeface="+mj-ea"/>
                <a:ea typeface="+mj-ea"/>
              </a:rPr>
              <a:t>土壤湿度</a:t>
            </a:r>
            <a:endParaRPr lang="en-US" b="1" baseline="0" dirty="0">
              <a:solidFill>
                <a:schemeClr val="bg1"/>
              </a:solidFill>
              <a:latin typeface="+mj-ea"/>
              <a:ea typeface="+mj-ea"/>
            </a:endParaRPr>
          </a:p>
        </p:txBody>
      </p:sp>
      <p:sp>
        <p:nvSpPr>
          <p:cNvPr id="32" name="圆角矩形 31"/>
          <p:cNvSpPr/>
          <p:nvPr/>
        </p:nvSpPr>
        <p:spPr>
          <a:xfrm>
            <a:off x="7289577" y="3504068"/>
            <a:ext cx="1437364" cy="623431"/>
          </a:xfrm>
          <a:prstGeom prst="roundRect">
            <a:avLst/>
          </a:prstGeom>
          <a:solidFill>
            <a:srgbClr val="0070C0"/>
          </a:solidFill>
          <a:ln>
            <a:noFill/>
          </a:ln>
        </p:spPr>
        <p:style>
          <a:lnRef idx="3">
            <a:schemeClr val="lt1"/>
          </a:lnRef>
          <a:fillRef idx="1">
            <a:schemeClr val="accent6"/>
          </a:fillRef>
          <a:effectRef idx="1">
            <a:schemeClr val="accent6"/>
          </a:effectRef>
          <a:fontRef idx="minor">
            <a:schemeClr val="lt1"/>
          </a:fontRef>
        </p:style>
        <p:txBody>
          <a:bodyPr rtlCol="0" anchor="ctr"/>
          <a:lstStyle/>
          <a:p>
            <a:pPr algn="ctr"/>
            <a:r>
              <a:rPr lang="en-US" b="1" baseline="0" dirty="0">
                <a:solidFill>
                  <a:schemeClr val="bg1"/>
                </a:solidFill>
                <a:latin typeface="+mj-ea"/>
                <a:ea typeface="+mj-ea"/>
              </a:rPr>
              <a:t>WiFi</a:t>
            </a:r>
          </a:p>
        </p:txBody>
      </p:sp>
      <p:cxnSp>
        <p:nvCxnSpPr>
          <p:cNvPr id="34" name="直接箭头连接符 33"/>
          <p:cNvCxnSpPr/>
          <p:nvPr/>
        </p:nvCxnSpPr>
        <p:spPr>
          <a:xfrm>
            <a:off x="3236686" y="3805803"/>
            <a:ext cx="4052891" cy="9981"/>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4906622"/>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1"/>
          <p:cNvSpPr>
            <a:spLocks noGrp="1"/>
          </p:cNvSpPr>
          <p:nvPr>
            <p:ph type="title"/>
          </p:nvPr>
        </p:nvSpPr>
        <p:spPr/>
        <p:txBody>
          <a:bodyPr/>
          <a:lstStyle/>
          <a:p>
            <a:r>
              <a:rPr lang="en-US" altLang="zh-CN" dirty="0" err="1"/>
              <a:t>TinyLink</a:t>
            </a:r>
            <a:r>
              <a:rPr lang="en-US" altLang="zh-CN" dirty="0"/>
              <a:t> 1.0 </a:t>
            </a:r>
            <a:r>
              <a:rPr lang="zh-CN" altLang="zh-CN" dirty="0"/>
              <a:t>硬件生成系统</a:t>
            </a:r>
            <a:endParaRPr lang="zh-CN" altLang="en-US" dirty="0"/>
          </a:p>
        </p:txBody>
      </p:sp>
      <p:sp>
        <p:nvSpPr>
          <p:cNvPr id="4" name="内容占位符 3">
            <a:extLst>
              <a:ext uri="{FF2B5EF4-FFF2-40B4-BE49-F238E27FC236}">
                <a16:creationId xmlns:a16="http://schemas.microsoft.com/office/drawing/2014/main" id="{3221CC5A-181B-4906-8CBE-7CC290D2A9CF}"/>
              </a:ext>
            </a:extLst>
          </p:cNvPr>
          <p:cNvSpPr>
            <a:spLocks noGrp="1"/>
          </p:cNvSpPr>
          <p:nvPr>
            <p:ph idx="1"/>
          </p:nvPr>
        </p:nvSpPr>
        <p:spPr/>
        <p:txBody>
          <a:bodyPr/>
          <a:lstStyle/>
          <a:p>
            <a:r>
              <a:rPr lang="zh-CN" altLang="en-US"/>
              <a:t>用户约束条件</a:t>
            </a:r>
          </a:p>
          <a:p>
            <a:pPr lvl="1"/>
            <a:r>
              <a:rPr lang="zh-CN" altLang="en-US"/>
              <a:t>所有包含</a:t>
            </a:r>
            <a:r>
              <a:rPr lang="en-US" altLang="zh-CN"/>
              <a:t>WiFi</a:t>
            </a:r>
            <a:r>
              <a:rPr lang="zh-CN" altLang="en-US"/>
              <a:t>功能的模块总数量应该大于</a:t>
            </a:r>
            <a:r>
              <a:rPr lang="en-US" altLang="zh-CN"/>
              <a:t>1</a:t>
            </a:r>
          </a:p>
          <a:p>
            <a:endParaRPr lang="zh-CN" altLang="en-US" dirty="0"/>
          </a:p>
        </p:txBody>
      </p:sp>
      <p:sp>
        <p:nvSpPr>
          <p:cNvPr id="10" name="文本框 9"/>
          <p:cNvSpPr txBox="1"/>
          <p:nvPr/>
        </p:nvSpPr>
        <p:spPr>
          <a:xfrm>
            <a:off x="527440" y="3272139"/>
            <a:ext cx="2496916" cy="1528624"/>
          </a:xfrm>
          <a:prstGeom prst="rect">
            <a:avLst/>
          </a:prstGeom>
          <a:noFill/>
        </p:spPr>
        <p:txBody>
          <a:bodyPr wrap="square" rtlCol="0">
            <a:spAutoFit/>
          </a:bodyPr>
          <a:lstStyle/>
          <a:p>
            <a:pPr algn="ctr"/>
            <a:r>
              <a:rPr lang="zh-CN" altLang="en-US" sz="2800" b="1" dirty="0">
                <a:latin typeface="微软雅黑" panose="020B0503020204020204" pitchFamily="34" charset="-122"/>
                <a:ea typeface="微软雅黑" panose="020B0503020204020204" pitchFamily="34" charset="-122"/>
              </a:rPr>
              <a:t>主板</a:t>
            </a:r>
            <a:endParaRPr lang="en-US" sz="2800" b="1" dirty="0">
              <a:latin typeface="微软雅黑" panose="020B0503020204020204" pitchFamily="34" charset="-122"/>
              <a:ea typeface="微软雅黑" panose="020B0503020204020204" pitchFamily="34" charset="-122"/>
            </a:endParaRPr>
          </a:p>
          <a:p>
            <a:pPr marL="457200" indent="-457200">
              <a:buFont typeface="Arial" panose="020B0604020202020204" pitchFamily="34" charset="0"/>
              <a:buChar char="•"/>
            </a:pPr>
            <a:endParaRPr lang="en-US" sz="2800" dirty="0">
              <a:latin typeface="微软雅黑" panose="020B0503020204020204" pitchFamily="34" charset="-122"/>
              <a:ea typeface="微软雅黑" panose="020B0503020204020204" pitchFamily="34" charset="-122"/>
            </a:endParaRPr>
          </a:p>
          <a:p>
            <a:r>
              <a:rPr lang="en-US" altLang="zh-CN" sz="2800" b="1" dirty="0">
                <a:latin typeface="微软雅黑" panose="020B0503020204020204" pitchFamily="34" charset="-122"/>
                <a:ea typeface="微软雅黑" panose="020B0503020204020204" pitchFamily="34" charset="-122"/>
              </a:rPr>
              <a:t>· </a:t>
            </a:r>
            <a:r>
              <a:rPr lang="en-US" sz="2800" dirty="0">
                <a:latin typeface="微软雅黑" panose="020B0503020204020204" pitchFamily="34" charset="-122"/>
                <a:ea typeface="微软雅黑" panose="020B0503020204020204" pitchFamily="34" charset="-122"/>
              </a:rPr>
              <a:t>LinkIt One</a:t>
            </a:r>
          </a:p>
          <a:p>
            <a:pPr marL="457200" indent="-457200">
              <a:buFont typeface="Arial" panose="020B0604020202020204" pitchFamily="34" charset="0"/>
              <a:buChar char="•"/>
            </a:pPr>
            <a:endParaRPr lang="en-US" sz="2800" dirty="0">
              <a:latin typeface="微软雅黑" panose="020B0503020204020204" pitchFamily="34" charset="-122"/>
              <a:ea typeface="微软雅黑" panose="020B0503020204020204" pitchFamily="34" charset="-122"/>
            </a:endParaRPr>
          </a:p>
          <a:p>
            <a:endParaRPr lang="en-US" sz="2800" dirty="0">
              <a:latin typeface="微软雅黑" panose="020B0503020204020204" pitchFamily="34" charset="-122"/>
              <a:ea typeface="微软雅黑" panose="020B0503020204020204" pitchFamily="34" charset="-122"/>
            </a:endParaRPr>
          </a:p>
        </p:txBody>
      </p:sp>
      <p:sp>
        <p:nvSpPr>
          <p:cNvPr id="31" name="文本框 30"/>
          <p:cNvSpPr txBox="1"/>
          <p:nvPr/>
        </p:nvSpPr>
        <p:spPr>
          <a:xfrm>
            <a:off x="3408756" y="3272138"/>
            <a:ext cx="2367244" cy="1774845"/>
          </a:xfrm>
          <a:prstGeom prst="rect">
            <a:avLst/>
          </a:prstGeom>
          <a:noFill/>
        </p:spPr>
        <p:txBody>
          <a:bodyPr wrap="square" rtlCol="0">
            <a:spAutoFit/>
          </a:bodyPr>
          <a:lstStyle/>
          <a:p>
            <a:pPr algn="ctr"/>
            <a:r>
              <a:rPr lang="zh-CN" altLang="en-US" sz="2800" b="1" dirty="0">
                <a:latin typeface="微软雅黑" panose="020B0503020204020204" pitchFamily="34" charset="-122"/>
                <a:ea typeface="微软雅黑" panose="020B0503020204020204" pitchFamily="34" charset="-122"/>
              </a:rPr>
              <a:t>扩展板</a:t>
            </a:r>
            <a:endParaRPr lang="en-US" altLang="zh-CN" sz="2800" b="1" dirty="0">
              <a:latin typeface="微软雅黑" panose="020B0503020204020204" pitchFamily="34" charset="-122"/>
              <a:ea typeface="微软雅黑" panose="020B0503020204020204" pitchFamily="34" charset="-122"/>
            </a:endParaRPr>
          </a:p>
          <a:p>
            <a:pPr algn="ctr"/>
            <a:endParaRPr lang="en-US" sz="2800" b="1" dirty="0">
              <a:latin typeface="微软雅黑" panose="020B0503020204020204" pitchFamily="34" charset="-122"/>
              <a:ea typeface="微软雅黑" panose="020B0503020204020204" pitchFamily="34" charset="-122"/>
            </a:endParaRPr>
          </a:p>
          <a:p>
            <a:r>
              <a:rPr lang="en-US" altLang="zh-CN" sz="2800" b="1" dirty="0">
                <a:latin typeface="微软雅黑" panose="020B0503020204020204" pitchFamily="34" charset="-122"/>
                <a:ea typeface="微软雅黑" panose="020B0503020204020204" pitchFamily="34" charset="-122"/>
              </a:rPr>
              <a:t>· </a:t>
            </a:r>
            <a:r>
              <a:rPr lang="en-US" sz="2800" dirty="0">
                <a:latin typeface="微软雅黑" panose="020B0503020204020204" pitchFamily="34" charset="-122"/>
                <a:ea typeface="微软雅黑" panose="020B0503020204020204" pitchFamily="34" charset="-122"/>
              </a:rPr>
              <a:t>WiFi Shield V2.0</a:t>
            </a:r>
          </a:p>
          <a:p>
            <a:pPr marL="342900" indent="-342900">
              <a:buFont typeface="Arial" panose="020B0604020202020204" pitchFamily="34" charset="0"/>
              <a:buChar char="•"/>
            </a:pPr>
            <a:endParaRPr lang="en-US" sz="28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en-US"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en-US" sz="2800" dirty="0">
              <a:latin typeface="微软雅黑" panose="020B0503020204020204" pitchFamily="34" charset="-122"/>
              <a:ea typeface="微软雅黑" panose="020B0503020204020204" pitchFamily="34" charset="-122"/>
            </a:endParaRPr>
          </a:p>
        </p:txBody>
      </p:sp>
      <p:pic>
        <p:nvPicPr>
          <p:cNvPr id="15364" name="Picture 4" descr="“linkit one”的图片搜索结果"/>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6823" t="19846" r="14606" b="22685"/>
          <a:stretch/>
        </p:blipFill>
        <p:spPr bwMode="auto">
          <a:xfrm>
            <a:off x="734583" y="4332290"/>
            <a:ext cx="1674788" cy="1052724"/>
          </a:xfrm>
          <a:prstGeom prst="rect">
            <a:avLst/>
          </a:prstGeom>
          <a:noFill/>
          <a:extLst>
            <a:ext uri="{909E8E84-426E-40DD-AFC4-6F175D3DCCD1}">
              <a14:hiddenFill xmlns:a14="http://schemas.microsoft.com/office/drawing/2010/main">
                <a:solidFill>
                  <a:srgbClr val="FFFFFF"/>
                </a:solidFill>
              </a14:hiddenFill>
            </a:ext>
          </a:extLst>
        </p:spPr>
      </p:pic>
      <p:pic>
        <p:nvPicPr>
          <p:cNvPr id="15366" name="Picture 6" descr="“wifi shield v2.0”的图片搜索结果"/>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7258" t="24272" r="18088" b="24354"/>
          <a:stretch/>
        </p:blipFill>
        <p:spPr bwMode="auto">
          <a:xfrm>
            <a:off x="4040030" y="4332290"/>
            <a:ext cx="1324827" cy="1052724"/>
          </a:xfrm>
          <a:prstGeom prst="rect">
            <a:avLst/>
          </a:prstGeom>
          <a:noFill/>
          <a:extLst>
            <a:ext uri="{909E8E84-426E-40DD-AFC4-6F175D3DCCD1}">
              <a14:hiddenFill xmlns:a14="http://schemas.microsoft.com/office/drawing/2010/main">
                <a:solidFill>
                  <a:srgbClr val="FFFFFF"/>
                </a:solidFill>
              </a14:hiddenFill>
            </a:ext>
          </a:extLst>
        </p:spPr>
      </p:pic>
      <p:sp>
        <p:nvSpPr>
          <p:cNvPr id="34" name="文本框 33"/>
          <p:cNvSpPr txBox="1"/>
          <p:nvPr/>
        </p:nvSpPr>
        <p:spPr>
          <a:xfrm>
            <a:off x="6142270" y="3272138"/>
            <a:ext cx="2842254" cy="1446550"/>
          </a:xfrm>
          <a:prstGeom prst="rect">
            <a:avLst/>
          </a:prstGeom>
          <a:noFill/>
        </p:spPr>
        <p:txBody>
          <a:bodyPr wrap="square" rtlCol="0">
            <a:spAutoFit/>
          </a:bodyPr>
          <a:lstStyle/>
          <a:p>
            <a:pPr algn="ctr"/>
            <a:r>
              <a:rPr lang="zh-CN" altLang="en-US" sz="2800" b="1" dirty="0">
                <a:latin typeface="微软雅黑" panose="020B0503020204020204" pitchFamily="34" charset="-122"/>
                <a:ea typeface="微软雅黑" panose="020B0503020204020204" pitchFamily="34" charset="-122"/>
              </a:rPr>
              <a:t>外设</a:t>
            </a:r>
            <a:endParaRPr lang="en-US" sz="2800" b="1"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en-US" sz="2800" dirty="0">
              <a:latin typeface="微软雅黑" panose="020B0503020204020204" pitchFamily="34" charset="-122"/>
              <a:ea typeface="微软雅黑" panose="020B0503020204020204" pitchFamily="34" charset="-122"/>
            </a:endParaRPr>
          </a:p>
          <a:p>
            <a:r>
              <a:rPr lang="en-US" altLang="zh-CN" sz="2800" b="1"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 Grove UART WiFi</a:t>
            </a:r>
            <a:endParaRPr lang="en-US" sz="28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en-US" sz="20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en-US" sz="2800" dirty="0">
              <a:latin typeface="微软雅黑" panose="020B0503020204020204" pitchFamily="34" charset="-122"/>
              <a:ea typeface="微软雅黑" panose="020B0503020204020204" pitchFamily="34" charset="-122"/>
            </a:endParaRPr>
          </a:p>
        </p:txBody>
      </p:sp>
      <p:pic>
        <p:nvPicPr>
          <p:cNvPr id="35" name="图片 15"/>
          <p:cNvPicPr>
            <a:picLocks noChangeAspect="1"/>
          </p:cNvPicPr>
          <p:nvPr/>
        </p:nvPicPr>
        <p:blipFill>
          <a:blip r:embed="rId5" cstate="print">
            <a:extLst>
              <a:ext uri="{BEBA8EAE-BF5A-486C-A8C5-ECC9F3942E4B}">
                <a14:imgProps xmlns:a14="http://schemas.microsoft.com/office/drawing/2010/main">
                  <a14:imgLayer r:embed="rId6">
                    <a14:imgEffect>
                      <a14:backgroundRemoval t="3521" b="91197" l="9549" r="89125"/>
                    </a14:imgEffect>
                  </a14:imgLayer>
                </a14:imgProps>
              </a:ext>
              <a:ext uri="{28A0092B-C50C-407E-A947-70E740481C1C}">
                <a14:useLocalDpi xmlns:a14="http://schemas.microsoft.com/office/drawing/2010/main" val="0"/>
              </a:ext>
            </a:extLst>
          </a:blip>
          <a:srcRect l="14493" t="8981" r="18626" b="14618"/>
          <a:stretch>
            <a:fillRect/>
          </a:stretch>
        </p:blipFill>
        <p:spPr bwMode="auto">
          <a:xfrm>
            <a:off x="6978574" y="4444808"/>
            <a:ext cx="1177023" cy="1009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组合 15"/>
          <p:cNvGrpSpPr/>
          <p:nvPr/>
        </p:nvGrpSpPr>
        <p:grpSpPr>
          <a:xfrm>
            <a:off x="290287" y="2766317"/>
            <a:ext cx="8643556" cy="3029589"/>
            <a:chOff x="290287" y="3218491"/>
            <a:chExt cx="8643556" cy="3029589"/>
          </a:xfrm>
        </p:grpSpPr>
        <p:grpSp>
          <p:nvGrpSpPr>
            <p:cNvPr id="47" name="组合 46"/>
            <p:cNvGrpSpPr/>
            <p:nvPr/>
          </p:nvGrpSpPr>
          <p:grpSpPr>
            <a:xfrm>
              <a:off x="290287" y="3218491"/>
              <a:ext cx="8643556" cy="3029589"/>
              <a:chOff x="583411" y="1769903"/>
              <a:chExt cx="6482028" cy="2507651"/>
            </a:xfrm>
          </p:grpSpPr>
          <p:sp>
            <p:nvSpPr>
              <p:cNvPr id="48" name="矩形 47"/>
              <p:cNvSpPr/>
              <p:nvPr/>
            </p:nvSpPr>
            <p:spPr>
              <a:xfrm>
                <a:off x="583411" y="1769903"/>
                <a:ext cx="6482028" cy="2507651"/>
              </a:xfrm>
              <a:prstGeom prst="rect">
                <a:avLst/>
              </a:prstGeom>
              <a:ln w="28575">
                <a:solidFill>
                  <a:schemeClr val="accent6"/>
                </a:solidFill>
              </a:ln>
            </p:spPr>
            <p:txBody>
              <a:bodyPr wrap="square">
                <a:noAutofit/>
              </a:bodyPr>
              <a:lstStyle/>
              <a:p>
                <a:pPr eaLnBrk="1" hangingPunct="1">
                  <a:defRPr/>
                </a:pPr>
                <a:endParaRPr lang="en-US" altLang="zh-CN" spc="-100" dirty="0">
                  <a:latin typeface="Courier New" panose="02070309020205020404" pitchFamily="49" charset="0"/>
                  <a:ea typeface="黑体" panose="02010609060101010101" pitchFamily="49" charset="-122"/>
                  <a:cs typeface="Courier New" panose="02070309020205020404" pitchFamily="49" charset="0"/>
                </a:endParaRPr>
              </a:p>
              <a:p>
                <a:pPr eaLnBrk="1" hangingPunct="1">
                  <a:defRPr/>
                </a:pPr>
                <a:endParaRPr lang="en-US" altLang="zh-CN" spc="-100" dirty="0">
                  <a:latin typeface="Courier New" panose="02070309020205020404" pitchFamily="49" charset="0"/>
                  <a:ea typeface="黑体" panose="02010609060101010101" pitchFamily="49" charset="-122"/>
                  <a:cs typeface="Courier New" panose="02070309020205020404" pitchFamily="49" charset="0"/>
                </a:endParaRPr>
              </a:p>
              <a:p>
                <a:pPr eaLnBrk="1" hangingPunct="1">
                  <a:defRPr/>
                </a:pPr>
                <a:endParaRPr lang="en-US" altLang="zh-CN" spc="-100" dirty="0">
                  <a:latin typeface="Courier New" panose="02070309020205020404" pitchFamily="49" charset="0"/>
                  <a:ea typeface="黑体" panose="02010609060101010101" pitchFamily="49" charset="-122"/>
                  <a:cs typeface="Courier New" panose="02070309020205020404" pitchFamily="49" charset="0"/>
                </a:endParaRPr>
              </a:p>
              <a:p>
                <a:pPr eaLnBrk="1" hangingPunct="1">
                  <a:defRPr/>
                </a:pPr>
                <a:endParaRPr lang="en-US" altLang="zh-CN" spc="-100" dirty="0">
                  <a:latin typeface="Courier New" panose="02070309020205020404" pitchFamily="49" charset="0"/>
                  <a:ea typeface="黑体" panose="02010609060101010101" pitchFamily="49" charset="-122"/>
                  <a:cs typeface="Courier New" panose="02070309020205020404" pitchFamily="49" charset="0"/>
                </a:endParaRPr>
              </a:p>
              <a:p>
                <a:pPr eaLnBrk="1" hangingPunct="1">
                  <a:defRPr/>
                </a:pPr>
                <a:endParaRPr lang="en-US" altLang="zh-CN" spc="-100" dirty="0">
                  <a:latin typeface="Courier New" panose="02070309020205020404" pitchFamily="49" charset="0"/>
                  <a:ea typeface="黑体" panose="02010609060101010101" pitchFamily="49" charset="-122"/>
                  <a:cs typeface="Courier New" panose="02070309020205020404" pitchFamily="49" charset="0"/>
                </a:endParaRPr>
              </a:p>
              <a:p>
                <a:pPr eaLnBrk="1" hangingPunct="1">
                  <a:defRPr/>
                </a:pPr>
                <a:endParaRPr lang="en-US" altLang="zh-CN" spc="-100" dirty="0">
                  <a:latin typeface="Courier New" panose="02070309020205020404" pitchFamily="49" charset="0"/>
                  <a:ea typeface="黑体" panose="02010609060101010101" pitchFamily="49" charset="-122"/>
                  <a:cs typeface="Courier New" panose="02070309020205020404" pitchFamily="49" charset="0"/>
                </a:endParaRPr>
              </a:p>
              <a:p>
                <a:pPr eaLnBrk="1" hangingPunct="1">
                  <a:defRPr/>
                </a:pPr>
                <a:endParaRPr lang="en-US" altLang="zh-CN" spc="-100" dirty="0">
                  <a:latin typeface="Courier New" panose="02070309020205020404" pitchFamily="49" charset="0"/>
                  <a:ea typeface="黑体" panose="02010609060101010101" pitchFamily="49" charset="-122"/>
                  <a:cs typeface="Courier New" panose="02070309020205020404" pitchFamily="49" charset="0"/>
                </a:endParaRPr>
              </a:p>
              <a:p>
                <a:pPr eaLnBrk="1" hangingPunct="1">
                  <a:defRPr/>
                </a:pPr>
                <a:endParaRPr lang="en-US" altLang="zh-CN" spc="-100" dirty="0">
                  <a:latin typeface="Courier New" panose="02070309020205020404" pitchFamily="49" charset="0"/>
                  <a:ea typeface="黑体" panose="02010609060101010101" pitchFamily="49" charset="-122"/>
                  <a:cs typeface="Courier New" panose="02070309020205020404" pitchFamily="49" charset="0"/>
                </a:endParaRPr>
              </a:p>
              <a:p>
                <a:pPr eaLnBrk="1" hangingPunct="1">
                  <a:defRPr/>
                </a:pPr>
                <a:endParaRPr lang="en-US" altLang="zh-CN" spc="-100" dirty="0">
                  <a:latin typeface="Courier New" panose="02070309020205020404" pitchFamily="49" charset="0"/>
                  <a:ea typeface="黑体" panose="02010609060101010101" pitchFamily="49" charset="-122"/>
                  <a:cs typeface="Courier New" panose="02070309020205020404" pitchFamily="49" charset="0"/>
                </a:endParaRPr>
              </a:p>
              <a:p>
                <a:pPr eaLnBrk="1" hangingPunct="1">
                  <a:defRPr/>
                </a:pPr>
                <a:endParaRPr lang="en-US" altLang="zh-CN" spc="-100" dirty="0">
                  <a:latin typeface="Courier New" panose="02070309020205020404" pitchFamily="49" charset="0"/>
                  <a:ea typeface="黑体" panose="02010609060101010101" pitchFamily="49" charset="-122"/>
                  <a:cs typeface="Courier New" panose="02070309020205020404" pitchFamily="49" charset="0"/>
                </a:endParaRPr>
              </a:p>
            </p:txBody>
          </p:sp>
          <p:sp>
            <p:nvSpPr>
              <p:cNvPr id="49" name="矩形 48"/>
              <p:cNvSpPr/>
              <p:nvPr/>
            </p:nvSpPr>
            <p:spPr>
              <a:xfrm>
                <a:off x="583411" y="1769903"/>
                <a:ext cx="6482028" cy="4075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baseline="0" dirty="0">
                    <a:solidFill>
                      <a:schemeClr val="bg1"/>
                    </a:solidFill>
                    <a:latin typeface="微软雅黑" panose="020B0503020204020204" pitchFamily="34" charset="-122"/>
                    <a:ea typeface="微软雅黑" panose="020B0503020204020204" pitchFamily="34" charset="-122"/>
                  </a:rPr>
                  <a:t>含有</a:t>
                </a:r>
                <a:r>
                  <a:rPr lang="en-US" altLang="zh-CN" b="1" baseline="0" dirty="0">
                    <a:solidFill>
                      <a:schemeClr val="bg1"/>
                    </a:solidFill>
                    <a:latin typeface="微软雅黑" panose="020B0503020204020204" pitchFamily="34" charset="-122"/>
                    <a:ea typeface="微软雅黑" panose="020B0503020204020204" pitchFamily="34" charset="-122"/>
                  </a:rPr>
                  <a:t>WiFi</a:t>
                </a:r>
                <a:r>
                  <a:rPr lang="zh-CN" altLang="en-US" b="1" baseline="0" dirty="0">
                    <a:solidFill>
                      <a:schemeClr val="bg1"/>
                    </a:solidFill>
                    <a:latin typeface="微软雅黑" panose="020B0503020204020204" pitchFamily="34" charset="-122"/>
                    <a:ea typeface="微软雅黑" panose="020B0503020204020204" pitchFamily="34" charset="-122"/>
                  </a:rPr>
                  <a:t>功能的模块有如下三种</a:t>
                </a:r>
                <a:endParaRPr lang="en-US" altLang="zh-CN" b="1" baseline="0" dirty="0">
                  <a:solidFill>
                    <a:schemeClr val="bg1"/>
                  </a:solidFill>
                  <a:latin typeface="微软雅黑" panose="020B0503020204020204" pitchFamily="34" charset="-122"/>
                  <a:ea typeface="微软雅黑" panose="020B0503020204020204" pitchFamily="34" charset="-122"/>
                </a:endParaRPr>
              </a:p>
              <a:p>
                <a:pPr algn="ctr">
                  <a:spcAft>
                    <a:spcPts val="1200"/>
                  </a:spcAft>
                </a:pPr>
                <a:endParaRPr lang="en-US" sz="1600" dirty="0">
                  <a:solidFill>
                    <a:schemeClr val="bg1"/>
                  </a:solidFill>
                  <a:latin typeface="微软雅黑" panose="020B0503020204020204" pitchFamily="34" charset="-122"/>
                  <a:ea typeface="微软雅黑" panose="020B0503020204020204" pitchFamily="34" charset="-122"/>
                </a:endParaRPr>
              </a:p>
            </p:txBody>
          </p:sp>
        </p:grpSp>
        <p:sp>
          <p:nvSpPr>
            <p:cNvPr id="50" name="矩形 49"/>
            <p:cNvSpPr/>
            <p:nvPr/>
          </p:nvSpPr>
          <p:spPr>
            <a:xfrm>
              <a:off x="3120571" y="3683000"/>
              <a:ext cx="3079757" cy="2565080"/>
            </a:xfrm>
            <a:prstGeom prst="rect">
              <a:avLst/>
            </a:prstGeom>
            <a:ln w="28575">
              <a:solidFill>
                <a:schemeClr val="accent6"/>
              </a:solidFill>
            </a:ln>
          </p:spPr>
          <p:txBody>
            <a:bodyPr wrap="square">
              <a:noAutofit/>
            </a:bodyPr>
            <a:lstStyle/>
            <a:p>
              <a:pPr eaLnBrk="1" hangingPunct="1">
                <a:defRPr/>
              </a:pPr>
              <a:endParaRPr lang="en-US" altLang="zh-CN" spc="-100" dirty="0">
                <a:latin typeface="Courier New" panose="02070309020205020404" pitchFamily="49" charset="0"/>
                <a:ea typeface="黑体" panose="02010609060101010101" pitchFamily="49" charset="-122"/>
                <a:cs typeface="Courier New" panose="02070309020205020404" pitchFamily="49" charset="0"/>
              </a:endParaRPr>
            </a:p>
            <a:p>
              <a:pPr eaLnBrk="1" hangingPunct="1">
                <a:defRPr/>
              </a:pPr>
              <a:endParaRPr lang="en-US" altLang="zh-CN" spc="-100" dirty="0">
                <a:latin typeface="Courier New" panose="02070309020205020404" pitchFamily="49" charset="0"/>
                <a:ea typeface="黑体" panose="02010609060101010101" pitchFamily="49" charset="-122"/>
                <a:cs typeface="Courier New" panose="02070309020205020404" pitchFamily="49" charset="0"/>
              </a:endParaRPr>
            </a:p>
            <a:p>
              <a:pPr eaLnBrk="1" hangingPunct="1">
                <a:defRPr/>
              </a:pPr>
              <a:endParaRPr lang="en-US" altLang="zh-CN" spc="-100" dirty="0">
                <a:latin typeface="Courier New" panose="02070309020205020404" pitchFamily="49" charset="0"/>
                <a:ea typeface="黑体" panose="02010609060101010101" pitchFamily="49" charset="-122"/>
                <a:cs typeface="Courier New" panose="02070309020205020404" pitchFamily="49" charset="0"/>
              </a:endParaRPr>
            </a:p>
            <a:p>
              <a:pPr eaLnBrk="1" hangingPunct="1">
                <a:defRPr/>
              </a:pPr>
              <a:endParaRPr lang="en-US" altLang="zh-CN" spc="-100" dirty="0">
                <a:latin typeface="Courier New" panose="02070309020205020404" pitchFamily="49" charset="0"/>
                <a:ea typeface="黑体" panose="02010609060101010101" pitchFamily="49" charset="-122"/>
                <a:cs typeface="Courier New" panose="02070309020205020404" pitchFamily="49" charset="0"/>
              </a:endParaRPr>
            </a:p>
            <a:p>
              <a:pPr eaLnBrk="1" hangingPunct="1">
                <a:defRPr/>
              </a:pPr>
              <a:endParaRPr lang="en-US" altLang="zh-CN" spc="-100" dirty="0">
                <a:latin typeface="Courier New" panose="02070309020205020404" pitchFamily="49" charset="0"/>
                <a:ea typeface="黑体" panose="02010609060101010101" pitchFamily="49" charset="-122"/>
                <a:cs typeface="Courier New" panose="02070309020205020404" pitchFamily="49" charset="0"/>
              </a:endParaRPr>
            </a:p>
            <a:p>
              <a:pPr eaLnBrk="1" hangingPunct="1">
                <a:defRPr/>
              </a:pPr>
              <a:endParaRPr lang="en-US" altLang="zh-CN" spc="-100" dirty="0">
                <a:latin typeface="Courier New" panose="02070309020205020404" pitchFamily="49" charset="0"/>
                <a:ea typeface="黑体" panose="02010609060101010101" pitchFamily="49" charset="-122"/>
                <a:cs typeface="Courier New" panose="02070309020205020404" pitchFamily="49" charset="0"/>
              </a:endParaRPr>
            </a:p>
            <a:p>
              <a:pPr eaLnBrk="1" hangingPunct="1">
                <a:defRPr/>
              </a:pPr>
              <a:endParaRPr lang="en-US" altLang="zh-CN" spc="-100" dirty="0">
                <a:latin typeface="Courier New" panose="02070309020205020404" pitchFamily="49" charset="0"/>
                <a:ea typeface="黑体" panose="02010609060101010101" pitchFamily="49" charset="-122"/>
                <a:cs typeface="Courier New" panose="02070309020205020404" pitchFamily="49" charset="0"/>
              </a:endParaRPr>
            </a:p>
            <a:p>
              <a:pPr eaLnBrk="1" hangingPunct="1">
                <a:defRPr/>
              </a:pPr>
              <a:endParaRPr lang="en-US" altLang="zh-CN" spc="-100" dirty="0">
                <a:latin typeface="Courier New" panose="02070309020205020404" pitchFamily="49" charset="0"/>
                <a:ea typeface="黑体" panose="02010609060101010101" pitchFamily="49" charset="-122"/>
                <a:cs typeface="Courier New" panose="02070309020205020404" pitchFamily="49" charset="0"/>
              </a:endParaRPr>
            </a:p>
            <a:p>
              <a:pPr eaLnBrk="1" hangingPunct="1">
                <a:defRPr/>
              </a:pPr>
              <a:endParaRPr lang="en-US" altLang="zh-CN" spc="-100" dirty="0">
                <a:latin typeface="Courier New" panose="02070309020205020404" pitchFamily="49" charset="0"/>
                <a:ea typeface="黑体" panose="02010609060101010101" pitchFamily="49" charset="-122"/>
                <a:cs typeface="Courier New" panose="02070309020205020404" pitchFamily="49" charset="0"/>
              </a:endParaRPr>
            </a:p>
            <a:p>
              <a:pPr eaLnBrk="1" hangingPunct="1">
                <a:defRPr/>
              </a:pPr>
              <a:endParaRPr lang="en-US" altLang="zh-CN" spc="-100" dirty="0">
                <a:latin typeface="Courier New" panose="02070309020205020404" pitchFamily="49" charset="0"/>
                <a:ea typeface="黑体" panose="02010609060101010101" pitchFamily="49" charset="-122"/>
                <a:cs typeface="Courier New" panose="02070309020205020404" pitchFamily="49" charset="0"/>
              </a:endParaRPr>
            </a:p>
          </p:txBody>
        </p:sp>
      </p:grpSp>
      <p:sp>
        <p:nvSpPr>
          <p:cNvPr id="2" name="文本框 1"/>
          <p:cNvSpPr txBox="1"/>
          <p:nvPr/>
        </p:nvSpPr>
        <p:spPr>
          <a:xfrm>
            <a:off x="672250" y="5262505"/>
            <a:ext cx="710451" cy="420628"/>
          </a:xfrm>
          <a:prstGeom prst="rect">
            <a:avLst/>
          </a:prstGeom>
          <a:noFill/>
        </p:spPr>
        <p:txBody>
          <a:bodyPr wrap="none" rtlCol="0">
            <a:spAutoFit/>
          </a:bodyPr>
          <a:lstStyle/>
          <a:p>
            <a:r>
              <a:rPr lang="en-US" altLang="zh-CN" sz="3200" b="1" dirty="0">
                <a:latin typeface="微软雅黑" panose="020B0503020204020204" pitchFamily="34" charset="-122"/>
                <a:ea typeface="微软雅黑" panose="020B0503020204020204" pitchFamily="34" charset="-122"/>
              </a:rPr>
              <a:t>……</a:t>
            </a:r>
            <a:endParaRPr lang="zh-CN" altLang="en-US" sz="3200" b="1" dirty="0">
              <a:latin typeface="微软雅黑" panose="020B0503020204020204" pitchFamily="34" charset="-122"/>
              <a:ea typeface="微软雅黑" panose="020B0503020204020204" pitchFamily="34" charset="-122"/>
            </a:endParaRPr>
          </a:p>
        </p:txBody>
      </p:sp>
      <p:sp>
        <p:nvSpPr>
          <p:cNvPr id="19" name="文本框 18"/>
          <p:cNvSpPr txBox="1"/>
          <p:nvPr/>
        </p:nvSpPr>
        <p:spPr>
          <a:xfrm>
            <a:off x="3611057" y="5301178"/>
            <a:ext cx="710451" cy="420628"/>
          </a:xfrm>
          <a:prstGeom prst="rect">
            <a:avLst/>
          </a:prstGeom>
          <a:noFill/>
        </p:spPr>
        <p:txBody>
          <a:bodyPr wrap="none" rtlCol="0">
            <a:spAutoFit/>
          </a:bodyPr>
          <a:lstStyle/>
          <a:p>
            <a:r>
              <a:rPr lang="en-US" altLang="zh-CN" sz="3200" b="1" dirty="0">
                <a:latin typeface="微软雅黑" panose="020B0503020204020204" pitchFamily="34" charset="-122"/>
                <a:ea typeface="微软雅黑" panose="020B0503020204020204" pitchFamily="34" charset="-122"/>
              </a:rPr>
              <a:t>……</a:t>
            </a:r>
            <a:endParaRPr lang="zh-CN" altLang="en-US" sz="3200" b="1"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6494180" y="5280434"/>
            <a:ext cx="710451" cy="420628"/>
          </a:xfrm>
          <a:prstGeom prst="rect">
            <a:avLst/>
          </a:prstGeom>
          <a:noFill/>
        </p:spPr>
        <p:txBody>
          <a:bodyPr wrap="none" rtlCol="0">
            <a:spAutoFit/>
          </a:bodyPr>
          <a:lstStyle/>
          <a:p>
            <a:r>
              <a:rPr lang="en-US" altLang="zh-CN" sz="3200" b="1" dirty="0">
                <a:latin typeface="微软雅黑" panose="020B0503020204020204" pitchFamily="34" charset="-122"/>
                <a:ea typeface="微软雅黑" panose="020B0503020204020204" pitchFamily="34" charset="-122"/>
              </a:rPr>
              <a:t>……</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23241457"/>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3137" y="1597887"/>
            <a:ext cx="5429472" cy="1978586"/>
          </a:xfrm>
          <a:prstGeom prst="rect">
            <a:avLst/>
          </a:prstGeom>
        </p:spPr>
      </p:pic>
      <p:sp>
        <p:nvSpPr>
          <p:cNvPr id="14" name="标题 1"/>
          <p:cNvSpPr>
            <a:spLocks noGrp="1"/>
          </p:cNvSpPr>
          <p:nvPr>
            <p:ph type="title"/>
          </p:nvPr>
        </p:nvSpPr>
        <p:spPr/>
        <p:txBody>
          <a:bodyPr/>
          <a:lstStyle/>
          <a:p>
            <a:r>
              <a:rPr lang="en-US" altLang="zh-CN" dirty="0" err="1"/>
              <a:t>TinyLink</a:t>
            </a:r>
            <a:r>
              <a:rPr lang="en-US" altLang="zh-CN" dirty="0"/>
              <a:t> 1.0 </a:t>
            </a:r>
            <a:r>
              <a:rPr lang="zh-CN" altLang="zh-CN" dirty="0"/>
              <a:t>硬件生成系统</a:t>
            </a:r>
            <a:endParaRPr lang="zh-CN" altLang="en-US" dirty="0"/>
          </a:p>
        </p:txBody>
      </p:sp>
      <p:sp>
        <p:nvSpPr>
          <p:cNvPr id="5" name="内容占位符 4">
            <a:extLst>
              <a:ext uri="{FF2B5EF4-FFF2-40B4-BE49-F238E27FC236}">
                <a16:creationId xmlns:a16="http://schemas.microsoft.com/office/drawing/2014/main" id="{D0CEFD97-2199-4F68-B464-75C06F7D5BFB}"/>
              </a:ext>
            </a:extLst>
          </p:cNvPr>
          <p:cNvSpPr>
            <a:spLocks noGrp="1"/>
          </p:cNvSpPr>
          <p:nvPr>
            <p:ph idx="1"/>
          </p:nvPr>
        </p:nvSpPr>
        <p:spPr/>
        <p:txBody>
          <a:bodyPr/>
          <a:lstStyle/>
          <a:p>
            <a:r>
              <a:rPr lang="zh-CN" altLang="en-US"/>
              <a:t>接口约束条件</a:t>
            </a:r>
          </a:p>
          <a:p>
            <a:endParaRPr lang="zh-CN" altLang="en-US" dirty="0"/>
          </a:p>
        </p:txBody>
      </p:sp>
      <p:grpSp>
        <p:nvGrpSpPr>
          <p:cNvPr id="15" name="组合 14"/>
          <p:cNvGrpSpPr/>
          <p:nvPr/>
        </p:nvGrpSpPr>
        <p:grpSpPr>
          <a:xfrm>
            <a:off x="1060092" y="4552405"/>
            <a:ext cx="2927105" cy="1804536"/>
            <a:chOff x="76585" y="3662237"/>
            <a:chExt cx="6482028" cy="3055465"/>
          </a:xfrm>
        </p:grpSpPr>
        <mc:AlternateContent xmlns:mc="http://schemas.openxmlformats.org/markup-compatibility/2006" xmlns:a14="http://schemas.microsoft.com/office/drawing/2010/main">
          <mc:Choice Requires="a14">
            <p:sp>
              <p:nvSpPr>
                <p:cNvPr id="17" name="矩形 16"/>
                <p:cNvSpPr/>
                <p:nvPr/>
              </p:nvSpPr>
              <p:spPr>
                <a:xfrm>
                  <a:off x="76585" y="3662242"/>
                  <a:ext cx="6482028" cy="3055460"/>
                </a:xfrm>
                <a:prstGeom prst="rect">
                  <a:avLst/>
                </a:prstGeom>
                <a:ln w="28575">
                  <a:solidFill>
                    <a:schemeClr val="accent6"/>
                  </a:solidFill>
                </a:ln>
              </p:spPr>
              <p:txBody>
                <a:bodyPr wrap="square">
                  <a:spAutoFit/>
                </a:bodyPr>
                <a:lstStyle/>
                <a:p>
                  <a:pPr eaLnBrk="1" hangingPunct="1">
                    <a:defRPr/>
                  </a:pPr>
                  <a:endParaRPr lang="en-US" altLang="zh-CN" sz="2800" spc="-100" dirty="0">
                    <a:latin typeface="Times New Roman" panose="02020603050405020304" pitchFamily="18" charset="0"/>
                    <a:ea typeface="+mj-ea"/>
                    <a:cs typeface="Times New Roman" panose="02020603050405020304" pitchFamily="18" charset="0"/>
                  </a:endParaRPr>
                </a:p>
                <a:p>
                  <a:pPr eaLnBrk="1" hangingPunct="1">
                    <a:defRPr/>
                  </a:pPr>
                  <a:endParaRPr lang="en-US" altLang="zh-CN" sz="2800" spc="-100" dirty="0">
                    <a:latin typeface="Times New Roman" panose="02020603050405020304" pitchFamily="18" charset="0"/>
                    <a:ea typeface="+mj-ea"/>
                    <a:cs typeface="Times New Roman" panose="02020603050405020304" pitchFamily="18" charset="0"/>
                  </a:endParaRPr>
                </a:p>
                <a:p>
                  <a:pPr algn="ctr" eaLnBrk="1" hangingPunct="1">
                    <a:defRPr/>
                  </a:pPr>
                  <a:endParaRPr lang="en-US" altLang="zh-CN" sz="3200" b="1" spc="-100" dirty="0">
                    <a:latin typeface="Times New Roman" panose="02020603050405020304" pitchFamily="18" charset="0"/>
                    <a:ea typeface="+mj-ea"/>
                    <a:cs typeface="Times New Roman" panose="02020603050405020304" pitchFamily="18" charset="0"/>
                  </a:endParaRPr>
                </a:p>
                <a:p>
                  <a:pPr algn="ctr" eaLnBrk="1" hangingPunct="1">
                    <a:defRPr/>
                  </a:pPr>
                  <a:r>
                    <a:rPr lang="zh-CN" altLang="en-US" sz="3200" b="1" spc="-100" dirty="0">
                      <a:latin typeface="Times New Roman" panose="02020603050405020304" pitchFamily="18" charset="0"/>
                      <a:ea typeface="+mj-ea"/>
                      <a:cs typeface="Times New Roman" panose="02020603050405020304" pitchFamily="18" charset="0"/>
                    </a:rPr>
                    <a:t>主板</a:t>
                  </a:r>
                  <a14:m>
                    <m:oMath xmlns:m="http://schemas.openxmlformats.org/officeDocument/2006/math">
                      <m:r>
                        <a:rPr lang="en-US" altLang="zh-CN" sz="3200" b="1" i="0" spc="-100" smtClean="0">
                          <a:latin typeface="Cambria Math" panose="02040503050406030204" pitchFamily="18" charset="0"/>
                          <a:ea typeface="+mj-ea"/>
                          <a:cs typeface="Courier New" panose="02070309020205020404" pitchFamily="49" charset="0"/>
                        </a:rPr>
                        <m:t> </m:t>
                      </m:r>
                      <m:r>
                        <a:rPr lang="en-US" altLang="zh-CN" sz="3200" b="1" i="1" spc="-100" smtClean="0">
                          <a:latin typeface="Cambria Math" panose="02040503050406030204" pitchFamily="18" charset="0"/>
                          <a:ea typeface="+mj-ea"/>
                          <a:cs typeface="Courier New" panose="02070309020205020404" pitchFamily="49" charset="0"/>
                        </a:rPr>
                        <m:t>∪</m:t>
                      </m:r>
                    </m:oMath>
                  </a14:m>
                  <a:r>
                    <a:rPr lang="en-US" altLang="zh-CN" sz="3200" b="1" spc="-100" dirty="0">
                      <a:latin typeface="Times New Roman" panose="02020603050405020304" pitchFamily="18" charset="0"/>
                      <a:ea typeface="+mj-ea"/>
                      <a:cs typeface="Times New Roman" panose="02020603050405020304" pitchFamily="18" charset="0"/>
                    </a:rPr>
                    <a:t> </a:t>
                  </a:r>
                  <a:r>
                    <a:rPr lang="zh-CN" altLang="en-US" sz="3200" b="1" spc="-100" dirty="0">
                      <a:latin typeface="Times New Roman" panose="02020603050405020304" pitchFamily="18" charset="0"/>
                      <a:ea typeface="+mj-ea"/>
                      <a:cs typeface="Times New Roman" panose="02020603050405020304" pitchFamily="18" charset="0"/>
                    </a:rPr>
                    <a:t>扩展板</a:t>
                  </a:r>
                  <a14:m>
                    <m:oMath xmlns:m="http://schemas.openxmlformats.org/officeDocument/2006/math">
                      <m:r>
                        <a:rPr lang="en-US" altLang="zh-CN" sz="3200" b="1" i="0" spc="-100" smtClean="0">
                          <a:latin typeface="Cambria Math" panose="02040503050406030204" pitchFamily="18" charset="0"/>
                          <a:ea typeface="+mj-ea"/>
                          <a:cs typeface="Courier New" panose="02070309020205020404" pitchFamily="49" charset="0"/>
                        </a:rPr>
                        <m:t> </m:t>
                      </m:r>
                      <m:r>
                        <a:rPr lang="en-US" altLang="zh-CN" sz="3200" b="1" i="1" spc="-100" smtClean="0">
                          <a:latin typeface="Cambria Math" panose="02040503050406030204" pitchFamily="18" charset="0"/>
                          <a:ea typeface="+mj-ea"/>
                          <a:cs typeface="Courier New" panose="02070309020205020404" pitchFamily="49" charset="0"/>
                        </a:rPr>
                        <m:t>∪</m:t>
                      </m:r>
                    </m:oMath>
                  </a14:m>
                  <a:r>
                    <a:rPr lang="en-US" altLang="zh-CN" sz="3200" b="1" spc="-100" dirty="0">
                      <a:latin typeface="Times New Roman" panose="02020603050405020304" pitchFamily="18" charset="0"/>
                      <a:ea typeface="+mj-ea"/>
                      <a:cs typeface="Times New Roman" panose="02020603050405020304" pitchFamily="18" charset="0"/>
                    </a:rPr>
                    <a:t> </a:t>
                  </a:r>
                  <a:r>
                    <a:rPr lang="zh-CN" altLang="en-US" sz="3200" b="1" spc="-100" dirty="0">
                      <a:latin typeface="Times New Roman" panose="02020603050405020304" pitchFamily="18" charset="0"/>
                      <a:ea typeface="+mj-ea"/>
                      <a:cs typeface="Times New Roman" panose="02020603050405020304" pitchFamily="18" charset="0"/>
                    </a:rPr>
                    <a:t>外设</a:t>
                  </a:r>
                  <a:endParaRPr lang="en-US" altLang="zh-CN" sz="3200" b="1" spc="-100" dirty="0">
                    <a:latin typeface="Times New Roman" panose="02020603050405020304" pitchFamily="18" charset="0"/>
                    <a:ea typeface="+mj-ea"/>
                    <a:cs typeface="Times New Roman" panose="02020603050405020304" pitchFamily="18" charset="0"/>
                  </a:endParaRPr>
                </a:p>
                <a:p>
                  <a:pPr algn="ctr" eaLnBrk="1" hangingPunct="1">
                    <a:defRPr/>
                  </a:pPr>
                  <a:endParaRPr lang="en-US" altLang="zh-CN" sz="3200" b="1" spc="-100" dirty="0">
                    <a:latin typeface="Times New Roman" panose="02020603050405020304" pitchFamily="18" charset="0"/>
                    <a:ea typeface="+mj-ea"/>
                    <a:cs typeface="Times New Roman" panose="02020603050405020304" pitchFamily="18" charset="0"/>
                  </a:endParaRPr>
                </a:p>
              </p:txBody>
            </p:sp>
          </mc:Choice>
          <mc:Fallback xmlns="">
            <p:sp>
              <p:nvSpPr>
                <p:cNvPr id="17" name="矩形 16"/>
                <p:cNvSpPr>
                  <a:spLocks noRot="1" noChangeAspect="1" noMove="1" noResize="1" noEditPoints="1" noAdjustHandles="1" noChangeArrowheads="1" noChangeShapeType="1" noTextEdit="1"/>
                </p:cNvSpPr>
                <p:nvPr/>
              </p:nvSpPr>
              <p:spPr>
                <a:xfrm>
                  <a:off x="76585" y="3662242"/>
                  <a:ext cx="6482028" cy="3055460"/>
                </a:xfrm>
                <a:prstGeom prst="rect">
                  <a:avLst/>
                </a:prstGeom>
                <a:blipFill>
                  <a:blip r:embed="rId7"/>
                  <a:stretch>
                    <a:fillRect/>
                  </a:stretch>
                </a:blipFill>
                <a:ln w="28575">
                  <a:solidFill>
                    <a:schemeClr val="accent6"/>
                  </a:solidFill>
                </a:ln>
              </p:spPr>
              <p:txBody>
                <a:bodyPr/>
                <a:lstStyle/>
                <a:p>
                  <a:r>
                    <a:rPr lang="zh-CN" altLang="en-US">
                      <a:noFill/>
                    </a:rPr>
                    <a:t> </a:t>
                  </a:r>
                </a:p>
              </p:txBody>
            </p:sp>
          </mc:Fallback>
        </mc:AlternateContent>
        <p:sp>
          <p:nvSpPr>
            <p:cNvPr id="19" name="矩形 18"/>
            <p:cNvSpPr/>
            <p:nvPr/>
          </p:nvSpPr>
          <p:spPr>
            <a:xfrm>
              <a:off x="76585" y="3662237"/>
              <a:ext cx="6482028" cy="135167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0000"/>
                </a:lnSpc>
              </a:pPr>
              <a:r>
                <a:rPr lang="zh-CN" altLang="en-US" sz="3200" b="1" dirty="0">
                  <a:solidFill>
                    <a:schemeClr val="bg1"/>
                  </a:solidFill>
                  <a:latin typeface="Times New Roman" panose="02020603050405020304" pitchFamily="18" charset="0"/>
                  <a:ea typeface="+mj-ea"/>
                  <a:cs typeface="Times New Roman" panose="02020603050405020304" pitchFamily="18" charset="0"/>
                </a:rPr>
                <a:t>提供</a:t>
              </a:r>
              <a:r>
                <a:rPr lang="en-US" altLang="zh-CN" sz="3200" b="1" dirty="0">
                  <a:solidFill>
                    <a:schemeClr val="bg1"/>
                  </a:solidFill>
                  <a:latin typeface="Times New Roman" panose="02020603050405020304" pitchFamily="18" charset="0"/>
                  <a:ea typeface="+mj-ea"/>
                  <a:cs typeface="Times New Roman" panose="02020603050405020304" pitchFamily="18" charset="0"/>
                </a:rPr>
                <a:t>P</a:t>
              </a:r>
              <a:r>
                <a:rPr lang="en-US" sz="3200" b="1" dirty="0">
                  <a:solidFill>
                    <a:schemeClr val="bg1"/>
                  </a:solidFill>
                  <a:latin typeface="Times New Roman" panose="02020603050405020304" pitchFamily="18" charset="0"/>
                  <a:ea typeface="+mj-ea"/>
                  <a:cs typeface="Times New Roman" panose="02020603050405020304" pitchFamily="18" charset="0"/>
                </a:rPr>
                <a:t>ort</a:t>
              </a:r>
              <a:r>
                <a:rPr lang="zh-CN" altLang="en-US" sz="3200" b="1" dirty="0">
                  <a:solidFill>
                    <a:schemeClr val="bg1"/>
                  </a:solidFill>
                  <a:latin typeface="Times New Roman" panose="02020603050405020304" pitchFamily="18" charset="0"/>
                  <a:ea typeface="+mj-ea"/>
                  <a:cs typeface="Times New Roman" panose="02020603050405020304" pitchFamily="18" charset="0"/>
                </a:rPr>
                <a:t>的数量</a:t>
              </a:r>
              <a:endParaRPr lang="en-US" sz="3200" b="1" dirty="0">
                <a:solidFill>
                  <a:schemeClr val="bg1"/>
                </a:solidFill>
                <a:latin typeface="Times New Roman" panose="02020603050405020304" pitchFamily="18" charset="0"/>
                <a:ea typeface="+mj-ea"/>
                <a:cs typeface="Times New Roman" panose="02020603050405020304" pitchFamily="18" charset="0"/>
              </a:endParaRPr>
            </a:p>
          </p:txBody>
        </p:sp>
      </p:grpSp>
      <p:grpSp>
        <p:nvGrpSpPr>
          <p:cNvPr id="20" name="组合 19"/>
          <p:cNvGrpSpPr/>
          <p:nvPr/>
        </p:nvGrpSpPr>
        <p:grpSpPr>
          <a:xfrm>
            <a:off x="5588550" y="4552403"/>
            <a:ext cx="2927105" cy="1804534"/>
            <a:chOff x="76585" y="3662237"/>
            <a:chExt cx="6482028" cy="3144029"/>
          </a:xfrm>
        </p:grpSpPr>
        <mc:AlternateContent xmlns:mc="http://schemas.openxmlformats.org/markup-compatibility/2006" xmlns:a14="http://schemas.microsoft.com/office/drawing/2010/main">
          <mc:Choice Requires="a14">
            <p:sp>
              <p:nvSpPr>
                <p:cNvPr id="21" name="矩形 20"/>
                <p:cNvSpPr/>
                <p:nvPr/>
              </p:nvSpPr>
              <p:spPr>
                <a:xfrm>
                  <a:off x="76585" y="3662239"/>
                  <a:ext cx="6482028" cy="3144027"/>
                </a:xfrm>
                <a:prstGeom prst="rect">
                  <a:avLst/>
                </a:prstGeom>
                <a:ln w="28575">
                  <a:solidFill>
                    <a:srgbClr val="FF0000"/>
                  </a:solidFill>
                </a:ln>
              </p:spPr>
              <p:txBody>
                <a:bodyPr wrap="square">
                  <a:spAutoFit/>
                </a:bodyPr>
                <a:lstStyle/>
                <a:p>
                  <a:pPr eaLnBrk="1" hangingPunct="1">
                    <a:defRPr/>
                  </a:pPr>
                  <a:endParaRPr lang="en-US" altLang="zh-CN" sz="2800" spc="-100" dirty="0">
                    <a:latin typeface="Times New Roman" panose="02020603050405020304" pitchFamily="18" charset="0"/>
                    <a:ea typeface="+mj-ea"/>
                    <a:cs typeface="Times New Roman" panose="02020603050405020304" pitchFamily="18" charset="0"/>
                  </a:endParaRPr>
                </a:p>
                <a:p>
                  <a:pPr eaLnBrk="1" hangingPunct="1">
                    <a:defRPr/>
                  </a:pPr>
                  <a:endParaRPr lang="en-US" altLang="zh-CN" sz="2800" spc="-100" dirty="0">
                    <a:latin typeface="Times New Roman" panose="02020603050405020304" pitchFamily="18" charset="0"/>
                    <a:ea typeface="+mj-ea"/>
                    <a:cs typeface="Times New Roman" panose="02020603050405020304" pitchFamily="18" charset="0"/>
                  </a:endParaRPr>
                </a:p>
                <a:p>
                  <a:pPr algn="ctr" eaLnBrk="1" hangingPunct="1">
                    <a:defRPr/>
                  </a:pPr>
                  <a:endParaRPr lang="en-US" altLang="zh-CN" sz="3200" b="1" spc="-100" dirty="0">
                    <a:latin typeface="Times New Roman" panose="02020603050405020304" pitchFamily="18" charset="0"/>
                    <a:ea typeface="+mj-ea"/>
                    <a:cs typeface="Times New Roman" panose="02020603050405020304" pitchFamily="18" charset="0"/>
                  </a:endParaRPr>
                </a:p>
                <a:p>
                  <a:pPr algn="ctr" eaLnBrk="1" hangingPunct="1">
                    <a:defRPr/>
                  </a:pPr>
                  <a:r>
                    <a:rPr lang="zh-CN" altLang="en-US" sz="3200" b="1" spc="-100" dirty="0">
                      <a:latin typeface="Times New Roman" panose="02020603050405020304" pitchFamily="18" charset="0"/>
                      <a:ea typeface="+mj-ea"/>
                      <a:cs typeface="Times New Roman" panose="02020603050405020304" pitchFamily="18" charset="0"/>
                    </a:rPr>
                    <a:t>主板</a:t>
                  </a:r>
                  <a14:m>
                    <m:oMath xmlns:m="http://schemas.openxmlformats.org/officeDocument/2006/math">
                      <m:r>
                        <a:rPr lang="en-US" altLang="zh-CN" sz="3200" b="1" spc="-100">
                          <a:latin typeface="Cambria Math" panose="02040503050406030204" pitchFamily="18" charset="0"/>
                          <a:ea typeface="+mj-ea"/>
                          <a:cs typeface="Courier New" panose="02070309020205020404" pitchFamily="49" charset="0"/>
                        </a:rPr>
                        <m:t> </m:t>
                      </m:r>
                      <m:r>
                        <a:rPr lang="en-US" altLang="zh-CN" sz="3200" b="1" i="1" spc="-100">
                          <a:latin typeface="Cambria Math" panose="02040503050406030204" pitchFamily="18" charset="0"/>
                          <a:ea typeface="+mj-ea"/>
                          <a:cs typeface="Courier New" panose="02070309020205020404" pitchFamily="49" charset="0"/>
                        </a:rPr>
                        <m:t>∪</m:t>
                      </m:r>
                    </m:oMath>
                  </a14:m>
                  <a:r>
                    <a:rPr lang="en-US" altLang="zh-CN" sz="3200" b="1" spc="-100" dirty="0">
                      <a:latin typeface="Times New Roman" panose="02020603050405020304" pitchFamily="18" charset="0"/>
                      <a:ea typeface="+mj-ea"/>
                      <a:cs typeface="Times New Roman" panose="02020603050405020304" pitchFamily="18" charset="0"/>
                    </a:rPr>
                    <a:t> </a:t>
                  </a:r>
                  <a:r>
                    <a:rPr lang="zh-CN" altLang="en-US" sz="3200" b="1" spc="-100" dirty="0">
                      <a:latin typeface="Times New Roman" panose="02020603050405020304" pitchFamily="18" charset="0"/>
                      <a:ea typeface="+mj-ea"/>
                      <a:cs typeface="Times New Roman" panose="02020603050405020304" pitchFamily="18" charset="0"/>
                    </a:rPr>
                    <a:t>扩展板</a:t>
                  </a:r>
                  <a14:m>
                    <m:oMath xmlns:m="http://schemas.openxmlformats.org/officeDocument/2006/math">
                      <m:r>
                        <a:rPr lang="en-US" altLang="zh-CN" sz="3200" b="1" spc="-100">
                          <a:latin typeface="Cambria Math" panose="02040503050406030204" pitchFamily="18" charset="0"/>
                          <a:ea typeface="+mj-ea"/>
                          <a:cs typeface="Courier New" panose="02070309020205020404" pitchFamily="49" charset="0"/>
                        </a:rPr>
                        <m:t> </m:t>
                      </m:r>
                      <m:r>
                        <a:rPr lang="en-US" altLang="zh-CN" sz="3200" b="1" i="1" spc="-100">
                          <a:latin typeface="Cambria Math" panose="02040503050406030204" pitchFamily="18" charset="0"/>
                          <a:ea typeface="+mj-ea"/>
                          <a:cs typeface="Courier New" panose="02070309020205020404" pitchFamily="49" charset="0"/>
                        </a:rPr>
                        <m:t>∪</m:t>
                      </m:r>
                    </m:oMath>
                  </a14:m>
                  <a:r>
                    <a:rPr lang="en-US" altLang="zh-CN" sz="3200" b="1" spc="-100" dirty="0">
                      <a:latin typeface="Times New Roman" panose="02020603050405020304" pitchFamily="18" charset="0"/>
                      <a:ea typeface="+mj-ea"/>
                      <a:cs typeface="Times New Roman" panose="02020603050405020304" pitchFamily="18" charset="0"/>
                    </a:rPr>
                    <a:t> </a:t>
                  </a:r>
                  <a:r>
                    <a:rPr lang="zh-CN" altLang="en-US" sz="3200" b="1" spc="-100" dirty="0">
                      <a:latin typeface="Times New Roman" panose="02020603050405020304" pitchFamily="18" charset="0"/>
                      <a:ea typeface="+mj-ea"/>
                      <a:cs typeface="Times New Roman" panose="02020603050405020304" pitchFamily="18" charset="0"/>
                    </a:rPr>
                    <a:t>外设</a:t>
                  </a:r>
                  <a:endParaRPr lang="en-US" altLang="zh-CN" sz="3200" b="1" spc="-100" dirty="0">
                    <a:latin typeface="Times New Roman" panose="02020603050405020304" pitchFamily="18" charset="0"/>
                    <a:ea typeface="+mj-ea"/>
                    <a:cs typeface="Times New Roman" panose="02020603050405020304" pitchFamily="18" charset="0"/>
                  </a:endParaRPr>
                </a:p>
                <a:p>
                  <a:pPr algn="ctr" eaLnBrk="1" hangingPunct="1">
                    <a:defRPr/>
                  </a:pPr>
                  <a:endParaRPr lang="en-US" altLang="zh-CN" sz="3200" b="1" spc="-100" dirty="0">
                    <a:latin typeface="Times New Roman" panose="02020603050405020304" pitchFamily="18" charset="0"/>
                    <a:ea typeface="+mj-ea"/>
                    <a:cs typeface="Times New Roman" panose="02020603050405020304" pitchFamily="18" charset="0"/>
                  </a:endParaRPr>
                </a:p>
              </p:txBody>
            </p:sp>
          </mc:Choice>
          <mc:Fallback xmlns="">
            <p:sp>
              <p:nvSpPr>
                <p:cNvPr id="21" name="矩形 20"/>
                <p:cNvSpPr>
                  <a:spLocks noRot="1" noChangeAspect="1" noMove="1" noResize="1" noEditPoints="1" noAdjustHandles="1" noChangeArrowheads="1" noChangeShapeType="1" noTextEdit="1"/>
                </p:cNvSpPr>
                <p:nvPr/>
              </p:nvSpPr>
              <p:spPr>
                <a:xfrm>
                  <a:off x="76585" y="3662239"/>
                  <a:ext cx="6482028" cy="3144027"/>
                </a:xfrm>
                <a:prstGeom prst="rect">
                  <a:avLst/>
                </a:prstGeom>
                <a:blipFill>
                  <a:blip r:embed="rId8"/>
                  <a:stretch>
                    <a:fillRect/>
                  </a:stretch>
                </a:blipFill>
                <a:ln w="28575">
                  <a:solidFill>
                    <a:srgbClr val="FF0000"/>
                  </a:solidFill>
                </a:ln>
              </p:spPr>
              <p:txBody>
                <a:bodyPr/>
                <a:lstStyle/>
                <a:p>
                  <a:r>
                    <a:rPr lang="zh-CN" altLang="en-US">
                      <a:noFill/>
                    </a:rPr>
                    <a:t> </a:t>
                  </a:r>
                </a:p>
              </p:txBody>
            </p:sp>
          </mc:Fallback>
        </mc:AlternateContent>
        <p:sp>
          <p:nvSpPr>
            <p:cNvPr id="22" name="矩形 21"/>
            <p:cNvSpPr/>
            <p:nvPr/>
          </p:nvSpPr>
          <p:spPr>
            <a:xfrm>
              <a:off x="76585" y="3662237"/>
              <a:ext cx="6482028" cy="135167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0000"/>
                </a:lnSpc>
              </a:pPr>
              <a:r>
                <a:rPr lang="zh-CN" altLang="en-US" sz="3200" b="1" dirty="0">
                  <a:solidFill>
                    <a:schemeClr val="bg1"/>
                  </a:solidFill>
                  <a:latin typeface="Times New Roman" panose="02020603050405020304" pitchFamily="18" charset="0"/>
                  <a:ea typeface="+mj-ea"/>
                  <a:cs typeface="Times New Roman" panose="02020603050405020304" pitchFamily="18" charset="0"/>
                </a:rPr>
                <a:t>消耗</a:t>
              </a:r>
              <a:r>
                <a:rPr lang="en-US" altLang="zh-CN" sz="3200" b="1" dirty="0">
                  <a:solidFill>
                    <a:schemeClr val="bg1"/>
                  </a:solidFill>
                  <a:latin typeface="Times New Roman" panose="02020603050405020304" pitchFamily="18" charset="0"/>
                  <a:ea typeface="+mj-ea"/>
                  <a:cs typeface="Times New Roman" panose="02020603050405020304" pitchFamily="18" charset="0"/>
                </a:rPr>
                <a:t>P</a:t>
              </a:r>
              <a:r>
                <a:rPr lang="en-US" sz="3200" b="1" dirty="0">
                  <a:solidFill>
                    <a:schemeClr val="bg1"/>
                  </a:solidFill>
                  <a:latin typeface="Times New Roman" panose="02020603050405020304" pitchFamily="18" charset="0"/>
                  <a:ea typeface="+mj-ea"/>
                  <a:cs typeface="Times New Roman" panose="02020603050405020304" pitchFamily="18" charset="0"/>
                </a:rPr>
                <a:t>ort</a:t>
              </a:r>
              <a:r>
                <a:rPr lang="zh-CN" altLang="en-US" sz="3200" b="1" dirty="0">
                  <a:solidFill>
                    <a:schemeClr val="bg1"/>
                  </a:solidFill>
                  <a:latin typeface="Times New Roman" panose="02020603050405020304" pitchFamily="18" charset="0"/>
                  <a:ea typeface="+mj-ea"/>
                  <a:cs typeface="Times New Roman" panose="02020603050405020304" pitchFamily="18" charset="0"/>
                </a:rPr>
                <a:t>的数量</a:t>
              </a:r>
              <a:endParaRPr lang="en-US" sz="3200" b="1" dirty="0">
                <a:solidFill>
                  <a:schemeClr val="bg1"/>
                </a:solidFill>
                <a:latin typeface="Times New Roman" panose="02020603050405020304" pitchFamily="18" charset="0"/>
                <a:ea typeface="+mj-ea"/>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23" name="文本框 4"/>
              <p:cNvSpPr txBox="1"/>
              <p:nvPr/>
            </p:nvSpPr>
            <p:spPr>
              <a:xfrm>
                <a:off x="4389367" y="4796692"/>
                <a:ext cx="635110" cy="10845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sz="6600" b="1" i="0" smtClean="0">
                          <a:latin typeface="Times New Roman" panose="02020603050405020304" pitchFamily="18" charset="0"/>
                          <a:ea typeface="+mj-ea"/>
                          <a:cs typeface="Times New Roman" panose="02020603050405020304" pitchFamily="18" charset="0"/>
                        </a:rPr>
                        <m:t>≥</m:t>
                      </m:r>
                    </m:oMath>
                  </m:oMathPara>
                </a14:m>
                <a:endParaRPr lang="en-US" sz="6600" b="1" dirty="0">
                  <a:latin typeface="Times New Roman" panose="02020603050405020304" pitchFamily="18" charset="0"/>
                  <a:ea typeface="+mj-ea"/>
                  <a:cs typeface="Times New Roman" panose="02020603050405020304" pitchFamily="18" charset="0"/>
                </a:endParaRPr>
              </a:p>
            </p:txBody>
          </p:sp>
        </mc:Choice>
        <mc:Fallback xmlns="">
          <p:sp>
            <p:nvSpPr>
              <p:cNvPr id="23" name="文本框 4"/>
              <p:cNvSpPr txBox="1">
                <a:spLocks noRot="1" noChangeAspect="1" noMove="1" noResize="1" noEditPoints="1" noAdjustHandles="1" noChangeArrowheads="1" noChangeShapeType="1" noTextEdit="1"/>
              </p:cNvSpPr>
              <p:nvPr/>
            </p:nvSpPr>
            <p:spPr>
              <a:xfrm>
                <a:off x="4389367" y="4796692"/>
                <a:ext cx="635110" cy="1084592"/>
              </a:xfrm>
              <a:prstGeom prst="rect">
                <a:avLst/>
              </a:prstGeom>
              <a:blipFill>
                <a:blip r:embed="rId9"/>
                <a:stretch>
                  <a:fillRect b="-1124"/>
                </a:stretch>
              </a:blipFill>
            </p:spPr>
            <p:txBody>
              <a:bodyPr/>
              <a:lstStyle/>
              <a:p>
                <a:r>
                  <a:rPr lang="zh-CN" altLang="en-US">
                    <a:noFill/>
                  </a:rPr>
                  <a:t> </a:t>
                </a:r>
              </a:p>
            </p:txBody>
          </p:sp>
        </mc:Fallback>
      </mc:AlternateContent>
      <p:sp>
        <p:nvSpPr>
          <p:cNvPr id="24" name="圆角矩形 23"/>
          <p:cNvSpPr/>
          <p:nvPr/>
        </p:nvSpPr>
        <p:spPr>
          <a:xfrm>
            <a:off x="1060092" y="3674327"/>
            <a:ext cx="7455563" cy="780227"/>
          </a:xfrm>
          <a:prstGeom prst="roundRect">
            <a:avLst/>
          </a:prstGeom>
          <a:solidFill>
            <a:schemeClr val="accent1"/>
          </a:solidFill>
          <a:ln>
            <a:noFill/>
          </a:ln>
        </p:spPr>
        <p:style>
          <a:lnRef idx="3">
            <a:schemeClr val="lt1"/>
          </a:lnRef>
          <a:fillRef idx="1">
            <a:schemeClr val="accent6"/>
          </a:fillRef>
          <a:effectRef idx="1">
            <a:schemeClr val="accent6"/>
          </a:effectRef>
          <a:fontRef idx="minor">
            <a:schemeClr val="lt1"/>
          </a:fontRef>
        </p:style>
        <p:txBody>
          <a:bodyPr rtlCol="0" anchor="ctr"/>
          <a:lstStyle/>
          <a:p>
            <a:r>
              <a:rPr lang="zh-CN" altLang="en-US" sz="3200" b="1" dirty="0">
                <a:solidFill>
                  <a:schemeClr val="bg1"/>
                </a:solidFill>
                <a:latin typeface="Times New Roman" panose="02020603050405020304" pitchFamily="18" charset="0"/>
                <a:ea typeface="+mj-ea"/>
                <a:cs typeface="Times New Roman" panose="02020603050405020304" pitchFamily="18" charset="0"/>
              </a:rPr>
              <a:t>对 </a:t>
            </a:r>
            <a:r>
              <a:rPr lang="en-US" sz="3200" b="1" dirty="0">
                <a:solidFill>
                  <a:schemeClr val="bg1"/>
                </a:solidFill>
                <a:latin typeface="Times New Roman" panose="02020603050405020304" pitchFamily="18" charset="0"/>
                <a:ea typeface="+mj-ea"/>
                <a:cs typeface="Times New Roman" panose="02020603050405020304" pitchFamily="18" charset="0"/>
              </a:rPr>
              <a:t>{Analog, UART, I2C, SPI, USB, …} </a:t>
            </a:r>
            <a:r>
              <a:rPr lang="zh-CN" altLang="en-US" sz="3200" b="1" dirty="0">
                <a:solidFill>
                  <a:schemeClr val="bg1"/>
                </a:solidFill>
                <a:latin typeface="Times New Roman" panose="02020603050405020304" pitchFamily="18" charset="0"/>
                <a:ea typeface="+mj-ea"/>
                <a:cs typeface="Times New Roman" panose="02020603050405020304" pitchFamily="18" charset="0"/>
              </a:rPr>
              <a:t>中每一类型的接口</a:t>
            </a:r>
            <a:endParaRPr lang="en-US" sz="3200" b="1" dirty="0">
              <a:solidFill>
                <a:schemeClr val="bg1"/>
              </a:solidFill>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2605160779"/>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p:txBody>
          <a:bodyPr/>
          <a:lstStyle/>
          <a:p>
            <a:r>
              <a:rPr lang="en-US" altLang="zh-CN" dirty="0" err="1"/>
              <a:t>TinyLink</a:t>
            </a:r>
            <a:r>
              <a:rPr lang="en-US" altLang="zh-CN" dirty="0"/>
              <a:t> 1.0 </a:t>
            </a:r>
            <a:r>
              <a:rPr lang="zh-CN" altLang="zh-CN" dirty="0"/>
              <a:t>硬件生成系统</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问题规约</a:t>
                </a:r>
                <a:endParaRPr lang="en-US" altLang="zh-CN" dirty="0"/>
              </a:p>
              <a:p>
                <a:pPr lvl="1"/>
                <a:r>
                  <a:rPr lang="zh-CN" altLang="en-US" dirty="0"/>
                  <a:t>在 </a:t>
                </a:r>
                <a:r>
                  <a:rPr lang="en-US" altLang="zh-CN" dirty="0"/>
                  <a:t>{</a:t>
                </a:r>
                <a:r>
                  <a:rPr lang="zh-CN" altLang="en-US" dirty="0"/>
                  <a:t>主板</a:t>
                </a:r>
                <a14:m>
                  <m:oMath xmlns:m="http://schemas.openxmlformats.org/officeDocument/2006/math">
                    <m:r>
                      <a:rPr lang="en-US" altLang="zh-CN">
                        <a:latin typeface="Cambria Math" panose="02040503050406030204" pitchFamily="18" charset="0"/>
                      </a:rPr>
                      <m:t> ∪</m:t>
                    </m:r>
                  </m:oMath>
                </a14:m>
                <a:r>
                  <a:rPr lang="en-US" altLang="zh-CN" dirty="0"/>
                  <a:t> </a:t>
                </a:r>
                <a:r>
                  <a:rPr lang="zh-CN" altLang="en-US" dirty="0"/>
                  <a:t>扩展板</a:t>
                </a:r>
                <a:r>
                  <a:rPr lang="en-US" altLang="zh-CN" dirty="0"/>
                  <a:t> </a:t>
                </a:r>
                <a14:m>
                  <m:oMath xmlns:m="http://schemas.openxmlformats.org/officeDocument/2006/math">
                    <m:r>
                      <a:rPr lang="en-US" altLang="zh-CN">
                        <a:latin typeface="Cambria Math" panose="02040503050406030204" pitchFamily="18" charset="0"/>
                      </a:rPr>
                      <m:t>∪</m:t>
                    </m:r>
                  </m:oMath>
                </a14:m>
                <a:r>
                  <a:rPr lang="en-US" altLang="zh-CN" dirty="0"/>
                  <a:t> </a:t>
                </a:r>
                <a:r>
                  <a:rPr lang="zh-CN" altLang="en-US" dirty="0"/>
                  <a:t>外设</a:t>
                </a:r>
                <a:r>
                  <a:rPr lang="en-US" altLang="zh-CN" dirty="0"/>
                  <a:t>} </a:t>
                </a:r>
                <a:r>
                  <a:rPr lang="zh-CN" altLang="en-US" dirty="0"/>
                  <a:t>里找到一组子集</a:t>
                </a:r>
                <a:endParaRPr lang="en-US" altLang="zh-CN" dirty="0"/>
              </a:p>
              <a:p>
                <a:pPr lvl="1"/>
                <a:r>
                  <a:rPr lang="zh-CN" altLang="en-US" dirty="0"/>
                  <a:t>优化目标</a:t>
                </a:r>
                <a:r>
                  <a:rPr lang="en-US" altLang="zh-CN" dirty="0"/>
                  <a:t> </a:t>
                </a:r>
              </a:p>
              <a:p>
                <a:pPr lvl="2"/>
                <a:r>
                  <a:rPr lang="zh-CN" altLang="en-US" dirty="0"/>
                  <a:t>价格最小化</a:t>
                </a:r>
                <a:endParaRPr lang="en-US" altLang="zh-CN" dirty="0"/>
              </a:p>
              <a:p>
                <a:pPr lvl="1"/>
                <a14:m>
                  <m:oMath xmlns:m="http://schemas.openxmlformats.org/officeDocument/2006/math">
                    <m:r>
                      <a:rPr lang="en-US" altLang="zh-CN">
                        <a:latin typeface="Cambria Math" panose="02040503050406030204" pitchFamily="18" charset="0"/>
                      </a:rPr>
                      <m:t>𝑠</m:t>
                    </m:r>
                    <m:r>
                      <a:rPr lang="en-US" altLang="zh-CN">
                        <a:latin typeface="Cambria Math" panose="02040503050406030204" pitchFamily="18" charset="0"/>
                      </a:rPr>
                      <m:t>.</m:t>
                    </m:r>
                    <m:r>
                      <a:rPr lang="en-US" altLang="zh-CN">
                        <a:latin typeface="Cambria Math" panose="02040503050406030204" pitchFamily="18" charset="0"/>
                      </a:rPr>
                      <m:t>𝑡</m:t>
                    </m:r>
                    <m:r>
                      <a:rPr lang="en-US" altLang="zh-CN">
                        <a:latin typeface="Cambria Math" panose="02040503050406030204" pitchFamily="18" charset="0"/>
                      </a:rPr>
                      <m:t>. </m:t>
                    </m:r>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eqArr>
                                <m:eqArrPr>
                                  <m:ctrlPr>
                                    <a:rPr lang="en-US" altLang="zh-CN" i="1" smtClean="0">
                                      <a:latin typeface="Cambria Math" panose="02040503050406030204" pitchFamily="18" charset="0"/>
                                    </a:rPr>
                                  </m:ctrlPr>
                                </m:eqArrPr>
                                <m:e>
                                  <m:r>
                                    <a:rPr lang="zh-CN" altLang="en-US">
                                      <a:latin typeface="Cambria Math" panose="02040503050406030204" pitchFamily="18" charset="0"/>
                                    </a:rPr>
                                    <m:t>用户约束条件</m:t>
                                  </m:r>
                                </m:e>
                                <m:e>
                                  <m:r>
                                    <a:rPr lang="en-US" altLang="zh-CN">
                                      <a:latin typeface="Cambria Math" panose="02040503050406030204" pitchFamily="18" charset="0"/>
                                    </a:rPr>
                                    <m:t>+</m:t>
                                  </m:r>
                                </m:e>
                              </m:eqArr>
                            </m:e>
                          </m:mr>
                          <m:mr>
                            <m:e>
                              <m:r>
                                <a:rPr lang="zh-CN" altLang="en-US">
                                  <a:latin typeface="Cambria Math" panose="02040503050406030204" pitchFamily="18" charset="0"/>
                                </a:rPr>
                                <m:t>硬件约束条件</m:t>
                              </m:r>
                            </m:e>
                          </m:mr>
                        </m:m>
                      </m:e>
                    </m:d>
                  </m:oMath>
                </a14:m>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954" t="-225"/>
                </a:stretch>
              </a:blipFill>
            </p:spPr>
            <p:txBody>
              <a:bodyPr/>
              <a:lstStyle/>
              <a:p>
                <a:r>
                  <a:rPr lang="zh-CN" altLang="en-US">
                    <a:noFill/>
                  </a:rPr>
                  <a:t> </a:t>
                </a:r>
              </a:p>
            </p:txBody>
          </p:sp>
        </mc:Fallback>
      </mc:AlternateContent>
      <p:sp>
        <p:nvSpPr>
          <p:cNvPr id="11" name="圆角矩形标注 10"/>
          <p:cNvSpPr/>
          <p:nvPr/>
        </p:nvSpPr>
        <p:spPr>
          <a:xfrm>
            <a:off x="3884277" y="2343551"/>
            <a:ext cx="4056808" cy="659568"/>
          </a:xfrm>
          <a:prstGeom prst="wedgeRoundRectCallout">
            <a:avLst>
              <a:gd name="adj1" fmla="val -72292"/>
              <a:gd name="adj2" fmla="val -15013"/>
              <a:gd name="adj3" fmla="val 16667"/>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baseline="0" dirty="0">
                <a:solidFill>
                  <a:schemeClr val="bg1"/>
                </a:solidFill>
                <a:latin typeface="微软雅黑" panose="020B0503020204020204" pitchFamily="34" charset="-122"/>
                <a:ea typeface="微软雅黑" panose="020B0503020204020204" pitchFamily="34" charset="-122"/>
              </a:rPr>
              <a:t>满足用户需求</a:t>
            </a:r>
            <a:endParaRPr lang="en-US" b="1" baseline="0" dirty="0">
              <a:solidFill>
                <a:schemeClr val="bg1"/>
              </a:solidFill>
              <a:latin typeface="微软雅黑" panose="020B0503020204020204" pitchFamily="34" charset="-122"/>
              <a:ea typeface="微软雅黑" panose="020B0503020204020204" pitchFamily="34" charset="-122"/>
            </a:endParaRPr>
          </a:p>
        </p:txBody>
      </p:sp>
      <p:sp>
        <p:nvSpPr>
          <p:cNvPr id="27" name="圆角矩形标注 26"/>
          <p:cNvSpPr/>
          <p:nvPr/>
        </p:nvSpPr>
        <p:spPr>
          <a:xfrm>
            <a:off x="3884277" y="3429000"/>
            <a:ext cx="4056808" cy="797194"/>
          </a:xfrm>
          <a:prstGeom prst="wedgeRoundRectCallout">
            <a:avLst>
              <a:gd name="adj1" fmla="val -59683"/>
              <a:gd name="adj2" fmla="val 14688"/>
              <a:gd name="adj3" fmla="val 16667"/>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zh-CN" altLang="en-US" b="1" baseline="0" dirty="0">
                <a:solidFill>
                  <a:schemeClr val="bg1"/>
                </a:solidFill>
                <a:latin typeface="微软雅黑" panose="020B0503020204020204" pitchFamily="34" charset="-122"/>
                <a:ea typeface="微软雅黑" panose="020B0503020204020204" pitchFamily="34" charset="-122"/>
              </a:rPr>
              <a:t>保证硬件选型是正确有效的</a:t>
            </a:r>
            <a:endParaRPr lang="en-US" b="1" baseline="0" dirty="0">
              <a:solidFill>
                <a:schemeClr val="bg1"/>
              </a:solidFill>
              <a:latin typeface="微软雅黑" panose="020B0503020204020204" pitchFamily="34" charset="-122"/>
              <a:ea typeface="微软雅黑" panose="020B0503020204020204" pitchFamily="34" charset="-122"/>
            </a:endParaRPr>
          </a:p>
        </p:txBody>
      </p:sp>
      <p:sp>
        <p:nvSpPr>
          <p:cNvPr id="28" name="圆角矩形 27"/>
          <p:cNvSpPr/>
          <p:nvPr/>
        </p:nvSpPr>
        <p:spPr>
          <a:xfrm>
            <a:off x="0" y="4560940"/>
            <a:ext cx="9144000" cy="1719618"/>
          </a:xfrm>
          <a:prstGeom prst="roundRect">
            <a:avLst>
              <a:gd name="adj" fmla="val 0"/>
            </a:avLst>
          </a:prstGeom>
          <a:solidFill>
            <a:schemeClr val="accent3"/>
          </a:solidFill>
          <a:ln>
            <a:noFill/>
          </a:ln>
        </p:spPr>
        <p:style>
          <a:lnRef idx="3">
            <a:schemeClr val="lt1"/>
          </a:lnRef>
          <a:fillRef idx="1">
            <a:schemeClr val="accent6"/>
          </a:fillRef>
          <a:effectRef idx="1">
            <a:schemeClr val="accent6"/>
          </a:effectRef>
          <a:fontRef idx="minor">
            <a:schemeClr val="lt1"/>
          </a:fontRef>
        </p:style>
        <p:txBody>
          <a:bodyPr rtlCol="0" anchor="ctr"/>
          <a:lstStyle/>
          <a:p>
            <a:pPr marL="457200" indent="-457200">
              <a:lnSpc>
                <a:spcPct val="150000"/>
              </a:lnSpc>
              <a:buFont typeface="Arial" panose="020B0604020202020204" pitchFamily="34" charset="0"/>
              <a:buChar char="•"/>
            </a:pPr>
            <a:r>
              <a:rPr lang="zh-CN" altLang="en-US" b="1" baseline="0" dirty="0">
                <a:solidFill>
                  <a:schemeClr val="bg1"/>
                </a:solidFill>
                <a:latin typeface="+mj-ea"/>
                <a:ea typeface="+mj-ea"/>
              </a:rPr>
              <a:t>通常生成</a:t>
            </a:r>
            <a:r>
              <a:rPr lang="en-US" altLang="zh-CN" b="1" baseline="0" dirty="0">
                <a:solidFill>
                  <a:schemeClr val="bg1"/>
                </a:solidFill>
                <a:latin typeface="+mj-ea"/>
                <a:ea typeface="+mj-ea"/>
              </a:rPr>
              <a:t>210</a:t>
            </a:r>
            <a:r>
              <a:rPr lang="zh-CN" altLang="en-US" b="1" baseline="0" dirty="0">
                <a:solidFill>
                  <a:schemeClr val="bg1"/>
                </a:solidFill>
                <a:latin typeface="+mj-ea"/>
                <a:ea typeface="+mj-ea"/>
              </a:rPr>
              <a:t>条约束条件</a:t>
            </a:r>
            <a:endParaRPr lang="en-US" b="1" baseline="0" dirty="0">
              <a:solidFill>
                <a:schemeClr val="bg1"/>
              </a:solidFill>
              <a:latin typeface="+mj-ea"/>
              <a:ea typeface="+mj-ea"/>
            </a:endParaRPr>
          </a:p>
          <a:p>
            <a:pPr marL="457200" indent="-457200">
              <a:lnSpc>
                <a:spcPct val="150000"/>
              </a:lnSpc>
              <a:buFont typeface="Arial" panose="020B0604020202020204" pitchFamily="34" charset="0"/>
              <a:buChar char="•"/>
            </a:pPr>
            <a:r>
              <a:rPr lang="zh-CN" altLang="en-US" b="1" baseline="0" dirty="0">
                <a:solidFill>
                  <a:schemeClr val="bg1"/>
                </a:solidFill>
                <a:latin typeface="+mj-ea"/>
                <a:ea typeface="+mj-ea"/>
              </a:rPr>
              <a:t>该问题为经典的线性规划问题</a:t>
            </a:r>
            <a:endParaRPr lang="en-US" altLang="zh-CN" b="1" baseline="0" dirty="0">
              <a:solidFill>
                <a:schemeClr val="bg1"/>
              </a:solidFill>
              <a:latin typeface="+mj-ea"/>
              <a:ea typeface="+mj-ea"/>
            </a:endParaRPr>
          </a:p>
          <a:p>
            <a:pPr marL="457200" indent="-457200">
              <a:lnSpc>
                <a:spcPct val="150000"/>
              </a:lnSpc>
              <a:buFont typeface="Arial" panose="020B0604020202020204" pitchFamily="34" charset="0"/>
              <a:buChar char="•"/>
            </a:pPr>
            <a:r>
              <a:rPr lang="zh-CN" altLang="en-US" b="1" baseline="0" dirty="0">
                <a:solidFill>
                  <a:schemeClr val="bg1"/>
                </a:solidFill>
                <a:latin typeface="+mj-ea"/>
                <a:ea typeface="+mj-ea"/>
              </a:rPr>
              <a:t>使用经典的线性规划求解器</a:t>
            </a:r>
            <a:r>
              <a:rPr lang="en-US" b="1" baseline="0" dirty="0" err="1">
                <a:solidFill>
                  <a:schemeClr val="bg1"/>
                </a:solidFill>
                <a:latin typeface="+mj-ea"/>
                <a:ea typeface="+mj-ea"/>
              </a:rPr>
              <a:t>lp_solver</a:t>
            </a:r>
            <a:r>
              <a:rPr lang="zh-CN" altLang="en-US" b="1" baseline="0" dirty="0">
                <a:solidFill>
                  <a:schemeClr val="bg1"/>
                </a:solidFill>
                <a:latin typeface="+mj-ea"/>
                <a:ea typeface="+mj-ea"/>
              </a:rPr>
              <a:t>进行求解</a:t>
            </a:r>
            <a:endParaRPr lang="en-US" b="1" baseline="0" dirty="0">
              <a:solidFill>
                <a:schemeClr val="bg1"/>
              </a:solidFill>
              <a:latin typeface="+mj-ea"/>
              <a:ea typeface="+mj-ea"/>
            </a:endParaRPr>
          </a:p>
        </p:txBody>
      </p:sp>
    </p:spTree>
    <p:extLst>
      <p:ext uri="{BB962C8B-B14F-4D97-AF65-F5344CB8AC3E}">
        <p14:creationId xmlns:p14="http://schemas.microsoft.com/office/powerpoint/2010/main" val="3778849712"/>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en-US" altLang="zh-CN" dirty="0"/>
              <a:t> 1.0 </a:t>
            </a:r>
            <a:r>
              <a:rPr lang="zh-CN" altLang="zh-CN" dirty="0"/>
              <a:t>软件生成系统</a:t>
            </a:r>
            <a:endParaRPr lang="zh-CN" altLang="en-US" dirty="0"/>
          </a:p>
        </p:txBody>
      </p:sp>
      <p:sp>
        <p:nvSpPr>
          <p:cNvPr id="3" name="内容占位符 2"/>
          <p:cNvSpPr>
            <a:spLocks noGrp="1"/>
          </p:cNvSpPr>
          <p:nvPr>
            <p:ph idx="1"/>
          </p:nvPr>
        </p:nvSpPr>
        <p:spPr/>
        <p:txBody>
          <a:bodyPr/>
          <a:lstStyle/>
          <a:p>
            <a:r>
              <a:rPr lang="zh-CN" altLang="en-US"/>
              <a:t>硬件配置头文件</a:t>
            </a:r>
            <a:endParaRPr lang="zh-CN" altLang="en-US" dirty="0"/>
          </a:p>
        </p:txBody>
      </p:sp>
      <p:sp>
        <p:nvSpPr>
          <p:cNvPr id="4" name="圆角矩形 3"/>
          <p:cNvSpPr/>
          <p:nvPr/>
        </p:nvSpPr>
        <p:spPr>
          <a:xfrm>
            <a:off x="2685143" y="1884105"/>
            <a:ext cx="2409371" cy="623431"/>
          </a:xfrm>
          <a:prstGeom prst="roundRect">
            <a:avLst/>
          </a:prstGeom>
          <a:solidFill>
            <a:schemeClr val="accent6"/>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baseline="0" dirty="0">
                <a:solidFill>
                  <a:schemeClr val="bg1"/>
                </a:solidFill>
                <a:latin typeface="微软雅黑" panose="020B0503020204020204" pitchFamily="34" charset="-122"/>
                <a:ea typeface="微软雅黑" panose="020B0503020204020204" pitchFamily="34" charset="-122"/>
              </a:rPr>
              <a:t>用户代码</a:t>
            </a:r>
            <a:endParaRPr lang="en-US" baseline="0" dirty="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606756" y="1938970"/>
            <a:ext cx="1415772" cy="461665"/>
          </a:xfrm>
          <a:prstGeom prst="rect">
            <a:avLst/>
          </a:prstGeom>
          <a:noFill/>
        </p:spPr>
        <p:txBody>
          <a:bodyPr wrap="none" rtlCol="0">
            <a:spAutoFit/>
          </a:bodyPr>
          <a:lstStyle/>
          <a:p>
            <a:pPr algn="ctr"/>
            <a:r>
              <a:rPr lang="zh-CN" altLang="en-US" b="1" baseline="0" dirty="0">
                <a:solidFill>
                  <a:srgbClr val="C00000"/>
                </a:solidFill>
                <a:latin typeface="微软雅黑" panose="020B0503020204020204" pitchFamily="34" charset="-122"/>
                <a:ea typeface="微软雅黑" panose="020B0503020204020204" pitchFamily="34" charset="-122"/>
              </a:rPr>
              <a:t>硬件无关</a:t>
            </a:r>
            <a:endParaRPr lang="en-US" b="1" baseline="0" dirty="0">
              <a:solidFill>
                <a:srgbClr val="C0000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580620" y="3430930"/>
            <a:ext cx="1415772" cy="461665"/>
          </a:xfrm>
          <a:prstGeom prst="rect">
            <a:avLst/>
          </a:prstGeom>
          <a:noFill/>
        </p:spPr>
        <p:txBody>
          <a:bodyPr wrap="none" rtlCol="0">
            <a:spAutoFit/>
          </a:bodyPr>
          <a:lstStyle/>
          <a:p>
            <a:pPr algn="ctr"/>
            <a:r>
              <a:rPr lang="zh-CN" altLang="en-US" b="1" baseline="0" dirty="0">
                <a:solidFill>
                  <a:srgbClr val="C00000"/>
                </a:solidFill>
                <a:latin typeface="微软雅黑" panose="020B0503020204020204" pitchFamily="34" charset="-122"/>
                <a:ea typeface="微软雅黑" panose="020B0503020204020204" pitchFamily="34" charset="-122"/>
              </a:rPr>
              <a:t>硬件相关</a:t>
            </a:r>
            <a:endParaRPr lang="en-US" b="1" baseline="0" dirty="0">
              <a:solidFill>
                <a:srgbClr val="C00000"/>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a:off x="166950" y="2888343"/>
            <a:ext cx="8643221" cy="0"/>
          </a:xfrm>
          <a:prstGeom prst="line">
            <a:avLst/>
          </a:prstGeom>
          <a:ln w="28575">
            <a:solidFill>
              <a:schemeClr val="accent4"/>
            </a:solidFill>
            <a:prstDash val="lgDash"/>
          </a:ln>
        </p:spPr>
        <p:style>
          <a:lnRef idx="1">
            <a:schemeClr val="accent1"/>
          </a:lnRef>
          <a:fillRef idx="0">
            <a:schemeClr val="accent1"/>
          </a:fillRef>
          <a:effectRef idx="0">
            <a:schemeClr val="accent1"/>
          </a:effectRef>
          <a:fontRef idx="minor">
            <a:schemeClr val="tx1"/>
          </a:fontRef>
        </p:style>
      </p:cxnSp>
      <p:sp>
        <p:nvSpPr>
          <p:cNvPr id="14" name="圆角矩形 13"/>
          <p:cNvSpPr/>
          <p:nvPr/>
        </p:nvSpPr>
        <p:spPr>
          <a:xfrm>
            <a:off x="2685143" y="3298155"/>
            <a:ext cx="5950857" cy="788770"/>
          </a:xfrm>
          <a:prstGeom prst="roundRect">
            <a:avLst/>
          </a:prstGeom>
          <a:solidFill>
            <a:schemeClr val="accent6"/>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baseline="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驱动和库文件</a:t>
            </a:r>
            <a:endParaRPr lang="en-US" baseline="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108093208"/>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en-US" altLang="zh-CN" dirty="0"/>
              <a:t> 1.0 </a:t>
            </a:r>
            <a:r>
              <a:rPr lang="zh-CN" altLang="zh-CN" dirty="0"/>
              <a:t>软件生成系统</a:t>
            </a:r>
            <a:endParaRPr lang="zh-CN" altLang="en-US" dirty="0"/>
          </a:p>
        </p:txBody>
      </p:sp>
      <p:sp>
        <p:nvSpPr>
          <p:cNvPr id="3" name="内容占位符 2"/>
          <p:cNvSpPr>
            <a:spLocks noGrp="1"/>
          </p:cNvSpPr>
          <p:nvPr>
            <p:ph idx="1"/>
          </p:nvPr>
        </p:nvSpPr>
        <p:spPr/>
        <p:txBody>
          <a:bodyPr/>
          <a:lstStyle/>
          <a:p>
            <a:r>
              <a:rPr lang="zh-CN" altLang="en-US"/>
              <a:t>硬件配置头文件</a:t>
            </a:r>
          </a:p>
          <a:p>
            <a:endParaRPr lang="zh-CN" altLang="en-US" dirty="0"/>
          </a:p>
        </p:txBody>
      </p:sp>
      <p:sp>
        <p:nvSpPr>
          <p:cNvPr id="4" name="圆角矩形 3"/>
          <p:cNvSpPr/>
          <p:nvPr/>
        </p:nvSpPr>
        <p:spPr>
          <a:xfrm>
            <a:off x="2685143" y="1884105"/>
            <a:ext cx="2409371" cy="623431"/>
          </a:xfrm>
          <a:prstGeom prst="roundRect">
            <a:avLst/>
          </a:prstGeom>
          <a:solidFill>
            <a:schemeClr val="accent6"/>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baseline="0" dirty="0">
                <a:solidFill>
                  <a:schemeClr val="bg1"/>
                </a:solidFill>
                <a:latin typeface="+mj-ea"/>
                <a:ea typeface="+mj-ea"/>
              </a:rPr>
              <a:t>用户代码</a:t>
            </a:r>
            <a:endParaRPr lang="en-US" baseline="0" dirty="0">
              <a:solidFill>
                <a:schemeClr val="bg1"/>
              </a:solidFill>
              <a:latin typeface="+mj-ea"/>
              <a:ea typeface="+mj-ea"/>
            </a:endParaRPr>
          </a:p>
        </p:txBody>
      </p:sp>
      <p:cxnSp>
        <p:nvCxnSpPr>
          <p:cNvPr id="8" name="直接连接符 7"/>
          <p:cNvCxnSpPr/>
          <p:nvPr/>
        </p:nvCxnSpPr>
        <p:spPr>
          <a:xfrm>
            <a:off x="166950" y="2888343"/>
            <a:ext cx="8643221" cy="0"/>
          </a:xfrm>
          <a:prstGeom prst="line">
            <a:avLst/>
          </a:prstGeom>
          <a:ln w="28575">
            <a:solidFill>
              <a:schemeClr val="accent4"/>
            </a:solidFill>
            <a:prstDash val="lgDash"/>
          </a:ln>
        </p:spPr>
        <p:style>
          <a:lnRef idx="1">
            <a:schemeClr val="accent1"/>
          </a:lnRef>
          <a:fillRef idx="0">
            <a:schemeClr val="accent1"/>
          </a:fillRef>
          <a:effectRef idx="0">
            <a:schemeClr val="accent1"/>
          </a:effectRef>
          <a:fontRef idx="minor">
            <a:schemeClr val="tx1"/>
          </a:fontRef>
        </p:style>
      </p:cxnSp>
      <p:sp>
        <p:nvSpPr>
          <p:cNvPr id="9" name="圆角矩形 8"/>
          <p:cNvSpPr/>
          <p:nvPr/>
        </p:nvSpPr>
        <p:spPr>
          <a:xfrm>
            <a:off x="2685143" y="3269151"/>
            <a:ext cx="2409371" cy="838365"/>
          </a:xfrm>
          <a:prstGeom prst="roundRect">
            <a:avLst/>
          </a:prstGeom>
          <a:solidFill>
            <a:schemeClr val="accent1">
              <a:lumMod val="75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baseline="0" dirty="0">
                <a:solidFill>
                  <a:schemeClr val="bg1"/>
                </a:solidFill>
                <a:latin typeface="+mj-ea"/>
                <a:ea typeface="+mj-ea"/>
              </a:rPr>
              <a:t>硬件配置</a:t>
            </a:r>
            <a:endParaRPr lang="en-US" baseline="0" dirty="0">
              <a:solidFill>
                <a:schemeClr val="bg1"/>
              </a:solidFill>
              <a:latin typeface="+mj-ea"/>
              <a:ea typeface="+mj-ea"/>
            </a:endParaRPr>
          </a:p>
        </p:txBody>
      </p:sp>
      <p:sp>
        <p:nvSpPr>
          <p:cNvPr id="10" name="圆角矩形 9"/>
          <p:cNvSpPr/>
          <p:nvPr/>
        </p:nvSpPr>
        <p:spPr>
          <a:xfrm>
            <a:off x="5863772" y="3269151"/>
            <a:ext cx="2772228" cy="838365"/>
          </a:xfrm>
          <a:prstGeom prst="roundRect">
            <a:avLst/>
          </a:prstGeom>
          <a:solidFill>
            <a:schemeClr val="accent1">
              <a:lumMod val="75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baseline="0" dirty="0">
                <a:solidFill>
                  <a:schemeClr val="bg1"/>
                </a:solidFill>
                <a:latin typeface="+mj-ea"/>
                <a:ea typeface="+mj-ea"/>
              </a:rPr>
              <a:t>硬件配置头文件</a:t>
            </a:r>
            <a:endParaRPr lang="en-US" baseline="0" dirty="0">
              <a:solidFill>
                <a:schemeClr val="bg1"/>
              </a:solidFill>
              <a:latin typeface="+mj-ea"/>
              <a:ea typeface="+mj-ea"/>
            </a:endParaRPr>
          </a:p>
        </p:txBody>
      </p:sp>
      <p:pic>
        <p:nvPicPr>
          <p:cNvPr id="11" name="内容占位符 6"/>
          <p:cNvPicPr>
            <a:picLocks noChangeAspect="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rot="2225605">
            <a:off x="3657220" y="2569572"/>
            <a:ext cx="465215" cy="612723"/>
          </a:xfrm>
          <a:prstGeom prst="rect">
            <a:avLst/>
          </a:prstGeom>
        </p:spPr>
      </p:pic>
      <p:pic>
        <p:nvPicPr>
          <p:cNvPr id="12" name="图片 11"/>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8693536">
            <a:off x="6737208" y="4349553"/>
            <a:ext cx="662498" cy="590037"/>
          </a:xfrm>
          <a:prstGeom prst="rect">
            <a:avLst/>
          </a:prstGeom>
        </p:spPr>
      </p:pic>
      <p:pic>
        <p:nvPicPr>
          <p:cNvPr id="13" name="内容占位符 6"/>
          <p:cNvPicPr>
            <a:picLocks noChangeAspect="1"/>
          </p:cNvPicPr>
          <p:nvPr/>
        </p:nvPicPr>
        <p:blipFill>
          <a:blip r:embed="rId2">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rot="18390464">
            <a:off x="5257976" y="3372612"/>
            <a:ext cx="465215" cy="612723"/>
          </a:xfrm>
          <a:prstGeom prst="rect">
            <a:avLst/>
          </a:prstGeom>
        </p:spPr>
      </p:pic>
      <p:sp>
        <p:nvSpPr>
          <p:cNvPr id="16" name="圆角矩形 15"/>
          <p:cNvSpPr/>
          <p:nvPr/>
        </p:nvSpPr>
        <p:spPr>
          <a:xfrm>
            <a:off x="2685142" y="5158337"/>
            <a:ext cx="5950857" cy="788770"/>
          </a:xfrm>
          <a:prstGeom prst="roundRect">
            <a:avLst/>
          </a:prstGeom>
          <a:solidFill>
            <a:schemeClr val="accent6"/>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baseline="0" dirty="0">
                <a:solidFill>
                  <a:schemeClr val="bg1"/>
                </a:solidFill>
                <a:latin typeface="+mj-ea"/>
                <a:ea typeface="+mj-ea"/>
                <a:cs typeface="Arial" panose="020B0604020202020204" pitchFamily="34" charset="0"/>
              </a:rPr>
              <a:t>驱动和库文件</a:t>
            </a:r>
            <a:endParaRPr lang="en-US" baseline="0" dirty="0">
              <a:solidFill>
                <a:schemeClr val="bg1"/>
              </a:solidFill>
              <a:latin typeface="+mj-ea"/>
              <a:ea typeface="+mj-ea"/>
              <a:cs typeface="Arial" panose="020B0604020202020204" pitchFamily="34" charset="0"/>
            </a:endParaRPr>
          </a:p>
        </p:txBody>
      </p:sp>
      <p:sp>
        <p:nvSpPr>
          <p:cNvPr id="17" name="文本框 16"/>
          <p:cNvSpPr txBox="1"/>
          <p:nvPr/>
        </p:nvSpPr>
        <p:spPr>
          <a:xfrm>
            <a:off x="606757" y="1938970"/>
            <a:ext cx="1415772" cy="461665"/>
          </a:xfrm>
          <a:prstGeom prst="rect">
            <a:avLst/>
          </a:prstGeom>
          <a:noFill/>
        </p:spPr>
        <p:txBody>
          <a:bodyPr wrap="none" rtlCol="0">
            <a:spAutoFit/>
          </a:bodyPr>
          <a:lstStyle/>
          <a:p>
            <a:pPr algn="ctr"/>
            <a:r>
              <a:rPr lang="zh-CN" altLang="en-US" b="1" baseline="0" dirty="0">
                <a:solidFill>
                  <a:srgbClr val="C00000"/>
                </a:solidFill>
                <a:latin typeface="+mj-ea"/>
                <a:ea typeface="+mj-ea"/>
              </a:rPr>
              <a:t>硬件无关</a:t>
            </a:r>
            <a:endParaRPr lang="en-US" b="1" baseline="0" dirty="0">
              <a:solidFill>
                <a:srgbClr val="C00000"/>
              </a:solidFill>
              <a:latin typeface="+mj-ea"/>
              <a:ea typeface="+mj-ea"/>
            </a:endParaRPr>
          </a:p>
        </p:txBody>
      </p:sp>
      <p:sp>
        <p:nvSpPr>
          <p:cNvPr id="18" name="文本框 17"/>
          <p:cNvSpPr txBox="1"/>
          <p:nvPr/>
        </p:nvSpPr>
        <p:spPr>
          <a:xfrm>
            <a:off x="580621" y="3430930"/>
            <a:ext cx="1415772" cy="461665"/>
          </a:xfrm>
          <a:prstGeom prst="rect">
            <a:avLst/>
          </a:prstGeom>
          <a:noFill/>
        </p:spPr>
        <p:txBody>
          <a:bodyPr wrap="none" rtlCol="0">
            <a:spAutoFit/>
          </a:bodyPr>
          <a:lstStyle/>
          <a:p>
            <a:pPr algn="ctr"/>
            <a:r>
              <a:rPr lang="zh-CN" altLang="en-US" b="1" baseline="0" dirty="0">
                <a:solidFill>
                  <a:srgbClr val="C00000"/>
                </a:solidFill>
                <a:latin typeface="+mj-ea"/>
                <a:ea typeface="+mj-ea"/>
              </a:rPr>
              <a:t>硬件相关</a:t>
            </a:r>
            <a:endParaRPr lang="en-US" b="1" baseline="0" dirty="0">
              <a:solidFill>
                <a:srgbClr val="C00000"/>
              </a:solidFill>
              <a:latin typeface="+mj-ea"/>
              <a:ea typeface="+mj-ea"/>
            </a:endParaRPr>
          </a:p>
        </p:txBody>
      </p:sp>
    </p:spTree>
    <p:extLst>
      <p:ext uri="{BB962C8B-B14F-4D97-AF65-F5344CB8AC3E}">
        <p14:creationId xmlns:p14="http://schemas.microsoft.com/office/powerpoint/2010/main" val="2028936349"/>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en-US" altLang="zh-CN" dirty="0"/>
              <a:t> 1.0 </a:t>
            </a:r>
            <a:r>
              <a:rPr lang="zh-CN" altLang="zh-CN" dirty="0"/>
              <a:t>软件生成系统</a:t>
            </a:r>
            <a:endParaRPr lang="zh-CN" altLang="en-US" dirty="0"/>
          </a:p>
        </p:txBody>
      </p:sp>
      <p:sp>
        <p:nvSpPr>
          <p:cNvPr id="3" name="内容占位符 2"/>
          <p:cNvSpPr>
            <a:spLocks noGrp="1"/>
          </p:cNvSpPr>
          <p:nvPr>
            <p:ph idx="1"/>
          </p:nvPr>
        </p:nvSpPr>
        <p:spPr/>
        <p:txBody>
          <a:bodyPr/>
          <a:lstStyle/>
          <a:p>
            <a:r>
              <a:rPr lang="zh-CN" altLang="en-US"/>
              <a:t>从</a:t>
            </a:r>
            <a:r>
              <a:rPr lang="en-US" altLang="zh-CN"/>
              <a:t>116</a:t>
            </a:r>
            <a:r>
              <a:rPr lang="zh-CN" altLang="en-US"/>
              <a:t>个网上公开的</a:t>
            </a:r>
            <a:r>
              <a:rPr lang="en-US" altLang="zh-CN"/>
              <a:t>IoT</a:t>
            </a:r>
            <a:r>
              <a:rPr lang="zh-CN" altLang="en-US"/>
              <a:t>项目中提取出</a:t>
            </a:r>
            <a:r>
              <a:rPr lang="en-US" altLang="zh-CN"/>
              <a:t>225</a:t>
            </a:r>
            <a:r>
              <a:rPr lang="zh-CN" altLang="en-US"/>
              <a:t>个常用的</a:t>
            </a:r>
            <a:r>
              <a:rPr lang="en-US" altLang="zh-CN"/>
              <a:t>API</a:t>
            </a:r>
          </a:p>
          <a:p>
            <a:r>
              <a:rPr lang="zh-CN" altLang="en-US"/>
              <a:t>按照功能种类将其分组</a:t>
            </a:r>
            <a:endParaRPr lang="en-US" altLang="zh-CN"/>
          </a:p>
          <a:p>
            <a:r>
              <a:rPr lang="zh-CN" altLang="en-US"/>
              <a:t>实现</a:t>
            </a:r>
            <a:r>
              <a:rPr lang="en-US" altLang="zh-CN"/>
              <a:t>24</a:t>
            </a:r>
            <a:r>
              <a:rPr lang="zh-CN" altLang="en-US"/>
              <a:t>种类别的</a:t>
            </a:r>
            <a:r>
              <a:rPr lang="en-US" altLang="zh-CN"/>
              <a:t>API</a:t>
            </a:r>
          </a:p>
          <a:p>
            <a:r>
              <a:rPr lang="zh-CN" altLang="en-US"/>
              <a:t>包括</a:t>
            </a:r>
            <a:r>
              <a:rPr lang="en-US" altLang="zh-CN"/>
              <a:t>LED</a:t>
            </a:r>
            <a:r>
              <a:rPr lang="zh-CN" altLang="en-US"/>
              <a:t>，温湿度，显示，</a:t>
            </a:r>
            <a:r>
              <a:rPr lang="en-US" altLang="zh-CN"/>
              <a:t>WiFi</a:t>
            </a:r>
            <a:r>
              <a:rPr lang="zh-CN" altLang="en-US"/>
              <a:t>等等</a:t>
            </a:r>
            <a:endParaRPr lang="en-US" altLang="zh-CN"/>
          </a:p>
          <a:p>
            <a:endParaRPr lang="zh-CN" altLang="en-US" dirty="0"/>
          </a:p>
        </p:txBody>
      </p:sp>
      <p:graphicFrame>
        <p:nvGraphicFramePr>
          <p:cNvPr id="4" name="图表 3"/>
          <p:cNvGraphicFramePr/>
          <p:nvPr>
            <p:extLst>
              <p:ext uri="{D42A27DB-BD31-4B8C-83A1-F6EECF244321}">
                <p14:modId xmlns:p14="http://schemas.microsoft.com/office/powerpoint/2010/main" val="2986955001"/>
              </p:ext>
            </p:extLst>
          </p:nvPr>
        </p:nvGraphicFramePr>
        <p:xfrm>
          <a:off x="205483" y="3207398"/>
          <a:ext cx="4349043" cy="276497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图表 4"/>
          <p:cNvGraphicFramePr/>
          <p:nvPr>
            <p:extLst>
              <p:ext uri="{D42A27DB-BD31-4B8C-83A1-F6EECF244321}">
                <p14:modId xmlns:p14="http://schemas.microsoft.com/office/powerpoint/2010/main" val="2941435339"/>
              </p:ext>
            </p:extLst>
          </p:nvPr>
        </p:nvGraphicFramePr>
        <p:xfrm>
          <a:off x="3766931" y="3207398"/>
          <a:ext cx="4996069" cy="306139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01840750"/>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en-US" altLang="zh-CN" dirty="0"/>
              <a:t> 1.0 </a:t>
            </a:r>
            <a:r>
              <a:rPr lang="zh-CN" altLang="zh-CN" dirty="0"/>
              <a:t>软件生成系统</a:t>
            </a:r>
            <a:endParaRPr lang="zh-CN" altLang="en-US" dirty="0"/>
          </a:p>
        </p:txBody>
      </p:sp>
      <p:sp>
        <p:nvSpPr>
          <p:cNvPr id="3" name="内容占位符 2"/>
          <p:cNvSpPr>
            <a:spLocks noGrp="1"/>
          </p:cNvSpPr>
          <p:nvPr>
            <p:ph idx="1"/>
          </p:nvPr>
        </p:nvSpPr>
        <p:spPr/>
        <p:txBody>
          <a:bodyPr/>
          <a:lstStyle/>
          <a:p>
            <a:r>
              <a:rPr lang="zh-CN" altLang="en-US"/>
              <a:t>基础调试</a:t>
            </a:r>
            <a:endParaRPr lang="en-US" altLang="zh-CN"/>
          </a:p>
          <a:p>
            <a:pPr lvl="1"/>
            <a:r>
              <a:rPr lang="zh-CN" altLang="en-US"/>
              <a:t>用户在代码中编写</a:t>
            </a:r>
            <a:r>
              <a:rPr lang="en-US" altLang="zh-CN"/>
              <a:t> “#REQUIRE DBGPrint;”</a:t>
            </a:r>
          </a:p>
          <a:p>
            <a:pPr lvl="1"/>
            <a:r>
              <a:rPr lang="en-US" altLang="zh-CN"/>
              <a:t>IoT</a:t>
            </a:r>
            <a:r>
              <a:rPr lang="zh-CN" altLang="en-US"/>
              <a:t>平台一定会引入额外的</a:t>
            </a:r>
            <a:r>
              <a:rPr lang="en-US" altLang="zh-CN"/>
              <a:t>UART</a:t>
            </a:r>
            <a:r>
              <a:rPr lang="zh-CN" altLang="en-US"/>
              <a:t>接口来打印所有的调试信息</a:t>
            </a:r>
            <a:endParaRPr lang="en-US" altLang="zh-CN"/>
          </a:p>
          <a:p>
            <a:r>
              <a:rPr lang="zh-CN" altLang="en-US"/>
              <a:t>交互式调试</a:t>
            </a:r>
            <a:endParaRPr lang="en-US" altLang="zh-CN"/>
          </a:p>
          <a:p>
            <a:pPr lvl="1"/>
            <a:r>
              <a:rPr lang="zh-CN" altLang="en-US"/>
              <a:t>用户在代码中编写</a:t>
            </a:r>
            <a:r>
              <a:rPr lang="en-US" altLang="zh-CN"/>
              <a:t>“#REQUIRE DBG;”</a:t>
            </a:r>
          </a:p>
          <a:p>
            <a:pPr lvl="1"/>
            <a:r>
              <a:rPr lang="zh-CN" altLang="en-US"/>
              <a:t>如果开发板原生系统支持交互式调试，那么该开发板可以被选入硬件平台</a:t>
            </a:r>
            <a:endParaRPr lang="en-US" altLang="zh-CN"/>
          </a:p>
          <a:p>
            <a:pPr lvl="2"/>
            <a:r>
              <a:rPr lang="zh-CN" altLang="en-US"/>
              <a:t>树莓派和</a:t>
            </a:r>
            <a:r>
              <a:rPr lang="en-US" altLang="zh-CN"/>
              <a:t>Beaglebone</a:t>
            </a:r>
            <a:r>
              <a:rPr lang="zh-CN" altLang="en-US"/>
              <a:t>平台会利用</a:t>
            </a:r>
            <a:r>
              <a:rPr lang="en-US" altLang="zh-CN"/>
              <a:t>gdb</a:t>
            </a:r>
            <a:r>
              <a:rPr lang="zh-CN" altLang="en-US"/>
              <a:t>调试</a:t>
            </a:r>
            <a:endParaRPr lang="en-US" altLang="zh-CN"/>
          </a:p>
          <a:p>
            <a:pPr lvl="2"/>
            <a:r>
              <a:rPr lang="zh-CN" altLang="en-US"/>
              <a:t>同时</a:t>
            </a:r>
            <a:r>
              <a:rPr lang="en-US" altLang="zh-CN"/>
              <a:t>TinyLink</a:t>
            </a:r>
            <a:r>
              <a:rPr lang="zh-CN" altLang="en-US"/>
              <a:t>会提供项目源代码供用户深入调试</a:t>
            </a:r>
            <a:endParaRPr lang="zh-CN" altLang="en-US" dirty="0"/>
          </a:p>
        </p:txBody>
      </p:sp>
    </p:spTree>
    <p:extLst>
      <p:ext uri="{BB962C8B-B14F-4D97-AF65-F5344CB8AC3E}">
        <p14:creationId xmlns:p14="http://schemas.microsoft.com/office/powerpoint/2010/main" val="1326824877"/>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en-US" altLang="zh-CN" dirty="0"/>
              <a:t> 2.0</a:t>
            </a:r>
            <a:endParaRPr lang="zh-CN" altLang="en-US" dirty="0"/>
          </a:p>
        </p:txBody>
      </p:sp>
      <p:sp>
        <p:nvSpPr>
          <p:cNvPr id="5" name="内容占位符 4">
            <a:extLst>
              <a:ext uri="{FF2B5EF4-FFF2-40B4-BE49-F238E27FC236}">
                <a16:creationId xmlns:a16="http://schemas.microsoft.com/office/drawing/2014/main" id="{64FAC35C-E3B7-41D3-AEC3-7D523138E455}"/>
              </a:ext>
            </a:extLst>
          </p:cNvPr>
          <p:cNvSpPr>
            <a:spLocks noGrp="1"/>
          </p:cNvSpPr>
          <p:nvPr>
            <p:ph idx="1"/>
          </p:nvPr>
        </p:nvSpPr>
        <p:spPr/>
        <p:txBody>
          <a:bodyPr/>
          <a:lstStyle/>
          <a:p>
            <a:r>
              <a:rPr lang="zh-CN" altLang="en-US" dirty="0"/>
              <a:t>平台架构</a:t>
            </a:r>
          </a:p>
        </p:txBody>
      </p:sp>
      <p:grpSp>
        <p:nvGrpSpPr>
          <p:cNvPr id="2049" name="组合 55"/>
          <p:cNvGrpSpPr/>
          <p:nvPr/>
        </p:nvGrpSpPr>
        <p:grpSpPr>
          <a:xfrm>
            <a:off x="-8079481" y="1237596"/>
            <a:ext cx="7356079" cy="5056936"/>
            <a:chOff x="5828" y="352621"/>
            <a:chExt cx="7595" cy="4875"/>
          </a:xfrm>
        </p:grpSpPr>
        <p:sp>
          <p:nvSpPr>
            <p:cNvPr id="45" name="文本框 45"/>
            <p:cNvSpPr txBox="1"/>
            <p:nvPr/>
          </p:nvSpPr>
          <p:spPr>
            <a:xfrm>
              <a:off x="8332" y="354475"/>
              <a:ext cx="1729" cy="418"/>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zh-CN" altLang="en-US" b="1" kern="100" noProof="1">
                  <a:solidFill>
                    <a:prstClr val="black">
                      <a:lumMod val="75000"/>
                      <a:lumOff val="25000"/>
                    </a:prstClr>
                  </a:solidFill>
                  <a:latin typeface="+mj-ea"/>
                  <a:ea typeface="+mj-ea"/>
                  <a:cs typeface="Times New Roman" panose="02020603050405020304"/>
                  <a:sym typeface="Times New Roman" panose="02020603050405020304"/>
                </a:rPr>
                <a:t>一键生成应用</a:t>
              </a:r>
              <a:endParaRPr lang="zh-CN" altLang="en-US" b="1" kern="100" noProof="1">
                <a:solidFill>
                  <a:prstClr val="black"/>
                </a:solidFill>
                <a:latin typeface="+mj-ea"/>
                <a:ea typeface="+mj-ea"/>
                <a:cs typeface="Times New Roman" panose="02020603050405020304"/>
                <a:sym typeface="Times New Roman" panose="02020603050405020304"/>
              </a:endParaRPr>
            </a:p>
          </p:txBody>
        </p:sp>
        <p:grpSp>
          <p:nvGrpSpPr>
            <p:cNvPr id="2055" name="组合 52"/>
            <p:cNvGrpSpPr/>
            <p:nvPr/>
          </p:nvGrpSpPr>
          <p:grpSpPr>
            <a:xfrm>
              <a:off x="5828" y="352621"/>
              <a:ext cx="7595" cy="4875"/>
              <a:chOff x="6885" y="353081"/>
              <a:chExt cx="6608" cy="4643"/>
            </a:xfrm>
          </p:grpSpPr>
          <p:grpSp>
            <p:nvGrpSpPr>
              <p:cNvPr id="2057" name="组合 51"/>
              <p:cNvGrpSpPr/>
              <p:nvPr/>
            </p:nvGrpSpPr>
            <p:grpSpPr>
              <a:xfrm>
                <a:off x="6885" y="353081"/>
                <a:ext cx="6608" cy="4643"/>
                <a:chOff x="6935" y="353055"/>
                <a:chExt cx="6608" cy="4643"/>
              </a:xfrm>
            </p:grpSpPr>
            <p:sp>
              <p:nvSpPr>
                <p:cNvPr id="39" name="文本框 39"/>
                <p:cNvSpPr txBox="1"/>
                <p:nvPr/>
              </p:nvSpPr>
              <p:spPr>
                <a:xfrm>
                  <a:off x="8806" y="353285"/>
                  <a:ext cx="1638" cy="418"/>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b="1" kern="100" noProof="1">
                      <a:solidFill>
                        <a:prstClr val="black">
                          <a:lumMod val="75000"/>
                          <a:lumOff val="25000"/>
                        </a:prstClr>
                      </a:solidFill>
                      <a:latin typeface="+mj-ea"/>
                      <a:ea typeface="+mj-ea"/>
                      <a:cs typeface="Times New Roman" panose="02020603050405020304"/>
                      <a:sym typeface="Times New Roman" panose="02020603050405020304"/>
                    </a:rPr>
                    <a:t>节点数据上行</a:t>
                  </a:r>
                </a:p>
              </p:txBody>
            </p:sp>
            <p:pic>
              <p:nvPicPr>
                <p:cNvPr id="2059" name="图片 24" descr="图片1"/>
                <p:cNvPicPr>
                  <a:picLocks noChangeAspect="1"/>
                </p:cNvPicPr>
                <p:nvPr/>
              </p:nvPicPr>
              <p:blipFill>
                <a:blip r:embed="rId3"/>
                <a:stretch>
                  <a:fillRect/>
                </a:stretch>
              </p:blipFill>
              <p:spPr>
                <a:xfrm>
                  <a:off x="10171" y="353055"/>
                  <a:ext cx="1140" cy="1034"/>
                </a:xfrm>
                <a:prstGeom prst="rect">
                  <a:avLst/>
                </a:prstGeom>
                <a:noFill/>
                <a:ln w="9525">
                  <a:noFill/>
                </a:ln>
              </p:spPr>
            </p:pic>
            <p:pic>
              <p:nvPicPr>
                <p:cNvPr id="2060" name="图片 21" descr="C:\Users\DELL\Desktop\系统框架.png"/>
                <p:cNvPicPr>
                  <a:picLocks noChangeAspect="1"/>
                </p:cNvPicPr>
                <p:nvPr/>
              </p:nvPicPr>
              <p:blipFill>
                <a:blip r:embed="rId4"/>
                <a:srcRect r="82574" b="74886"/>
                <a:stretch>
                  <a:fillRect/>
                </a:stretch>
              </p:blipFill>
              <p:spPr>
                <a:xfrm>
                  <a:off x="7756" y="353191"/>
                  <a:ext cx="925" cy="762"/>
                </a:xfrm>
                <a:prstGeom prst="rect">
                  <a:avLst/>
                </a:prstGeom>
                <a:noFill/>
                <a:ln w="9525">
                  <a:noFill/>
                </a:ln>
              </p:spPr>
            </p:pic>
            <p:sp>
              <p:nvSpPr>
                <p:cNvPr id="40" name="文本框 40"/>
                <p:cNvSpPr txBox="1"/>
                <p:nvPr/>
              </p:nvSpPr>
              <p:spPr>
                <a:xfrm>
                  <a:off x="8823" y="353595"/>
                  <a:ext cx="1299" cy="418"/>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b="1" kern="100" noProof="1">
                      <a:solidFill>
                        <a:prstClr val="black">
                          <a:lumMod val="75000"/>
                          <a:lumOff val="25000"/>
                        </a:prstClr>
                      </a:solidFill>
                      <a:latin typeface="+mj-ea"/>
                      <a:ea typeface="+mj-ea"/>
                      <a:cs typeface="Times New Roman" panose="02020603050405020304"/>
                      <a:sym typeface="Times New Roman" panose="02020603050405020304"/>
                    </a:rPr>
                    <a:t>节点控制下行</a:t>
                  </a:r>
                </a:p>
              </p:txBody>
            </p:sp>
            <p:pic>
              <p:nvPicPr>
                <p:cNvPr id="2062" name="图片 25" descr="C:\Users\DELL\Desktop\系统框架.png"/>
                <p:cNvPicPr>
                  <a:picLocks noChangeAspect="1"/>
                </p:cNvPicPr>
                <p:nvPr/>
              </p:nvPicPr>
              <p:blipFill>
                <a:blip r:embed="rId4"/>
                <a:srcRect l="2333" t="40060" r="84196" b="46913"/>
                <a:stretch>
                  <a:fillRect/>
                </a:stretch>
              </p:blipFill>
              <p:spPr>
                <a:xfrm>
                  <a:off x="7596" y="354831"/>
                  <a:ext cx="1405" cy="777"/>
                </a:xfrm>
                <a:prstGeom prst="rect">
                  <a:avLst/>
                </a:prstGeom>
                <a:noFill/>
                <a:ln w="9525">
                  <a:noFill/>
                </a:ln>
              </p:spPr>
            </p:pic>
            <p:cxnSp>
              <p:nvCxnSpPr>
                <p:cNvPr id="27" name="直接箭头连接符 27"/>
                <p:cNvCxnSpPr/>
                <p:nvPr/>
              </p:nvCxnSpPr>
              <p:spPr>
                <a:xfrm>
                  <a:off x="8801" y="353620"/>
                  <a:ext cx="1320" cy="3"/>
                </a:xfrm>
                <a:prstGeom prst="straightConnector1">
                  <a:avLst/>
                </a:prstGeom>
                <a:ln w="12700">
                  <a:headEnd type="arrow" w="med" len="med"/>
                  <a:tailEnd type="arrow" w="med" len="med"/>
                </a:ln>
              </p:spPr>
              <p:style>
                <a:lnRef idx="1">
                  <a:schemeClr val="dk1"/>
                </a:lnRef>
                <a:fillRef idx="0">
                  <a:schemeClr val="dk1"/>
                </a:fillRef>
                <a:effectRef idx="0">
                  <a:schemeClr val="dk1"/>
                </a:effectRef>
                <a:fontRef idx="minor">
                  <a:schemeClr val="tx1"/>
                </a:fontRef>
              </p:style>
            </p:cxnSp>
            <p:pic>
              <p:nvPicPr>
                <p:cNvPr id="2064" name="图片 26" descr="C:\Users\DELL\Desktop\系统框架.png"/>
                <p:cNvPicPr>
                  <a:picLocks noChangeAspect="1"/>
                </p:cNvPicPr>
                <p:nvPr/>
              </p:nvPicPr>
              <p:blipFill>
                <a:blip r:embed="rId4"/>
                <a:srcRect l="89348" t="75540" b="3818"/>
                <a:stretch>
                  <a:fillRect/>
                </a:stretch>
              </p:blipFill>
              <p:spPr>
                <a:xfrm>
                  <a:off x="10606" y="356334"/>
                  <a:ext cx="705" cy="946"/>
                </a:xfrm>
                <a:prstGeom prst="rect">
                  <a:avLst/>
                </a:prstGeom>
                <a:noFill/>
                <a:ln w="9525">
                  <a:noFill/>
                </a:ln>
              </p:spPr>
            </p:pic>
            <p:pic>
              <p:nvPicPr>
                <p:cNvPr id="2065" name="图片 30" descr="ebe6f8a52470e0287ca5c93c7b4961ff"/>
                <p:cNvPicPr>
                  <a:picLocks noChangeAspect="1"/>
                </p:cNvPicPr>
                <p:nvPr/>
              </p:nvPicPr>
              <p:blipFill>
                <a:blip r:embed="rId5"/>
                <a:srcRect l="25024" t="8656" r="29990" b="3471"/>
                <a:stretch>
                  <a:fillRect/>
                </a:stretch>
              </p:blipFill>
              <p:spPr>
                <a:xfrm>
                  <a:off x="12794" y="353121"/>
                  <a:ext cx="749" cy="1001"/>
                </a:xfrm>
                <a:prstGeom prst="rect">
                  <a:avLst/>
                </a:prstGeom>
                <a:noFill/>
                <a:ln w="9525">
                  <a:noFill/>
                </a:ln>
              </p:spPr>
            </p:pic>
            <p:sp>
              <p:nvSpPr>
                <p:cNvPr id="43" name="文本框 43"/>
                <p:cNvSpPr txBox="1"/>
                <p:nvPr/>
              </p:nvSpPr>
              <p:spPr>
                <a:xfrm>
                  <a:off x="11350" y="355262"/>
                  <a:ext cx="1574" cy="418"/>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b="1" kern="100" noProof="1">
                      <a:solidFill>
                        <a:prstClr val="black">
                          <a:lumMod val="75000"/>
                          <a:lumOff val="25000"/>
                        </a:prstClr>
                      </a:solidFill>
                      <a:latin typeface="+mj-ea"/>
                      <a:ea typeface="+mj-ea"/>
                      <a:cs typeface="Times New Roman" panose="02020603050405020304"/>
                      <a:sym typeface="Times New Roman" panose="02020603050405020304"/>
                    </a:rPr>
                    <a:t>Web后台</a:t>
                  </a:r>
                  <a:r>
                    <a:rPr lang="zh-CN" altLang="en-US" b="1" kern="100" noProof="1">
                      <a:solidFill>
                        <a:prstClr val="black">
                          <a:lumMod val="75000"/>
                          <a:lumOff val="25000"/>
                        </a:prstClr>
                      </a:solidFill>
                      <a:latin typeface="+mj-ea"/>
                      <a:ea typeface="+mj-ea"/>
                      <a:cs typeface="Times New Roman" panose="02020603050405020304"/>
                      <a:sym typeface="Times New Roman" panose="02020603050405020304"/>
                    </a:rPr>
                    <a:t>服务器</a:t>
                  </a:r>
                </a:p>
              </p:txBody>
            </p:sp>
            <p:sp>
              <p:nvSpPr>
                <p:cNvPr id="38" name="文本框 38"/>
                <p:cNvSpPr txBox="1"/>
                <p:nvPr/>
              </p:nvSpPr>
              <p:spPr>
                <a:xfrm>
                  <a:off x="7927" y="357280"/>
                  <a:ext cx="799" cy="418"/>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b="1" kern="100" noProof="1">
                      <a:solidFill>
                        <a:prstClr val="black">
                          <a:lumMod val="75000"/>
                          <a:lumOff val="25000"/>
                        </a:prstClr>
                      </a:solidFill>
                      <a:latin typeface="+mj-ea"/>
                      <a:ea typeface="+mj-ea"/>
                      <a:cs typeface="Times New Roman" panose="02020603050405020304"/>
                      <a:sym typeface="Times New Roman" panose="02020603050405020304"/>
                    </a:rPr>
                    <a:t>源码</a:t>
                  </a:r>
                </a:p>
              </p:txBody>
            </p:sp>
            <p:sp>
              <p:nvSpPr>
                <p:cNvPr id="50" name="文本框 50"/>
                <p:cNvSpPr txBox="1"/>
                <p:nvPr/>
              </p:nvSpPr>
              <p:spPr>
                <a:xfrm>
                  <a:off x="6935" y="355814"/>
                  <a:ext cx="1482" cy="418"/>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b="1" kern="100" noProof="1">
                      <a:solidFill>
                        <a:prstClr val="black">
                          <a:lumMod val="75000"/>
                          <a:lumOff val="25000"/>
                        </a:prstClr>
                      </a:solidFill>
                      <a:latin typeface="+mj-ea"/>
                      <a:ea typeface="+mj-ea"/>
                      <a:cs typeface="Times New Roman" panose="02020603050405020304"/>
                      <a:sym typeface="Times New Roman" panose="02020603050405020304"/>
                    </a:rPr>
                    <a:t>导入</a:t>
                  </a:r>
                  <a:r>
                    <a:rPr lang="zh-CN" altLang="en-US" b="1" kern="100" noProof="1">
                      <a:solidFill>
                        <a:prstClr val="black">
                          <a:lumMod val="75000"/>
                          <a:lumOff val="25000"/>
                        </a:prstClr>
                      </a:solidFill>
                      <a:latin typeface="+mj-ea"/>
                      <a:ea typeface="+mj-ea"/>
                      <a:cs typeface="Times New Roman" panose="02020603050405020304"/>
                      <a:sym typeface="Times New Roman" panose="02020603050405020304"/>
                    </a:rPr>
                    <a:t>应用</a:t>
                  </a:r>
                  <a:r>
                    <a:rPr lang="en-US" altLang="zh-CN" b="1" kern="100" noProof="1">
                      <a:solidFill>
                        <a:prstClr val="black">
                          <a:lumMod val="75000"/>
                          <a:lumOff val="25000"/>
                        </a:prstClr>
                      </a:solidFill>
                      <a:latin typeface="+mj-ea"/>
                      <a:ea typeface="+mj-ea"/>
                      <a:cs typeface="Times New Roman" panose="02020603050405020304"/>
                      <a:sym typeface="Times New Roman" panose="02020603050405020304"/>
                    </a:rPr>
                    <a:t>源码</a:t>
                  </a:r>
                </a:p>
              </p:txBody>
            </p:sp>
            <p:pic>
              <p:nvPicPr>
                <p:cNvPr id="2070" name="图片 31" descr="6de7de19ee084bb07bce402cde2ba888"/>
                <p:cNvPicPr>
                  <a:picLocks noChangeAspect="1"/>
                </p:cNvPicPr>
                <p:nvPr/>
              </p:nvPicPr>
              <p:blipFill>
                <a:blip r:embed="rId6"/>
                <a:srcRect l="1649" t="21011" r="85117" b="24290"/>
                <a:stretch>
                  <a:fillRect/>
                </a:stretch>
              </p:blipFill>
              <p:spPr>
                <a:xfrm>
                  <a:off x="10497" y="354651"/>
                  <a:ext cx="924" cy="1136"/>
                </a:xfrm>
                <a:prstGeom prst="rect">
                  <a:avLst/>
                </a:prstGeom>
                <a:noFill/>
                <a:ln w="9525">
                  <a:noFill/>
                </a:ln>
              </p:spPr>
            </p:pic>
            <p:pic>
              <p:nvPicPr>
                <p:cNvPr id="2071" name="图片 32" descr="90ebd387780d832e9a6ef17cece16bc2"/>
                <p:cNvPicPr>
                  <a:picLocks noChangeAspect="1"/>
                </p:cNvPicPr>
                <p:nvPr/>
              </p:nvPicPr>
              <p:blipFill>
                <a:blip r:embed="rId7"/>
                <a:stretch>
                  <a:fillRect/>
                </a:stretch>
              </p:blipFill>
              <p:spPr>
                <a:xfrm>
                  <a:off x="7847" y="356442"/>
                  <a:ext cx="864" cy="864"/>
                </a:xfrm>
                <a:prstGeom prst="rect">
                  <a:avLst/>
                </a:prstGeom>
                <a:noFill/>
                <a:ln w="9525">
                  <a:noFill/>
                </a:ln>
              </p:spPr>
            </p:pic>
            <p:cxnSp>
              <p:nvCxnSpPr>
                <p:cNvPr id="29" name="直接箭头连接符 29"/>
                <p:cNvCxnSpPr/>
                <p:nvPr/>
              </p:nvCxnSpPr>
              <p:spPr>
                <a:xfrm flipV="1">
                  <a:off x="8275" y="355680"/>
                  <a:ext cx="12" cy="688"/>
                </a:xfrm>
                <a:prstGeom prst="straightConnector1">
                  <a:avLst/>
                </a:prstGeom>
                <a:ln w="12700">
                  <a:tailEnd type="arrow" w="med" len="med"/>
                </a:ln>
              </p:spPr>
              <p:style>
                <a:lnRef idx="1">
                  <a:schemeClr val="dk1"/>
                </a:lnRef>
                <a:fillRef idx="0">
                  <a:schemeClr val="dk1"/>
                </a:fillRef>
                <a:effectRef idx="0">
                  <a:schemeClr val="dk1"/>
                </a:effectRef>
                <a:fontRef idx="minor">
                  <a:schemeClr val="tx1"/>
                </a:fontRef>
              </p:style>
            </p:cxnSp>
            <p:sp>
              <p:nvSpPr>
                <p:cNvPr id="49" name="文本框 49"/>
                <p:cNvSpPr txBox="1"/>
                <p:nvPr/>
              </p:nvSpPr>
              <p:spPr>
                <a:xfrm>
                  <a:off x="6935" y="354274"/>
                  <a:ext cx="1340" cy="583"/>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b="1" kern="100" noProof="1">
                      <a:solidFill>
                        <a:prstClr val="black">
                          <a:lumMod val="75000"/>
                          <a:lumOff val="25000"/>
                        </a:prstClr>
                      </a:solidFill>
                      <a:latin typeface="+mj-ea"/>
                      <a:ea typeface="+mj-ea"/>
                      <a:cs typeface="Times New Roman" panose="02020603050405020304"/>
                      <a:sym typeface="Times New Roman" panose="02020603050405020304"/>
                    </a:rPr>
                    <a:t>生成</a:t>
                  </a:r>
                  <a:r>
                    <a:rPr lang="zh-CN" altLang="en-US" b="1" kern="100" noProof="1">
                      <a:solidFill>
                        <a:prstClr val="black">
                          <a:lumMod val="75000"/>
                          <a:lumOff val="25000"/>
                        </a:prstClr>
                      </a:solidFill>
                      <a:latin typeface="+mj-ea"/>
                      <a:ea typeface="+mj-ea"/>
                      <a:cs typeface="Times New Roman" panose="02020603050405020304"/>
                      <a:sym typeface="Times New Roman" panose="02020603050405020304"/>
                    </a:rPr>
                    <a:t>硬件方案和可烧写代码</a:t>
                  </a:r>
                </a:p>
              </p:txBody>
            </p:sp>
            <p:cxnSp>
              <p:nvCxnSpPr>
                <p:cNvPr id="33" name="直接箭头连接符 33"/>
                <p:cNvCxnSpPr/>
                <p:nvPr/>
              </p:nvCxnSpPr>
              <p:spPr>
                <a:xfrm flipH="1" flipV="1">
                  <a:off x="8295" y="354013"/>
                  <a:ext cx="10" cy="844"/>
                </a:xfrm>
                <a:prstGeom prst="straightConnector1">
                  <a:avLst/>
                </a:prstGeom>
                <a:ln w="12700">
                  <a:tailEnd type="arrow" w="med" len="med"/>
                </a:ln>
              </p:spPr>
              <p:style>
                <a:lnRef idx="1">
                  <a:schemeClr val="dk1"/>
                </a:lnRef>
                <a:fillRef idx="0">
                  <a:schemeClr val="dk1"/>
                </a:fillRef>
                <a:effectRef idx="0">
                  <a:schemeClr val="dk1"/>
                </a:effectRef>
                <a:fontRef idx="minor">
                  <a:schemeClr val="tx1"/>
                </a:fontRef>
              </p:style>
            </p:cxnSp>
            <p:cxnSp>
              <p:nvCxnSpPr>
                <p:cNvPr id="41" name="直接箭头连接符 41"/>
                <p:cNvCxnSpPr/>
                <p:nvPr/>
              </p:nvCxnSpPr>
              <p:spPr>
                <a:xfrm>
                  <a:off x="10958" y="354088"/>
                  <a:ext cx="1" cy="678"/>
                </a:xfrm>
                <a:prstGeom prst="straightConnector1">
                  <a:avLst/>
                </a:prstGeom>
                <a:ln w="12700">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44" name="文本框 44"/>
                <p:cNvSpPr txBox="1"/>
                <p:nvPr/>
              </p:nvSpPr>
              <p:spPr>
                <a:xfrm>
                  <a:off x="10618" y="357280"/>
                  <a:ext cx="986" cy="418"/>
                </a:xfrm>
                <a:prstGeom prst="rect">
                  <a:avLst/>
                </a:prstGeom>
                <a:solidFill>
                  <a:schemeClr val="lt1"/>
                </a:solid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en-US" altLang="zh-CN" b="1" kern="100" noProof="1">
                      <a:solidFill>
                        <a:prstClr val="black">
                          <a:lumMod val="75000"/>
                          <a:lumOff val="25000"/>
                        </a:prstClr>
                      </a:solidFill>
                      <a:latin typeface="+mj-ea"/>
                      <a:ea typeface="+mj-ea"/>
                      <a:cs typeface="Times New Roman" panose="02020603050405020304"/>
                      <a:sym typeface="Times New Roman" panose="02020603050405020304"/>
                    </a:rPr>
                    <a:t>数据库</a:t>
                  </a:r>
                </a:p>
              </p:txBody>
            </p:sp>
          </p:grpSp>
          <p:cxnSp>
            <p:nvCxnSpPr>
              <p:cNvPr id="37" name="直接箭头连接符 37"/>
              <p:cNvCxnSpPr>
                <a:endCxn id="2065" idx="1"/>
              </p:cNvCxnSpPr>
              <p:nvPr/>
            </p:nvCxnSpPr>
            <p:spPr>
              <a:xfrm>
                <a:off x="11300" y="353645"/>
                <a:ext cx="1444" cy="2"/>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grpSp>
      <p:sp>
        <p:nvSpPr>
          <p:cNvPr id="6" name="文本框 39"/>
          <p:cNvSpPr txBox="1"/>
          <p:nvPr/>
        </p:nvSpPr>
        <p:spPr>
          <a:xfrm>
            <a:off x="-3040589" y="1488008"/>
            <a:ext cx="1483995" cy="455295"/>
          </a:xfrm>
          <a:prstGeom prst="rect">
            <a:avLst/>
          </a:prstGeom>
          <a:noFill/>
          <a:ln w="6350">
            <a:noFill/>
          </a:ln>
          <a:extLst>
            <a:ext uri="{909E8E84-426E-40DD-AFC4-6F175D3DCCD1}">
              <a14:hiddenFill xmlns:a14="http://schemas.microsoft.com/office/drawing/2010/main">
                <a:solidFill>
                  <a:schemeClr val="lt1"/>
                </a:solidFill>
              </a14:hiddenFill>
            </a:ext>
          </a:extLst>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zh-CN" altLang="en-US" b="1" kern="100" noProof="1">
                <a:solidFill>
                  <a:prstClr val="black">
                    <a:lumMod val="75000"/>
                    <a:lumOff val="25000"/>
                  </a:prstClr>
                </a:solidFill>
                <a:latin typeface="+mj-ea"/>
                <a:ea typeface="+mj-ea"/>
                <a:cs typeface="Times New Roman" panose="02020603050405020304"/>
                <a:sym typeface="Times New Roman" panose="02020603050405020304"/>
              </a:rPr>
              <a:t>节点</a:t>
            </a:r>
            <a:r>
              <a:rPr lang="en-US" altLang="zh-CN" b="1" kern="100" noProof="1">
                <a:solidFill>
                  <a:prstClr val="black">
                    <a:lumMod val="75000"/>
                    <a:lumOff val="25000"/>
                  </a:prstClr>
                </a:solidFill>
                <a:latin typeface="+mj-ea"/>
                <a:ea typeface="+mj-ea"/>
                <a:cs typeface="Times New Roman" panose="02020603050405020304"/>
                <a:sym typeface="Times New Roman" panose="02020603050405020304"/>
              </a:rPr>
              <a:t>数据</a:t>
            </a:r>
            <a:r>
              <a:rPr lang="zh-CN" altLang="en-US" b="1" kern="100" noProof="1">
                <a:solidFill>
                  <a:prstClr val="black">
                    <a:lumMod val="75000"/>
                    <a:lumOff val="25000"/>
                  </a:prstClr>
                </a:solidFill>
                <a:latin typeface="+mj-ea"/>
                <a:ea typeface="+mj-ea"/>
                <a:cs typeface="Times New Roman" panose="02020603050405020304"/>
                <a:sym typeface="Times New Roman" panose="02020603050405020304"/>
              </a:rPr>
              <a:t>同步</a:t>
            </a:r>
          </a:p>
        </p:txBody>
      </p:sp>
      <p:sp>
        <p:nvSpPr>
          <p:cNvPr id="8" name="文本框 39"/>
          <p:cNvSpPr txBox="1"/>
          <p:nvPr/>
        </p:nvSpPr>
        <p:spPr>
          <a:xfrm>
            <a:off x="-3044399" y="1826463"/>
            <a:ext cx="1430020" cy="454025"/>
          </a:xfrm>
          <a:prstGeom prst="rect">
            <a:avLst/>
          </a:prstGeom>
          <a:noFill/>
          <a:ln w="6350">
            <a:noFill/>
          </a:ln>
          <a:extLst>
            <a:ext uri="{909E8E84-426E-40DD-AFC4-6F175D3DCCD1}">
              <a14:hiddenFill xmlns:a14="http://schemas.microsoft.com/office/drawing/2010/main">
                <a:solidFill>
                  <a:schemeClr val="lt1"/>
                </a:solidFill>
              </a14:hiddenFill>
            </a:ext>
          </a:extLst>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a:r>
              <a:rPr lang="zh-CN" altLang="en-US" b="1" kern="100" noProof="1">
                <a:solidFill>
                  <a:prstClr val="black">
                    <a:lumMod val="75000"/>
                    <a:lumOff val="25000"/>
                  </a:prstClr>
                </a:solidFill>
                <a:latin typeface="+mj-ea"/>
                <a:ea typeface="+mj-ea"/>
                <a:cs typeface="Times New Roman" panose="02020603050405020304"/>
                <a:sym typeface="Times New Roman" panose="02020603050405020304"/>
              </a:rPr>
              <a:t>手机交互</a:t>
            </a:r>
            <a:r>
              <a:rPr lang="en-US" altLang="zh-CN" b="1" kern="100" noProof="1">
                <a:solidFill>
                  <a:prstClr val="black">
                    <a:lumMod val="75000"/>
                    <a:lumOff val="25000"/>
                  </a:prstClr>
                </a:solidFill>
                <a:latin typeface="+mj-ea"/>
                <a:ea typeface="+mj-ea"/>
                <a:cs typeface="Times New Roman" panose="02020603050405020304"/>
                <a:sym typeface="Times New Roman" panose="02020603050405020304"/>
              </a:rPr>
              <a:t>上行</a:t>
            </a:r>
          </a:p>
        </p:txBody>
      </p:sp>
      <p:cxnSp>
        <p:nvCxnSpPr>
          <p:cNvPr id="19" name="肘形连接符 18"/>
          <p:cNvCxnSpPr>
            <a:stCxn id="2070" idx="3"/>
            <a:endCxn id="2065" idx="2"/>
          </p:cNvCxnSpPr>
          <p:nvPr/>
        </p:nvCxnSpPr>
        <p:spPr>
          <a:xfrm flipV="1">
            <a:off x="-3085674" y="2399868"/>
            <a:ext cx="1945640" cy="1194435"/>
          </a:xfrm>
          <a:prstGeom prst="bentConnector2">
            <a:avLst/>
          </a:prstGeom>
          <a:solidFill>
            <a:schemeClr val="accent1"/>
          </a:solidFill>
          <a:ln w="12700" cap="flat" cmpd="sng" algn="ctr">
            <a:solidFill>
              <a:schemeClr val="tx1"/>
            </a:solidFill>
            <a:prstDash val="solid"/>
            <a:round/>
            <a:headEnd type="none" w="med" len="med"/>
            <a:tailEnd type="arrow" w="med" len="med"/>
          </a:ln>
        </p:spPr>
      </p:cxnSp>
      <p:cxnSp>
        <p:nvCxnSpPr>
          <p:cNvPr id="20" name="直接箭头连接符 41"/>
          <p:cNvCxnSpPr>
            <a:endCxn id="2064" idx="0"/>
          </p:cNvCxnSpPr>
          <p:nvPr/>
        </p:nvCxnSpPr>
        <p:spPr>
          <a:xfrm flipH="1">
            <a:off x="-3600659" y="4212793"/>
            <a:ext cx="635" cy="596265"/>
          </a:xfrm>
          <a:prstGeom prst="straightConnector1">
            <a:avLst/>
          </a:prstGeom>
          <a:ln w="12700">
            <a:solidFill>
              <a:schemeClr val="tx1">
                <a:lumMod val="85000"/>
                <a:lumOff val="15000"/>
              </a:schemeClr>
            </a:solidFill>
            <a:headEnd type="arrow" w="med" len="med"/>
            <a:tailEnd type="arrow" w="med" len="med"/>
          </a:ln>
        </p:spPr>
        <p:style>
          <a:lnRef idx="1">
            <a:schemeClr val="dk1"/>
          </a:lnRef>
          <a:fillRef idx="0">
            <a:schemeClr val="dk1"/>
          </a:fillRef>
          <a:effectRef idx="0">
            <a:schemeClr val="dk1"/>
          </a:effectRef>
          <a:fontRef idx="minor">
            <a:schemeClr val="tx1"/>
          </a:fontRef>
        </p:style>
      </p:cxnSp>
      <p:cxnSp>
        <p:nvCxnSpPr>
          <p:cNvPr id="3" name="直接箭头连接符 2"/>
          <p:cNvCxnSpPr>
            <a:stCxn id="2062" idx="3"/>
            <a:endCxn id="2070" idx="1"/>
          </p:cNvCxnSpPr>
          <p:nvPr/>
        </p:nvCxnSpPr>
        <p:spPr>
          <a:xfrm flipV="1">
            <a:off x="-5779344" y="3594303"/>
            <a:ext cx="1664970" cy="1270"/>
          </a:xfrm>
          <a:prstGeom prst="straightConnector1">
            <a:avLst/>
          </a:prstGeom>
          <a:solidFill>
            <a:schemeClr val="accent1"/>
          </a:solidFill>
          <a:ln w="12700" cap="flat" cmpd="sng" algn="ctr">
            <a:solidFill>
              <a:schemeClr val="tx1"/>
            </a:solidFill>
            <a:prstDash val="solid"/>
            <a:round/>
            <a:headEnd type="none" w="med" len="med"/>
            <a:tailEnd type="arrow" w="med" len="med"/>
          </a:ln>
        </p:spPr>
      </p:cxnSp>
      <p:pic>
        <p:nvPicPr>
          <p:cNvPr id="7" name="图片 6">
            <a:extLst>
              <a:ext uri="{FF2B5EF4-FFF2-40B4-BE49-F238E27FC236}">
                <a16:creationId xmlns:a16="http://schemas.microsoft.com/office/drawing/2014/main" id="{F05AA772-759C-43BF-B09C-2DEA00AE625E}"/>
              </a:ext>
            </a:extLst>
          </p:cNvPr>
          <p:cNvPicPr>
            <a:picLocks noChangeAspect="1"/>
          </p:cNvPicPr>
          <p:nvPr/>
        </p:nvPicPr>
        <p:blipFill>
          <a:blip r:embed="rId8"/>
          <a:stretch>
            <a:fillRect/>
          </a:stretch>
        </p:blipFill>
        <p:spPr>
          <a:xfrm>
            <a:off x="0" y="1789802"/>
            <a:ext cx="9144000" cy="3830128"/>
          </a:xfrm>
          <a:prstGeom prst="rect">
            <a:avLst/>
          </a:prstGeom>
        </p:spPr>
      </p:pic>
    </p:spTree>
    <p:extLst>
      <p:ext uri="{BB962C8B-B14F-4D97-AF65-F5344CB8AC3E}">
        <p14:creationId xmlns:p14="http://schemas.microsoft.com/office/powerpoint/2010/main" val="2789529991"/>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en-US" altLang="zh-CN" dirty="0"/>
              <a:t> 2.0 </a:t>
            </a:r>
            <a:r>
              <a:rPr lang="zh-CN" altLang="en-US" dirty="0"/>
              <a:t>三端开发</a:t>
            </a:r>
          </a:p>
        </p:txBody>
      </p:sp>
      <p:sp>
        <p:nvSpPr>
          <p:cNvPr id="3" name="内容占位符 2"/>
          <p:cNvSpPr>
            <a:spLocks noGrp="1"/>
          </p:cNvSpPr>
          <p:nvPr>
            <p:ph idx="1"/>
          </p:nvPr>
        </p:nvSpPr>
        <p:spPr/>
        <p:txBody>
          <a:bodyPr/>
          <a:lstStyle/>
          <a:p>
            <a:r>
              <a:rPr lang="zh-CN" altLang="en-US"/>
              <a:t>设备开发</a:t>
            </a:r>
            <a:endParaRPr lang="en-US" altLang="zh-CN"/>
          </a:p>
          <a:p>
            <a:pPr lvl="1"/>
            <a:r>
              <a:rPr lang="zh-CN" altLang="en-US"/>
              <a:t>基于软硬一体快速开发技术实现</a:t>
            </a:r>
            <a:endParaRPr lang="en-US" altLang="zh-CN"/>
          </a:p>
          <a:p>
            <a:pPr lvl="1"/>
            <a:r>
              <a:rPr lang="zh-CN" altLang="en-US"/>
              <a:t>添加了领域特定元素，例如宏和数据类型</a:t>
            </a:r>
            <a:endParaRPr lang="en-US" altLang="zh-CN"/>
          </a:p>
          <a:p>
            <a:pPr lvl="1"/>
            <a:r>
              <a:rPr lang="zh-CN" altLang="en-US"/>
              <a:t>实现了许多任务处理操作，以方便物联网节点之间的交互和管理控制节点行为</a:t>
            </a:r>
            <a:endParaRPr lang="en-US" altLang="zh-CN"/>
          </a:p>
          <a:p>
            <a:pPr lvl="1"/>
            <a:r>
              <a:rPr lang="zh-CN" altLang="en-US"/>
              <a:t>高层</a:t>
            </a:r>
            <a:r>
              <a:rPr lang="en-US" altLang="zh-CN"/>
              <a:t>API</a:t>
            </a:r>
            <a:r>
              <a:rPr lang="zh-CN" altLang="en-US"/>
              <a:t>封装了大量原先</a:t>
            </a:r>
            <a:r>
              <a:rPr lang="en-US" altLang="zh-CN"/>
              <a:t>TinyLink 1.0</a:t>
            </a:r>
            <a:r>
              <a:rPr lang="zh-CN" altLang="en-US"/>
              <a:t>的</a:t>
            </a:r>
            <a:r>
              <a:rPr lang="en-US" altLang="zh-CN"/>
              <a:t>API</a:t>
            </a:r>
            <a:r>
              <a:rPr lang="zh-CN" altLang="en-US"/>
              <a:t>，对开发者隐藏了不重要的细节内容</a:t>
            </a:r>
            <a:endParaRPr lang="en-US" altLang="zh-CN"/>
          </a:p>
          <a:p>
            <a:pPr lvl="1"/>
            <a:r>
              <a:rPr lang="zh-CN" altLang="en-US"/>
              <a:t>丰富了系统功能，如支持</a:t>
            </a:r>
            <a:r>
              <a:rPr lang="en-US" altLang="zh-CN"/>
              <a:t>LoRa</a:t>
            </a:r>
            <a:r>
              <a:rPr lang="zh-CN" altLang="en-US"/>
              <a:t>传输和程序并发执行</a:t>
            </a:r>
            <a:endParaRPr lang="en-US" altLang="zh-CN"/>
          </a:p>
          <a:p>
            <a:pPr lvl="1"/>
            <a:endParaRPr lang="zh-CN" dirty="0"/>
          </a:p>
        </p:txBody>
      </p:sp>
    </p:spTree>
    <p:extLst>
      <p:ext uri="{BB962C8B-B14F-4D97-AF65-F5344CB8AC3E}">
        <p14:creationId xmlns:p14="http://schemas.microsoft.com/office/powerpoint/2010/main" val="1072239971"/>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en-US" altLang="zh-CN" dirty="0"/>
              <a:t> 2.0 </a:t>
            </a:r>
            <a:r>
              <a:rPr lang="zh-CN" altLang="en-US" dirty="0"/>
              <a:t>三端开发</a:t>
            </a:r>
          </a:p>
        </p:txBody>
      </p:sp>
      <p:sp>
        <p:nvSpPr>
          <p:cNvPr id="3" name="内容占位符 2"/>
          <p:cNvSpPr>
            <a:spLocks noGrp="1"/>
          </p:cNvSpPr>
          <p:nvPr>
            <p:ph idx="1"/>
          </p:nvPr>
        </p:nvSpPr>
        <p:spPr/>
        <p:txBody>
          <a:bodyPr/>
          <a:lstStyle/>
          <a:p>
            <a:r>
              <a:rPr lang="zh-CN" altLang="en-US"/>
              <a:t>云服务开发</a:t>
            </a:r>
            <a:endParaRPr lang="en-US" altLang="zh-CN"/>
          </a:p>
          <a:p>
            <a:pPr lvl="1"/>
            <a:r>
              <a:rPr lang="zh-CN" altLang="en-US"/>
              <a:t>将云端规则转换为</a:t>
            </a:r>
            <a:r>
              <a:rPr lang="en-US" altLang="zh-CN"/>
              <a:t>JSON</a:t>
            </a:r>
            <a:r>
              <a:rPr lang="zh-CN" altLang="en-US"/>
              <a:t>格式的规则配置，分析规则的条件并将其与</a:t>
            </a:r>
            <a:r>
              <a:rPr lang="en-US" altLang="zh-CN"/>
              <a:t>RESTful API</a:t>
            </a:r>
            <a:r>
              <a:rPr lang="zh-CN" altLang="en-US"/>
              <a:t>一起解释为后缀表达式</a:t>
            </a:r>
            <a:endParaRPr lang="en-US" altLang="zh-CN"/>
          </a:p>
          <a:p>
            <a:pPr lvl="1"/>
            <a:r>
              <a:rPr lang="zh-CN" altLang="en-US"/>
              <a:t>规则引擎在云端运行，可以加载、解释大量规则配置，并为每个规则注册触发器。触发器分为基于事件的触发和基于时间的触发</a:t>
            </a:r>
            <a:endParaRPr lang="en-US" altLang="zh-CN"/>
          </a:p>
          <a:p>
            <a:pPr lvl="1"/>
            <a:r>
              <a:rPr lang="zh-CN" altLang="en-US"/>
              <a:t>规则引擎包含三个线程，每个线程都有一个由</a:t>
            </a:r>
            <a:r>
              <a:rPr lang="en-US" altLang="zh-CN"/>
              <a:t>Redis</a:t>
            </a:r>
            <a:r>
              <a:rPr lang="zh-CN" altLang="en-US"/>
              <a:t>实现的简单</a:t>
            </a:r>
            <a:r>
              <a:rPr lang="en-US" altLang="zh-CN"/>
              <a:t>FIFO</a:t>
            </a:r>
            <a:r>
              <a:rPr lang="zh-CN" altLang="en-US"/>
              <a:t>消息队列，包括：</a:t>
            </a:r>
            <a:r>
              <a:rPr lang="en-US" altLang="zh-CN"/>
              <a:t>1</a:t>
            </a:r>
            <a:r>
              <a:rPr lang="zh-CN" altLang="en-US"/>
              <a:t>）消息队列；</a:t>
            </a:r>
            <a:r>
              <a:rPr lang="en-US" altLang="zh-CN"/>
              <a:t>2</a:t>
            </a:r>
            <a:r>
              <a:rPr lang="zh-CN" altLang="en-US"/>
              <a:t>）规则队列和</a:t>
            </a:r>
            <a:r>
              <a:rPr lang="en-US" altLang="zh-CN"/>
              <a:t>3</a:t>
            </a:r>
            <a:r>
              <a:rPr lang="zh-CN" altLang="en-US"/>
              <a:t>）命令队列</a:t>
            </a:r>
            <a:endParaRPr lang="en-US" altLang="zh-CN"/>
          </a:p>
          <a:p>
            <a:pPr lvl="1"/>
            <a:endParaRPr lang="zh-CN" dirty="0"/>
          </a:p>
        </p:txBody>
      </p:sp>
    </p:spTree>
    <p:extLst>
      <p:ext uri="{BB962C8B-B14F-4D97-AF65-F5344CB8AC3E}">
        <p14:creationId xmlns:p14="http://schemas.microsoft.com/office/powerpoint/2010/main" val="2718313794"/>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en-US" altLang="zh-CN" dirty="0"/>
              <a:t> 2.0 </a:t>
            </a:r>
            <a:r>
              <a:rPr lang="zh-CN" altLang="en-US" dirty="0"/>
              <a:t>三端开发</a:t>
            </a:r>
          </a:p>
        </p:txBody>
      </p:sp>
      <p:sp>
        <p:nvSpPr>
          <p:cNvPr id="3" name="内容占位符 2"/>
          <p:cNvSpPr>
            <a:spLocks noGrp="1"/>
          </p:cNvSpPr>
          <p:nvPr>
            <p:ph idx="1"/>
          </p:nvPr>
        </p:nvSpPr>
        <p:spPr/>
        <p:txBody>
          <a:bodyPr/>
          <a:lstStyle/>
          <a:p>
            <a:r>
              <a:rPr lang="zh-CN" altLang="en-US"/>
              <a:t>移动端开发</a:t>
            </a:r>
            <a:endParaRPr lang="en-US" altLang="zh-CN"/>
          </a:p>
          <a:p>
            <a:pPr lvl="1"/>
            <a:r>
              <a:rPr lang="zh-CN" altLang="en-US"/>
              <a:t>客户端生成器将客户端代码（例如带有</a:t>
            </a:r>
            <a:r>
              <a:rPr lang="en-US" altLang="zh-CN"/>
              <a:t>@Client</a:t>
            </a:r>
            <a:r>
              <a:rPr lang="zh-CN" altLang="en-US"/>
              <a:t>后缀的微应用）编译为</a:t>
            </a:r>
            <a:r>
              <a:rPr lang="en-US" altLang="zh-CN"/>
              <a:t>WebView</a:t>
            </a:r>
            <a:r>
              <a:rPr lang="zh-CN" altLang="en-US"/>
              <a:t>客户端程序</a:t>
            </a:r>
            <a:endParaRPr lang="en-US" altLang="zh-CN"/>
          </a:p>
          <a:p>
            <a:pPr lvl="1"/>
            <a:r>
              <a:rPr lang="zh-CN" altLang="en-US"/>
              <a:t>首先构建抽象语法树，然后将与其它微应用的交互转换为</a:t>
            </a:r>
            <a:r>
              <a:rPr lang="en-US" altLang="zh-CN"/>
              <a:t>JavaScript</a:t>
            </a:r>
            <a:r>
              <a:rPr lang="zh-CN" altLang="en-US"/>
              <a:t>代码</a:t>
            </a:r>
            <a:endParaRPr lang="en-US" altLang="zh-CN"/>
          </a:p>
          <a:p>
            <a:pPr lvl="1"/>
            <a:r>
              <a:rPr lang="zh-CN" altLang="en-US"/>
              <a:t>使用默认的混合模板，用</a:t>
            </a:r>
            <a:r>
              <a:rPr lang="en-US" altLang="zh-CN"/>
              <a:t>HTML</a:t>
            </a:r>
            <a:r>
              <a:rPr lang="zh-CN" altLang="en-US"/>
              <a:t>和</a:t>
            </a:r>
            <a:r>
              <a:rPr lang="en-US" altLang="zh-CN"/>
              <a:t>JS</a:t>
            </a:r>
            <a:r>
              <a:rPr lang="zh-CN" altLang="en-US"/>
              <a:t>代码来表示代码中的</a:t>
            </a:r>
            <a:r>
              <a:rPr lang="en-US" altLang="zh-CN"/>
              <a:t>UI</a:t>
            </a:r>
          </a:p>
          <a:p>
            <a:pPr lvl="1"/>
            <a:endParaRPr lang="zh-CN" dirty="0"/>
          </a:p>
        </p:txBody>
      </p:sp>
    </p:spTree>
    <p:extLst>
      <p:ext uri="{BB962C8B-B14F-4D97-AF65-F5344CB8AC3E}">
        <p14:creationId xmlns:p14="http://schemas.microsoft.com/office/powerpoint/2010/main" val="1356782956"/>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en-US" altLang="zh-CN" dirty="0"/>
              <a:t> 2.0 </a:t>
            </a:r>
            <a:r>
              <a:rPr lang="zh-CN" altLang="en-US" dirty="0"/>
              <a:t>关键特性</a:t>
            </a:r>
          </a:p>
        </p:txBody>
      </p:sp>
      <p:sp>
        <p:nvSpPr>
          <p:cNvPr id="3" name="内容占位符 2"/>
          <p:cNvSpPr>
            <a:spLocks noGrp="1"/>
          </p:cNvSpPr>
          <p:nvPr>
            <p:ph idx="1"/>
          </p:nvPr>
        </p:nvSpPr>
        <p:spPr/>
        <p:txBody>
          <a:bodyPr/>
          <a:lstStyle/>
          <a:p>
            <a:r>
              <a:rPr lang="zh-CN" altLang="en-US"/>
              <a:t>微应用模型</a:t>
            </a:r>
            <a:endParaRPr lang="en-US" altLang="zh-CN"/>
          </a:p>
          <a:p>
            <a:pPr lvl="1"/>
            <a:r>
              <a:rPr lang="zh-CN" altLang="en-US"/>
              <a:t>定义了物联网节点的功能和行为，抽象了物联网节点的传感数据、检测到的事件，以及暴露给其他微应用和策略的服务调用接口，屏蔽了数据传输、事件上报和服务调用的底层实现细节</a:t>
            </a:r>
            <a:endParaRPr lang="en-US" altLang="zh-CN"/>
          </a:p>
          <a:p>
            <a:r>
              <a:rPr lang="zh-CN" altLang="en-US"/>
              <a:t>隐式交互</a:t>
            </a:r>
            <a:endParaRPr lang="en-US" altLang="zh-CN"/>
          </a:p>
          <a:p>
            <a:pPr lvl="1"/>
            <a:r>
              <a:rPr lang="zh-CN" altLang="en-US"/>
              <a:t>采用了结构化的方式与微应用模型相结合，允许开发者跨微应用查询接口中定义的数据</a:t>
            </a:r>
            <a:endParaRPr lang="en-US" altLang="zh-CN"/>
          </a:p>
          <a:p>
            <a:pPr lvl="1"/>
            <a:r>
              <a:rPr lang="zh-CN" altLang="en-US"/>
              <a:t>实现了每个物联网节点状态的自动跟踪，可以自动保持节点一致性，包括数据流和服务调用的一致性</a:t>
            </a:r>
            <a:endParaRPr lang="zh-CN" altLang="en-US" dirty="0"/>
          </a:p>
        </p:txBody>
      </p:sp>
    </p:spTree>
    <p:extLst>
      <p:ext uri="{BB962C8B-B14F-4D97-AF65-F5344CB8AC3E}">
        <p14:creationId xmlns:p14="http://schemas.microsoft.com/office/powerpoint/2010/main" val="296860687"/>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TinyLink</a:t>
            </a:r>
            <a:r>
              <a:rPr lang="en-US" altLang="zh-CN" dirty="0"/>
              <a:t> 2.0 </a:t>
            </a:r>
            <a:r>
              <a:rPr lang="zh-CN" altLang="en-US" dirty="0"/>
              <a:t>关键特性</a:t>
            </a:r>
          </a:p>
        </p:txBody>
      </p:sp>
      <p:sp>
        <p:nvSpPr>
          <p:cNvPr id="3" name="内容占位符 2"/>
          <p:cNvSpPr>
            <a:spLocks noGrp="1"/>
          </p:cNvSpPr>
          <p:nvPr>
            <p:ph idx="1"/>
          </p:nvPr>
        </p:nvSpPr>
        <p:spPr/>
        <p:txBody>
          <a:bodyPr/>
          <a:lstStyle/>
          <a:p>
            <a:r>
              <a:rPr lang="zh-CN" altLang="en-US"/>
              <a:t>云定义节点行为</a:t>
            </a:r>
            <a:endParaRPr lang="en-US" altLang="zh-CN"/>
          </a:p>
          <a:p>
            <a:pPr lvl="1"/>
            <a:r>
              <a:rPr lang="zh-CN" altLang="en-US"/>
              <a:t>设计了类</a:t>
            </a:r>
            <a:r>
              <a:rPr lang="en-US" altLang="zh-CN"/>
              <a:t>IFTTT</a:t>
            </a:r>
            <a:r>
              <a:rPr lang="zh-CN" altLang="en-US"/>
              <a:t>规则，添加了新关键词来增强其开发多应用实例的功能</a:t>
            </a:r>
            <a:endParaRPr lang="en-US" altLang="zh-CN"/>
          </a:p>
          <a:p>
            <a:pPr lvl="1"/>
            <a:r>
              <a:rPr lang="zh-CN" altLang="en-US"/>
              <a:t>控制物联网节点根据任务计划在适当时间点执行任务</a:t>
            </a:r>
            <a:endParaRPr lang="en-US" altLang="zh-CN"/>
          </a:p>
          <a:p>
            <a:r>
              <a:rPr lang="zh-CN" altLang="en-US"/>
              <a:t>虚拟传感器</a:t>
            </a:r>
            <a:endParaRPr lang="en-US" altLang="zh-CN"/>
          </a:p>
          <a:p>
            <a:pPr lvl="1"/>
            <a:r>
              <a:rPr lang="zh-CN" altLang="en-US"/>
              <a:t>自动从多源传感器数据组合生成推理模型</a:t>
            </a:r>
            <a:endParaRPr lang="zh-CN" altLang="en-US" dirty="0"/>
          </a:p>
        </p:txBody>
      </p:sp>
      <p:pic>
        <p:nvPicPr>
          <p:cNvPr id="4" name="图片 3">
            <a:extLst>
              <a:ext uri="{FF2B5EF4-FFF2-40B4-BE49-F238E27FC236}">
                <a16:creationId xmlns:a16="http://schemas.microsoft.com/office/drawing/2014/main" id="{AF2E7940-9FA4-462D-B2AF-89D403DBBAF6}"/>
              </a:ext>
            </a:extLst>
          </p:cNvPr>
          <p:cNvPicPr>
            <a:picLocks noChangeAspect="1"/>
          </p:cNvPicPr>
          <p:nvPr/>
        </p:nvPicPr>
        <p:blipFill>
          <a:blip r:embed="rId3"/>
          <a:stretch>
            <a:fillRect/>
          </a:stretch>
        </p:blipFill>
        <p:spPr>
          <a:xfrm>
            <a:off x="4533675" y="4543333"/>
            <a:ext cx="1761897" cy="1731414"/>
          </a:xfrm>
          <a:prstGeom prst="rect">
            <a:avLst/>
          </a:prstGeom>
        </p:spPr>
      </p:pic>
      <p:pic>
        <p:nvPicPr>
          <p:cNvPr id="5" name="图片 4">
            <a:extLst>
              <a:ext uri="{FF2B5EF4-FFF2-40B4-BE49-F238E27FC236}">
                <a16:creationId xmlns:a16="http://schemas.microsoft.com/office/drawing/2014/main" id="{6CCAE98E-4C95-424F-B8F5-230AB57F8437}"/>
              </a:ext>
            </a:extLst>
          </p:cNvPr>
          <p:cNvPicPr>
            <a:picLocks noChangeAspect="1"/>
          </p:cNvPicPr>
          <p:nvPr/>
        </p:nvPicPr>
        <p:blipFill>
          <a:blip r:embed="rId4"/>
          <a:stretch>
            <a:fillRect/>
          </a:stretch>
        </p:blipFill>
        <p:spPr>
          <a:xfrm>
            <a:off x="2543996" y="4543333"/>
            <a:ext cx="1566808" cy="1737511"/>
          </a:xfrm>
          <a:prstGeom prst="rect">
            <a:avLst/>
          </a:prstGeom>
        </p:spPr>
      </p:pic>
    </p:spTree>
    <p:extLst>
      <p:ext uri="{BB962C8B-B14F-4D97-AF65-F5344CB8AC3E}">
        <p14:creationId xmlns:p14="http://schemas.microsoft.com/office/powerpoint/2010/main" val="1832470205"/>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a:t>目录</a:t>
            </a:r>
            <a:endParaRPr lang="zh-CN" altLang="en-US" dirty="0"/>
          </a:p>
        </p:txBody>
      </p:sp>
      <p:sp>
        <p:nvSpPr>
          <p:cNvPr id="3" name="内容占位符 2">
            <a:extLst>
              <a:ext uri="{FF2B5EF4-FFF2-40B4-BE49-F238E27FC236}">
                <a16:creationId xmlns:a16="http://schemas.microsoft.com/office/drawing/2014/main" id="{7A3C8A14-3AC3-483A-880B-7C826E051A25}"/>
              </a:ext>
            </a:extLst>
          </p:cNvPr>
          <p:cNvSpPr>
            <a:spLocks noGrp="1"/>
          </p:cNvSpPr>
          <p:nvPr>
            <p:ph idx="1"/>
          </p:nvPr>
        </p:nvSpPr>
        <p:spPr/>
        <p:txBody>
          <a:bodyPr/>
          <a:lstStyle/>
          <a:p>
            <a:endParaRPr lang="en-US" altLang="zh-CN" dirty="0"/>
          </a:p>
          <a:p>
            <a:r>
              <a:rPr lang="zh-CN" altLang="en-US" dirty="0"/>
              <a:t>概述</a:t>
            </a:r>
            <a:endParaRPr lang="en-US" altLang="zh-CN" dirty="0"/>
          </a:p>
          <a:p>
            <a:r>
              <a:rPr lang="zh-CN" altLang="en-US" dirty="0"/>
              <a:t>云</a:t>
            </a:r>
            <a:r>
              <a:rPr lang="en-US" altLang="zh-CN" dirty="0"/>
              <a:t>-</a:t>
            </a:r>
            <a:r>
              <a:rPr lang="zh-CN" altLang="en-US" dirty="0"/>
              <a:t>端一体开发平台主要功能</a:t>
            </a:r>
            <a:endParaRPr lang="en-US" altLang="zh-CN" dirty="0"/>
          </a:p>
          <a:p>
            <a:r>
              <a:rPr lang="zh-CN" altLang="en-US" dirty="0"/>
              <a:t>典型物联网云</a:t>
            </a:r>
            <a:r>
              <a:rPr lang="en-US" altLang="zh-CN" dirty="0"/>
              <a:t>-</a:t>
            </a:r>
            <a:r>
              <a:rPr lang="zh-CN" altLang="en-US" dirty="0"/>
              <a:t>端一体开发平台</a:t>
            </a:r>
            <a:endParaRPr lang="en-US" altLang="zh-CN" dirty="0"/>
          </a:p>
          <a:p>
            <a:pPr lvl="1"/>
            <a:r>
              <a:rPr lang="en-US" altLang="zh-CN" dirty="0" err="1"/>
              <a:t>TinyLink</a:t>
            </a:r>
            <a:endParaRPr lang="en-US" altLang="zh-CN" dirty="0"/>
          </a:p>
          <a:p>
            <a:pPr lvl="1"/>
            <a:r>
              <a:rPr lang="en-US" altLang="zh-CN" dirty="0">
                <a:solidFill>
                  <a:srgbClr val="C00000"/>
                </a:solidFill>
              </a:rPr>
              <a:t>IoT Studio</a:t>
            </a:r>
          </a:p>
          <a:p>
            <a:pPr lvl="1"/>
            <a:r>
              <a:rPr lang="en-US" altLang="zh-CN" dirty="0" err="1"/>
              <a:t>Tuya</a:t>
            </a:r>
            <a:r>
              <a:rPr lang="en-US" altLang="zh-CN" dirty="0"/>
              <a:t> IoT</a:t>
            </a:r>
            <a:r>
              <a:rPr lang="zh-CN" altLang="en-US" dirty="0"/>
              <a:t>开发平台</a:t>
            </a:r>
            <a:endParaRPr lang="en-US" altLang="zh-CN" dirty="0"/>
          </a:p>
          <a:p>
            <a:r>
              <a:rPr lang="zh-CN" altLang="en-US" dirty="0"/>
              <a:t>案例开发</a:t>
            </a:r>
            <a:endParaRPr lang="en-US" altLang="zh-CN" dirty="0"/>
          </a:p>
          <a:p>
            <a:r>
              <a:rPr lang="zh-CN" altLang="en-US" dirty="0"/>
              <a:t>总结</a:t>
            </a:r>
            <a:endParaRPr lang="en-US" altLang="zh-CN" dirty="0"/>
          </a:p>
          <a:p>
            <a:endParaRPr lang="zh-CN" altLang="en-US" dirty="0"/>
          </a:p>
        </p:txBody>
      </p:sp>
      <p:sp>
        <p:nvSpPr>
          <p:cNvPr id="7" name="内容占位符 2"/>
          <p:cNvSpPr>
            <a:spLocks noGrp="1"/>
          </p:cNvSpPr>
          <p:nvPr/>
        </p:nvSpPr>
        <p:spPr bwMode="auto">
          <a:xfrm>
            <a:off x="457200" y="990000"/>
            <a:ext cx="8305800" cy="5410200"/>
          </a:xfrm>
          <a:prstGeom prst="rect">
            <a:avLst/>
          </a:prstGeom>
          <a:noFill/>
          <a:ln w="9525">
            <a:noFill/>
            <a:miter lim="800000"/>
          </a:ln>
          <a:effectLst/>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Tx/>
              <a:buFont typeface="Wingdings" panose="05000000000000000000" pitchFamily="2" charset="2"/>
              <a:buChar char="l"/>
              <a:defRPr lang="zh-CN" altLang="en-US" sz="2800" b="1" baseline="0" dirty="0" smtClean="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20000"/>
              </a:spcBef>
              <a:spcAft>
                <a:spcPct val="0"/>
              </a:spcAft>
              <a:buClrTx/>
              <a:buFont typeface="Wingdings" panose="05000000000000000000" pitchFamily="2" charset="2"/>
              <a:buChar char="l"/>
              <a:defRPr kumimoji="1" lang="zh-CN" altLang="en-US" sz="2800" b="1" baseline="0" dirty="0">
                <a:solidFill>
                  <a:schemeClr val="tx1"/>
                </a:solidFill>
                <a:effectLst/>
                <a:latin typeface="+mj-ea"/>
                <a:ea typeface="+mj-ea"/>
                <a:cs typeface="+mn-cs"/>
              </a:defRPr>
            </a:lvl2pPr>
            <a:lvl3pPr marL="1143000" indent="-228600" algn="l" rtl="0" eaLnBrk="0" fontAlgn="base" hangingPunct="0">
              <a:spcBef>
                <a:spcPct val="20000"/>
              </a:spcBef>
              <a:spcAft>
                <a:spcPct val="0"/>
              </a:spcAft>
              <a:buClrTx/>
              <a:buFont typeface="Wingdings" panose="05000000000000000000" pitchFamily="2" charset="2"/>
              <a:buChar char="l"/>
              <a:defRPr lang="en-US" altLang="zh-CN" sz="2400" b="1" i="0" baseline="0">
                <a:solidFill>
                  <a:schemeClr val="tx1"/>
                </a:solidFill>
                <a:effectLst/>
                <a:latin typeface="微软雅黑" panose="020B0503020204020204" pitchFamily="34" charset="-122"/>
                <a:ea typeface="微软雅黑" panose="020B0503020204020204" pitchFamily="34" charset="-122"/>
                <a:cs typeface="+mn-cs"/>
              </a:defRPr>
            </a:lvl3pPr>
            <a:lvl4pPr marL="1600200" indent="-228600" algn="l" rtl="0" eaLnBrk="0" fontAlgn="base" hangingPunct="0">
              <a:spcBef>
                <a:spcPct val="20000"/>
              </a:spcBef>
              <a:spcAft>
                <a:spcPct val="0"/>
              </a:spcAft>
              <a:buClrTx/>
              <a:buSzPct val="100000"/>
              <a:buFont typeface="Wingdings" panose="05000000000000000000" pitchFamily="2" charset="2"/>
              <a:buChar char="l"/>
              <a:defRPr lang="en-US" altLang="zh-CN" sz="2400" b="1" baseline="0">
                <a:solidFill>
                  <a:schemeClr val="tx1"/>
                </a:solidFill>
                <a:effectLst/>
                <a:latin typeface="微软雅黑" panose="020B0503020204020204" pitchFamily="34" charset="-122"/>
                <a:ea typeface="微软雅黑" panose="020B0503020204020204" pitchFamily="34" charset="-122"/>
                <a:cs typeface="+mn-cs"/>
              </a:defRPr>
            </a:lvl4pPr>
            <a:lvl5pPr marL="2057400" indent="-228600" algn="l" rtl="0" eaLnBrk="0" fontAlgn="base" hangingPunct="0">
              <a:spcBef>
                <a:spcPct val="20000"/>
              </a:spcBef>
              <a:spcAft>
                <a:spcPct val="0"/>
              </a:spcAft>
              <a:buClrTx/>
              <a:buSzPct val="100000"/>
              <a:buFont typeface="Wingdings" panose="05000000000000000000" pitchFamily="2" charset="2"/>
              <a:buChar char="l"/>
              <a:defRPr lang="en-US" altLang="zh-CN" sz="2400" b="1" i="1" baseline="0">
                <a:solidFill>
                  <a:schemeClr val="tx1"/>
                </a:solidFill>
                <a:effectLst/>
                <a:latin typeface="微软雅黑" panose="020B0503020204020204" pitchFamily="34" charset="-122"/>
                <a:ea typeface="微软雅黑" panose="020B0503020204020204" pitchFamily="34" charset="-122"/>
                <a:cs typeface="+mn-cs"/>
              </a:defRPr>
            </a:lvl5pPr>
            <a:lvl6pPr marL="25146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9pPr>
          </a:lstStyle>
          <a:p>
            <a:pPr marL="444500" indent="-444500">
              <a:spcBef>
                <a:spcPts val="0"/>
              </a:spcBef>
              <a:spcAft>
                <a:spcPts val="1000"/>
              </a:spcAft>
            </a:pPr>
            <a:endParaRPr lang="en-US" altLang="zh-CN" dirty="0"/>
          </a:p>
          <a:p>
            <a:endParaRPr lang="zh-CN" altLang="en-US" dirty="0"/>
          </a:p>
        </p:txBody>
      </p:sp>
    </p:spTree>
    <p:extLst>
      <p:ext uri="{BB962C8B-B14F-4D97-AF65-F5344CB8AC3E}">
        <p14:creationId xmlns:p14="http://schemas.microsoft.com/office/powerpoint/2010/main" val="2921774248"/>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dirty="0"/>
              <a:t>IoT Studio</a:t>
            </a:r>
            <a:endParaRPr lang="zh-CN" altLang="en-US" dirty="0"/>
          </a:p>
        </p:txBody>
      </p:sp>
      <p:sp>
        <p:nvSpPr>
          <p:cNvPr id="5" name="内容占位符 2">
            <a:extLst>
              <a:ext uri="{FF2B5EF4-FFF2-40B4-BE49-F238E27FC236}">
                <a16:creationId xmlns:a16="http://schemas.microsoft.com/office/drawing/2014/main" id="{6052F64F-A0B0-4032-BEA6-47B40A36A473}"/>
              </a:ext>
            </a:extLst>
          </p:cNvPr>
          <p:cNvSpPr>
            <a:spLocks noGrp="1"/>
          </p:cNvSpPr>
          <p:nvPr>
            <p:ph idx="1"/>
          </p:nvPr>
        </p:nvSpPr>
        <p:spPr/>
        <p:txBody>
          <a:bodyPr/>
          <a:lstStyle/>
          <a:p>
            <a:pPr lvl="0"/>
            <a:r>
              <a:rPr lang="en-US" altLang="zh-CN"/>
              <a:t>2018</a:t>
            </a:r>
            <a:r>
              <a:rPr lang="zh-CN" altLang="en-US"/>
              <a:t>年</a:t>
            </a:r>
            <a:r>
              <a:rPr lang="en-US" altLang="zh-CN"/>
              <a:t>3</a:t>
            </a:r>
            <a:r>
              <a:rPr lang="zh-CN" altLang="en-US"/>
              <a:t>月，阿里巴巴宣布进军物联网领域，推出</a:t>
            </a:r>
            <a:r>
              <a:rPr lang="en-US" altLang="zh-CN"/>
              <a:t>Link Develop 1.0 </a:t>
            </a:r>
            <a:r>
              <a:rPr lang="zh-CN" altLang="en-US"/>
              <a:t>版本，涵盖物联网应用全链路开发流程；</a:t>
            </a:r>
            <a:endParaRPr lang="en-US" altLang="zh-CN"/>
          </a:p>
          <a:p>
            <a:pPr lvl="0"/>
            <a:endParaRPr lang="en-US" altLang="zh-CN"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3434" y="2142344"/>
            <a:ext cx="5602831" cy="3740268"/>
          </a:xfrm>
          <a:prstGeom prst="rect">
            <a:avLst/>
          </a:prstGeom>
        </p:spPr>
      </p:pic>
    </p:spTree>
    <p:extLst>
      <p:ext uri="{BB962C8B-B14F-4D97-AF65-F5344CB8AC3E}">
        <p14:creationId xmlns:p14="http://schemas.microsoft.com/office/powerpoint/2010/main" val="2697017836"/>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dirty="0"/>
              <a:t>IoT Studio</a:t>
            </a:r>
            <a:endParaRPr lang="zh-CN" altLang="en-US" dirty="0"/>
          </a:p>
        </p:txBody>
      </p:sp>
      <p:sp>
        <p:nvSpPr>
          <p:cNvPr id="5" name="内容占位符 2">
            <a:extLst>
              <a:ext uri="{FF2B5EF4-FFF2-40B4-BE49-F238E27FC236}">
                <a16:creationId xmlns:a16="http://schemas.microsoft.com/office/drawing/2014/main" id="{6052F64F-A0B0-4032-BEA6-47B40A36A473}"/>
              </a:ext>
            </a:extLst>
          </p:cNvPr>
          <p:cNvSpPr>
            <a:spLocks noGrp="1"/>
          </p:cNvSpPr>
          <p:nvPr>
            <p:ph idx="1"/>
          </p:nvPr>
        </p:nvSpPr>
        <p:spPr/>
        <p:txBody>
          <a:bodyPr/>
          <a:lstStyle/>
          <a:p>
            <a:r>
              <a:rPr lang="en-US" altLang="zh-CN"/>
              <a:t>2018</a:t>
            </a:r>
            <a:r>
              <a:rPr lang="zh-CN" altLang="en-US"/>
              <a:t>年</a:t>
            </a:r>
            <a:r>
              <a:rPr lang="en-US" altLang="zh-CN"/>
              <a:t>6</a:t>
            </a:r>
            <a:r>
              <a:rPr lang="zh-CN" altLang="en-US"/>
              <a:t>月，阿里巴巴推出</a:t>
            </a:r>
            <a:r>
              <a:rPr lang="en-US" altLang="zh-CN"/>
              <a:t>Link Develop 2.0 </a:t>
            </a:r>
            <a:r>
              <a:rPr lang="zh-CN" altLang="en-US"/>
              <a:t>版本</a:t>
            </a:r>
            <a:endParaRPr lang="en-US" altLang="zh-CN"/>
          </a:p>
          <a:p>
            <a:r>
              <a:rPr lang="en-US" altLang="zh-CN"/>
              <a:t>2019</a:t>
            </a:r>
            <a:r>
              <a:rPr lang="zh-CN" altLang="en-US"/>
              <a:t>年</a:t>
            </a:r>
            <a:r>
              <a:rPr lang="en-US" altLang="zh-CN"/>
              <a:t>1</a:t>
            </a:r>
            <a:r>
              <a:rPr lang="zh-CN" altLang="en-US"/>
              <a:t>月，</a:t>
            </a:r>
            <a:r>
              <a:rPr lang="en-US" altLang="zh-CN"/>
              <a:t>Link Develop</a:t>
            </a:r>
            <a:r>
              <a:rPr lang="zh-CN" altLang="en-US"/>
              <a:t>正式更名为</a:t>
            </a:r>
            <a:r>
              <a:rPr lang="en-US" altLang="zh-CN"/>
              <a:t>IoT Studio</a:t>
            </a:r>
          </a:p>
          <a:p>
            <a:r>
              <a:rPr lang="en-US" altLang="zh-CN"/>
              <a:t>2021</a:t>
            </a:r>
            <a:r>
              <a:rPr lang="zh-CN" altLang="en-US"/>
              <a:t>年</a:t>
            </a:r>
            <a:r>
              <a:rPr lang="en-US" altLang="zh-CN"/>
              <a:t>3</a:t>
            </a:r>
            <a:r>
              <a:rPr lang="zh-CN" altLang="en-US"/>
              <a:t>月，</a:t>
            </a:r>
            <a:r>
              <a:rPr lang="en-US" altLang="zh-CN"/>
              <a:t>IoT Studio</a:t>
            </a:r>
            <a:r>
              <a:rPr lang="zh-CN" altLang="en-US"/>
              <a:t>发布</a:t>
            </a:r>
            <a:r>
              <a:rPr lang="en-US" altLang="zh-CN"/>
              <a:t>3.0</a:t>
            </a:r>
            <a:r>
              <a:rPr lang="zh-CN" altLang="en-US"/>
              <a:t>版本，目前提供</a:t>
            </a:r>
            <a:r>
              <a:rPr lang="en-US" altLang="zh-CN"/>
              <a:t>Web</a:t>
            </a:r>
            <a:r>
              <a:rPr lang="zh-CN" altLang="en-US"/>
              <a:t>可视化开发、移动可视化开发、业务逻辑开发与物联网数据分析等一系列便捷的物联网开发工具</a:t>
            </a:r>
            <a:endParaRPr lang="en-US" altLang="zh-CN" dirty="0"/>
          </a:p>
        </p:txBody>
      </p:sp>
      <p:pic>
        <p:nvPicPr>
          <p:cNvPr id="6" name="图片 5">
            <a:extLst>
              <a:ext uri="{FF2B5EF4-FFF2-40B4-BE49-F238E27FC236}">
                <a16:creationId xmlns:a16="http://schemas.microsoft.com/office/drawing/2014/main" id="{1B2AA2E0-A298-4E2A-ADC1-F0119FD7DC05}"/>
              </a:ext>
            </a:extLst>
          </p:cNvPr>
          <p:cNvPicPr>
            <a:picLocks noChangeAspect="1"/>
          </p:cNvPicPr>
          <p:nvPr/>
        </p:nvPicPr>
        <p:blipFill>
          <a:blip r:embed="rId3"/>
          <a:stretch>
            <a:fillRect/>
          </a:stretch>
        </p:blipFill>
        <p:spPr>
          <a:xfrm>
            <a:off x="1071563" y="3443005"/>
            <a:ext cx="7000875" cy="2822425"/>
          </a:xfrm>
          <a:prstGeom prst="rect">
            <a:avLst/>
          </a:prstGeom>
        </p:spPr>
      </p:pic>
    </p:spTree>
    <p:extLst>
      <p:ext uri="{BB962C8B-B14F-4D97-AF65-F5344CB8AC3E}">
        <p14:creationId xmlns:p14="http://schemas.microsoft.com/office/powerpoint/2010/main" val="2581185221"/>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D3353E-1839-4635-BDD9-16C620A64D30}"/>
              </a:ext>
            </a:extLst>
          </p:cNvPr>
          <p:cNvSpPr>
            <a:spLocks noGrp="1"/>
          </p:cNvSpPr>
          <p:nvPr>
            <p:ph type="title"/>
          </p:nvPr>
        </p:nvSpPr>
        <p:spPr/>
        <p:txBody>
          <a:bodyPr/>
          <a:lstStyle/>
          <a:p>
            <a:r>
              <a:rPr lang="en-US" altLang="zh-CN" dirty="0"/>
              <a:t>IoT Studio</a:t>
            </a:r>
            <a:endParaRPr lang="zh-CN" altLang="en-US" dirty="0"/>
          </a:p>
        </p:txBody>
      </p:sp>
      <p:sp>
        <p:nvSpPr>
          <p:cNvPr id="3" name="内容占位符 2">
            <a:extLst>
              <a:ext uri="{FF2B5EF4-FFF2-40B4-BE49-F238E27FC236}">
                <a16:creationId xmlns:a16="http://schemas.microsoft.com/office/drawing/2014/main" id="{56AC5D33-E84B-4568-8280-1FDC8B671884}"/>
              </a:ext>
            </a:extLst>
          </p:cNvPr>
          <p:cNvSpPr>
            <a:spLocks noGrp="1"/>
          </p:cNvSpPr>
          <p:nvPr>
            <p:ph idx="1"/>
          </p:nvPr>
        </p:nvSpPr>
        <p:spPr/>
        <p:txBody>
          <a:bodyPr/>
          <a:lstStyle/>
          <a:p>
            <a:r>
              <a:rPr lang="zh-CN" altLang="en-US" dirty="0"/>
              <a:t>系统架构</a:t>
            </a:r>
          </a:p>
        </p:txBody>
      </p:sp>
      <p:pic>
        <p:nvPicPr>
          <p:cNvPr id="4" name="内容占位符 3">
            <a:extLst>
              <a:ext uri="{FF2B5EF4-FFF2-40B4-BE49-F238E27FC236}">
                <a16:creationId xmlns:a16="http://schemas.microsoft.com/office/drawing/2014/main" id="{2C419280-8D06-4C1D-9D49-5C1CDE2171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704569" y="1985724"/>
            <a:ext cx="5811061" cy="3419952"/>
          </a:xfrm>
          <a:prstGeom prst="rect">
            <a:avLst/>
          </a:prstGeom>
          <a:noFill/>
          <a:ln w="9525">
            <a:noFill/>
            <a:miter lim="800000"/>
            <a:headEnd/>
            <a:tailEnd/>
          </a:ln>
          <a:effectLst/>
        </p:spPr>
      </p:pic>
      <p:sp>
        <p:nvSpPr>
          <p:cNvPr id="5" name="矩形 4">
            <a:extLst>
              <a:ext uri="{FF2B5EF4-FFF2-40B4-BE49-F238E27FC236}">
                <a16:creationId xmlns:a16="http://schemas.microsoft.com/office/drawing/2014/main" id="{13649F67-D0E2-43B3-B9D8-AE3CC147F465}"/>
              </a:ext>
            </a:extLst>
          </p:cNvPr>
          <p:cNvSpPr/>
          <p:nvPr/>
        </p:nvSpPr>
        <p:spPr bwMode="auto">
          <a:xfrm>
            <a:off x="1941689" y="4504267"/>
            <a:ext cx="4651022" cy="688622"/>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sp>
        <p:nvSpPr>
          <p:cNvPr id="8" name="矩形 7">
            <a:extLst>
              <a:ext uri="{FF2B5EF4-FFF2-40B4-BE49-F238E27FC236}">
                <a16:creationId xmlns:a16="http://schemas.microsoft.com/office/drawing/2014/main" id="{F1DD6628-EFC5-47F3-B6C2-FF126E14E16B}"/>
              </a:ext>
            </a:extLst>
          </p:cNvPr>
          <p:cNvSpPr/>
          <p:nvPr/>
        </p:nvSpPr>
        <p:spPr bwMode="auto">
          <a:xfrm>
            <a:off x="1952978" y="2831809"/>
            <a:ext cx="1106311" cy="1322501"/>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sp>
        <p:nvSpPr>
          <p:cNvPr id="9" name="矩形 8">
            <a:extLst>
              <a:ext uri="{FF2B5EF4-FFF2-40B4-BE49-F238E27FC236}">
                <a16:creationId xmlns:a16="http://schemas.microsoft.com/office/drawing/2014/main" id="{88AAEED6-41EB-4B48-B06A-68B14D4CB3BC}"/>
              </a:ext>
            </a:extLst>
          </p:cNvPr>
          <p:cNvSpPr/>
          <p:nvPr/>
        </p:nvSpPr>
        <p:spPr bwMode="auto">
          <a:xfrm>
            <a:off x="3129819" y="2831809"/>
            <a:ext cx="855160" cy="1322501"/>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sp>
        <p:nvSpPr>
          <p:cNvPr id="10" name="矩形 9">
            <a:extLst>
              <a:ext uri="{FF2B5EF4-FFF2-40B4-BE49-F238E27FC236}">
                <a16:creationId xmlns:a16="http://schemas.microsoft.com/office/drawing/2014/main" id="{17B35591-C3BF-4D80-BB3E-37D69F41C9BE}"/>
              </a:ext>
            </a:extLst>
          </p:cNvPr>
          <p:cNvSpPr/>
          <p:nvPr/>
        </p:nvSpPr>
        <p:spPr bwMode="auto">
          <a:xfrm>
            <a:off x="4055508" y="2831809"/>
            <a:ext cx="1176839" cy="1322501"/>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sp>
        <p:nvSpPr>
          <p:cNvPr id="11" name="矩形 10">
            <a:extLst>
              <a:ext uri="{FF2B5EF4-FFF2-40B4-BE49-F238E27FC236}">
                <a16:creationId xmlns:a16="http://schemas.microsoft.com/office/drawing/2014/main" id="{FB3233CE-C46E-4028-87AB-8ABC1DAE5446}"/>
              </a:ext>
            </a:extLst>
          </p:cNvPr>
          <p:cNvSpPr/>
          <p:nvPr/>
        </p:nvSpPr>
        <p:spPr bwMode="auto">
          <a:xfrm>
            <a:off x="5319758" y="2831809"/>
            <a:ext cx="1176839" cy="1322501"/>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sp>
        <p:nvSpPr>
          <p:cNvPr id="12" name="矩形 11">
            <a:extLst>
              <a:ext uri="{FF2B5EF4-FFF2-40B4-BE49-F238E27FC236}">
                <a16:creationId xmlns:a16="http://schemas.microsoft.com/office/drawing/2014/main" id="{D921303D-5E5F-4F46-BD73-57017410D679}"/>
              </a:ext>
            </a:extLst>
          </p:cNvPr>
          <p:cNvSpPr/>
          <p:nvPr/>
        </p:nvSpPr>
        <p:spPr bwMode="auto">
          <a:xfrm>
            <a:off x="6882054" y="1985725"/>
            <a:ext cx="557377" cy="3331342"/>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spTree>
    <p:extLst>
      <p:ext uri="{BB962C8B-B14F-4D97-AF65-F5344CB8AC3E}">
        <p14:creationId xmlns:p14="http://schemas.microsoft.com/office/powerpoint/2010/main" val="3459742914"/>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dirty="0"/>
              <a:t>IoT Studio</a:t>
            </a:r>
            <a:endParaRPr lang="zh-CN" altLang="en-US" dirty="0"/>
          </a:p>
        </p:txBody>
      </p:sp>
      <p:sp>
        <p:nvSpPr>
          <p:cNvPr id="3" name="内容占位符 2"/>
          <p:cNvSpPr>
            <a:spLocks noGrp="1"/>
          </p:cNvSpPr>
          <p:nvPr>
            <p:ph idx="1"/>
          </p:nvPr>
        </p:nvSpPr>
        <p:spPr/>
        <p:txBody>
          <a:bodyPr/>
          <a:lstStyle/>
          <a:p>
            <a:r>
              <a:rPr lang="en-US" altLang="zh-CN"/>
              <a:t>Bone</a:t>
            </a:r>
            <a:r>
              <a:rPr lang="zh-CN" altLang="en-US"/>
              <a:t>框架</a:t>
            </a:r>
            <a:endParaRPr lang="en-US" altLang="zh-CN"/>
          </a:p>
          <a:p>
            <a:pPr lvl="1"/>
            <a:r>
              <a:rPr lang="zh-CN" altLang="en-US"/>
              <a:t>阿里巴巴推出的</a:t>
            </a:r>
            <a:r>
              <a:rPr lang="en-US" altLang="zh-CN"/>
              <a:t>Web</a:t>
            </a:r>
            <a:r>
              <a:rPr lang="zh-CN" altLang="en-US"/>
              <a:t>应用</a:t>
            </a:r>
            <a:r>
              <a:rPr lang="en-US" altLang="zh-CN"/>
              <a:t>/</a:t>
            </a:r>
            <a:r>
              <a:rPr lang="zh-CN" altLang="en-US"/>
              <a:t>移动应用开发框架</a:t>
            </a:r>
            <a:endParaRPr lang="en-US" altLang="zh-CN"/>
          </a:p>
          <a:p>
            <a:pPr lvl="1"/>
            <a:r>
              <a:rPr lang="zh-CN" altLang="en-US"/>
              <a:t>集成常用的物联网应用</a:t>
            </a:r>
            <a:r>
              <a:rPr lang="en-US" altLang="zh-CN"/>
              <a:t>UI</a:t>
            </a:r>
            <a:r>
              <a:rPr lang="zh-CN" altLang="en-US"/>
              <a:t>组件</a:t>
            </a:r>
            <a:endParaRPr lang="en-US" altLang="zh-CN"/>
          </a:p>
          <a:p>
            <a:r>
              <a:rPr lang="en-US" altLang="zh-CN"/>
              <a:t>IoT</a:t>
            </a:r>
            <a:r>
              <a:rPr lang="zh-CN" altLang="en-US"/>
              <a:t>应用市场</a:t>
            </a:r>
            <a:endParaRPr lang="en-US" altLang="zh-CN"/>
          </a:p>
          <a:p>
            <a:pPr lvl="1"/>
            <a:r>
              <a:rPr lang="zh-CN" altLang="en-US"/>
              <a:t>包含从硬件到解决方案一系列产品，开发者可将自己开发的产品放到</a:t>
            </a:r>
            <a:r>
              <a:rPr lang="en-US" altLang="zh-CN"/>
              <a:t>IoT</a:t>
            </a:r>
            <a:r>
              <a:rPr lang="zh-CN" altLang="en-US"/>
              <a:t>应用市场，实现在线商业化</a:t>
            </a:r>
            <a:endParaRPr lang="en-US" altLang="zh-CN"/>
          </a:p>
          <a:p>
            <a:endParaRPr lang="en-US" altLang="zh-CN" dirty="0"/>
          </a:p>
        </p:txBody>
      </p:sp>
      <p:pic>
        <p:nvPicPr>
          <p:cNvPr id="6" name="图片 5">
            <a:extLst>
              <a:ext uri="{FF2B5EF4-FFF2-40B4-BE49-F238E27FC236}">
                <a16:creationId xmlns:a16="http://schemas.microsoft.com/office/drawing/2014/main" id="{6FA17F14-BC5E-494D-89BF-62C61605409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30280" y="3695700"/>
            <a:ext cx="6159640" cy="3038114"/>
          </a:xfrm>
          <a:prstGeom prst="rect">
            <a:avLst/>
          </a:prstGeom>
        </p:spPr>
      </p:pic>
    </p:spTree>
    <p:extLst>
      <p:ext uri="{BB962C8B-B14F-4D97-AF65-F5344CB8AC3E}">
        <p14:creationId xmlns:p14="http://schemas.microsoft.com/office/powerpoint/2010/main" val="4179805729"/>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dirty="0"/>
              <a:t>IoT Studio</a:t>
            </a:r>
            <a:endParaRPr lang="zh-CN" altLang="en-US" dirty="0"/>
          </a:p>
        </p:txBody>
      </p:sp>
      <p:sp>
        <p:nvSpPr>
          <p:cNvPr id="3" name="内容占位符 2"/>
          <p:cNvSpPr>
            <a:spLocks noGrp="1"/>
          </p:cNvSpPr>
          <p:nvPr>
            <p:ph idx="1"/>
          </p:nvPr>
        </p:nvSpPr>
        <p:spPr/>
        <p:txBody>
          <a:bodyPr/>
          <a:lstStyle/>
          <a:p>
            <a:r>
              <a:rPr lang="zh-CN" altLang="en-US" b="1" dirty="0"/>
              <a:t>设备开发</a:t>
            </a:r>
            <a:endParaRPr lang="en-US" altLang="zh-CN" b="1" dirty="0"/>
          </a:p>
          <a:p>
            <a:pPr lvl="1"/>
            <a:r>
              <a:rPr lang="zh-CN" altLang="en-US" dirty="0"/>
              <a:t>支持基于</a:t>
            </a:r>
            <a:r>
              <a:rPr lang="en-US" altLang="zh-CN" dirty="0"/>
              <a:t>SDK</a:t>
            </a:r>
            <a:r>
              <a:rPr lang="zh-CN" altLang="en-US" dirty="0"/>
              <a:t>的开发、基于物联网操作系统的开发、基于</a:t>
            </a:r>
            <a:r>
              <a:rPr lang="en-US" altLang="zh-CN" dirty="0"/>
              <a:t>JavaScript</a:t>
            </a:r>
            <a:r>
              <a:rPr lang="zh-CN" altLang="en-US" dirty="0"/>
              <a:t>语言的开发等多种开发方式</a:t>
            </a:r>
            <a:endParaRPr lang="en-US" altLang="zh-CN" dirty="0"/>
          </a:p>
          <a:p>
            <a:r>
              <a:rPr lang="zh-CN" altLang="en-US" b="1" dirty="0"/>
              <a:t>云端服务开发</a:t>
            </a:r>
            <a:endParaRPr lang="en-US" altLang="zh-CN" b="1" dirty="0"/>
          </a:p>
          <a:p>
            <a:pPr lvl="1"/>
            <a:r>
              <a:rPr lang="zh-CN" altLang="en-US" dirty="0"/>
              <a:t>集成服务开发工作台，支持服务编排</a:t>
            </a:r>
            <a:endParaRPr lang="en-US" altLang="zh-CN" dirty="0"/>
          </a:p>
          <a:p>
            <a:r>
              <a:rPr lang="en-US" altLang="zh-CN" b="1" dirty="0"/>
              <a:t>Web</a:t>
            </a:r>
            <a:r>
              <a:rPr lang="zh-CN" altLang="en-US" b="1" dirty="0"/>
              <a:t>应用</a:t>
            </a:r>
            <a:r>
              <a:rPr lang="en-US" altLang="zh-CN" b="1" dirty="0"/>
              <a:t>/</a:t>
            </a:r>
            <a:r>
              <a:rPr lang="zh-CN" altLang="en-US" b="1" dirty="0"/>
              <a:t>移动应用开发</a:t>
            </a:r>
            <a:endParaRPr lang="en-US" altLang="zh-CN" b="1" dirty="0"/>
          </a:p>
          <a:p>
            <a:pPr lvl="1"/>
            <a:r>
              <a:rPr lang="zh-CN" altLang="en-US" dirty="0"/>
              <a:t>支持基于可视化搭建的</a:t>
            </a:r>
            <a:r>
              <a:rPr lang="en-US" altLang="zh-CN" dirty="0"/>
              <a:t>Web</a:t>
            </a:r>
            <a:r>
              <a:rPr lang="zh-CN" altLang="en-US" dirty="0"/>
              <a:t>应用</a:t>
            </a:r>
            <a:r>
              <a:rPr lang="en-US" altLang="zh-CN" dirty="0"/>
              <a:t>/</a:t>
            </a:r>
            <a:r>
              <a:rPr lang="zh-CN" altLang="en-US" dirty="0"/>
              <a:t>移动应用开发</a:t>
            </a:r>
            <a:endParaRPr lang="en-US" altLang="zh-CN" dirty="0"/>
          </a:p>
          <a:p>
            <a:r>
              <a:rPr lang="zh-CN" altLang="en-US" b="1" dirty="0"/>
              <a:t>三端应用集成简化</a:t>
            </a:r>
            <a:endParaRPr lang="en-US" altLang="zh-CN" b="1" dirty="0"/>
          </a:p>
          <a:p>
            <a:pPr lvl="1"/>
            <a:r>
              <a:rPr lang="zh-CN" altLang="en-US" dirty="0"/>
              <a:t>通过物模型对设备功能进行抽象，简化应用集成</a:t>
            </a:r>
            <a:endParaRPr lang="en-US" altLang="zh-CN" dirty="0"/>
          </a:p>
          <a:p>
            <a:endParaRPr lang="zh-CN" altLang="en-US" dirty="0"/>
          </a:p>
        </p:txBody>
      </p:sp>
    </p:spTree>
    <p:extLst>
      <p:ext uri="{BB962C8B-B14F-4D97-AF65-F5344CB8AC3E}">
        <p14:creationId xmlns:p14="http://schemas.microsoft.com/office/powerpoint/2010/main" val="1285618499"/>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dirty="0"/>
              <a:t>IoT Studio</a:t>
            </a:r>
            <a:endParaRPr lang="zh-CN" altLang="en-US" dirty="0"/>
          </a:p>
        </p:txBody>
      </p:sp>
      <p:sp>
        <p:nvSpPr>
          <p:cNvPr id="3" name="内容占位符 2"/>
          <p:cNvSpPr>
            <a:spLocks noGrp="1"/>
          </p:cNvSpPr>
          <p:nvPr>
            <p:ph idx="1"/>
          </p:nvPr>
        </p:nvSpPr>
        <p:spPr/>
        <p:txBody>
          <a:bodyPr/>
          <a:lstStyle/>
          <a:p>
            <a:r>
              <a:rPr lang="zh-CN" altLang="en-US"/>
              <a:t>设备开发工作台</a:t>
            </a:r>
            <a:endParaRPr lang="en-US" altLang="zh-CN"/>
          </a:p>
          <a:p>
            <a:pPr lvl="1"/>
            <a:r>
              <a:rPr lang="zh-CN" altLang="en-US"/>
              <a:t>用于设备端应用的代码编写、应用调试</a:t>
            </a:r>
            <a:endParaRPr lang="en-US" altLang="zh-CN"/>
          </a:p>
          <a:p>
            <a:pPr lvl="1"/>
            <a:r>
              <a:rPr lang="zh-CN" altLang="en-US"/>
              <a:t>提供嵌入式</a:t>
            </a:r>
            <a:r>
              <a:rPr lang="en-US" altLang="zh-CN"/>
              <a:t>C</a:t>
            </a:r>
            <a:r>
              <a:rPr lang="zh-CN" altLang="en-US"/>
              <a:t>开发、嵌入式</a:t>
            </a:r>
            <a:r>
              <a:rPr lang="en-US" altLang="zh-CN"/>
              <a:t>JavaScript</a:t>
            </a:r>
            <a:r>
              <a:rPr lang="zh-CN" altLang="en-US"/>
              <a:t>开发、基于</a:t>
            </a:r>
            <a:r>
              <a:rPr lang="en-US" altLang="zh-CN"/>
              <a:t>AliOS Things</a:t>
            </a:r>
            <a:r>
              <a:rPr lang="zh-CN" altLang="en-US"/>
              <a:t>的开发以及基于</a:t>
            </a:r>
            <a:r>
              <a:rPr lang="en-US" altLang="zh-CN"/>
              <a:t>SDK</a:t>
            </a:r>
            <a:r>
              <a:rPr lang="zh-CN" altLang="en-US"/>
              <a:t>的开发等开发方式</a:t>
            </a:r>
            <a:endParaRPr lang="en-US" altLang="zh-CN"/>
          </a:p>
          <a:p>
            <a:pPr lvl="1"/>
            <a:r>
              <a:rPr lang="zh-CN" altLang="en-US"/>
              <a:t>同时支持本地编译、云端编译及基于解释型语言的开发</a:t>
            </a:r>
            <a:endParaRPr lang="en-US" altLang="zh-CN"/>
          </a:p>
          <a:p>
            <a:endParaRPr lang="en-US" altLang="zh-CN" dirty="0"/>
          </a:p>
        </p:txBody>
      </p:sp>
      <p:pic>
        <p:nvPicPr>
          <p:cNvPr id="5" name="图片 4">
            <a:extLst>
              <a:ext uri="{FF2B5EF4-FFF2-40B4-BE49-F238E27FC236}">
                <a16:creationId xmlns:a16="http://schemas.microsoft.com/office/drawing/2014/main" id="{5E4E9B10-F7E2-416D-91AE-54E85322F01E}"/>
              </a:ext>
            </a:extLst>
          </p:cNvPr>
          <p:cNvPicPr/>
          <p:nvPr/>
        </p:nvPicPr>
        <p:blipFill>
          <a:blip r:embed="rId3">
            <a:extLst>
              <a:ext uri="{28A0092B-C50C-407E-A947-70E740481C1C}">
                <a14:useLocalDpi xmlns:a14="http://schemas.microsoft.com/office/drawing/2010/main" val="0"/>
              </a:ext>
            </a:extLst>
          </a:blip>
          <a:stretch>
            <a:fillRect/>
          </a:stretch>
        </p:blipFill>
        <p:spPr>
          <a:xfrm>
            <a:off x="2469015" y="3190142"/>
            <a:ext cx="4467225" cy="3009900"/>
          </a:xfrm>
          <a:prstGeom prst="rect">
            <a:avLst/>
          </a:prstGeom>
        </p:spPr>
      </p:pic>
      <p:sp>
        <p:nvSpPr>
          <p:cNvPr id="6" name="矩形 5">
            <a:extLst>
              <a:ext uri="{FF2B5EF4-FFF2-40B4-BE49-F238E27FC236}">
                <a16:creationId xmlns:a16="http://schemas.microsoft.com/office/drawing/2014/main" id="{10168FC1-250A-4D05-8983-7A6333196482}"/>
              </a:ext>
            </a:extLst>
          </p:cNvPr>
          <p:cNvSpPr/>
          <p:nvPr/>
        </p:nvSpPr>
        <p:spPr>
          <a:xfrm>
            <a:off x="2714999" y="6098846"/>
            <a:ext cx="4208588" cy="338554"/>
          </a:xfrm>
          <a:prstGeom prst="rect">
            <a:avLst/>
          </a:prstGeom>
        </p:spPr>
        <p:txBody>
          <a:bodyPr wrap="none">
            <a:spAutoFit/>
          </a:bodyPr>
          <a:lstStyle/>
          <a:p>
            <a:r>
              <a:rPr lang="en-US" altLang="zh-CN" kern="100" dirty="0">
                <a:latin typeface="+mj-ea"/>
                <a:ea typeface="+mj-ea"/>
                <a:cs typeface="Times New Roman" panose="02020603050405020304" pitchFamily="18" charset="0"/>
              </a:rPr>
              <a:t>IoT Studio</a:t>
            </a:r>
            <a:r>
              <a:rPr lang="zh-CN" altLang="zh-CN" kern="100" dirty="0">
                <a:latin typeface="+mj-ea"/>
                <a:ea typeface="+mj-ea"/>
                <a:cs typeface="Times New Roman" panose="02020603050405020304" pitchFamily="18" charset="0"/>
              </a:rPr>
              <a:t>在线嵌入式</a:t>
            </a:r>
            <a:r>
              <a:rPr lang="en-US" altLang="zh-CN" kern="100" dirty="0">
                <a:latin typeface="+mj-ea"/>
                <a:ea typeface="+mj-ea"/>
                <a:cs typeface="Times New Roman" panose="02020603050405020304" pitchFamily="18" charset="0"/>
              </a:rPr>
              <a:t>JavaScript</a:t>
            </a:r>
            <a:r>
              <a:rPr lang="zh-CN" altLang="zh-CN" kern="100" dirty="0">
                <a:latin typeface="+mj-ea"/>
                <a:ea typeface="+mj-ea"/>
                <a:cs typeface="Times New Roman" panose="02020603050405020304" pitchFamily="18" charset="0"/>
              </a:rPr>
              <a:t>开发工作台</a:t>
            </a:r>
            <a:endParaRPr lang="zh-CN" altLang="en-US" dirty="0">
              <a:latin typeface="+mj-ea"/>
              <a:ea typeface="+mj-ea"/>
              <a:cs typeface="Times New Roman" panose="02020603050405020304" pitchFamily="18" charset="0"/>
            </a:endParaRPr>
          </a:p>
        </p:txBody>
      </p:sp>
    </p:spTree>
    <p:extLst>
      <p:ext uri="{BB962C8B-B14F-4D97-AF65-F5344CB8AC3E}">
        <p14:creationId xmlns:p14="http://schemas.microsoft.com/office/powerpoint/2010/main" val="3664498293"/>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dirty="0"/>
              <a:t>IoT Studio</a:t>
            </a:r>
            <a:endParaRPr lang="zh-CN" altLang="en-US" dirty="0"/>
          </a:p>
        </p:txBody>
      </p:sp>
      <p:sp>
        <p:nvSpPr>
          <p:cNvPr id="3" name="内容占位符 2"/>
          <p:cNvSpPr>
            <a:spLocks noGrp="1"/>
          </p:cNvSpPr>
          <p:nvPr>
            <p:ph idx="1"/>
          </p:nvPr>
        </p:nvSpPr>
        <p:spPr/>
        <p:txBody>
          <a:bodyPr/>
          <a:lstStyle/>
          <a:p>
            <a:r>
              <a:rPr lang="zh-CN" altLang="en-US"/>
              <a:t>业务逻辑开发工作台</a:t>
            </a:r>
            <a:endParaRPr lang="en-US" altLang="zh-CN"/>
          </a:p>
          <a:p>
            <a:pPr lvl="1"/>
            <a:r>
              <a:rPr lang="zh-CN" altLang="en-US"/>
              <a:t>用于云端服务的开发</a:t>
            </a:r>
            <a:endParaRPr lang="en-US" altLang="zh-CN"/>
          </a:p>
          <a:p>
            <a:pPr lvl="1"/>
            <a:r>
              <a:rPr lang="zh-CN" altLang="en-US"/>
              <a:t>支持可视化的服务编排</a:t>
            </a:r>
            <a:endParaRPr lang="en-US" altLang="zh-CN"/>
          </a:p>
          <a:p>
            <a:pPr lvl="1"/>
            <a:endParaRPr lang="en-US" altLang="zh-CN"/>
          </a:p>
          <a:p>
            <a:endParaRPr lang="en-US" altLang="zh-CN" dirty="0"/>
          </a:p>
        </p:txBody>
      </p:sp>
      <p:grpSp>
        <p:nvGrpSpPr>
          <p:cNvPr id="33" name="组合 32">
            <a:extLst>
              <a:ext uri="{FF2B5EF4-FFF2-40B4-BE49-F238E27FC236}">
                <a16:creationId xmlns:a16="http://schemas.microsoft.com/office/drawing/2014/main" id="{F007482C-5A30-4A18-9761-1C8040DC19BE}"/>
              </a:ext>
            </a:extLst>
          </p:cNvPr>
          <p:cNvGrpSpPr/>
          <p:nvPr/>
        </p:nvGrpSpPr>
        <p:grpSpPr>
          <a:xfrm>
            <a:off x="747804" y="2392814"/>
            <a:ext cx="7648391" cy="3905244"/>
            <a:chOff x="688801" y="2495555"/>
            <a:chExt cx="7648391" cy="3905244"/>
          </a:xfrm>
        </p:grpSpPr>
        <p:pic>
          <p:nvPicPr>
            <p:cNvPr id="6" name="图片 5">
              <a:extLst>
                <a:ext uri="{FF2B5EF4-FFF2-40B4-BE49-F238E27FC236}">
                  <a16:creationId xmlns:a16="http://schemas.microsoft.com/office/drawing/2014/main" id="{083F5851-81F8-4FD2-962B-7EDABC1B77BC}"/>
                </a:ext>
              </a:extLst>
            </p:cNvPr>
            <p:cNvPicPr/>
            <p:nvPr/>
          </p:nvPicPr>
          <p:blipFill rotWithShape="1">
            <a:blip r:embed="rId3"/>
            <a:srcRect t="9551" b="4062"/>
            <a:stretch/>
          </p:blipFill>
          <p:spPr bwMode="auto">
            <a:xfrm>
              <a:off x="806807" y="2495555"/>
              <a:ext cx="7530385" cy="3905244"/>
            </a:xfrm>
            <a:prstGeom prst="rect">
              <a:avLst/>
            </a:prstGeom>
            <a:ln>
              <a:noFill/>
            </a:ln>
            <a:extLst>
              <a:ext uri="{53640926-AAD7-44D8-BBD7-CCE9431645EC}">
                <a14:shadowObscured xmlns:a14="http://schemas.microsoft.com/office/drawing/2010/main"/>
              </a:ext>
            </a:extLst>
          </p:spPr>
        </p:pic>
        <p:sp>
          <p:nvSpPr>
            <p:cNvPr id="4" name="矩形 3">
              <a:extLst>
                <a:ext uri="{FF2B5EF4-FFF2-40B4-BE49-F238E27FC236}">
                  <a16:creationId xmlns:a16="http://schemas.microsoft.com/office/drawing/2014/main" id="{3CDFEAA2-709F-4597-96BC-AD268FA02745}"/>
                </a:ext>
              </a:extLst>
            </p:cNvPr>
            <p:cNvSpPr/>
            <p:nvPr/>
          </p:nvSpPr>
          <p:spPr bwMode="auto">
            <a:xfrm>
              <a:off x="6010382" y="2702103"/>
              <a:ext cx="2326810" cy="2763749"/>
            </a:xfrm>
            <a:prstGeom prst="rect">
              <a:avLst/>
            </a:prstGeom>
            <a:noFill/>
            <a:ln w="317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sp>
          <p:nvSpPr>
            <p:cNvPr id="8" name="矩形 7">
              <a:extLst>
                <a:ext uri="{FF2B5EF4-FFF2-40B4-BE49-F238E27FC236}">
                  <a16:creationId xmlns:a16="http://schemas.microsoft.com/office/drawing/2014/main" id="{4B98A61C-53BD-4FD7-BAD2-E6E9F7A822DC}"/>
                </a:ext>
              </a:extLst>
            </p:cNvPr>
            <p:cNvSpPr/>
            <p:nvPr/>
          </p:nvSpPr>
          <p:spPr bwMode="auto">
            <a:xfrm>
              <a:off x="1905567" y="3790629"/>
              <a:ext cx="3996646" cy="1315093"/>
            </a:xfrm>
            <a:prstGeom prst="rect">
              <a:avLst/>
            </a:prstGeom>
            <a:noFill/>
            <a:ln w="317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sp>
          <p:nvSpPr>
            <p:cNvPr id="9" name="矩形 8">
              <a:extLst>
                <a:ext uri="{FF2B5EF4-FFF2-40B4-BE49-F238E27FC236}">
                  <a16:creationId xmlns:a16="http://schemas.microsoft.com/office/drawing/2014/main" id="{15EA73C0-D70C-4E4E-A10A-38CE49CBD59F}"/>
                </a:ext>
              </a:extLst>
            </p:cNvPr>
            <p:cNvSpPr/>
            <p:nvPr/>
          </p:nvSpPr>
          <p:spPr bwMode="auto">
            <a:xfrm>
              <a:off x="986319" y="2702103"/>
              <a:ext cx="842479" cy="1212351"/>
            </a:xfrm>
            <a:prstGeom prst="rect">
              <a:avLst/>
            </a:prstGeom>
            <a:noFill/>
            <a:ln w="317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sp>
          <p:nvSpPr>
            <p:cNvPr id="12" name="文本框 11">
              <a:extLst>
                <a:ext uri="{FF2B5EF4-FFF2-40B4-BE49-F238E27FC236}">
                  <a16:creationId xmlns:a16="http://schemas.microsoft.com/office/drawing/2014/main" id="{CDFED27A-21CC-458B-A73F-61F9B3E103AB}"/>
                </a:ext>
              </a:extLst>
            </p:cNvPr>
            <p:cNvSpPr txBox="1"/>
            <p:nvPr/>
          </p:nvSpPr>
          <p:spPr>
            <a:xfrm>
              <a:off x="6909018" y="5698123"/>
              <a:ext cx="1210588" cy="338554"/>
            </a:xfrm>
            <a:prstGeom prst="rect">
              <a:avLst/>
            </a:prstGeom>
            <a:noFill/>
          </p:spPr>
          <p:txBody>
            <a:bodyPr wrap="none" rtlCol="0">
              <a:spAutoFit/>
            </a:bodyPr>
            <a:lstStyle/>
            <a:p>
              <a:r>
                <a:rPr lang="zh-CN" altLang="en-US" dirty="0">
                  <a:solidFill>
                    <a:srgbClr val="C00000"/>
                  </a:solidFill>
                  <a:latin typeface="+mj-ea"/>
                  <a:ea typeface="+mj-ea"/>
                </a:rPr>
                <a:t>节点配置区</a:t>
              </a:r>
            </a:p>
          </p:txBody>
        </p:sp>
        <p:cxnSp>
          <p:nvCxnSpPr>
            <p:cNvPr id="14" name="直接箭头连接符 13">
              <a:extLst>
                <a:ext uri="{FF2B5EF4-FFF2-40B4-BE49-F238E27FC236}">
                  <a16:creationId xmlns:a16="http://schemas.microsoft.com/office/drawing/2014/main" id="{B8EEAC0E-89F7-45FD-8A88-F2F6FA2D2F7E}"/>
                </a:ext>
              </a:extLst>
            </p:cNvPr>
            <p:cNvCxnSpPr>
              <a:cxnSpLocks/>
            </p:cNvCxnSpPr>
            <p:nvPr/>
          </p:nvCxnSpPr>
          <p:spPr bwMode="auto">
            <a:xfrm flipH="1" flipV="1">
              <a:off x="7308830" y="5539403"/>
              <a:ext cx="191305" cy="216323"/>
            </a:xfrm>
            <a:prstGeom prst="straightConnector1">
              <a:avLst/>
            </a:prstGeom>
            <a:solidFill>
              <a:schemeClr val="accent1"/>
            </a:solidFill>
            <a:ln w="31750" cap="flat" cmpd="sng" algn="ctr">
              <a:solidFill>
                <a:srgbClr val="C00000"/>
              </a:solidFill>
              <a:prstDash val="solid"/>
              <a:round/>
              <a:headEnd type="none" w="med" len="med"/>
              <a:tailEnd type="triangle"/>
            </a:ln>
            <a:effectLst/>
          </p:spPr>
        </p:cxnSp>
        <p:sp>
          <p:nvSpPr>
            <p:cNvPr id="21" name="文本框 20">
              <a:extLst>
                <a:ext uri="{FF2B5EF4-FFF2-40B4-BE49-F238E27FC236}">
                  <a16:creationId xmlns:a16="http://schemas.microsoft.com/office/drawing/2014/main" id="{5AD18CE7-60BE-4A2F-815B-F46317109E63}"/>
                </a:ext>
              </a:extLst>
            </p:cNvPr>
            <p:cNvSpPr txBox="1"/>
            <p:nvPr/>
          </p:nvSpPr>
          <p:spPr>
            <a:xfrm>
              <a:off x="3903890" y="5346036"/>
              <a:ext cx="800219" cy="338554"/>
            </a:xfrm>
            <a:prstGeom prst="rect">
              <a:avLst/>
            </a:prstGeom>
            <a:noFill/>
          </p:spPr>
          <p:txBody>
            <a:bodyPr wrap="none" rtlCol="0">
              <a:spAutoFit/>
            </a:bodyPr>
            <a:lstStyle/>
            <a:p>
              <a:r>
                <a:rPr lang="zh-CN" altLang="en-US" dirty="0">
                  <a:solidFill>
                    <a:srgbClr val="C00000"/>
                  </a:solidFill>
                  <a:latin typeface="+mj-ea"/>
                  <a:ea typeface="+mj-ea"/>
                </a:rPr>
                <a:t>编辑区</a:t>
              </a:r>
            </a:p>
          </p:txBody>
        </p:sp>
        <p:cxnSp>
          <p:nvCxnSpPr>
            <p:cNvPr id="22" name="直接箭头连接符 21">
              <a:extLst>
                <a:ext uri="{FF2B5EF4-FFF2-40B4-BE49-F238E27FC236}">
                  <a16:creationId xmlns:a16="http://schemas.microsoft.com/office/drawing/2014/main" id="{9640A963-581E-4E49-A734-FEC70EDCC39A}"/>
                </a:ext>
              </a:extLst>
            </p:cNvPr>
            <p:cNvCxnSpPr>
              <a:cxnSpLocks/>
            </p:cNvCxnSpPr>
            <p:nvPr/>
          </p:nvCxnSpPr>
          <p:spPr bwMode="auto">
            <a:xfrm flipH="1" flipV="1">
              <a:off x="3986373" y="5173471"/>
              <a:ext cx="318501" cy="254259"/>
            </a:xfrm>
            <a:prstGeom prst="straightConnector1">
              <a:avLst/>
            </a:prstGeom>
            <a:solidFill>
              <a:schemeClr val="accent1"/>
            </a:solidFill>
            <a:ln w="31750" cap="flat" cmpd="sng" algn="ctr">
              <a:solidFill>
                <a:srgbClr val="C00000"/>
              </a:solidFill>
              <a:prstDash val="solid"/>
              <a:round/>
              <a:headEnd type="none" w="med" len="med"/>
              <a:tailEnd type="triangle"/>
            </a:ln>
            <a:effectLst/>
          </p:spPr>
        </p:cxnSp>
        <p:cxnSp>
          <p:nvCxnSpPr>
            <p:cNvPr id="26" name="直接箭头连接符 25">
              <a:extLst>
                <a:ext uri="{FF2B5EF4-FFF2-40B4-BE49-F238E27FC236}">
                  <a16:creationId xmlns:a16="http://schemas.microsoft.com/office/drawing/2014/main" id="{E5B6FF85-003E-4219-8743-39E5678BF464}"/>
                </a:ext>
              </a:extLst>
            </p:cNvPr>
            <p:cNvCxnSpPr>
              <a:cxnSpLocks/>
            </p:cNvCxnSpPr>
            <p:nvPr/>
          </p:nvCxnSpPr>
          <p:spPr bwMode="auto">
            <a:xfrm flipH="1" flipV="1">
              <a:off x="1905567" y="3193312"/>
              <a:ext cx="484384" cy="170031"/>
            </a:xfrm>
            <a:prstGeom prst="straightConnector1">
              <a:avLst/>
            </a:prstGeom>
            <a:solidFill>
              <a:schemeClr val="accent1"/>
            </a:solidFill>
            <a:ln w="31750" cap="flat" cmpd="sng" algn="ctr">
              <a:solidFill>
                <a:srgbClr val="C00000"/>
              </a:solidFill>
              <a:prstDash val="solid"/>
              <a:round/>
              <a:headEnd type="none" w="med" len="med"/>
              <a:tailEnd type="triangle"/>
            </a:ln>
            <a:effectLst/>
          </p:spPr>
        </p:cxnSp>
        <p:sp>
          <p:nvSpPr>
            <p:cNvPr id="28" name="文本框 27">
              <a:extLst>
                <a:ext uri="{FF2B5EF4-FFF2-40B4-BE49-F238E27FC236}">
                  <a16:creationId xmlns:a16="http://schemas.microsoft.com/office/drawing/2014/main" id="{A25DDB1F-D558-45C2-BE30-999AA98F7FE9}"/>
                </a:ext>
              </a:extLst>
            </p:cNvPr>
            <p:cNvSpPr txBox="1"/>
            <p:nvPr/>
          </p:nvSpPr>
          <p:spPr>
            <a:xfrm>
              <a:off x="688801" y="4962046"/>
              <a:ext cx="595035" cy="338554"/>
            </a:xfrm>
            <a:prstGeom prst="rect">
              <a:avLst/>
            </a:prstGeom>
            <a:noFill/>
          </p:spPr>
          <p:txBody>
            <a:bodyPr wrap="none" rtlCol="0">
              <a:spAutoFit/>
            </a:bodyPr>
            <a:lstStyle/>
            <a:p>
              <a:r>
                <a:rPr lang="zh-CN" altLang="en-US" dirty="0">
                  <a:solidFill>
                    <a:srgbClr val="C00000"/>
                  </a:solidFill>
                  <a:latin typeface="+mj-ea"/>
                  <a:ea typeface="+mj-ea"/>
                </a:rPr>
                <a:t>节点</a:t>
              </a:r>
            </a:p>
          </p:txBody>
        </p:sp>
        <p:cxnSp>
          <p:nvCxnSpPr>
            <p:cNvPr id="29" name="直接箭头连接符 28">
              <a:extLst>
                <a:ext uri="{FF2B5EF4-FFF2-40B4-BE49-F238E27FC236}">
                  <a16:creationId xmlns:a16="http://schemas.microsoft.com/office/drawing/2014/main" id="{69E18214-4EDE-4BA9-9146-17E1BF81572B}"/>
                </a:ext>
              </a:extLst>
            </p:cNvPr>
            <p:cNvCxnSpPr>
              <a:cxnSpLocks/>
            </p:cNvCxnSpPr>
            <p:nvPr/>
          </p:nvCxnSpPr>
          <p:spPr bwMode="auto">
            <a:xfrm flipH="1" flipV="1">
              <a:off x="894217" y="3063337"/>
              <a:ext cx="54083" cy="1961785"/>
            </a:xfrm>
            <a:prstGeom prst="straightConnector1">
              <a:avLst/>
            </a:prstGeom>
            <a:solidFill>
              <a:schemeClr val="accent1"/>
            </a:solidFill>
            <a:ln w="31750" cap="flat" cmpd="sng" algn="ctr">
              <a:solidFill>
                <a:srgbClr val="C00000"/>
              </a:solidFill>
              <a:prstDash val="solid"/>
              <a:round/>
              <a:headEnd type="none" w="med" len="med"/>
              <a:tailEnd type="triangle"/>
            </a:ln>
            <a:effectLst/>
          </p:spPr>
        </p:cxnSp>
        <p:sp>
          <p:nvSpPr>
            <p:cNvPr id="30" name="文本框 29">
              <a:extLst>
                <a:ext uri="{FF2B5EF4-FFF2-40B4-BE49-F238E27FC236}">
                  <a16:creationId xmlns:a16="http://schemas.microsoft.com/office/drawing/2014/main" id="{5A041C59-1F4A-48BE-AF13-913851F564E4}"/>
                </a:ext>
              </a:extLst>
            </p:cNvPr>
            <p:cNvSpPr txBox="1"/>
            <p:nvPr/>
          </p:nvSpPr>
          <p:spPr>
            <a:xfrm>
              <a:off x="2389072" y="3089111"/>
              <a:ext cx="1005403" cy="338554"/>
            </a:xfrm>
            <a:prstGeom prst="rect">
              <a:avLst/>
            </a:prstGeom>
            <a:noFill/>
          </p:spPr>
          <p:txBody>
            <a:bodyPr wrap="none" rtlCol="0">
              <a:spAutoFit/>
            </a:bodyPr>
            <a:lstStyle/>
            <a:p>
              <a:r>
                <a:rPr lang="zh-CN" altLang="en-US" dirty="0">
                  <a:solidFill>
                    <a:srgbClr val="C00000"/>
                  </a:solidFill>
                  <a:latin typeface="+mj-ea"/>
                  <a:ea typeface="+mj-ea"/>
                </a:rPr>
                <a:t>服务管理</a:t>
              </a:r>
            </a:p>
          </p:txBody>
        </p:sp>
      </p:grpSp>
    </p:spTree>
    <p:extLst>
      <p:ext uri="{BB962C8B-B14F-4D97-AF65-F5344CB8AC3E}">
        <p14:creationId xmlns:p14="http://schemas.microsoft.com/office/powerpoint/2010/main" val="2261948239"/>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dirty="0"/>
              <a:t>IoT Studio</a:t>
            </a:r>
            <a:endParaRPr lang="zh-CN" altLang="en-US" dirty="0"/>
          </a:p>
        </p:txBody>
      </p:sp>
      <p:sp>
        <p:nvSpPr>
          <p:cNvPr id="3" name="内容占位符 2"/>
          <p:cNvSpPr>
            <a:spLocks noGrp="1"/>
          </p:cNvSpPr>
          <p:nvPr>
            <p:ph idx="1"/>
          </p:nvPr>
        </p:nvSpPr>
        <p:spPr/>
        <p:txBody>
          <a:bodyPr/>
          <a:lstStyle/>
          <a:p>
            <a:r>
              <a:rPr lang="en-US" altLang="zh-CN"/>
              <a:t>Web</a:t>
            </a:r>
            <a:r>
              <a:rPr lang="zh-CN" altLang="en-US"/>
              <a:t>应用开发工作台</a:t>
            </a:r>
            <a:endParaRPr lang="en-US" altLang="zh-CN"/>
          </a:p>
          <a:p>
            <a:pPr lvl="1"/>
            <a:r>
              <a:rPr lang="zh-CN" altLang="en-US"/>
              <a:t>用于</a:t>
            </a:r>
            <a:r>
              <a:rPr lang="en-US" altLang="zh-CN"/>
              <a:t>Web</a:t>
            </a:r>
            <a:r>
              <a:rPr lang="zh-CN" altLang="en-US"/>
              <a:t>应用开发</a:t>
            </a:r>
            <a:endParaRPr lang="en-US" altLang="zh-CN"/>
          </a:p>
          <a:p>
            <a:pPr lvl="1"/>
            <a:r>
              <a:rPr lang="zh-CN" altLang="en-US"/>
              <a:t>基于可视化拖拽的</a:t>
            </a:r>
            <a:r>
              <a:rPr lang="en-US" altLang="zh-CN"/>
              <a:t>Web</a:t>
            </a:r>
            <a:r>
              <a:rPr lang="zh-CN" altLang="en-US"/>
              <a:t>应用开发</a:t>
            </a:r>
            <a:endParaRPr lang="en-US" altLang="zh-CN"/>
          </a:p>
          <a:p>
            <a:pPr lvl="1"/>
            <a:r>
              <a:rPr lang="zh-CN" altLang="en-US"/>
              <a:t>基于</a:t>
            </a:r>
            <a:r>
              <a:rPr lang="en-US" altLang="zh-CN"/>
              <a:t>Bone</a:t>
            </a:r>
            <a:r>
              <a:rPr lang="zh-CN" altLang="en-US"/>
              <a:t>框架的</a:t>
            </a:r>
            <a:r>
              <a:rPr lang="en-US" altLang="zh-CN"/>
              <a:t>Web</a:t>
            </a:r>
            <a:r>
              <a:rPr lang="zh-CN" altLang="en-US"/>
              <a:t>应用开发</a:t>
            </a:r>
            <a:endParaRPr lang="en-US" altLang="zh-CN"/>
          </a:p>
          <a:p>
            <a:endParaRPr lang="en-US" altLang="zh-CN" dirty="0"/>
          </a:p>
        </p:txBody>
      </p:sp>
      <p:pic>
        <p:nvPicPr>
          <p:cNvPr id="5" name="图片 4">
            <a:extLst>
              <a:ext uri="{FF2B5EF4-FFF2-40B4-BE49-F238E27FC236}">
                <a16:creationId xmlns:a16="http://schemas.microsoft.com/office/drawing/2014/main" id="{DF2DB9F2-4E0B-4516-84D5-1FFA500DB04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1485" y="2792158"/>
            <a:ext cx="7461598" cy="3960000"/>
          </a:xfrm>
          <a:prstGeom prst="rect">
            <a:avLst/>
          </a:prstGeom>
          <a:noFill/>
        </p:spPr>
      </p:pic>
    </p:spTree>
    <p:extLst>
      <p:ext uri="{BB962C8B-B14F-4D97-AF65-F5344CB8AC3E}">
        <p14:creationId xmlns:p14="http://schemas.microsoft.com/office/powerpoint/2010/main" val="3999734255"/>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dirty="0"/>
              <a:t>IoT Studio</a:t>
            </a:r>
            <a:endParaRPr lang="zh-CN" altLang="en-US" dirty="0"/>
          </a:p>
        </p:txBody>
      </p:sp>
      <p:sp>
        <p:nvSpPr>
          <p:cNvPr id="3" name="内容占位符 2"/>
          <p:cNvSpPr>
            <a:spLocks noGrp="1"/>
          </p:cNvSpPr>
          <p:nvPr>
            <p:ph idx="1"/>
          </p:nvPr>
        </p:nvSpPr>
        <p:spPr/>
        <p:txBody>
          <a:bodyPr/>
          <a:lstStyle/>
          <a:p>
            <a:r>
              <a:rPr lang="zh-CN" altLang="en-US"/>
              <a:t>移动应用开发工作台</a:t>
            </a:r>
            <a:endParaRPr lang="en-US" altLang="zh-CN"/>
          </a:p>
          <a:p>
            <a:pPr lvl="1"/>
            <a:r>
              <a:rPr lang="zh-CN" altLang="en-US"/>
              <a:t>用于移动应用开发</a:t>
            </a:r>
            <a:endParaRPr lang="en-US" altLang="zh-CN"/>
          </a:p>
          <a:p>
            <a:pPr lvl="1"/>
            <a:r>
              <a:rPr lang="zh-CN" altLang="en-US"/>
              <a:t>基于可视化拖拽的移动应用开发</a:t>
            </a:r>
            <a:endParaRPr lang="en-US" altLang="zh-CN"/>
          </a:p>
          <a:p>
            <a:pPr lvl="1"/>
            <a:r>
              <a:rPr lang="zh-CN" altLang="en-US"/>
              <a:t>基于</a:t>
            </a:r>
            <a:r>
              <a:rPr lang="en-US" altLang="zh-CN"/>
              <a:t>Bone</a:t>
            </a:r>
            <a:r>
              <a:rPr lang="zh-CN" altLang="en-US"/>
              <a:t>框架的移动应用开发</a:t>
            </a:r>
            <a:endParaRPr lang="en-US" altLang="zh-CN"/>
          </a:p>
          <a:p>
            <a:endParaRPr lang="en-US" altLang="zh-CN" dirty="0"/>
          </a:p>
        </p:txBody>
      </p:sp>
      <p:pic>
        <p:nvPicPr>
          <p:cNvPr id="22" name="图片 21">
            <a:extLst>
              <a:ext uri="{FF2B5EF4-FFF2-40B4-BE49-F238E27FC236}">
                <a16:creationId xmlns:a16="http://schemas.microsoft.com/office/drawing/2014/main" id="{174D4544-8506-4F64-B634-B4C07F740A3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1501" y="2792157"/>
            <a:ext cx="7920997" cy="3960000"/>
          </a:xfrm>
          <a:prstGeom prst="rect">
            <a:avLst/>
          </a:prstGeom>
          <a:noFill/>
        </p:spPr>
      </p:pic>
    </p:spTree>
    <p:extLst>
      <p:ext uri="{BB962C8B-B14F-4D97-AF65-F5344CB8AC3E}">
        <p14:creationId xmlns:p14="http://schemas.microsoft.com/office/powerpoint/2010/main" val="3216036251"/>
      </p:ext>
    </p:extLst>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dirty="0"/>
              <a:t>IoT Studio</a:t>
            </a:r>
            <a:endParaRPr lang="zh-CN" altLang="en-US" dirty="0"/>
          </a:p>
        </p:txBody>
      </p:sp>
      <p:sp>
        <p:nvSpPr>
          <p:cNvPr id="3" name="内容占位符 2"/>
          <p:cNvSpPr>
            <a:spLocks noGrp="1"/>
          </p:cNvSpPr>
          <p:nvPr>
            <p:ph idx="1"/>
          </p:nvPr>
        </p:nvSpPr>
        <p:spPr/>
        <p:txBody>
          <a:bodyPr/>
          <a:lstStyle/>
          <a:p>
            <a:r>
              <a:rPr lang="zh-CN" altLang="en-US" dirty="0"/>
              <a:t>关键特性</a:t>
            </a:r>
            <a:endParaRPr lang="en-US" altLang="zh-CN" dirty="0"/>
          </a:p>
          <a:p>
            <a:pPr lvl="1"/>
            <a:r>
              <a:rPr lang="zh-CN" altLang="en-US" dirty="0"/>
              <a:t>设备开发</a:t>
            </a:r>
            <a:endParaRPr lang="en-US" altLang="zh-CN" dirty="0"/>
          </a:p>
          <a:p>
            <a:pPr lvl="2"/>
            <a:r>
              <a:rPr lang="zh-CN" altLang="en-US" dirty="0"/>
              <a:t>基于</a:t>
            </a:r>
            <a:r>
              <a:rPr lang="zh-CN" altLang="en-US" b="1" dirty="0">
                <a:solidFill>
                  <a:srgbClr val="C00000"/>
                </a:solidFill>
              </a:rPr>
              <a:t>物模型</a:t>
            </a:r>
            <a:r>
              <a:rPr lang="zh-CN" altLang="en-US" dirty="0"/>
              <a:t>的设备抽象</a:t>
            </a:r>
          </a:p>
          <a:p>
            <a:pPr lvl="1"/>
            <a:r>
              <a:rPr lang="zh-CN" altLang="en-US" dirty="0"/>
              <a:t>服务开发</a:t>
            </a:r>
            <a:endParaRPr lang="en-US" altLang="zh-CN" dirty="0"/>
          </a:p>
          <a:p>
            <a:pPr lvl="2"/>
            <a:r>
              <a:rPr lang="zh-CN" altLang="en-US" dirty="0"/>
              <a:t>支持流式</a:t>
            </a:r>
            <a:r>
              <a:rPr lang="zh-CN" altLang="en-US" b="1" dirty="0">
                <a:solidFill>
                  <a:srgbClr val="C00000"/>
                </a:solidFill>
              </a:rPr>
              <a:t>服务编排</a:t>
            </a:r>
            <a:r>
              <a:rPr lang="zh-CN" altLang="en-US" dirty="0"/>
              <a:t>，可与应用无缝集成</a:t>
            </a:r>
            <a:endParaRPr lang="en-US" altLang="zh-CN" dirty="0"/>
          </a:p>
        </p:txBody>
      </p:sp>
    </p:spTree>
    <p:extLst>
      <p:ext uri="{BB962C8B-B14F-4D97-AF65-F5344CB8AC3E}">
        <p14:creationId xmlns:p14="http://schemas.microsoft.com/office/powerpoint/2010/main" val="335459516"/>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F059AB-3C9D-477E-9060-EDEE1DAE8A85}"/>
              </a:ext>
            </a:extLst>
          </p:cNvPr>
          <p:cNvSpPr>
            <a:spLocks noGrp="1"/>
          </p:cNvSpPr>
          <p:nvPr>
            <p:ph type="title"/>
          </p:nvPr>
        </p:nvSpPr>
        <p:spPr/>
        <p:txBody>
          <a:bodyPr/>
          <a:lstStyle/>
          <a:p>
            <a:r>
              <a:rPr lang="zh-CN" altLang="en-US" dirty="0"/>
              <a:t>物模型</a:t>
            </a:r>
          </a:p>
        </p:txBody>
      </p:sp>
      <p:sp>
        <p:nvSpPr>
          <p:cNvPr id="3" name="内容占位符 2">
            <a:extLst>
              <a:ext uri="{FF2B5EF4-FFF2-40B4-BE49-F238E27FC236}">
                <a16:creationId xmlns:a16="http://schemas.microsoft.com/office/drawing/2014/main" id="{48B8F617-82DC-4140-A5FE-4106B0D91BA4}"/>
              </a:ext>
            </a:extLst>
          </p:cNvPr>
          <p:cNvSpPr>
            <a:spLocks noGrp="1"/>
          </p:cNvSpPr>
          <p:nvPr>
            <p:ph idx="1"/>
          </p:nvPr>
        </p:nvSpPr>
        <p:spPr/>
        <p:txBody>
          <a:bodyPr/>
          <a:lstStyle/>
          <a:p>
            <a:r>
              <a:rPr lang="zh-CN" altLang="en-US" dirty="0"/>
              <a:t>由设备开发者和服务开发者共同定义</a:t>
            </a:r>
          </a:p>
          <a:p>
            <a:r>
              <a:rPr lang="zh-CN" altLang="en-US" dirty="0"/>
              <a:t>使用</a:t>
            </a:r>
            <a:r>
              <a:rPr lang="en-US" altLang="zh-CN" dirty="0"/>
              <a:t>JSON</a:t>
            </a:r>
            <a:r>
              <a:rPr lang="zh-CN" altLang="en-US" dirty="0"/>
              <a:t>语言，描述一类设备所具有的功能</a:t>
            </a:r>
          </a:p>
          <a:p>
            <a:r>
              <a:rPr lang="zh-CN" altLang="en-US" dirty="0"/>
              <a:t>将设备所具有的功能划分为三类</a:t>
            </a:r>
          </a:p>
          <a:p>
            <a:endParaRPr lang="zh-CN" altLang="en-US" dirty="0"/>
          </a:p>
          <a:p>
            <a:endParaRPr lang="zh-CN" altLang="en-US" dirty="0"/>
          </a:p>
        </p:txBody>
      </p:sp>
      <p:graphicFrame>
        <p:nvGraphicFramePr>
          <p:cNvPr id="4" name="表格 3">
            <a:extLst>
              <a:ext uri="{FF2B5EF4-FFF2-40B4-BE49-F238E27FC236}">
                <a16:creationId xmlns:a16="http://schemas.microsoft.com/office/drawing/2014/main" id="{A52A2B91-0EEE-4BC3-A7A5-0CCEFE2AC149}"/>
              </a:ext>
            </a:extLst>
          </p:cNvPr>
          <p:cNvGraphicFramePr>
            <a:graphicFrameLocks noGrp="1"/>
          </p:cNvGraphicFramePr>
          <p:nvPr>
            <p:extLst>
              <p:ext uri="{D42A27DB-BD31-4B8C-83A1-F6EECF244321}">
                <p14:modId xmlns:p14="http://schemas.microsoft.com/office/powerpoint/2010/main" val="2632847067"/>
              </p:ext>
            </p:extLst>
          </p:nvPr>
        </p:nvGraphicFramePr>
        <p:xfrm>
          <a:off x="944126" y="2985601"/>
          <a:ext cx="7141447" cy="3583927"/>
        </p:xfrm>
        <a:graphic>
          <a:graphicData uri="http://schemas.openxmlformats.org/drawingml/2006/table">
            <a:tbl>
              <a:tblPr firstRow="1" bandRow="1">
                <a:tableStyleId>{93296810-A885-4BE3-A3E7-6D5BEEA58F35}</a:tableStyleId>
              </a:tblPr>
              <a:tblGrid>
                <a:gridCol w="1548987">
                  <a:extLst>
                    <a:ext uri="{9D8B030D-6E8A-4147-A177-3AD203B41FA5}">
                      <a16:colId xmlns:a16="http://schemas.microsoft.com/office/drawing/2014/main" val="20000"/>
                    </a:ext>
                  </a:extLst>
                </a:gridCol>
                <a:gridCol w="2497568">
                  <a:extLst>
                    <a:ext uri="{9D8B030D-6E8A-4147-A177-3AD203B41FA5}">
                      <a16:colId xmlns:a16="http://schemas.microsoft.com/office/drawing/2014/main" val="20001"/>
                    </a:ext>
                  </a:extLst>
                </a:gridCol>
                <a:gridCol w="3094892">
                  <a:extLst>
                    <a:ext uri="{9D8B030D-6E8A-4147-A177-3AD203B41FA5}">
                      <a16:colId xmlns:a16="http://schemas.microsoft.com/office/drawing/2014/main" val="20002"/>
                    </a:ext>
                  </a:extLst>
                </a:gridCol>
              </a:tblGrid>
              <a:tr h="373211">
                <a:tc>
                  <a:txBody>
                    <a:bodyPr/>
                    <a:lstStyle/>
                    <a:p>
                      <a:r>
                        <a:rPr lang="zh-CN" altLang="en-US" sz="2000" dirty="0">
                          <a:latin typeface="+mj-ea"/>
                          <a:ea typeface="+mj-ea"/>
                        </a:rPr>
                        <a:t>功能类型</a:t>
                      </a:r>
                      <a:endParaRPr lang="zh-CN" altLang="en-US" sz="2000" dirty="0">
                        <a:latin typeface="+mj-ea"/>
                        <a:ea typeface="+mj-ea"/>
                        <a:cs typeface="Times New Roman" panose="02020603050405020304" pitchFamily="18" charset="0"/>
                      </a:endParaRPr>
                    </a:p>
                  </a:txBody>
                  <a:tcPr/>
                </a:tc>
                <a:tc>
                  <a:txBody>
                    <a:bodyPr/>
                    <a:lstStyle/>
                    <a:p>
                      <a:r>
                        <a:rPr lang="zh-CN" altLang="en-US" sz="2000" dirty="0">
                          <a:latin typeface="+mj-ea"/>
                          <a:ea typeface="+mj-ea"/>
                        </a:rPr>
                        <a:t>功能说明</a:t>
                      </a:r>
                      <a:endParaRPr lang="zh-CN" altLang="en-US" sz="2000" dirty="0">
                        <a:latin typeface="+mj-ea"/>
                        <a:ea typeface="+mj-ea"/>
                        <a:cs typeface="Times New Roman" panose="02020603050405020304" pitchFamily="18" charset="0"/>
                      </a:endParaRPr>
                    </a:p>
                  </a:txBody>
                  <a:tcPr/>
                </a:tc>
                <a:tc>
                  <a:txBody>
                    <a:bodyPr/>
                    <a:lstStyle/>
                    <a:p>
                      <a:r>
                        <a:rPr lang="zh-CN" altLang="en-US" sz="2000" dirty="0">
                          <a:latin typeface="+mj-ea"/>
                          <a:ea typeface="+mj-ea"/>
                        </a:rPr>
                        <a:t>举例</a:t>
                      </a:r>
                      <a:endParaRPr lang="zh-CN" altLang="en-US" sz="2000" dirty="0">
                        <a:latin typeface="+mj-ea"/>
                        <a:ea typeface="+mj-ea"/>
                        <a:cs typeface="Times New Roman" panose="02020603050405020304" pitchFamily="18" charset="0"/>
                      </a:endParaRPr>
                    </a:p>
                  </a:txBody>
                  <a:tcPr/>
                </a:tc>
                <a:extLst>
                  <a:ext uri="{0D108BD9-81ED-4DB2-BD59-A6C34878D82A}">
                    <a16:rowId xmlns:a16="http://schemas.microsoft.com/office/drawing/2014/main" val="10000"/>
                  </a:ext>
                </a:extLst>
              </a:tr>
              <a:tr h="947381">
                <a:tc>
                  <a:txBody>
                    <a:bodyPr/>
                    <a:lstStyle/>
                    <a:p>
                      <a:r>
                        <a:rPr lang="zh-CN" altLang="en-US" sz="2000" dirty="0">
                          <a:latin typeface="+mj-ea"/>
                          <a:ea typeface="+mj-ea"/>
                        </a:rPr>
                        <a:t>属性（</a:t>
                      </a:r>
                      <a:r>
                        <a:rPr lang="en-US" altLang="zh-CN" sz="2000" kern="1200" dirty="0">
                          <a:effectLst/>
                          <a:latin typeface="+mj-ea"/>
                          <a:ea typeface="+mj-ea"/>
                        </a:rPr>
                        <a:t>Property</a:t>
                      </a:r>
                      <a:r>
                        <a:rPr lang="zh-CN" altLang="en-US" sz="2000" dirty="0">
                          <a:latin typeface="+mj-ea"/>
                          <a:ea typeface="+mj-ea"/>
                        </a:rPr>
                        <a:t>）</a:t>
                      </a:r>
                      <a:endParaRPr lang="zh-CN" altLang="en-US" sz="2000" dirty="0">
                        <a:latin typeface="+mj-ea"/>
                        <a:ea typeface="+mj-ea"/>
                        <a:cs typeface="Times New Roman" panose="02020603050405020304" pitchFamily="18" charset="0"/>
                      </a:endParaRPr>
                    </a:p>
                  </a:txBody>
                  <a:tcPr/>
                </a:tc>
                <a:tc>
                  <a:txBody>
                    <a:bodyPr/>
                    <a:lstStyle/>
                    <a:p>
                      <a:r>
                        <a:rPr lang="zh-CN" altLang="en-US" sz="2000" dirty="0">
                          <a:latin typeface="+mj-ea"/>
                          <a:ea typeface="+mj-ea"/>
                        </a:rPr>
                        <a:t>设备运行时的状态</a:t>
                      </a:r>
                      <a:endParaRPr lang="zh-CN" altLang="en-US" sz="2000" dirty="0">
                        <a:latin typeface="+mj-ea"/>
                        <a:ea typeface="+mj-ea"/>
                        <a:cs typeface="Times New Roman" panose="02020603050405020304" pitchFamily="18" charset="0"/>
                      </a:endParaRPr>
                    </a:p>
                  </a:txBody>
                  <a:tcPr/>
                </a:tc>
                <a:tc>
                  <a:txBody>
                    <a:bodyPr/>
                    <a:lstStyle/>
                    <a:p>
                      <a:r>
                        <a:rPr lang="zh-CN" altLang="en-US" sz="2000" dirty="0">
                          <a:latin typeface="+mj-ea"/>
                          <a:ea typeface="+mj-ea"/>
                        </a:rPr>
                        <a:t>环境监测设备测量的温度、湿度等环境数据</a:t>
                      </a:r>
                      <a:endParaRPr lang="zh-CN" altLang="en-US" sz="2000" dirty="0">
                        <a:latin typeface="+mj-ea"/>
                        <a:ea typeface="+mj-ea"/>
                        <a:cs typeface="Times New Roman" panose="02020603050405020304" pitchFamily="18" charset="0"/>
                      </a:endParaRPr>
                    </a:p>
                  </a:txBody>
                  <a:tcPr/>
                </a:tc>
                <a:extLst>
                  <a:ext uri="{0D108BD9-81ED-4DB2-BD59-A6C34878D82A}">
                    <a16:rowId xmlns:a16="http://schemas.microsoft.com/office/drawing/2014/main" val="10001"/>
                  </a:ext>
                </a:extLst>
              </a:tr>
              <a:tr h="660296">
                <a:tc>
                  <a:txBody>
                    <a:bodyPr/>
                    <a:lstStyle/>
                    <a:p>
                      <a:r>
                        <a:rPr lang="zh-CN" altLang="en-US" sz="2000" dirty="0">
                          <a:latin typeface="+mj-ea"/>
                          <a:ea typeface="+mj-ea"/>
                        </a:rPr>
                        <a:t>服务（</a:t>
                      </a:r>
                      <a:r>
                        <a:rPr lang="en-US" altLang="zh-CN" sz="2000" kern="1200" dirty="0">
                          <a:effectLst/>
                          <a:latin typeface="+mj-ea"/>
                          <a:ea typeface="+mj-ea"/>
                        </a:rPr>
                        <a:t>Service</a:t>
                      </a:r>
                      <a:r>
                        <a:rPr lang="zh-CN" altLang="en-US" sz="2000" dirty="0">
                          <a:latin typeface="+mj-ea"/>
                          <a:ea typeface="+mj-ea"/>
                        </a:rPr>
                        <a:t>）</a:t>
                      </a:r>
                      <a:endParaRPr lang="zh-CN" altLang="en-US" sz="2000" dirty="0">
                        <a:latin typeface="+mj-ea"/>
                        <a:ea typeface="+mj-ea"/>
                        <a:cs typeface="Times New Roman" panose="02020603050405020304" pitchFamily="18" charset="0"/>
                      </a:endParaRPr>
                    </a:p>
                  </a:txBody>
                  <a:tcPr/>
                </a:tc>
                <a:tc>
                  <a:txBody>
                    <a:bodyPr/>
                    <a:lstStyle/>
                    <a:p>
                      <a:r>
                        <a:rPr lang="zh-CN" altLang="en-US" sz="2000" dirty="0">
                          <a:latin typeface="+mj-ea"/>
                          <a:ea typeface="+mj-ea"/>
                        </a:rPr>
                        <a:t>设备可被外部调用的方法</a:t>
                      </a:r>
                      <a:endParaRPr lang="zh-CN" altLang="en-US" sz="2000" dirty="0">
                        <a:latin typeface="+mj-ea"/>
                        <a:ea typeface="+mj-ea"/>
                        <a:cs typeface="Times New Roman" panose="02020603050405020304" pitchFamily="18" charset="0"/>
                      </a:endParaRPr>
                    </a:p>
                  </a:txBody>
                  <a:tcPr/>
                </a:tc>
                <a:tc>
                  <a:txBody>
                    <a:bodyPr/>
                    <a:lstStyle/>
                    <a:p>
                      <a:r>
                        <a:rPr lang="zh-CN" altLang="en-US" sz="2000" dirty="0">
                          <a:latin typeface="+mj-ea"/>
                          <a:ea typeface="+mj-ea"/>
                        </a:rPr>
                        <a:t>设备向外部提供的打开风扇方法，分为同步调用服务和异步调用服务</a:t>
                      </a:r>
                      <a:endParaRPr lang="zh-CN" altLang="en-US" sz="2000" dirty="0">
                        <a:solidFill>
                          <a:srgbClr val="C00000"/>
                        </a:solidFill>
                        <a:latin typeface="+mj-ea"/>
                        <a:ea typeface="+mj-ea"/>
                        <a:cs typeface="Times New Roman" panose="02020603050405020304" pitchFamily="18" charset="0"/>
                      </a:endParaRPr>
                    </a:p>
                  </a:txBody>
                  <a:tcPr/>
                </a:tc>
                <a:extLst>
                  <a:ext uri="{0D108BD9-81ED-4DB2-BD59-A6C34878D82A}">
                    <a16:rowId xmlns:a16="http://schemas.microsoft.com/office/drawing/2014/main" val="10002"/>
                  </a:ext>
                </a:extLst>
              </a:tr>
              <a:tr h="1234466">
                <a:tc>
                  <a:txBody>
                    <a:bodyPr/>
                    <a:lstStyle/>
                    <a:p>
                      <a:r>
                        <a:rPr lang="zh-CN" altLang="en-US" sz="2000" dirty="0">
                          <a:latin typeface="+mj-ea"/>
                          <a:ea typeface="+mj-ea"/>
                        </a:rPr>
                        <a:t>事件</a:t>
                      </a:r>
                      <a:endParaRPr lang="en-US" altLang="zh-CN" sz="2000" dirty="0">
                        <a:latin typeface="+mj-ea"/>
                        <a:ea typeface="+mj-ea"/>
                      </a:endParaRPr>
                    </a:p>
                    <a:p>
                      <a:r>
                        <a:rPr lang="zh-CN" altLang="en-US" sz="2000" dirty="0">
                          <a:latin typeface="+mj-ea"/>
                          <a:ea typeface="+mj-ea"/>
                        </a:rPr>
                        <a:t>（</a:t>
                      </a:r>
                      <a:r>
                        <a:rPr lang="en-US" altLang="zh-CN" sz="2000" kern="1200" dirty="0">
                          <a:effectLst/>
                          <a:latin typeface="+mj-ea"/>
                          <a:ea typeface="+mj-ea"/>
                        </a:rPr>
                        <a:t>Event</a:t>
                      </a:r>
                      <a:r>
                        <a:rPr lang="zh-CN" altLang="en-US" sz="2000" dirty="0">
                          <a:latin typeface="+mj-ea"/>
                          <a:ea typeface="+mj-ea"/>
                        </a:rPr>
                        <a:t>）</a:t>
                      </a:r>
                      <a:endParaRPr lang="zh-CN" altLang="en-US" sz="2000" dirty="0">
                        <a:latin typeface="+mj-ea"/>
                        <a:ea typeface="+mj-ea"/>
                        <a:cs typeface="Times New Roman" panose="02020603050405020304" pitchFamily="18" charset="0"/>
                      </a:endParaRPr>
                    </a:p>
                  </a:txBody>
                  <a:tcPr/>
                </a:tc>
                <a:tc>
                  <a:txBody>
                    <a:bodyPr/>
                    <a:lstStyle/>
                    <a:p>
                      <a:r>
                        <a:rPr lang="zh-CN" altLang="en-US" sz="2000" dirty="0">
                          <a:latin typeface="+mj-ea"/>
                          <a:ea typeface="+mj-ea"/>
                        </a:rPr>
                        <a:t>设备运行时的事件，包含需要被外部感知和处理的通知信息</a:t>
                      </a:r>
                      <a:endParaRPr lang="zh-CN" altLang="en-US" sz="2000" dirty="0">
                        <a:latin typeface="+mj-ea"/>
                        <a:ea typeface="+mj-ea"/>
                        <a:cs typeface="Times New Roman" panose="02020603050405020304" pitchFamily="18" charset="0"/>
                      </a:endParaRPr>
                    </a:p>
                  </a:txBody>
                  <a:tcPr/>
                </a:tc>
                <a:tc>
                  <a:txBody>
                    <a:bodyPr/>
                    <a:lstStyle/>
                    <a:p>
                      <a:r>
                        <a:rPr lang="zh-CN" altLang="en-US" sz="2000" dirty="0">
                          <a:latin typeface="+mj-ea"/>
                          <a:ea typeface="+mj-ea"/>
                        </a:rPr>
                        <a:t>任务完成的信息、设备发生故障的信息</a:t>
                      </a:r>
                      <a:endParaRPr lang="zh-CN" altLang="en-US" sz="2000" dirty="0">
                        <a:latin typeface="+mj-ea"/>
                        <a:ea typeface="+mj-ea"/>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5196843"/>
      </p:ext>
    </p:extLst>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zh-CN" altLang="en-US" dirty="0"/>
              <a:t>物模型定义</a:t>
            </a:r>
          </a:p>
        </p:txBody>
      </p:sp>
      <p:sp>
        <p:nvSpPr>
          <p:cNvPr id="4" name="内容占位符 3">
            <a:extLst>
              <a:ext uri="{FF2B5EF4-FFF2-40B4-BE49-F238E27FC236}">
                <a16:creationId xmlns:a16="http://schemas.microsoft.com/office/drawing/2014/main" id="{6A4E6C64-5785-4230-9D81-5466738FBF20}"/>
              </a:ext>
            </a:extLst>
          </p:cNvPr>
          <p:cNvSpPr>
            <a:spLocks noGrp="1"/>
          </p:cNvSpPr>
          <p:nvPr>
            <p:ph idx="1"/>
          </p:nvPr>
        </p:nvSpPr>
        <p:spPr/>
        <p:txBody>
          <a:bodyPr/>
          <a:lstStyle/>
          <a:p>
            <a:endParaRPr lang="zh-CN" altLang="en-US" dirty="0"/>
          </a:p>
        </p:txBody>
      </p:sp>
      <p:sp>
        <p:nvSpPr>
          <p:cNvPr id="7" name="矩形 6">
            <a:extLst>
              <a:ext uri="{FF2B5EF4-FFF2-40B4-BE49-F238E27FC236}">
                <a16:creationId xmlns:a16="http://schemas.microsoft.com/office/drawing/2014/main" id="{F575045D-A0AE-4BFE-BDB4-173496B8F49D}"/>
              </a:ext>
            </a:extLst>
          </p:cNvPr>
          <p:cNvSpPr/>
          <p:nvPr/>
        </p:nvSpPr>
        <p:spPr bwMode="auto">
          <a:xfrm>
            <a:off x="558800" y="1544320"/>
            <a:ext cx="8026401" cy="489458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“schema”:“</a:t>
            </a:r>
            <a:r>
              <a:rPr lang="zh-CN" altLang="en-US" dirty="0">
                <a:latin typeface="Courier New" panose="02070309020205020404" pitchFamily="49" charset="0"/>
                <a:cs typeface="Courier New" panose="02070309020205020404" pitchFamily="49" charset="0"/>
              </a:rPr>
              <a:t>物的</a:t>
            </a:r>
            <a:r>
              <a:rPr lang="en-US" altLang="zh-CN" dirty="0">
                <a:latin typeface="Courier New" panose="02070309020205020404" pitchFamily="49" charset="0"/>
                <a:cs typeface="Courier New" panose="02070309020205020404" pitchFamily="49" charset="0"/>
              </a:rPr>
              <a:t>TSL</a:t>
            </a:r>
            <a:r>
              <a:rPr lang="zh-CN" altLang="en-US" dirty="0">
                <a:latin typeface="Courier New" panose="02070309020205020404" pitchFamily="49" charset="0"/>
                <a:cs typeface="Courier New" panose="02070309020205020404" pitchFamily="49" charset="0"/>
              </a:rPr>
              <a:t>描述</a:t>
            </a:r>
            <a:r>
              <a:rPr lang="en-US" altLang="zh-CN" dirty="0">
                <a:latin typeface="Courier New" panose="02070309020205020404" pitchFamily="49" charset="0"/>
                <a:cs typeface="Courier New" panose="02070309020205020404" pitchFamily="49" charset="0"/>
              </a:rPr>
              <a:t>schema”, </a:t>
            </a:r>
            <a:r>
              <a:rPr lang="zh-CN" altLang="en-US" dirty="0">
                <a:latin typeface="Courier New" panose="02070309020205020404" pitchFamily="49" charset="0"/>
                <a:cs typeface="Courier New" panose="02070309020205020404" pitchFamily="49" charset="0"/>
              </a:rPr>
              <a:t>由云平台自动生成</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“link”:“</a:t>
            </a:r>
            <a:r>
              <a:rPr lang="zh-CN" altLang="en-US" dirty="0">
                <a:latin typeface="Courier New" panose="02070309020205020404" pitchFamily="49" charset="0"/>
                <a:cs typeface="Courier New" panose="02070309020205020404" pitchFamily="49" charset="0"/>
              </a:rPr>
              <a:t>云端系统级</a:t>
            </a:r>
            <a:r>
              <a:rPr lang="en-US" altLang="zh-CN" dirty="0" err="1">
                <a:latin typeface="Courier New" panose="02070309020205020404" pitchFamily="49" charset="0"/>
                <a:cs typeface="Courier New" panose="02070309020205020404" pitchFamily="49" charset="0"/>
              </a:rPr>
              <a:t>uri</a:t>
            </a:r>
            <a:r>
              <a:rPr lang="en-US" altLang="zh-CN"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用来调用服务</a:t>
            </a:r>
            <a:r>
              <a:rPr lang="en-US" altLang="zh-CN"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订阅事件</a:t>
            </a:r>
            <a:r>
              <a:rPr lang="en-US" altLang="zh-CN" dirty="0">
                <a:latin typeface="Courier New" panose="02070309020205020404" pitchFamily="49" charset="0"/>
                <a:cs typeface="Courier New" panose="02070309020205020404" pitchFamily="49" charset="0"/>
              </a:rPr>
              <a:t>”, </a:t>
            </a:r>
            <a:r>
              <a:rPr lang="zh-CN" altLang="en-US" dirty="0">
                <a:latin typeface="Courier New" panose="02070309020205020404" pitchFamily="49" charset="0"/>
                <a:cs typeface="Courier New" panose="02070309020205020404" pitchFamily="49" charset="0"/>
              </a:rPr>
              <a:t>由云平台自动生成</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“profile”:{</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productKey</a:t>
            </a:r>
            <a:r>
              <a:rPr lang="en-US" altLang="zh-CN" dirty="0">
                <a:latin typeface="Courier New" panose="02070309020205020404" pitchFamily="49" charset="0"/>
                <a:cs typeface="Courier New" panose="02070309020205020404" pitchFamily="49" charset="0"/>
              </a:rPr>
              <a:t>”: “</a:t>
            </a:r>
            <a:r>
              <a:rPr lang="zh-CN" altLang="en-US" dirty="0">
                <a:latin typeface="Courier New" panose="02070309020205020404" pitchFamily="49" charset="0"/>
                <a:cs typeface="Courier New" panose="02070309020205020404" pitchFamily="49" charset="0"/>
              </a:rPr>
              <a:t>产品</a:t>
            </a:r>
            <a:r>
              <a:rPr lang="en-US" altLang="zh-CN" dirty="0">
                <a:latin typeface="Courier New" panose="02070309020205020404" pitchFamily="49" charset="0"/>
                <a:cs typeface="Courier New" panose="02070309020205020404" pitchFamily="49" charset="0"/>
              </a:rPr>
              <a:t>key”</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“properties”:[],	</a:t>
            </a:r>
            <a:r>
              <a:rPr lang="en-US" altLang="zh-CN" dirty="0">
                <a:latin typeface="宋体" panose="02010600030101010101" pitchFamily="2" charset="-122"/>
                <a:cs typeface="Courier New" panose="02070309020205020404" pitchFamily="49" charset="0"/>
              </a:rPr>
              <a:t>// </a:t>
            </a:r>
            <a:r>
              <a:rPr lang="zh-CN" altLang="en-US" dirty="0">
                <a:latin typeface="宋体" panose="02010600030101010101" pitchFamily="2" charset="-122"/>
                <a:cs typeface="Courier New" panose="02070309020205020404" pitchFamily="49" charset="0"/>
              </a:rPr>
              <a:t>属性定义</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“events”:[],	</a:t>
            </a:r>
            <a:r>
              <a:rPr lang="en-US" altLang="zh-CN" dirty="0">
                <a:latin typeface="宋体" panose="02010600030101010101" pitchFamily="2" charset="-122"/>
                <a:cs typeface="Courier New" panose="02070309020205020404" pitchFamily="49" charset="0"/>
              </a:rPr>
              <a:t>// </a:t>
            </a:r>
            <a:r>
              <a:rPr lang="zh-CN" altLang="en-US" dirty="0">
                <a:latin typeface="宋体" panose="02010600030101010101" pitchFamily="2" charset="-122"/>
                <a:cs typeface="Courier New" panose="02070309020205020404" pitchFamily="49" charset="0"/>
              </a:rPr>
              <a:t>事件定义</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“services”:[]	</a:t>
            </a:r>
            <a:r>
              <a:rPr lang="en-US" altLang="zh-CN" dirty="0">
                <a:latin typeface="宋体" panose="02010600030101010101" pitchFamily="2" charset="-122"/>
                <a:cs typeface="Courier New" panose="02070309020205020404" pitchFamily="49" charset="0"/>
              </a:rPr>
              <a:t>// </a:t>
            </a:r>
            <a:r>
              <a:rPr lang="zh-CN" altLang="en-US" dirty="0">
                <a:latin typeface="宋体" panose="02010600030101010101" pitchFamily="2" charset="-122"/>
                <a:cs typeface="Courier New" panose="02070309020205020404" pitchFamily="49" charset="0"/>
              </a:rPr>
              <a:t>服务定义</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a:t>
            </a:r>
            <a:r>
              <a:rPr lang="en-US" altLang="zh-CN"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975691276"/>
      </p:ext>
    </p:extLst>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zh-CN" altLang="en-US" dirty="0"/>
              <a:t>物模型定义</a:t>
            </a:r>
          </a:p>
        </p:txBody>
      </p:sp>
      <p:sp>
        <p:nvSpPr>
          <p:cNvPr id="5" name="内容占位符 4">
            <a:extLst>
              <a:ext uri="{FF2B5EF4-FFF2-40B4-BE49-F238E27FC236}">
                <a16:creationId xmlns:a16="http://schemas.microsoft.com/office/drawing/2014/main" id="{6A5C462A-5AFA-47DA-B85D-C1DA99B47ECA}"/>
              </a:ext>
            </a:extLst>
          </p:cNvPr>
          <p:cNvSpPr>
            <a:spLocks noGrp="1"/>
          </p:cNvSpPr>
          <p:nvPr>
            <p:ph idx="1"/>
          </p:nvPr>
        </p:nvSpPr>
        <p:spPr/>
        <p:txBody>
          <a:bodyPr/>
          <a:lstStyle/>
          <a:p>
            <a:r>
              <a:rPr lang="zh-CN" altLang="en-US"/>
              <a:t>属性</a:t>
            </a:r>
            <a:endParaRPr lang="zh-CN" altLang="en-US" dirty="0"/>
          </a:p>
        </p:txBody>
      </p:sp>
      <p:sp>
        <p:nvSpPr>
          <p:cNvPr id="8" name="矩形 7">
            <a:extLst>
              <a:ext uri="{FF2B5EF4-FFF2-40B4-BE49-F238E27FC236}">
                <a16:creationId xmlns:a16="http://schemas.microsoft.com/office/drawing/2014/main" id="{600FB7F4-7AEA-4850-A30C-6EAA0EA9DEAD}"/>
              </a:ext>
            </a:extLst>
          </p:cNvPr>
          <p:cNvSpPr/>
          <p:nvPr/>
        </p:nvSpPr>
        <p:spPr bwMode="auto">
          <a:xfrm>
            <a:off x="558800" y="1544320"/>
            <a:ext cx="8026401" cy="489458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"properties":[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"identifier":"</a:t>
            </a:r>
            <a:r>
              <a:rPr lang="zh-CN" altLang="en-US" dirty="0">
                <a:latin typeface="Courier New" panose="02070309020205020404" pitchFamily="49" charset="0"/>
                <a:cs typeface="Courier New" panose="02070309020205020404" pitchFamily="49" charset="0"/>
              </a:rPr>
              <a:t>属性唯一标识符</a:t>
            </a:r>
            <a:r>
              <a:rPr lang="en-US" altLang="zh-CN"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产品下唯一</a:t>
            </a:r>
            <a:r>
              <a:rPr lang="en-US" altLang="zh-CN"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"name":"</a:t>
            </a:r>
            <a:r>
              <a:rPr lang="zh-CN" altLang="en-US" dirty="0">
                <a:latin typeface="Courier New" panose="02070309020205020404" pitchFamily="49" charset="0"/>
                <a:cs typeface="Courier New" panose="02070309020205020404" pitchFamily="49" charset="0"/>
              </a:rPr>
              <a:t>属性名称</a:t>
            </a:r>
            <a:r>
              <a:rPr lang="en-US" altLang="zh-CN"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accessMode</a:t>
            </a:r>
            <a:r>
              <a:rPr lang="en-US" altLang="zh-CN"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属性读写类型，只读</a:t>
            </a:r>
            <a:r>
              <a:rPr lang="en-US" altLang="zh-CN" dirty="0">
                <a:latin typeface="Courier New" panose="02070309020205020404" pitchFamily="49" charset="0"/>
                <a:cs typeface="Courier New" panose="02070309020205020404" pitchFamily="49" charset="0"/>
              </a:rPr>
              <a:t>(r)</a:t>
            </a:r>
            <a:r>
              <a:rPr lang="zh-CN" altLang="en-US" dirty="0">
                <a:latin typeface="Courier New" panose="02070309020205020404" pitchFamily="49" charset="0"/>
                <a:cs typeface="Courier New" panose="02070309020205020404" pitchFamily="49" charset="0"/>
              </a:rPr>
              <a:t>，读写</a:t>
            </a:r>
            <a:r>
              <a:rPr lang="en-US" altLang="zh-CN" dirty="0">
                <a:latin typeface="Courier New" panose="02070309020205020404" pitchFamily="49" charset="0"/>
                <a:cs typeface="Courier New" panose="02070309020205020404" pitchFamily="49" charset="0"/>
              </a:rPr>
              <a:t>(</a:t>
            </a:r>
            <a:r>
              <a:rPr lang="en-US" altLang="zh-CN" dirty="0" err="1">
                <a:latin typeface="Courier New" panose="02070309020205020404" pitchFamily="49" charset="0"/>
                <a:cs typeface="Courier New" panose="02070309020205020404" pitchFamily="49" charset="0"/>
              </a:rPr>
              <a:t>rw</a:t>
            </a:r>
            <a:r>
              <a:rPr lang="en-US" altLang="zh-CN"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"required":"</a:t>
            </a:r>
            <a:r>
              <a:rPr lang="zh-CN" altLang="en-US" dirty="0">
                <a:latin typeface="Courier New" panose="02070309020205020404" pitchFamily="49" charset="0"/>
                <a:cs typeface="Courier New" panose="02070309020205020404" pitchFamily="49" charset="0"/>
              </a:rPr>
              <a:t>是否是标准功能的必选属性</a:t>
            </a:r>
            <a:r>
              <a:rPr lang="en-US" altLang="zh-CN"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dataType</a:t>
            </a:r>
            <a:r>
              <a:rPr lang="en-US" altLang="zh-CN"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"type":"</a:t>
            </a:r>
            <a:r>
              <a:rPr lang="zh-CN" altLang="en-US" dirty="0">
                <a:latin typeface="Courier New" panose="02070309020205020404" pitchFamily="49" charset="0"/>
                <a:cs typeface="Courier New" panose="02070309020205020404" pitchFamily="49" charset="0"/>
              </a:rPr>
              <a:t>属性类型</a:t>
            </a: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int</a:t>
            </a: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float</a:t>
            </a: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double, text</a:t>
            </a: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bool</a:t>
            </a: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array(</a:t>
            </a:r>
            <a:r>
              <a:rPr lang="zh-CN" altLang="en-US" dirty="0">
                <a:latin typeface="Courier New" panose="02070309020205020404" pitchFamily="49" charset="0"/>
                <a:cs typeface="Courier New" panose="02070309020205020404" pitchFamily="49" charset="0"/>
              </a:rPr>
              <a:t>数组类型，支持</a:t>
            </a: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/double/float/text)",</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"specs":{</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"min":"</a:t>
            </a:r>
            <a:r>
              <a:rPr lang="zh-CN" altLang="en-US" dirty="0">
                <a:latin typeface="Courier New" panose="02070309020205020404" pitchFamily="49" charset="0"/>
                <a:cs typeface="Courier New" panose="02070309020205020404" pitchFamily="49" charset="0"/>
              </a:rPr>
              <a:t>参数最小值</a:t>
            </a:r>
            <a:r>
              <a:rPr lang="en-US" altLang="zh-CN" dirty="0">
                <a:latin typeface="Courier New" panose="02070309020205020404" pitchFamily="49" charset="0"/>
                <a:cs typeface="Courier New" panose="02070309020205020404" pitchFamily="49" charset="0"/>
              </a:rPr>
              <a:t>(</a:t>
            </a: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float, double</a:t>
            </a:r>
            <a:r>
              <a:rPr lang="zh-CN" altLang="en-US" dirty="0">
                <a:latin typeface="Courier New" panose="02070309020205020404" pitchFamily="49" charset="0"/>
                <a:cs typeface="Courier New" panose="02070309020205020404" pitchFamily="49" charset="0"/>
              </a:rPr>
              <a:t>类型特有</a:t>
            </a:r>
            <a:r>
              <a:rPr lang="en-US" altLang="zh-CN"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"max":"</a:t>
            </a:r>
            <a:r>
              <a:rPr lang="zh-CN" altLang="en-US" dirty="0">
                <a:latin typeface="Courier New" panose="02070309020205020404" pitchFamily="49" charset="0"/>
                <a:cs typeface="Courier New" panose="02070309020205020404" pitchFamily="49" charset="0"/>
              </a:rPr>
              <a:t>参数最大值</a:t>
            </a:r>
            <a:r>
              <a:rPr lang="en-US" altLang="zh-CN" dirty="0">
                <a:latin typeface="Courier New" panose="02070309020205020404" pitchFamily="49" charset="0"/>
                <a:cs typeface="Courier New" panose="02070309020205020404" pitchFamily="49" charset="0"/>
              </a:rPr>
              <a:t>(</a:t>
            </a: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float, double</a:t>
            </a:r>
            <a:r>
              <a:rPr lang="zh-CN" altLang="en-US" dirty="0">
                <a:latin typeface="Courier New" panose="02070309020205020404" pitchFamily="49" charset="0"/>
                <a:cs typeface="Courier New" panose="02070309020205020404" pitchFamily="49" charset="0"/>
              </a:rPr>
              <a:t>类型特有</a:t>
            </a:r>
            <a:r>
              <a:rPr lang="en-US" altLang="zh-CN"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"unit":"</a:t>
            </a:r>
            <a:r>
              <a:rPr lang="zh-CN" altLang="en-US" dirty="0">
                <a:latin typeface="Courier New" panose="02070309020205020404" pitchFamily="49" charset="0"/>
                <a:cs typeface="Courier New" panose="02070309020205020404" pitchFamily="49" charset="0"/>
              </a:rPr>
              <a:t>属性单位</a:t>
            </a:r>
            <a:r>
              <a:rPr lang="en-US" altLang="zh-CN"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unitName</a:t>
            </a:r>
            <a:r>
              <a:rPr lang="en-US" altLang="zh-CN"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单位名称</a:t>
            </a:r>
            <a:r>
              <a:rPr lang="en-US" altLang="zh-CN"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"size":"</a:t>
            </a:r>
            <a:r>
              <a:rPr lang="zh-CN" altLang="en-US" dirty="0">
                <a:latin typeface="Courier New" panose="02070309020205020404" pitchFamily="49" charset="0"/>
                <a:cs typeface="Courier New" panose="02070309020205020404" pitchFamily="49" charset="0"/>
              </a:rPr>
              <a:t>数组大小，默认最大</a:t>
            </a:r>
            <a:r>
              <a:rPr lang="en-US" altLang="zh-CN" dirty="0">
                <a:latin typeface="Courier New" panose="02070309020205020404" pitchFamily="49" charset="0"/>
                <a:cs typeface="Courier New" panose="02070309020205020404" pitchFamily="49" charset="0"/>
              </a:rPr>
              <a:t>128(</a:t>
            </a:r>
            <a:r>
              <a:rPr lang="zh-CN" altLang="en-US" dirty="0">
                <a:latin typeface="Courier New" panose="02070309020205020404" pitchFamily="49" charset="0"/>
                <a:cs typeface="Courier New" panose="02070309020205020404" pitchFamily="49" charset="0"/>
              </a:rPr>
              <a:t>数组特有</a:t>
            </a:r>
            <a:r>
              <a:rPr lang="en-US" altLang="zh-CN"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"item":{   "type":"</a:t>
            </a:r>
            <a:r>
              <a:rPr lang="zh-CN" altLang="en-US" dirty="0">
                <a:latin typeface="Courier New" panose="02070309020205020404" pitchFamily="49" charset="0"/>
                <a:cs typeface="Courier New" panose="02070309020205020404" pitchFamily="49" charset="0"/>
              </a:rPr>
              <a:t>数组元素的类型</a:t>
            </a:r>
            <a:r>
              <a:rPr lang="en-US" altLang="zh-CN" dirty="0">
                <a:latin typeface="Courier New" panose="02070309020205020404" pitchFamily="49" charset="0"/>
                <a:cs typeface="Courier New" panose="02070309020205020404" pitchFamily="49" charset="0"/>
              </a:rPr>
              <a:t>"  }  }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 ]</a:t>
            </a:r>
            <a:endParaRPr kumimoji="0" lang="zh-CN" altLang="en-US" b="0" i="0" u="none" strike="noStrike" cap="none" normalizeH="0" baseline="-25000" dirty="0">
              <a:ln>
                <a:noFill/>
              </a:ln>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25793254"/>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zh-CN" altLang="en-US" dirty="0"/>
              <a:t>物模型定义</a:t>
            </a:r>
          </a:p>
        </p:txBody>
      </p:sp>
      <p:sp>
        <p:nvSpPr>
          <p:cNvPr id="5" name="内容占位符 4">
            <a:extLst>
              <a:ext uri="{FF2B5EF4-FFF2-40B4-BE49-F238E27FC236}">
                <a16:creationId xmlns:a16="http://schemas.microsoft.com/office/drawing/2014/main" id="{6A5C462A-5AFA-47DA-B85D-C1DA99B47ECA}"/>
              </a:ext>
            </a:extLst>
          </p:cNvPr>
          <p:cNvSpPr>
            <a:spLocks noGrp="1"/>
          </p:cNvSpPr>
          <p:nvPr>
            <p:ph idx="1"/>
          </p:nvPr>
        </p:nvSpPr>
        <p:spPr/>
        <p:txBody>
          <a:bodyPr/>
          <a:lstStyle/>
          <a:p>
            <a:r>
              <a:rPr lang="zh-CN" altLang="en-US"/>
              <a:t>事件</a:t>
            </a:r>
            <a:endParaRPr lang="zh-CN" altLang="en-US" dirty="0"/>
          </a:p>
        </p:txBody>
      </p:sp>
      <p:sp>
        <p:nvSpPr>
          <p:cNvPr id="8" name="矩形 7">
            <a:extLst>
              <a:ext uri="{FF2B5EF4-FFF2-40B4-BE49-F238E27FC236}">
                <a16:creationId xmlns:a16="http://schemas.microsoft.com/office/drawing/2014/main" id="{600FB7F4-7AEA-4850-A30C-6EAA0EA9DEAD}"/>
              </a:ext>
            </a:extLst>
          </p:cNvPr>
          <p:cNvSpPr/>
          <p:nvPr/>
        </p:nvSpPr>
        <p:spPr bwMode="auto">
          <a:xfrm>
            <a:off x="558800" y="1544320"/>
            <a:ext cx="8026401" cy="489458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nSpc>
                <a:spcPct val="120000"/>
              </a:lnSpc>
              <a:spcBef>
                <a:spcPts val="0"/>
              </a:spcBef>
              <a:buClr>
                <a:schemeClr val="bg1"/>
              </a:buClr>
              <a:buSzPct val="100000"/>
            </a:pPr>
            <a:r>
              <a:rPr lang="en-US" altLang="zh-CN" sz="2000" dirty="0">
                <a:latin typeface="Courier New" panose="02070309020205020404" pitchFamily="49" charset="0"/>
                <a:cs typeface="Courier New" panose="02070309020205020404" pitchFamily="49" charset="0"/>
              </a:rPr>
              <a:t>"events":[ {</a:t>
            </a:r>
          </a:p>
          <a:p>
            <a:pPr>
              <a:lnSpc>
                <a:spcPct val="120000"/>
              </a:lnSpc>
              <a:spcBef>
                <a:spcPts val="0"/>
              </a:spcBef>
              <a:buClr>
                <a:schemeClr val="bg1"/>
              </a:buClr>
              <a:buSzPct val="100000"/>
            </a:pPr>
            <a:r>
              <a:rPr lang="en-US" altLang="zh-CN" sz="2000" dirty="0">
                <a:latin typeface="Courier New" panose="02070309020205020404" pitchFamily="49" charset="0"/>
                <a:cs typeface="Courier New" panose="02070309020205020404" pitchFamily="49" charset="0"/>
              </a:rPr>
              <a:t>    "identifier":"</a:t>
            </a:r>
            <a:r>
              <a:rPr lang="zh-CN" altLang="en-US" sz="2000" dirty="0">
                <a:latin typeface="Courier New" panose="02070309020205020404" pitchFamily="49" charset="0"/>
                <a:cs typeface="Courier New" panose="02070309020205020404" pitchFamily="49" charset="0"/>
              </a:rPr>
              <a:t>事件唯一标识符</a:t>
            </a:r>
            <a:r>
              <a:rPr lang="en-US" altLang="zh-CN" sz="2000" dirty="0">
                <a:latin typeface="Courier New" panose="02070309020205020404" pitchFamily="49" charset="0"/>
                <a:cs typeface="Courier New" panose="02070309020205020404" pitchFamily="49" charset="0"/>
              </a:rPr>
              <a:t>(</a:t>
            </a:r>
            <a:r>
              <a:rPr lang="zh-CN" altLang="en-US" sz="2000" dirty="0">
                <a:latin typeface="Courier New" panose="02070309020205020404" pitchFamily="49" charset="0"/>
                <a:cs typeface="Courier New" panose="02070309020205020404" pitchFamily="49" charset="0"/>
              </a:rPr>
              <a:t>产品下唯一</a:t>
            </a:r>
            <a:r>
              <a:rPr lang="en-US" altLang="zh-CN" sz="2000"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sz="2000" dirty="0">
                <a:latin typeface="Courier New" panose="02070309020205020404" pitchFamily="49" charset="0"/>
                <a:cs typeface="Courier New" panose="02070309020205020404" pitchFamily="49" charset="0"/>
              </a:rPr>
              <a:t>    "name":"</a:t>
            </a:r>
            <a:r>
              <a:rPr lang="zh-CN" altLang="en-US" sz="2000" dirty="0">
                <a:latin typeface="Courier New" panose="02070309020205020404" pitchFamily="49" charset="0"/>
                <a:cs typeface="Courier New" panose="02070309020205020404" pitchFamily="49" charset="0"/>
              </a:rPr>
              <a:t>事件名称</a:t>
            </a:r>
            <a:r>
              <a:rPr lang="en-US" altLang="zh-CN" sz="2000"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sz="2000" dirty="0">
                <a:latin typeface="Courier New" panose="02070309020205020404" pitchFamily="49" charset="0"/>
                <a:cs typeface="Courier New" panose="02070309020205020404" pitchFamily="49" charset="0"/>
              </a:rPr>
              <a:t>    "desc":"</a:t>
            </a:r>
            <a:r>
              <a:rPr lang="zh-CN" altLang="en-US" sz="2000" dirty="0">
                <a:latin typeface="Courier New" panose="02070309020205020404" pitchFamily="49" charset="0"/>
                <a:cs typeface="Courier New" panose="02070309020205020404" pitchFamily="49" charset="0"/>
              </a:rPr>
              <a:t>事件描述</a:t>
            </a:r>
            <a:r>
              <a:rPr lang="en-US" altLang="zh-CN" sz="2000"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sz="2000" dirty="0">
                <a:latin typeface="Courier New" panose="02070309020205020404" pitchFamily="49" charset="0"/>
                <a:cs typeface="Courier New" panose="02070309020205020404" pitchFamily="49" charset="0"/>
              </a:rPr>
              <a:t>    "type":"</a:t>
            </a:r>
            <a:r>
              <a:rPr lang="zh-CN" altLang="en-US" sz="2000" dirty="0">
                <a:latin typeface="Courier New" panose="02070309020205020404" pitchFamily="49" charset="0"/>
                <a:cs typeface="Courier New" panose="02070309020205020404" pitchFamily="49" charset="0"/>
              </a:rPr>
              <a:t>事件类型</a:t>
            </a:r>
            <a:r>
              <a:rPr lang="en-US" altLang="zh-CN" sz="2000" dirty="0">
                <a:latin typeface="Courier New" panose="02070309020205020404" pitchFamily="49" charset="0"/>
                <a:cs typeface="Courier New" panose="02070309020205020404" pitchFamily="49" charset="0"/>
              </a:rPr>
              <a:t>(</a:t>
            </a:r>
            <a:r>
              <a:rPr lang="en-US" altLang="zh-CN" sz="2000" dirty="0" err="1">
                <a:latin typeface="Courier New" panose="02070309020205020404" pitchFamily="49" charset="0"/>
                <a:cs typeface="Courier New" panose="02070309020205020404" pitchFamily="49" charset="0"/>
              </a:rPr>
              <a:t>info,alert,error</a:t>
            </a:r>
            <a:r>
              <a:rPr lang="en-US" altLang="zh-CN" sz="2000"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sz="2000" dirty="0">
                <a:latin typeface="Courier New" panose="02070309020205020404" pitchFamily="49" charset="0"/>
                <a:cs typeface="Courier New" panose="02070309020205020404" pitchFamily="49" charset="0"/>
              </a:rPr>
              <a:t>    "required":"</a:t>
            </a:r>
            <a:r>
              <a:rPr lang="zh-CN" altLang="en-US" sz="2000" dirty="0">
                <a:latin typeface="Courier New" panose="02070309020205020404" pitchFamily="49" charset="0"/>
                <a:cs typeface="Courier New" panose="02070309020205020404" pitchFamily="49" charset="0"/>
              </a:rPr>
              <a:t>是否是标准功能的必选事件</a:t>
            </a:r>
            <a:r>
              <a:rPr lang="en-US" altLang="zh-CN" sz="2000"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sz="2000" dirty="0">
                <a:latin typeface="Courier New" panose="02070309020205020404" pitchFamily="49" charset="0"/>
                <a:cs typeface="Courier New" panose="02070309020205020404" pitchFamily="49" charset="0"/>
              </a:rPr>
              <a:t>    "</a:t>
            </a:r>
            <a:r>
              <a:rPr lang="en-US" altLang="zh-CN" sz="2000" dirty="0" err="1">
                <a:latin typeface="Courier New" panose="02070309020205020404" pitchFamily="49" charset="0"/>
                <a:cs typeface="Courier New" panose="02070309020205020404" pitchFamily="49" charset="0"/>
              </a:rPr>
              <a:t>outputData</a:t>
            </a:r>
            <a:r>
              <a:rPr lang="en-US" altLang="zh-CN" sz="2000" dirty="0">
                <a:latin typeface="Courier New" panose="02070309020205020404" pitchFamily="49" charset="0"/>
                <a:cs typeface="Courier New" panose="02070309020205020404" pitchFamily="49" charset="0"/>
              </a:rPr>
              <a:t>":[ {</a:t>
            </a:r>
          </a:p>
          <a:p>
            <a:pPr>
              <a:lnSpc>
                <a:spcPct val="120000"/>
              </a:lnSpc>
              <a:spcBef>
                <a:spcPts val="0"/>
              </a:spcBef>
              <a:buClr>
                <a:schemeClr val="bg1"/>
              </a:buClr>
              <a:buSzPct val="100000"/>
            </a:pPr>
            <a:r>
              <a:rPr lang="en-US" altLang="zh-CN" sz="2000" dirty="0">
                <a:latin typeface="Courier New" panose="02070309020205020404" pitchFamily="49" charset="0"/>
                <a:cs typeface="Courier New" panose="02070309020205020404" pitchFamily="49" charset="0"/>
              </a:rPr>
              <a:t>        "identifier":"</a:t>
            </a:r>
            <a:r>
              <a:rPr lang="zh-CN" altLang="en-US" sz="2000" dirty="0">
                <a:latin typeface="Courier New" panose="02070309020205020404" pitchFamily="49" charset="0"/>
                <a:cs typeface="Courier New" panose="02070309020205020404" pitchFamily="49" charset="0"/>
              </a:rPr>
              <a:t>参数唯一标识符</a:t>
            </a:r>
            <a:r>
              <a:rPr lang="en-US" altLang="zh-CN" sz="2000"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sz="2000" dirty="0">
                <a:latin typeface="Courier New" panose="02070309020205020404" pitchFamily="49" charset="0"/>
                <a:cs typeface="Courier New" panose="02070309020205020404" pitchFamily="49" charset="0"/>
              </a:rPr>
              <a:t>        "name":"</a:t>
            </a:r>
            <a:r>
              <a:rPr lang="zh-CN" altLang="en-US" sz="2000" dirty="0">
                <a:latin typeface="Courier New" panose="02070309020205020404" pitchFamily="49" charset="0"/>
                <a:cs typeface="Courier New" panose="02070309020205020404" pitchFamily="49" charset="0"/>
              </a:rPr>
              <a:t>参数名称</a:t>
            </a:r>
            <a:r>
              <a:rPr lang="en-US" altLang="zh-CN" sz="2000"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sz="2000" dirty="0">
                <a:latin typeface="Courier New" panose="02070309020205020404" pitchFamily="49" charset="0"/>
                <a:cs typeface="Courier New" panose="02070309020205020404" pitchFamily="49" charset="0"/>
              </a:rPr>
              <a:t>        "</a:t>
            </a:r>
            <a:r>
              <a:rPr lang="en-US" altLang="zh-CN" sz="2000" dirty="0" err="1">
                <a:latin typeface="Courier New" panose="02070309020205020404" pitchFamily="49" charset="0"/>
                <a:cs typeface="Courier New" panose="02070309020205020404" pitchFamily="49" charset="0"/>
              </a:rPr>
              <a:t>dataType</a:t>
            </a:r>
            <a:r>
              <a:rPr lang="en-US" altLang="zh-CN" sz="2000"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sz="2000" dirty="0">
                <a:latin typeface="Courier New" panose="02070309020205020404" pitchFamily="49" charset="0"/>
                <a:cs typeface="Courier New" panose="02070309020205020404" pitchFamily="49" charset="0"/>
              </a:rPr>
              <a:t>        "type":"</a:t>
            </a:r>
            <a:r>
              <a:rPr lang="zh-CN" altLang="en-US" sz="2000" dirty="0">
                <a:latin typeface="Courier New" panose="02070309020205020404" pitchFamily="49" charset="0"/>
                <a:cs typeface="Courier New" panose="02070309020205020404" pitchFamily="49" charset="0"/>
              </a:rPr>
              <a:t>属性类型</a:t>
            </a:r>
            <a:r>
              <a:rPr lang="en-US" altLang="zh-CN" sz="2000" dirty="0">
                <a:latin typeface="Courier New" panose="02070309020205020404" pitchFamily="49" charset="0"/>
                <a:cs typeface="Courier New" panose="02070309020205020404" pitchFamily="49" charset="0"/>
              </a:rPr>
              <a:t>: int</a:t>
            </a:r>
            <a:r>
              <a:rPr lang="zh-CN" altLang="en-US" sz="2000" dirty="0">
                <a:latin typeface="Courier New" panose="02070309020205020404" pitchFamily="49" charset="0"/>
                <a:cs typeface="Courier New" panose="02070309020205020404" pitchFamily="49" charset="0"/>
              </a:rPr>
              <a:t>，</a:t>
            </a:r>
            <a:r>
              <a:rPr lang="en-US" altLang="zh-CN" sz="2000" dirty="0">
                <a:latin typeface="Courier New" panose="02070309020205020404" pitchFamily="49" charset="0"/>
                <a:cs typeface="Courier New" panose="02070309020205020404" pitchFamily="49" charset="0"/>
              </a:rPr>
              <a:t>float</a:t>
            </a:r>
            <a:r>
              <a:rPr lang="zh-CN" altLang="en-US" sz="2000" dirty="0">
                <a:latin typeface="Courier New" panose="02070309020205020404" pitchFamily="49" charset="0"/>
                <a:cs typeface="Courier New" panose="02070309020205020404" pitchFamily="49" charset="0"/>
              </a:rPr>
              <a:t>，</a:t>
            </a:r>
            <a:r>
              <a:rPr lang="en-US" altLang="zh-CN" sz="2000" dirty="0">
                <a:latin typeface="Courier New" panose="02070309020205020404" pitchFamily="49" charset="0"/>
                <a:cs typeface="Courier New" panose="02070309020205020404" pitchFamily="49" charset="0"/>
              </a:rPr>
              <a:t>double, text</a:t>
            </a:r>
            <a:r>
              <a:rPr lang="zh-CN" altLang="en-US" sz="2000" dirty="0">
                <a:latin typeface="Courier New" panose="02070309020205020404" pitchFamily="49" charset="0"/>
                <a:cs typeface="Courier New" panose="02070309020205020404" pitchFamily="49" charset="0"/>
              </a:rPr>
              <a:t>，</a:t>
            </a:r>
            <a:r>
              <a:rPr lang="en-US" altLang="zh-CN" sz="2000" dirty="0">
                <a:latin typeface="Courier New" panose="02070309020205020404" pitchFamily="49" charset="0"/>
                <a:cs typeface="Courier New" panose="02070309020205020404" pitchFamily="49" charset="0"/>
              </a:rPr>
              <a:t>bool</a:t>
            </a:r>
            <a:r>
              <a:rPr lang="zh-CN" altLang="en-US" sz="2000" dirty="0">
                <a:latin typeface="Courier New" panose="02070309020205020404" pitchFamily="49" charset="0"/>
                <a:cs typeface="Courier New" panose="02070309020205020404" pitchFamily="49" charset="0"/>
              </a:rPr>
              <a:t>，</a:t>
            </a:r>
            <a:r>
              <a:rPr lang="en-US" altLang="zh-CN" sz="2000" dirty="0">
                <a:latin typeface="Courier New" panose="02070309020205020404" pitchFamily="49" charset="0"/>
                <a:cs typeface="Courier New" panose="02070309020205020404" pitchFamily="49" charset="0"/>
              </a:rPr>
              <a:t>array(</a:t>
            </a:r>
            <a:r>
              <a:rPr lang="zh-CN" altLang="en-US" sz="2000" dirty="0">
                <a:latin typeface="Courier New" panose="02070309020205020404" pitchFamily="49" charset="0"/>
                <a:cs typeface="Courier New" panose="02070309020205020404" pitchFamily="49" charset="0"/>
              </a:rPr>
              <a:t>数组类型，支持</a:t>
            </a:r>
            <a:r>
              <a:rPr lang="en-US" altLang="zh-CN" sz="2000" dirty="0">
                <a:latin typeface="Courier New" panose="02070309020205020404" pitchFamily="49" charset="0"/>
                <a:cs typeface="Courier New" panose="02070309020205020404" pitchFamily="49" charset="0"/>
              </a:rPr>
              <a:t>int/double/float/text)",</a:t>
            </a:r>
          </a:p>
          <a:p>
            <a:pPr>
              <a:lnSpc>
                <a:spcPct val="120000"/>
              </a:lnSpc>
              <a:spcBef>
                <a:spcPts val="0"/>
              </a:spcBef>
              <a:buClr>
                <a:schemeClr val="bg1"/>
              </a:buClr>
              <a:buSzPct val="100000"/>
            </a:pPr>
            <a:r>
              <a:rPr lang="en-US" altLang="zh-CN" sz="2000" dirty="0">
                <a:latin typeface="Courier New" panose="02070309020205020404" pitchFamily="49" charset="0"/>
                <a:cs typeface="Courier New" panose="02070309020205020404" pitchFamily="49" charset="0"/>
              </a:rPr>
              <a:t>        "min":"</a:t>
            </a:r>
            <a:r>
              <a:rPr lang="zh-CN" altLang="en-US" sz="2000" dirty="0">
                <a:latin typeface="Courier New" panose="02070309020205020404" pitchFamily="49" charset="0"/>
                <a:cs typeface="Courier New" panose="02070309020205020404" pitchFamily="49" charset="0"/>
              </a:rPr>
              <a:t>参数最小值</a:t>
            </a:r>
            <a:r>
              <a:rPr lang="en-US" altLang="zh-CN" sz="2000" dirty="0">
                <a:latin typeface="Courier New" panose="02070309020205020404" pitchFamily="49" charset="0"/>
                <a:cs typeface="Courier New" panose="02070309020205020404" pitchFamily="49" charset="0"/>
              </a:rPr>
              <a:t>(int, float, double</a:t>
            </a:r>
            <a:r>
              <a:rPr lang="zh-CN" altLang="en-US" sz="2000" dirty="0">
                <a:latin typeface="Courier New" panose="02070309020205020404" pitchFamily="49" charset="0"/>
                <a:cs typeface="Courier New" panose="02070309020205020404" pitchFamily="49" charset="0"/>
              </a:rPr>
              <a:t>类型特有</a:t>
            </a:r>
            <a:r>
              <a:rPr lang="en-US" altLang="zh-CN" sz="2000"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sz="2000" dirty="0">
                <a:latin typeface="Courier New" panose="02070309020205020404" pitchFamily="49" charset="0"/>
                <a:cs typeface="Courier New" panose="02070309020205020404" pitchFamily="49" charset="0"/>
              </a:rPr>
              <a:t>        "max":"</a:t>
            </a:r>
            <a:r>
              <a:rPr lang="zh-CN" altLang="en-US" sz="2000" dirty="0">
                <a:latin typeface="Courier New" panose="02070309020205020404" pitchFamily="49" charset="0"/>
                <a:cs typeface="Courier New" panose="02070309020205020404" pitchFamily="49" charset="0"/>
              </a:rPr>
              <a:t>参数最大值</a:t>
            </a:r>
            <a:r>
              <a:rPr lang="en-US" altLang="zh-CN" sz="2000" dirty="0">
                <a:latin typeface="Courier New" panose="02070309020205020404" pitchFamily="49" charset="0"/>
                <a:cs typeface="Courier New" panose="02070309020205020404" pitchFamily="49" charset="0"/>
              </a:rPr>
              <a:t>(int, float, double</a:t>
            </a:r>
            <a:r>
              <a:rPr lang="zh-CN" altLang="en-US" sz="2000" dirty="0">
                <a:latin typeface="Courier New" panose="02070309020205020404" pitchFamily="49" charset="0"/>
                <a:cs typeface="Courier New" panose="02070309020205020404" pitchFamily="49" charset="0"/>
              </a:rPr>
              <a:t>类型特有</a:t>
            </a:r>
            <a:r>
              <a:rPr lang="en-US" altLang="zh-CN" sz="2000"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sz="2000" dirty="0">
                <a:latin typeface="Courier New" panose="02070309020205020404" pitchFamily="49" charset="0"/>
                <a:cs typeface="Courier New" panose="02070309020205020404" pitchFamily="49" charset="0"/>
              </a:rPr>
              <a:t>        "unit":"</a:t>
            </a:r>
            <a:r>
              <a:rPr lang="zh-CN" altLang="en-US" sz="2000" dirty="0">
                <a:latin typeface="Courier New" panose="02070309020205020404" pitchFamily="49" charset="0"/>
                <a:cs typeface="Courier New" panose="02070309020205020404" pitchFamily="49" charset="0"/>
              </a:rPr>
              <a:t>属性单位</a:t>
            </a:r>
            <a:r>
              <a:rPr lang="en-US" altLang="zh-CN" sz="2000"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sz="2000" dirty="0">
                <a:latin typeface="Courier New" panose="02070309020205020404" pitchFamily="49" charset="0"/>
                <a:cs typeface="Courier New" panose="02070309020205020404" pitchFamily="49" charset="0"/>
              </a:rPr>
              <a:t>        "</a:t>
            </a:r>
            <a:r>
              <a:rPr lang="en-US" altLang="zh-CN" sz="2000" dirty="0" err="1">
                <a:latin typeface="Courier New" panose="02070309020205020404" pitchFamily="49" charset="0"/>
                <a:cs typeface="Courier New" panose="02070309020205020404" pitchFamily="49" charset="0"/>
              </a:rPr>
              <a:t>unitName</a:t>
            </a:r>
            <a:r>
              <a:rPr lang="en-US" altLang="zh-CN" sz="2000" dirty="0">
                <a:latin typeface="Courier New" panose="02070309020205020404" pitchFamily="49" charset="0"/>
                <a:cs typeface="Courier New" panose="02070309020205020404" pitchFamily="49" charset="0"/>
              </a:rPr>
              <a:t>":"</a:t>
            </a:r>
            <a:r>
              <a:rPr lang="zh-CN" altLang="en-US" sz="2000" dirty="0">
                <a:latin typeface="Courier New" panose="02070309020205020404" pitchFamily="49" charset="0"/>
                <a:cs typeface="Courier New" panose="02070309020205020404" pitchFamily="49" charset="0"/>
              </a:rPr>
              <a:t>单位名称</a:t>
            </a:r>
            <a:r>
              <a:rPr lang="en-US" altLang="zh-CN" sz="2000"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sz="2000" dirty="0">
                <a:latin typeface="Courier New" panose="02070309020205020404" pitchFamily="49" charset="0"/>
                <a:cs typeface="Courier New" panose="02070309020205020404" pitchFamily="49" charset="0"/>
              </a:rPr>
              <a:t>        "size":"</a:t>
            </a:r>
            <a:r>
              <a:rPr lang="zh-CN" altLang="en-US" sz="2000" dirty="0">
                <a:latin typeface="Courier New" panose="02070309020205020404" pitchFamily="49" charset="0"/>
                <a:cs typeface="Courier New" panose="02070309020205020404" pitchFamily="49" charset="0"/>
              </a:rPr>
              <a:t>数组大小，默认最大</a:t>
            </a:r>
            <a:r>
              <a:rPr lang="en-US" altLang="zh-CN" sz="2000" dirty="0">
                <a:latin typeface="Courier New" panose="02070309020205020404" pitchFamily="49" charset="0"/>
                <a:cs typeface="Courier New" panose="02070309020205020404" pitchFamily="49" charset="0"/>
              </a:rPr>
              <a:t>128(</a:t>
            </a:r>
            <a:r>
              <a:rPr lang="zh-CN" altLang="en-US" sz="2000" dirty="0">
                <a:latin typeface="Courier New" panose="02070309020205020404" pitchFamily="49" charset="0"/>
                <a:cs typeface="Courier New" panose="02070309020205020404" pitchFamily="49" charset="0"/>
              </a:rPr>
              <a:t>数组特有</a:t>
            </a:r>
            <a:r>
              <a:rPr lang="en-US" altLang="zh-CN" sz="2000"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sz="2000" dirty="0">
                <a:latin typeface="Courier New" panose="02070309020205020404" pitchFamily="49" charset="0"/>
                <a:cs typeface="Courier New" panose="02070309020205020404" pitchFamily="49" charset="0"/>
              </a:rPr>
              <a:t>        "item":{ "type":"</a:t>
            </a:r>
            <a:r>
              <a:rPr lang="zh-CN" altLang="en-US" sz="2000" dirty="0">
                <a:latin typeface="Courier New" panose="02070309020205020404" pitchFamily="49" charset="0"/>
                <a:cs typeface="Courier New" panose="02070309020205020404" pitchFamily="49" charset="0"/>
              </a:rPr>
              <a:t>数组元素的类型“</a:t>
            </a:r>
            <a:r>
              <a:rPr lang="en-US" altLang="zh-CN" sz="2000"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sz="2000" dirty="0">
                <a:latin typeface="Courier New" panose="02070309020205020404" pitchFamily="49" charset="0"/>
                <a:cs typeface="Courier New" panose="02070309020205020404" pitchFamily="49" charset="0"/>
              </a:rPr>
              <a:t>    "method":"</a:t>
            </a:r>
            <a:r>
              <a:rPr lang="zh-CN" altLang="en-US" sz="2000" dirty="0">
                <a:latin typeface="Courier New" panose="02070309020205020404" pitchFamily="49" charset="0"/>
                <a:cs typeface="Courier New" panose="02070309020205020404" pitchFamily="49" charset="0"/>
              </a:rPr>
              <a:t>事件对应的方法名称</a:t>
            </a:r>
            <a:r>
              <a:rPr lang="en-US" altLang="zh-CN" sz="2000" dirty="0">
                <a:latin typeface="Courier New" panose="02070309020205020404" pitchFamily="49" charset="0"/>
                <a:cs typeface="Courier New" panose="02070309020205020404" pitchFamily="49" charset="0"/>
              </a:rPr>
              <a:t>(</a:t>
            </a:r>
            <a:r>
              <a:rPr lang="zh-CN" altLang="en-US" sz="2000" dirty="0">
                <a:latin typeface="Courier New" panose="02070309020205020404" pitchFamily="49" charset="0"/>
                <a:cs typeface="Courier New" panose="02070309020205020404" pitchFamily="49" charset="0"/>
              </a:rPr>
              <a:t>根据</a:t>
            </a:r>
            <a:r>
              <a:rPr lang="en-US" altLang="zh-CN" sz="2000" dirty="0">
                <a:latin typeface="Courier New" panose="02070309020205020404" pitchFamily="49" charset="0"/>
                <a:cs typeface="Courier New" panose="02070309020205020404" pitchFamily="49" charset="0"/>
              </a:rPr>
              <a:t>identifier</a:t>
            </a:r>
            <a:r>
              <a:rPr lang="zh-CN" altLang="en-US" sz="2000" dirty="0">
                <a:latin typeface="Courier New" panose="02070309020205020404" pitchFamily="49" charset="0"/>
                <a:cs typeface="Courier New" panose="02070309020205020404" pitchFamily="49" charset="0"/>
              </a:rPr>
              <a:t>生成</a:t>
            </a:r>
            <a:r>
              <a:rPr lang="en-US" altLang="zh-CN" sz="2000"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sz="2000"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150878892"/>
      </p:ext>
    </p:extLst>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zh-CN" altLang="en-US" dirty="0"/>
              <a:t>物模型定义</a:t>
            </a:r>
          </a:p>
        </p:txBody>
      </p:sp>
      <p:sp>
        <p:nvSpPr>
          <p:cNvPr id="5" name="内容占位符 4">
            <a:extLst>
              <a:ext uri="{FF2B5EF4-FFF2-40B4-BE49-F238E27FC236}">
                <a16:creationId xmlns:a16="http://schemas.microsoft.com/office/drawing/2014/main" id="{6A5C462A-5AFA-47DA-B85D-C1DA99B47ECA}"/>
              </a:ext>
            </a:extLst>
          </p:cNvPr>
          <p:cNvSpPr>
            <a:spLocks noGrp="1"/>
          </p:cNvSpPr>
          <p:nvPr>
            <p:ph idx="1"/>
          </p:nvPr>
        </p:nvSpPr>
        <p:spPr/>
        <p:txBody>
          <a:bodyPr/>
          <a:lstStyle/>
          <a:p>
            <a:r>
              <a:rPr lang="zh-CN" altLang="en-US"/>
              <a:t>服务</a:t>
            </a:r>
            <a:endParaRPr lang="zh-CN" altLang="en-US" dirty="0"/>
          </a:p>
        </p:txBody>
      </p:sp>
      <p:sp>
        <p:nvSpPr>
          <p:cNvPr id="8" name="矩形 7">
            <a:extLst>
              <a:ext uri="{FF2B5EF4-FFF2-40B4-BE49-F238E27FC236}">
                <a16:creationId xmlns:a16="http://schemas.microsoft.com/office/drawing/2014/main" id="{600FB7F4-7AEA-4850-A30C-6EAA0EA9DEAD}"/>
              </a:ext>
            </a:extLst>
          </p:cNvPr>
          <p:cNvSpPr/>
          <p:nvPr/>
        </p:nvSpPr>
        <p:spPr bwMode="auto">
          <a:xfrm>
            <a:off x="558800" y="1544320"/>
            <a:ext cx="8026401" cy="489458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"services":[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"identifier":"</a:t>
            </a:r>
            <a:r>
              <a:rPr lang="zh-CN" altLang="en-US" dirty="0">
                <a:latin typeface="Courier New" panose="02070309020205020404" pitchFamily="49" charset="0"/>
                <a:cs typeface="Courier New" panose="02070309020205020404" pitchFamily="49" charset="0"/>
              </a:rPr>
              <a:t>服务唯一标识符</a:t>
            </a:r>
            <a:r>
              <a:rPr lang="en-US" altLang="zh-CN"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产品下唯一</a:t>
            </a:r>
            <a:r>
              <a:rPr lang="en-US" altLang="zh-CN"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"name":"</a:t>
            </a:r>
            <a:r>
              <a:rPr lang="zh-CN" altLang="en-US" dirty="0">
                <a:latin typeface="Courier New" panose="02070309020205020404" pitchFamily="49" charset="0"/>
                <a:cs typeface="Courier New" panose="02070309020205020404" pitchFamily="49" charset="0"/>
              </a:rPr>
              <a:t>服务名称</a:t>
            </a:r>
            <a:r>
              <a:rPr lang="en-US" altLang="zh-CN"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"desc":"</a:t>
            </a:r>
            <a:r>
              <a:rPr lang="zh-CN" altLang="en-US" dirty="0">
                <a:latin typeface="Courier New" panose="02070309020205020404" pitchFamily="49" charset="0"/>
                <a:cs typeface="Courier New" panose="02070309020205020404" pitchFamily="49" charset="0"/>
              </a:rPr>
              <a:t>服务描述</a:t>
            </a:r>
            <a:r>
              <a:rPr lang="en-US" altLang="zh-CN"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"required":"</a:t>
            </a:r>
            <a:r>
              <a:rPr lang="zh-CN" altLang="en-US" dirty="0">
                <a:latin typeface="Courier New" panose="02070309020205020404" pitchFamily="49" charset="0"/>
                <a:cs typeface="Courier New" panose="02070309020205020404" pitchFamily="49" charset="0"/>
              </a:rPr>
              <a:t>是否是标准功能的必选服务</a:t>
            </a:r>
            <a:r>
              <a:rPr lang="en-US" altLang="zh-CN"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callType</a:t>
            </a:r>
            <a:r>
              <a:rPr lang="en-US" altLang="zh-CN" dirty="0">
                <a:latin typeface="Courier New" panose="02070309020205020404" pitchFamily="49" charset="0"/>
                <a:cs typeface="Courier New" panose="02070309020205020404" pitchFamily="49" charset="0"/>
              </a:rPr>
              <a:t>”: “</a:t>
            </a:r>
            <a:r>
              <a:rPr lang="zh-CN" altLang="en-US" dirty="0">
                <a:latin typeface="Courier New" panose="02070309020205020404" pitchFamily="49" charset="0"/>
                <a:cs typeface="Courier New" panose="02070309020205020404" pitchFamily="49" charset="0"/>
              </a:rPr>
              <a:t>服务调用方式，</a:t>
            </a:r>
            <a:r>
              <a:rPr lang="en-US" altLang="zh-CN" dirty="0">
                <a:latin typeface="Courier New" panose="02070309020205020404" pitchFamily="49" charset="0"/>
                <a:cs typeface="Courier New" panose="02070309020205020404" pitchFamily="49" charset="0"/>
              </a:rPr>
              <a:t>sync:</a:t>
            </a:r>
            <a:r>
              <a:rPr lang="zh-CN" altLang="en-US" dirty="0">
                <a:latin typeface="Courier New" panose="02070309020205020404" pitchFamily="49" charset="0"/>
                <a:cs typeface="Courier New" panose="02070309020205020404" pitchFamily="49" charset="0"/>
              </a:rPr>
              <a:t>同步调用；</a:t>
            </a:r>
            <a:r>
              <a:rPr lang="en-US" altLang="zh-CN" dirty="0">
                <a:latin typeface="Courier New" panose="02070309020205020404" pitchFamily="49" charset="0"/>
                <a:cs typeface="Courier New" panose="02070309020205020404" pitchFamily="49" charset="0"/>
              </a:rPr>
              <a:t>async:</a:t>
            </a:r>
            <a:r>
              <a:rPr lang="zh-CN" altLang="en-US" dirty="0">
                <a:latin typeface="Courier New" panose="02070309020205020404" pitchFamily="49" charset="0"/>
                <a:cs typeface="Courier New" panose="02070309020205020404" pitchFamily="49" charset="0"/>
              </a:rPr>
              <a:t>异步调用</a:t>
            </a:r>
            <a:r>
              <a:rPr lang="en-US" altLang="zh-CN"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inputData</a:t>
            </a:r>
            <a:r>
              <a:rPr lang="en-US" altLang="zh-CN" dirty="0">
                <a:latin typeface="Courier New" panose="02070309020205020404" pitchFamily="49" charset="0"/>
                <a:cs typeface="Courier New" panose="02070309020205020404" pitchFamily="49" charset="0"/>
              </a:rPr>
              <a:t>":[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outputData</a:t>
            </a:r>
            <a:r>
              <a:rPr lang="en-US" altLang="zh-CN" dirty="0">
                <a:latin typeface="Courier New" panose="02070309020205020404" pitchFamily="49" charset="0"/>
                <a:cs typeface="Courier New" panose="02070309020205020404" pitchFamily="49" charset="0"/>
              </a:rPr>
              <a:t>":[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"method":"</a:t>
            </a:r>
            <a:r>
              <a:rPr lang="zh-CN" altLang="en-US" dirty="0">
                <a:latin typeface="Courier New" panose="02070309020205020404" pitchFamily="49" charset="0"/>
                <a:cs typeface="Courier New" panose="02070309020205020404" pitchFamily="49" charset="0"/>
              </a:rPr>
              <a:t>服务对应的方法名称</a:t>
            </a:r>
            <a:r>
              <a:rPr lang="en-US" altLang="zh-CN"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根据</a:t>
            </a:r>
            <a:r>
              <a:rPr lang="en-US" altLang="zh-CN" dirty="0">
                <a:latin typeface="Courier New" panose="02070309020205020404" pitchFamily="49" charset="0"/>
                <a:cs typeface="Courier New" panose="02070309020205020404" pitchFamily="49" charset="0"/>
              </a:rPr>
              <a:t>identifier</a:t>
            </a:r>
            <a:r>
              <a:rPr lang="zh-CN" altLang="en-US" dirty="0">
                <a:latin typeface="Courier New" panose="02070309020205020404" pitchFamily="49" charset="0"/>
                <a:cs typeface="Courier New" panose="02070309020205020404" pitchFamily="49" charset="0"/>
              </a:rPr>
              <a:t>生成</a:t>
            </a:r>
            <a:r>
              <a:rPr lang="en-US" altLang="zh-CN"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260746302"/>
      </p:ext>
    </p:extLst>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FE863-FEF3-4043-95EC-9AD563AA7BBF}"/>
              </a:ext>
            </a:extLst>
          </p:cNvPr>
          <p:cNvSpPr>
            <a:spLocks noGrp="1"/>
          </p:cNvSpPr>
          <p:nvPr>
            <p:ph type="title"/>
          </p:nvPr>
        </p:nvSpPr>
        <p:spPr/>
        <p:txBody>
          <a:bodyPr/>
          <a:lstStyle/>
          <a:p>
            <a:r>
              <a:rPr lang="zh-CN" altLang="en-US" dirty="0"/>
              <a:t>物模型服务</a:t>
            </a:r>
          </a:p>
        </p:txBody>
      </p:sp>
      <p:sp>
        <p:nvSpPr>
          <p:cNvPr id="3" name="内容占位符 2">
            <a:extLst>
              <a:ext uri="{FF2B5EF4-FFF2-40B4-BE49-F238E27FC236}">
                <a16:creationId xmlns:a16="http://schemas.microsoft.com/office/drawing/2014/main" id="{CEC5A4B4-040C-4061-8E61-B3F6FD091028}"/>
              </a:ext>
            </a:extLst>
          </p:cNvPr>
          <p:cNvSpPr>
            <a:spLocks noGrp="1"/>
          </p:cNvSpPr>
          <p:nvPr>
            <p:ph idx="1"/>
          </p:nvPr>
        </p:nvSpPr>
        <p:spPr/>
        <p:txBody>
          <a:bodyPr/>
          <a:lstStyle/>
          <a:p>
            <a:r>
              <a:rPr lang="zh-CN" altLang="en-US"/>
              <a:t>同步调用</a:t>
            </a:r>
          </a:p>
          <a:p>
            <a:pPr lvl="1"/>
            <a:r>
              <a:rPr lang="en-US" altLang="zh-CN"/>
              <a:t>MQTT</a:t>
            </a:r>
            <a:r>
              <a:rPr lang="zh-CN" altLang="en-US"/>
              <a:t>协议提供基于</a:t>
            </a:r>
            <a:r>
              <a:rPr lang="en-US" altLang="zh-CN"/>
              <a:t>PUB/SUB</a:t>
            </a:r>
            <a:r>
              <a:rPr lang="zh-CN" altLang="en-US"/>
              <a:t>的异步通信，不适用于服务端同步控制设备端返回结果的场景。</a:t>
            </a:r>
          </a:p>
          <a:p>
            <a:pPr lvl="1"/>
            <a:r>
              <a:rPr lang="en-US" altLang="zh-CN"/>
              <a:t>RRPC</a:t>
            </a:r>
            <a:r>
              <a:rPr lang="zh-CN" altLang="en-US"/>
              <a:t>：基于</a:t>
            </a:r>
            <a:r>
              <a:rPr lang="en-US" altLang="zh-CN"/>
              <a:t>MQTT</a:t>
            </a:r>
            <a:r>
              <a:rPr lang="zh-CN" altLang="en-US"/>
              <a:t>协议定制的请求和响应的同步机制</a:t>
            </a:r>
          </a:p>
          <a:p>
            <a:endParaRPr lang="zh-CN" altLang="en-US"/>
          </a:p>
          <a:p>
            <a:endParaRPr lang="zh-CN" altLang="en-US" dirty="0"/>
          </a:p>
        </p:txBody>
      </p:sp>
      <p:pic>
        <p:nvPicPr>
          <p:cNvPr id="5" name="图片 4">
            <a:extLst>
              <a:ext uri="{FF2B5EF4-FFF2-40B4-BE49-F238E27FC236}">
                <a16:creationId xmlns:a16="http://schemas.microsoft.com/office/drawing/2014/main" id="{F8E51220-A81C-4C27-BBD0-25CA613B4E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194" y="2815425"/>
            <a:ext cx="7129613" cy="3706915"/>
          </a:xfrm>
          <a:prstGeom prst="rect">
            <a:avLst/>
          </a:prstGeom>
        </p:spPr>
      </p:pic>
    </p:spTree>
    <p:extLst>
      <p:ext uri="{BB962C8B-B14F-4D97-AF65-F5344CB8AC3E}">
        <p14:creationId xmlns:p14="http://schemas.microsoft.com/office/powerpoint/2010/main" val="1359615187"/>
      </p:ext>
    </p:extLst>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zh-CN" altLang="en-US" dirty="0"/>
              <a:t>物模型示例</a:t>
            </a:r>
          </a:p>
        </p:txBody>
      </p:sp>
      <p:sp>
        <p:nvSpPr>
          <p:cNvPr id="3" name="内容占位符 2"/>
          <p:cNvSpPr>
            <a:spLocks noGrp="1"/>
          </p:cNvSpPr>
          <p:nvPr>
            <p:ph idx="1"/>
          </p:nvPr>
        </p:nvSpPr>
        <p:spPr/>
        <p:txBody>
          <a:bodyPr/>
          <a:lstStyle/>
          <a:p>
            <a:r>
              <a:rPr lang="zh-CN" altLang="en-US" dirty="0"/>
              <a:t>设备描述：智能空调</a:t>
            </a:r>
            <a:endParaRPr lang="en-US" altLang="zh-CN" dirty="0"/>
          </a:p>
          <a:p>
            <a:r>
              <a:rPr lang="zh-CN" altLang="en-US" dirty="0"/>
              <a:t>设备功能</a:t>
            </a:r>
            <a:endParaRPr lang="en-US" altLang="zh-CN" dirty="0"/>
          </a:p>
          <a:p>
            <a:pPr lvl="1"/>
            <a:r>
              <a:rPr lang="zh-CN" altLang="en-US" dirty="0"/>
              <a:t>属性</a:t>
            </a:r>
            <a:endParaRPr lang="en-US" altLang="zh-CN" dirty="0"/>
          </a:p>
          <a:p>
            <a:pPr lvl="2"/>
            <a:r>
              <a:rPr lang="zh-CN" altLang="en-US" dirty="0"/>
              <a:t>温度（</a:t>
            </a:r>
            <a:r>
              <a:rPr lang="en-US" altLang="zh-CN" dirty="0"/>
              <a:t>temperature</a:t>
            </a:r>
            <a:r>
              <a:rPr lang="zh-CN" altLang="en-US" dirty="0"/>
              <a:t>），</a:t>
            </a:r>
            <a:r>
              <a:rPr lang="en-US" altLang="zh-CN" dirty="0"/>
              <a:t>float</a:t>
            </a:r>
            <a:r>
              <a:rPr lang="zh-CN" altLang="en-US" dirty="0"/>
              <a:t>类型，最小值为</a:t>
            </a:r>
            <a:r>
              <a:rPr lang="en-US" altLang="zh-CN" dirty="0"/>
              <a:t>-40</a:t>
            </a:r>
            <a:r>
              <a:rPr lang="zh-CN" altLang="en-US" dirty="0"/>
              <a:t>，最大值为</a:t>
            </a:r>
            <a:r>
              <a:rPr lang="en-US" altLang="zh-CN" dirty="0"/>
              <a:t>50</a:t>
            </a:r>
            <a:r>
              <a:rPr lang="zh-CN" altLang="en-US" dirty="0"/>
              <a:t>，单位为 ℃</a:t>
            </a:r>
            <a:endParaRPr lang="en-US" altLang="zh-CN" dirty="0"/>
          </a:p>
          <a:p>
            <a:pPr lvl="1"/>
            <a:r>
              <a:rPr lang="zh-CN" altLang="en-US" dirty="0"/>
              <a:t>事件</a:t>
            </a:r>
            <a:endParaRPr lang="en-US" altLang="zh-CN" dirty="0"/>
          </a:p>
          <a:p>
            <a:pPr lvl="2"/>
            <a:r>
              <a:rPr lang="zh-CN" altLang="en-US" dirty="0"/>
              <a:t>温度告警（</a:t>
            </a:r>
            <a:r>
              <a:rPr lang="en-US" altLang="zh-CN" dirty="0" err="1"/>
              <a:t>temp_alert</a:t>
            </a:r>
            <a:r>
              <a:rPr lang="en-US" altLang="zh-CN" dirty="0"/>
              <a:t>, </a:t>
            </a:r>
            <a:r>
              <a:rPr lang="zh-CN" altLang="en-US" dirty="0"/>
              <a:t>输出值为枚举类型，</a:t>
            </a:r>
            <a:r>
              <a:rPr lang="en-US" altLang="zh-CN" dirty="0"/>
              <a:t>0</a:t>
            </a:r>
            <a:r>
              <a:rPr lang="zh-CN" altLang="en-US" dirty="0"/>
              <a:t>代表正常温度，</a:t>
            </a:r>
            <a:r>
              <a:rPr lang="en-US" altLang="zh-CN" dirty="0"/>
              <a:t>1</a:t>
            </a:r>
            <a:r>
              <a:rPr lang="zh-CN" altLang="en-US" dirty="0"/>
              <a:t>代表高温报警（温度 </a:t>
            </a:r>
            <a:r>
              <a:rPr lang="en-US" altLang="zh-CN" dirty="0"/>
              <a:t>&gt; 30 </a:t>
            </a:r>
            <a:r>
              <a:rPr lang="zh-CN" altLang="en-US" dirty="0"/>
              <a:t>℃））</a:t>
            </a:r>
            <a:endParaRPr lang="en-US" altLang="zh-CN" dirty="0"/>
          </a:p>
          <a:p>
            <a:pPr lvl="1"/>
            <a:r>
              <a:rPr lang="zh-CN" altLang="en-US" dirty="0"/>
              <a:t>服务</a:t>
            </a:r>
            <a:endParaRPr lang="en-US" altLang="zh-CN" dirty="0"/>
          </a:p>
          <a:p>
            <a:pPr lvl="2"/>
            <a:r>
              <a:rPr lang="zh-CN" altLang="en-US" dirty="0"/>
              <a:t>打开空调（</a:t>
            </a:r>
            <a:r>
              <a:rPr lang="en-US" altLang="zh-CN" dirty="0"/>
              <a:t>open</a:t>
            </a:r>
            <a:r>
              <a:rPr lang="zh-CN" altLang="en-US" dirty="0"/>
              <a:t>，返回值为 </a:t>
            </a:r>
            <a:r>
              <a:rPr lang="en-US" altLang="zh-CN" dirty="0"/>
              <a:t>bool </a:t>
            </a:r>
            <a:r>
              <a:rPr lang="zh-CN" altLang="en-US" dirty="0"/>
              <a:t>类型，</a:t>
            </a:r>
            <a:r>
              <a:rPr lang="en-US" altLang="zh-CN" dirty="0"/>
              <a:t>0</a:t>
            </a:r>
            <a:r>
              <a:rPr lang="zh-CN" altLang="en-US" dirty="0"/>
              <a:t>代表打开空调失败，</a:t>
            </a:r>
            <a:r>
              <a:rPr lang="en-US" altLang="zh-CN" dirty="0"/>
              <a:t>1</a:t>
            </a:r>
            <a:r>
              <a:rPr lang="zh-CN" altLang="en-US" dirty="0"/>
              <a:t>代表打开空调成功，服务调用方式为同步调用）</a:t>
            </a:r>
            <a:endParaRPr lang="en-US" altLang="zh-CN" dirty="0"/>
          </a:p>
        </p:txBody>
      </p:sp>
    </p:spTree>
    <p:extLst>
      <p:ext uri="{BB962C8B-B14F-4D97-AF65-F5344CB8AC3E}">
        <p14:creationId xmlns:p14="http://schemas.microsoft.com/office/powerpoint/2010/main" val="3965004711"/>
      </p:ext>
    </p:extLst>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zh-CN" altLang="en-US" dirty="0"/>
              <a:t>物模型示例</a:t>
            </a:r>
          </a:p>
        </p:txBody>
      </p:sp>
      <p:sp>
        <p:nvSpPr>
          <p:cNvPr id="3" name="内容占位符 2"/>
          <p:cNvSpPr>
            <a:spLocks noGrp="1"/>
          </p:cNvSpPr>
          <p:nvPr>
            <p:ph idx="1"/>
          </p:nvPr>
        </p:nvSpPr>
        <p:spPr/>
        <p:txBody>
          <a:bodyPr/>
          <a:lstStyle/>
          <a:p>
            <a:r>
              <a:rPr lang="zh-CN" altLang="en-US"/>
              <a:t>设备属性定义</a:t>
            </a:r>
            <a:endParaRPr lang="en-US" altLang="zh-CN"/>
          </a:p>
          <a:p>
            <a:endParaRPr lang="en-US" altLang="zh-CN" dirty="0"/>
          </a:p>
        </p:txBody>
      </p:sp>
      <p:sp>
        <p:nvSpPr>
          <p:cNvPr id="5" name="矩形 4">
            <a:extLst>
              <a:ext uri="{FF2B5EF4-FFF2-40B4-BE49-F238E27FC236}">
                <a16:creationId xmlns:a16="http://schemas.microsoft.com/office/drawing/2014/main" id="{600FB7F4-7AEA-4850-A30C-6EAA0EA9DEAD}"/>
              </a:ext>
            </a:extLst>
          </p:cNvPr>
          <p:cNvSpPr/>
          <p:nvPr/>
        </p:nvSpPr>
        <p:spPr bwMode="auto">
          <a:xfrm>
            <a:off x="533400" y="1534160"/>
            <a:ext cx="8077200" cy="4948874"/>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"properties": [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“identifier”: “temp”,    // </a:t>
            </a:r>
            <a:r>
              <a:rPr lang="zh-CN" altLang="en-US" dirty="0">
                <a:latin typeface="Courier New" panose="02070309020205020404" pitchFamily="49" charset="0"/>
                <a:cs typeface="Courier New" panose="02070309020205020404" pitchFamily="49" charset="0"/>
              </a:rPr>
              <a:t>属性标识符</a:t>
            </a:r>
            <a:endParaRPr lang="en-US" altLang="zh-CN" dirty="0">
              <a:latin typeface="Courier New" panose="02070309020205020404" pitchFamily="49" charset="0"/>
              <a:cs typeface="Courier New" panose="02070309020205020404" pitchFamily="49" charset="0"/>
            </a:endParaRP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dataType</a:t>
            </a:r>
            <a:r>
              <a:rPr lang="en-US" altLang="zh-CN" dirty="0">
                <a:latin typeface="Courier New" panose="02070309020205020404" pitchFamily="49" charset="0"/>
                <a:cs typeface="Courier New" panose="02070309020205020404" pitchFamily="49" charset="0"/>
              </a:rPr>
              <a:t>":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“specs”: {                // </a:t>
            </a:r>
            <a:r>
              <a:rPr lang="zh-CN" altLang="en-US" dirty="0">
                <a:latin typeface="Courier New" panose="02070309020205020404" pitchFamily="49" charset="0"/>
                <a:cs typeface="Courier New" panose="02070309020205020404" pitchFamily="49" charset="0"/>
              </a:rPr>
              <a:t>属性相关特性定义</a:t>
            </a:r>
            <a:endParaRPr lang="en-US" altLang="zh-CN" dirty="0">
              <a:latin typeface="Courier New" panose="02070309020205020404" pitchFamily="49" charset="0"/>
              <a:cs typeface="Courier New" panose="02070309020205020404" pitchFamily="49" charset="0"/>
            </a:endParaRP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“unit”: “</a:t>
            </a: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"min": "-40",</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"max": "50",</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"step": "0.1"</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“type”: “float“            // </a:t>
            </a:r>
            <a:r>
              <a:rPr lang="zh-CN" altLang="en-US" dirty="0">
                <a:latin typeface="Courier New" panose="02070309020205020404" pitchFamily="49" charset="0"/>
                <a:cs typeface="Courier New" panose="02070309020205020404" pitchFamily="49" charset="0"/>
              </a:rPr>
              <a:t>数据类型</a:t>
            </a:r>
            <a:endParaRPr lang="en-US" altLang="zh-CN" dirty="0">
              <a:latin typeface="Courier New" panose="02070309020205020404" pitchFamily="49" charset="0"/>
              <a:cs typeface="Courier New" panose="02070309020205020404" pitchFamily="49" charset="0"/>
            </a:endParaRP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“name”: “</a:t>
            </a:r>
            <a:r>
              <a:rPr lang="zh-CN" altLang="en-US" dirty="0">
                <a:latin typeface="Courier New" panose="02070309020205020404" pitchFamily="49" charset="0"/>
                <a:cs typeface="Courier New" panose="02070309020205020404" pitchFamily="49" charset="0"/>
              </a:rPr>
              <a:t>温度</a:t>
            </a:r>
            <a:r>
              <a:rPr lang="en-US" altLang="zh-CN" dirty="0">
                <a:latin typeface="Courier New" panose="02070309020205020404" pitchFamily="49" charset="0"/>
                <a:cs typeface="Courier New" panose="02070309020205020404" pitchFamily="49" charset="0"/>
              </a:rPr>
              <a:t>”,           // </a:t>
            </a:r>
            <a:r>
              <a:rPr lang="zh-CN" altLang="en-US" dirty="0">
                <a:latin typeface="Courier New" panose="02070309020205020404" pitchFamily="49" charset="0"/>
                <a:cs typeface="Courier New" panose="02070309020205020404" pitchFamily="49" charset="0"/>
              </a:rPr>
              <a:t>属性名称</a:t>
            </a:r>
            <a:endParaRPr lang="en-US" altLang="zh-CN" dirty="0">
              <a:latin typeface="Courier New" panose="02070309020205020404" pitchFamily="49" charset="0"/>
              <a:cs typeface="Courier New" panose="02070309020205020404" pitchFamily="49" charset="0"/>
            </a:endParaRP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accessMode</a:t>
            </a:r>
            <a:r>
              <a:rPr lang="en-US" altLang="zh-CN" dirty="0">
                <a:latin typeface="Courier New" panose="02070309020205020404" pitchFamily="49" charset="0"/>
                <a:cs typeface="Courier New" panose="02070309020205020404" pitchFamily="49" charset="0"/>
              </a:rPr>
              <a:t>”: “r”,      // </a:t>
            </a:r>
            <a:r>
              <a:rPr lang="zh-CN" altLang="en-US" dirty="0">
                <a:latin typeface="Courier New" panose="02070309020205020404" pitchFamily="49" charset="0"/>
                <a:cs typeface="Courier New" panose="02070309020205020404" pitchFamily="49" charset="0"/>
              </a:rPr>
              <a:t>属性读写类型</a:t>
            </a:r>
            <a:endParaRPr lang="en-US" altLang="zh-CN" dirty="0">
              <a:latin typeface="Courier New" panose="02070309020205020404" pitchFamily="49" charset="0"/>
              <a:cs typeface="Courier New" panose="02070309020205020404" pitchFamily="49" charset="0"/>
            </a:endParaRP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“required”: false          // </a:t>
            </a:r>
            <a:r>
              <a:rPr lang="zh-CN" altLang="en-US" dirty="0">
                <a:latin typeface="Courier New" panose="02070309020205020404" pitchFamily="49" charset="0"/>
                <a:cs typeface="Courier New" panose="02070309020205020404" pitchFamily="49" charset="0"/>
              </a:rPr>
              <a:t>是否是标准功能的必选属性</a:t>
            </a:r>
            <a:endParaRPr lang="en-US" altLang="zh-CN" dirty="0">
              <a:latin typeface="Courier New" panose="02070309020205020404" pitchFamily="49" charset="0"/>
              <a:cs typeface="Courier New" panose="02070309020205020404" pitchFamily="49" charset="0"/>
            </a:endParaRP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  ]</a:t>
            </a:r>
          </a:p>
        </p:txBody>
      </p:sp>
    </p:spTree>
    <p:extLst>
      <p:ext uri="{BB962C8B-B14F-4D97-AF65-F5344CB8AC3E}">
        <p14:creationId xmlns:p14="http://schemas.microsoft.com/office/powerpoint/2010/main" val="1291605466"/>
      </p:ext>
    </p:extLst>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zh-CN" altLang="en-US" dirty="0"/>
              <a:t>物模型示例</a:t>
            </a:r>
          </a:p>
        </p:txBody>
      </p:sp>
      <p:sp>
        <p:nvSpPr>
          <p:cNvPr id="3" name="内容占位符 2"/>
          <p:cNvSpPr>
            <a:spLocks noGrp="1"/>
          </p:cNvSpPr>
          <p:nvPr>
            <p:ph idx="1"/>
          </p:nvPr>
        </p:nvSpPr>
        <p:spPr/>
        <p:txBody>
          <a:bodyPr/>
          <a:lstStyle/>
          <a:p>
            <a:r>
              <a:rPr lang="zh-CN" altLang="en-US" dirty="0"/>
              <a:t>设备事件定义</a:t>
            </a:r>
            <a:endParaRPr lang="en-US" altLang="zh-CN" dirty="0"/>
          </a:p>
          <a:p>
            <a:endParaRPr lang="en-US" altLang="zh-CN" dirty="0"/>
          </a:p>
        </p:txBody>
      </p:sp>
      <p:sp>
        <p:nvSpPr>
          <p:cNvPr id="5" name="矩形 4">
            <a:extLst>
              <a:ext uri="{FF2B5EF4-FFF2-40B4-BE49-F238E27FC236}">
                <a16:creationId xmlns:a16="http://schemas.microsoft.com/office/drawing/2014/main" id="{600FB7F4-7AEA-4850-A30C-6EAA0EA9DEAD}"/>
              </a:ext>
            </a:extLst>
          </p:cNvPr>
          <p:cNvSpPr/>
          <p:nvPr/>
        </p:nvSpPr>
        <p:spPr bwMode="auto">
          <a:xfrm>
            <a:off x="533400" y="1534160"/>
            <a:ext cx="8077200" cy="4948874"/>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"events": [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outputData</a:t>
            </a:r>
            <a:r>
              <a:rPr lang="en-US" altLang="zh-CN" dirty="0">
                <a:latin typeface="Courier New" panose="02070309020205020404" pitchFamily="49" charset="0"/>
                <a:cs typeface="Courier New" panose="02070309020205020404" pitchFamily="49" charset="0"/>
              </a:rPr>
              <a:t>”: [  {                 // </a:t>
            </a:r>
            <a:r>
              <a:rPr lang="zh-CN" altLang="en-US" dirty="0">
                <a:latin typeface="Courier New" panose="02070309020205020404" pitchFamily="49" charset="0"/>
                <a:cs typeface="Courier New" panose="02070309020205020404" pitchFamily="49" charset="0"/>
              </a:rPr>
              <a:t>事件返回参数</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identifier”: “</a:t>
            </a:r>
            <a:r>
              <a:rPr lang="en-US" altLang="zh-CN" dirty="0" err="1">
                <a:latin typeface="Courier New" panose="02070309020205020404" pitchFamily="49" charset="0"/>
                <a:cs typeface="Courier New" panose="02070309020205020404" pitchFamily="49" charset="0"/>
              </a:rPr>
              <a:t>AlarmType</a:t>
            </a:r>
            <a:r>
              <a:rPr lang="en-US" altLang="zh-CN" dirty="0">
                <a:latin typeface="Courier New" panose="02070309020205020404" pitchFamily="49" charset="0"/>
                <a:cs typeface="Courier New" panose="02070309020205020404" pitchFamily="49" charset="0"/>
              </a:rPr>
              <a:t>”,    // </a:t>
            </a:r>
            <a:r>
              <a:rPr lang="zh-CN" altLang="en-US" dirty="0">
                <a:latin typeface="Courier New" panose="02070309020205020404" pitchFamily="49" charset="0"/>
                <a:cs typeface="Courier New" panose="02070309020205020404" pitchFamily="49" charset="0"/>
              </a:rPr>
              <a:t>参数标识符</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a:t>
            </a:r>
            <a:r>
              <a:rPr lang="en-US" altLang="zh-CN" dirty="0" err="1">
                <a:latin typeface="Courier New" panose="02070309020205020404" pitchFamily="49" charset="0"/>
                <a:cs typeface="Courier New" panose="02070309020205020404" pitchFamily="49" charset="0"/>
              </a:rPr>
              <a:t>dataType</a:t>
            </a:r>
            <a:r>
              <a:rPr lang="en-US" altLang="zh-CN" dirty="0">
                <a:latin typeface="Courier New" panose="02070309020205020404" pitchFamily="49" charset="0"/>
                <a:cs typeface="Courier New" panose="02070309020205020404" pitchFamily="49" charset="0"/>
              </a:rPr>
              <a:t>":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"specs": {  "0": "</a:t>
            </a:r>
            <a:r>
              <a:rPr lang="zh-CN" altLang="en-US" dirty="0">
                <a:latin typeface="Courier New" panose="02070309020205020404" pitchFamily="49" charset="0"/>
                <a:cs typeface="Courier New" panose="02070309020205020404" pitchFamily="49" charset="0"/>
              </a:rPr>
              <a:t>恢复正常</a:t>
            </a:r>
            <a:r>
              <a:rPr lang="en-US" altLang="zh-CN" dirty="0">
                <a:latin typeface="Courier New" panose="02070309020205020404" pitchFamily="49" charset="0"/>
                <a:cs typeface="Courier New" panose="02070309020205020404" pitchFamily="49" charset="0"/>
              </a:rPr>
              <a:t>",  "1": "</a:t>
            </a:r>
            <a:r>
              <a:rPr lang="zh-CN" altLang="en-US" dirty="0">
                <a:latin typeface="Courier New" panose="02070309020205020404" pitchFamily="49" charset="0"/>
                <a:cs typeface="Courier New" panose="02070309020205020404" pitchFamily="49" charset="0"/>
              </a:rPr>
              <a:t>高温报警“</a:t>
            </a:r>
            <a:r>
              <a:rPr lang="en-US" altLang="zh-CN"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“type”: “</a:t>
            </a:r>
            <a:r>
              <a:rPr lang="en-US" altLang="zh-CN" dirty="0" err="1">
                <a:latin typeface="Courier New" panose="02070309020205020404" pitchFamily="49" charset="0"/>
                <a:cs typeface="Courier New" panose="02070309020205020404" pitchFamily="49" charset="0"/>
              </a:rPr>
              <a:t>enum</a:t>
            </a:r>
            <a:r>
              <a:rPr lang="en-US" altLang="zh-CN" dirty="0">
                <a:latin typeface="Courier New" panose="02070309020205020404" pitchFamily="49" charset="0"/>
                <a:cs typeface="Courier New" panose="02070309020205020404" pitchFamily="49" charset="0"/>
              </a:rPr>
              <a:t>“               // </a:t>
            </a:r>
            <a:r>
              <a:rPr lang="zh-CN" altLang="en-US" dirty="0">
                <a:latin typeface="Courier New" panose="02070309020205020404" pitchFamily="49" charset="0"/>
                <a:cs typeface="Courier New" panose="02070309020205020404" pitchFamily="49" charset="0"/>
              </a:rPr>
              <a:t>属性类型：枚举</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“name”: “</a:t>
            </a:r>
            <a:r>
              <a:rPr lang="zh-CN" altLang="en-US" dirty="0">
                <a:latin typeface="Courier New" panose="02070309020205020404" pitchFamily="49" charset="0"/>
                <a:cs typeface="Courier New" panose="02070309020205020404" pitchFamily="49" charset="0"/>
              </a:rPr>
              <a:t>报警类型“              </a:t>
            </a:r>
            <a:r>
              <a:rPr lang="en-US" altLang="zh-CN" dirty="0">
                <a:latin typeface="Courier New" panose="02070309020205020404" pitchFamily="49" charset="0"/>
                <a:cs typeface="Courier New" panose="02070309020205020404" pitchFamily="49" charset="0"/>
              </a:rPr>
              <a:t>// </a:t>
            </a:r>
            <a:r>
              <a:rPr lang="zh-CN" altLang="en-US" dirty="0">
                <a:latin typeface="Courier New" panose="02070309020205020404" pitchFamily="49" charset="0"/>
                <a:cs typeface="Courier New" panose="02070309020205020404" pitchFamily="49" charset="0"/>
              </a:rPr>
              <a:t>参数名称</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“identifier”: “</a:t>
            </a:r>
            <a:r>
              <a:rPr lang="en-US" altLang="zh-CN" dirty="0" err="1">
                <a:latin typeface="Courier New" panose="02070309020205020404" pitchFamily="49" charset="0"/>
                <a:cs typeface="Courier New" panose="02070309020205020404" pitchFamily="49" charset="0"/>
              </a:rPr>
              <a:t>TemperatureAlarm</a:t>
            </a:r>
            <a:r>
              <a:rPr lang="en-US" altLang="zh-CN" dirty="0">
                <a:latin typeface="Courier New" panose="02070309020205020404" pitchFamily="49" charset="0"/>
                <a:cs typeface="Courier New" panose="02070309020205020404" pitchFamily="49" charset="0"/>
              </a:rPr>
              <a:t>”,  // </a:t>
            </a:r>
            <a:r>
              <a:rPr lang="zh-CN" altLang="en-US" dirty="0">
                <a:latin typeface="Courier New" panose="02070309020205020404" pitchFamily="49" charset="0"/>
                <a:cs typeface="Courier New" panose="02070309020205020404" pitchFamily="49" charset="0"/>
              </a:rPr>
              <a:t>事件标识符</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method”: “</a:t>
            </a:r>
            <a:r>
              <a:rPr lang="en-US" altLang="zh-CN" dirty="0" err="1">
                <a:latin typeface="Courier New" panose="02070309020205020404" pitchFamily="49" charset="0"/>
                <a:cs typeface="Courier New" panose="02070309020205020404" pitchFamily="49" charset="0"/>
              </a:rPr>
              <a:t>thing.event.TemperatureAlarm.post</a:t>
            </a:r>
            <a:r>
              <a:rPr lang="en-US" altLang="zh-CN" dirty="0">
                <a:latin typeface="Courier New" panose="02070309020205020404" pitchFamily="49" charset="0"/>
                <a:cs typeface="Courier New" panose="02070309020205020404" pitchFamily="49" charset="0"/>
              </a:rPr>
              <a:t>”,  //</a:t>
            </a:r>
            <a:r>
              <a:rPr lang="zh-CN" altLang="en-US" dirty="0">
                <a:latin typeface="Courier New" panose="02070309020205020404" pitchFamily="49" charset="0"/>
                <a:cs typeface="Courier New" panose="02070309020205020404" pitchFamily="49" charset="0"/>
              </a:rPr>
              <a:t>事件对应的方法名称 </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name”: “</a:t>
            </a:r>
            <a:r>
              <a:rPr lang="zh-CN" altLang="en-US" dirty="0">
                <a:latin typeface="Courier New" panose="02070309020205020404" pitchFamily="49" charset="0"/>
                <a:cs typeface="Courier New" panose="02070309020205020404" pitchFamily="49" charset="0"/>
              </a:rPr>
              <a:t>温度报警”</a:t>
            </a:r>
            <a:r>
              <a:rPr lang="en-US" altLang="zh-CN" dirty="0">
                <a:latin typeface="Courier New" panose="02070309020205020404" pitchFamily="49" charset="0"/>
                <a:cs typeface="Courier New" panose="02070309020205020404" pitchFamily="49" charset="0"/>
              </a:rPr>
              <a:t>,                // </a:t>
            </a:r>
            <a:r>
              <a:rPr lang="zh-CN" altLang="en-US" dirty="0">
                <a:latin typeface="Courier New" panose="02070309020205020404" pitchFamily="49" charset="0"/>
                <a:cs typeface="Courier New" panose="02070309020205020404" pitchFamily="49" charset="0"/>
              </a:rPr>
              <a:t>事件名称</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type”: “alert”,                  // </a:t>
            </a:r>
            <a:r>
              <a:rPr lang="zh-CN" altLang="en-US" dirty="0">
                <a:latin typeface="Courier New" panose="02070309020205020404" pitchFamily="49" charset="0"/>
                <a:cs typeface="Courier New" panose="02070309020205020404" pitchFamily="49" charset="0"/>
              </a:rPr>
              <a:t>事件类型</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required”: false                 // </a:t>
            </a:r>
            <a:r>
              <a:rPr lang="zh-CN" altLang="en-US" dirty="0">
                <a:latin typeface="Courier New" panose="02070309020205020404" pitchFamily="49" charset="0"/>
                <a:cs typeface="Courier New" panose="02070309020205020404" pitchFamily="49" charset="0"/>
              </a:rPr>
              <a:t>是否是标准功能的必选事件</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4165669413"/>
      </p:ext>
    </p:extLst>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zh-CN" altLang="en-US" dirty="0"/>
              <a:t>物模型示例</a:t>
            </a:r>
          </a:p>
        </p:txBody>
      </p:sp>
      <p:sp>
        <p:nvSpPr>
          <p:cNvPr id="3" name="内容占位符 2"/>
          <p:cNvSpPr>
            <a:spLocks noGrp="1"/>
          </p:cNvSpPr>
          <p:nvPr>
            <p:ph idx="1"/>
          </p:nvPr>
        </p:nvSpPr>
        <p:spPr/>
        <p:txBody>
          <a:bodyPr/>
          <a:lstStyle/>
          <a:p>
            <a:r>
              <a:rPr lang="zh-CN" altLang="en-US"/>
              <a:t>设备服务定义</a:t>
            </a:r>
            <a:endParaRPr lang="en-US" altLang="zh-CN"/>
          </a:p>
          <a:p>
            <a:endParaRPr lang="en-US" altLang="zh-CN" dirty="0"/>
          </a:p>
        </p:txBody>
      </p:sp>
      <p:sp>
        <p:nvSpPr>
          <p:cNvPr id="5" name="矩形 4">
            <a:extLst>
              <a:ext uri="{FF2B5EF4-FFF2-40B4-BE49-F238E27FC236}">
                <a16:creationId xmlns:a16="http://schemas.microsoft.com/office/drawing/2014/main" id="{600FB7F4-7AEA-4850-A30C-6EAA0EA9DEAD}"/>
              </a:ext>
            </a:extLst>
          </p:cNvPr>
          <p:cNvSpPr/>
          <p:nvPr/>
        </p:nvSpPr>
        <p:spPr bwMode="auto">
          <a:xfrm>
            <a:off x="533400" y="1534160"/>
            <a:ext cx="8077200" cy="4948874"/>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"services": [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outputData</a:t>
            </a:r>
            <a:r>
              <a:rPr lang="en-US" altLang="zh-CN" dirty="0">
                <a:latin typeface="Courier New" panose="02070309020205020404" pitchFamily="49" charset="0"/>
                <a:cs typeface="Courier New" panose="02070309020205020404" pitchFamily="49" charset="0"/>
              </a:rPr>
              <a:t>”: [  {                       // </a:t>
            </a:r>
            <a:r>
              <a:rPr lang="zh-CN" altLang="en-US" dirty="0">
                <a:latin typeface="Courier New" panose="02070309020205020404" pitchFamily="49" charset="0"/>
                <a:cs typeface="Courier New" panose="02070309020205020404" pitchFamily="49" charset="0"/>
              </a:rPr>
              <a:t>服务返回参数</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identifier”: “</a:t>
            </a:r>
            <a:r>
              <a:rPr lang="en-US" altLang="zh-CN" dirty="0" err="1">
                <a:latin typeface="Courier New" panose="02070309020205020404" pitchFamily="49" charset="0"/>
                <a:cs typeface="Courier New" panose="02070309020205020404" pitchFamily="49" charset="0"/>
              </a:rPr>
              <a:t>successOrNot</a:t>
            </a:r>
            <a:r>
              <a:rPr lang="en-US" altLang="zh-CN" dirty="0">
                <a:latin typeface="Courier New" panose="02070309020205020404" pitchFamily="49" charset="0"/>
                <a:cs typeface="Courier New" panose="02070309020205020404" pitchFamily="49" charset="0"/>
              </a:rPr>
              <a:t>”,        // </a:t>
            </a:r>
            <a:r>
              <a:rPr lang="zh-CN" altLang="en-US" dirty="0">
                <a:latin typeface="Courier New" panose="02070309020205020404" pitchFamily="49" charset="0"/>
                <a:cs typeface="Courier New" panose="02070309020205020404" pitchFamily="49" charset="0"/>
              </a:rPr>
              <a:t>参数标识符</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dataType</a:t>
            </a:r>
            <a:r>
              <a:rPr lang="en-US" altLang="zh-CN" dirty="0">
                <a:latin typeface="Courier New" panose="02070309020205020404" pitchFamily="49" charset="0"/>
                <a:cs typeface="Courier New" panose="02070309020205020404" pitchFamily="49" charset="0"/>
              </a:rPr>
              <a:t>”: {                        // </a:t>
            </a:r>
            <a:r>
              <a:rPr lang="zh-CN" altLang="en-US" dirty="0">
                <a:latin typeface="Courier New" panose="02070309020205020404" pitchFamily="49" charset="0"/>
                <a:cs typeface="Courier New" panose="02070309020205020404" pitchFamily="49" charset="0"/>
              </a:rPr>
              <a:t>参数类型</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"specs": {  "0": "</a:t>
            </a:r>
            <a:r>
              <a:rPr lang="zh-CN" altLang="en-US" dirty="0">
                <a:latin typeface="Courier New" panose="02070309020205020404" pitchFamily="49" charset="0"/>
                <a:cs typeface="Courier New" panose="02070309020205020404" pitchFamily="49" charset="0"/>
              </a:rPr>
              <a:t>失败</a:t>
            </a:r>
            <a:r>
              <a:rPr lang="en-US" altLang="zh-CN" dirty="0">
                <a:latin typeface="Courier New" panose="02070309020205020404" pitchFamily="49" charset="0"/>
                <a:cs typeface="Courier New" panose="02070309020205020404" pitchFamily="49" charset="0"/>
              </a:rPr>
              <a:t>",  "1": "</a:t>
            </a:r>
            <a:r>
              <a:rPr lang="zh-CN" altLang="en-US" dirty="0">
                <a:latin typeface="Courier New" panose="02070309020205020404" pitchFamily="49" charset="0"/>
                <a:cs typeface="Courier New" panose="02070309020205020404" pitchFamily="49" charset="0"/>
              </a:rPr>
              <a:t>成功</a:t>
            </a:r>
            <a:r>
              <a:rPr lang="en-US" altLang="zh-CN" dirty="0">
                <a:latin typeface="Courier New" panose="02070309020205020404" pitchFamily="49" charset="0"/>
                <a:cs typeface="Courier New" panose="02070309020205020404" pitchFamily="49" charset="0"/>
              </a:rPr>
              <a:t>"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"type": "bool"</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“name”: “</a:t>
            </a:r>
            <a:r>
              <a:rPr lang="zh-CN" altLang="en-US" dirty="0">
                <a:latin typeface="Courier New" panose="02070309020205020404" pitchFamily="49" charset="0"/>
                <a:cs typeface="Courier New" panose="02070309020205020404" pitchFamily="49" charset="0"/>
              </a:rPr>
              <a:t>打开空调是否成功“            </a:t>
            </a:r>
            <a:r>
              <a:rPr lang="en-US" altLang="zh-CN" dirty="0">
                <a:latin typeface="Courier New" panose="02070309020205020404" pitchFamily="49" charset="0"/>
                <a:cs typeface="Courier New" panose="02070309020205020404" pitchFamily="49" charset="0"/>
              </a:rPr>
              <a:t>// </a:t>
            </a:r>
            <a:r>
              <a:rPr lang="zh-CN" altLang="en-US" dirty="0">
                <a:latin typeface="Courier New" panose="02070309020205020404" pitchFamily="49" charset="0"/>
                <a:cs typeface="Courier New" panose="02070309020205020404" pitchFamily="49" charset="0"/>
              </a:rPr>
              <a:t>参数名称</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 ],</a:t>
            </a:r>
          </a:p>
          <a:p>
            <a:pPr>
              <a:lnSpc>
                <a:spcPct val="120000"/>
              </a:lnSpc>
              <a:spcBef>
                <a:spcPts val="0"/>
              </a:spcBef>
              <a:buClr>
                <a:schemeClr val="bg1"/>
              </a:buClr>
              <a:buSzPct val="100000"/>
            </a:pPr>
            <a:r>
              <a:rPr lang="en-US" altLang="zh-CN" dirty="0">
                <a:latin typeface="Courier New" panose="02070309020205020404" pitchFamily="49" charset="0"/>
                <a:cs typeface="Courier New" panose="02070309020205020404" pitchFamily="49" charset="0"/>
              </a:rPr>
              <a:t>      “identifier”: “open”,                   // </a:t>
            </a:r>
            <a:r>
              <a:rPr lang="zh-CN" altLang="en-US" dirty="0">
                <a:latin typeface="Courier New" panose="02070309020205020404" pitchFamily="49" charset="0"/>
                <a:cs typeface="Courier New" panose="02070309020205020404" pitchFamily="49" charset="0"/>
              </a:rPr>
              <a:t>服务标识符</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inputData</a:t>
            </a:r>
            <a:r>
              <a:rPr lang="en-US" altLang="zh-CN" dirty="0">
                <a:latin typeface="Courier New" panose="02070309020205020404" pitchFamily="49" charset="0"/>
                <a:cs typeface="Courier New" panose="02070309020205020404" pitchFamily="49" charset="0"/>
              </a:rPr>
              <a:t>”: [],                       // </a:t>
            </a:r>
            <a:r>
              <a:rPr lang="zh-CN" altLang="en-US" dirty="0">
                <a:latin typeface="Courier New" panose="02070309020205020404" pitchFamily="49" charset="0"/>
                <a:cs typeface="Courier New" panose="02070309020205020404" pitchFamily="49" charset="0"/>
              </a:rPr>
              <a:t>入参（此例无入参）</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method”: “</a:t>
            </a:r>
            <a:r>
              <a:rPr lang="en-US" altLang="zh-CN" dirty="0" err="1">
                <a:latin typeface="Courier New" panose="02070309020205020404" pitchFamily="49" charset="0"/>
                <a:cs typeface="Courier New" panose="02070309020205020404" pitchFamily="49" charset="0"/>
              </a:rPr>
              <a:t>thing.service.open</a:t>
            </a:r>
            <a:r>
              <a:rPr lang="en-US" altLang="zh-CN" dirty="0">
                <a:latin typeface="Courier New" panose="02070309020205020404" pitchFamily="49" charset="0"/>
                <a:cs typeface="Courier New" panose="02070309020205020404" pitchFamily="49" charset="0"/>
              </a:rPr>
              <a:t>”,        // </a:t>
            </a:r>
            <a:r>
              <a:rPr lang="zh-CN" altLang="en-US" dirty="0">
                <a:latin typeface="Courier New" panose="02070309020205020404" pitchFamily="49" charset="0"/>
                <a:cs typeface="Courier New" panose="02070309020205020404" pitchFamily="49" charset="0"/>
              </a:rPr>
              <a:t>服务对应的方法名称</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name”: “</a:t>
            </a:r>
            <a:r>
              <a:rPr lang="zh-CN" altLang="en-US" dirty="0">
                <a:latin typeface="Courier New" panose="02070309020205020404" pitchFamily="49" charset="0"/>
                <a:cs typeface="Courier New" panose="02070309020205020404" pitchFamily="49" charset="0"/>
              </a:rPr>
              <a:t>打开空调”</a:t>
            </a:r>
            <a:r>
              <a:rPr lang="en-US" altLang="zh-CN" dirty="0">
                <a:latin typeface="Courier New" panose="02070309020205020404" pitchFamily="49" charset="0"/>
                <a:cs typeface="Courier New" panose="02070309020205020404" pitchFamily="49" charset="0"/>
              </a:rPr>
              <a:t>,                     // </a:t>
            </a:r>
            <a:r>
              <a:rPr lang="zh-CN" altLang="en-US" dirty="0">
                <a:latin typeface="Courier New" panose="02070309020205020404" pitchFamily="49" charset="0"/>
                <a:cs typeface="Courier New" panose="02070309020205020404" pitchFamily="49" charset="0"/>
              </a:rPr>
              <a:t>服务名称</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required”: false,               // </a:t>
            </a:r>
            <a:r>
              <a:rPr lang="zh-CN" altLang="en-US" dirty="0">
                <a:latin typeface="Courier New" panose="02070309020205020404" pitchFamily="49" charset="0"/>
                <a:cs typeface="Courier New" panose="02070309020205020404" pitchFamily="49" charset="0"/>
              </a:rPr>
              <a:t>是否是标准功能的必选服务</a:t>
            </a:r>
          </a:p>
          <a:p>
            <a:pPr>
              <a:lnSpc>
                <a:spcPct val="120000"/>
              </a:lnSpc>
              <a:spcBef>
                <a:spcPts val="0"/>
              </a:spcBef>
              <a:buClr>
                <a:schemeClr val="bg1"/>
              </a:buClr>
              <a:buSzPct val="100000"/>
            </a:pPr>
            <a:r>
              <a:rPr lang="zh-CN" altLang="en-US"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callType</a:t>
            </a:r>
            <a:r>
              <a:rPr lang="en-US" altLang="zh-CN" dirty="0">
                <a:latin typeface="Courier New" panose="02070309020205020404" pitchFamily="49" charset="0"/>
                <a:cs typeface="Courier New" panose="02070309020205020404" pitchFamily="49" charset="0"/>
              </a:rPr>
              <a:t>”: “sync”} ]            // </a:t>
            </a:r>
            <a:r>
              <a:rPr lang="zh-CN" altLang="en-US" dirty="0">
                <a:latin typeface="Courier New" panose="02070309020205020404" pitchFamily="49" charset="0"/>
                <a:cs typeface="Courier New" panose="02070309020205020404" pitchFamily="49" charset="0"/>
              </a:rPr>
              <a:t>服务调用方式，此处为同步</a:t>
            </a:r>
          </a:p>
        </p:txBody>
      </p:sp>
    </p:spTree>
    <p:extLst>
      <p:ext uri="{BB962C8B-B14F-4D97-AF65-F5344CB8AC3E}">
        <p14:creationId xmlns:p14="http://schemas.microsoft.com/office/powerpoint/2010/main" val="1642876"/>
      </p:ext>
    </p:extLst>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zh-CN" altLang="en-US"/>
              <a:t>思考题</a:t>
            </a:r>
            <a:endParaRPr lang="zh-CN" altLang="en-US" dirty="0"/>
          </a:p>
        </p:txBody>
      </p:sp>
      <p:sp>
        <p:nvSpPr>
          <p:cNvPr id="3" name="内容占位符 2"/>
          <p:cNvSpPr>
            <a:spLocks noGrp="1"/>
          </p:cNvSpPr>
          <p:nvPr>
            <p:ph idx="1"/>
          </p:nvPr>
        </p:nvSpPr>
        <p:spPr/>
        <p:txBody>
          <a:bodyPr/>
          <a:lstStyle/>
          <a:p>
            <a:r>
              <a:rPr lang="zh-CN" altLang="en-US"/>
              <a:t>现在我们要定义一个空气盒子的物模型，模型具体功能信息如下</a:t>
            </a:r>
            <a:endParaRPr lang="en-US" altLang="zh-CN"/>
          </a:p>
          <a:p>
            <a:pPr lvl="1"/>
            <a:r>
              <a:rPr lang="zh-CN" altLang="en-US"/>
              <a:t>属性：</a:t>
            </a:r>
            <a:endParaRPr lang="en-US" altLang="zh-CN"/>
          </a:p>
          <a:p>
            <a:pPr lvl="2"/>
            <a:r>
              <a:rPr lang="zh-CN" altLang="en-US"/>
              <a:t>温度（</a:t>
            </a:r>
            <a:r>
              <a:rPr lang="en-US" altLang="zh-CN"/>
              <a:t>Temp</a:t>
            </a:r>
            <a:r>
              <a:rPr lang="zh-CN" altLang="en-US"/>
              <a:t>）：</a:t>
            </a:r>
            <a:r>
              <a:rPr lang="en-US" altLang="zh-CN"/>
              <a:t> float</a:t>
            </a:r>
            <a:r>
              <a:rPr lang="zh-CN" altLang="en-US"/>
              <a:t>类型，最小值为</a:t>
            </a:r>
            <a:r>
              <a:rPr lang="en-US" altLang="zh-CN"/>
              <a:t>-40</a:t>
            </a:r>
            <a:r>
              <a:rPr lang="zh-CN" altLang="en-US"/>
              <a:t>，最大值为</a:t>
            </a:r>
            <a:r>
              <a:rPr lang="en-US" altLang="zh-CN"/>
              <a:t>50</a:t>
            </a:r>
            <a:r>
              <a:rPr lang="zh-CN" altLang="en-US"/>
              <a:t>，单位为 ℃，步长</a:t>
            </a:r>
            <a:r>
              <a:rPr lang="en-US" altLang="zh-CN"/>
              <a:t>0.1</a:t>
            </a:r>
            <a:r>
              <a:rPr lang="zh-CN" altLang="en-US"/>
              <a:t>，可读</a:t>
            </a:r>
            <a:endParaRPr lang="en-US" altLang="zh-CN"/>
          </a:p>
          <a:p>
            <a:pPr lvl="2"/>
            <a:r>
              <a:rPr lang="zh-CN" altLang="en-US"/>
              <a:t>湿度（</a:t>
            </a:r>
            <a:r>
              <a:rPr lang="en-US" altLang="zh-CN"/>
              <a:t>Humi</a:t>
            </a:r>
            <a:r>
              <a:rPr lang="zh-CN" altLang="en-US"/>
              <a:t>）：</a:t>
            </a:r>
            <a:r>
              <a:rPr lang="en-US" altLang="zh-CN"/>
              <a:t> float</a:t>
            </a:r>
            <a:r>
              <a:rPr lang="zh-CN" altLang="en-US"/>
              <a:t>类型，最小值为</a:t>
            </a:r>
            <a:r>
              <a:rPr lang="en-US" altLang="zh-CN"/>
              <a:t>0%</a:t>
            </a:r>
            <a:r>
              <a:rPr lang="zh-CN" altLang="en-US"/>
              <a:t>，最大值为</a:t>
            </a:r>
            <a:r>
              <a:rPr lang="en-US" altLang="zh-CN"/>
              <a:t>100%</a:t>
            </a:r>
            <a:r>
              <a:rPr lang="zh-CN" altLang="en-US"/>
              <a:t>，单位为</a:t>
            </a:r>
            <a:r>
              <a:rPr lang="en-US" altLang="zh-CN"/>
              <a:t>%</a:t>
            </a:r>
            <a:r>
              <a:rPr lang="zh-CN" altLang="en-US"/>
              <a:t>，步长</a:t>
            </a:r>
            <a:r>
              <a:rPr lang="en-US" altLang="zh-CN"/>
              <a:t>0.1</a:t>
            </a:r>
            <a:r>
              <a:rPr lang="zh-CN" altLang="en-US"/>
              <a:t>， 可读</a:t>
            </a:r>
            <a:endParaRPr lang="en-US" altLang="zh-CN"/>
          </a:p>
          <a:p>
            <a:pPr lvl="1"/>
            <a:r>
              <a:rPr lang="zh-CN" altLang="en-US"/>
              <a:t>事件：</a:t>
            </a:r>
            <a:endParaRPr lang="en-US" altLang="zh-CN"/>
          </a:p>
          <a:p>
            <a:pPr lvl="2"/>
            <a:r>
              <a:rPr lang="zh-CN" altLang="en-US"/>
              <a:t>属性数据上报事件（</a:t>
            </a:r>
            <a:r>
              <a:rPr lang="en-US" altLang="zh-CN"/>
              <a:t>PropPost</a:t>
            </a:r>
            <a:r>
              <a:rPr lang="zh-CN" altLang="en-US"/>
              <a:t>）：输出参数包含上述两个属性的值，事件对应的方法名称为“</a:t>
            </a:r>
            <a:r>
              <a:rPr lang="en-US" altLang="zh-CN"/>
              <a:t>thing.event.prop.post</a:t>
            </a:r>
            <a:r>
              <a:rPr lang="zh-CN" altLang="en-US"/>
              <a:t>”，其余参数自定义即可</a:t>
            </a:r>
            <a:endParaRPr lang="en-US" altLang="zh-CN" dirty="0"/>
          </a:p>
        </p:txBody>
      </p:sp>
      <p:sp>
        <p:nvSpPr>
          <p:cNvPr id="4" name="内容占位符 2"/>
          <p:cNvSpPr txBox="1">
            <a:spLocks/>
          </p:cNvSpPr>
          <p:nvPr/>
        </p:nvSpPr>
        <p:spPr bwMode="auto">
          <a:xfrm>
            <a:off x="609600" y="1143000"/>
            <a:ext cx="8305800" cy="5410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2"/>
              </a:buClr>
              <a:buFont typeface="Wingdings" pitchFamily="2" charset="2"/>
              <a:buChar char="q"/>
              <a:defRPr lang="zh-CN" altLang="en-US" sz="2400" b="1" baseline="0" dirty="0" smtClean="0">
                <a:solidFill>
                  <a:schemeClr val="tx1"/>
                </a:solidFill>
                <a:latin typeface="微软雅黑" pitchFamily="34" charset="-122"/>
                <a:ea typeface="微软雅黑" pitchFamily="34" charset="-122"/>
                <a:cs typeface="+mn-cs"/>
              </a:defRPr>
            </a:lvl1pPr>
            <a:lvl2pPr marL="742950" indent="-285750" algn="l" rtl="0" eaLnBrk="0" fontAlgn="base" hangingPunct="0">
              <a:spcBef>
                <a:spcPct val="20000"/>
              </a:spcBef>
              <a:spcAft>
                <a:spcPct val="0"/>
              </a:spcAft>
              <a:buClr>
                <a:schemeClr val="accent2"/>
              </a:buClr>
              <a:buFont typeface="Wingdings" pitchFamily="2" charset="2"/>
              <a:buChar char="Ø"/>
              <a:defRPr sz="2400" b="1" baseline="0">
                <a:solidFill>
                  <a:srgbClr val="000066"/>
                </a:solidFill>
                <a:effectLst>
                  <a:outerShdw blurRad="38100" dist="38100" dir="2700000" algn="tl">
                    <a:srgbClr val="C0C0C0"/>
                  </a:outerShdw>
                </a:effectLst>
                <a:latin typeface="Garamond" pitchFamily="18" charset="0"/>
              </a:defRPr>
            </a:lvl2pPr>
            <a:lvl3pPr marL="1143000" indent="-228600" algn="l" rtl="0" eaLnBrk="0" fontAlgn="base" hangingPunct="0">
              <a:spcBef>
                <a:spcPct val="20000"/>
              </a:spcBef>
              <a:spcAft>
                <a:spcPct val="0"/>
              </a:spcAft>
              <a:buClr>
                <a:schemeClr val="accent2"/>
              </a:buClr>
              <a:buFont typeface="Times New Roman" pitchFamily="18" charset="0"/>
              <a:buChar char="–"/>
              <a:defRPr sz="2000" b="1" i="1" baseline="0">
                <a:solidFill>
                  <a:srgbClr val="5F5F5F"/>
                </a:solidFill>
                <a:latin typeface="Times New Roman" pitchFamily="18" charset="0"/>
              </a:defRPr>
            </a:lvl3pPr>
            <a:lvl4pPr marL="1600200" indent="-228600" algn="l" rtl="0" eaLnBrk="0" fontAlgn="base" hangingPunct="0">
              <a:spcBef>
                <a:spcPct val="20000"/>
              </a:spcBef>
              <a:spcAft>
                <a:spcPct val="0"/>
              </a:spcAft>
              <a:buClr>
                <a:schemeClr val="accent2"/>
              </a:buClr>
              <a:buSzPct val="100000"/>
              <a:buChar char="o"/>
              <a:defRPr sz="2000" baseline="0">
                <a:solidFill>
                  <a:srgbClr val="FF0000"/>
                </a:solidFill>
                <a:latin typeface="+mn-lt"/>
              </a:defRPr>
            </a:lvl4pPr>
            <a:lvl5pPr marL="2057400" indent="-228600" algn="l" rtl="0" eaLnBrk="0" fontAlgn="base" hangingPunct="0">
              <a:spcBef>
                <a:spcPct val="20000"/>
              </a:spcBef>
              <a:spcAft>
                <a:spcPct val="0"/>
              </a:spcAft>
              <a:buClr>
                <a:schemeClr val="accent2"/>
              </a:buClr>
              <a:buSzPct val="100000"/>
              <a:buFont typeface="Wingdings" pitchFamily="2" charset="2"/>
              <a:buChar char="ü"/>
              <a:defRPr sz="1600" b="1" i="1" baseline="0">
                <a:solidFill>
                  <a:srgbClr val="660066"/>
                </a:solidFill>
                <a:latin typeface="+mn-lt"/>
              </a:defRPr>
            </a:lvl5pPr>
            <a:lvl6pPr marL="25146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9pPr>
          </a:lstStyle>
          <a:p>
            <a:pPr marL="0" indent="0">
              <a:buNone/>
            </a:pPr>
            <a:endParaRPr lang="zh-CN" altLang="en-US" sz="1600" b="0" kern="0" dirty="0"/>
          </a:p>
        </p:txBody>
      </p:sp>
    </p:spTree>
    <p:extLst>
      <p:ext uri="{BB962C8B-B14F-4D97-AF65-F5344CB8AC3E}">
        <p14:creationId xmlns:p14="http://schemas.microsoft.com/office/powerpoint/2010/main" val="3734915899"/>
      </p:ext>
    </p:extLst>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zh-CN" altLang="en-US"/>
              <a:t>物模型的使用</a:t>
            </a:r>
            <a:r>
              <a:rPr lang="en-US" altLang="zh-CN"/>
              <a:t>(</a:t>
            </a:r>
            <a:r>
              <a:rPr lang="zh-CN" altLang="en-US"/>
              <a:t>以智能空调为例</a:t>
            </a:r>
            <a:r>
              <a:rPr lang="en-US" altLang="zh-CN"/>
              <a:t>)</a:t>
            </a:r>
            <a:endParaRPr lang="zh-CN" altLang="en-US" dirty="0"/>
          </a:p>
        </p:txBody>
      </p:sp>
      <p:sp>
        <p:nvSpPr>
          <p:cNvPr id="3" name="内容占位符 2"/>
          <p:cNvSpPr>
            <a:spLocks noGrp="1"/>
          </p:cNvSpPr>
          <p:nvPr>
            <p:ph idx="1"/>
          </p:nvPr>
        </p:nvSpPr>
        <p:spPr/>
        <p:txBody>
          <a:bodyPr/>
          <a:lstStyle/>
          <a:p>
            <a:r>
              <a:rPr lang="zh-CN" altLang="en-US"/>
              <a:t>设备属性上报</a:t>
            </a:r>
            <a:endParaRPr lang="en-US" altLang="zh-CN"/>
          </a:p>
          <a:p>
            <a:pPr lvl="1"/>
            <a:r>
              <a:rPr lang="en-US" altLang="zh-CN"/>
              <a:t>Topic</a:t>
            </a:r>
            <a:r>
              <a:rPr lang="zh-CN" altLang="en-US"/>
              <a:t>：</a:t>
            </a:r>
            <a:r>
              <a:rPr lang="en-US" altLang="zh-CN"/>
              <a:t>/sys/{ProductKey}/{deviceName}/thing/event/property/post</a:t>
            </a:r>
          </a:p>
          <a:p>
            <a:pPr lvl="1"/>
            <a:r>
              <a:rPr lang="zh-CN" altLang="en-US"/>
              <a:t>数据格式</a:t>
            </a:r>
            <a:endParaRPr lang="en-US" altLang="zh-CN"/>
          </a:p>
          <a:p>
            <a:endParaRPr lang="en-US" altLang="zh-CN" dirty="0"/>
          </a:p>
        </p:txBody>
      </p:sp>
      <p:sp>
        <p:nvSpPr>
          <p:cNvPr id="4" name="内容占位符 2"/>
          <p:cNvSpPr txBox="1">
            <a:spLocks/>
          </p:cNvSpPr>
          <p:nvPr/>
        </p:nvSpPr>
        <p:spPr bwMode="auto">
          <a:xfrm>
            <a:off x="609600" y="1143000"/>
            <a:ext cx="8305800" cy="5410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2"/>
              </a:buClr>
              <a:buFont typeface="Wingdings" pitchFamily="2" charset="2"/>
              <a:buChar char="q"/>
              <a:defRPr lang="zh-CN" altLang="en-US" sz="2400" b="1" baseline="0" dirty="0" smtClean="0">
                <a:solidFill>
                  <a:schemeClr val="tx1"/>
                </a:solidFill>
                <a:latin typeface="微软雅黑" pitchFamily="34" charset="-122"/>
                <a:ea typeface="微软雅黑" pitchFamily="34" charset="-122"/>
                <a:cs typeface="+mn-cs"/>
              </a:defRPr>
            </a:lvl1pPr>
            <a:lvl2pPr marL="742950" indent="-285750" algn="l" rtl="0" eaLnBrk="0" fontAlgn="base" hangingPunct="0">
              <a:spcBef>
                <a:spcPct val="20000"/>
              </a:spcBef>
              <a:spcAft>
                <a:spcPct val="0"/>
              </a:spcAft>
              <a:buClr>
                <a:schemeClr val="accent2"/>
              </a:buClr>
              <a:buFont typeface="Wingdings" pitchFamily="2" charset="2"/>
              <a:buChar char="Ø"/>
              <a:defRPr sz="2400" b="1" baseline="0">
                <a:solidFill>
                  <a:srgbClr val="000066"/>
                </a:solidFill>
                <a:effectLst>
                  <a:outerShdw blurRad="38100" dist="38100" dir="2700000" algn="tl">
                    <a:srgbClr val="C0C0C0"/>
                  </a:outerShdw>
                </a:effectLst>
                <a:latin typeface="Garamond" pitchFamily="18" charset="0"/>
              </a:defRPr>
            </a:lvl2pPr>
            <a:lvl3pPr marL="1143000" indent="-228600" algn="l" rtl="0" eaLnBrk="0" fontAlgn="base" hangingPunct="0">
              <a:spcBef>
                <a:spcPct val="20000"/>
              </a:spcBef>
              <a:spcAft>
                <a:spcPct val="0"/>
              </a:spcAft>
              <a:buClr>
                <a:schemeClr val="accent2"/>
              </a:buClr>
              <a:buFont typeface="Times New Roman" pitchFamily="18" charset="0"/>
              <a:buChar char="–"/>
              <a:defRPr sz="2000" b="1" i="1" baseline="0">
                <a:solidFill>
                  <a:srgbClr val="5F5F5F"/>
                </a:solidFill>
                <a:latin typeface="Times New Roman" pitchFamily="18" charset="0"/>
              </a:defRPr>
            </a:lvl3pPr>
            <a:lvl4pPr marL="1600200" indent="-228600" algn="l" rtl="0" eaLnBrk="0" fontAlgn="base" hangingPunct="0">
              <a:spcBef>
                <a:spcPct val="20000"/>
              </a:spcBef>
              <a:spcAft>
                <a:spcPct val="0"/>
              </a:spcAft>
              <a:buClr>
                <a:schemeClr val="accent2"/>
              </a:buClr>
              <a:buSzPct val="100000"/>
              <a:buChar char="o"/>
              <a:defRPr sz="2000" baseline="0">
                <a:solidFill>
                  <a:srgbClr val="FF0000"/>
                </a:solidFill>
                <a:latin typeface="+mn-lt"/>
              </a:defRPr>
            </a:lvl4pPr>
            <a:lvl5pPr marL="2057400" indent="-228600" algn="l" rtl="0" eaLnBrk="0" fontAlgn="base" hangingPunct="0">
              <a:spcBef>
                <a:spcPct val="20000"/>
              </a:spcBef>
              <a:spcAft>
                <a:spcPct val="0"/>
              </a:spcAft>
              <a:buClr>
                <a:schemeClr val="accent2"/>
              </a:buClr>
              <a:buSzPct val="100000"/>
              <a:buFont typeface="Wingdings" pitchFamily="2" charset="2"/>
              <a:buChar char="ü"/>
              <a:defRPr sz="1600" b="1" i="1" baseline="0">
                <a:solidFill>
                  <a:srgbClr val="660066"/>
                </a:solidFill>
                <a:latin typeface="+mn-lt"/>
              </a:defRPr>
            </a:lvl5pPr>
            <a:lvl6pPr marL="25146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9pPr>
          </a:lstStyle>
          <a:p>
            <a:pPr marL="0" indent="0">
              <a:buNone/>
            </a:pPr>
            <a:endParaRPr lang="zh-CN" altLang="en-US" sz="1600" b="0" kern="0" dirty="0"/>
          </a:p>
        </p:txBody>
      </p:sp>
      <p:sp>
        <p:nvSpPr>
          <p:cNvPr id="6" name="矩形 5">
            <a:extLst>
              <a:ext uri="{FF2B5EF4-FFF2-40B4-BE49-F238E27FC236}">
                <a16:creationId xmlns:a16="http://schemas.microsoft.com/office/drawing/2014/main" id="{600FB7F4-7AEA-4850-A30C-6EAA0EA9DEAD}"/>
              </a:ext>
            </a:extLst>
          </p:cNvPr>
          <p:cNvSpPr/>
          <p:nvPr/>
        </p:nvSpPr>
        <p:spPr bwMode="auto">
          <a:xfrm>
            <a:off x="1274193" y="2751149"/>
            <a:ext cx="6481313" cy="2815638"/>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spcBef>
                <a:spcPts val="600"/>
              </a:spcBef>
              <a:buClr>
                <a:schemeClr val="bg1"/>
              </a:buClr>
              <a:buSzPct val="100000"/>
            </a:pPr>
            <a:r>
              <a:rPr lang="en-US" altLang="zh-CN" dirty="0">
                <a:latin typeface="Courier New" panose="02070309020205020404" pitchFamily="49" charset="0"/>
                <a:cs typeface="Courier New" panose="02070309020205020404" pitchFamily="49" charset="0"/>
              </a:rPr>
              <a:t>{</a:t>
            </a:r>
          </a:p>
          <a:p>
            <a:pPr>
              <a:spcBef>
                <a:spcPts val="600"/>
              </a:spcBef>
              <a:buClr>
                <a:schemeClr val="bg1"/>
              </a:buClr>
              <a:buSzPct val="100000"/>
            </a:pPr>
            <a:r>
              <a:rPr lang="en-US" altLang="zh-CN" dirty="0">
                <a:latin typeface="Courier New" panose="02070309020205020404" pitchFamily="49" charset="0"/>
                <a:cs typeface="Courier New" panose="02070309020205020404" pitchFamily="49" charset="0"/>
              </a:rPr>
              <a:t>  "id": "123",</a:t>
            </a:r>
          </a:p>
          <a:p>
            <a:pPr>
              <a:spcBef>
                <a:spcPts val="600"/>
              </a:spcBef>
              <a:buClr>
                <a:schemeClr val="bg1"/>
              </a:buClr>
              <a:buSzPct val="100000"/>
            </a:pPr>
            <a:r>
              <a:rPr lang="en-US" altLang="zh-CN" dirty="0">
                <a:latin typeface="Courier New" panose="02070309020205020404" pitchFamily="49" charset="0"/>
                <a:cs typeface="Courier New" panose="02070309020205020404" pitchFamily="49" charset="0"/>
              </a:rPr>
              <a:t>  "version": "1.0",</a:t>
            </a:r>
          </a:p>
          <a:p>
            <a:pPr>
              <a:spcBef>
                <a:spcPts val="600"/>
              </a:spcBef>
              <a:buClr>
                <a:schemeClr val="bg1"/>
              </a:buClr>
              <a:buSzPct val="100000"/>
            </a:pP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params</a:t>
            </a:r>
            <a:r>
              <a:rPr lang="en-US" altLang="zh-CN" dirty="0">
                <a:latin typeface="Courier New" panose="02070309020205020404" pitchFamily="49" charset="0"/>
                <a:cs typeface="Courier New" panose="02070309020205020404" pitchFamily="49" charset="0"/>
              </a:rPr>
              <a:t>": {</a:t>
            </a:r>
          </a:p>
          <a:p>
            <a:pPr>
              <a:spcBef>
                <a:spcPts val="600"/>
              </a:spcBef>
              <a:buClr>
                <a:schemeClr val="bg1"/>
              </a:buClr>
              <a:buSzPct val="100000"/>
            </a:pPr>
            <a:r>
              <a:rPr lang="en-US" altLang="zh-CN" dirty="0">
                <a:latin typeface="Courier New" panose="02070309020205020404" pitchFamily="49" charset="0"/>
                <a:cs typeface="Courier New" panose="02070309020205020404" pitchFamily="49" charset="0"/>
              </a:rPr>
              <a:t>        “temp”:30,</a:t>
            </a:r>
          </a:p>
          <a:p>
            <a:pPr>
              <a:spcBef>
                <a:spcPts val="600"/>
              </a:spcBef>
              <a:buClr>
                <a:schemeClr val="bg1"/>
              </a:buClr>
              <a:buSzPct val="100000"/>
            </a:pPr>
            <a:r>
              <a:rPr lang="en-US" altLang="zh-CN" dirty="0">
                <a:latin typeface="Courier New" panose="02070309020205020404" pitchFamily="49" charset="0"/>
                <a:cs typeface="Courier New" panose="02070309020205020404" pitchFamily="49" charset="0"/>
              </a:rPr>
              <a:t>  },</a:t>
            </a:r>
          </a:p>
          <a:p>
            <a:pPr>
              <a:spcBef>
                <a:spcPts val="600"/>
              </a:spcBef>
              <a:buClr>
                <a:schemeClr val="bg1"/>
              </a:buClr>
              <a:buSzPct val="100000"/>
            </a:pPr>
            <a:r>
              <a:rPr lang="en-US" altLang="zh-CN" dirty="0">
                <a:latin typeface="Courier New" panose="02070309020205020404" pitchFamily="49" charset="0"/>
                <a:cs typeface="Courier New" panose="02070309020205020404" pitchFamily="49" charset="0"/>
              </a:rPr>
              <a:t>  "method": "</a:t>
            </a:r>
            <a:r>
              <a:rPr lang="en-US" altLang="zh-CN" dirty="0" err="1">
                <a:latin typeface="Courier New" panose="02070309020205020404" pitchFamily="49" charset="0"/>
                <a:cs typeface="Courier New" panose="02070309020205020404" pitchFamily="49" charset="0"/>
              </a:rPr>
              <a:t>thing.event.property.post</a:t>
            </a:r>
            <a:r>
              <a:rPr lang="en-US" altLang="zh-CN" dirty="0">
                <a:latin typeface="Courier New" panose="02070309020205020404" pitchFamily="49" charset="0"/>
                <a:cs typeface="Courier New" panose="02070309020205020404" pitchFamily="49" charset="0"/>
              </a:rPr>
              <a:t>"</a:t>
            </a:r>
          </a:p>
          <a:p>
            <a:pPr>
              <a:spcBef>
                <a:spcPts val="600"/>
              </a:spcBef>
              <a:buClr>
                <a:schemeClr val="bg1"/>
              </a:buClr>
              <a:buSzPct val="100000"/>
            </a:pPr>
            <a:r>
              <a:rPr lang="en-US" altLang="zh-CN"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217429600"/>
      </p:ext>
    </p:extLst>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zh-CN" altLang="en-US"/>
              <a:t>物模型的使用</a:t>
            </a:r>
            <a:r>
              <a:rPr lang="en-US" altLang="zh-CN"/>
              <a:t>(</a:t>
            </a:r>
            <a:r>
              <a:rPr lang="zh-CN" altLang="en-US"/>
              <a:t>以智能空调为例</a:t>
            </a:r>
            <a:r>
              <a:rPr lang="en-US" altLang="zh-CN"/>
              <a:t>)</a:t>
            </a:r>
            <a:endParaRPr lang="zh-CN" altLang="en-US" dirty="0"/>
          </a:p>
        </p:txBody>
      </p:sp>
      <p:sp>
        <p:nvSpPr>
          <p:cNvPr id="3" name="内容占位符 2"/>
          <p:cNvSpPr>
            <a:spLocks noGrp="1"/>
          </p:cNvSpPr>
          <p:nvPr>
            <p:ph idx="1"/>
          </p:nvPr>
        </p:nvSpPr>
        <p:spPr/>
        <p:txBody>
          <a:bodyPr/>
          <a:lstStyle/>
          <a:p>
            <a:r>
              <a:rPr lang="zh-CN" altLang="en-US"/>
              <a:t>设备事件上报</a:t>
            </a:r>
            <a:endParaRPr lang="en-US" altLang="zh-CN"/>
          </a:p>
          <a:p>
            <a:pPr lvl="1"/>
            <a:r>
              <a:rPr lang="en-US" altLang="zh-CN"/>
              <a:t>Topic</a:t>
            </a:r>
            <a:r>
              <a:rPr lang="zh-CN" altLang="en-US"/>
              <a:t>：</a:t>
            </a:r>
            <a:r>
              <a:rPr lang="en-US" altLang="zh-CN"/>
              <a:t>/sys/{ProductKey}/{deviceName}/thing/event/{dsl.event.identifer}/post</a:t>
            </a:r>
          </a:p>
          <a:p>
            <a:pPr lvl="1"/>
            <a:r>
              <a:rPr lang="zh-CN" altLang="en-US"/>
              <a:t>数据格式</a:t>
            </a:r>
            <a:endParaRPr lang="en-US" altLang="zh-CN"/>
          </a:p>
          <a:p>
            <a:endParaRPr lang="en-US" altLang="zh-CN" dirty="0"/>
          </a:p>
        </p:txBody>
      </p:sp>
      <p:sp>
        <p:nvSpPr>
          <p:cNvPr id="4" name="内容占位符 2"/>
          <p:cNvSpPr txBox="1">
            <a:spLocks/>
          </p:cNvSpPr>
          <p:nvPr/>
        </p:nvSpPr>
        <p:spPr bwMode="auto">
          <a:xfrm>
            <a:off x="609600" y="1143000"/>
            <a:ext cx="8305800" cy="5410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2"/>
              </a:buClr>
              <a:buFont typeface="Wingdings" pitchFamily="2" charset="2"/>
              <a:buChar char="q"/>
              <a:defRPr lang="zh-CN" altLang="en-US" sz="2400" b="1" baseline="0" dirty="0" smtClean="0">
                <a:solidFill>
                  <a:schemeClr val="tx1"/>
                </a:solidFill>
                <a:latin typeface="微软雅黑" pitchFamily="34" charset="-122"/>
                <a:ea typeface="微软雅黑" pitchFamily="34" charset="-122"/>
                <a:cs typeface="+mn-cs"/>
              </a:defRPr>
            </a:lvl1pPr>
            <a:lvl2pPr marL="742950" indent="-285750" algn="l" rtl="0" eaLnBrk="0" fontAlgn="base" hangingPunct="0">
              <a:spcBef>
                <a:spcPct val="20000"/>
              </a:spcBef>
              <a:spcAft>
                <a:spcPct val="0"/>
              </a:spcAft>
              <a:buClr>
                <a:schemeClr val="accent2"/>
              </a:buClr>
              <a:buFont typeface="Wingdings" pitchFamily="2" charset="2"/>
              <a:buChar char="Ø"/>
              <a:defRPr sz="2400" b="1" baseline="0">
                <a:solidFill>
                  <a:srgbClr val="000066"/>
                </a:solidFill>
                <a:effectLst>
                  <a:outerShdw blurRad="38100" dist="38100" dir="2700000" algn="tl">
                    <a:srgbClr val="C0C0C0"/>
                  </a:outerShdw>
                </a:effectLst>
                <a:latin typeface="Garamond" pitchFamily="18" charset="0"/>
              </a:defRPr>
            </a:lvl2pPr>
            <a:lvl3pPr marL="1143000" indent="-228600" algn="l" rtl="0" eaLnBrk="0" fontAlgn="base" hangingPunct="0">
              <a:spcBef>
                <a:spcPct val="20000"/>
              </a:spcBef>
              <a:spcAft>
                <a:spcPct val="0"/>
              </a:spcAft>
              <a:buClr>
                <a:schemeClr val="accent2"/>
              </a:buClr>
              <a:buFont typeface="Times New Roman" pitchFamily="18" charset="0"/>
              <a:buChar char="–"/>
              <a:defRPr sz="2000" b="1" i="1" baseline="0">
                <a:solidFill>
                  <a:srgbClr val="5F5F5F"/>
                </a:solidFill>
                <a:latin typeface="Times New Roman" pitchFamily="18" charset="0"/>
              </a:defRPr>
            </a:lvl3pPr>
            <a:lvl4pPr marL="1600200" indent="-228600" algn="l" rtl="0" eaLnBrk="0" fontAlgn="base" hangingPunct="0">
              <a:spcBef>
                <a:spcPct val="20000"/>
              </a:spcBef>
              <a:spcAft>
                <a:spcPct val="0"/>
              </a:spcAft>
              <a:buClr>
                <a:schemeClr val="accent2"/>
              </a:buClr>
              <a:buSzPct val="100000"/>
              <a:buChar char="o"/>
              <a:defRPr sz="2000" baseline="0">
                <a:solidFill>
                  <a:srgbClr val="FF0000"/>
                </a:solidFill>
                <a:latin typeface="+mn-lt"/>
              </a:defRPr>
            </a:lvl4pPr>
            <a:lvl5pPr marL="2057400" indent="-228600" algn="l" rtl="0" eaLnBrk="0" fontAlgn="base" hangingPunct="0">
              <a:spcBef>
                <a:spcPct val="20000"/>
              </a:spcBef>
              <a:spcAft>
                <a:spcPct val="0"/>
              </a:spcAft>
              <a:buClr>
                <a:schemeClr val="accent2"/>
              </a:buClr>
              <a:buSzPct val="100000"/>
              <a:buFont typeface="Wingdings" pitchFamily="2" charset="2"/>
              <a:buChar char="ü"/>
              <a:defRPr sz="1600" b="1" i="1" baseline="0">
                <a:solidFill>
                  <a:srgbClr val="660066"/>
                </a:solidFill>
                <a:latin typeface="+mn-lt"/>
              </a:defRPr>
            </a:lvl5pPr>
            <a:lvl6pPr marL="25146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9pPr>
          </a:lstStyle>
          <a:p>
            <a:pPr marL="0" indent="0">
              <a:buNone/>
            </a:pPr>
            <a:endParaRPr lang="zh-CN" altLang="en-US" sz="1600" b="0" kern="0" dirty="0"/>
          </a:p>
        </p:txBody>
      </p:sp>
      <p:sp>
        <p:nvSpPr>
          <p:cNvPr id="6" name="矩形 5">
            <a:extLst>
              <a:ext uri="{FF2B5EF4-FFF2-40B4-BE49-F238E27FC236}">
                <a16:creationId xmlns:a16="http://schemas.microsoft.com/office/drawing/2014/main" id="{600FB7F4-7AEA-4850-A30C-6EAA0EA9DEAD}"/>
              </a:ext>
            </a:extLst>
          </p:cNvPr>
          <p:cNvSpPr/>
          <p:nvPr/>
        </p:nvSpPr>
        <p:spPr bwMode="auto">
          <a:xfrm>
            <a:off x="1274193" y="3104073"/>
            <a:ext cx="6481313" cy="2894794"/>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spcBef>
                <a:spcPts val="600"/>
              </a:spcBef>
              <a:buClr>
                <a:schemeClr val="bg1"/>
              </a:buClr>
              <a:buSzPct val="100000"/>
            </a:pPr>
            <a:r>
              <a:rPr lang="en-US" altLang="zh-CN" dirty="0">
                <a:latin typeface="Courier New" panose="02070309020205020404" pitchFamily="49" charset="0"/>
                <a:cs typeface="Courier New" panose="02070309020205020404" pitchFamily="49" charset="0"/>
              </a:rPr>
              <a:t>{</a:t>
            </a:r>
          </a:p>
          <a:p>
            <a:pPr>
              <a:spcBef>
                <a:spcPts val="600"/>
              </a:spcBef>
              <a:buClr>
                <a:schemeClr val="bg1"/>
              </a:buClr>
              <a:buSzPct val="100000"/>
            </a:pPr>
            <a:r>
              <a:rPr lang="en-US" altLang="zh-CN" dirty="0">
                <a:latin typeface="Courier New" panose="02070309020205020404" pitchFamily="49" charset="0"/>
                <a:cs typeface="Courier New" panose="02070309020205020404" pitchFamily="49" charset="0"/>
              </a:rPr>
              <a:t>  "id": "123",</a:t>
            </a:r>
          </a:p>
          <a:p>
            <a:pPr>
              <a:spcBef>
                <a:spcPts val="600"/>
              </a:spcBef>
              <a:buClr>
                <a:schemeClr val="bg1"/>
              </a:buClr>
              <a:buSzPct val="100000"/>
            </a:pPr>
            <a:r>
              <a:rPr lang="en-US" altLang="zh-CN" dirty="0">
                <a:latin typeface="Courier New" panose="02070309020205020404" pitchFamily="49" charset="0"/>
                <a:cs typeface="Courier New" panose="02070309020205020404" pitchFamily="49" charset="0"/>
              </a:rPr>
              <a:t>  "version": "1.0",</a:t>
            </a:r>
          </a:p>
          <a:p>
            <a:pPr>
              <a:spcBef>
                <a:spcPts val="600"/>
              </a:spcBef>
              <a:buClr>
                <a:schemeClr val="bg1"/>
              </a:buClr>
              <a:buSzPct val="100000"/>
            </a:pP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params</a:t>
            </a:r>
            <a:r>
              <a:rPr lang="en-US" altLang="zh-CN" dirty="0">
                <a:latin typeface="Courier New" panose="02070309020205020404" pitchFamily="49" charset="0"/>
                <a:cs typeface="Courier New" panose="02070309020205020404" pitchFamily="49" charset="0"/>
              </a:rPr>
              <a:t>": {</a:t>
            </a:r>
          </a:p>
          <a:p>
            <a:pPr>
              <a:spcBef>
                <a:spcPts val="600"/>
              </a:spcBef>
              <a:buClr>
                <a:schemeClr val="bg1"/>
              </a:buClr>
              <a:buSzPct val="100000"/>
            </a:pP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AlarmType</a:t>
            </a:r>
            <a:r>
              <a:rPr lang="en-US" altLang="zh-CN" dirty="0">
                <a:latin typeface="Courier New" panose="02070309020205020404" pitchFamily="49" charset="0"/>
                <a:cs typeface="Courier New" panose="02070309020205020404" pitchFamily="49" charset="0"/>
              </a:rPr>
              <a:t>”: 0,</a:t>
            </a:r>
          </a:p>
          <a:p>
            <a:pPr>
              <a:spcBef>
                <a:spcPts val="600"/>
              </a:spcBef>
              <a:buClr>
                <a:schemeClr val="bg1"/>
              </a:buClr>
              <a:buSzPct val="100000"/>
            </a:pPr>
            <a:r>
              <a:rPr lang="en-US" altLang="zh-CN" dirty="0">
                <a:latin typeface="Courier New" panose="02070309020205020404" pitchFamily="49" charset="0"/>
                <a:cs typeface="Courier New" panose="02070309020205020404" pitchFamily="49" charset="0"/>
              </a:rPr>
              <a:t>  },</a:t>
            </a:r>
          </a:p>
          <a:p>
            <a:pPr>
              <a:spcBef>
                <a:spcPts val="600"/>
              </a:spcBef>
              <a:buClr>
                <a:schemeClr val="bg1"/>
              </a:buClr>
              <a:buSzPct val="100000"/>
            </a:pPr>
            <a:r>
              <a:rPr lang="en-US" altLang="zh-CN" dirty="0">
                <a:latin typeface="Courier New" panose="02070309020205020404" pitchFamily="49" charset="0"/>
                <a:cs typeface="Courier New" panose="02070309020205020404" pitchFamily="49" charset="0"/>
              </a:rPr>
              <a:t>  "method": "</a:t>
            </a:r>
            <a:r>
              <a:rPr lang="en-US" altLang="zh-CN" dirty="0" err="1">
                <a:latin typeface="Courier New" panose="02070309020205020404" pitchFamily="49" charset="0"/>
                <a:cs typeface="Courier New" panose="02070309020205020404" pitchFamily="49" charset="0"/>
              </a:rPr>
              <a:t>thing.event.TemperatureAlarm.post</a:t>
            </a:r>
            <a:r>
              <a:rPr lang="en-US" altLang="zh-CN" dirty="0">
                <a:latin typeface="Courier New" panose="02070309020205020404" pitchFamily="49" charset="0"/>
                <a:cs typeface="Courier New" panose="02070309020205020404" pitchFamily="49" charset="0"/>
              </a:rPr>
              <a:t>"</a:t>
            </a:r>
          </a:p>
          <a:p>
            <a:pPr>
              <a:spcBef>
                <a:spcPts val="600"/>
              </a:spcBef>
              <a:buClr>
                <a:schemeClr val="bg1"/>
              </a:buClr>
              <a:buSzPct val="100000"/>
            </a:pPr>
            <a:r>
              <a:rPr lang="en-US" altLang="zh-CN"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669823918"/>
      </p:ext>
    </p:extLst>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zh-CN" altLang="en-US"/>
              <a:t>物模型的使用</a:t>
            </a:r>
            <a:r>
              <a:rPr lang="en-US" altLang="zh-CN"/>
              <a:t>(</a:t>
            </a:r>
            <a:r>
              <a:rPr lang="zh-CN" altLang="en-US"/>
              <a:t>以智能空调为例</a:t>
            </a:r>
            <a:r>
              <a:rPr lang="en-US" altLang="zh-CN"/>
              <a:t>)</a:t>
            </a:r>
            <a:endParaRPr lang="zh-CN" altLang="en-US" dirty="0"/>
          </a:p>
        </p:txBody>
      </p:sp>
      <p:sp>
        <p:nvSpPr>
          <p:cNvPr id="3" name="内容占位符 2"/>
          <p:cNvSpPr>
            <a:spLocks noGrp="1"/>
          </p:cNvSpPr>
          <p:nvPr>
            <p:ph idx="1"/>
          </p:nvPr>
        </p:nvSpPr>
        <p:spPr/>
        <p:txBody>
          <a:bodyPr/>
          <a:lstStyle/>
          <a:p>
            <a:r>
              <a:rPr lang="zh-CN" altLang="en-US"/>
              <a:t>设备服务调用</a:t>
            </a:r>
            <a:endParaRPr lang="en-US" altLang="zh-CN"/>
          </a:p>
          <a:p>
            <a:pPr lvl="1"/>
            <a:r>
              <a:rPr lang="en-US" altLang="zh-CN"/>
              <a:t>Topic</a:t>
            </a:r>
            <a:r>
              <a:rPr lang="zh-CN" altLang="en-US"/>
              <a:t>：</a:t>
            </a:r>
            <a:r>
              <a:rPr lang="en-US" altLang="zh-CN"/>
              <a:t>/sys/{ProductKey}/{deviceName}/thing/service/{dsl.service.identifer}</a:t>
            </a:r>
          </a:p>
          <a:p>
            <a:pPr lvl="1"/>
            <a:r>
              <a:rPr lang="zh-CN" altLang="en-US"/>
              <a:t>数据格式</a:t>
            </a:r>
            <a:endParaRPr lang="en-US" altLang="zh-CN"/>
          </a:p>
          <a:p>
            <a:endParaRPr lang="en-US" altLang="zh-CN" dirty="0"/>
          </a:p>
        </p:txBody>
      </p:sp>
      <p:sp>
        <p:nvSpPr>
          <p:cNvPr id="4" name="内容占位符 2"/>
          <p:cNvSpPr txBox="1">
            <a:spLocks/>
          </p:cNvSpPr>
          <p:nvPr/>
        </p:nvSpPr>
        <p:spPr bwMode="auto">
          <a:xfrm>
            <a:off x="609600" y="1143000"/>
            <a:ext cx="8305800" cy="5410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2"/>
              </a:buClr>
              <a:buFont typeface="Wingdings" pitchFamily="2" charset="2"/>
              <a:buChar char="q"/>
              <a:defRPr lang="zh-CN" altLang="en-US" sz="2400" b="1" baseline="0" dirty="0" smtClean="0">
                <a:solidFill>
                  <a:schemeClr val="tx1"/>
                </a:solidFill>
                <a:latin typeface="微软雅黑" pitchFamily="34" charset="-122"/>
                <a:ea typeface="微软雅黑" pitchFamily="34" charset="-122"/>
                <a:cs typeface="+mn-cs"/>
              </a:defRPr>
            </a:lvl1pPr>
            <a:lvl2pPr marL="742950" indent="-285750" algn="l" rtl="0" eaLnBrk="0" fontAlgn="base" hangingPunct="0">
              <a:spcBef>
                <a:spcPct val="20000"/>
              </a:spcBef>
              <a:spcAft>
                <a:spcPct val="0"/>
              </a:spcAft>
              <a:buClr>
                <a:schemeClr val="accent2"/>
              </a:buClr>
              <a:buFont typeface="Wingdings" pitchFamily="2" charset="2"/>
              <a:buChar char="Ø"/>
              <a:defRPr sz="2400" b="1" baseline="0">
                <a:solidFill>
                  <a:srgbClr val="000066"/>
                </a:solidFill>
                <a:effectLst>
                  <a:outerShdw blurRad="38100" dist="38100" dir="2700000" algn="tl">
                    <a:srgbClr val="C0C0C0"/>
                  </a:outerShdw>
                </a:effectLst>
                <a:latin typeface="Garamond" pitchFamily="18" charset="0"/>
              </a:defRPr>
            </a:lvl2pPr>
            <a:lvl3pPr marL="1143000" indent="-228600" algn="l" rtl="0" eaLnBrk="0" fontAlgn="base" hangingPunct="0">
              <a:spcBef>
                <a:spcPct val="20000"/>
              </a:spcBef>
              <a:spcAft>
                <a:spcPct val="0"/>
              </a:spcAft>
              <a:buClr>
                <a:schemeClr val="accent2"/>
              </a:buClr>
              <a:buFont typeface="Times New Roman" pitchFamily="18" charset="0"/>
              <a:buChar char="–"/>
              <a:defRPr sz="2000" b="1" i="1" baseline="0">
                <a:solidFill>
                  <a:srgbClr val="5F5F5F"/>
                </a:solidFill>
                <a:latin typeface="Times New Roman" pitchFamily="18" charset="0"/>
              </a:defRPr>
            </a:lvl3pPr>
            <a:lvl4pPr marL="1600200" indent="-228600" algn="l" rtl="0" eaLnBrk="0" fontAlgn="base" hangingPunct="0">
              <a:spcBef>
                <a:spcPct val="20000"/>
              </a:spcBef>
              <a:spcAft>
                <a:spcPct val="0"/>
              </a:spcAft>
              <a:buClr>
                <a:schemeClr val="accent2"/>
              </a:buClr>
              <a:buSzPct val="100000"/>
              <a:buChar char="o"/>
              <a:defRPr sz="2000" baseline="0">
                <a:solidFill>
                  <a:srgbClr val="FF0000"/>
                </a:solidFill>
                <a:latin typeface="+mn-lt"/>
              </a:defRPr>
            </a:lvl4pPr>
            <a:lvl5pPr marL="2057400" indent="-228600" algn="l" rtl="0" eaLnBrk="0" fontAlgn="base" hangingPunct="0">
              <a:spcBef>
                <a:spcPct val="20000"/>
              </a:spcBef>
              <a:spcAft>
                <a:spcPct val="0"/>
              </a:spcAft>
              <a:buClr>
                <a:schemeClr val="accent2"/>
              </a:buClr>
              <a:buSzPct val="100000"/>
              <a:buFont typeface="Wingdings" pitchFamily="2" charset="2"/>
              <a:buChar char="ü"/>
              <a:defRPr sz="1600" b="1" i="1" baseline="0">
                <a:solidFill>
                  <a:srgbClr val="660066"/>
                </a:solidFill>
                <a:latin typeface="+mn-lt"/>
              </a:defRPr>
            </a:lvl5pPr>
            <a:lvl6pPr marL="25146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9pPr>
          </a:lstStyle>
          <a:p>
            <a:pPr marL="0" indent="0">
              <a:buNone/>
            </a:pPr>
            <a:endParaRPr lang="zh-CN" altLang="en-US" sz="1600" b="0" kern="0" dirty="0"/>
          </a:p>
        </p:txBody>
      </p:sp>
      <p:sp>
        <p:nvSpPr>
          <p:cNvPr id="6" name="矩形 5">
            <a:extLst>
              <a:ext uri="{FF2B5EF4-FFF2-40B4-BE49-F238E27FC236}">
                <a16:creationId xmlns:a16="http://schemas.microsoft.com/office/drawing/2014/main" id="{600FB7F4-7AEA-4850-A30C-6EAA0EA9DEAD}"/>
              </a:ext>
            </a:extLst>
          </p:cNvPr>
          <p:cNvSpPr/>
          <p:nvPr/>
        </p:nvSpPr>
        <p:spPr bwMode="auto">
          <a:xfrm>
            <a:off x="1274193" y="3104073"/>
            <a:ext cx="6481313" cy="2830902"/>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spcBef>
                <a:spcPct val="50000"/>
              </a:spcBef>
              <a:buClr>
                <a:schemeClr val="bg1"/>
              </a:buClr>
              <a:buSzPct val="100000"/>
            </a:pPr>
            <a:r>
              <a:rPr lang="en-US" altLang="zh-CN" dirty="0">
                <a:latin typeface="Courier New" panose="02070309020205020404" pitchFamily="49" charset="0"/>
                <a:cs typeface="Courier New" panose="02070309020205020404" pitchFamily="49" charset="0"/>
              </a:rPr>
              <a:t>{</a:t>
            </a:r>
          </a:p>
          <a:p>
            <a:pPr>
              <a:spcBef>
                <a:spcPct val="50000"/>
              </a:spcBef>
              <a:buClr>
                <a:schemeClr val="bg1"/>
              </a:buClr>
              <a:buSzPct val="100000"/>
            </a:pPr>
            <a:r>
              <a:rPr lang="en-US" altLang="zh-CN" dirty="0">
                <a:latin typeface="Courier New" panose="02070309020205020404" pitchFamily="49" charset="0"/>
                <a:cs typeface="Courier New" panose="02070309020205020404" pitchFamily="49" charset="0"/>
              </a:rPr>
              <a:t>  "id": "123",</a:t>
            </a:r>
          </a:p>
          <a:p>
            <a:pPr>
              <a:spcBef>
                <a:spcPct val="50000"/>
              </a:spcBef>
              <a:buClr>
                <a:schemeClr val="bg1"/>
              </a:buClr>
              <a:buSzPct val="100000"/>
            </a:pPr>
            <a:r>
              <a:rPr lang="en-US" altLang="zh-CN" dirty="0">
                <a:latin typeface="Courier New" panose="02070309020205020404" pitchFamily="49" charset="0"/>
                <a:cs typeface="Courier New" panose="02070309020205020404" pitchFamily="49" charset="0"/>
              </a:rPr>
              <a:t>  "version": "1.0",</a:t>
            </a:r>
          </a:p>
          <a:p>
            <a:pPr>
              <a:spcBef>
                <a:spcPct val="50000"/>
              </a:spcBef>
              <a:buClr>
                <a:schemeClr val="bg1"/>
              </a:buClr>
              <a:buSzPct val="100000"/>
            </a:pP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params</a:t>
            </a:r>
            <a:r>
              <a:rPr lang="en-US" altLang="zh-CN" dirty="0">
                <a:latin typeface="Courier New" panose="02070309020205020404" pitchFamily="49" charset="0"/>
                <a:cs typeface="Courier New" panose="02070309020205020404" pitchFamily="49" charset="0"/>
              </a:rPr>
              <a:t>": {  </a:t>
            </a:r>
          </a:p>
          <a:p>
            <a:pPr>
              <a:spcBef>
                <a:spcPct val="50000"/>
              </a:spcBef>
              <a:buClr>
                <a:schemeClr val="bg1"/>
              </a:buClr>
              <a:buSzPct val="100000"/>
            </a:pPr>
            <a:r>
              <a:rPr lang="en-US" altLang="zh-CN" dirty="0">
                <a:latin typeface="Courier New" panose="02070309020205020404" pitchFamily="49" charset="0"/>
                <a:cs typeface="Courier New" panose="02070309020205020404" pitchFamily="49" charset="0"/>
              </a:rPr>
              <a:t>  },</a:t>
            </a:r>
          </a:p>
          <a:p>
            <a:pPr>
              <a:spcBef>
                <a:spcPct val="50000"/>
              </a:spcBef>
              <a:buClr>
                <a:schemeClr val="bg1"/>
              </a:buClr>
              <a:buSzPct val="100000"/>
            </a:pPr>
            <a:r>
              <a:rPr lang="en-US" altLang="zh-CN" dirty="0">
                <a:latin typeface="Courier New" panose="02070309020205020404" pitchFamily="49" charset="0"/>
                <a:cs typeface="Courier New" panose="02070309020205020404" pitchFamily="49" charset="0"/>
              </a:rPr>
              <a:t>  "method": "</a:t>
            </a:r>
            <a:r>
              <a:rPr lang="en-US" altLang="zh-CN" dirty="0" err="1">
                <a:latin typeface="Courier New" panose="02070309020205020404" pitchFamily="49" charset="0"/>
                <a:cs typeface="Courier New" panose="02070309020205020404" pitchFamily="49" charset="0"/>
              </a:rPr>
              <a:t>thing.service.open</a:t>
            </a:r>
            <a:r>
              <a:rPr lang="en-US" altLang="zh-CN" dirty="0">
                <a:latin typeface="Courier New" panose="02070309020205020404" pitchFamily="49" charset="0"/>
                <a:cs typeface="Courier New" panose="02070309020205020404" pitchFamily="49" charset="0"/>
              </a:rPr>
              <a:t>”</a:t>
            </a:r>
          </a:p>
          <a:p>
            <a:pPr>
              <a:spcBef>
                <a:spcPct val="50000"/>
              </a:spcBef>
              <a:buClr>
                <a:schemeClr val="bg1"/>
              </a:buClr>
              <a:buSzPct val="100000"/>
            </a:pPr>
            <a:r>
              <a:rPr lang="en-US" altLang="zh-CN"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391551579"/>
      </p:ext>
    </p:extLst>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zh-CN" altLang="en-US" dirty="0"/>
              <a:t>服务编排</a:t>
            </a:r>
          </a:p>
        </p:txBody>
      </p:sp>
      <p:sp>
        <p:nvSpPr>
          <p:cNvPr id="3" name="内容占位符 2"/>
          <p:cNvSpPr>
            <a:spLocks noGrp="1"/>
          </p:cNvSpPr>
          <p:nvPr>
            <p:ph idx="1"/>
          </p:nvPr>
        </p:nvSpPr>
        <p:spPr/>
        <p:txBody>
          <a:bodyPr/>
          <a:lstStyle/>
          <a:p>
            <a:r>
              <a:rPr lang="zh-CN" altLang="en-US" dirty="0"/>
              <a:t>业务逻辑</a:t>
            </a:r>
            <a:endParaRPr lang="en-US" altLang="zh-CN" dirty="0"/>
          </a:p>
          <a:p>
            <a:pPr lvl="1"/>
            <a:r>
              <a:rPr lang="en-US" altLang="zh-CN" dirty="0"/>
              <a:t>IoT Studio</a:t>
            </a:r>
            <a:r>
              <a:rPr lang="zh-CN" altLang="en-US" dirty="0"/>
              <a:t>提供了物联网业务逻辑的开发工具，支持通过编排服务节点的方式快速完成简单的物联网业务逻辑的设计</a:t>
            </a:r>
            <a:endParaRPr lang="en-US" altLang="zh-CN" dirty="0"/>
          </a:p>
          <a:p>
            <a:pPr lvl="1"/>
            <a:r>
              <a:rPr lang="zh-CN" altLang="zh-CN" dirty="0"/>
              <a:t>开发者只需要拖拽不同功能的节点，并按一定的应用逻辑进行连接，即可实现设备属性查询、数据转储、信息推送等服务</a:t>
            </a:r>
            <a:endParaRPr lang="en-US" altLang="zh-CN" dirty="0"/>
          </a:p>
          <a:p>
            <a:pPr lvl="1"/>
            <a:r>
              <a:rPr lang="zh-CN" altLang="zh-CN" dirty="0"/>
              <a:t>此外，开发者还可以通过自定义脚本节点实现数据处理和服务调用，进一步实现较为复杂的应用逻辑</a:t>
            </a:r>
            <a:endParaRPr lang="en-US" altLang="zh-CN" dirty="0"/>
          </a:p>
        </p:txBody>
      </p:sp>
    </p:spTree>
    <p:extLst>
      <p:ext uri="{BB962C8B-B14F-4D97-AF65-F5344CB8AC3E}">
        <p14:creationId xmlns:p14="http://schemas.microsoft.com/office/powerpoint/2010/main" val="1287919988"/>
      </p:ext>
    </p:extLst>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zh-CN" altLang="en-US" dirty="0"/>
              <a:t>服务编排</a:t>
            </a:r>
          </a:p>
        </p:txBody>
      </p:sp>
      <p:sp>
        <p:nvSpPr>
          <p:cNvPr id="3" name="内容占位符 2"/>
          <p:cNvSpPr>
            <a:spLocks noGrp="1"/>
          </p:cNvSpPr>
          <p:nvPr>
            <p:ph idx="1"/>
          </p:nvPr>
        </p:nvSpPr>
        <p:spPr/>
        <p:txBody>
          <a:bodyPr/>
          <a:lstStyle/>
          <a:p>
            <a:r>
              <a:rPr lang="zh-CN" altLang="en-US"/>
              <a:t>案例描述：使用</a:t>
            </a:r>
            <a:r>
              <a:rPr lang="en-US" altLang="zh-CN"/>
              <a:t>IoT Studio</a:t>
            </a:r>
            <a:r>
              <a:rPr lang="zh-CN" altLang="en-US"/>
              <a:t>业务逻辑功能，开发设备触发服务，当温度大于</a:t>
            </a:r>
            <a:r>
              <a:rPr lang="en-US" altLang="zh-CN"/>
              <a:t>30</a:t>
            </a:r>
            <a:r>
              <a:rPr lang="zh-CN" altLang="en-US"/>
              <a:t>℃，将信息通过钉钉机器人发送到钉钉群</a:t>
            </a:r>
            <a:endParaRPr lang="en-US" altLang="zh-CN"/>
          </a:p>
          <a:p>
            <a:pPr lvl="1"/>
            <a:r>
              <a:rPr lang="zh-CN" altLang="en-US"/>
              <a:t>步骤一：根据节点功能，选择需要的节点。本案例选择</a:t>
            </a:r>
            <a:r>
              <a:rPr lang="en-US" altLang="zh-CN"/>
              <a:t>4</a:t>
            </a:r>
            <a:r>
              <a:rPr lang="zh-CN" altLang="en-US"/>
              <a:t>种节点，分别是设备触发节点、</a:t>
            </a:r>
            <a:r>
              <a:rPr lang="en-US" altLang="zh-CN"/>
              <a:t>NodeJS</a:t>
            </a:r>
            <a:r>
              <a:rPr lang="zh-CN" altLang="en-US"/>
              <a:t>脚本节点、路径选择节点和钉钉机器人节点</a:t>
            </a:r>
            <a:endParaRPr lang="en-US" altLang="zh-CN"/>
          </a:p>
          <a:p>
            <a:pPr lvl="1"/>
            <a:endParaRPr lang="en-US" altLang="zh-CN" dirty="0"/>
          </a:p>
        </p:txBody>
      </p:sp>
      <p:pic>
        <p:nvPicPr>
          <p:cNvPr id="6" name="图片 5">
            <a:extLst>
              <a:ext uri="{FF2B5EF4-FFF2-40B4-BE49-F238E27FC236}">
                <a16:creationId xmlns:a16="http://schemas.microsoft.com/office/drawing/2014/main" id="{358C4C30-D27E-42CE-BA1D-2BDE43CC5AA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56856" y="4179501"/>
            <a:ext cx="7906487" cy="864772"/>
          </a:xfrm>
          <a:prstGeom prst="rect">
            <a:avLst/>
          </a:prstGeom>
          <a:noFill/>
        </p:spPr>
      </p:pic>
    </p:spTree>
    <p:extLst>
      <p:ext uri="{BB962C8B-B14F-4D97-AF65-F5344CB8AC3E}">
        <p14:creationId xmlns:p14="http://schemas.microsoft.com/office/powerpoint/2010/main" val="246937052"/>
      </p:ext>
    </p:extLst>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zh-CN" altLang="en-US" dirty="0"/>
              <a:t>服务编排</a:t>
            </a:r>
          </a:p>
        </p:txBody>
      </p:sp>
      <p:sp>
        <p:nvSpPr>
          <p:cNvPr id="3" name="内容占位符 2"/>
          <p:cNvSpPr>
            <a:spLocks noGrp="1"/>
          </p:cNvSpPr>
          <p:nvPr>
            <p:ph idx="1"/>
          </p:nvPr>
        </p:nvSpPr>
        <p:spPr/>
        <p:txBody>
          <a:bodyPr/>
          <a:lstStyle/>
          <a:p>
            <a:pPr lvl="1"/>
            <a:r>
              <a:rPr lang="zh-CN" altLang="en-US"/>
              <a:t>步骤二：将节点按照应用逻辑进行连接，并对节点进行配置</a:t>
            </a:r>
            <a:endParaRPr lang="en-US" altLang="zh-CN"/>
          </a:p>
          <a:p>
            <a:pPr lvl="2"/>
            <a:r>
              <a:rPr lang="zh-CN" altLang="en-US"/>
              <a:t>设备触发节点：指定产品、设备、以及触发条件。</a:t>
            </a:r>
            <a:endParaRPr lang="en-US" altLang="zh-CN"/>
          </a:p>
          <a:p>
            <a:pPr lvl="1"/>
            <a:endParaRPr lang="en-US" altLang="zh-CN" dirty="0"/>
          </a:p>
        </p:txBody>
      </p:sp>
      <p:pic>
        <p:nvPicPr>
          <p:cNvPr id="6" name="图片 5">
            <a:extLst>
              <a:ext uri="{FF2B5EF4-FFF2-40B4-BE49-F238E27FC236}">
                <a16:creationId xmlns:a16="http://schemas.microsoft.com/office/drawing/2014/main" id="{0162BAFF-F164-49A1-97E1-43AD2826AA80}"/>
              </a:ext>
            </a:extLst>
          </p:cNvPr>
          <p:cNvPicPr/>
          <p:nvPr/>
        </p:nvPicPr>
        <p:blipFill rotWithShape="1">
          <a:blip r:embed="rId3"/>
          <a:srcRect l="71165" t="33176" r="2095" b="15558"/>
          <a:stretch/>
        </p:blipFill>
        <p:spPr bwMode="auto">
          <a:xfrm>
            <a:off x="2670649" y="2403845"/>
            <a:ext cx="3802701" cy="410047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25171053"/>
      </p:ext>
    </p:extLst>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zh-CN" altLang="en-US" dirty="0"/>
              <a:t>服务编排</a:t>
            </a:r>
          </a:p>
        </p:txBody>
      </p:sp>
      <p:sp>
        <p:nvSpPr>
          <p:cNvPr id="3" name="内容占位符 2"/>
          <p:cNvSpPr>
            <a:spLocks noGrp="1"/>
          </p:cNvSpPr>
          <p:nvPr>
            <p:ph idx="1"/>
          </p:nvPr>
        </p:nvSpPr>
        <p:spPr/>
        <p:txBody>
          <a:bodyPr/>
          <a:lstStyle/>
          <a:p>
            <a:pPr lvl="1"/>
            <a:r>
              <a:rPr lang="zh-CN" altLang="en-US"/>
              <a:t>步骤二：将节点按照应用逻辑进行连接，并对节点进行配置</a:t>
            </a:r>
            <a:endParaRPr lang="en-US" altLang="zh-CN"/>
          </a:p>
          <a:p>
            <a:pPr lvl="2"/>
            <a:r>
              <a:rPr lang="en-US" altLang="zh-CN"/>
              <a:t>NodeJS</a:t>
            </a:r>
            <a:r>
              <a:rPr lang="zh-CN" altLang="en-US"/>
              <a:t>脚本节点：编写 </a:t>
            </a:r>
            <a:r>
              <a:rPr lang="en-US" altLang="zh-CN"/>
              <a:t>NodeJS </a:t>
            </a:r>
            <a:r>
              <a:rPr lang="zh-CN" altLang="en-US"/>
              <a:t>代码指定节点逻辑，获取设备上报的属性中的温度信息。</a:t>
            </a:r>
            <a:endParaRPr lang="en-US" altLang="zh-CN"/>
          </a:p>
          <a:p>
            <a:pPr lvl="1"/>
            <a:endParaRPr lang="en-US" altLang="zh-CN" dirty="0"/>
          </a:p>
        </p:txBody>
      </p:sp>
      <p:sp>
        <p:nvSpPr>
          <p:cNvPr id="6" name="矩形 5">
            <a:extLst>
              <a:ext uri="{FF2B5EF4-FFF2-40B4-BE49-F238E27FC236}">
                <a16:creationId xmlns:a16="http://schemas.microsoft.com/office/drawing/2014/main" id="{0AF4F01D-52BC-4169-AF5D-F81E6A56896B}"/>
              </a:ext>
            </a:extLst>
          </p:cNvPr>
          <p:cNvSpPr/>
          <p:nvPr/>
        </p:nvSpPr>
        <p:spPr>
          <a:xfrm>
            <a:off x="1029956" y="2936005"/>
            <a:ext cx="7320224" cy="2800767"/>
          </a:xfrm>
          <a:prstGeom prst="rect">
            <a:avLst/>
          </a:prstGeom>
          <a:ln w="38100">
            <a:solidFill>
              <a:schemeClr val="tx1"/>
            </a:solidFill>
          </a:ln>
        </p:spPr>
        <p:txBody>
          <a:bodyPr wrap="square">
            <a:spAutoFit/>
          </a:bodyPr>
          <a:lstStyle/>
          <a:p>
            <a:r>
              <a:rPr lang="en-US" altLang="zh-CN" dirty="0">
                <a:ea typeface="+mj-ea"/>
                <a:cs typeface="Arial" panose="020B0604020202020204" pitchFamily="34" charset="0"/>
              </a:rPr>
              <a:t>1	/**</a:t>
            </a:r>
          </a:p>
          <a:p>
            <a:r>
              <a:rPr lang="en-US" altLang="zh-CN" dirty="0">
                <a:ea typeface="+mj-ea"/>
                <a:cs typeface="Arial" panose="020B0604020202020204" pitchFamily="34" charset="0"/>
              </a:rPr>
              <a:t>2	* @param {Object} payload </a:t>
            </a:r>
            <a:r>
              <a:rPr lang="zh-CN" altLang="en-US" dirty="0">
                <a:ea typeface="+mj-ea"/>
                <a:cs typeface="Arial" panose="020B0604020202020204" pitchFamily="34" charset="0"/>
              </a:rPr>
              <a:t>上一节点的输出</a:t>
            </a:r>
          </a:p>
          <a:p>
            <a:r>
              <a:rPr lang="en-US" altLang="zh-CN" dirty="0">
                <a:ea typeface="+mj-ea"/>
                <a:cs typeface="Arial" panose="020B0604020202020204" pitchFamily="34" charset="0"/>
              </a:rPr>
              <a:t>3	* @param {Object} node </a:t>
            </a:r>
            <a:r>
              <a:rPr lang="zh-CN" altLang="en-US" dirty="0">
                <a:ea typeface="+mj-ea"/>
                <a:cs typeface="Arial" panose="020B0604020202020204" pitchFamily="34" charset="0"/>
              </a:rPr>
              <a:t>指定某个节点的输出</a:t>
            </a:r>
          </a:p>
          <a:p>
            <a:r>
              <a:rPr lang="en-US" altLang="zh-CN" dirty="0">
                <a:ea typeface="+mj-ea"/>
                <a:cs typeface="Arial" panose="020B0604020202020204" pitchFamily="34" charset="0"/>
              </a:rPr>
              <a:t>4	* @param {Object} query </a:t>
            </a:r>
            <a:r>
              <a:rPr lang="zh-CN" altLang="en-US" dirty="0">
                <a:ea typeface="+mj-ea"/>
                <a:cs typeface="Arial" panose="020B0604020202020204" pitchFamily="34" charset="0"/>
              </a:rPr>
              <a:t>服务流第一个节点的输出</a:t>
            </a:r>
          </a:p>
          <a:p>
            <a:r>
              <a:rPr lang="en-US" altLang="zh-CN" dirty="0">
                <a:ea typeface="+mj-ea"/>
                <a:cs typeface="Arial" panose="020B0604020202020204" pitchFamily="34" charset="0"/>
              </a:rPr>
              <a:t>5	* @param {Object} context  { </a:t>
            </a:r>
            <a:r>
              <a:rPr lang="en-US" altLang="zh-CN" dirty="0" err="1">
                <a:ea typeface="+mj-ea"/>
                <a:cs typeface="Arial" panose="020B0604020202020204" pitchFamily="34" charset="0"/>
              </a:rPr>
              <a:t>appKey</a:t>
            </a:r>
            <a:r>
              <a:rPr lang="en-US" altLang="zh-CN" dirty="0">
                <a:ea typeface="+mj-ea"/>
                <a:cs typeface="Arial" panose="020B0604020202020204" pitchFamily="34" charset="0"/>
              </a:rPr>
              <a:t>, </a:t>
            </a:r>
            <a:r>
              <a:rPr lang="en-US" altLang="zh-CN" dirty="0" err="1">
                <a:ea typeface="+mj-ea"/>
                <a:cs typeface="Arial" panose="020B0604020202020204" pitchFamily="34" charset="0"/>
              </a:rPr>
              <a:t>appSecret</a:t>
            </a:r>
            <a:r>
              <a:rPr lang="en-US" altLang="zh-CN" dirty="0">
                <a:ea typeface="+mj-ea"/>
                <a:cs typeface="Arial" panose="020B0604020202020204" pitchFamily="34" charset="0"/>
              </a:rPr>
              <a:t> }</a:t>
            </a:r>
          </a:p>
          <a:p>
            <a:r>
              <a:rPr lang="en-US" altLang="zh-CN" dirty="0">
                <a:ea typeface="+mj-ea"/>
                <a:cs typeface="Arial" panose="020B0604020202020204" pitchFamily="34" charset="0"/>
              </a:rPr>
              <a:t>6	*/</a:t>
            </a:r>
          </a:p>
          <a:p>
            <a:r>
              <a:rPr lang="en-US" altLang="zh-CN" dirty="0">
                <a:ea typeface="+mj-ea"/>
                <a:cs typeface="Arial" panose="020B0604020202020204" pitchFamily="34" charset="0"/>
              </a:rPr>
              <a:t>7	</a:t>
            </a:r>
            <a:r>
              <a:rPr lang="en-US" altLang="zh-CN" dirty="0" err="1">
                <a:ea typeface="+mj-ea"/>
                <a:cs typeface="Arial" panose="020B0604020202020204" pitchFamily="34" charset="0"/>
              </a:rPr>
              <a:t>module.exports</a:t>
            </a:r>
            <a:r>
              <a:rPr lang="en-US" altLang="zh-CN" dirty="0">
                <a:ea typeface="+mj-ea"/>
                <a:cs typeface="Arial" panose="020B0604020202020204" pitchFamily="34" charset="0"/>
              </a:rPr>
              <a:t> = async function(payload, node, query, context) {</a:t>
            </a:r>
          </a:p>
          <a:p>
            <a:r>
              <a:rPr lang="en-US" altLang="zh-CN" dirty="0">
                <a:ea typeface="+mj-ea"/>
                <a:cs typeface="Arial" panose="020B0604020202020204" pitchFamily="34" charset="0"/>
              </a:rPr>
              <a:t>8	    let temp = </a:t>
            </a:r>
            <a:r>
              <a:rPr lang="en-US" altLang="zh-CN" dirty="0" err="1">
                <a:ea typeface="+mj-ea"/>
                <a:cs typeface="Arial" panose="020B0604020202020204" pitchFamily="34" charset="0"/>
              </a:rPr>
              <a:t>payload.props.temperature.value</a:t>
            </a:r>
            <a:r>
              <a:rPr lang="en-US" altLang="zh-CN" dirty="0">
                <a:ea typeface="+mj-ea"/>
                <a:cs typeface="Arial" panose="020B0604020202020204" pitchFamily="34" charset="0"/>
              </a:rPr>
              <a:t>;    // </a:t>
            </a:r>
            <a:r>
              <a:rPr lang="zh-CN" altLang="en-US" dirty="0">
                <a:ea typeface="+mj-ea"/>
                <a:cs typeface="Arial" panose="020B0604020202020204" pitchFamily="34" charset="0"/>
              </a:rPr>
              <a:t>获取温度数据</a:t>
            </a:r>
          </a:p>
          <a:p>
            <a:r>
              <a:rPr lang="en-US" altLang="zh-CN" dirty="0">
                <a:ea typeface="+mj-ea"/>
                <a:cs typeface="Arial" panose="020B0604020202020204" pitchFamily="34" charset="0"/>
              </a:rPr>
              <a:t>9	    console.log("temperature: ", temp);           // </a:t>
            </a:r>
            <a:r>
              <a:rPr lang="zh-CN" altLang="en-US" dirty="0">
                <a:ea typeface="+mj-ea"/>
                <a:cs typeface="Arial" panose="020B0604020202020204" pitchFamily="34" charset="0"/>
              </a:rPr>
              <a:t>将温度数据打印</a:t>
            </a:r>
          </a:p>
          <a:p>
            <a:r>
              <a:rPr lang="en-US" altLang="zh-CN" dirty="0">
                <a:ea typeface="+mj-ea"/>
                <a:cs typeface="Arial" panose="020B0604020202020204" pitchFamily="34" charset="0"/>
              </a:rPr>
              <a:t>10	    return temp;                   // </a:t>
            </a:r>
            <a:r>
              <a:rPr lang="zh-CN" altLang="en-US" dirty="0">
                <a:ea typeface="+mj-ea"/>
                <a:cs typeface="Arial" panose="020B0604020202020204" pitchFamily="34" charset="0"/>
              </a:rPr>
              <a:t>将温度数据传递给下一个节点</a:t>
            </a:r>
          </a:p>
          <a:p>
            <a:r>
              <a:rPr lang="en-US" altLang="zh-CN" dirty="0">
                <a:ea typeface="+mj-ea"/>
                <a:cs typeface="Arial" panose="020B0604020202020204" pitchFamily="34" charset="0"/>
              </a:rPr>
              <a:t>11	}</a:t>
            </a:r>
          </a:p>
        </p:txBody>
      </p:sp>
    </p:spTree>
    <p:extLst>
      <p:ext uri="{BB962C8B-B14F-4D97-AF65-F5344CB8AC3E}">
        <p14:creationId xmlns:p14="http://schemas.microsoft.com/office/powerpoint/2010/main" val="3944878989"/>
      </p:ext>
    </p:extLst>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zh-CN" altLang="en-US" dirty="0"/>
              <a:t>服务编排</a:t>
            </a:r>
          </a:p>
        </p:txBody>
      </p:sp>
      <p:sp>
        <p:nvSpPr>
          <p:cNvPr id="3" name="内容占位符 2"/>
          <p:cNvSpPr>
            <a:spLocks noGrp="1"/>
          </p:cNvSpPr>
          <p:nvPr>
            <p:ph idx="1"/>
          </p:nvPr>
        </p:nvSpPr>
        <p:spPr/>
        <p:txBody>
          <a:bodyPr/>
          <a:lstStyle/>
          <a:p>
            <a:pPr lvl="1"/>
            <a:r>
              <a:rPr lang="zh-CN" altLang="en-US"/>
              <a:t>步骤二：将节点按照应用逻辑进行连接，并对节点进行配置</a:t>
            </a:r>
            <a:endParaRPr lang="en-US" altLang="zh-CN"/>
          </a:p>
          <a:p>
            <a:pPr lvl="2"/>
            <a:r>
              <a:rPr lang="zh-CN" altLang="en-US"/>
              <a:t>路径选择节点节点：配置路由节点，根据温度是否大于等于 </a:t>
            </a:r>
            <a:r>
              <a:rPr lang="en-US" altLang="zh-CN"/>
              <a:t>30</a:t>
            </a:r>
            <a:r>
              <a:rPr lang="zh-CN" altLang="en-US"/>
              <a:t>℃，若温度大于等于</a:t>
            </a:r>
            <a:r>
              <a:rPr lang="en-US" altLang="zh-CN"/>
              <a:t>30 </a:t>
            </a:r>
            <a:r>
              <a:rPr lang="zh-CN" altLang="en-US"/>
              <a:t>℃，输出到钉钉机器人节点，否则，结束</a:t>
            </a:r>
            <a:endParaRPr lang="en-US" altLang="zh-CN"/>
          </a:p>
          <a:p>
            <a:pPr lvl="1"/>
            <a:endParaRPr lang="en-US" altLang="zh-CN" dirty="0"/>
          </a:p>
        </p:txBody>
      </p:sp>
      <p:pic>
        <p:nvPicPr>
          <p:cNvPr id="6" name="图片 5">
            <a:extLst>
              <a:ext uri="{FF2B5EF4-FFF2-40B4-BE49-F238E27FC236}">
                <a16:creationId xmlns:a16="http://schemas.microsoft.com/office/drawing/2014/main" id="{3859980F-7E9F-4A5D-A212-06115B4037F2}"/>
              </a:ext>
            </a:extLst>
          </p:cNvPr>
          <p:cNvPicPr/>
          <p:nvPr/>
        </p:nvPicPr>
        <p:blipFill rotWithShape="1">
          <a:blip r:embed="rId3"/>
          <a:srcRect l="72715" t="19120" r="575" b="37882"/>
          <a:stretch/>
        </p:blipFill>
        <p:spPr bwMode="auto">
          <a:xfrm>
            <a:off x="2599139" y="2828258"/>
            <a:ext cx="3945722" cy="357254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70032917"/>
      </p:ext>
    </p:extLst>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zh-CN" altLang="en-US" dirty="0"/>
              <a:t>服务编排</a:t>
            </a:r>
          </a:p>
        </p:txBody>
      </p:sp>
      <p:sp>
        <p:nvSpPr>
          <p:cNvPr id="3" name="内容占位符 2"/>
          <p:cNvSpPr>
            <a:spLocks noGrp="1"/>
          </p:cNvSpPr>
          <p:nvPr>
            <p:ph idx="1"/>
          </p:nvPr>
        </p:nvSpPr>
        <p:spPr/>
        <p:txBody>
          <a:bodyPr/>
          <a:lstStyle/>
          <a:p>
            <a:pPr lvl="1"/>
            <a:r>
              <a:rPr lang="zh-CN" altLang="en-US"/>
              <a:t>步骤二：将节点按照应用逻辑进行连接，并对节点进行配置</a:t>
            </a:r>
            <a:endParaRPr lang="en-US" altLang="zh-CN"/>
          </a:p>
          <a:p>
            <a:pPr lvl="2"/>
            <a:r>
              <a:rPr lang="zh-CN" altLang="en-US"/>
              <a:t>钉钉机器人节点：配置钉钉机器人节点的 </a:t>
            </a:r>
            <a:r>
              <a:rPr lang="en-US" altLang="zh-CN"/>
              <a:t>access_token, access_token</a:t>
            </a:r>
            <a:r>
              <a:rPr lang="zh-CN" altLang="en-US"/>
              <a:t>的获取参考</a:t>
            </a:r>
            <a:r>
              <a:rPr lang="zh-CN" altLang="en-US">
                <a:hlinkClick r:id="rId3"/>
              </a:rPr>
              <a:t>钉钉机器人</a:t>
            </a:r>
            <a:r>
              <a:rPr lang="zh-CN" altLang="en-US"/>
              <a:t>。</a:t>
            </a:r>
            <a:endParaRPr lang="en-US" altLang="zh-CN"/>
          </a:p>
          <a:p>
            <a:pPr lvl="1"/>
            <a:endParaRPr lang="en-US" altLang="zh-CN" dirty="0"/>
          </a:p>
        </p:txBody>
      </p:sp>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1709" y="3116438"/>
            <a:ext cx="4204978" cy="3284362"/>
          </a:xfrm>
          <a:prstGeom prst="rect">
            <a:avLst/>
          </a:prstGeom>
        </p:spPr>
      </p:pic>
    </p:spTree>
    <p:extLst>
      <p:ext uri="{BB962C8B-B14F-4D97-AF65-F5344CB8AC3E}">
        <p14:creationId xmlns:p14="http://schemas.microsoft.com/office/powerpoint/2010/main" val="2570723777"/>
      </p:ext>
    </p:extLst>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zh-CN" altLang="en-US" dirty="0"/>
              <a:t>服务编排</a:t>
            </a:r>
          </a:p>
        </p:txBody>
      </p:sp>
      <p:sp>
        <p:nvSpPr>
          <p:cNvPr id="3" name="内容占位符 2"/>
          <p:cNvSpPr>
            <a:spLocks noGrp="1"/>
          </p:cNvSpPr>
          <p:nvPr>
            <p:ph idx="1"/>
          </p:nvPr>
        </p:nvSpPr>
        <p:spPr/>
        <p:txBody>
          <a:bodyPr/>
          <a:lstStyle/>
          <a:p>
            <a:pPr lvl="1"/>
            <a:r>
              <a:rPr lang="zh-CN" altLang="en-US"/>
              <a:t>步骤三：部署应用，服务逻辑是否正确</a:t>
            </a:r>
          </a:p>
          <a:p>
            <a:pPr lvl="1"/>
            <a:endParaRPr lang="en-US" altLang="zh-CN" dirty="0"/>
          </a:p>
        </p:txBody>
      </p:sp>
      <p:pic>
        <p:nvPicPr>
          <p:cNvPr id="5" name="图片 4">
            <a:extLst>
              <a:ext uri="{FF2B5EF4-FFF2-40B4-BE49-F238E27FC236}">
                <a16:creationId xmlns:a16="http://schemas.microsoft.com/office/drawing/2014/main" id="{58A3DF55-B651-4107-B465-B1DEA73B03FE}"/>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2669000" y="2152859"/>
            <a:ext cx="3805999" cy="3624942"/>
          </a:xfrm>
          <a:prstGeom prst="rect">
            <a:avLst/>
          </a:prstGeom>
        </p:spPr>
      </p:pic>
    </p:spTree>
    <p:extLst>
      <p:ext uri="{BB962C8B-B14F-4D97-AF65-F5344CB8AC3E}">
        <p14:creationId xmlns:p14="http://schemas.microsoft.com/office/powerpoint/2010/main" val="781550618"/>
      </p:ext>
    </p:extLst>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dirty="0"/>
              <a:t>IoT Studio</a:t>
            </a:r>
            <a:r>
              <a:rPr lang="zh-CN" altLang="en-US" dirty="0"/>
              <a:t>提供的服务节点</a:t>
            </a:r>
          </a:p>
        </p:txBody>
      </p:sp>
      <p:sp>
        <p:nvSpPr>
          <p:cNvPr id="5" name="内容占位符 2">
            <a:extLst>
              <a:ext uri="{FF2B5EF4-FFF2-40B4-BE49-F238E27FC236}">
                <a16:creationId xmlns:a16="http://schemas.microsoft.com/office/drawing/2014/main" id="{6052F64F-A0B0-4032-BEA6-47B40A36A473}"/>
              </a:ext>
            </a:extLst>
          </p:cNvPr>
          <p:cNvSpPr>
            <a:spLocks noGrp="1"/>
          </p:cNvSpPr>
          <p:nvPr>
            <p:ph idx="1"/>
          </p:nvPr>
        </p:nvSpPr>
        <p:spPr/>
        <p:txBody>
          <a:bodyPr/>
          <a:lstStyle/>
          <a:p>
            <a:endParaRPr lang="en-US" altLang="zh-CN">
              <a:sym typeface="Wingdings" pitchFamily="2" charset="2"/>
            </a:endParaRPr>
          </a:p>
          <a:p>
            <a:endParaRPr lang="en-US" altLang="zh-CN" dirty="0">
              <a:sym typeface="Wingdings" pitchFamily="2" charset="2"/>
            </a:endParaRPr>
          </a:p>
        </p:txBody>
      </p:sp>
      <p:graphicFrame>
        <p:nvGraphicFramePr>
          <p:cNvPr id="3" name="表格 2">
            <a:extLst>
              <a:ext uri="{FF2B5EF4-FFF2-40B4-BE49-F238E27FC236}">
                <a16:creationId xmlns:a16="http://schemas.microsoft.com/office/drawing/2014/main" id="{BBC7EA27-6851-4A1B-B65F-9A1B6191CA29}"/>
              </a:ext>
            </a:extLst>
          </p:cNvPr>
          <p:cNvGraphicFramePr>
            <a:graphicFrameLocks noGrp="1"/>
          </p:cNvGraphicFramePr>
          <p:nvPr>
            <p:extLst>
              <p:ext uri="{D42A27DB-BD31-4B8C-83A1-F6EECF244321}">
                <p14:modId xmlns:p14="http://schemas.microsoft.com/office/powerpoint/2010/main" val="3452098564"/>
              </p:ext>
            </p:extLst>
          </p:nvPr>
        </p:nvGraphicFramePr>
        <p:xfrm>
          <a:off x="457200" y="990000"/>
          <a:ext cx="8242300" cy="5486400"/>
        </p:xfrm>
        <a:graphic>
          <a:graphicData uri="http://schemas.openxmlformats.org/drawingml/2006/table">
            <a:tbl>
              <a:tblPr firstRow="1" firstCol="1" bandRow="1">
                <a:tableStyleId>{93296810-A885-4BE3-A3E7-6D5BEEA58F35}</a:tableStyleId>
              </a:tblPr>
              <a:tblGrid>
                <a:gridCol w="1262054">
                  <a:extLst>
                    <a:ext uri="{9D8B030D-6E8A-4147-A177-3AD203B41FA5}">
                      <a16:colId xmlns:a16="http://schemas.microsoft.com/office/drawing/2014/main" val="3631297227"/>
                    </a:ext>
                  </a:extLst>
                </a:gridCol>
                <a:gridCol w="1610026">
                  <a:extLst>
                    <a:ext uri="{9D8B030D-6E8A-4147-A177-3AD203B41FA5}">
                      <a16:colId xmlns:a16="http://schemas.microsoft.com/office/drawing/2014/main" val="386317246"/>
                    </a:ext>
                  </a:extLst>
                </a:gridCol>
                <a:gridCol w="5370220">
                  <a:extLst>
                    <a:ext uri="{9D8B030D-6E8A-4147-A177-3AD203B41FA5}">
                      <a16:colId xmlns:a16="http://schemas.microsoft.com/office/drawing/2014/main" val="2559325860"/>
                    </a:ext>
                  </a:extLst>
                </a:gridCol>
              </a:tblGrid>
              <a:tr h="548640">
                <a:tc>
                  <a:txBody>
                    <a:bodyPr/>
                    <a:lstStyle/>
                    <a:p>
                      <a:pPr algn="ctr">
                        <a:lnSpc>
                          <a:spcPct val="100000"/>
                        </a:lnSpc>
                        <a:spcAft>
                          <a:spcPts val="0"/>
                        </a:spcAft>
                      </a:pPr>
                      <a:r>
                        <a:rPr lang="zh-CN" sz="1800" kern="100" dirty="0">
                          <a:effectLst/>
                          <a:latin typeface="+mj-ea"/>
                          <a:ea typeface="+mj-ea"/>
                        </a:rPr>
                        <a:t>类别</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服务节点名称</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服务节点描述</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2373082925"/>
                  </a:ext>
                </a:extLst>
              </a:tr>
              <a:tr h="548640">
                <a:tc>
                  <a:txBody>
                    <a:bodyPr/>
                    <a:lstStyle/>
                    <a:p>
                      <a:pPr algn="ctr">
                        <a:lnSpc>
                          <a:spcPct val="100000"/>
                        </a:lnSpc>
                        <a:spcAft>
                          <a:spcPts val="0"/>
                        </a:spcAft>
                      </a:pPr>
                      <a:r>
                        <a:rPr lang="zh-CN" sz="1800" kern="100">
                          <a:effectLst/>
                          <a:latin typeface="+mj-ea"/>
                          <a:ea typeface="+mj-ea"/>
                        </a:rPr>
                        <a:t>触发</a:t>
                      </a:r>
                      <a:endParaRPr lang="zh-CN" sz="1800" kern="10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空间触发</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dirty="0">
                          <a:effectLst/>
                          <a:latin typeface="+mj-ea"/>
                          <a:ea typeface="+mj-ea"/>
                        </a:rPr>
                        <a:t>可配置业务服务在指定的地理空间执行。</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2678658990"/>
                  </a:ext>
                </a:extLst>
              </a:tr>
              <a:tr h="548640">
                <a:tc>
                  <a:txBody>
                    <a:bodyPr/>
                    <a:lstStyle/>
                    <a:p>
                      <a:pPr algn="ctr">
                        <a:lnSpc>
                          <a:spcPct val="100000"/>
                        </a:lnSpc>
                        <a:spcAft>
                          <a:spcPts val="0"/>
                        </a:spcAft>
                      </a:pPr>
                      <a:r>
                        <a:rPr lang="zh-CN" sz="1800" kern="100">
                          <a:effectLst/>
                          <a:latin typeface="+mj-ea"/>
                          <a:ea typeface="+mj-ea"/>
                        </a:rPr>
                        <a:t>触发</a:t>
                      </a:r>
                      <a:endParaRPr lang="zh-CN" sz="1800" kern="10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a:effectLst/>
                          <a:latin typeface="+mj-ea"/>
                          <a:ea typeface="+mj-ea"/>
                        </a:rPr>
                        <a:t>设备触发</a:t>
                      </a:r>
                      <a:endParaRPr lang="zh-CN" sz="1800" kern="10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dirty="0">
                          <a:effectLst/>
                          <a:latin typeface="+mj-ea"/>
                          <a:ea typeface="+mj-ea"/>
                        </a:rPr>
                        <a:t>是将设备上报的属性（读写型）、事件数据或状态变更作为服务的输入，触发服务的后续逻辑。</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1580956245"/>
                  </a:ext>
                </a:extLst>
              </a:tr>
              <a:tr h="548640">
                <a:tc>
                  <a:txBody>
                    <a:bodyPr/>
                    <a:lstStyle/>
                    <a:p>
                      <a:pPr algn="ctr">
                        <a:lnSpc>
                          <a:spcPct val="100000"/>
                        </a:lnSpc>
                        <a:spcAft>
                          <a:spcPts val="0"/>
                        </a:spcAft>
                      </a:pPr>
                      <a:r>
                        <a:rPr lang="zh-CN" sz="1800" kern="100">
                          <a:effectLst/>
                          <a:latin typeface="+mj-ea"/>
                          <a:ea typeface="+mj-ea"/>
                        </a:rPr>
                        <a:t>触发</a:t>
                      </a:r>
                      <a:endParaRPr lang="zh-CN" sz="1800" kern="10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a:effectLst/>
                          <a:latin typeface="+mj-ea"/>
                          <a:ea typeface="+mj-ea"/>
                        </a:rPr>
                        <a:t>定时触发</a:t>
                      </a:r>
                      <a:endParaRPr lang="zh-CN" sz="1800" kern="10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dirty="0">
                          <a:effectLst/>
                          <a:latin typeface="+mj-ea"/>
                          <a:ea typeface="+mj-ea"/>
                        </a:rPr>
                        <a:t>定时触发节点用于设置时间，使服务在指定时间执行。</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3498263511"/>
                  </a:ext>
                </a:extLst>
              </a:tr>
              <a:tr h="548640">
                <a:tc>
                  <a:txBody>
                    <a:bodyPr/>
                    <a:lstStyle/>
                    <a:p>
                      <a:pPr algn="ctr">
                        <a:lnSpc>
                          <a:spcPct val="100000"/>
                        </a:lnSpc>
                        <a:spcAft>
                          <a:spcPts val="0"/>
                        </a:spcAft>
                      </a:pPr>
                      <a:r>
                        <a:rPr lang="zh-CN" sz="1800" kern="100">
                          <a:effectLst/>
                          <a:latin typeface="+mj-ea"/>
                          <a:ea typeface="+mj-ea"/>
                        </a:rPr>
                        <a:t>触发</a:t>
                      </a:r>
                      <a:endParaRPr lang="zh-CN" sz="1800" kern="10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en-US" sz="1800" kern="100">
                          <a:effectLst/>
                          <a:latin typeface="+mj-ea"/>
                          <a:ea typeface="+mj-ea"/>
                        </a:rPr>
                        <a:t>HTTP</a:t>
                      </a:r>
                      <a:r>
                        <a:rPr lang="zh-CN" sz="1800" kern="100">
                          <a:effectLst/>
                          <a:latin typeface="+mj-ea"/>
                          <a:ea typeface="+mj-ea"/>
                        </a:rPr>
                        <a:t>请求</a:t>
                      </a:r>
                      <a:endParaRPr lang="zh-CN" sz="1800" kern="10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en-US" sz="1800" kern="100" dirty="0">
                          <a:effectLst/>
                          <a:latin typeface="+mj-ea"/>
                          <a:ea typeface="+mj-ea"/>
                        </a:rPr>
                        <a:t>HTTP</a:t>
                      </a:r>
                      <a:r>
                        <a:rPr lang="zh-CN" sz="1800" kern="100" dirty="0">
                          <a:effectLst/>
                          <a:latin typeface="+mj-ea"/>
                          <a:ea typeface="+mj-ea"/>
                        </a:rPr>
                        <a:t>请求节点是创建</a:t>
                      </a:r>
                      <a:r>
                        <a:rPr lang="en-US" sz="1800" kern="100" dirty="0">
                          <a:effectLst/>
                          <a:latin typeface="+mj-ea"/>
                          <a:ea typeface="+mj-ea"/>
                        </a:rPr>
                        <a:t>API</a:t>
                      </a:r>
                      <a:r>
                        <a:rPr lang="zh-CN" sz="1800" kern="100" dirty="0">
                          <a:effectLst/>
                          <a:latin typeface="+mj-ea"/>
                          <a:ea typeface="+mj-ea"/>
                        </a:rPr>
                        <a:t>服务的开始节点，</a:t>
                      </a:r>
                      <a:r>
                        <a:rPr lang="en-US" sz="1800" kern="100" dirty="0">
                          <a:effectLst/>
                          <a:latin typeface="+mj-ea"/>
                          <a:ea typeface="+mj-ea"/>
                        </a:rPr>
                        <a:t>API</a:t>
                      </a:r>
                      <a:r>
                        <a:rPr lang="zh-CN" sz="1800" kern="100" dirty="0">
                          <a:effectLst/>
                          <a:latin typeface="+mj-ea"/>
                          <a:ea typeface="+mj-ea"/>
                        </a:rPr>
                        <a:t>服务必须以</a:t>
                      </a:r>
                      <a:r>
                        <a:rPr lang="en-US" sz="1800" kern="100" dirty="0">
                          <a:effectLst/>
                          <a:latin typeface="+mj-ea"/>
                          <a:ea typeface="+mj-ea"/>
                        </a:rPr>
                        <a:t>HTTP</a:t>
                      </a:r>
                      <a:r>
                        <a:rPr lang="zh-CN" sz="1800" kern="100" dirty="0">
                          <a:effectLst/>
                          <a:latin typeface="+mj-ea"/>
                          <a:ea typeface="+mj-ea"/>
                        </a:rPr>
                        <a:t>返回节点作为终止节点。</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3906800853"/>
                  </a:ext>
                </a:extLst>
              </a:tr>
              <a:tr h="548640">
                <a:tc>
                  <a:txBody>
                    <a:bodyPr/>
                    <a:lstStyle/>
                    <a:p>
                      <a:pPr algn="ctr">
                        <a:lnSpc>
                          <a:spcPct val="100000"/>
                        </a:lnSpc>
                        <a:spcAft>
                          <a:spcPts val="0"/>
                        </a:spcAft>
                      </a:pPr>
                      <a:r>
                        <a:rPr lang="zh-CN" sz="1800" kern="100">
                          <a:effectLst/>
                          <a:latin typeface="+mj-ea"/>
                          <a:ea typeface="+mj-ea"/>
                        </a:rPr>
                        <a:t>触发</a:t>
                      </a:r>
                      <a:endParaRPr lang="zh-CN" sz="1800" kern="10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en-US" sz="1800" kern="100">
                          <a:effectLst/>
                          <a:latin typeface="+mj-ea"/>
                          <a:ea typeface="+mj-ea"/>
                        </a:rPr>
                        <a:t>MQTT</a:t>
                      </a:r>
                      <a:r>
                        <a:rPr lang="zh-CN" sz="1800" kern="100">
                          <a:effectLst/>
                          <a:latin typeface="+mj-ea"/>
                          <a:ea typeface="+mj-ea"/>
                        </a:rPr>
                        <a:t>订阅</a:t>
                      </a:r>
                      <a:endParaRPr lang="zh-CN" sz="1800" kern="10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en-US" sz="1800" kern="100" dirty="0">
                          <a:effectLst/>
                          <a:latin typeface="+mj-ea"/>
                          <a:ea typeface="+mj-ea"/>
                        </a:rPr>
                        <a:t>MQTT</a:t>
                      </a:r>
                      <a:r>
                        <a:rPr lang="zh-CN" sz="1800" kern="100" dirty="0">
                          <a:effectLst/>
                          <a:latin typeface="+mj-ea"/>
                          <a:ea typeface="+mj-ea"/>
                        </a:rPr>
                        <a:t>订阅节点支持开启对设备属性、事件、工作状态等的监听功能，用来获取设备的实时信息。</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3229024763"/>
                  </a:ext>
                </a:extLst>
              </a:tr>
              <a:tr h="548640">
                <a:tc>
                  <a:txBody>
                    <a:bodyPr/>
                    <a:lstStyle/>
                    <a:p>
                      <a:pPr algn="ctr">
                        <a:lnSpc>
                          <a:spcPct val="100000"/>
                        </a:lnSpc>
                        <a:spcAft>
                          <a:spcPts val="0"/>
                        </a:spcAft>
                      </a:pPr>
                      <a:r>
                        <a:rPr lang="zh-CN" sz="1800" kern="100">
                          <a:effectLst/>
                          <a:latin typeface="+mj-ea"/>
                          <a:ea typeface="+mj-ea"/>
                        </a:rPr>
                        <a:t>输出</a:t>
                      </a:r>
                      <a:endParaRPr lang="zh-CN" sz="1800" kern="10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en-US" sz="1800" kern="100">
                          <a:effectLst/>
                          <a:latin typeface="+mj-ea"/>
                          <a:ea typeface="+mj-ea"/>
                        </a:rPr>
                        <a:t>HTTP</a:t>
                      </a:r>
                      <a:r>
                        <a:rPr lang="zh-CN" sz="1800" kern="100">
                          <a:effectLst/>
                          <a:latin typeface="+mj-ea"/>
                          <a:ea typeface="+mj-ea"/>
                        </a:rPr>
                        <a:t>返回</a:t>
                      </a:r>
                      <a:endParaRPr lang="zh-CN" sz="1800" kern="10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en-US" sz="1800" kern="100" dirty="0">
                          <a:effectLst/>
                          <a:latin typeface="+mj-ea"/>
                          <a:ea typeface="+mj-ea"/>
                        </a:rPr>
                        <a:t>HTTP</a:t>
                      </a:r>
                      <a:r>
                        <a:rPr lang="zh-CN" sz="1800" kern="100" dirty="0">
                          <a:effectLst/>
                          <a:latin typeface="+mj-ea"/>
                          <a:ea typeface="+mj-ea"/>
                        </a:rPr>
                        <a:t>返回节点可配置为业务服务的结束节点。</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575083186"/>
                  </a:ext>
                </a:extLst>
              </a:tr>
              <a:tr h="548640">
                <a:tc>
                  <a:txBody>
                    <a:bodyPr/>
                    <a:lstStyle/>
                    <a:p>
                      <a:pPr algn="ctr">
                        <a:lnSpc>
                          <a:spcPct val="100000"/>
                        </a:lnSpc>
                        <a:spcAft>
                          <a:spcPts val="0"/>
                        </a:spcAft>
                      </a:pPr>
                      <a:r>
                        <a:rPr lang="zh-CN" sz="1800" kern="100">
                          <a:effectLst/>
                          <a:latin typeface="+mj-ea"/>
                          <a:ea typeface="+mj-ea"/>
                        </a:rPr>
                        <a:t>功能</a:t>
                      </a:r>
                      <a:endParaRPr lang="zh-CN" sz="1800" kern="10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路径选择</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dirty="0">
                          <a:effectLst/>
                          <a:latin typeface="+mj-ea"/>
                          <a:ea typeface="+mj-ea"/>
                        </a:rPr>
                        <a:t>分支节点，一个输入，多个输出，实现</a:t>
                      </a:r>
                      <a:r>
                        <a:rPr lang="en-US" sz="1800" kern="100" dirty="0">
                          <a:effectLst/>
                          <a:latin typeface="+mj-ea"/>
                          <a:ea typeface="+mj-ea"/>
                        </a:rPr>
                        <a:t>if-else</a:t>
                      </a:r>
                      <a:r>
                        <a:rPr lang="zh-CN" sz="1800" kern="100" dirty="0">
                          <a:effectLst/>
                          <a:latin typeface="+mj-ea"/>
                          <a:ea typeface="+mj-ea"/>
                        </a:rPr>
                        <a:t>的应用逻辑，目前最多支持</a:t>
                      </a:r>
                      <a:r>
                        <a:rPr lang="en-US" sz="1800" kern="100" dirty="0">
                          <a:effectLst/>
                          <a:latin typeface="+mj-ea"/>
                          <a:ea typeface="+mj-ea"/>
                        </a:rPr>
                        <a:t>10</a:t>
                      </a:r>
                      <a:r>
                        <a:rPr lang="zh-CN" sz="1800" kern="100" dirty="0">
                          <a:effectLst/>
                          <a:latin typeface="+mj-ea"/>
                          <a:ea typeface="+mj-ea"/>
                        </a:rPr>
                        <a:t>个分支</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1823005292"/>
                  </a:ext>
                </a:extLst>
              </a:tr>
              <a:tr h="548640">
                <a:tc>
                  <a:txBody>
                    <a:bodyPr/>
                    <a:lstStyle/>
                    <a:p>
                      <a:pPr algn="ctr">
                        <a:lnSpc>
                          <a:spcPct val="100000"/>
                        </a:lnSpc>
                        <a:spcAft>
                          <a:spcPts val="0"/>
                        </a:spcAft>
                      </a:pPr>
                      <a:r>
                        <a:rPr lang="zh-CN" sz="1800" kern="100">
                          <a:effectLst/>
                          <a:latin typeface="+mj-ea"/>
                          <a:ea typeface="+mj-ea"/>
                        </a:rPr>
                        <a:t>功能</a:t>
                      </a:r>
                      <a:endParaRPr lang="zh-CN" sz="1800" kern="10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en-US" sz="1800" kern="100">
                          <a:effectLst/>
                          <a:latin typeface="+mj-ea"/>
                          <a:ea typeface="+mj-ea"/>
                        </a:rPr>
                        <a:t>Python</a:t>
                      </a:r>
                      <a:r>
                        <a:rPr lang="zh-CN" sz="1800" kern="100">
                          <a:effectLst/>
                          <a:latin typeface="+mj-ea"/>
                          <a:ea typeface="+mj-ea"/>
                        </a:rPr>
                        <a:t>脚本</a:t>
                      </a:r>
                      <a:endParaRPr lang="zh-CN" sz="1800" kern="10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dirty="0">
                          <a:effectLst/>
                          <a:latin typeface="+mj-ea"/>
                          <a:ea typeface="+mj-ea"/>
                        </a:rPr>
                        <a:t>可编写自定义</a:t>
                      </a:r>
                      <a:r>
                        <a:rPr lang="en-US" sz="1800" kern="100" dirty="0">
                          <a:effectLst/>
                          <a:latin typeface="+mj-ea"/>
                          <a:ea typeface="+mj-ea"/>
                        </a:rPr>
                        <a:t>Python</a:t>
                      </a:r>
                      <a:r>
                        <a:rPr lang="zh-CN" sz="1800" kern="100" dirty="0">
                          <a:effectLst/>
                          <a:latin typeface="+mj-ea"/>
                          <a:ea typeface="+mj-ea"/>
                        </a:rPr>
                        <a:t>代码来实现功能逻辑，目前支持</a:t>
                      </a:r>
                      <a:r>
                        <a:rPr lang="en-US" sz="1800" kern="100" dirty="0">
                          <a:effectLst/>
                          <a:latin typeface="+mj-ea"/>
                          <a:ea typeface="+mj-ea"/>
                        </a:rPr>
                        <a:t>Python v2.7.9</a:t>
                      </a:r>
                      <a:r>
                        <a:rPr lang="zh-CN" sz="1800" kern="100" dirty="0">
                          <a:effectLst/>
                          <a:latin typeface="+mj-ea"/>
                          <a:ea typeface="+mj-ea"/>
                        </a:rPr>
                        <a:t>版本、支持使用基本库和基本语法。</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2177820971"/>
                  </a:ext>
                </a:extLst>
              </a:tr>
              <a:tr h="548640">
                <a:tc>
                  <a:txBody>
                    <a:bodyPr/>
                    <a:lstStyle/>
                    <a:p>
                      <a:pPr algn="ctr">
                        <a:lnSpc>
                          <a:spcPct val="100000"/>
                        </a:lnSpc>
                        <a:spcAft>
                          <a:spcPts val="0"/>
                        </a:spcAft>
                      </a:pPr>
                      <a:r>
                        <a:rPr lang="zh-CN" sz="1800" kern="100">
                          <a:effectLst/>
                          <a:latin typeface="+mj-ea"/>
                          <a:ea typeface="+mj-ea"/>
                        </a:rPr>
                        <a:t>功能</a:t>
                      </a:r>
                      <a:endParaRPr lang="zh-CN" sz="1800" kern="10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a:effectLst/>
                          <a:latin typeface="+mj-ea"/>
                          <a:ea typeface="+mj-ea"/>
                        </a:rPr>
                        <a:t>条件判断</a:t>
                      </a:r>
                      <a:endParaRPr lang="zh-CN" sz="1800" kern="10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dirty="0">
                          <a:effectLst/>
                          <a:latin typeface="+mj-ea"/>
                          <a:ea typeface="+mj-ea"/>
                        </a:rPr>
                        <a:t>根据设定的条件对输入值进行判断，再根据判断结果执行不同的路径。</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3547388922"/>
                  </a:ext>
                </a:extLst>
              </a:tr>
            </a:tbl>
          </a:graphicData>
        </a:graphic>
      </p:graphicFrame>
    </p:spTree>
    <p:extLst>
      <p:ext uri="{BB962C8B-B14F-4D97-AF65-F5344CB8AC3E}">
        <p14:creationId xmlns:p14="http://schemas.microsoft.com/office/powerpoint/2010/main" val="1696095098"/>
      </p:ext>
    </p:extLst>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DE4F62-6EFA-4320-A69E-A52B2EA46101}"/>
              </a:ext>
            </a:extLst>
          </p:cNvPr>
          <p:cNvSpPr>
            <a:spLocks noGrp="1"/>
          </p:cNvSpPr>
          <p:nvPr>
            <p:ph type="title"/>
          </p:nvPr>
        </p:nvSpPr>
        <p:spPr/>
        <p:txBody>
          <a:bodyPr/>
          <a:lstStyle/>
          <a:p>
            <a:r>
              <a:rPr lang="en-US" altLang="zh-CN" dirty="0"/>
              <a:t>IoT Studio</a:t>
            </a:r>
            <a:r>
              <a:rPr lang="zh-CN" altLang="en-US" dirty="0"/>
              <a:t>提供的服务节点</a:t>
            </a:r>
          </a:p>
        </p:txBody>
      </p:sp>
      <p:sp>
        <p:nvSpPr>
          <p:cNvPr id="6" name="内容占位符 5">
            <a:extLst>
              <a:ext uri="{FF2B5EF4-FFF2-40B4-BE49-F238E27FC236}">
                <a16:creationId xmlns:a16="http://schemas.microsoft.com/office/drawing/2014/main" id="{9747921F-A082-4E61-AF25-92F3952C25A6}"/>
              </a:ext>
            </a:extLst>
          </p:cNvPr>
          <p:cNvSpPr>
            <a:spLocks noGrp="1"/>
          </p:cNvSpPr>
          <p:nvPr>
            <p:ph idx="1"/>
          </p:nvPr>
        </p:nvSpPr>
        <p:spPr/>
        <p:txBody>
          <a:bodyPr/>
          <a:lstStyle/>
          <a:p>
            <a:endParaRPr lang="zh-CN" altLang="en-US"/>
          </a:p>
        </p:txBody>
      </p:sp>
      <p:graphicFrame>
        <p:nvGraphicFramePr>
          <p:cNvPr id="4" name="表格 3">
            <a:extLst>
              <a:ext uri="{FF2B5EF4-FFF2-40B4-BE49-F238E27FC236}">
                <a16:creationId xmlns:a16="http://schemas.microsoft.com/office/drawing/2014/main" id="{F2B6D6F4-3A7C-499E-AB58-6AADEAC18928}"/>
              </a:ext>
            </a:extLst>
          </p:cNvPr>
          <p:cNvGraphicFramePr>
            <a:graphicFrameLocks noGrp="1"/>
          </p:cNvGraphicFramePr>
          <p:nvPr>
            <p:extLst>
              <p:ext uri="{D42A27DB-BD31-4B8C-83A1-F6EECF244321}">
                <p14:modId xmlns:p14="http://schemas.microsoft.com/office/powerpoint/2010/main" val="4175107285"/>
              </p:ext>
            </p:extLst>
          </p:nvPr>
        </p:nvGraphicFramePr>
        <p:xfrm>
          <a:off x="457201" y="990600"/>
          <a:ext cx="8242300" cy="5486400"/>
        </p:xfrm>
        <a:graphic>
          <a:graphicData uri="http://schemas.openxmlformats.org/drawingml/2006/table">
            <a:tbl>
              <a:tblPr firstRow="1" firstCol="1" bandRow="1">
                <a:tableStyleId>{93296810-A885-4BE3-A3E7-6D5BEEA58F35}</a:tableStyleId>
              </a:tblPr>
              <a:tblGrid>
                <a:gridCol w="1257879">
                  <a:extLst>
                    <a:ext uri="{9D8B030D-6E8A-4147-A177-3AD203B41FA5}">
                      <a16:colId xmlns:a16="http://schemas.microsoft.com/office/drawing/2014/main" val="1170494275"/>
                    </a:ext>
                  </a:extLst>
                </a:gridCol>
                <a:gridCol w="1554391">
                  <a:extLst>
                    <a:ext uri="{9D8B030D-6E8A-4147-A177-3AD203B41FA5}">
                      <a16:colId xmlns:a16="http://schemas.microsoft.com/office/drawing/2014/main" val="3984338246"/>
                    </a:ext>
                  </a:extLst>
                </a:gridCol>
                <a:gridCol w="5430030">
                  <a:extLst>
                    <a:ext uri="{9D8B030D-6E8A-4147-A177-3AD203B41FA5}">
                      <a16:colId xmlns:a16="http://schemas.microsoft.com/office/drawing/2014/main" val="1900171203"/>
                    </a:ext>
                  </a:extLst>
                </a:gridCol>
              </a:tblGrid>
              <a:tr h="548640">
                <a:tc>
                  <a:txBody>
                    <a:bodyPr/>
                    <a:lstStyle/>
                    <a:p>
                      <a:pPr algn="ctr">
                        <a:lnSpc>
                          <a:spcPct val="100000"/>
                        </a:lnSpc>
                        <a:spcAft>
                          <a:spcPts val="0"/>
                        </a:spcAft>
                      </a:pPr>
                      <a:r>
                        <a:rPr lang="zh-CN" sz="1800" kern="100" dirty="0">
                          <a:effectLst/>
                          <a:latin typeface="+mj-ea"/>
                          <a:ea typeface="+mj-ea"/>
                        </a:rPr>
                        <a:t>类别</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服务节点名称</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服务节点描述</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393670651"/>
                  </a:ext>
                </a:extLst>
              </a:tr>
              <a:tr h="548640">
                <a:tc>
                  <a:txBody>
                    <a:bodyPr/>
                    <a:lstStyle/>
                    <a:p>
                      <a:pPr algn="ctr">
                        <a:lnSpc>
                          <a:spcPct val="100000"/>
                        </a:lnSpc>
                        <a:spcAft>
                          <a:spcPts val="0"/>
                        </a:spcAft>
                      </a:pPr>
                      <a:r>
                        <a:rPr lang="zh-CN" sz="1800" kern="100" dirty="0">
                          <a:effectLst/>
                          <a:latin typeface="+mj-ea"/>
                          <a:ea typeface="+mj-ea"/>
                        </a:rPr>
                        <a:t>功能</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数值计算</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dirty="0">
                          <a:effectLst/>
                          <a:latin typeface="+mj-ea"/>
                          <a:ea typeface="+mj-ea"/>
                        </a:rPr>
                        <a:t>实现简单的逻辑运算</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3053286184"/>
                  </a:ext>
                </a:extLst>
              </a:tr>
              <a:tr h="548640">
                <a:tc>
                  <a:txBody>
                    <a:bodyPr/>
                    <a:lstStyle/>
                    <a:p>
                      <a:pPr algn="ctr">
                        <a:lnSpc>
                          <a:spcPct val="100000"/>
                        </a:lnSpc>
                        <a:spcAft>
                          <a:spcPts val="0"/>
                        </a:spcAft>
                      </a:pPr>
                      <a:r>
                        <a:rPr lang="zh-CN" sz="1800" kern="100" dirty="0">
                          <a:effectLst/>
                          <a:latin typeface="+mj-ea"/>
                          <a:ea typeface="+mj-ea"/>
                        </a:rPr>
                        <a:t>功能</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en-US" sz="1800" kern="100" dirty="0">
                          <a:effectLst/>
                          <a:latin typeface="+mj-ea"/>
                          <a:ea typeface="+mj-ea"/>
                        </a:rPr>
                        <a:t>Node.js</a:t>
                      </a:r>
                      <a:r>
                        <a:rPr lang="zh-CN" sz="1800" kern="100" dirty="0">
                          <a:effectLst/>
                          <a:latin typeface="+mj-ea"/>
                          <a:ea typeface="+mj-ea"/>
                        </a:rPr>
                        <a:t>脚本</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dirty="0">
                          <a:effectLst/>
                          <a:latin typeface="+mj-ea"/>
                          <a:ea typeface="+mj-ea"/>
                        </a:rPr>
                        <a:t>自定义数据处理逻辑，可编写自定义</a:t>
                      </a:r>
                      <a:r>
                        <a:rPr lang="en-US" sz="1800" kern="100" dirty="0">
                          <a:effectLst/>
                          <a:latin typeface="+mj-ea"/>
                          <a:ea typeface="+mj-ea"/>
                        </a:rPr>
                        <a:t>JavaScript</a:t>
                      </a:r>
                      <a:r>
                        <a:rPr lang="zh-CN" sz="1800" kern="100" dirty="0">
                          <a:effectLst/>
                          <a:latin typeface="+mj-ea"/>
                          <a:ea typeface="+mj-ea"/>
                        </a:rPr>
                        <a:t>代码，目前支持</a:t>
                      </a:r>
                      <a:r>
                        <a:rPr lang="en-US" sz="1800" kern="100" dirty="0">
                          <a:effectLst/>
                          <a:latin typeface="+mj-ea"/>
                          <a:ea typeface="+mj-ea"/>
                        </a:rPr>
                        <a:t>Node.js 6.10</a:t>
                      </a:r>
                      <a:r>
                        <a:rPr lang="zh-CN" sz="1800" kern="100" dirty="0">
                          <a:effectLst/>
                          <a:latin typeface="+mj-ea"/>
                          <a:ea typeface="+mj-ea"/>
                        </a:rPr>
                        <a:t>版本</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1937570889"/>
                  </a:ext>
                </a:extLst>
              </a:tr>
              <a:tr h="548640">
                <a:tc>
                  <a:txBody>
                    <a:bodyPr/>
                    <a:lstStyle/>
                    <a:p>
                      <a:pPr algn="ctr">
                        <a:lnSpc>
                          <a:spcPct val="100000"/>
                        </a:lnSpc>
                        <a:spcAft>
                          <a:spcPts val="0"/>
                        </a:spcAft>
                      </a:pPr>
                      <a:r>
                        <a:rPr lang="zh-CN" sz="1800" kern="100" dirty="0">
                          <a:effectLst/>
                          <a:latin typeface="+mj-ea"/>
                          <a:ea typeface="+mj-ea"/>
                        </a:rPr>
                        <a:t>人工智能</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人脸识别</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dirty="0">
                          <a:effectLst/>
                          <a:latin typeface="+mj-ea"/>
                          <a:ea typeface="+mj-ea"/>
                        </a:rPr>
                        <a:t>可调用云市场购买的</a:t>
                      </a:r>
                      <a:r>
                        <a:rPr lang="en-US" sz="1800" kern="100" dirty="0">
                          <a:effectLst/>
                          <a:latin typeface="+mj-ea"/>
                          <a:ea typeface="+mj-ea"/>
                        </a:rPr>
                        <a:t>API</a:t>
                      </a:r>
                      <a:r>
                        <a:rPr lang="zh-CN" sz="1800" kern="100" dirty="0">
                          <a:effectLst/>
                          <a:latin typeface="+mj-ea"/>
                          <a:ea typeface="+mj-ea"/>
                        </a:rPr>
                        <a:t>，进行人数监测、人脸与身份证对比、识别性别、年龄和情绪等</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1581412634"/>
                  </a:ext>
                </a:extLst>
              </a:tr>
              <a:tr h="548640">
                <a:tc>
                  <a:txBody>
                    <a:bodyPr/>
                    <a:lstStyle/>
                    <a:p>
                      <a:pPr algn="ctr">
                        <a:lnSpc>
                          <a:spcPct val="100000"/>
                        </a:lnSpc>
                        <a:spcAft>
                          <a:spcPts val="0"/>
                        </a:spcAft>
                      </a:pPr>
                      <a:r>
                        <a:rPr lang="zh-CN" sz="1800" kern="100" dirty="0">
                          <a:effectLst/>
                          <a:latin typeface="+mj-ea"/>
                          <a:ea typeface="+mj-ea"/>
                        </a:rPr>
                        <a:t>人工智能</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en-US" sz="1800" kern="100" dirty="0">
                          <a:effectLst/>
                          <a:latin typeface="+mj-ea"/>
                          <a:ea typeface="+mj-ea"/>
                        </a:rPr>
                        <a:t>OCR</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dirty="0">
                          <a:effectLst/>
                          <a:latin typeface="+mj-ea"/>
                          <a:ea typeface="+mj-ea"/>
                        </a:rPr>
                        <a:t>可调用云市场购买的</a:t>
                      </a:r>
                      <a:r>
                        <a:rPr lang="en-US" sz="1800" kern="100" dirty="0">
                          <a:effectLst/>
                          <a:latin typeface="+mj-ea"/>
                          <a:ea typeface="+mj-ea"/>
                        </a:rPr>
                        <a:t>API</a:t>
                      </a:r>
                      <a:r>
                        <a:rPr lang="zh-CN" sz="1800" kern="100" dirty="0">
                          <a:effectLst/>
                          <a:latin typeface="+mj-ea"/>
                          <a:ea typeface="+mj-ea"/>
                        </a:rPr>
                        <a:t>进行驾驶证、车牌、身份证等图像文字识别</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1785022914"/>
                  </a:ext>
                </a:extLst>
              </a:tr>
              <a:tr h="548640">
                <a:tc>
                  <a:txBody>
                    <a:bodyPr/>
                    <a:lstStyle/>
                    <a:p>
                      <a:pPr algn="ctr">
                        <a:lnSpc>
                          <a:spcPct val="100000"/>
                        </a:lnSpc>
                        <a:spcAft>
                          <a:spcPts val="0"/>
                        </a:spcAft>
                      </a:pPr>
                      <a:r>
                        <a:rPr lang="zh-CN" sz="1800" kern="100">
                          <a:effectLst/>
                          <a:latin typeface="+mj-ea"/>
                          <a:ea typeface="+mj-ea"/>
                        </a:rPr>
                        <a:t>人工智能</a:t>
                      </a:r>
                      <a:endParaRPr lang="zh-CN" sz="1800" kern="10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图像识别</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dirty="0">
                          <a:effectLst/>
                          <a:latin typeface="+mj-ea"/>
                          <a:ea typeface="+mj-ea"/>
                        </a:rPr>
                        <a:t>可调用云市场购买的</a:t>
                      </a:r>
                      <a:r>
                        <a:rPr lang="en-US" sz="1800" kern="100" dirty="0">
                          <a:effectLst/>
                          <a:latin typeface="+mj-ea"/>
                          <a:ea typeface="+mj-ea"/>
                        </a:rPr>
                        <a:t>API</a:t>
                      </a:r>
                      <a:r>
                        <a:rPr lang="zh-CN" sz="1800" kern="100" dirty="0">
                          <a:effectLst/>
                          <a:latin typeface="+mj-ea"/>
                          <a:ea typeface="+mj-ea"/>
                        </a:rPr>
                        <a:t>进行烟雾火焰火灾、动物、植物花卉、花草树木鉴定等识别。</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2765720411"/>
                  </a:ext>
                </a:extLst>
              </a:tr>
              <a:tr h="548640">
                <a:tc>
                  <a:txBody>
                    <a:bodyPr/>
                    <a:lstStyle/>
                    <a:p>
                      <a:pPr algn="ctr">
                        <a:lnSpc>
                          <a:spcPct val="100000"/>
                        </a:lnSpc>
                        <a:spcAft>
                          <a:spcPts val="0"/>
                        </a:spcAft>
                      </a:pPr>
                      <a:r>
                        <a:rPr lang="zh-CN" sz="1800" kern="100">
                          <a:effectLst/>
                          <a:latin typeface="+mj-ea"/>
                          <a:ea typeface="+mj-ea"/>
                        </a:rPr>
                        <a:t>消息</a:t>
                      </a:r>
                      <a:endParaRPr lang="zh-CN" sz="1800" kern="10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短信</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dirty="0">
                          <a:effectLst/>
                          <a:latin typeface="+mj-ea"/>
                          <a:ea typeface="+mj-ea"/>
                        </a:rPr>
                        <a:t>用于给目标手机发送短信，且支持批量发送。</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60943820"/>
                  </a:ext>
                </a:extLst>
              </a:tr>
              <a:tr h="548640">
                <a:tc>
                  <a:txBody>
                    <a:bodyPr/>
                    <a:lstStyle/>
                    <a:p>
                      <a:pPr algn="ctr">
                        <a:lnSpc>
                          <a:spcPct val="100000"/>
                        </a:lnSpc>
                        <a:spcAft>
                          <a:spcPts val="0"/>
                        </a:spcAft>
                      </a:pPr>
                      <a:r>
                        <a:rPr lang="zh-CN" sz="1800" kern="100">
                          <a:effectLst/>
                          <a:latin typeface="+mj-ea"/>
                          <a:ea typeface="+mj-ea"/>
                        </a:rPr>
                        <a:t>消息</a:t>
                      </a:r>
                      <a:endParaRPr lang="zh-CN" sz="1800" kern="10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钉钉机器人</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dirty="0">
                          <a:effectLst/>
                          <a:latin typeface="+mj-ea"/>
                          <a:ea typeface="+mj-ea"/>
                        </a:rPr>
                        <a:t>支持顶顶群信息推送，不支持返回消息处理。</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2210812450"/>
                  </a:ext>
                </a:extLst>
              </a:tr>
              <a:tr h="548640">
                <a:tc>
                  <a:txBody>
                    <a:bodyPr/>
                    <a:lstStyle/>
                    <a:p>
                      <a:pPr algn="ctr">
                        <a:lnSpc>
                          <a:spcPct val="100000"/>
                        </a:lnSpc>
                        <a:spcAft>
                          <a:spcPts val="0"/>
                        </a:spcAft>
                      </a:pPr>
                      <a:r>
                        <a:rPr lang="zh-CN" sz="1800" kern="100">
                          <a:effectLst/>
                          <a:latin typeface="+mj-ea"/>
                          <a:ea typeface="+mj-ea"/>
                        </a:rPr>
                        <a:t>消息</a:t>
                      </a:r>
                      <a:endParaRPr lang="zh-CN" sz="1800" kern="10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移动应用推送</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dirty="0">
                          <a:effectLst/>
                          <a:latin typeface="+mj-ea"/>
                          <a:ea typeface="+mj-ea"/>
                        </a:rPr>
                        <a:t>可用于将设备、服务的信息、自定义提示信息和定时信息推送到移动应用。</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2884897241"/>
                  </a:ext>
                </a:extLst>
              </a:tr>
              <a:tr h="548640">
                <a:tc>
                  <a:txBody>
                    <a:bodyPr/>
                    <a:lstStyle/>
                    <a:p>
                      <a:pPr algn="ctr">
                        <a:lnSpc>
                          <a:spcPct val="100000"/>
                        </a:lnSpc>
                        <a:spcAft>
                          <a:spcPts val="0"/>
                        </a:spcAft>
                      </a:pPr>
                      <a:r>
                        <a:rPr lang="zh-CN" sz="1800" kern="100">
                          <a:effectLst/>
                          <a:latin typeface="+mj-ea"/>
                          <a:ea typeface="+mj-ea"/>
                        </a:rPr>
                        <a:t>消息</a:t>
                      </a:r>
                      <a:endParaRPr lang="zh-CN" sz="1800" kern="10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en-US" sz="1800" kern="100" dirty="0">
                          <a:effectLst/>
                          <a:latin typeface="+mj-ea"/>
                          <a:ea typeface="+mj-ea"/>
                        </a:rPr>
                        <a:t>MQTT</a:t>
                      </a:r>
                      <a:r>
                        <a:rPr lang="zh-CN" sz="1800" kern="100" dirty="0">
                          <a:effectLst/>
                          <a:latin typeface="+mj-ea"/>
                          <a:ea typeface="+mj-ea"/>
                        </a:rPr>
                        <a:t>发布</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dirty="0">
                          <a:effectLst/>
                          <a:latin typeface="+mj-ea"/>
                          <a:ea typeface="+mj-ea"/>
                        </a:rPr>
                        <a:t>支持下发设备消息和自定义消息包，可用于获取设备的信息和动态。</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566355516"/>
                  </a:ext>
                </a:extLst>
              </a:tr>
            </a:tbl>
          </a:graphicData>
        </a:graphic>
      </p:graphicFrame>
    </p:spTree>
    <p:extLst>
      <p:ext uri="{BB962C8B-B14F-4D97-AF65-F5344CB8AC3E}">
        <p14:creationId xmlns:p14="http://schemas.microsoft.com/office/powerpoint/2010/main" val="2851146588"/>
      </p:ext>
    </p:extLst>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F3A60C-E8F9-4E26-BF3B-079DFD264B6F}"/>
              </a:ext>
            </a:extLst>
          </p:cNvPr>
          <p:cNvSpPr>
            <a:spLocks noGrp="1"/>
          </p:cNvSpPr>
          <p:nvPr>
            <p:ph type="title"/>
          </p:nvPr>
        </p:nvSpPr>
        <p:spPr/>
        <p:txBody>
          <a:bodyPr/>
          <a:lstStyle/>
          <a:p>
            <a:r>
              <a:rPr lang="en-US" altLang="zh-CN" dirty="0"/>
              <a:t>IoT Studio</a:t>
            </a:r>
            <a:r>
              <a:rPr lang="zh-CN" altLang="en-US" dirty="0"/>
              <a:t>提供的服务节点</a:t>
            </a:r>
          </a:p>
        </p:txBody>
      </p:sp>
      <p:graphicFrame>
        <p:nvGraphicFramePr>
          <p:cNvPr id="4" name="内容占位符 3">
            <a:extLst>
              <a:ext uri="{FF2B5EF4-FFF2-40B4-BE49-F238E27FC236}">
                <a16:creationId xmlns:a16="http://schemas.microsoft.com/office/drawing/2014/main" id="{ADEDC042-D6B1-4EC7-999E-6DD5BB3FF825}"/>
              </a:ext>
            </a:extLst>
          </p:cNvPr>
          <p:cNvGraphicFramePr>
            <a:graphicFrameLocks noGrp="1"/>
          </p:cNvGraphicFramePr>
          <p:nvPr>
            <p:ph idx="1"/>
            <p:extLst>
              <p:ext uri="{D42A27DB-BD31-4B8C-83A1-F6EECF244321}">
                <p14:modId xmlns:p14="http://schemas.microsoft.com/office/powerpoint/2010/main" val="2787001461"/>
              </p:ext>
            </p:extLst>
          </p:nvPr>
        </p:nvGraphicFramePr>
        <p:xfrm>
          <a:off x="457200" y="990600"/>
          <a:ext cx="8242300" cy="5486400"/>
        </p:xfrm>
        <a:graphic>
          <a:graphicData uri="http://schemas.openxmlformats.org/drawingml/2006/table">
            <a:tbl>
              <a:tblPr firstRow="1" firstCol="1" bandRow="1">
                <a:tableStyleId>{93296810-A885-4BE3-A3E7-6D5BEEA58F35}</a:tableStyleId>
              </a:tblPr>
              <a:tblGrid>
                <a:gridCol w="1316436">
                  <a:extLst>
                    <a:ext uri="{9D8B030D-6E8A-4147-A177-3AD203B41FA5}">
                      <a16:colId xmlns:a16="http://schemas.microsoft.com/office/drawing/2014/main" val="336809959"/>
                    </a:ext>
                  </a:extLst>
                </a:gridCol>
                <a:gridCol w="1676487">
                  <a:extLst>
                    <a:ext uri="{9D8B030D-6E8A-4147-A177-3AD203B41FA5}">
                      <a16:colId xmlns:a16="http://schemas.microsoft.com/office/drawing/2014/main" val="1373565037"/>
                    </a:ext>
                  </a:extLst>
                </a:gridCol>
                <a:gridCol w="5249377">
                  <a:extLst>
                    <a:ext uri="{9D8B030D-6E8A-4147-A177-3AD203B41FA5}">
                      <a16:colId xmlns:a16="http://schemas.microsoft.com/office/drawing/2014/main" val="1629643630"/>
                    </a:ext>
                  </a:extLst>
                </a:gridCol>
              </a:tblGrid>
              <a:tr h="548640">
                <a:tc>
                  <a:txBody>
                    <a:bodyPr/>
                    <a:lstStyle/>
                    <a:p>
                      <a:pPr algn="ctr">
                        <a:lnSpc>
                          <a:spcPct val="100000"/>
                        </a:lnSpc>
                        <a:spcAft>
                          <a:spcPts val="0"/>
                        </a:spcAft>
                      </a:pPr>
                      <a:r>
                        <a:rPr lang="zh-CN" sz="1800" kern="100" dirty="0">
                          <a:effectLst/>
                          <a:latin typeface="+mj-ea"/>
                          <a:ea typeface="+mj-ea"/>
                        </a:rPr>
                        <a:t>类别</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服务节点名称</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服务节点描述</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2923213079"/>
                  </a:ext>
                </a:extLst>
              </a:tr>
              <a:tr h="548640">
                <a:tc>
                  <a:txBody>
                    <a:bodyPr/>
                    <a:lstStyle/>
                    <a:p>
                      <a:pPr algn="ctr">
                        <a:lnSpc>
                          <a:spcPct val="100000"/>
                        </a:lnSpc>
                        <a:spcAft>
                          <a:spcPts val="0"/>
                        </a:spcAft>
                      </a:pPr>
                      <a:r>
                        <a:rPr lang="en-US" sz="1800" kern="100" dirty="0">
                          <a:effectLst/>
                          <a:latin typeface="+mj-ea"/>
                          <a:ea typeface="+mj-ea"/>
                        </a:rPr>
                        <a:t>API</a:t>
                      </a:r>
                      <a:r>
                        <a:rPr lang="zh-CN" sz="1800" kern="100" dirty="0">
                          <a:effectLst/>
                          <a:latin typeface="+mj-ea"/>
                          <a:ea typeface="+mj-ea"/>
                        </a:rPr>
                        <a:t>调用</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自定义</a:t>
                      </a:r>
                      <a:r>
                        <a:rPr lang="en-US" sz="1800" kern="100" dirty="0">
                          <a:effectLst/>
                          <a:latin typeface="+mj-ea"/>
                          <a:ea typeface="+mj-ea"/>
                        </a:rPr>
                        <a:t>API</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a:effectLst/>
                          <a:latin typeface="+mj-ea"/>
                          <a:ea typeface="+mj-ea"/>
                        </a:rPr>
                        <a:t>调用开发者自己实现的</a:t>
                      </a:r>
                      <a:r>
                        <a:rPr lang="en-US" sz="1800" kern="100">
                          <a:effectLst/>
                          <a:latin typeface="+mj-ea"/>
                          <a:ea typeface="+mj-ea"/>
                        </a:rPr>
                        <a:t>HTTP/HTTPS</a:t>
                      </a:r>
                      <a:r>
                        <a:rPr lang="zh-CN" sz="1800" kern="100">
                          <a:effectLst/>
                          <a:latin typeface="+mj-ea"/>
                          <a:ea typeface="+mj-ea"/>
                        </a:rPr>
                        <a:t>接口，节点的输出为自定义接口的返回值。</a:t>
                      </a:r>
                      <a:endParaRPr lang="zh-CN" sz="1800" kern="10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3571989105"/>
                  </a:ext>
                </a:extLst>
              </a:tr>
              <a:tr h="548640">
                <a:tc>
                  <a:txBody>
                    <a:bodyPr/>
                    <a:lstStyle/>
                    <a:p>
                      <a:pPr algn="ctr">
                        <a:lnSpc>
                          <a:spcPct val="100000"/>
                        </a:lnSpc>
                        <a:spcAft>
                          <a:spcPts val="0"/>
                        </a:spcAft>
                      </a:pPr>
                      <a:r>
                        <a:rPr lang="en-US" sz="1800" kern="100" dirty="0">
                          <a:effectLst/>
                          <a:latin typeface="+mj-ea"/>
                          <a:ea typeface="+mj-ea"/>
                        </a:rPr>
                        <a:t>API</a:t>
                      </a:r>
                      <a:r>
                        <a:rPr lang="zh-CN" sz="1800" kern="100" dirty="0">
                          <a:effectLst/>
                          <a:latin typeface="+mj-ea"/>
                          <a:ea typeface="+mj-ea"/>
                        </a:rPr>
                        <a:t>调用</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云市场</a:t>
                      </a:r>
                      <a:r>
                        <a:rPr lang="en-US" sz="1800" kern="100" dirty="0">
                          <a:effectLst/>
                          <a:latin typeface="+mj-ea"/>
                          <a:ea typeface="+mj-ea"/>
                        </a:rPr>
                        <a:t>API</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a:effectLst/>
                          <a:latin typeface="+mj-ea"/>
                          <a:ea typeface="+mj-ea"/>
                        </a:rPr>
                        <a:t>调用在阿里云市场中购买的</a:t>
                      </a:r>
                      <a:r>
                        <a:rPr lang="en-US" sz="1800" kern="100">
                          <a:effectLst/>
                          <a:latin typeface="+mj-ea"/>
                          <a:ea typeface="+mj-ea"/>
                        </a:rPr>
                        <a:t>API</a:t>
                      </a:r>
                      <a:r>
                        <a:rPr lang="zh-CN" sz="1800" kern="100">
                          <a:effectLst/>
                          <a:latin typeface="+mj-ea"/>
                          <a:ea typeface="+mj-ea"/>
                        </a:rPr>
                        <a:t>，如空气质量查询等。</a:t>
                      </a:r>
                      <a:endParaRPr lang="zh-CN" sz="1800" kern="10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214717918"/>
                  </a:ext>
                </a:extLst>
              </a:tr>
              <a:tr h="548640">
                <a:tc>
                  <a:txBody>
                    <a:bodyPr/>
                    <a:lstStyle/>
                    <a:p>
                      <a:pPr algn="ctr">
                        <a:lnSpc>
                          <a:spcPct val="100000"/>
                        </a:lnSpc>
                        <a:spcAft>
                          <a:spcPts val="0"/>
                        </a:spcAft>
                      </a:pPr>
                      <a:r>
                        <a:rPr lang="en-US" sz="1800" kern="100" dirty="0">
                          <a:effectLst/>
                          <a:latin typeface="+mj-ea"/>
                          <a:ea typeface="+mj-ea"/>
                        </a:rPr>
                        <a:t>API</a:t>
                      </a:r>
                      <a:r>
                        <a:rPr lang="zh-CN" sz="1800" kern="100" dirty="0">
                          <a:effectLst/>
                          <a:latin typeface="+mj-ea"/>
                          <a:ea typeface="+mj-ea"/>
                        </a:rPr>
                        <a:t>调用</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项目内</a:t>
                      </a:r>
                      <a:r>
                        <a:rPr lang="en-US" sz="1800" kern="100" dirty="0">
                          <a:effectLst/>
                          <a:latin typeface="+mj-ea"/>
                          <a:ea typeface="+mj-ea"/>
                        </a:rPr>
                        <a:t>API</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dirty="0">
                          <a:effectLst/>
                          <a:latin typeface="+mj-ea"/>
                          <a:ea typeface="+mj-ea"/>
                        </a:rPr>
                        <a:t>调用该项目下开发者开发的其它服务。</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1198032878"/>
                  </a:ext>
                </a:extLst>
              </a:tr>
              <a:tr h="548640">
                <a:tc>
                  <a:txBody>
                    <a:bodyPr/>
                    <a:lstStyle/>
                    <a:p>
                      <a:pPr algn="ctr">
                        <a:lnSpc>
                          <a:spcPct val="100000"/>
                        </a:lnSpc>
                        <a:spcAft>
                          <a:spcPts val="0"/>
                        </a:spcAft>
                      </a:pPr>
                      <a:r>
                        <a:rPr lang="zh-CN" sz="1800" kern="100" dirty="0">
                          <a:effectLst/>
                          <a:latin typeface="+mj-ea"/>
                          <a:ea typeface="+mj-ea"/>
                        </a:rPr>
                        <a:t>数据</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变量设置</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a:effectLst/>
                          <a:latin typeface="+mj-ea"/>
                          <a:ea typeface="+mj-ea"/>
                        </a:rPr>
                        <a:t>点可修改已添加的全局或局部变量值。</a:t>
                      </a:r>
                      <a:endParaRPr lang="zh-CN" sz="1800" kern="10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192469766"/>
                  </a:ext>
                </a:extLst>
              </a:tr>
              <a:tr h="548640">
                <a:tc>
                  <a:txBody>
                    <a:bodyPr/>
                    <a:lstStyle/>
                    <a:p>
                      <a:pPr algn="ctr">
                        <a:lnSpc>
                          <a:spcPct val="100000"/>
                        </a:lnSpc>
                        <a:spcAft>
                          <a:spcPts val="0"/>
                        </a:spcAft>
                      </a:pPr>
                      <a:r>
                        <a:rPr lang="zh-CN" sz="1800" kern="100" dirty="0">
                          <a:effectLst/>
                          <a:latin typeface="+mj-ea"/>
                          <a:ea typeface="+mj-ea"/>
                        </a:rPr>
                        <a:t>数据</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表格存储</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dirty="0">
                          <a:effectLst/>
                          <a:latin typeface="+mj-ea"/>
                          <a:ea typeface="+mj-ea"/>
                        </a:rPr>
                        <a:t>阿里云表格存储服务的封装，支持数据的增删改查</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2972806386"/>
                  </a:ext>
                </a:extLst>
              </a:tr>
              <a:tr h="548640">
                <a:tc>
                  <a:txBody>
                    <a:bodyPr/>
                    <a:lstStyle/>
                    <a:p>
                      <a:pPr algn="ctr">
                        <a:lnSpc>
                          <a:spcPct val="100000"/>
                        </a:lnSpc>
                        <a:spcAft>
                          <a:spcPts val="0"/>
                        </a:spcAft>
                      </a:pPr>
                      <a:r>
                        <a:rPr lang="zh-CN" sz="1800" kern="100" dirty="0">
                          <a:effectLst/>
                          <a:latin typeface="+mj-ea"/>
                          <a:ea typeface="+mj-ea"/>
                        </a:rPr>
                        <a:t>数据</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云数据库</a:t>
                      </a:r>
                      <a:r>
                        <a:rPr lang="en-US" sz="1800" kern="100" dirty="0">
                          <a:effectLst/>
                          <a:latin typeface="+mj-ea"/>
                          <a:ea typeface="+mj-ea"/>
                        </a:rPr>
                        <a:t>MySQL</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dirty="0">
                          <a:effectLst/>
                          <a:latin typeface="+mj-ea"/>
                          <a:ea typeface="+mj-ea"/>
                        </a:rPr>
                        <a:t>阿里云关系型数据库服务的封装，支持数据的增删改查</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17069416"/>
                  </a:ext>
                </a:extLst>
              </a:tr>
              <a:tr h="548640">
                <a:tc>
                  <a:txBody>
                    <a:bodyPr/>
                    <a:lstStyle/>
                    <a:p>
                      <a:pPr algn="ctr">
                        <a:lnSpc>
                          <a:spcPct val="100000"/>
                        </a:lnSpc>
                        <a:spcAft>
                          <a:spcPts val="0"/>
                        </a:spcAft>
                      </a:pPr>
                      <a:r>
                        <a:rPr lang="zh-CN" sz="1800" kern="100" dirty="0">
                          <a:effectLst/>
                          <a:latin typeface="+mj-ea"/>
                          <a:ea typeface="+mj-ea"/>
                        </a:rPr>
                        <a:t>数据</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键值对存储</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dirty="0">
                          <a:effectLst/>
                          <a:latin typeface="+mj-ea"/>
                          <a:ea typeface="+mj-ea"/>
                        </a:rPr>
                        <a:t>阿里云</a:t>
                      </a:r>
                      <a:r>
                        <a:rPr lang="en-US" sz="1800" kern="100" dirty="0">
                          <a:effectLst/>
                          <a:latin typeface="+mj-ea"/>
                          <a:ea typeface="+mj-ea"/>
                        </a:rPr>
                        <a:t>Key-Value</a:t>
                      </a:r>
                      <a:r>
                        <a:rPr lang="zh-CN" sz="1800" kern="100" dirty="0">
                          <a:effectLst/>
                          <a:latin typeface="+mj-ea"/>
                          <a:ea typeface="+mj-ea"/>
                        </a:rPr>
                        <a:t>存储服务的封装，提供数据删除、数据获取、数据写入</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566399698"/>
                  </a:ext>
                </a:extLst>
              </a:tr>
              <a:tr h="548640">
                <a:tc>
                  <a:txBody>
                    <a:bodyPr/>
                    <a:lstStyle/>
                    <a:p>
                      <a:pPr algn="ctr">
                        <a:lnSpc>
                          <a:spcPct val="100000"/>
                        </a:lnSpc>
                        <a:spcAft>
                          <a:spcPts val="0"/>
                        </a:spcAft>
                      </a:pPr>
                      <a:r>
                        <a:rPr lang="zh-CN" sz="1800" kern="100" dirty="0">
                          <a:effectLst/>
                          <a:latin typeface="+mj-ea"/>
                          <a:ea typeface="+mj-ea"/>
                        </a:rPr>
                        <a:t>数据</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数据分析</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dirty="0">
                          <a:effectLst/>
                          <a:latin typeface="+mj-ea"/>
                          <a:ea typeface="+mj-ea"/>
                        </a:rPr>
                        <a:t>对接物联网平台数据分析开发的接口。</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1315195255"/>
                  </a:ext>
                </a:extLst>
              </a:tr>
              <a:tr h="548640">
                <a:tc>
                  <a:txBody>
                    <a:bodyPr/>
                    <a:lstStyle/>
                    <a:p>
                      <a:pPr algn="ctr">
                        <a:lnSpc>
                          <a:spcPct val="100000"/>
                        </a:lnSpc>
                        <a:spcAft>
                          <a:spcPts val="0"/>
                        </a:spcAft>
                      </a:pPr>
                      <a:r>
                        <a:rPr lang="zh-CN" sz="1800" kern="100" dirty="0">
                          <a:effectLst/>
                          <a:latin typeface="+mj-ea"/>
                          <a:ea typeface="+mj-ea"/>
                        </a:rPr>
                        <a:t>设备</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ctr">
                        <a:lnSpc>
                          <a:spcPct val="100000"/>
                        </a:lnSpc>
                        <a:spcAft>
                          <a:spcPts val="0"/>
                        </a:spcAft>
                      </a:pPr>
                      <a:r>
                        <a:rPr lang="zh-CN" sz="1800" kern="100" dirty="0">
                          <a:effectLst/>
                          <a:latin typeface="+mj-ea"/>
                          <a:ea typeface="+mj-ea"/>
                        </a:rPr>
                        <a:t>产品结点</a:t>
                      </a:r>
                      <a:endParaRPr lang="zh-CN" sz="1800" kern="100" dirty="0">
                        <a:effectLst/>
                        <a:latin typeface="+mj-ea"/>
                        <a:ea typeface="+mj-ea"/>
                        <a:cs typeface="Times New Roman" panose="02020603050405020304" pitchFamily="18" charset="0"/>
                      </a:endParaRPr>
                    </a:p>
                  </a:txBody>
                  <a:tcPr marL="32557" marR="32557" marT="0" marB="0" anchor="ctr"/>
                </a:tc>
                <a:tc>
                  <a:txBody>
                    <a:bodyPr/>
                    <a:lstStyle/>
                    <a:p>
                      <a:pPr algn="just">
                        <a:lnSpc>
                          <a:spcPct val="100000"/>
                        </a:lnSpc>
                        <a:spcAft>
                          <a:spcPts val="0"/>
                        </a:spcAft>
                      </a:pPr>
                      <a:r>
                        <a:rPr lang="zh-CN" sz="1800" kern="100" dirty="0">
                          <a:effectLst/>
                          <a:latin typeface="+mj-ea"/>
                          <a:ea typeface="+mj-ea"/>
                        </a:rPr>
                        <a:t>向设备下发设置属性或调用服务的指令、查询设备属性快照值或历史值，和查询设备其他信息。</a:t>
                      </a:r>
                      <a:endParaRPr lang="zh-CN" sz="1800" kern="100" dirty="0">
                        <a:effectLst/>
                        <a:latin typeface="+mj-ea"/>
                        <a:ea typeface="+mj-ea"/>
                        <a:cs typeface="Times New Roman" panose="02020603050405020304" pitchFamily="18" charset="0"/>
                      </a:endParaRPr>
                    </a:p>
                  </a:txBody>
                  <a:tcPr marL="32557" marR="32557" marT="0" marB="0" anchor="ctr"/>
                </a:tc>
                <a:extLst>
                  <a:ext uri="{0D108BD9-81ED-4DB2-BD59-A6C34878D82A}">
                    <a16:rowId xmlns:a16="http://schemas.microsoft.com/office/drawing/2014/main" val="2169217063"/>
                  </a:ext>
                </a:extLst>
              </a:tr>
            </a:tbl>
          </a:graphicData>
        </a:graphic>
      </p:graphicFrame>
    </p:spTree>
    <p:extLst>
      <p:ext uri="{BB962C8B-B14F-4D97-AF65-F5344CB8AC3E}">
        <p14:creationId xmlns:p14="http://schemas.microsoft.com/office/powerpoint/2010/main" val="830883700"/>
      </p:ext>
    </p:extLst>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a:t>目录</a:t>
            </a:r>
            <a:endParaRPr lang="zh-CN" altLang="en-US" dirty="0"/>
          </a:p>
        </p:txBody>
      </p:sp>
      <p:sp>
        <p:nvSpPr>
          <p:cNvPr id="3" name="内容占位符 2">
            <a:extLst>
              <a:ext uri="{FF2B5EF4-FFF2-40B4-BE49-F238E27FC236}">
                <a16:creationId xmlns:a16="http://schemas.microsoft.com/office/drawing/2014/main" id="{AE3E41AD-839C-4590-9522-9A6A42866FA3}"/>
              </a:ext>
            </a:extLst>
          </p:cNvPr>
          <p:cNvSpPr>
            <a:spLocks noGrp="1"/>
          </p:cNvSpPr>
          <p:nvPr>
            <p:ph idx="1"/>
          </p:nvPr>
        </p:nvSpPr>
        <p:spPr/>
        <p:txBody>
          <a:bodyPr/>
          <a:lstStyle/>
          <a:p>
            <a:endParaRPr lang="en-US" altLang="zh-CN" sz="2800" dirty="0"/>
          </a:p>
          <a:p>
            <a:r>
              <a:rPr lang="zh-CN" altLang="en-US" sz="2800" dirty="0"/>
              <a:t>概述</a:t>
            </a:r>
          </a:p>
          <a:p>
            <a:r>
              <a:rPr lang="zh-CN" altLang="en-US" sz="2800" dirty="0"/>
              <a:t>云</a:t>
            </a:r>
            <a:r>
              <a:rPr lang="en-US" altLang="zh-CN" sz="2800" dirty="0"/>
              <a:t>-</a:t>
            </a:r>
            <a:r>
              <a:rPr lang="zh-CN" altLang="en-US" sz="2800" dirty="0"/>
              <a:t>端一体开发平台主要功能</a:t>
            </a:r>
          </a:p>
          <a:p>
            <a:r>
              <a:rPr lang="zh-CN" altLang="en-US" sz="2800" dirty="0"/>
              <a:t>典型物联网云</a:t>
            </a:r>
            <a:r>
              <a:rPr lang="en-US" altLang="zh-CN" sz="2800" dirty="0"/>
              <a:t>-</a:t>
            </a:r>
            <a:r>
              <a:rPr lang="zh-CN" altLang="en-US" sz="2800" dirty="0"/>
              <a:t>端一体开发平台</a:t>
            </a:r>
          </a:p>
          <a:p>
            <a:pPr lvl="1"/>
            <a:r>
              <a:rPr lang="en-US" altLang="zh-CN" sz="2400" dirty="0" err="1"/>
              <a:t>TinyLink</a:t>
            </a:r>
            <a:endParaRPr lang="en-US" altLang="zh-CN" sz="2400" dirty="0"/>
          </a:p>
          <a:p>
            <a:pPr lvl="1"/>
            <a:r>
              <a:rPr lang="en-US" altLang="zh-CN" sz="2400" dirty="0"/>
              <a:t>IoT Studio</a:t>
            </a:r>
          </a:p>
          <a:p>
            <a:pPr lvl="1"/>
            <a:r>
              <a:rPr lang="en-US" altLang="zh-CN" sz="2400" dirty="0" err="1">
                <a:solidFill>
                  <a:srgbClr val="C00000"/>
                </a:solidFill>
              </a:rPr>
              <a:t>Tuya</a:t>
            </a:r>
            <a:r>
              <a:rPr lang="en-US" altLang="zh-CN" sz="2400" dirty="0">
                <a:solidFill>
                  <a:srgbClr val="C00000"/>
                </a:solidFill>
              </a:rPr>
              <a:t> IoT</a:t>
            </a:r>
            <a:r>
              <a:rPr lang="zh-CN" altLang="en-US" sz="2400" dirty="0">
                <a:solidFill>
                  <a:srgbClr val="C00000"/>
                </a:solidFill>
              </a:rPr>
              <a:t>开发平台</a:t>
            </a:r>
          </a:p>
          <a:p>
            <a:r>
              <a:rPr lang="zh-CN" altLang="en-US" sz="2800" dirty="0"/>
              <a:t>案例开发</a:t>
            </a:r>
          </a:p>
          <a:p>
            <a:r>
              <a:rPr lang="zh-CN" altLang="en-US" sz="2800" dirty="0"/>
              <a:t>总结</a:t>
            </a:r>
          </a:p>
          <a:p>
            <a:endParaRPr lang="zh-CN" altLang="en-US" dirty="0"/>
          </a:p>
        </p:txBody>
      </p:sp>
      <p:sp>
        <p:nvSpPr>
          <p:cNvPr id="28" name="灯片编号占位符 4"/>
          <p:cNvSpPr txBox="1">
            <a:spLocks noChangeArrowheads="1"/>
          </p:cNvSpPr>
          <p:nvPr/>
        </p:nvSpPr>
        <p:spPr bwMode="auto">
          <a:xfrm>
            <a:off x="8229600" y="6553200"/>
            <a:ext cx="762000" cy="228600"/>
          </a:xfrm>
          <a:prstGeom prst="rect">
            <a:avLst/>
          </a:prstGeom>
          <a:noFill/>
          <a:ln w="9525">
            <a:noFill/>
            <a:miter lim="800000"/>
            <a:headEnd/>
            <a:tailEnd/>
          </a:ln>
        </p:spPr>
        <p:txBody>
          <a:bodyPr lIns="92075" tIns="46038" rIns="92075" bIns="46038" anchor="ctr"/>
          <a:lstStyle/>
          <a:p>
            <a:pPr algn="r"/>
            <a:fld id="{5C42246B-9AD6-4994-8CF2-B420465BEF68}" type="slidenum">
              <a:rPr lang="en-US" altLang="zh-CN" sz="1800" baseline="0">
                <a:solidFill>
                  <a:srgbClr val="000000"/>
                </a:solidFill>
                <a:latin typeface="Monotype Corsiva" pitchFamily="66" charset="0"/>
              </a:rPr>
              <a:pPr algn="r"/>
              <a:t>118</a:t>
            </a:fld>
            <a:endParaRPr lang="zh-CN" altLang="zh-CN" sz="1800" baseline="0" dirty="0">
              <a:solidFill>
                <a:srgbClr val="000000"/>
              </a:solidFill>
              <a:latin typeface="Monotype Corsiva" pitchFamily="66" charset="0"/>
            </a:endParaRPr>
          </a:p>
        </p:txBody>
      </p:sp>
      <p:sp>
        <p:nvSpPr>
          <p:cNvPr id="7" name="内容占位符 2"/>
          <p:cNvSpPr>
            <a:spLocks noGrp="1"/>
          </p:cNvSpPr>
          <p:nvPr/>
        </p:nvSpPr>
        <p:spPr bwMode="auto">
          <a:xfrm>
            <a:off x="457200" y="990000"/>
            <a:ext cx="8305800" cy="5410200"/>
          </a:xfrm>
          <a:prstGeom prst="rect">
            <a:avLst/>
          </a:prstGeom>
          <a:noFill/>
          <a:ln w="9525">
            <a:noFill/>
            <a:miter lim="800000"/>
          </a:ln>
          <a:effectLst/>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Tx/>
              <a:buFont typeface="Wingdings" panose="05000000000000000000" pitchFamily="2" charset="2"/>
              <a:buChar char="l"/>
              <a:defRPr lang="zh-CN" altLang="en-US" sz="2800" b="1" baseline="0" dirty="0" smtClean="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20000"/>
              </a:spcBef>
              <a:spcAft>
                <a:spcPct val="0"/>
              </a:spcAft>
              <a:buClrTx/>
              <a:buFont typeface="Wingdings" panose="05000000000000000000" pitchFamily="2" charset="2"/>
              <a:buChar char="l"/>
              <a:defRPr kumimoji="1" lang="zh-CN" altLang="en-US" sz="2800" b="1" baseline="0" dirty="0">
                <a:solidFill>
                  <a:schemeClr val="tx1"/>
                </a:solidFill>
                <a:effectLst/>
                <a:latin typeface="+mj-ea"/>
                <a:ea typeface="+mj-ea"/>
                <a:cs typeface="+mn-cs"/>
              </a:defRPr>
            </a:lvl2pPr>
            <a:lvl3pPr marL="1143000" indent="-228600" algn="l" rtl="0" eaLnBrk="0" fontAlgn="base" hangingPunct="0">
              <a:spcBef>
                <a:spcPct val="20000"/>
              </a:spcBef>
              <a:spcAft>
                <a:spcPct val="0"/>
              </a:spcAft>
              <a:buClrTx/>
              <a:buFont typeface="Wingdings" panose="05000000000000000000" pitchFamily="2" charset="2"/>
              <a:buChar char="l"/>
              <a:defRPr lang="en-US" altLang="zh-CN" sz="2400" b="1" i="0" baseline="0">
                <a:solidFill>
                  <a:schemeClr val="tx1"/>
                </a:solidFill>
                <a:effectLst/>
                <a:latin typeface="微软雅黑" panose="020B0503020204020204" pitchFamily="34" charset="-122"/>
                <a:ea typeface="微软雅黑" panose="020B0503020204020204" pitchFamily="34" charset="-122"/>
                <a:cs typeface="+mn-cs"/>
              </a:defRPr>
            </a:lvl3pPr>
            <a:lvl4pPr marL="1600200" indent="-228600" algn="l" rtl="0" eaLnBrk="0" fontAlgn="base" hangingPunct="0">
              <a:spcBef>
                <a:spcPct val="20000"/>
              </a:spcBef>
              <a:spcAft>
                <a:spcPct val="0"/>
              </a:spcAft>
              <a:buClrTx/>
              <a:buSzPct val="100000"/>
              <a:buFont typeface="Wingdings" panose="05000000000000000000" pitchFamily="2" charset="2"/>
              <a:buChar char="l"/>
              <a:defRPr lang="en-US" altLang="zh-CN" sz="2400" b="1" baseline="0">
                <a:solidFill>
                  <a:schemeClr val="tx1"/>
                </a:solidFill>
                <a:effectLst/>
                <a:latin typeface="微软雅黑" panose="020B0503020204020204" pitchFamily="34" charset="-122"/>
                <a:ea typeface="微软雅黑" panose="020B0503020204020204" pitchFamily="34" charset="-122"/>
                <a:cs typeface="+mn-cs"/>
              </a:defRPr>
            </a:lvl4pPr>
            <a:lvl5pPr marL="2057400" indent="-228600" algn="l" rtl="0" eaLnBrk="0" fontAlgn="base" hangingPunct="0">
              <a:spcBef>
                <a:spcPct val="20000"/>
              </a:spcBef>
              <a:spcAft>
                <a:spcPct val="0"/>
              </a:spcAft>
              <a:buClrTx/>
              <a:buSzPct val="100000"/>
              <a:buFont typeface="Wingdings" panose="05000000000000000000" pitchFamily="2" charset="2"/>
              <a:buChar char="l"/>
              <a:defRPr lang="en-US" altLang="zh-CN" sz="2400" b="1" i="1" baseline="0">
                <a:solidFill>
                  <a:schemeClr val="tx1"/>
                </a:solidFill>
                <a:effectLst/>
                <a:latin typeface="微软雅黑" panose="020B0503020204020204" pitchFamily="34" charset="-122"/>
                <a:ea typeface="微软雅黑" panose="020B0503020204020204" pitchFamily="34" charset="-122"/>
                <a:cs typeface="+mn-cs"/>
              </a:defRPr>
            </a:lvl5pPr>
            <a:lvl6pPr marL="25146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9pPr>
          </a:lstStyle>
          <a:p>
            <a:endParaRPr lang="zh-CN" altLang="en-US" dirty="0"/>
          </a:p>
        </p:txBody>
      </p:sp>
    </p:spTree>
    <p:extLst>
      <p:ext uri="{BB962C8B-B14F-4D97-AF65-F5344CB8AC3E}">
        <p14:creationId xmlns:p14="http://schemas.microsoft.com/office/powerpoint/2010/main" val="4009745144"/>
      </p:ext>
    </p:extLst>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17F16C-FB03-431C-9909-2B8806ADB37D}"/>
              </a:ext>
            </a:extLst>
          </p:cNvPr>
          <p:cNvSpPr>
            <a:spLocks noGrp="1"/>
          </p:cNvSpPr>
          <p:nvPr>
            <p:ph type="title"/>
          </p:nvPr>
        </p:nvSpPr>
        <p:spPr/>
        <p:txBody>
          <a:bodyPr/>
          <a:lstStyle/>
          <a:p>
            <a:r>
              <a:rPr lang="en-US" altLang="zh-CN" dirty="0" err="1"/>
              <a:t>Tuya</a:t>
            </a:r>
            <a:r>
              <a:rPr lang="en-US" altLang="zh-CN" dirty="0"/>
              <a:t> IoT</a:t>
            </a:r>
            <a:r>
              <a:rPr lang="zh-CN" altLang="en-US" dirty="0"/>
              <a:t>开发平台</a:t>
            </a:r>
          </a:p>
        </p:txBody>
      </p:sp>
      <p:sp>
        <p:nvSpPr>
          <p:cNvPr id="3" name="内容占位符 2">
            <a:extLst>
              <a:ext uri="{FF2B5EF4-FFF2-40B4-BE49-F238E27FC236}">
                <a16:creationId xmlns:a16="http://schemas.microsoft.com/office/drawing/2014/main" id="{629921DB-B060-4882-A403-68460163DC9D}"/>
              </a:ext>
            </a:extLst>
          </p:cNvPr>
          <p:cNvSpPr>
            <a:spLocks noGrp="1"/>
          </p:cNvSpPr>
          <p:nvPr>
            <p:ph idx="1"/>
          </p:nvPr>
        </p:nvSpPr>
        <p:spPr/>
        <p:txBody>
          <a:bodyPr/>
          <a:lstStyle/>
          <a:p>
            <a:r>
              <a:rPr lang="en-US" altLang="zh-CN"/>
              <a:t>Tuya IoT</a:t>
            </a:r>
            <a:r>
              <a:rPr lang="zh-CN" altLang="en-US"/>
              <a:t>开发平台是涂鸦智能于</a:t>
            </a:r>
            <a:r>
              <a:rPr lang="en-US" altLang="zh-CN"/>
              <a:t>2016</a:t>
            </a:r>
            <a:r>
              <a:rPr lang="zh-CN" altLang="en-US"/>
              <a:t>年推出的全球化</a:t>
            </a:r>
            <a:r>
              <a:rPr lang="en-US" altLang="zh-CN"/>
              <a:t>IoT</a:t>
            </a:r>
            <a:r>
              <a:rPr lang="zh-CN" altLang="en-US"/>
              <a:t>开发平台，平台向开发者提供硬件开发、云服务开发和</a:t>
            </a:r>
            <a:r>
              <a:rPr lang="en-US" altLang="zh-CN"/>
              <a:t>App</a:t>
            </a:r>
            <a:r>
              <a:rPr lang="zh-CN" altLang="en-US"/>
              <a:t>开发等工具</a:t>
            </a:r>
            <a:endParaRPr lang="en-US" altLang="zh-CN"/>
          </a:p>
          <a:p>
            <a:r>
              <a:rPr lang="zh-CN" altLang="en-US"/>
              <a:t>平台开发设备可以接入</a:t>
            </a:r>
            <a:r>
              <a:rPr lang="en-US" altLang="zh-CN"/>
              <a:t>Amazon Alexa</a:t>
            </a:r>
            <a:r>
              <a:rPr lang="zh-CN" altLang="en-US"/>
              <a:t>，</a:t>
            </a:r>
            <a:r>
              <a:rPr lang="en-US" altLang="zh-CN"/>
              <a:t>Google Assistant</a:t>
            </a:r>
            <a:r>
              <a:rPr lang="zh-CN" altLang="en-US"/>
              <a:t>，</a:t>
            </a:r>
            <a:r>
              <a:rPr lang="en-US" altLang="zh-CN"/>
              <a:t>Apple HomeKit</a:t>
            </a:r>
            <a:r>
              <a:rPr lang="zh-CN" altLang="en-US"/>
              <a:t>、</a:t>
            </a:r>
            <a:r>
              <a:rPr lang="en-US" altLang="zh-CN"/>
              <a:t>SmartThings</a:t>
            </a:r>
            <a:r>
              <a:rPr lang="zh-CN" altLang="en-US"/>
              <a:t>等生态。</a:t>
            </a:r>
            <a:endParaRPr lang="en-US" altLang="zh-CN"/>
          </a:p>
          <a:p>
            <a:r>
              <a:rPr lang="zh-CN" altLang="en-US"/>
              <a:t>截至</a:t>
            </a:r>
            <a:r>
              <a:rPr lang="en-US" altLang="zh-CN"/>
              <a:t>2021</a:t>
            </a:r>
            <a:r>
              <a:rPr lang="zh-CN" altLang="en-US"/>
              <a:t>年</a:t>
            </a:r>
            <a:r>
              <a:rPr lang="en-US" altLang="zh-CN"/>
              <a:t>7</a:t>
            </a:r>
            <a:r>
              <a:rPr lang="zh-CN" altLang="en-US"/>
              <a:t>月</a:t>
            </a:r>
            <a:r>
              <a:rPr lang="en-US" altLang="zh-CN"/>
              <a:t>, </a:t>
            </a:r>
            <a:r>
              <a:rPr lang="zh-CN" altLang="en-US"/>
              <a:t>涂鸦 </a:t>
            </a:r>
            <a:r>
              <a:rPr lang="en-US" altLang="zh-CN"/>
              <a:t>IoT </a:t>
            </a:r>
            <a:r>
              <a:rPr lang="zh-CN" altLang="en-US"/>
              <a:t>开发平台累计有超过</a:t>
            </a:r>
            <a:r>
              <a:rPr lang="en-US" altLang="zh-CN"/>
              <a:t>37.4</a:t>
            </a:r>
            <a:r>
              <a:rPr lang="zh-CN" altLang="en-US"/>
              <a:t>万注册开发者</a:t>
            </a:r>
            <a:r>
              <a:rPr lang="en-US" altLang="zh-CN"/>
              <a:t>, </a:t>
            </a:r>
            <a:r>
              <a:rPr lang="zh-CN" altLang="en-US"/>
              <a:t>产品和服务覆盖超过</a:t>
            </a:r>
            <a:r>
              <a:rPr lang="en-US" altLang="zh-CN"/>
              <a:t>200</a:t>
            </a:r>
            <a:r>
              <a:rPr lang="zh-CN" altLang="en-US"/>
              <a:t>个国家和地区。</a:t>
            </a:r>
            <a:endParaRPr lang="zh-CN" altLang="en-US" dirty="0"/>
          </a:p>
        </p:txBody>
      </p:sp>
      <p:pic>
        <p:nvPicPr>
          <p:cNvPr id="7" name="图片 6">
            <a:extLst>
              <a:ext uri="{FF2B5EF4-FFF2-40B4-BE49-F238E27FC236}">
                <a16:creationId xmlns:a16="http://schemas.microsoft.com/office/drawing/2014/main" id="{04792C32-15C9-4FEB-8CD3-4CD2C4BC67ED}"/>
              </a:ext>
            </a:extLst>
          </p:cNvPr>
          <p:cNvPicPr>
            <a:picLocks noChangeAspect="1"/>
          </p:cNvPicPr>
          <p:nvPr/>
        </p:nvPicPr>
        <p:blipFill>
          <a:blip r:embed="rId2"/>
          <a:stretch>
            <a:fillRect/>
          </a:stretch>
        </p:blipFill>
        <p:spPr>
          <a:xfrm>
            <a:off x="2193812" y="4338182"/>
            <a:ext cx="4756376" cy="2189096"/>
          </a:xfrm>
          <a:prstGeom prst="rect">
            <a:avLst/>
          </a:prstGeom>
        </p:spPr>
      </p:pic>
    </p:spTree>
    <p:extLst>
      <p:ext uri="{BB962C8B-B14F-4D97-AF65-F5344CB8AC3E}">
        <p14:creationId xmlns:p14="http://schemas.microsoft.com/office/powerpoint/2010/main" val="788981246"/>
      </p:ext>
    </p:extLst>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99DF51-5BF2-4436-ADD3-DAA32E5456DA}"/>
              </a:ext>
            </a:extLst>
          </p:cNvPr>
          <p:cNvSpPr>
            <a:spLocks noGrp="1"/>
          </p:cNvSpPr>
          <p:nvPr>
            <p:ph type="title"/>
          </p:nvPr>
        </p:nvSpPr>
        <p:spPr/>
        <p:txBody>
          <a:bodyPr/>
          <a:lstStyle/>
          <a:p>
            <a:r>
              <a:rPr lang="en-US" altLang="zh-CN" dirty="0" err="1"/>
              <a:t>Tuya</a:t>
            </a:r>
            <a:r>
              <a:rPr lang="en-US" altLang="zh-CN" dirty="0"/>
              <a:t> IoT</a:t>
            </a:r>
            <a:r>
              <a:rPr lang="zh-CN" altLang="en-US" dirty="0"/>
              <a:t>开发平台</a:t>
            </a:r>
          </a:p>
        </p:txBody>
      </p:sp>
      <p:sp>
        <p:nvSpPr>
          <p:cNvPr id="3" name="内容占位符 2">
            <a:extLst>
              <a:ext uri="{FF2B5EF4-FFF2-40B4-BE49-F238E27FC236}">
                <a16:creationId xmlns:a16="http://schemas.microsoft.com/office/drawing/2014/main" id="{5F1913CA-E0E9-491F-8984-3E6EDE25114C}"/>
              </a:ext>
            </a:extLst>
          </p:cNvPr>
          <p:cNvSpPr>
            <a:spLocks noGrp="1"/>
          </p:cNvSpPr>
          <p:nvPr>
            <p:ph idx="1"/>
          </p:nvPr>
        </p:nvSpPr>
        <p:spPr/>
        <p:txBody>
          <a:bodyPr/>
          <a:lstStyle/>
          <a:p>
            <a:r>
              <a:rPr lang="zh-CN" altLang="en-US" dirty="0"/>
              <a:t>设备端开发</a:t>
            </a:r>
            <a:endParaRPr lang="en-US" altLang="zh-CN" dirty="0"/>
          </a:p>
          <a:p>
            <a:pPr lvl="1"/>
            <a:r>
              <a:rPr lang="zh-CN" altLang="en-US" dirty="0"/>
              <a:t>零代码开发</a:t>
            </a:r>
            <a:endParaRPr lang="en-US" altLang="zh-CN" dirty="0"/>
          </a:p>
          <a:p>
            <a:pPr lvl="1"/>
            <a:r>
              <a:rPr lang="zh-CN" altLang="en-US" dirty="0"/>
              <a:t>低代码开发</a:t>
            </a:r>
            <a:endParaRPr lang="en-US" altLang="zh-CN" dirty="0"/>
          </a:p>
          <a:p>
            <a:pPr lvl="1"/>
            <a:r>
              <a:rPr lang="zh-CN" altLang="en-US" dirty="0"/>
              <a:t>多代码开发</a:t>
            </a:r>
            <a:endParaRPr lang="en-US" altLang="zh-CN" dirty="0"/>
          </a:p>
        </p:txBody>
      </p:sp>
      <p:pic>
        <p:nvPicPr>
          <p:cNvPr id="4" name="图片 3">
            <a:extLst>
              <a:ext uri="{FF2B5EF4-FFF2-40B4-BE49-F238E27FC236}">
                <a16:creationId xmlns:a16="http://schemas.microsoft.com/office/drawing/2014/main" id="{F12E6A03-B18B-4338-A5EB-0D354C6BA7E7}"/>
              </a:ext>
            </a:extLst>
          </p:cNvPr>
          <p:cNvPicPr>
            <a:picLocks noChangeAspect="1"/>
          </p:cNvPicPr>
          <p:nvPr/>
        </p:nvPicPr>
        <p:blipFill>
          <a:blip r:embed="rId2"/>
          <a:stretch>
            <a:fillRect/>
          </a:stretch>
        </p:blipFill>
        <p:spPr>
          <a:xfrm>
            <a:off x="1041321" y="3297418"/>
            <a:ext cx="7137558" cy="2971800"/>
          </a:xfrm>
          <a:prstGeom prst="rect">
            <a:avLst/>
          </a:prstGeom>
        </p:spPr>
      </p:pic>
    </p:spTree>
    <p:extLst>
      <p:ext uri="{BB962C8B-B14F-4D97-AF65-F5344CB8AC3E}">
        <p14:creationId xmlns:p14="http://schemas.microsoft.com/office/powerpoint/2010/main" val="4212007766"/>
      </p:ext>
    </p:extLst>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99DF51-5BF2-4436-ADD3-DAA32E5456DA}"/>
              </a:ext>
            </a:extLst>
          </p:cNvPr>
          <p:cNvSpPr>
            <a:spLocks noGrp="1"/>
          </p:cNvSpPr>
          <p:nvPr>
            <p:ph type="title"/>
          </p:nvPr>
        </p:nvSpPr>
        <p:spPr/>
        <p:txBody>
          <a:bodyPr/>
          <a:lstStyle/>
          <a:p>
            <a:r>
              <a:rPr lang="zh-CN" altLang="en-US" dirty="0"/>
              <a:t>设备端开发</a:t>
            </a:r>
          </a:p>
        </p:txBody>
      </p:sp>
      <p:sp>
        <p:nvSpPr>
          <p:cNvPr id="3" name="内容占位符 2">
            <a:extLst>
              <a:ext uri="{FF2B5EF4-FFF2-40B4-BE49-F238E27FC236}">
                <a16:creationId xmlns:a16="http://schemas.microsoft.com/office/drawing/2014/main" id="{5F1913CA-E0E9-491F-8984-3E6EDE25114C}"/>
              </a:ext>
            </a:extLst>
          </p:cNvPr>
          <p:cNvSpPr>
            <a:spLocks noGrp="1"/>
          </p:cNvSpPr>
          <p:nvPr>
            <p:ph idx="1"/>
          </p:nvPr>
        </p:nvSpPr>
        <p:spPr/>
        <p:txBody>
          <a:bodyPr/>
          <a:lstStyle/>
          <a:p>
            <a:r>
              <a:rPr lang="zh-CN" altLang="en-US" dirty="0"/>
              <a:t>零代码开发</a:t>
            </a:r>
            <a:endParaRPr lang="en-US" altLang="zh-CN" dirty="0"/>
          </a:p>
          <a:p>
            <a:pPr lvl="1"/>
            <a:r>
              <a:rPr lang="zh-CN" altLang="en-US" dirty="0"/>
              <a:t>针对电工、照明、传感等功能相对标准的设备</a:t>
            </a:r>
            <a:endParaRPr lang="en-US" altLang="zh-CN" dirty="0"/>
          </a:p>
          <a:p>
            <a:pPr lvl="1"/>
            <a:r>
              <a:rPr lang="zh-CN" altLang="en-US" dirty="0"/>
              <a:t>例如，平台预定义了插座功能，开发者通过可视化</a:t>
            </a:r>
            <a:r>
              <a:rPr lang="en-US" altLang="zh-CN" dirty="0"/>
              <a:t>UI</a:t>
            </a:r>
            <a:r>
              <a:rPr lang="zh-CN" altLang="en-US" dirty="0"/>
              <a:t>完成功能配置并选择所使用的无线通信模组，平台将自动为无线通信模组生成固件</a:t>
            </a:r>
            <a:endParaRPr lang="en-US" altLang="zh-CN" dirty="0"/>
          </a:p>
          <a:p>
            <a:r>
              <a:rPr lang="zh-CN" altLang="en-US" dirty="0"/>
              <a:t>低代码开发</a:t>
            </a:r>
            <a:endParaRPr lang="en-US" altLang="zh-CN" dirty="0"/>
          </a:p>
          <a:p>
            <a:pPr lvl="1"/>
            <a:r>
              <a:rPr lang="zh-CN" altLang="en-US" dirty="0"/>
              <a:t>针对硬件方案中有 </a:t>
            </a:r>
            <a:r>
              <a:rPr lang="en-US" altLang="zh-CN" dirty="0"/>
              <a:t>MCU </a:t>
            </a:r>
            <a:r>
              <a:rPr lang="zh-CN" altLang="en-US" dirty="0"/>
              <a:t>的产品，平台提供 </a:t>
            </a:r>
            <a:r>
              <a:rPr lang="en-US" altLang="zh-CN" dirty="0"/>
              <a:t>MCU SDK</a:t>
            </a:r>
            <a:r>
              <a:rPr lang="zh-CN" altLang="en-US" dirty="0"/>
              <a:t>，开发者调用相关接口完成应用</a:t>
            </a:r>
            <a:endParaRPr lang="en-US" altLang="zh-CN" dirty="0"/>
          </a:p>
          <a:p>
            <a:r>
              <a:rPr lang="zh-CN" altLang="en-US" dirty="0"/>
              <a:t>多代码开发</a:t>
            </a:r>
            <a:endParaRPr lang="en-US" altLang="zh-CN" dirty="0"/>
          </a:p>
          <a:p>
            <a:pPr lvl="1"/>
            <a:r>
              <a:rPr lang="zh-CN" altLang="en-US" dirty="0"/>
              <a:t>针对其它复杂硬件设备如网关和摄像头，平台提供了对应的设备</a:t>
            </a:r>
            <a:r>
              <a:rPr lang="en-US" altLang="zh-CN" dirty="0"/>
              <a:t>SDK</a:t>
            </a:r>
            <a:endParaRPr lang="zh-CN" altLang="en-US" dirty="0"/>
          </a:p>
        </p:txBody>
      </p:sp>
    </p:spTree>
    <p:extLst>
      <p:ext uri="{BB962C8B-B14F-4D97-AF65-F5344CB8AC3E}">
        <p14:creationId xmlns:p14="http://schemas.microsoft.com/office/powerpoint/2010/main" val="3552521191"/>
      </p:ext>
    </p:extLst>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99DF51-5BF2-4436-ADD3-DAA32E5456DA}"/>
              </a:ext>
            </a:extLst>
          </p:cNvPr>
          <p:cNvSpPr>
            <a:spLocks noGrp="1"/>
          </p:cNvSpPr>
          <p:nvPr>
            <p:ph type="title"/>
          </p:nvPr>
        </p:nvSpPr>
        <p:spPr/>
        <p:txBody>
          <a:bodyPr/>
          <a:lstStyle/>
          <a:p>
            <a:r>
              <a:rPr lang="en-US" altLang="zh-CN" dirty="0" err="1"/>
              <a:t>Tuya</a:t>
            </a:r>
            <a:r>
              <a:rPr lang="en-US" altLang="zh-CN" dirty="0"/>
              <a:t> IoT</a:t>
            </a:r>
            <a:r>
              <a:rPr lang="zh-CN" altLang="en-US" dirty="0"/>
              <a:t>开发平台</a:t>
            </a:r>
          </a:p>
        </p:txBody>
      </p:sp>
      <p:sp>
        <p:nvSpPr>
          <p:cNvPr id="3" name="内容占位符 2">
            <a:extLst>
              <a:ext uri="{FF2B5EF4-FFF2-40B4-BE49-F238E27FC236}">
                <a16:creationId xmlns:a16="http://schemas.microsoft.com/office/drawing/2014/main" id="{5F1913CA-E0E9-491F-8984-3E6EDE25114C}"/>
              </a:ext>
            </a:extLst>
          </p:cNvPr>
          <p:cNvSpPr>
            <a:spLocks noGrp="1"/>
          </p:cNvSpPr>
          <p:nvPr>
            <p:ph idx="1"/>
          </p:nvPr>
        </p:nvSpPr>
        <p:spPr/>
        <p:txBody>
          <a:bodyPr/>
          <a:lstStyle/>
          <a:p>
            <a:r>
              <a:rPr lang="zh-CN" altLang="en-US" dirty="0"/>
              <a:t>云服务开发流程</a:t>
            </a:r>
            <a:endParaRPr lang="en-US" altLang="zh-CN" dirty="0"/>
          </a:p>
          <a:p>
            <a:pPr lvl="1"/>
            <a:r>
              <a:rPr lang="zh-CN" altLang="en-US" dirty="0"/>
              <a:t>创建并配置云项目</a:t>
            </a:r>
            <a:endParaRPr lang="en-US" altLang="zh-CN" dirty="0"/>
          </a:p>
          <a:p>
            <a:pPr lvl="1"/>
            <a:r>
              <a:rPr lang="zh-CN" altLang="en-US" dirty="0"/>
              <a:t>添加设备</a:t>
            </a:r>
            <a:endParaRPr lang="en-US" altLang="zh-CN" dirty="0"/>
          </a:p>
          <a:p>
            <a:pPr lvl="1"/>
            <a:r>
              <a:rPr lang="zh-CN" altLang="en-US" dirty="0"/>
              <a:t>代码开发</a:t>
            </a:r>
            <a:endParaRPr lang="en-US" altLang="zh-CN" dirty="0"/>
          </a:p>
        </p:txBody>
      </p:sp>
      <p:sp>
        <p:nvSpPr>
          <p:cNvPr id="4" name="文本框 3">
            <a:extLst>
              <a:ext uri="{FF2B5EF4-FFF2-40B4-BE49-F238E27FC236}">
                <a16:creationId xmlns:a16="http://schemas.microsoft.com/office/drawing/2014/main" id="{D35301CD-73A6-4D3A-85C5-BCD8BFF08FE1}"/>
              </a:ext>
            </a:extLst>
          </p:cNvPr>
          <p:cNvSpPr txBox="1"/>
          <p:nvPr/>
        </p:nvSpPr>
        <p:spPr>
          <a:xfrm>
            <a:off x="1535979" y="3073139"/>
            <a:ext cx="6334812" cy="2975173"/>
          </a:xfrm>
          <a:prstGeom prst="rect">
            <a:avLst/>
          </a:prstGeom>
          <a:noFill/>
          <a:ln>
            <a:solidFill>
              <a:schemeClr val="tx1"/>
            </a:solidFill>
          </a:ln>
        </p:spPr>
        <p:txBody>
          <a:bodyPr wrap="square" rtlCol="0">
            <a:spAutoFit/>
          </a:bodyPr>
          <a:lstStyle/>
          <a:p>
            <a:pPr indent="228600" algn="l">
              <a:lnSpc>
                <a:spcPts val="1400"/>
              </a:lnSpc>
            </a:pPr>
            <a:r>
              <a:rPr lang="en-US" altLang="zh-CN" sz="1800" kern="500" dirty="0">
                <a:effectLst/>
                <a:latin typeface="Courier New" panose="02070309020205020404" pitchFamily="49" charset="0"/>
                <a:ea typeface="宋体" panose="02010600030101010101" pitchFamily="2" charset="-122"/>
                <a:cs typeface="Times New Roman" panose="02020603050405020304" pitchFamily="18" charset="0"/>
              </a:rPr>
              <a:t>1	from env import ENDPOINT, ACCESS_ID, ACCESS_KEY, USERNAME, PASSWORD, DEVICE_ID # </a:t>
            </a:r>
            <a:r>
              <a:rPr lang="zh-CN" altLang="zh-CN" sz="1800" kern="500" dirty="0">
                <a:effectLst/>
                <a:latin typeface="Courier New" panose="02070309020205020404" pitchFamily="49" charset="0"/>
                <a:ea typeface="宋体" panose="02010600030101010101" pitchFamily="2" charset="-122"/>
                <a:cs typeface="Times New Roman" panose="02020603050405020304" pitchFamily="18" charset="0"/>
              </a:rPr>
              <a:t>应用基本配置，包括应用密钥，用户名和密码等</a:t>
            </a:r>
            <a:endParaRPr lang="zh-CN" altLang="zh-CN" sz="1800" kern="900" dirty="0">
              <a:effectLst/>
              <a:latin typeface="Courier New" panose="02070309020205020404" pitchFamily="49" charset="0"/>
              <a:ea typeface="宋体" panose="02010600030101010101" pitchFamily="2" charset="-122"/>
              <a:cs typeface="Times New Roman" panose="02020603050405020304" pitchFamily="18" charset="0"/>
            </a:endParaRPr>
          </a:p>
          <a:p>
            <a:pPr indent="228600" algn="l">
              <a:lnSpc>
                <a:spcPts val="1400"/>
              </a:lnSpc>
            </a:pPr>
            <a:r>
              <a:rPr lang="en-US" altLang="zh-CN" sz="1800" kern="500" dirty="0">
                <a:effectLst/>
                <a:latin typeface="Courier New" panose="02070309020205020404" pitchFamily="49" charset="0"/>
                <a:ea typeface="宋体" panose="02010600030101010101" pitchFamily="2" charset="-122"/>
                <a:cs typeface="Times New Roman" panose="02020603050405020304" pitchFamily="18" charset="0"/>
              </a:rPr>
              <a:t>2	from </a:t>
            </a:r>
            <a:r>
              <a:rPr lang="en-US" altLang="zh-CN" sz="1800" kern="500" dirty="0" err="1">
                <a:effectLst/>
                <a:latin typeface="Courier New" panose="02070309020205020404" pitchFamily="49" charset="0"/>
                <a:ea typeface="宋体" panose="02010600030101010101" pitchFamily="2" charset="-122"/>
                <a:cs typeface="Times New Roman" panose="02020603050405020304" pitchFamily="18" charset="0"/>
              </a:rPr>
              <a:t>tuya_iot</a:t>
            </a:r>
            <a:r>
              <a:rPr lang="en-US" altLang="zh-CN" sz="1800" kern="500" dirty="0">
                <a:effectLst/>
                <a:latin typeface="Courier New" panose="02070309020205020404" pitchFamily="49" charset="0"/>
                <a:ea typeface="宋体" panose="02010600030101010101" pitchFamily="2" charset="-122"/>
                <a:cs typeface="Times New Roman" panose="02020603050405020304" pitchFamily="18" charset="0"/>
              </a:rPr>
              <a:t> import </a:t>
            </a:r>
            <a:r>
              <a:rPr lang="en-US" altLang="zh-CN" sz="1800" kern="500" dirty="0" err="1">
                <a:effectLst/>
                <a:latin typeface="Courier New" panose="02070309020205020404" pitchFamily="49" charset="0"/>
                <a:ea typeface="宋体" panose="02010600030101010101" pitchFamily="2" charset="-122"/>
                <a:cs typeface="Times New Roman" panose="02020603050405020304" pitchFamily="18" charset="0"/>
              </a:rPr>
              <a:t>TuyaOpenAPI</a:t>
            </a:r>
            <a:r>
              <a:rPr lang="en-US" altLang="zh-CN" sz="1800" kern="5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500" dirty="0" err="1">
                <a:effectLst/>
                <a:latin typeface="Courier New" panose="02070309020205020404" pitchFamily="49" charset="0"/>
                <a:ea typeface="宋体" panose="02010600030101010101" pitchFamily="2" charset="-122"/>
                <a:cs typeface="Times New Roman" panose="02020603050405020304" pitchFamily="18" charset="0"/>
              </a:rPr>
              <a:t>tuya_logger</a:t>
            </a:r>
            <a:endParaRPr lang="zh-CN" altLang="zh-CN" sz="1800" kern="900" dirty="0">
              <a:effectLst/>
              <a:latin typeface="Courier New" panose="02070309020205020404" pitchFamily="49" charset="0"/>
              <a:ea typeface="宋体" panose="02010600030101010101" pitchFamily="2" charset="-122"/>
              <a:cs typeface="Times New Roman" panose="02020603050405020304" pitchFamily="18" charset="0"/>
            </a:endParaRPr>
          </a:p>
          <a:p>
            <a:pPr indent="228600" algn="l">
              <a:lnSpc>
                <a:spcPts val="1400"/>
              </a:lnSpc>
            </a:pPr>
            <a:r>
              <a:rPr lang="en-US" altLang="zh-CN" sz="1800" kern="500" dirty="0">
                <a:effectLst/>
                <a:latin typeface="Courier New" panose="02070309020205020404" pitchFamily="49" charset="0"/>
                <a:ea typeface="宋体" panose="02010600030101010101" pitchFamily="2" charset="-122"/>
                <a:cs typeface="Times New Roman" panose="02020603050405020304" pitchFamily="18" charset="0"/>
              </a:rPr>
              <a:t>3	# </a:t>
            </a:r>
            <a:r>
              <a:rPr lang="zh-CN" altLang="zh-CN" sz="1800" kern="500" dirty="0">
                <a:effectLst/>
                <a:latin typeface="Courier New" panose="02070309020205020404" pitchFamily="49" charset="0"/>
                <a:ea typeface="宋体" panose="02010600030101010101" pitchFamily="2" charset="-122"/>
                <a:cs typeface="Times New Roman" panose="02020603050405020304" pitchFamily="18" charset="0"/>
              </a:rPr>
              <a:t>初始化</a:t>
            </a:r>
            <a:r>
              <a:rPr lang="en-US" altLang="zh-CN" sz="1800" kern="500" dirty="0" err="1">
                <a:effectLst/>
                <a:latin typeface="Courier New" panose="02070309020205020404" pitchFamily="49" charset="0"/>
                <a:ea typeface="宋体" panose="02010600030101010101" pitchFamily="2" charset="-122"/>
                <a:cs typeface="Times New Roman" panose="02020603050405020304" pitchFamily="18" charset="0"/>
              </a:rPr>
              <a:t>Tuya</a:t>
            </a:r>
            <a:r>
              <a:rPr lang="en-US" altLang="zh-CN" sz="1800" kern="500" dirty="0">
                <a:effectLst/>
                <a:latin typeface="Courier New" panose="02070309020205020404" pitchFamily="49" charset="0"/>
                <a:ea typeface="宋体" panose="02010600030101010101" pitchFamily="2" charset="-122"/>
                <a:cs typeface="Times New Roman" panose="02020603050405020304" pitchFamily="18" charset="0"/>
              </a:rPr>
              <a:t> API</a:t>
            </a:r>
            <a:endParaRPr lang="zh-CN" altLang="zh-CN" sz="1800" kern="900" dirty="0">
              <a:effectLst/>
              <a:latin typeface="Courier New" panose="02070309020205020404" pitchFamily="49" charset="0"/>
              <a:ea typeface="宋体" panose="02010600030101010101" pitchFamily="2" charset="-122"/>
              <a:cs typeface="Times New Roman" panose="02020603050405020304" pitchFamily="18" charset="0"/>
            </a:endParaRPr>
          </a:p>
          <a:p>
            <a:pPr indent="228600" algn="l">
              <a:lnSpc>
                <a:spcPts val="1400"/>
              </a:lnSpc>
            </a:pPr>
            <a:r>
              <a:rPr lang="en-US" altLang="zh-CN" sz="1800" kern="500" dirty="0">
                <a:effectLst/>
                <a:latin typeface="Courier New" panose="02070309020205020404" pitchFamily="49" charset="0"/>
                <a:ea typeface="宋体" panose="02010600030101010101" pitchFamily="2" charset="-122"/>
                <a:cs typeface="Times New Roman" panose="02020603050405020304" pitchFamily="18" charset="0"/>
              </a:rPr>
              <a:t>4	</a:t>
            </a:r>
            <a:r>
              <a:rPr lang="en-US" altLang="zh-CN" sz="1800" kern="500" dirty="0" err="1">
                <a:effectLst/>
                <a:latin typeface="Courier New" panose="02070309020205020404" pitchFamily="49" charset="0"/>
                <a:ea typeface="宋体" panose="02010600030101010101" pitchFamily="2" charset="-122"/>
                <a:cs typeface="Times New Roman" panose="02020603050405020304" pitchFamily="18" charset="0"/>
              </a:rPr>
              <a:t>openapi</a:t>
            </a:r>
            <a:r>
              <a:rPr lang="en-US" altLang="zh-CN" sz="1800" kern="500" dirty="0">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sz="1800" kern="500" dirty="0" err="1">
                <a:effectLst/>
                <a:latin typeface="Courier New" panose="02070309020205020404" pitchFamily="49" charset="0"/>
                <a:ea typeface="宋体" panose="02010600030101010101" pitchFamily="2" charset="-122"/>
                <a:cs typeface="Times New Roman" panose="02020603050405020304" pitchFamily="18" charset="0"/>
              </a:rPr>
              <a:t>TuyaOpenAPI</a:t>
            </a:r>
            <a:r>
              <a:rPr lang="en-US" altLang="zh-CN" sz="1800" kern="500" dirty="0">
                <a:effectLst/>
                <a:latin typeface="Courier New" panose="02070309020205020404" pitchFamily="49" charset="0"/>
                <a:ea typeface="宋体" panose="02010600030101010101" pitchFamily="2" charset="-122"/>
                <a:cs typeface="Times New Roman" panose="02020603050405020304" pitchFamily="18" charset="0"/>
              </a:rPr>
              <a:t>(ENDPOINT, ACCESS_ID, ACCESS_KEY)</a:t>
            </a:r>
            <a:endParaRPr lang="zh-CN" altLang="zh-CN" sz="1800" kern="900" dirty="0">
              <a:effectLst/>
              <a:latin typeface="Courier New" panose="02070309020205020404" pitchFamily="49" charset="0"/>
              <a:ea typeface="宋体" panose="02010600030101010101" pitchFamily="2" charset="-122"/>
              <a:cs typeface="Times New Roman" panose="02020603050405020304" pitchFamily="18" charset="0"/>
            </a:endParaRPr>
          </a:p>
          <a:p>
            <a:pPr indent="228600" algn="l">
              <a:lnSpc>
                <a:spcPts val="1400"/>
              </a:lnSpc>
            </a:pPr>
            <a:r>
              <a:rPr lang="en-US" altLang="zh-CN" sz="1800" kern="500" dirty="0">
                <a:effectLst/>
                <a:latin typeface="Courier New" panose="02070309020205020404" pitchFamily="49" charset="0"/>
                <a:ea typeface="宋体" panose="02010600030101010101" pitchFamily="2" charset="-122"/>
                <a:cs typeface="Times New Roman" panose="02020603050405020304" pitchFamily="18" charset="0"/>
              </a:rPr>
              <a:t>5	</a:t>
            </a:r>
            <a:r>
              <a:rPr lang="en-US" altLang="zh-CN" sz="1800" kern="500" dirty="0" err="1">
                <a:effectLst/>
                <a:latin typeface="Courier New" panose="02070309020205020404" pitchFamily="49" charset="0"/>
                <a:ea typeface="宋体" panose="02010600030101010101" pitchFamily="2" charset="-122"/>
                <a:cs typeface="Times New Roman" panose="02020603050405020304" pitchFamily="18" charset="0"/>
              </a:rPr>
              <a:t>openapi.login</a:t>
            </a:r>
            <a:r>
              <a:rPr lang="en-US" altLang="zh-CN" sz="1800" kern="500" dirty="0">
                <a:effectLst/>
                <a:latin typeface="Courier New" panose="02070309020205020404" pitchFamily="49" charset="0"/>
                <a:ea typeface="宋体" panose="02010600030101010101" pitchFamily="2" charset="-122"/>
                <a:cs typeface="Times New Roman" panose="02020603050405020304" pitchFamily="18" charset="0"/>
              </a:rPr>
              <a:t>(USERNAME, PASSWORD)</a:t>
            </a:r>
            <a:endParaRPr lang="zh-CN" altLang="zh-CN" sz="1800" kern="900" dirty="0">
              <a:effectLst/>
              <a:latin typeface="Courier New" panose="02070309020205020404" pitchFamily="49" charset="0"/>
              <a:ea typeface="宋体" panose="02010600030101010101" pitchFamily="2" charset="-122"/>
              <a:cs typeface="Times New Roman" panose="02020603050405020304" pitchFamily="18" charset="0"/>
            </a:endParaRPr>
          </a:p>
          <a:p>
            <a:pPr indent="228600" algn="l">
              <a:lnSpc>
                <a:spcPts val="1400"/>
              </a:lnSpc>
            </a:pPr>
            <a:r>
              <a:rPr lang="en-US" altLang="zh-CN" sz="1800" kern="500" dirty="0">
                <a:effectLst/>
                <a:latin typeface="Courier New" panose="02070309020205020404" pitchFamily="49" charset="0"/>
                <a:ea typeface="宋体" panose="02010600030101010101" pitchFamily="2" charset="-122"/>
                <a:cs typeface="Times New Roman" panose="02020603050405020304" pitchFamily="18" charset="0"/>
              </a:rPr>
              <a:t>6	import logging</a:t>
            </a:r>
            <a:endParaRPr lang="zh-CN" altLang="zh-CN" sz="1800" kern="900" dirty="0">
              <a:effectLst/>
              <a:latin typeface="Courier New" panose="02070309020205020404" pitchFamily="49" charset="0"/>
              <a:ea typeface="宋体" panose="02010600030101010101" pitchFamily="2" charset="-122"/>
              <a:cs typeface="Times New Roman" panose="02020603050405020304" pitchFamily="18" charset="0"/>
            </a:endParaRPr>
          </a:p>
          <a:p>
            <a:pPr indent="228600" algn="l">
              <a:lnSpc>
                <a:spcPts val="1400"/>
              </a:lnSpc>
            </a:pPr>
            <a:r>
              <a:rPr lang="en-US" altLang="zh-CN" sz="1800" kern="500" dirty="0">
                <a:effectLst/>
                <a:latin typeface="Courier New" panose="02070309020205020404" pitchFamily="49" charset="0"/>
                <a:ea typeface="宋体" panose="02010600030101010101" pitchFamily="2" charset="-122"/>
                <a:cs typeface="Times New Roman" panose="02020603050405020304" pitchFamily="18" charset="0"/>
              </a:rPr>
              <a:t>7    </a:t>
            </a:r>
            <a:r>
              <a:rPr lang="en-US" altLang="zh-CN" sz="1800" kern="500" dirty="0" err="1">
                <a:effectLst/>
                <a:latin typeface="Courier New" panose="02070309020205020404" pitchFamily="49" charset="0"/>
                <a:ea typeface="宋体" panose="02010600030101010101" pitchFamily="2" charset="-122"/>
                <a:cs typeface="Times New Roman" panose="02020603050405020304" pitchFamily="18" charset="0"/>
              </a:rPr>
              <a:t>tuya_logger.setLevel</a:t>
            </a:r>
            <a:r>
              <a:rPr lang="en-US" altLang="zh-CN" sz="1800" kern="5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500" dirty="0" err="1">
                <a:effectLst/>
                <a:latin typeface="Courier New" panose="02070309020205020404" pitchFamily="49" charset="0"/>
                <a:ea typeface="宋体" panose="02010600030101010101" pitchFamily="2" charset="-122"/>
                <a:cs typeface="Times New Roman" panose="02020603050405020304" pitchFamily="18" charset="0"/>
              </a:rPr>
              <a:t>logging.DEBUG</a:t>
            </a:r>
            <a:r>
              <a:rPr lang="en-US" altLang="zh-CN" sz="1800" kern="5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800" kern="900" dirty="0">
              <a:effectLst/>
              <a:latin typeface="Courier New" panose="02070309020205020404" pitchFamily="49" charset="0"/>
              <a:ea typeface="宋体" panose="02010600030101010101" pitchFamily="2" charset="-122"/>
              <a:cs typeface="Times New Roman" panose="02020603050405020304" pitchFamily="18" charset="0"/>
            </a:endParaRPr>
          </a:p>
          <a:p>
            <a:pPr indent="228600" algn="l">
              <a:lnSpc>
                <a:spcPts val="1400"/>
              </a:lnSpc>
            </a:pPr>
            <a:r>
              <a:rPr lang="en-US" altLang="zh-CN" sz="1800" kern="500" dirty="0">
                <a:effectLst/>
                <a:latin typeface="Courier New" panose="02070309020205020404" pitchFamily="49" charset="0"/>
                <a:ea typeface="宋体" panose="02010600030101010101" pitchFamily="2" charset="-122"/>
                <a:cs typeface="Times New Roman" panose="02020603050405020304" pitchFamily="18" charset="0"/>
              </a:rPr>
              <a:t>8	flag = True</a:t>
            </a:r>
            <a:endParaRPr lang="zh-CN" altLang="zh-CN" sz="1800" kern="900" dirty="0">
              <a:effectLst/>
              <a:latin typeface="Courier New" panose="02070309020205020404" pitchFamily="49" charset="0"/>
              <a:ea typeface="宋体" panose="02010600030101010101" pitchFamily="2" charset="-122"/>
              <a:cs typeface="Times New Roman" panose="02020603050405020304" pitchFamily="18" charset="0"/>
            </a:endParaRPr>
          </a:p>
          <a:p>
            <a:pPr indent="228600" algn="l">
              <a:lnSpc>
                <a:spcPts val="1400"/>
              </a:lnSpc>
            </a:pPr>
            <a:r>
              <a:rPr lang="en-US" altLang="zh-CN" sz="1800" kern="500" dirty="0">
                <a:effectLst/>
                <a:latin typeface="Courier New" panose="02070309020205020404" pitchFamily="49" charset="0"/>
                <a:ea typeface="宋体" panose="02010600030101010101" pitchFamily="2" charset="-122"/>
                <a:cs typeface="Times New Roman" panose="02020603050405020304" pitchFamily="18" charset="0"/>
              </a:rPr>
              <a:t>9	while True:</a:t>
            </a:r>
            <a:endParaRPr lang="zh-CN" altLang="zh-CN" sz="1800" kern="900" dirty="0">
              <a:effectLst/>
              <a:latin typeface="Courier New" panose="02070309020205020404" pitchFamily="49" charset="0"/>
              <a:ea typeface="宋体" panose="02010600030101010101" pitchFamily="2" charset="-122"/>
              <a:cs typeface="Times New Roman" panose="02020603050405020304" pitchFamily="18" charset="0"/>
            </a:endParaRPr>
          </a:p>
          <a:p>
            <a:pPr indent="228600" algn="l">
              <a:lnSpc>
                <a:spcPts val="1400"/>
              </a:lnSpc>
            </a:pPr>
            <a:r>
              <a:rPr lang="en-US" altLang="zh-CN" sz="1800" kern="500" dirty="0">
                <a:effectLst/>
                <a:latin typeface="Courier New" panose="02070309020205020404" pitchFamily="49" charset="0"/>
                <a:ea typeface="宋体" panose="02010600030101010101" pitchFamily="2" charset="-122"/>
                <a:cs typeface="Times New Roman" panose="02020603050405020304" pitchFamily="18" charset="0"/>
              </a:rPr>
              <a:t>10	    input('Hit Enter to toggle light switch.')</a:t>
            </a:r>
            <a:endParaRPr lang="zh-CN" altLang="zh-CN" sz="1800" kern="900" dirty="0">
              <a:effectLst/>
              <a:latin typeface="Courier New" panose="02070309020205020404" pitchFamily="49" charset="0"/>
              <a:ea typeface="宋体" panose="02010600030101010101" pitchFamily="2" charset="-122"/>
              <a:cs typeface="Times New Roman" panose="02020603050405020304" pitchFamily="18" charset="0"/>
            </a:endParaRPr>
          </a:p>
          <a:p>
            <a:pPr indent="228600" algn="l">
              <a:lnSpc>
                <a:spcPts val="1400"/>
              </a:lnSpc>
            </a:pPr>
            <a:r>
              <a:rPr lang="en-US" altLang="zh-CN" sz="1800" kern="500" dirty="0">
                <a:effectLst/>
                <a:latin typeface="Courier New" panose="02070309020205020404" pitchFamily="49" charset="0"/>
                <a:ea typeface="宋体" panose="02010600030101010101" pitchFamily="2" charset="-122"/>
                <a:cs typeface="Times New Roman" panose="02020603050405020304" pitchFamily="18" charset="0"/>
              </a:rPr>
              <a:t>11	    flag = not flag</a:t>
            </a:r>
            <a:endParaRPr lang="zh-CN" altLang="zh-CN" sz="1800" kern="900" dirty="0">
              <a:effectLst/>
              <a:latin typeface="Courier New" panose="02070309020205020404" pitchFamily="49" charset="0"/>
              <a:ea typeface="宋体" panose="02010600030101010101" pitchFamily="2" charset="-122"/>
              <a:cs typeface="Times New Roman" panose="02020603050405020304" pitchFamily="18" charset="0"/>
            </a:endParaRPr>
          </a:p>
          <a:p>
            <a:pPr indent="228600" algn="l">
              <a:lnSpc>
                <a:spcPts val="1400"/>
              </a:lnSpc>
            </a:pPr>
            <a:r>
              <a:rPr lang="en-US" altLang="zh-CN" sz="1800" kern="500" dirty="0">
                <a:effectLst/>
                <a:latin typeface="Courier New" panose="02070309020205020404" pitchFamily="49" charset="0"/>
                <a:ea typeface="宋体" panose="02010600030101010101" pitchFamily="2" charset="-122"/>
                <a:cs typeface="Times New Roman" panose="02020603050405020304" pitchFamily="18" charset="0"/>
              </a:rPr>
              <a:t>12		commands = {'commands': [{'code': '</a:t>
            </a:r>
            <a:r>
              <a:rPr lang="en-US" altLang="zh-CN" sz="1800" kern="500" dirty="0" err="1">
                <a:effectLst/>
                <a:latin typeface="Courier New" panose="02070309020205020404" pitchFamily="49" charset="0"/>
                <a:ea typeface="宋体" panose="02010600030101010101" pitchFamily="2" charset="-122"/>
                <a:cs typeface="Times New Roman" panose="02020603050405020304" pitchFamily="18" charset="0"/>
              </a:rPr>
              <a:t>switch_led</a:t>
            </a:r>
            <a:r>
              <a:rPr lang="en-US" altLang="zh-CN" sz="1800" kern="500" dirty="0">
                <a:effectLst/>
                <a:latin typeface="Courier New" panose="02070309020205020404" pitchFamily="49" charset="0"/>
                <a:ea typeface="宋体" panose="02010600030101010101" pitchFamily="2" charset="-122"/>
                <a:cs typeface="Times New Roman" panose="02020603050405020304" pitchFamily="18" charset="0"/>
              </a:rPr>
              <a:t>', 'value': flag}]} # </a:t>
            </a:r>
            <a:r>
              <a:rPr lang="zh-CN" altLang="zh-CN" sz="1800" kern="500" dirty="0">
                <a:effectLst/>
                <a:latin typeface="Courier New" panose="02070309020205020404" pitchFamily="49" charset="0"/>
                <a:ea typeface="宋体" panose="02010600030101010101" pitchFamily="2" charset="-122"/>
                <a:cs typeface="Times New Roman" panose="02020603050405020304" pitchFamily="18" charset="0"/>
              </a:rPr>
              <a:t>控制灯开关命令 </a:t>
            </a:r>
            <a:endParaRPr lang="zh-CN" altLang="zh-CN" sz="1800" kern="900" dirty="0">
              <a:effectLst/>
              <a:latin typeface="Courier New" panose="02070309020205020404" pitchFamily="49" charset="0"/>
              <a:ea typeface="宋体" panose="02010600030101010101" pitchFamily="2" charset="-122"/>
              <a:cs typeface="Times New Roman" panose="02020603050405020304" pitchFamily="18" charset="0"/>
            </a:endParaRPr>
          </a:p>
          <a:p>
            <a:r>
              <a:rPr lang="en-US" altLang="zh-CN" sz="1800" kern="500" dirty="0">
                <a:effectLst/>
                <a:latin typeface="Times New Roman" panose="02020603050405020304" pitchFamily="18" charset="0"/>
                <a:ea typeface="宋体" panose="02010600030101010101" pitchFamily="2" charset="-122"/>
              </a:rPr>
              <a:t>13		</a:t>
            </a:r>
            <a:r>
              <a:rPr lang="en-US" altLang="zh-CN" sz="1800" kern="500" dirty="0" err="1">
                <a:effectLst/>
                <a:latin typeface="Times New Roman" panose="02020603050405020304" pitchFamily="18" charset="0"/>
                <a:ea typeface="宋体" panose="02010600030101010101" pitchFamily="2" charset="-122"/>
              </a:rPr>
              <a:t>openapi.post</a:t>
            </a:r>
            <a:r>
              <a:rPr lang="en-US" altLang="zh-CN" sz="1800" kern="500" dirty="0">
                <a:effectLst/>
                <a:latin typeface="Times New Roman" panose="02020603050405020304" pitchFamily="18" charset="0"/>
                <a:ea typeface="宋体" panose="02010600030101010101" pitchFamily="2" charset="-122"/>
              </a:rPr>
              <a:t>('/v1.0/devices/{}/</a:t>
            </a:r>
            <a:r>
              <a:rPr lang="en-US" altLang="zh-CN" sz="1800" kern="500" dirty="0" err="1">
                <a:effectLst/>
                <a:latin typeface="Times New Roman" panose="02020603050405020304" pitchFamily="18" charset="0"/>
                <a:ea typeface="宋体" panose="02010600030101010101" pitchFamily="2" charset="-122"/>
              </a:rPr>
              <a:t>commands'.format</a:t>
            </a:r>
            <a:r>
              <a:rPr lang="en-US" altLang="zh-CN" sz="1800" kern="500" dirty="0">
                <a:effectLst/>
                <a:latin typeface="Times New Roman" panose="02020603050405020304" pitchFamily="18" charset="0"/>
                <a:ea typeface="宋体" panose="02010600030101010101" pitchFamily="2" charset="-122"/>
              </a:rPr>
              <a:t>(DEVICE_ID), commands) # </a:t>
            </a:r>
            <a:r>
              <a:rPr lang="zh-CN" altLang="zh-CN" sz="1800" kern="500" dirty="0">
                <a:effectLst/>
                <a:latin typeface="Times New Roman" panose="02020603050405020304" pitchFamily="18" charset="0"/>
                <a:ea typeface="宋体" panose="02010600030101010101" pitchFamily="2" charset="-122"/>
                <a:cs typeface="Times New Roman" panose="02020603050405020304" pitchFamily="18" charset="0"/>
              </a:rPr>
              <a:t>命令由云服务下发</a:t>
            </a:r>
            <a:endParaRPr lang="zh-CN" altLang="en-US" dirty="0"/>
          </a:p>
        </p:txBody>
      </p:sp>
    </p:spTree>
    <p:extLst>
      <p:ext uri="{BB962C8B-B14F-4D97-AF65-F5344CB8AC3E}">
        <p14:creationId xmlns:p14="http://schemas.microsoft.com/office/powerpoint/2010/main" val="4030980362"/>
      </p:ext>
    </p:extLst>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99DF51-5BF2-4436-ADD3-DAA32E5456DA}"/>
              </a:ext>
            </a:extLst>
          </p:cNvPr>
          <p:cNvSpPr>
            <a:spLocks noGrp="1"/>
          </p:cNvSpPr>
          <p:nvPr>
            <p:ph type="title"/>
          </p:nvPr>
        </p:nvSpPr>
        <p:spPr/>
        <p:txBody>
          <a:bodyPr/>
          <a:lstStyle/>
          <a:p>
            <a:r>
              <a:rPr lang="en-US" altLang="zh-CN" dirty="0" err="1"/>
              <a:t>Tuya</a:t>
            </a:r>
            <a:r>
              <a:rPr lang="en-US" altLang="zh-CN" dirty="0"/>
              <a:t> IoT</a:t>
            </a:r>
            <a:r>
              <a:rPr lang="zh-CN" altLang="en-US" dirty="0"/>
              <a:t>开发平台</a:t>
            </a:r>
          </a:p>
        </p:txBody>
      </p:sp>
      <p:sp>
        <p:nvSpPr>
          <p:cNvPr id="3" name="内容占位符 2">
            <a:extLst>
              <a:ext uri="{FF2B5EF4-FFF2-40B4-BE49-F238E27FC236}">
                <a16:creationId xmlns:a16="http://schemas.microsoft.com/office/drawing/2014/main" id="{5F1913CA-E0E9-491F-8984-3E6EDE25114C}"/>
              </a:ext>
            </a:extLst>
          </p:cNvPr>
          <p:cNvSpPr>
            <a:spLocks noGrp="1"/>
          </p:cNvSpPr>
          <p:nvPr>
            <p:ph idx="1"/>
          </p:nvPr>
        </p:nvSpPr>
        <p:spPr/>
        <p:txBody>
          <a:bodyPr/>
          <a:lstStyle/>
          <a:p>
            <a:r>
              <a:rPr lang="zh-CN" altLang="en-US" dirty="0"/>
              <a:t>移动端开发</a:t>
            </a:r>
            <a:endParaRPr lang="en-US" altLang="zh-CN" dirty="0"/>
          </a:p>
          <a:p>
            <a:pPr lvl="1"/>
            <a:r>
              <a:rPr lang="zh-CN" altLang="en-US" dirty="0"/>
              <a:t>控制智能产品的界面程序</a:t>
            </a:r>
            <a:r>
              <a:rPr lang="en-US" altLang="zh-CN" dirty="0"/>
              <a:t>——</a:t>
            </a:r>
            <a:r>
              <a:rPr lang="zh-CN" altLang="en-US" dirty="0"/>
              <a:t>面板</a:t>
            </a:r>
            <a:endParaRPr lang="en-US" altLang="zh-CN" dirty="0"/>
          </a:p>
          <a:p>
            <a:pPr lvl="2"/>
            <a:r>
              <a:rPr lang="zh-CN" altLang="en-US" dirty="0"/>
              <a:t>基于</a:t>
            </a:r>
            <a:r>
              <a:rPr lang="en-US" altLang="zh-CN" dirty="0"/>
              <a:t>React Native</a:t>
            </a:r>
            <a:r>
              <a:rPr lang="zh-CN" altLang="en-US" dirty="0"/>
              <a:t>框架实现，保留原生移动应用的流畅体验</a:t>
            </a:r>
            <a:endParaRPr lang="en-US" altLang="zh-CN" dirty="0"/>
          </a:p>
          <a:p>
            <a:pPr lvl="2"/>
            <a:r>
              <a:rPr lang="zh-CN" altLang="en-US" dirty="0"/>
              <a:t>可以在工作台拖拽组件完成设计，也可以基于</a:t>
            </a:r>
            <a:r>
              <a:rPr lang="en-US" altLang="zh-CN" dirty="0"/>
              <a:t>SDK</a:t>
            </a:r>
            <a:r>
              <a:rPr lang="zh-CN" altLang="en-US" dirty="0"/>
              <a:t>设计新面板</a:t>
            </a:r>
            <a:endParaRPr lang="en-US" altLang="zh-CN" dirty="0"/>
          </a:p>
          <a:p>
            <a:pPr lvl="1"/>
            <a:r>
              <a:rPr lang="zh-CN" altLang="en-US" dirty="0"/>
              <a:t>面板嵌入移动应用</a:t>
            </a:r>
            <a:endParaRPr lang="en-US" altLang="zh-CN" dirty="0"/>
          </a:p>
          <a:p>
            <a:pPr lvl="2"/>
            <a:r>
              <a:rPr lang="zh-CN" altLang="en-US" dirty="0"/>
              <a:t>公版</a:t>
            </a:r>
            <a:r>
              <a:rPr lang="en-US" altLang="zh-CN" dirty="0"/>
              <a:t>App</a:t>
            </a:r>
          </a:p>
          <a:p>
            <a:pPr lvl="2"/>
            <a:r>
              <a:rPr lang="zh-CN" altLang="en-US" dirty="0"/>
              <a:t>零代码开发</a:t>
            </a:r>
            <a:r>
              <a:rPr lang="en-US" altLang="zh-CN" dirty="0"/>
              <a:t>OEM App</a:t>
            </a:r>
          </a:p>
          <a:p>
            <a:pPr lvl="2"/>
            <a:r>
              <a:rPr lang="zh-CN" altLang="en-US" dirty="0"/>
              <a:t>使用</a:t>
            </a:r>
            <a:r>
              <a:rPr lang="en-US" altLang="zh-CN" dirty="0"/>
              <a:t>SDK</a:t>
            </a:r>
            <a:r>
              <a:rPr lang="zh-CN" altLang="en-US" dirty="0"/>
              <a:t>进行本地</a:t>
            </a:r>
            <a:r>
              <a:rPr lang="en-US" altLang="zh-CN" dirty="0"/>
              <a:t>App</a:t>
            </a:r>
            <a:r>
              <a:rPr lang="zh-CN" altLang="en-US" dirty="0"/>
              <a:t>开发</a:t>
            </a:r>
            <a:endParaRPr lang="en-US" altLang="zh-CN" dirty="0"/>
          </a:p>
        </p:txBody>
      </p:sp>
      <p:pic>
        <p:nvPicPr>
          <p:cNvPr id="6" name="图片 5">
            <a:extLst>
              <a:ext uri="{FF2B5EF4-FFF2-40B4-BE49-F238E27FC236}">
                <a16:creationId xmlns:a16="http://schemas.microsoft.com/office/drawing/2014/main" id="{409482A0-6AE8-429B-891D-5046F7A0693C}"/>
              </a:ext>
            </a:extLst>
          </p:cNvPr>
          <p:cNvPicPr>
            <a:picLocks noChangeAspect="1"/>
          </p:cNvPicPr>
          <p:nvPr/>
        </p:nvPicPr>
        <p:blipFill>
          <a:blip r:embed="rId2"/>
          <a:stretch>
            <a:fillRect/>
          </a:stretch>
        </p:blipFill>
        <p:spPr>
          <a:xfrm>
            <a:off x="6773160" y="2675674"/>
            <a:ext cx="1913640" cy="4144225"/>
          </a:xfrm>
          <a:prstGeom prst="rect">
            <a:avLst/>
          </a:prstGeom>
        </p:spPr>
      </p:pic>
      <p:pic>
        <p:nvPicPr>
          <p:cNvPr id="7" name="图片 6">
            <a:extLst>
              <a:ext uri="{FF2B5EF4-FFF2-40B4-BE49-F238E27FC236}">
                <a16:creationId xmlns:a16="http://schemas.microsoft.com/office/drawing/2014/main" id="{966AF8B3-2AEA-4FA5-9516-71EADA4456D9}"/>
              </a:ext>
            </a:extLst>
          </p:cNvPr>
          <p:cNvPicPr>
            <a:picLocks noChangeAspect="1"/>
          </p:cNvPicPr>
          <p:nvPr/>
        </p:nvPicPr>
        <p:blipFill>
          <a:blip r:embed="rId3"/>
          <a:stretch>
            <a:fillRect/>
          </a:stretch>
        </p:blipFill>
        <p:spPr>
          <a:xfrm>
            <a:off x="4610100" y="2675675"/>
            <a:ext cx="1913639" cy="4144225"/>
          </a:xfrm>
          <a:prstGeom prst="rect">
            <a:avLst/>
          </a:prstGeom>
        </p:spPr>
      </p:pic>
    </p:spTree>
    <p:extLst>
      <p:ext uri="{BB962C8B-B14F-4D97-AF65-F5344CB8AC3E}">
        <p14:creationId xmlns:p14="http://schemas.microsoft.com/office/powerpoint/2010/main" val="971728995"/>
      </p:ext>
    </p:extLst>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99DF51-5BF2-4436-ADD3-DAA32E5456DA}"/>
              </a:ext>
            </a:extLst>
          </p:cNvPr>
          <p:cNvSpPr>
            <a:spLocks noGrp="1"/>
          </p:cNvSpPr>
          <p:nvPr>
            <p:ph type="title"/>
          </p:nvPr>
        </p:nvSpPr>
        <p:spPr/>
        <p:txBody>
          <a:bodyPr/>
          <a:lstStyle/>
          <a:p>
            <a:r>
              <a:rPr lang="en-US" altLang="zh-CN" dirty="0" err="1"/>
              <a:t>Tuya</a:t>
            </a:r>
            <a:r>
              <a:rPr lang="en-US" altLang="zh-CN" dirty="0"/>
              <a:t> IoT</a:t>
            </a:r>
            <a:r>
              <a:rPr lang="zh-CN" altLang="en-US" dirty="0"/>
              <a:t>开发平台</a:t>
            </a:r>
          </a:p>
        </p:txBody>
      </p:sp>
      <p:sp>
        <p:nvSpPr>
          <p:cNvPr id="3" name="内容占位符 2">
            <a:extLst>
              <a:ext uri="{FF2B5EF4-FFF2-40B4-BE49-F238E27FC236}">
                <a16:creationId xmlns:a16="http://schemas.microsoft.com/office/drawing/2014/main" id="{5F1913CA-E0E9-491F-8984-3E6EDE25114C}"/>
              </a:ext>
            </a:extLst>
          </p:cNvPr>
          <p:cNvSpPr>
            <a:spLocks noGrp="1"/>
          </p:cNvSpPr>
          <p:nvPr>
            <p:ph idx="1"/>
          </p:nvPr>
        </p:nvSpPr>
        <p:spPr/>
        <p:txBody>
          <a:bodyPr/>
          <a:lstStyle/>
          <a:p>
            <a:r>
              <a:rPr lang="zh-CN" altLang="en-US" dirty="0"/>
              <a:t>平台特性</a:t>
            </a:r>
            <a:endParaRPr lang="en-US" altLang="zh-CN" dirty="0"/>
          </a:p>
          <a:p>
            <a:pPr lvl="1"/>
            <a:r>
              <a:rPr lang="zh-CN" altLang="en-US" dirty="0"/>
              <a:t>成熟的硬件解决方案</a:t>
            </a:r>
            <a:endParaRPr lang="en-US" altLang="zh-CN" dirty="0"/>
          </a:p>
          <a:p>
            <a:pPr lvl="2"/>
            <a:r>
              <a:rPr lang="zh-CN" altLang="en-US" dirty="0"/>
              <a:t>针对电工，照明和家电等应用提出了硬件解决方案，涵盖了丰富的硬件产品品类</a:t>
            </a:r>
            <a:endParaRPr lang="en-US" altLang="zh-CN" dirty="0"/>
          </a:p>
          <a:p>
            <a:pPr lvl="1"/>
            <a:r>
              <a:rPr lang="zh-CN" altLang="en-US" dirty="0"/>
              <a:t>灵活的边缘计算网关</a:t>
            </a:r>
            <a:endParaRPr lang="en-US" altLang="zh-CN" dirty="0"/>
          </a:p>
          <a:p>
            <a:pPr lvl="2"/>
            <a:r>
              <a:rPr lang="en-US" altLang="zh-CN" dirty="0"/>
              <a:t>Docker</a:t>
            </a:r>
            <a:r>
              <a:rPr lang="zh-CN" altLang="en-US" dirty="0"/>
              <a:t>镜像方式安装，跨平台，部署方便，支持多种主流物联网标准协议的接入，也支持用户使用工具集快速开发私有协议的驱动</a:t>
            </a:r>
            <a:endParaRPr lang="en-US" altLang="zh-CN" dirty="0"/>
          </a:p>
          <a:p>
            <a:pPr lvl="1"/>
            <a:r>
              <a:rPr lang="zh-CN" altLang="en-US" dirty="0"/>
              <a:t>便捷的</a:t>
            </a:r>
            <a:r>
              <a:rPr lang="en-US" altLang="zh-CN" dirty="0"/>
              <a:t>SaaS</a:t>
            </a:r>
            <a:r>
              <a:rPr lang="zh-CN" altLang="en-US" dirty="0"/>
              <a:t>开发框架</a:t>
            </a:r>
            <a:endParaRPr lang="en-US" altLang="zh-CN" dirty="0"/>
          </a:p>
          <a:p>
            <a:pPr lvl="2"/>
            <a:r>
              <a:rPr lang="en-US" altLang="zh-CN" dirty="0"/>
              <a:t>IoT SaaS</a:t>
            </a:r>
            <a:r>
              <a:rPr lang="zh-CN" altLang="en-US" dirty="0"/>
              <a:t>开发者提供的前、后端开源框架，集成了多项基本功能如用户登录、角色权限等</a:t>
            </a:r>
            <a:endParaRPr lang="en-US" altLang="zh-CN" dirty="0"/>
          </a:p>
          <a:p>
            <a:pPr lvl="1"/>
            <a:r>
              <a:rPr lang="zh-CN" altLang="en-US" dirty="0"/>
              <a:t>全球公有云</a:t>
            </a:r>
            <a:endParaRPr lang="en-US" altLang="zh-CN" dirty="0"/>
          </a:p>
          <a:p>
            <a:pPr lvl="2"/>
            <a:r>
              <a:rPr lang="zh-CN" altLang="en-US" dirty="0"/>
              <a:t>整合了不同主流公有云的全球服务节点，保障高效稳定的使用体验</a:t>
            </a:r>
            <a:endParaRPr lang="en-US" altLang="zh-CN" dirty="0"/>
          </a:p>
        </p:txBody>
      </p:sp>
    </p:spTree>
    <p:extLst>
      <p:ext uri="{BB962C8B-B14F-4D97-AF65-F5344CB8AC3E}">
        <p14:creationId xmlns:p14="http://schemas.microsoft.com/office/powerpoint/2010/main" val="3755805330"/>
      </p:ext>
    </p:extLst>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a:t>目录</a:t>
            </a:r>
            <a:endParaRPr lang="zh-CN" altLang="en-US" dirty="0"/>
          </a:p>
        </p:txBody>
      </p:sp>
      <p:sp>
        <p:nvSpPr>
          <p:cNvPr id="3" name="内容占位符 2">
            <a:extLst>
              <a:ext uri="{FF2B5EF4-FFF2-40B4-BE49-F238E27FC236}">
                <a16:creationId xmlns:a16="http://schemas.microsoft.com/office/drawing/2014/main" id="{1695E8AD-7BD9-4F96-BA67-A2C13ED0335E}"/>
              </a:ext>
            </a:extLst>
          </p:cNvPr>
          <p:cNvSpPr>
            <a:spLocks noGrp="1"/>
          </p:cNvSpPr>
          <p:nvPr>
            <p:ph idx="1"/>
          </p:nvPr>
        </p:nvSpPr>
        <p:spPr/>
        <p:txBody>
          <a:bodyPr/>
          <a:lstStyle/>
          <a:p>
            <a:endParaRPr lang="en-US" altLang="zh-CN" sz="2800" dirty="0"/>
          </a:p>
          <a:p>
            <a:r>
              <a:rPr lang="zh-CN" altLang="en-US" sz="2800" dirty="0"/>
              <a:t>概述</a:t>
            </a:r>
          </a:p>
          <a:p>
            <a:r>
              <a:rPr lang="zh-CN" altLang="en-US" sz="2800" dirty="0"/>
              <a:t>云</a:t>
            </a:r>
            <a:r>
              <a:rPr lang="en-US" altLang="zh-CN" sz="2800" dirty="0"/>
              <a:t>-</a:t>
            </a:r>
            <a:r>
              <a:rPr lang="zh-CN" altLang="en-US" sz="2800" dirty="0"/>
              <a:t>端一体开发平台主要功能</a:t>
            </a:r>
          </a:p>
          <a:p>
            <a:r>
              <a:rPr lang="zh-CN" altLang="en-US" sz="2800" dirty="0"/>
              <a:t>典型物联网云</a:t>
            </a:r>
            <a:r>
              <a:rPr lang="en-US" altLang="zh-CN" sz="2800" dirty="0"/>
              <a:t>-</a:t>
            </a:r>
            <a:r>
              <a:rPr lang="zh-CN" altLang="en-US" sz="2800" dirty="0"/>
              <a:t>端一体开发平台</a:t>
            </a:r>
          </a:p>
          <a:p>
            <a:pPr lvl="1"/>
            <a:r>
              <a:rPr lang="en-US" altLang="zh-CN" sz="2400" dirty="0" err="1"/>
              <a:t>TinyLink</a:t>
            </a:r>
            <a:endParaRPr lang="en-US" altLang="zh-CN" sz="2400" dirty="0"/>
          </a:p>
          <a:p>
            <a:pPr lvl="1"/>
            <a:r>
              <a:rPr lang="en-US" altLang="zh-CN" sz="2400" dirty="0"/>
              <a:t>IoT Studio</a:t>
            </a:r>
          </a:p>
          <a:p>
            <a:pPr lvl="1"/>
            <a:r>
              <a:rPr lang="en-US" altLang="zh-CN" sz="2400" dirty="0" err="1"/>
              <a:t>Tuya</a:t>
            </a:r>
            <a:r>
              <a:rPr lang="en-US" altLang="zh-CN" sz="2400" dirty="0"/>
              <a:t> IoT</a:t>
            </a:r>
            <a:r>
              <a:rPr lang="zh-CN" altLang="en-US" sz="2400" dirty="0"/>
              <a:t>开发平台</a:t>
            </a:r>
          </a:p>
          <a:p>
            <a:r>
              <a:rPr lang="zh-CN" altLang="en-US" sz="2800" dirty="0">
                <a:solidFill>
                  <a:srgbClr val="C00000"/>
                </a:solidFill>
              </a:rPr>
              <a:t>案例开发</a:t>
            </a:r>
          </a:p>
          <a:p>
            <a:r>
              <a:rPr lang="zh-CN" altLang="en-US" sz="2800" dirty="0"/>
              <a:t>总结</a:t>
            </a:r>
          </a:p>
          <a:p>
            <a:endParaRPr lang="zh-CN" altLang="en-US" dirty="0"/>
          </a:p>
        </p:txBody>
      </p:sp>
      <p:sp>
        <p:nvSpPr>
          <p:cNvPr id="28" name="灯片编号占位符 4"/>
          <p:cNvSpPr txBox="1">
            <a:spLocks noChangeArrowheads="1"/>
          </p:cNvSpPr>
          <p:nvPr/>
        </p:nvSpPr>
        <p:spPr bwMode="auto">
          <a:xfrm>
            <a:off x="8229600" y="6553200"/>
            <a:ext cx="762000" cy="228600"/>
          </a:xfrm>
          <a:prstGeom prst="rect">
            <a:avLst/>
          </a:prstGeom>
          <a:noFill/>
          <a:ln w="9525">
            <a:noFill/>
            <a:miter lim="800000"/>
            <a:headEnd/>
            <a:tailEnd/>
          </a:ln>
        </p:spPr>
        <p:txBody>
          <a:bodyPr lIns="92075" tIns="46038" rIns="92075" bIns="46038" anchor="ctr"/>
          <a:lstStyle/>
          <a:p>
            <a:pPr algn="r"/>
            <a:fld id="{5C42246B-9AD6-4994-8CF2-B420465BEF68}" type="slidenum">
              <a:rPr lang="en-US" altLang="zh-CN" sz="1800" baseline="0">
                <a:solidFill>
                  <a:srgbClr val="000000"/>
                </a:solidFill>
                <a:latin typeface="Monotype Corsiva" pitchFamily="66" charset="0"/>
              </a:rPr>
              <a:pPr algn="r"/>
              <a:t>125</a:t>
            </a:fld>
            <a:endParaRPr lang="zh-CN" altLang="zh-CN" sz="1800" baseline="0" dirty="0">
              <a:solidFill>
                <a:srgbClr val="000000"/>
              </a:solidFill>
              <a:latin typeface="Monotype Corsiva" pitchFamily="66" charset="0"/>
            </a:endParaRPr>
          </a:p>
        </p:txBody>
      </p:sp>
      <p:sp>
        <p:nvSpPr>
          <p:cNvPr id="7" name="内容占位符 2"/>
          <p:cNvSpPr>
            <a:spLocks noGrp="1"/>
          </p:cNvSpPr>
          <p:nvPr/>
        </p:nvSpPr>
        <p:spPr bwMode="auto">
          <a:xfrm>
            <a:off x="457200" y="990000"/>
            <a:ext cx="8305800" cy="5410200"/>
          </a:xfrm>
          <a:prstGeom prst="rect">
            <a:avLst/>
          </a:prstGeom>
          <a:noFill/>
          <a:ln w="9525">
            <a:noFill/>
            <a:miter lim="800000"/>
          </a:ln>
          <a:effectLst/>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Tx/>
              <a:buFont typeface="Wingdings" panose="05000000000000000000" pitchFamily="2" charset="2"/>
              <a:buChar char="l"/>
              <a:defRPr lang="zh-CN" altLang="en-US" sz="2800" b="1" baseline="0" dirty="0" smtClean="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20000"/>
              </a:spcBef>
              <a:spcAft>
                <a:spcPct val="0"/>
              </a:spcAft>
              <a:buClrTx/>
              <a:buFont typeface="Wingdings" panose="05000000000000000000" pitchFamily="2" charset="2"/>
              <a:buChar char="l"/>
              <a:defRPr kumimoji="1" lang="zh-CN" altLang="en-US" sz="2800" b="1" baseline="0" dirty="0">
                <a:solidFill>
                  <a:schemeClr val="tx1"/>
                </a:solidFill>
                <a:effectLst/>
                <a:latin typeface="+mj-ea"/>
                <a:ea typeface="+mj-ea"/>
                <a:cs typeface="+mn-cs"/>
              </a:defRPr>
            </a:lvl2pPr>
            <a:lvl3pPr marL="1143000" indent="-228600" algn="l" rtl="0" eaLnBrk="0" fontAlgn="base" hangingPunct="0">
              <a:spcBef>
                <a:spcPct val="20000"/>
              </a:spcBef>
              <a:spcAft>
                <a:spcPct val="0"/>
              </a:spcAft>
              <a:buClrTx/>
              <a:buFont typeface="Wingdings" panose="05000000000000000000" pitchFamily="2" charset="2"/>
              <a:buChar char="l"/>
              <a:defRPr lang="en-US" altLang="zh-CN" sz="2400" b="1" i="0" baseline="0">
                <a:solidFill>
                  <a:schemeClr val="tx1"/>
                </a:solidFill>
                <a:effectLst/>
                <a:latin typeface="微软雅黑" panose="020B0503020204020204" pitchFamily="34" charset="-122"/>
                <a:ea typeface="微软雅黑" panose="020B0503020204020204" pitchFamily="34" charset="-122"/>
                <a:cs typeface="+mn-cs"/>
              </a:defRPr>
            </a:lvl3pPr>
            <a:lvl4pPr marL="1600200" indent="-228600" algn="l" rtl="0" eaLnBrk="0" fontAlgn="base" hangingPunct="0">
              <a:spcBef>
                <a:spcPct val="20000"/>
              </a:spcBef>
              <a:spcAft>
                <a:spcPct val="0"/>
              </a:spcAft>
              <a:buClrTx/>
              <a:buSzPct val="100000"/>
              <a:buFont typeface="Wingdings" panose="05000000000000000000" pitchFamily="2" charset="2"/>
              <a:buChar char="l"/>
              <a:defRPr lang="en-US" altLang="zh-CN" sz="2400" b="1" baseline="0">
                <a:solidFill>
                  <a:schemeClr val="tx1"/>
                </a:solidFill>
                <a:effectLst/>
                <a:latin typeface="微软雅黑" panose="020B0503020204020204" pitchFamily="34" charset="-122"/>
                <a:ea typeface="微软雅黑" panose="020B0503020204020204" pitchFamily="34" charset="-122"/>
                <a:cs typeface="+mn-cs"/>
              </a:defRPr>
            </a:lvl4pPr>
            <a:lvl5pPr marL="2057400" indent="-228600" algn="l" rtl="0" eaLnBrk="0" fontAlgn="base" hangingPunct="0">
              <a:spcBef>
                <a:spcPct val="20000"/>
              </a:spcBef>
              <a:spcAft>
                <a:spcPct val="0"/>
              </a:spcAft>
              <a:buClrTx/>
              <a:buSzPct val="100000"/>
              <a:buFont typeface="Wingdings" panose="05000000000000000000" pitchFamily="2" charset="2"/>
              <a:buChar char="l"/>
              <a:defRPr lang="en-US" altLang="zh-CN" sz="2400" b="1" i="1" baseline="0">
                <a:solidFill>
                  <a:schemeClr val="tx1"/>
                </a:solidFill>
                <a:effectLst/>
                <a:latin typeface="微软雅黑" panose="020B0503020204020204" pitchFamily="34" charset="-122"/>
                <a:ea typeface="微软雅黑" panose="020B0503020204020204" pitchFamily="34" charset="-122"/>
                <a:cs typeface="+mn-cs"/>
              </a:defRPr>
            </a:lvl5pPr>
            <a:lvl6pPr marL="25146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9pPr>
          </a:lstStyle>
          <a:p>
            <a:endParaRPr lang="zh-CN" altLang="en-US" dirty="0"/>
          </a:p>
        </p:txBody>
      </p:sp>
    </p:spTree>
    <p:extLst>
      <p:ext uri="{BB962C8B-B14F-4D97-AF65-F5344CB8AC3E}">
        <p14:creationId xmlns:p14="http://schemas.microsoft.com/office/powerpoint/2010/main" val="2777752732"/>
      </p:ext>
    </p:extLst>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a:t>IoT Studio </a:t>
            </a:r>
            <a:r>
              <a:rPr lang="zh-CN" altLang="en-US"/>
              <a:t>开发案例</a:t>
            </a:r>
            <a:endParaRPr lang="zh-CN" altLang="en-US" dirty="0"/>
          </a:p>
        </p:txBody>
      </p:sp>
      <p:sp>
        <p:nvSpPr>
          <p:cNvPr id="3" name="内容占位符 2"/>
          <p:cNvSpPr>
            <a:spLocks noGrp="1"/>
          </p:cNvSpPr>
          <p:nvPr>
            <p:ph idx="1"/>
          </p:nvPr>
        </p:nvSpPr>
        <p:spPr/>
        <p:txBody>
          <a:bodyPr/>
          <a:lstStyle/>
          <a:p>
            <a:r>
              <a:rPr lang="zh-CN" altLang="en-US" dirty="0"/>
              <a:t>智能教室座位使用统计系统：设备部署在教室，可自动监测座位上是否有人，并在</a:t>
            </a:r>
            <a:r>
              <a:rPr lang="en-US" altLang="zh-CN" dirty="0"/>
              <a:t>Web</a:t>
            </a:r>
            <a:r>
              <a:rPr lang="zh-CN" altLang="en-US" dirty="0"/>
              <a:t>页面实时显示</a:t>
            </a:r>
            <a:endParaRPr lang="en-US" altLang="zh-CN" dirty="0"/>
          </a:p>
          <a:p>
            <a:r>
              <a:rPr lang="zh-CN" altLang="en-US" dirty="0"/>
              <a:t>需要的设备：</a:t>
            </a:r>
            <a:endParaRPr lang="en-US" altLang="zh-CN" dirty="0"/>
          </a:p>
          <a:p>
            <a:pPr lvl="1"/>
            <a:r>
              <a:rPr lang="zh-CN" altLang="en-US" dirty="0"/>
              <a:t>树莓派</a:t>
            </a:r>
            <a:r>
              <a:rPr lang="en-US" altLang="zh-CN" dirty="0"/>
              <a:t>4B</a:t>
            </a:r>
          </a:p>
          <a:p>
            <a:pPr lvl="1"/>
            <a:r>
              <a:rPr lang="zh-CN" altLang="en-US" dirty="0"/>
              <a:t>红外热释电运动传感器</a:t>
            </a:r>
            <a:endParaRPr lang="en-US" altLang="zh-CN"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6574" y="3968919"/>
            <a:ext cx="2143125" cy="2143125"/>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0598" y="3928482"/>
            <a:ext cx="2352675" cy="1943100"/>
          </a:xfrm>
          <a:prstGeom prst="rect">
            <a:avLst/>
          </a:prstGeom>
        </p:spPr>
      </p:pic>
    </p:spTree>
    <p:extLst>
      <p:ext uri="{BB962C8B-B14F-4D97-AF65-F5344CB8AC3E}">
        <p14:creationId xmlns:p14="http://schemas.microsoft.com/office/powerpoint/2010/main" val="1649344388"/>
      </p:ext>
    </p:extLst>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a:t>IoT Studio </a:t>
            </a:r>
            <a:r>
              <a:rPr lang="zh-CN" altLang="en-US"/>
              <a:t>开发案例</a:t>
            </a:r>
            <a:endParaRPr lang="zh-CN" altLang="en-US" dirty="0"/>
          </a:p>
        </p:txBody>
      </p:sp>
      <p:sp>
        <p:nvSpPr>
          <p:cNvPr id="8" name="内容占位符 7"/>
          <p:cNvSpPr>
            <a:spLocks noGrp="1"/>
          </p:cNvSpPr>
          <p:nvPr>
            <p:ph idx="1"/>
          </p:nvPr>
        </p:nvSpPr>
        <p:spPr/>
        <p:txBody>
          <a:bodyPr/>
          <a:lstStyle/>
          <a:p>
            <a:r>
              <a:rPr lang="zh-CN" altLang="en-US"/>
              <a:t>步骤</a:t>
            </a:r>
            <a:r>
              <a:rPr lang="en-US" altLang="zh-CN"/>
              <a:t>1</a:t>
            </a:r>
            <a:r>
              <a:rPr lang="zh-CN" altLang="en-US"/>
              <a:t>：进入</a:t>
            </a:r>
            <a:r>
              <a:rPr lang="en-US" altLang="zh-CN"/>
              <a:t>IoT Studio</a:t>
            </a:r>
            <a:r>
              <a:rPr lang="zh-CN" altLang="en-US"/>
              <a:t>工作台</a:t>
            </a:r>
            <a:r>
              <a:rPr lang="en-US" altLang="zh-CN"/>
              <a:t>(https://studio.iot.aliyun.com/)</a:t>
            </a:r>
            <a:r>
              <a:rPr lang="zh-CN" altLang="en-US"/>
              <a:t>，创建空白项目，并在项目下创建产品</a:t>
            </a:r>
            <a:endParaRPr lang="en-US" altLang="zh-CN"/>
          </a:p>
          <a:p>
            <a:endParaRPr lang="zh-CN" altLang="en-US" dirty="0"/>
          </a:p>
        </p:txBody>
      </p:sp>
      <p:pic>
        <p:nvPicPr>
          <p:cNvPr id="4" name="图片 3">
            <a:extLst>
              <a:ext uri="{FF2B5EF4-FFF2-40B4-BE49-F238E27FC236}">
                <a16:creationId xmlns:a16="http://schemas.microsoft.com/office/drawing/2014/main" id="{FFAD2621-1005-4332-AACC-AECC620B31DA}"/>
              </a:ext>
            </a:extLst>
          </p:cNvPr>
          <p:cNvPicPr>
            <a:picLocks noChangeAspect="1"/>
          </p:cNvPicPr>
          <p:nvPr/>
        </p:nvPicPr>
        <p:blipFill rotWithShape="1">
          <a:blip r:embed="rId3"/>
          <a:srcRect l="585" t="695" b="-1"/>
          <a:stretch/>
        </p:blipFill>
        <p:spPr>
          <a:xfrm>
            <a:off x="703383" y="2420815"/>
            <a:ext cx="3943187" cy="3005295"/>
          </a:xfrm>
          <a:prstGeom prst="rect">
            <a:avLst/>
          </a:prstGeom>
        </p:spPr>
      </p:pic>
      <p:pic>
        <p:nvPicPr>
          <p:cNvPr id="5" name="图片 4">
            <a:extLst>
              <a:ext uri="{FF2B5EF4-FFF2-40B4-BE49-F238E27FC236}">
                <a16:creationId xmlns:a16="http://schemas.microsoft.com/office/drawing/2014/main" id="{61D0C367-BF0F-465C-9356-33879B15557D}"/>
              </a:ext>
            </a:extLst>
          </p:cNvPr>
          <p:cNvPicPr>
            <a:picLocks noChangeAspect="1"/>
          </p:cNvPicPr>
          <p:nvPr/>
        </p:nvPicPr>
        <p:blipFill>
          <a:blip r:embed="rId4"/>
          <a:stretch>
            <a:fillRect/>
          </a:stretch>
        </p:blipFill>
        <p:spPr>
          <a:xfrm>
            <a:off x="4892753" y="1889090"/>
            <a:ext cx="3346517" cy="4742822"/>
          </a:xfrm>
          <a:prstGeom prst="rect">
            <a:avLst/>
          </a:prstGeom>
        </p:spPr>
      </p:pic>
    </p:spTree>
    <p:extLst>
      <p:ext uri="{BB962C8B-B14F-4D97-AF65-F5344CB8AC3E}">
        <p14:creationId xmlns:p14="http://schemas.microsoft.com/office/powerpoint/2010/main" val="2007596152"/>
      </p:ext>
    </p:extLst>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a:t>IoT Studio </a:t>
            </a:r>
            <a:r>
              <a:rPr lang="zh-CN" altLang="en-US"/>
              <a:t>开发案例</a:t>
            </a:r>
            <a:endParaRPr lang="zh-CN" altLang="en-US" dirty="0"/>
          </a:p>
        </p:txBody>
      </p:sp>
      <p:sp>
        <p:nvSpPr>
          <p:cNvPr id="8" name="内容占位符 7"/>
          <p:cNvSpPr>
            <a:spLocks noGrp="1"/>
          </p:cNvSpPr>
          <p:nvPr>
            <p:ph idx="1"/>
          </p:nvPr>
        </p:nvSpPr>
        <p:spPr/>
        <p:txBody>
          <a:bodyPr/>
          <a:lstStyle/>
          <a:p>
            <a:r>
              <a:rPr lang="zh-CN" altLang="en-US"/>
              <a:t>步骤</a:t>
            </a:r>
            <a:r>
              <a:rPr lang="en-US" altLang="zh-CN"/>
              <a:t>2</a:t>
            </a:r>
            <a:r>
              <a:rPr lang="zh-CN" altLang="en-US"/>
              <a:t>：为产品自定义功能。本例中，我们为产品添加两个属性，分别是设备编号（</a:t>
            </a:r>
            <a:r>
              <a:rPr lang="en-US" altLang="zh-CN"/>
              <a:t>deviceID</a:t>
            </a:r>
            <a:r>
              <a:rPr lang="zh-CN" altLang="en-US"/>
              <a:t>）和红外检测状态（</a:t>
            </a:r>
            <a:r>
              <a:rPr lang="en-US" altLang="zh-CN"/>
              <a:t>motionState</a:t>
            </a:r>
            <a:r>
              <a:rPr lang="zh-CN" altLang="en-US"/>
              <a:t>）</a:t>
            </a:r>
            <a:endParaRPr lang="en-US" altLang="zh-CN"/>
          </a:p>
          <a:p>
            <a:endParaRPr lang="en-US" altLang="zh-CN"/>
          </a:p>
          <a:p>
            <a:endParaRPr lang="zh-CN" altLang="en-US" dirty="0"/>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620" y="3164562"/>
            <a:ext cx="8278380" cy="1510849"/>
          </a:xfrm>
          <a:prstGeom prst="rect">
            <a:avLst/>
          </a:prstGeom>
        </p:spPr>
      </p:pic>
    </p:spTree>
    <p:extLst>
      <p:ext uri="{BB962C8B-B14F-4D97-AF65-F5344CB8AC3E}">
        <p14:creationId xmlns:p14="http://schemas.microsoft.com/office/powerpoint/2010/main" val="2463435254"/>
      </p:ext>
    </p:extLst>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a:t>IoT Studio </a:t>
            </a:r>
            <a:r>
              <a:rPr lang="zh-CN" altLang="en-US"/>
              <a:t>开发案例</a:t>
            </a:r>
            <a:endParaRPr lang="zh-CN" altLang="en-US" dirty="0"/>
          </a:p>
        </p:txBody>
      </p:sp>
      <p:sp>
        <p:nvSpPr>
          <p:cNvPr id="8" name="内容占位符 7"/>
          <p:cNvSpPr>
            <a:spLocks noGrp="1"/>
          </p:cNvSpPr>
          <p:nvPr>
            <p:ph idx="1"/>
          </p:nvPr>
        </p:nvSpPr>
        <p:spPr/>
        <p:txBody>
          <a:bodyPr/>
          <a:lstStyle/>
          <a:p>
            <a:r>
              <a:rPr lang="zh-CN" altLang="en-US"/>
              <a:t>步骤</a:t>
            </a:r>
            <a:r>
              <a:rPr lang="en-US" altLang="zh-CN"/>
              <a:t>3</a:t>
            </a:r>
            <a:r>
              <a:rPr lang="zh-CN" altLang="en-US"/>
              <a:t>：硬件连接。将树莓派和红外热释电运动传感器进行连接，引脚对应关系如下。</a:t>
            </a:r>
            <a:endParaRPr lang="en-US" altLang="zh-CN"/>
          </a:p>
          <a:p>
            <a:endParaRPr lang="en-US" altLang="zh-CN"/>
          </a:p>
          <a:p>
            <a:endParaRPr lang="zh-CN" altLang="en-US" dirty="0"/>
          </a:p>
        </p:txBody>
      </p:sp>
      <p:grpSp>
        <p:nvGrpSpPr>
          <p:cNvPr id="3" name="组合 2"/>
          <p:cNvGrpSpPr/>
          <p:nvPr/>
        </p:nvGrpSpPr>
        <p:grpSpPr>
          <a:xfrm>
            <a:off x="2044286" y="2104845"/>
            <a:ext cx="3778185" cy="4615133"/>
            <a:chOff x="2044286" y="2104845"/>
            <a:chExt cx="3778185" cy="4615133"/>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4286" y="2104845"/>
              <a:ext cx="569143" cy="4615133"/>
            </a:xfrm>
            <a:prstGeom prst="rect">
              <a:avLst/>
            </a:prstGeom>
          </p:spPr>
        </p:pic>
        <p:sp>
          <p:nvSpPr>
            <p:cNvPr id="5" name="矩形 4"/>
            <p:cNvSpPr/>
            <p:nvPr/>
          </p:nvSpPr>
          <p:spPr bwMode="auto">
            <a:xfrm>
              <a:off x="4514850" y="3144328"/>
              <a:ext cx="1307621" cy="2277374"/>
            </a:xfrm>
            <a:prstGeom prst="rect">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charset="0"/>
              </a:endParaRPr>
            </a:p>
          </p:txBody>
        </p:sp>
        <p:cxnSp>
          <p:nvCxnSpPr>
            <p:cNvPr id="10" name="肘形连接符 9"/>
            <p:cNvCxnSpPr/>
            <p:nvPr/>
          </p:nvCxnSpPr>
          <p:spPr bwMode="auto">
            <a:xfrm>
              <a:off x="2449902" y="2501660"/>
              <a:ext cx="2064948" cy="1000665"/>
            </a:xfrm>
            <a:prstGeom prst="bentConnector3">
              <a:avLst>
                <a:gd name="adj1" fmla="val 68381"/>
              </a:avLst>
            </a:prstGeom>
            <a:solidFill>
              <a:schemeClr val="accent1"/>
            </a:solidFill>
            <a:ln w="9525" cap="flat" cmpd="sng" algn="ctr">
              <a:solidFill>
                <a:schemeClr val="tx1"/>
              </a:solidFill>
              <a:prstDash val="solid"/>
              <a:round/>
              <a:headEnd type="none" w="med" len="med"/>
              <a:tailEnd type="none" w="med" len="med"/>
            </a:ln>
            <a:effectLst/>
          </p:spPr>
        </p:cxnSp>
        <p:cxnSp>
          <p:nvCxnSpPr>
            <p:cNvPr id="12" name="肘形连接符 11"/>
            <p:cNvCxnSpPr>
              <a:endCxn id="5" idx="1"/>
            </p:cNvCxnSpPr>
            <p:nvPr/>
          </p:nvCxnSpPr>
          <p:spPr bwMode="auto">
            <a:xfrm>
              <a:off x="2449902" y="2743200"/>
              <a:ext cx="2064948" cy="1539815"/>
            </a:xfrm>
            <a:prstGeom prst="bentConnector3">
              <a:avLst>
                <a:gd name="adj1" fmla="val 57520"/>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肘形连接符 14"/>
            <p:cNvCxnSpPr/>
            <p:nvPr/>
          </p:nvCxnSpPr>
          <p:spPr bwMode="auto">
            <a:xfrm>
              <a:off x="2449902" y="3416060"/>
              <a:ext cx="2064948" cy="1552754"/>
            </a:xfrm>
            <a:prstGeom prst="bentConnector3">
              <a:avLst>
                <a:gd name="adj1" fmla="val 34125"/>
              </a:avLst>
            </a:prstGeom>
            <a:solidFill>
              <a:schemeClr val="accent1"/>
            </a:solidFill>
            <a:ln w="9525" cap="flat" cmpd="sng" algn="ctr">
              <a:solidFill>
                <a:schemeClr val="tx1"/>
              </a:solidFill>
              <a:prstDash val="solid"/>
              <a:round/>
              <a:headEnd type="none" w="med" len="med"/>
              <a:tailEnd type="none" w="med" len="med"/>
            </a:ln>
            <a:effectLst/>
          </p:spPr>
        </p:cxnSp>
        <p:sp>
          <p:nvSpPr>
            <p:cNvPr id="19" name="文本框 18"/>
            <p:cNvSpPr txBox="1"/>
            <p:nvPr/>
          </p:nvSpPr>
          <p:spPr>
            <a:xfrm>
              <a:off x="4514850" y="3357146"/>
              <a:ext cx="615874" cy="338554"/>
            </a:xfrm>
            <a:prstGeom prst="rect">
              <a:avLst/>
            </a:prstGeom>
            <a:noFill/>
          </p:spPr>
          <p:txBody>
            <a:bodyPr wrap="none" rtlCol="0">
              <a:spAutoFit/>
            </a:bodyPr>
            <a:lstStyle/>
            <a:p>
              <a:r>
                <a:rPr lang="en-US" altLang="zh-CN" dirty="0"/>
                <a:t>VCC</a:t>
              </a:r>
              <a:endParaRPr lang="zh-CN" altLang="en-US" dirty="0"/>
            </a:p>
          </p:txBody>
        </p:sp>
        <p:sp>
          <p:nvSpPr>
            <p:cNvPr id="20" name="文本框 19"/>
            <p:cNvSpPr txBox="1"/>
            <p:nvPr/>
          </p:nvSpPr>
          <p:spPr>
            <a:xfrm>
              <a:off x="4546750" y="4025350"/>
              <a:ext cx="639919" cy="338554"/>
            </a:xfrm>
            <a:prstGeom prst="rect">
              <a:avLst/>
            </a:prstGeom>
            <a:noFill/>
          </p:spPr>
          <p:txBody>
            <a:bodyPr wrap="none" rtlCol="0">
              <a:spAutoFit/>
            </a:bodyPr>
            <a:lstStyle/>
            <a:p>
              <a:r>
                <a:rPr lang="en-US" altLang="zh-CN" dirty="0"/>
                <a:t>GND</a:t>
              </a:r>
              <a:endParaRPr lang="zh-CN" altLang="en-US" dirty="0"/>
            </a:p>
          </p:txBody>
        </p:sp>
        <p:sp>
          <p:nvSpPr>
            <p:cNvPr id="21" name="文本框 20"/>
            <p:cNvSpPr txBox="1"/>
            <p:nvPr/>
          </p:nvSpPr>
          <p:spPr>
            <a:xfrm>
              <a:off x="4546750" y="4765032"/>
              <a:ext cx="445956" cy="338554"/>
            </a:xfrm>
            <a:prstGeom prst="rect">
              <a:avLst/>
            </a:prstGeom>
            <a:noFill/>
          </p:spPr>
          <p:txBody>
            <a:bodyPr wrap="none" rtlCol="0">
              <a:spAutoFit/>
            </a:bodyPr>
            <a:lstStyle/>
            <a:p>
              <a:r>
                <a:rPr lang="en-US" altLang="zh-CN" dirty="0"/>
                <a:t>D1</a:t>
              </a:r>
              <a:endParaRPr lang="zh-CN" altLang="en-US" dirty="0"/>
            </a:p>
          </p:txBody>
        </p:sp>
        <p:sp>
          <p:nvSpPr>
            <p:cNvPr id="22" name="文本框 21"/>
            <p:cNvSpPr txBox="1"/>
            <p:nvPr/>
          </p:nvSpPr>
          <p:spPr>
            <a:xfrm>
              <a:off x="2584563" y="3077506"/>
              <a:ext cx="926857" cy="338554"/>
            </a:xfrm>
            <a:prstGeom prst="rect">
              <a:avLst/>
            </a:prstGeom>
            <a:noFill/>
          </p:spPr>
          <p:txBody>
            <a:bodyPr wrap="none" rtlCol="0">
              <a:spAutoFit/>
            </a:bodyPr>
            <a:lstStyle/>
            <a:p>
              <a:r>
                <a:rPr lang="en-US" altLang="zh-CN" dirty="0"/>
                <a:t>GPIO18</a:t>
              </a:r>
              <a:endParaRPr lang="zh-CN" altLang="en-US" dirty="0"/>
            </a:p>
          </p:txBody>
        </p:sp>
        <p:sp>
          <p:nvSpPr>
            <p:cNvPr id="25" name="文本框 24"/>
            <p:cNvSpPr txBox="1"/>
            <p:nvPr/>
          </p:nvSpPr>
          <p:spPr>
            <a:xfrm>
              <a:off x="2598996" y="2663438"/>
              <a:ext cx="639919" cy="338554"/>
            </a:xfrm>
            <a:prstGeom prst="rect">
              <a:avLst/>
            </a:prstGeom>
            <a:noFill/>
          </p:spPr>
          <p:txBody>
            <a:bodyPr wrap="none" rtlCol="0">
              <a:spAutoFit/>
            </a:bodyPr>
            <a:lstStyle/>
            <a:p>
              <a:r>
                <a:rPr lang="en-US" altLang="zh-CN" dirty="0"/>
                <a:t>GND</a:t>
              </a:r>
              <a:endParaRPr lang="zh-CN" altLang="en-US" dirty="0"/>
            </a:p>
          </p:txBody>
        </p:sp>
        <p:sp>
          <p:nvSpPr>
            <p:cNvPr id="26" name="文本框 25"/>
            <p:cNvSpPr txBox="1"/>
            <p:nvPr/>
          </p:nvSpPr>
          <p:spPr>
            <a:xfrm>
              <a:off x="2582766" y="2174983"/>
              <a:ext cx="434734" cy="338554"/>
            </a:xfrm>
            <a:prstGeom prst="rect">
              <a:avLst/>
            </a:prstGeom>
            <a:noFill/>
          </p:spPr>
          <p:txBody>
            <a:bodyPr wrap="none" rtlCol="0">
              <a:spAutoFit/>
            </a:bodyPr>
            <a:lstStyle/>
            <a:p>
              <a:r>
                <a:rPr lang="en-US" altLang="zh-CN" dirty="0"/>
                <a:t>5V</a:t>
              </a:r>
              <a:endParaRPr lang="zh-CN" altLang="en-US" dirty="0"/>
            </a:p>
          </p:txBody>
        </p:sp>
      </p:grpSp>
    </p:spTree>
    <p:extLst>
      <p:ext uri="{BB962C8B-B14F-4D97-AF65-F5344CB8AC3E}">
        <p14:creationId xmlns:p14="http://schemas.microsoft.com/office/powerpoint/2010/main" val="3870990792"/>
      </p:ext>
    </p:extLst>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a:t>IoT Studio </a:t>
            </a:r>
            <a:r>
              <a:rPr lang="zh-CN" altLang="en-US"/>
              <a:t>开发案例</a:t>
            </a:r>
            <a:endParaRPr lang="zh-CN" altLang="en-US" dirty="0"/>
          </a:p>
        </p:txBody>
      </p:sp>
      <p:sp>
        <p:nvSpPr>
          <p:cNvPr id="8" name="内容占位符 7"/>
          <p:cNvSpPr>
            <a:spLocks noGrp="1"/>
          </p:cNvSpPr>
          <p:nvPr>
            <p:ph idx="1"/>
          </p:nvPr>
        </p:nvSpPr>
        <p:spPr/>
        <p:txBody>
          <a:bodyPr/>
          <a:lstStyle/>
          <a:p>
            <a:r>
              <a:rPr lang="zh-CN" altLang="en-US" dirty="0"/>
              <a:t>步骤</a:t>
            </a:r>
            <a:r>
              <a:rPr lang="en-US" altLang="zh-CN" dirty="0"/>
              <a:t>4</a:t>
            </a:r>
            <a:r>
              <a:rPr lang="zh-CN" altLang="en-US" dirty="0"/>
              <a:t>：</a:t>
            </a:r>
            <a:r>
              <a:rPr lang="en-US" altLang="zh-CN" dirty="0"/>
              <a:t>SDK</a:t>
            </a:r>
            <a:r>
              <a:rPr lang="zh-CN" altLang="en-US" dirty="0"/>
              <a:t>安装</a:t>
            </a:r>
            <a:endParaRPr lang="en-US" altLang="zh-CN" dirty="0"/>
          </a:p>
          <a:p>
            <a:pPr lvl="1"/>
            <a:r>
              <a:rPr lang="zh-CN" altLang="en-US" dirty="0"/>
              <a:t>在项目目录下运行如下命令，安装所需模块</a:t>
            </a:r>
            <a:endParaRPr lang="en-US" altLang="zh-CN" dirty="0"/>
          </a:p>
          <a:p>
            <a:pPr lvl="1"/>
            <a:endParaRPr lang="en-US" altLang="zh-CN" dirty="0"/>
          </a:p>
          <a:p>
            <a:pPr lvl="1"/>
            <a:endParaRPr lang="en-US" altLang="zh-CN" dirty="0"/>
          </a:p>
          <a:p>
            <a:pPr lvl="1"/>
            <a:endParaRPr lang="en-US" altLang="zh-CN" dirty="0"/>
          </a:p>
          <a:p>
            <a:pPr lvl="1"/>
            <a:r>
              <a:rPr lang="en-US" altLang="zh-CN" dirty="0" err="1"/>
              <a:t>aliyun</a:t>
            </a:r>
            <a:r>
              <a:rPr lang="en-US" altLang="zh-CN" dirty="0"/>
              <a:t>-</a:t>
            </a:r>
            <a:r>
              <a:rPr lang="en-US" altLang="zh-CN" dirty="0" err="1"/>
              <a:t>iot</a:t>
            </a:r>
            <a:r>
              <a:rPr lang="en-US" altLang="zh-CN" dirty="0"/>
              <a:t>-device-</a:t>
            </a:r>
            <a:r>
              <a:rPr lang="en-US" altLang="zh-CN" dirty="0" err="1"/>
              <a:t>sdk</a:t>
            </a:r>
            <a:r>
              <a:rPr lang="en-US" altLang="zh-CN" dirty="0"/>
              <a:t>: </a:t>
            </a:r>
            <a:r>
              <a:rPr lang="zh-CN" altLang="en-US" dirty="0"/>
              <a:t>云平台接入</a:t>
            </a:r>
            <a:r>
              <a:rPr lang="en-US" altLang="zh-CN" dirty="0"/>
              <a:t>SDK</a:t>
            </a:r>
          </a:p>
          <a:p>
            <a:pPr lvl="1"/>
            <a:r>
              <a:rPr lang="en-US" altLang="zh-CN" dirty="0" err="1"/>
              <a:t>Pigpio</a:t>
            </a:r>
            <a:r>
              <a:rPr lang="zh-CN" altLang="en-US" dirty="0"/>
              <a:t>：树莓派</a:t>
            </a:r>
            <a:r>
              <a:rPr lang="en-US" altLang="zh-CN" dirty="0"/>
              <a:t>GPIO</a:t>
            </a:r>
            <a:r>
              <a:rPr lang="zh-CN" altLang="en-US" dirty="0"/>
              <a:t>相关接口</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0368" y="2086031"/>
            <a:ext cx="6448964" cy="985721"/>
          </a:xfrm>
          <a:prstGeom prst="rect">
            <a:avLst/>
          </a:prstGeom>
        </p:spPr>
      </p:pic>
    </p:spTree>
    <p:extLst>
      <p:ext uri="{BB962C8B-B14F-4D97-AF65-F5344CB8AC3E}">
        <p14:creationId xmlns:p14="http://schemas.microsoft.com/office/powerpoint/2010/main" val="2138448446"/>
      </p:ext>
    </p:extLst>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a:t>IoT Studio </a:t>
            </a:r>
            <a:r>
              <a:rPr lang="zh-CN" altLang="en-US"/>
              <a:t>开发案例</a:t>
            </a:r>
            <a:endParaRPr lang="zh-CN" altLang="en-US" dirty="0"/>
          </a:p>
        </p:txBody>
      </p:sp>
      <p:sp>
        <p:nvSpPr>
          <p:cNvPr id="8" name="内容占位符 7"/>
          <p:cNvSpPr>
            <a:spLocks noGrp="1"/>
          </p:cNvSpPr>
          <p:nvPr>
            <p:ph idx="1"/>
          </p:nvPr>
        </p:nvSpPr>
        <p:spPr/>
        <p:txBody>
          <a:bodyPr/>
          <a:lstStyle/>
          <a:p>
            <a:r>
              <a:rPr lang="zh-CN" altLang="en-US" dirty="0"/>
              <a:t>步骤</a:t>
            </a:r>
            <a:r>
              <a:rPr lang="en-US" altLang="zh-CN" dirty="0"/>
              <a:t>5</a:t>
            </a:r>
            <a:r>
              <a:rPr lang="zh-CN" altLang="en-US" dirty="0"/>
              <a:t>：设备端代码编写，代码如下</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
        <p:nvSpPr>
          <p:cNvPr id="9" name="矩形 8">
            <a:extLst>
              <a:ext uri="{FF2B5EF4-FFF2-40B4-BE49-F238E27FC236}">
                <a16:creationId xmlns:a16="http://schemas.microsoft.com/office/drawing/2014/main" id="{600FB7F4-7AEA-4850-A30C-6EAA0EA9DEAD}"/>
              </a:ext>
            </a:extLst>
          </p:cNvPr>
          <p:cNvSpPr/>
          <p:nvPr/>
        </p:nvSpPr>
        <p:spPr bwMode="auto">
          <a:xfrm>
            <a:off x="458790" y="1683657"/>
            <a:ext cx="4216727" cy="4975935"/>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sz="2200" dirty="0" err="1">
                <a:latin typeface="Courier New" panose="02070309020205020404" pitchFamily="49" charset="0"/>
                <a:cs typeface="Courier New" panose="02070309020205020404" pitchFamily="49" charset="0"/>
              </a:rPr>
              <a:t>const</a:t>
            </a: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aliyunIot</a:t>
            </a:r>
            <a:r>
              <a:rPr lang="en-US" altLang="zh-CN" sz="2200" dirty="0">
                <a:latin typeface="Courier New" panose="02070309020205020404" pitchFamily="49" charset="0"/>
                <a:cs typeface="Courier New" panose="02070309020205020404" pitchFamily="49" charset="0"/>
              </a:rPr>
              <a:t> = require('</a:t>
            </a:r>
            <a:r>
              <a:rPr lang="en-US" altLang="zh-CN" sz="2200" dirty="0" err="1">
                <a:latin typeface="Courier New" panose="02070309020205020404" pitchFamily="49" charset="0"/>
                <a:cs typeface="Courier New" panose="02070309020205020404" pitchFamily="49" charset="0"/>
              </a:rPr>
              <a:t>aliyun</a:t>
            </a:r>
            <a:r>
              <a:rPr lang="en-US" altLang="zh-CN" sz="2200" dirty="0">
                <a:latin typeface="Courier New" panose="02070309020205020404" pitchFamily="49" charset="0"/>
                <a:cs typeface="Courier New" panose="02070309020205020404" pitchFamily="49" charset="0"/>
              </a:rPr>
              <a:t>-</a:t>
            </a:r>
            <a:r>
              <a:rPr lang="en-US" altLang="zh-CN" sz="2200" dirty="0" err="1">
                <a:latin typeface="Courier New" panose="02070309020205020404" pitchFamily="49" charset="0"/>
                <a:cs typeface="Courier New" panose="02070309020205020404" pitchFamily="49" charset="0"/>
              </a:rPr>
              <a:t>iot</a:t>
            </a:r>
            <a:r>
              <a:rPr lang="en-US" altLang="zh-CN" sz="2200" dirty="0">
                <a:latin typeface="Courier New" panose="02070309020205020404" pitchFamily="49" charset="0"/>
                <a:cs typeface="Courier New" panose="02070309020205020404" pitchFamily="49" charset="0"/>
              </a:rPr>
              <a:t>-device-</a:t>
            </a:r>
            <a:r>
              <a:rPr lang="en-US" altLang="zh-CN" sz="2200" dirty="0" err="1">
                <a:latin typeface="Courier New" panose="02070309020205020404" pitchFamily="49" charset="0"/>
                <a:cs typeface="Courier New" panose="02070309020205020404" pitchFamily="49" charset="0"/>
              </a:rPr>
              <a:t>sdk</a:t>
            </a:r>
            <a:r>
              <a:rPr lang="en-US" altLang="zh-CN" sz="2200" dirty="0">
                <a:latin typeface="Courier New" panose="02070309020205020404" pitchFamily="49" charset="0"/>
                <a:cs typeface="Courier New" panose="02070309020205020404" pitchFamily="49" charset="0"/>
              </a:rPr>
              <a:t>');</a:t>
            </a:r>
          </a:p>
          <a:p>
            <a:r>
              <a:rPr lang="en-US" altLang="zh-CN" sz="2200" dirty="0" err="1">
                <a:latin typeface="Courier New" panose="02070309020205020404" pitchFamily="49" charset="0"/>
                <a:cs typeface="Courier New" panose="02070309020205020404" pitchFamily="49" charset="0"/>
              </a:rPr>
              <a:t>const</a:t>
            </a: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Gpio</a:t>
            </a:r>
            <a:r>
              <a:rPr lang="en-US" altLang="zh-CN" sz="2200" dirty="0">
                <a:latin typeface="Courier New" panose="02070309020205020404" pitchFamily="49" charset="0"/>
                <a:cs typeface="Courier New" panose="02070309020205020404" pitchFamily="49" charset="0"/>
              </a:rPr>
              <a:t> = require('</a:t>
            </a:r>
            <a:r>
              <a:rPr lang="en-US" altLang="zh-CN" sz="2200" dirty="0" err="1">
                <a:latin typeface="Courier New" panose="02070309020205020404" pitchFamily="49" charset="0"/>
                <a:cs typeface="Courier New" panose="02070309020205020404" pitchFamily="49" charset="0"/>
              </a:rPr>
              <a:t>pigpio</a:t>
            </a:r>
            <a:r>
              <a:rPr lang="en-US" altLang="zh-CN" sz="2200" dirty="0">
                <a:latin typeface="Courier New" panose="02070309020205020404" pitchFamily="49" charset="0"/>
                <a:cs typeface="Courier New" panose="02070309020205020404" pitchFamily="49" charset="0"/>
              </a:rPr>
              <a:t>').</a:t>
            </a:r>
            <a:r>
              <a:rPr lang="en-US" altLang="zh-CN" sz="2200" dirty="0" err="1">
                <a:latin typeface="Courier New" panose="02070309020205020404" pitchFamily="49" charset="0"/>
                <a:cs typeface="Courier New" panose="02070309020205020404" pitchFamily="49" charset="0"/>
              </a:rPr>
              <a:t>Gpio</a:t>
            </a:r>
            <a:r>
              <a:rPr lang="en-US" altLang="zh-CN" sz="2200" dirty="0">
                <a:latin typeface="Courier New" panose="02070309020205020404" pitchFamily="49" charset="0"/>
                <a:cs typeface="Courier New" panose="02070309020205020404" pitchFamily="49" charset="0"/>
              </a:rPr>
              <a:t>;</a:t>
            </a:r>
          </a:p>
          <a:p>
            <a:r>
              <a:rPr lang="en-US" altLang="zh-CN" sz="2200" dirty="0" err="1">
                <a:latin typeface="Courier New" panose="02070309020205020404" pitchFamily="49" charset="0"/>
                <a:cs typeface="Courier New" panose="02070309020205020404" pitchFamily="49" charset="0"/>
              </a:rPr>
              <a:t>const</a:t>
            </a: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device_id</a:t>
            </a:r>
            <a:r>
              <a:rPr lang="en-US" altLang="zh-CN" sz="2200" dirty="0">
                <a:latin typeface="Courier New" panose="02070309020205020404" pitchFamily="49" charset="0"/>
                <a:cs typeface="Courier New" panose="02070309020205020404" pitchFamily="49" charset="0"/>
              </a:rPr>
              <a:t> = 0;</a:t>
            </a:r>
          </a:p>
          <a:p>
            <a:r>
              <a:rPr lang="en-US" altLang="zh-CN" sz="2200" dirty="0" err="1">
                <a:latin typeface="Courier New" panose="02070309020205020404" pitchFamily="49" charset="0"/>
                <a:cs typeface="Courier New" panose="02070309020205020404" pitchFamily="49" charset="0"/>
              </a:rPr>
              <a:t>const</a:t>
            </a: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gpio_pir</a:t>
            </a:r>
            <a:r>
              <a:rPr lang="en-US" altLang="zh-CN" sz="2200" dirty="0">
                <a:latin typeface="Courier New" panose="02070309020205020404" pitchFamily="49" charset="0"/>
                <a:cs typeface="Courier New" panose="02070309020205020404" pitchFamily="49" charset="0"/>
              </a:rPr>
              <a:t> = new </a:t>
            </a:r>
            <a:r>
              <a:rPr lang="en-US" altLang="zh-CN" sz="2200" dirty="0" err="1">
                <a:latin typeface="Courier New" panose="02070309020205020404" pitchFamily="49" charset="0"/>
                <a:cs typeface="Courier New" panose="02070309020205020404" pitchFamily="49" charset="0"/>
              </a:rPr>
              <a:t>Gpio</a:t>
            </a:r>
            <a:r>
              <a:rPr lang="en-US" altLang="zh-CN" sz="2200" dirty="0">
                <a:latin typeface="Courier New" panose="02070309020205020404" pitchFamily="49" charset="0"/>
                <a:cs typeface="Courier New" panose="02070309020205020404" pitchFamily="49" charset="0"/>
              </a:rPr>
              <a:t>(18, {</a:t>
            </a:r>
          </a:p>
          <a:p>
            <a:r>
              <a:rPr lang="en-US" altLang="zh-CN" sz="2200" dirty="0">
                <a:latin typeface="Courier New" panose="02070309020205020404" pitchFamily="49" charset="0"/>
                <a:cs typeface="Courier New" panose="02070309020205020404" pitchFamily="49" charset="0"/>
              </a:rPr>
              <a:t>    mode: </a:t>
            </a:r>
            <a:r>
              <a:rPr lang="en-US" altLang="zh-CN" sz="2200" dirty="0" err="1">
                <a:latin typeface="Courier New" panose="02070309020205020404" pitchFamily="49" charset="0"/>
                <a:cs typeface="Courier New" panose="02070309020205020404" pitchFamily="49" charset="0"/>
              </a:rPr>
              <a:t>Gpio.INPUT</a:t>
            </a:r>
            <a:r>
              <a:rPr lang="en-US" altLang="zh-CN" sz="2200" dirty="0">
                <a:latin typeface="Courier New" panose="02070309020205020404" pitchFamily="49" charset="0"/>
                <a:cs typeface="Courier New" panose="02070309020205020404" pitchFamily="49" charset="0"/>
              </a:rPr>
              <a:t>,</a:t>
            </a:r>
          </a:p>
          <a:p>
            <a:r>
              <a:rPr lang="en-US" altLang="zh-CN" sz="2200" dirty="0">
                <a:latin typeface="Courier New" panose="02070309020205020404" pitchFamily="49" charset="0"/>
                <a:cs typeface="Courier New" panose="02070309020205020404" pitchFamily="49" charset="0"/>
              </a:rPr>
              <a:t>});</a:t>
            </a:r>
          </a:p>
          <a:p>
            <a:endParaRPr lang="en-US" altLang="zh-CN" sz="2200" dirty="0">
              <a:latin typeface="Courier New" panose="02070309020205020404" pitchFamily="49" charset="0"/>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 </a:t>
            </a:r>
            <a:r>
              <a:rPr lang="zh-CN" altLang="en-US" sz="2200" dirty="0">
                <a:latin typeface="Courier New" panose="02070309020205020404" pitchFamily="49" charset="0"/>
                <a:cs typeface="Courier New" panose="02070309020205020404" pitchFamily="49" charset="0"/>
              </a:rPr>
              <a:t>创建设备实例</a:t>
            </a:r>
          </a:p>
          <a:p>
            <a:r>
              <a:rPr lang="en-US" altLang="zh-CN" sz="2200" dirty="0" err="1">
                <a:latin typeface="Courier New" panose="02070309020205020404" pitchFamily="49" charset="0"/>
                <a:cs typeface="Courier New" panose="02070309020205020404" pitchFamily="49" charset="0"/>
              </a:rPr>
              <a:t>const</a:t>
            </a:r>
            <a:r>
              <a:rPr lang="en-US" altLang="zh-CN" sz="2200" dirty="0">
                <a:latin typeface="Courier New" panose="02070309020205020404" pitchFamily="49" charset="0"/>
                <a:cs typeface="Courier New" panose="02070309020205020404" pitchFamily="49" charset="0"/>
              </a:rPr>
              <a:t> device = </a:t>
            </a:r>
            <a:r>
              <a:rPr lang="en-US" altLang="zh-CN" sz="2200" dirty="0" err="1">
                <a:latin typeface="Courier New" panose="02070309020205020404" pitchFamily="49" charset="0"/>
                <a:cs typeface="Courier New" panose="02070309020205020404" pitchFamily="49" charset="0"/>
              </a:rPr>
              <a:t>aliyunIot.device</a:t>
            </a:r>
            <a:r>
              <a:rPr lang="en-US" altLang="zh-CN" sz="2200" dirty="0">
                <a:latin typeface="Courier New" panose="02070309020205020404" pitchFamily="49" charset="0"/>
                <a:cs typeface="Courier New" panose="02070309020205020404" pitchFamily="49" charset="0"/>
              </a:rPr>
              <a:t>({</a:t>
            </a:r>
          </a:p>
          <a:p>
            <a:r>
              <a:rPr lang="en-US" altLang="zh-CN" sz="2200" dirty="0">
                <a:latin typeface="Courier New" panose="02070309020205020404" pitchFamily="49" charset="0"/>
                <a:cs typeface="Courier New" panose="02070309020205020404" pitchFamily="49" charset="0"/>
              </a:rPr>
              <a:t>  // </a:t>
            </a:r>
            <a:r>
              <a:rPr lang="zh-CN" altLang="en-US" sz="2200" dirty="0">
                <a:latin typeface="Courier New" panose="02070309020205020404" pitchFamily="49" charset="0"/>
                <a:cs typeface="Courier New" panose="02070309020205020404" pitchFamily="49" charset="0"/>
              </a:rPr>
              <a:t>激活凭证 这里替换成你自己上一步申请到的激活凭证</a:t>
            </a:r>
          </a:p>
          <a:p>
            <a:r>
              <a:rPr lang="zh-CN" altLang="en-US"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productKey</a:t>
            </a:r>
            <a:r>
              <a:rPr lang="en-US" altLang="zh-CN" sz="2200" dirty="0">
                <a:latin typeface="Courier New" panose="02070309020205020404" pitchFamily="49" charset="0"/>
                <a:cs typeface="Courier New" panose="02070309020205020404" pitchFamily="49" charset="0"/>
              </a:rPr>
              <a:t>: ‘xxx',</a:t>
            </a:r>
          </a:p>
          <a:p>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deviceName</a:t>
            </a:r>
            <a:r>
              <a:rPr lang="en-US" altLang="zh-CN" sz="2200" dirty="0">
                <a:latin typeface="Courier New" panose="02070309020205020404" pitchFamily="49" charset="0"/>
                <a:cs typeface="Courier New" panose="02070309020205020404" pitchFamily="49" charset="0"/>
              </a:rPr>
              <a:t>: ‘xxx',</a:t>
            </a:r>
          </a:p>
          <a:p>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deviceSecret</a:t>
            </a:r>
            <a:r>
              <a:rPr lang="en-US" altLang="zh-CN" sz="2200" dirty="0">
                <a:latin typeface="Courier New" panose="02070309020205020404" pitchFamily="49" charset="0"/>
                <a:cs typeface="Courier New" panose="02070309020205020404" pitchFamily="49" charset="0"/>
              </a:rPr>
              <a:t>: ‘xxx'</a:t>
            </a:r>
          </a:p>
          <a:p>
            <a:r>
              <a:rPr lang="en-US" altLang="zh-CN" sz="2200" dirty="0">
                <a:latin typeface="Courier New" panose="02070309020205020404" pitchFamily="49" charset="0"/>
                <a:cs typeface="Courier New" panose="02070309020205020404" pitchFamily="49" charset="0"/>
              </a:rPr>
              <a:t>});</a:t>
            </a:r>
          </a:p>
          <a:p>
            <a:r>
              <a:rPr lang="en-US" altLang="zh-CN" sz="2200" dirty="0">
                <a:latin typeface="Courier New" panose="02070309020205020404" pitchFamily="49" charset="0"/>
                <a:cs typeface="Courier New" panose="02070309020205020404" pitchFamily="49" charset="0"/>
              </a:rPr>
              <a:t>// </a:t>
            </a:r>
            <a:r>
              <a:rPr lang="zh-CN" altLang="en-US" sz="2200" dirty="0">
                <a:latin typeface="Courier New" panose="02070309020205020404" pitchFamily="49" charset="0"/>
                <a:cs typeface="Courier New" panose="02070309020205020404" pitchFamily="49" charset="0"/>
              </a:rPr>
              <a:t>读取传感器数值</a:t>
            </a:r>
            <a:endParaRPr lang="en-US" altLang="zh-CN" sz="2200" dirty="0">
              <a:latin typeface="Courier New" panose="02070309020205020404" pitchFamily="49" charset="0"/>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function </a:t>
            </a:r>
            <a:r>
              <a:rPr lang="en-US" altLang="zh-CN" sz="2200" dirty="0" err="1">
                <a:latin typeface="Courier New" panose="02070309020205020404" pitchFamily="49" charset="0"/>
                <a:cs typeface="Courier New" panose="02070309020205020404" pitchFamily="49" charset="0"/>
              </a:rPr>
              <a:t>getMotionState</a:t>
            </a:r>
            <a:r>
              <a:rPr lang="en-US" altLang="zh-CN" sz="2200" dirty="0">
                <a:latin typeface="Courier New" panose="02070309020205020404" pitchFamily="49" charset="0"/>
                <a:cs typeface="Courier New" panose="02070309020205020404" pitchFamily="49" charset="0"/>
              </a:rPr>
              <a:t> = function() {    </a:t>
            </a:r>
          </a:p>
          <a:p>
            <a:r>
              <a:rPr lang="zh-CN" altLang="en-US" sz="2200" dirty="0">
                <a:latin typeface="Courier New" panose="02070309020205020404" pitchFamily="49" charset="0"/>
                <a:cs typeface="Courier New" panose="02070309020205020404" pitchFamily="49" charset="0"/>
              </a:rPr>
              <a:t>  </a:t>
            </a:r>
            <a:r>
              <a:rPr lang="en-US" altLang="zh-CN" sz="2200" dirty="0">
                <a:latin typeface="Courier New" panose="02070309020205020404" pitchFamily="49" charset="0"/>
                <a:cs typeface="Courier New" panose="02070309020205020404" pitchFamily="49" charset="0"/>
              </a:rPr>
              <a:t>return </a:t>
            </a:r>
            <a:r>
              <a:rPr lang="en-US" altLang="zh-CN" sz="2200" dirty="0" err="1">
                <a:latin typeface="Courier New" panose="02070309020205020404" pitchFamily="49" charset="0"/>
                <a:cs typeface="Courier New" panose="02070309020205020404" pitchFamily="49" charset="0"/>
              </a:rPr>
              <a:t>gpio_pir.digitalRead</a:t>
            </a:r>
            <a:r>
              <a:rPr lang="en-US" altLang="zh-CN" sz="2200" dirty="0">
                <a:latin typeface="Courier New" panose="02070309020205020404" pitchFamily="49" charset="0"/>
                <a:cs typeface="Courier New" panose="02070309020205020404" pitchFamily="49" charset="0"/>
              </a:rPr>
              <a:t>(); </a:t>
            </a:r>
          </a:p>
          <a:p>
            <a:r>
              <a:rPr lang="en-US" altLang="zh-CN" sz="2200" dirty="0">
                <a:latin typeface="Courier New" panose="02070309020205020404" pitchFamily="49" charset="0"/>
                <a:cs typeface="Courier New" panose="02070309020205020404" pitchFamily="49" charset="0"/>
              </a:rPr>
              <a:t>}</a:t>
            </a:r>
          </a:p>
          <a:p>
            <a:endParaRPr lang="en-US" altLang="zh-CN" dirty="0">
              <a:ea typeface="+mj-ea"/>
              <a:cs typeface="Arial" panose="020B0604020202020204" pitchFamily="34" charset="0"/>
            </a:endParaRPr>
          </a:p>
        </p:txBody>
      </p:sp>
      <p:sp>
        <p:nvSpPr>
          <p:cNvPr id="10" name="矩形 9">
            <a:extLst>
              <a:ext uri="{FF2B5EF4-FFF2-40B4-BE49-F238E27FC236}">
                <a16:creationId xmlns:a16="http://schemas.microsoft.com/office/drawing/2014/main" id="{600FB7F4-7AEA-4850-A30C-6EAA0EA9DEAD}"/>
              </a:ext>
            </a:extLst>
          </p:cNvPr>
          <p:cNvSpPr/>
          <p:nvPr/>
        </p:nvSpPr>
        <p:spPr bwMode="auto">
          <a:xfrm>
            <a:off x="4882551" y="1683657"/>
            <a:ext cx="4020064" cy="4975935"/>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sz="2200" dirty="0">
                <a:latin typeface="Courier New" panose="02070309020205020404" pitchFamily="49" charset="0"/>
                <a:cs typeface="Courier New" panose="02070309020205020404" pitchFamily="49" charset="0"/>
              </a:rPr>
              <a:t>// </a:t>
            </a:r>
            <a:r>
              <a:rPr lang="zh-CN" altLang="en-US" sz="2200" dirty="0">
                <a:latin typeface="Courier New" panose="02070309020205020404" pitchFamily="49" charset="0"/>
                <a:cs typeface="Courier New" panose="02070309020205020404" pitchFamily="49" charset="0"/>
              </a:rPr>
              <a:t>上传数据</a:t>
            </a:r>
          </a:p>
          <a:p>
            <a:r>
              <a:rPr lang="en-US" altLang="zh-CN" sz="2200" dirty="0">
                <a:latin typeface="Courier New" panose="02070309020205020404" pitchFamily="49" charset="0"/>
                <a:cs typeface="Courier New" panose="02070309020205020404" pitchFamily="49" charset="0"/>
              </a:rPr>
              <a:t>function </a:t>
            </a:r>
            <a:r>
              <a:rPr lang="en-US" altLang="zh-CN" sz="2200" dirty="0" err="1">
                <a:latin typeface="Courier New" panose="02070309020205020404" pitchFamily="49" charset="0"/>
                <a:cs typeface="Courier New" panose="02070309020205020404" pitchFamily="49" charset="0"/>
              </a:rPr>
              <a:t>postProps</a:t>
            </a:r>
            <a:r>
              <a:rPr lang="en-US" altLang="zh-CN" sz="2200" dirty="0">
                <a:latin typeface="Courier New" panose="02070309020205020404" pitchFamily="49" charset="0"/>
                <a:cs typeface="Courier New" panose="02070309020205020404" pitchFamily="49" charset="0"/>
              </a:rPr>
              <a:t>() {</a:t>
            </a:r>
          </a:p>
          <a:p>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device.postProps</a:t>
            </a:r>
            <a:r>
              <a:rPr lang="en-US" altLang="zh-CN" sz="2200" dirty="0">
                <a:latin typeface="Courier New" panose="02070309020205020404" pitchFamily="49" charset="0"/>
                <a:cs typeface="Courier New" panose="02070309020205020404" pitchFamily="49" charset="0"/>
              </a:rPr>
              <a:t>({</a:t>
            </a:r>
          </a:p>
          <a:p>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deviceID</a:t>
            </a: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device_id</a:t>
            </a:r>
            <a:r>
              <a:rPr lang="en-US" altLang="zh-CN" sz="2200" dirty="0">
                <a:latin typeface="Courier New" panose="02070309020205020404" pitchFamily="49" charset="0"/>
                <a:cs typeface="Courier New" panose="02070309020205020404" pitchFamily="49" charset="0"/>
              </a:rPr>
              <a:t>,</a:t>
            </a:r>
          </a:p>
          <a:p>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motionState</a:t>
            </a: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getMotionState</a:t>
            </a:r>
            <a:r>
              <a:rPr lang="en-US" altLang="zh-CN" sz="2200" dirty="0">
                <a:latin typeface="Courier New" panose="02070309020205020404" pitchFamily="49" charset="0"/>
                <a:cs typeface="Courier New" panose="02070309020205020404" pitchFamily="49" charset="0"/>
              </a:rPr>
              <a:t>()</a:t>
            </a:r>
          </a:p>
          <a:p>
            <a:r>
              <a:rPr lang="en-US" altLang="zh-CN" sz="2200" dirty="0">
                <a:latin typeface="Courier New" panose="02070309020205020404" pitchFamily="49" charset="0"/>
                <a:cs typeface="Courier New" panose="02070309020205020404" pitchFamily="49" charset="0"/>
              </a:rPr>
              <a:t>    });</a:t>
            </a:r>
          </a:p>
          <a:p>
            <a:r>
              <a:rPr lang="en-US" altLang="zh-CN" sz="2200" dirty="0">
                <a:latin typeface="Courier New" panose="02070309020205020404" pitchFamily="49" charset="0"/>
                <a:cs typeface="Courier New" panose="02070309020205020404" pitchFamily="49" charset="0"/>
              </a:rPr>
              <a:t>    console.log('post');</a:t>
            </a:r>
          </a:p>
          <a:p>
            <a:r>
              <a:rPr lang="en-US" altLang="zh-CN" sz="2200" dirty="0">
                <a:latin typeface="Courier New" panose="02070309020205020404" pitchFamily="49" charset="0"/>
                <a:cs typeface="Courier New" panose="02070309020205020404" pitchFamily="49" charset="0"/>
              </a:rPr>
              <a:t>}</a:t>
            </a:r>
          </a:p>
          <a:p>
            <a:r>
              <a:rPr lang="en-US" altLang="zh-CN" sz="2200" dirty="0">
                <a:latin typeface="Courier New" panose="02070309020205020404" pitchFamily="49" charset="0"/>
                <a:cs typeface="Courier New" panose="02070309020205020404" pitchFamily="49" charset="0"/>
              </a:rPr>
              <a:t>// </a:t>
            </a:r>
            <a:r>
              <a:rPr lang="zh-CN" altLang="en-US" sz="2200" dirty="0">
                <a:latin typeface="Courier New" panose="02070309020205020404" pitchFamily="49" charset="0"/>
                <a:cs typeface="Courier New" panose="02070309020205020404" pitchFamily="49" charset="0"/>
              </a:rPr>
              <a:t>定义定时器，周期上传数据</a:t>
            </a:r>
          </a:p>
          <a:p>
            <a:r>
              <a:rPr lang="en-US" altLang="zh-CN" sz="2200" dirty="0" err="1">
                <a:latin typeface="Courier New" panose="02070309020205020404" pitchFamily="49" charset="0"/>
                <a:cs typeface="Courier New" panose="02070309020205020404" pitchFamily="49" charset="0"/>
              </a:rPr>
              <a:t>var</a:t>
            </a: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myInterval</a:t>
            </a:r>
            <a:r>
              <a:rPr lang="en-US" altLang="zh-CN" sz="2200" dirty="0">
                <a:latin typeface="Courier New" panose="02070309020205020404" pitchFamily="49" charset="0"/>
                <a:cs typeface="Courier New" panose="02070309020205020404" pitchFamily="49" charset="0"/>
              </a:rPr>
              <a:t> = </a:t>
            </a:r>
            <a:r>
              <a:rPr lang="en-US" altLang="zh-CN" sz="2200" dirty="0" err="1">
                <a:latin typeface="Courier New" panose="02070309020205020404" pitchFamily="49" charset="0"/>
                <a:cs typeface="Courier New" panose="02070309020205020404" pitchFamily="49" charset="0"/>
              </a:rPr>
              <a:t>setInterval</a:t>
            </a:r>
            <a:r>
              <a:rPr lang="en-US" altLang="zh-CN" sz="2200" dirty="0">
                <a:latin typeface="Courier New" panose="02070309020205020404" pitchFamily="49" charset="0"/>
                <a:cs typeface="Courier New" panose="02070309020205020404" pitchFamily="49" charset="0"/>
              </a:rPr>
              <a:t>(</a:t>
            </a:r>
            <a:r>
              <a:rPr lang="en-US" altLang="zh-CN" sz="2200" dirty="0" err="1">
                <a:latin typeface="Courier New" panose="02070309020205020404" pitchFamily="49" charset="0"/>
                <a:cs typeface="Courier New" panose="02070309020205020404" pitchFamily="49" charset="0"/>
              </a:rPr>
              <a:t>postProps</a:t>
            </a:r>
            <a:r>
              <a:rPr lang="en-US" altLang="zh-CN" sz="2200" dirty="0">
                <a:latin typeface="Courier New" panose="02070309020205020404" pitchFamily="49" charset="0"/>
                <a:cs typeface="Courier New" panose="02070309020205020404" pitchFamily="49" charset="0"/>
              </a:rPr>
              <a:t>, 10000);</a:t>
            </a:r>
          </a:p>
          <a:p>
            <a:endParaRPr lang="en-US" altLang="zh-CN" sz="2200" dirty="0">
              <a:latin typeface="Courier New" panose="02070309020205020404" pitchFamily="49" charset="0"/>
              <a:cs typeface="Courier New" panose="02070309020205020404" pitchFamily="49" charset="0"/>
            </a:endParaRPr>
          </a:p>
          <a:p>
            <a:r>
              <a:rPr lang="en-US" altLang="zh-CN" sz="2200" dirty="0" err="1">
                <a:latin typeface="Courier New" panose="02070309020205020404" pitchFamily="49" charset="0"/>
                <a:cs typeface="Courier New" panose="02070309020205020404" pitchFamily="49" charset="0"/>
              </a:rPr>
              <a:t>device.on</a:t>
            </a:r>
            <a:r>
              <a:rPr lang="en-US" altLang="zh-CN" sz="2200" dirty="0">
                <a:latin typeface="Courier New" panose="02070309020205020404" pitchFamily="49" charset="0"/>
                <a:cs typeface="Courier New" panose="02070309020205020404" pitchFamily="49" charset="0"/>
              </a:rPr>
              <a:t>('connect', () =&gt; {</a:t>
            </a:r>
          </a:p>
          <a:p>
            <a:r>
              <a:rPr lang="en-US" altLang="zh-CN" sz="2200" dirty="0">
                <a:latin typeface="Courier New" panose="02070309020205020404" pitchFamily="49" charset="0"/>
                <a:cs typeface="Courier New" panose="02070309020205020404" pitchFamily="49" charset="0"/>
              </a:rPr>
              <a:t>    console.log('connect successfully');</a:t>
            </a:r>
          </a:p>
          <a:p>
            <a:r>
              <a:rPr lang="en-US" altLang="zh-CN" sz="2200" dirty="0">
                <a:latin typeface="Courier New" panose="02070309020205020404" pitchFamily="49" charset="0"/>
                <a:cs typeface="Courier New" panose="02070309020205020404" pitchFamily="49" charset="0"/>
              </a:rPr>
              <a:t>});</a:t>
            </a:r>
          </a:p>
          <a:p>
            <a:endParaRPr lang="zh-CN" altLang="zh-CN" dirty="0">
              <a:ea typeface="+mj-ea"/>
              <a:cs typeface="Arial" panose="020B0604020202020204" pitchFamily="34" charset="0"/>
            </a:endParaRPr>
          </a:p>
          <a:p>
            <a:pPr marL="0" marR="0" indent="0" algn="ctr" defTabSz="914400" rtl="0" eaLnBrk="1" fontAlgn="base" latinLnBrk="0" hangingPunct="1">
              <a:lnSpc>
                <a:spcPct val="100000"/>
              </a:lnSpc>
              <a:spcBef>
                <a:spcPct val="50000"/>
              </a:spcBef>
              <a:spcAft>
                <a:spcPct val="0"/>
              </a:spcAft>
              <a:buClr>
                <a:schemeClr val="bg1"/>
              </a:buClr>
              <a:buSzPct val="100000"/>
              <a:buFontTx/>
              <a:buNone/>
              <a:tabLst/>
            </a:pPr>
            <a:endParaRPr kumimoji="0" lang="zh-CN" altLang="en-US" b="0" i="0" u="none" strike="noStrike" cap="none" normalizeH="0" baseline="-25000" dirty="0">
              <a:ln>
                <a:noFill/>
              </a:ln>
              <a:solidFill>
                <a:schemeClr val="tx1"/>
              </a:solidFill>
              <a:effectLst>
                <a:outerShdw blurRad="38100" dist="38100" dir="2700000" algn="tl">
                  <a:srgbClr val="000000">
                    <a:alpha val="43137"/>
                  </a:srgbClr>
                </a:outerShdw>
              </a:effectLst>
              <a:ea typeface="+mj-ea"/>
              <a:cs typeface="Arial" panose="020B0604020202020204" pitchFamily="34" charset="0"/>
            </a:endParaRPr>
          </a:p>
        </p:txBody>
      </p:sp>
    </p:spTree>
    <p:extLst>
      <p:ext uri="{BB962C8B-B14F-4D97-AF65-F5344CB8AC3E}">
        <p14:creationId xmlns:p14="http://schemas.microsoft.com/office/powerpoint/2010/main" val="2004755422"/>
      </p:ext>
    </p:extLst>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a:t>IoT Studio </a:t>
            </a:r>
            <a:r>
              <a:rPr lang="zh-CN" altLang="en-US"/>
              <a:t>开发案例</a:t>
            </a:r>
            <a:endParaRPr lang="zh-CN" altLang="en-US" dirty="0"/>
          </a:p>
        </p:txBody>
      </p:sp>
      <p:sp>
        <p:nvSpPr>
          <p:cNvPr id="8" name="内容占位符 7"/>
          <p:cNvSpPr>
            <a:spLocks noGrp="1"/>
          </p:cNvSpPr>
          <p:nvPr>
            <p:ph idx="1"/>
          </p:nvPr>
        </p:nvSpPr>
        <p:spPr/>
        <p:txBody>
          <a:bodyPr/>
          <a:lstStyle/>
          <a:p>
            <a:r>
              <a:rPr lang="zh-CN" altLang="en-US"/>
              <a:t>步骤</a:t>
            </a:r>
            <a:r>
              <a:rPr lang="en-US" altLang="zh-CN"/>
              <a:t>6</a:t>
            </a:r>
            <a:r>
              <a:rPr lang="zh-CN" altLang="en-US"/>
              <a:t>：进入 </a:t>
            </a:r>
            <a:r>
              <a:rPr lang="en-US" altLang="zh-CN"/>
              <a:t>IoT Studio </a:t>
            </a:r>
            <a:r>
              <a:rPr lang="zh-CN" altLang="en-US"/>
              <a:t>项目，新建基于可视化搭建的</a:t>
            </a:r>
            <a:r>
              <a:rPr lang="en-US" altLang="zh-CN"/>
              <a:t>Web</a:t>
            </a:r>
            <a:r>
              <a:rPr lang="zh-CN" altLang="en-US"/>
              <a:t>应用</a:t>
            </a:r>
            <a:endParaRPr lang="en-US" altLang="zh-CN"/>
          </a:p>
          <a:p>
            <a:endParaRPr lang="en-US" altLang="zh-CN"/>
          </a:p>
          <a:p>
            <a:endParaRPr lang="en-US" altLang="zh-CN"/>
          </a:p>
          <a:p>
            <a:endParaRPr lang="en-US" altLang="zh-CN"/>
          </a:p>
          <a:p>
            <a:endParaRPr lang="en-US" altLang="zh-CN"/>
          </a:p>
          <a:p>
            <a:endParaRPr lang="en-US" altLang="zh-CN"/>
          </a:p>
          <a:p>
            <a:endParaRPr lang="en-US" altLang="zh-CN" dirty="0"/>
          </a:p>
        </p:txBody>
      </p:sp>
      <p:pic>
        <p:nvPicPr>
          <p:cNvPr id="3" name="图片 2">
            <a:extLst>
              <a:ext uri="{FF2B5EF4-FFF2-40B4-BE49-F238E27FC236}">
                <a16:creationId xmlns:a16="http://schemas.microsoft.com/office/drawing/2014/main" id="{91316779-A509-422D-90A4-7485B17FF8CD}"/>
              </a:ext>
            </a:extLst>
          </p:cNvPr>
          <p:cNvPicPr>
            <a:picLocks noChangeAspect="1"/>
          </p:cNvPicPr>
          <p:nvPr/>
        </p:nvPicPr>
        <p:blipFill>
          <a:blip r:embed="rId3"/>
          <a:stretch>
            <a:fillRect/>
          </a:stretch>
        </p:blipFill>
        <p:spPr>
          <a:xfrm>
            <a:off x="2100571" y="1877691"/>
            <a:ext cx="4942857" cy="4742857"/>
          </a:xfrm>
          <a:prstGeom prst="rect">
            <a:avLst/>
          </a:prstGeom>
        </p:spPr>
      </p:pic>
    </p:spTree>
    <p:extLst>
      <p:ext uri="{BB962C8B-B14F-4D97-AF65-F5344CB8AC3E}">
        <p14:creationId xmlns:p14="http://schemas.microsoft.com/office/powerpoint/2010/main" val="1464090798"/>
      </p:ext>
    </p:extLst>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a:t>IoT Studio </a:t>
            </a:r>
            <a:r>
              <a:rPr lang="zh-CN" altLang="en-US"/>
              <a:t>开发案例</a:t>
            </a:r>
            <a:endParaRPr lang="zh-CN" altLang="en-US" dirty="0"/>
          </a:p>
        </p:txBody>
      </p:sp>
      <p:sp>
        <p:nvSpPr>
          <p:cNvPr id="8" name="内容占位符 7"/>
          <p:cNvSpPr>
            <a:spLocks noGrp="1"/>
          </p:cNvSpPr>
          <p:nvPr>
            <p:ph idx="1"/>
          </p:nvPr>
        </p:nvSpPr>
        <p:spPr/>
        <p:txBody>
          <a:bodyPr/>
          <a:lstStyle/>
          <a:p>
            <a:r>
              <a:rPr lang="zh-CN" altLang="en-US"/>
              <a:t>步骤</a:t>
            </a:r>
            <a:r>
              <a:rPr lang="en-US" altLang="zh-CN"/>
              <a:t>7</a:t>
            </a:r>
            <a:r>
              <a:rPr lang="zh-CN" altLang="en-US"/>
              <a:t>：使用指示灯、文本框、文字时钟等组件搭建</a:t>
            </a:r>
            <a:r>
              <a:rPr lang="en-US" altLang="zh-CN"/>
              <a:t>Web</a:t>
            </a:r>
            <a:r>
              <a:rPr lang="zh-CN" altLang="en-US"/>
              <a:t>页面</a:t>
            </a:r>
            <a:endParaRPr lang="en-US" altLang="zh-CN"/>
          </a:p>
          <a:p>
            <a:endParaRPr lang="en-US" altLang="zh-CN"/>
          </a:p>
          <a:p>
            <a:endParaRPr lang="en-US" altLang="zh-CN"/>
          </a:p>
          <a:p>
            <a:endParaRPr lang="en-US" altLang="zh-CN"/>
          </a:p>
          <a:p>
            <a:endParaRPr lang="en-US" altLang="zh-CN"/>
          </a:p>
          <a:p>
            <a:endParaRPr lang="en-US" altLang="zh-CN"/>
          </a:p>
          <a:p>
            <a:endParaRPr lang="en-US" altLang="zh-CN" dirty="0"/>
          </a:p>
        </p:txBody>
      </p:sp>
      <p:pic>
        <p:nvPicPr>
          <p:cNvPr id="6" name="图片 5">
            <a:extLst>
              <a:ext uri="{FF2B5EF4-FFF2-40B4-BE49-F238E27FC236}">
                <a16:creationId xmlns:a16="http://schemas.microsoft.com/office/drawing/2014/main" id="{9FE9FAA6-C38A-49F4-9BF2-1B5461AD1C5A}"/>
              </a:ext>
            </a:extLst>
          </p:cNvPr>
          <p:cNvPicPr>
            <a:picLocks noChangeAspect="1"/>
          </p:cNvPicPr>
          <p:nvPr/>
        </p:nvPicPr>
        <p:blipFill>
          <a:blip r:embed="rId3"/>
          <a:stretch>
            <a:fillRect/>
          </a:stretch>
        </p:blipFill>
        <p:spPr>
          <a:xfrm>
            <a:off x="0" y="1959291"/>
            <a:ext cx="9144000" cy="4510088"/>
          </a:xfrm>
          <a:prstGeom prst="rect">
            <a:avLst/>
          </a:prstGeom>
        </p:spPr>
      </p:pic>
    </p:spTree>
    <p:extLst>
      <p:ext uri="{BB962C8B-B14F-4D97-AF65-F5344CB8AC3E}">
        <p14:creationId xmlns:p14="http://schemas.microsoft.com/office/powerpoint/2010/main" val="3392972176"/>
      </p:ext>
    </p:extLst>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a:t>IoT Studio </a:t>
            </a:r>
            <a:r>
              <a:rPr lang="zh-CN" altLang="en-US"/>
              <a:t>开发案例</a:t>
            </a:r>
            <a:endParaRPr lang="zh-CN" altLang="en-US" dirty="0"/>
          </a:p>
        </p:txBody>
      </p:sp>
      <p:sp>
        <p:nvSpPr>
          <p:cNvPr id="8" name="内容占位符 7"/>
          <p:cNvSpPr>
            <a:spLocks noGrp="1"/>
          </p:cNvSpPr>
          <p:nvPr>
            <p:ph idx="1"/>
          </p:nvPr>
        </p:nvSpPr>
        <p:spPr/>
        <p:txBody>
          <a:bodyPr/>
          <a:lstStyle/>
          <a:p>
            <a:r>
              <a:rPr lang="zh-CN" altLang="en-US"/>
              <a:t>步骤</a:t>
            </a:r>
            <a:r>
              <a:rPr lang="en-US" altLang="zh-CN"/>
              <a:t>8</a:t>
            </a:r>
            <a:r>
              <a:rPr lang="zh-CN" altLang="en-US"/>
              <a:t>：配置指示灯组件的数据源</a:t>
            </a:r>
            <a:endParaRPr lang="en-US" altLang="zh-CN"/>
          </a:p>
          <a:p>
            <a:endParaRPr lang="en-US" altLang="zh-CN"/>
          </a:p>
          <a:p>
            <a:endParaRPr lang="en-US" altLang="zh-CN"/>
          </a:p>
          <a:p>
            <a:endParaRPr lang="en-US" altLang="zh-CN"/>
          </a:p>
          <a:p>
            <a:endParaRPr lang="en-US" altLang="zh-CN"/>
          </a:p>
          <a:p>
            <a:endParaRPr lang="en-US" altLang="zh-CN"/>
          </a:p>
          <a:p>
            <a:endParaRPr lang="en-US" altLang="zh-CN" dirty="0"/>
          </a:p>
        </p:txBody>
      </p:sp>
      <p:pic>
        <p:nvPicPr>
          <p:cNvPr id="5" name="图片 4">
            <a:extLst>
              <a:ext uri="{FF2B5EF4-FFF2-40B4-BE49-F238E27FC236}">
                <a16:creationId xmlns:a16="http://schemas.microsoft.com/office/drawing/2014/main" id="{A4A3A90C-BE57-4794-AFEF-58F1A83E5B6F}"/>
              </a:ext>
            </a:extLst>
          </p:cNvPr>
          <p:cNvPicPr>
            <a:picLocks noChangeAspect="1"/>
          </p:cNvPicPr>
          <p:nvPr/>
        </p:nvPicPr>
        <p:blipFill>
          <a:blip r:embed="rId3"/>
          <a:stretch>
            <a:fillRect/>
          </a:stretch>
        </p:blipFill>
        <p:spPr>
          <a:xfrm>
            <a:off x="0" y="1540105"/>
            <a:ext cx="9144000" cy="4983591"/>
          </a:xfrm>
          <a:prstGeom prst="rect">
            <a:avLst/>
          </a:prstGeom>
        </p:spPr>
      </p:pic>
    </p:spTree>
    <p:extLst>
      <p:ext uri="{BB962C8B-B14F-4D97-AF65-F5344CB8AC3E}">
        <p14:creationId xmlns:p14="http://schemas.microsoft.com/office/powerpoint/2010/main" val="2132511450"/>
      </p:ext>
    </p:extLst>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a:t>IoT Studio </a:t>
            </a:r>
            <a:r>
              <a:rPr lang="zh-CN" altLang="en-US"/>
              <a:t>开发案例</a:t>
            </a:r>
            <a:endParaRPr lang="zh-CN" altLang="en-US" dirty="0"/>
          </a:p>
        </p:txBody>
      </p:sp>
      <p:sp>
        <p:nvSpPr>
          <p:cNvPr id="8" name="内容占位符 7"/>
          <p:cNvSpPr>
            <a:spLocks noGrp="1"/>
          </p:cNvSpPr>
          <p:nvPr>
            <p:ph idx="1"/>
          </p:nvPr>
        </p:nvSpPr>
        <p:spPr/>
        <p:txBody>
          <a:bodyPr/>
          <a:lstStyle/>
          <a:p>
            <a:r>
              <a:rPr lang="zh-CN" altLang="en-US"/>
              <a:t>步骤</a:t>
            </a:r>
            <a:r>
              <a:rPr lang="en-US" altLang="zh-CN"/>
              <a:t>9</a:t>
            </a:r>
            <a:r>
              <a:rPr lang="zh-CN" altLang="en-US"/>
              <a:t>：在</a:t>
            </a:r>
            <a:r>
              <a:rPr lang="en-US" altLang="zh-CN"/>
              <a:t>Web</a:t>
            </a:r>
            <a:r>
              <a:rPr lang="zh-CN" altLang="en-US"/>
              <a:t>应用开发控制台，点击页面预览，查看</a:t>
            </a:r>
            <a:r>
              <a:rPr lang="en-US" altLang="zh-CN"/>
              <a:t>Web</a:t>
            </a:r>
            <a:r>
              <a:rPr lang="zh-CN" altLang="en-US"/>
              <a:t>页面效果</a:t>
            </a:r>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dirty="0"/>
          </a:p>
        </p:txBody>
      </p:sp>
      <p:pic>
        <p:nvPicPr>
          <p:cNvPr id="5" name="图片 4">
            <a:extLst>
              <a:ext uri="{FF2B5EF4-FFF2-40B4-BE49-F238E27FC236}">
                <a16:creationId xmlns:a16="http://schemas.microsoft.com/office/drawing/2014/main" id="{E074C54C-18BE-4DD3-B973-B191BB00060A}"/>
              </a:ext>
            </a:extLst>
          </p:cNvPr>
          <p:cNvPicPr>
            <a:picLocks noChangeAspect="1"/>
          </p:cNvPicPr>
          <p:nvPr/>
        </p:nvPicPr>
        <p:blipFill>
          <a:blip r:embed="rId3"/>
          <a:stretch>
            <a:fillRect/>
          </a:stretch>
        </p:blipFill>
        <p:spPr>
          <a:xfrm>
            <a:off x="457200" y="1873245"/>
            <a:ext cx="7998488" cy="4672996"/>
          </a:xfrm>
          <a:prstGeom prst="rect">
            <a:avLst/>
          </a:prstGeom>
        </p:spPr>
      </p:pic>
    </p:spTree>
    <p:extLst>
      <p:ext uri="{BB962C8B-B14F-4D97-AF65-F5344CB8AC3E}">
        <p14:creationId xmlns:p14="http://schemas.microsoft.com/office/powerpoint/2010/main" val="682449471"/>
      </p:ext>
    </p:extLst>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a:t>IoT Studio </a:t>
            </a:r>
            <a:r>
              <a:rPr lang="zh-CN" altLang="en-US"/>
              <a:t>设备端开发的不足</a:t>
            </a:r>
            <a:endParaRPr lang="zh-CN" altLang="en-US" dirty="0"/>
          </a:p>
        </p:txBody>
      </p:sp>
      <p:sp>
        <p:nvSpPr>
          <p:cNvPr id="8" name="内容占位符 7"/>
          <p:cNvSpPr>
            <a:spLocks noGrp="1"/>
          </p:cNvSpPr>
          <p:nvPr>
            <p:ph idx="1"/>
          </p:nvPr>
        </p:nvSpPr>
        <p:spPr/>
        <p:txBody>
          <a:bodyPr/>
          <a:lstStyle/>
          <a:p>
            <a:r>
              <a:rPr lang="zh-CN" altLang="en-US"/>
              <a:t>针对设备端开发，目前</a:t>
            </a:r>
            <a:r>
              <a:rPr lang="en-US" altLang="zh-CN"/>
              <a:t>IoT Studio</a:t>
            </a:r>
            <a:r>
              <a:rPr lang="zh-CN" altLang="en-US"/>
              <a:t>支持的硬件如下（以</a:t>
            </a:r>
            <a:r>
              <a:rPr lang="en-US" altLang="zh-CN"/>
              <a:t>JavaScript</a:t>
            </a:r>
            <a:r>
              <a:rPr lang="zh-CN" altLang="en-US"/>
              <a:t>开发为例）</a:t>
            </a:r>
            <a:endParaRPr lang="en-US" altLang="zh-CN"/>
          </a:p>
          <a:p>
            <a:endParaRPr lang="en-US" altLang="zh-CN"/>
          </a:p>
          <a:p>
            <a:endParaRPr lang="en-US" altLang="zh-CN"/>
          </a:p>
          <a:p>
            <a:endParaRPr lang="en-US" altLang="zh-CN"/>
          </a:p>
          <a:p>
            <a:endParaRPr lang="en-US" altLang="zh-CN"/>
          </a:p>
          <a:p>
            <a:endParaRPr lang="en-US" altLang="zh-CN"/>
          </a:p>
          <a:p>
            <a:endParaRPr lang="en-US" altLang="zh-CN"/>
          </a:p>
          <a:p>
            <a:r>
              <a:rPr lang="en-US" altLang="zh-CN"/>
              <a:t>IoT Studio</a:t>
            </a:r>
            <a:r>
              <a:rPr lang="zh-CN" altLang="en-US"/>
              <a:t>在设备端开发上的不足</a:t>
            </a:r>
            <a:endParaRPr lang="en-US" altLang="zh-CN"/>
          </a:p>
          <a:p>
            <a:pPr lvl="1"/>
            <a:r>
              <a:rPr lang="zh-CN" altLang="en-US"/>
              <a:t>支持的硬件种类较少</a:t>
            </a:r>
            <a:endParaRPr lang="en-US" altLang="zh-CN"/>
          </a:p>
          <a:p>
            <a:pPr lvl="1"/>
            <a:r>
              <a:rPr lang="zh-CN" altLang="en-US"/>
              <a:t>仍采用传统的自底向上的开发方式</a:t>
            </a:r>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dirty="0"/>
          </a:p>
        </p:txBody>
      </p:sp>
      <p:graphicFrame>
        <p:nvGraphicFramePr>
          <p:cNvPr id="6" name="表格 5">
            <a:extLst>
              <a:ext uri="{FF2B5EF4-FFF2-40B4-BE49-F238E27FC236}">
                <a16:creationId xmlns:a16="http://schemas.microsoft.com/office/drawing/2014/main" id="{5BF9088B-9E98-4E4D-8C11-8F5398BE773A}"/>
              </a:ext>
            </a:extLst>
          </p:cNvPr>
          <p:cNvGraphicFramePr>
            <a:graphicFrameLocks noGrp="1"/>
          </p:cNvGraphicFramePr>
          <p:nvPr>
            <p:extLst>
              <p:ext uri="{D42A27DB-BD31-4B8C-83A1-F6EECF244321}">
                <p14:modId xmlns:p14="http://schemas.microsoft.com/office/powerpoint/2010/main" val="1877036213"/>
              </p:ext>
            </p:extLst>
          </p:nvPr>
        </p:nvGraphicFramePr>
        <p:xfrm>
          <a:off x="833120" y="1922779"/>
          <a:ext cx="7477761" cy="3072385"/>
        </p:xfrm>
        <a:graphic>
          <a:graphicData uri="http://schemas.openxmlformats.org/drawingml/2006/table">
            <a:tbl>
              <a:tblPr firstRow="1" bandRow="1">
                <a:tableStyleId>{93296810-A885-4BE3-A3E7-6D5BEEA58F35}</a:tableStyleId>
              </a:tblPr>
              <a:tblGrid>
                <a:gridCol w="2631440">
                  <a:extLst>
                    <a:ext uri="{9D8B030D-6E8A-4147-A177-3AD203B41FA5}">
                      <a16:colId xmlns:a16="http://schemas.microsoft.com/office/drawing/2014/main" val="2526907328"/>
                    </a:ext>
                  </a:extLst>
                </a:gridCol>
                <a:gridCol w="1361440">
                  <a:extLst>
                    <a:ext uri="{9D8B030D-6E8A-4147-A177-3AD203B41FA5}">
                      <a16:colId xmlns:a16="http://schemas.microsoft.com/office/drawing/2014/main" val="2362432532"/>
                    </a:ext>
                  </a:extLst>
                </a:gridCol>
                <a:gridCol w="3484881">
                  <a:extLst>
                    <a:ext uri="{9D8B030D-6E8A-4147-A177-3AD203B41FA5}">
                      <a16:colId xmlns:a16="http://schemas.microsoft.com/office/drawing/2014/main" val="1040711158"/>
                    </a:ext>
                  </a:extLst>
                </a:gridCol>
              </a:tblGrid>
              <a:tr h="361618">
                <a:tc>
                  <a:txBody>
                    <a:bodyPr/>
                    <a:lstStyle/>
                    <a:p>
                      <a:r>
                        <a:rPr lang="zh-CN" altLang="en-US" dirty="0">
                          <a:latin typeface="+mj-ea"/>
                          <a:ea typeface="+mj-ea"/>
                        </a:rPr>
                        <a:t>芯片型号</a:t>
                      </a:r>
                    </a:p>
                  </a:txBody>
                  <a:tcPr/>
                </a:tc>
                <a:tc>
                  <a:txBody>
                    <a:bodyPr/>
                    <a:lstStyle/>
                    <a:p>
                      <a:r>
                        <a:rPr lang="zh-CN" altLang="en-US" dirty="0">
                          <a:latin typeface="+mj-ea"/>
                          <a:ea typeface="+mj-ea"/>
                        </a:rPr>
                        <a:t>厂商</a:t>
                      </a:r>
                    </a:p>
                  </a:txBody>
                  <a:tcPr/>
                </a:tc>
                <a:tc>
                  <a:txBody>
                    <a:bodyPr/>
                    <a:lstStyle/>
                    <a:p>
                      <a:r>
                        <a:rPr lang="zh-CN" altLang="en-US" dirty="0">
                          <a:latin typeface="+mj-ea"/>
                          <a:ea typeface="+mj-ea"/>
                        </a:rPr>
                        <a:t>操作系统</a:t>
                      </a:r>
                    </a:p>
                  </a:txBody>
                  <a:tcPr/>
                </a:tc>
                <a:extLst>
                  <a:ext uri="{0D108BD9-81ED-4DB2-BD59-A6C34878D82A}">
                    <a16:rowId xmlns:a16="http://schemas.microsoft.com/office/drawing/2014/main" val="709733687"/>
                  </a:ext>
                </a:extLst>
              </a:tr>
              <a:tr h="632831">
                <a:tc>
                  <a:txBody>
                    <a:bodyPr/>
                    <a:lstStyle/>
                    <a:p>
                      <a:r>
                        <a:rPr lang="en-US" altLang="zh-CN" dirty="0">
                          <a:latin typeface="+mj-ea"/>
                          <a:ea typeface="+mj-ea"/>
                        </a:rPr>
                        <a:t>ESP32</a:t>
                      </a:r>
                      <a:endParaRPr lang="zh-CN" altLang="en-US" dirty="0">
                        <a:latin typeface="+mj-ea"/>
                        <a:ea typeface="+mj-ea"/>
                      </a:endParaRPr>
                    </a:p>
                  </a:txBody>
                  <a:tcPr/>
                </a:tc>
                <a:tc>
                  <a:txBody>
                    <a:bodyPr/>
                    <a:lstStyle/>
                    <a:p>
                      <a:r>
                        <a:rPr lang="zh-CN" altLang="en-US" dirty="0">
                          <a:latin typeface="+mj-ea"/>
                          <a:ea typeface="+mj-ea"/>
                        </a:rPr>
                        <a:t>乐鑫</a:t>
                      </a:r>
                    </a:p>
                  </a:txBody>
                  <a:tcPr/>
                </a:tc>
                <a:tc>
                  <a:txBody>
                    <a:bodyPr/>
                    <a:lstStyle/>
                    <a:p>
                      <a:r>
                        <a:rPr lang="en-US" altLang="zh-CN" dirty="0" err="1">
                          <a:latin typeface="+mj-ea"/>
                          <a:ea typeface="+mj-ea"/>
                        </a:rPr>
                        <a:t>AliOS</a:t>
                      </a:r>
                      <a:r>
                        <a:rPr lang="en-US" altLang="zh-CN" dirty="0">
                          <a:latin typeface="+mj-ea"/>
                          <a:ea typeface="+mj-ea"/>
                        </a:rPr>
                        <a:t>-Things</a:t>
                      </a:r>
                      <a:r>
                        <a:rPr lang="zh-CN" altLang="en-US" dirty="0">
                          <a:latin typeface="+mj-ea"/>
                          <a:ea typeface="+mj-ea"/>
                        </a:rPr>
                        <a:t>，</a:t>
                      </a:r>
                      <a:r>
                        <a:rPr lang="en-US" altLang="zh-CN" dirty="0" err="1">
                          <a:latin typeface="+mj-ea"/>
                          <a:ea typeface="+mj-ea"/>
                        </a:rPr>
                        <a:t>FreeRTOS</a:t>
                      </a:r>
                      <a:r>
                        <a:rPr lang="zh-CN" altLang="en-US" dirty="0">
                          <a:latin typeface="+mj-ea"/>
                          <a:ea typeface="+mj-ea"/>
                        </a:rPr>
                        <a:t>，</a:t>
                      </a:r>
                      <a:r>
                        <a:rPr lang="en-US" altLang="zh-CN" dirty="0">
                          <a:latin typeface="+mj-ea"/>
                          <a:ea typeface="+mj-ea"/>
                        </a:rPr>
                        <a:t>UCOSII</a:t>
                      </a:r>
                      <a:endParaRPr lang="zh-CN" altLang="en-US" dirty="0">
                        <a:latin typeface="+mj-ea"/>
                        <a:ea typeface="+mj-ea"/>
                      </a:endParaRPr>
                    </a:p>
                  </a:txBody>
                  <a:tcPr/>
                </a:tc>
                <a:extLst>
                  <a:ext uri="{0D108BD9-81ED-4DB2-BD59-A6C34878D82A}">
                    <a16:rowId xmlns:a16="http://schemas.microsoft.com/office/drawing/2014/main" val="2351394914"/>
                  </a:ext>
                </a:extLst>
              </a:tr>
              <a:tr h="632831">
                <a:tc>
                  <a:txBody>
                    <a:bodyPr/>
                    <a:lstStyle/>
                    <a:p>
                      <a:r>
                        <a:rPr lang="en-US" altLang="zh-CN" dirty="0">
                          <a:latin typeface="+mj-ea"/>
                          <a:ea typeface="+mj-ea"/>
                        </a:rPr>
                        <a:t>STM32F/L4XX</a:t>
                      </a:r>
                      <a:endParaRPr lang="zh-CN" altLang="en-US" dirty="0">
                        <a:latin typeface="+mj-ea"/>
                        <a:ea typeface="+mj-ea"/>
                      </a:endParaRPr>
                    </a:p>
                  </a:txBody>
                  <a:tcPr/>
                </a:tc>
                <a:tc>
                  <a:txBody>
                    <a:bodyPr/>
                    <a:lstStyle/>
                    <a:p>
                      <a:r>
                        <a:rPr lang="zh-CN" altLang="en-US" dirty="0">
                          <a:latin typeface="+mj-ea"/>
                          <a:ea typeface="+mj-ea"/>
                        </a:rPr>
                        <a:t>意法半导体</a:t>
                      </a:r>
                    </a:p>
                  </a:txBody>
                  <a:tcPr/>
                </a:tc>
                <a:tc>
                  <a:txBody>
                    <a:bodyPr/>
                    <a:lstStyle/>
                    <a:p>
                      <a:r>
                        <a:rPr lang="en-US" altLang="zh-CN" sz="1800" kern="1200" dirty="0" err="1">
                          <a:solidFill>
                            <a:schemeClr val="dk1"/>
                          </a:solidFill>
                          <a:latin typeface="+mj-ea"/>
                          <a:ea typeface="+mj-ea"/>
                          <a:cs typeface="+mn-cs"/>
                        </a:rPr>
                        <a:t>AliOS</a:t>
                      </a:r>
                      <a:r>
                        <a:rPr lang="en-US" altLang="zh-CN" sz="1800" kern="1200" dirty="0">
                          <a:solidFill>
                            <a:schemeClr val="dk1"/>
                          </a:solidFill>
                          <a:latin typeface="+mj-ea"/>
                          <a:ea typeface="+mj-ea"/>
                          <a:cs typeface="+mn-cs"/>
                        </a:rPr>
                        <a:t>-Things</a:t>
                      </a:r>
                      <a:r>
                        <a:rPr lang="zh-CN" altLang="en-US" sz="1800" kern="1200" dirty="0">
                          <a:solidFill>
                            <a:schemeClr val="dk1"/>
                          </a:solidFill>
                          <a:latin typeface="+mj-ea"/>
                          <a:ea typeface="+mj-ea"/>
                          <a:cs typeface="+mn-cs"/>
                        </a:rPr>
                        <a:t>，</a:t>
                      </a:r>
                      <a:r>
                        <a:rPr lang="en-US" altLang="zh-CN" sz="1800" kern="1200" dirty="0" err="1">
                          <a:solidFill>
                            <a:schemeClr val="dk1"/>
                          </a:solidFill>
                          <a:latin typeface="+mj-ea"/>
                          <a:ea typeface="+mj-ea"/>
                          <a:cs typeface="+mn-cs"/>
                        </a:rPr>
                        <a:t>FreeRTOS</a:t>
                      </a:r>
                      <a:r>
                        <a:rPr lang="zh-CN" altLang="en-US" sz="1800" kern="1200" dirty="0">
                          <a:solidFill>
                            <a:schemeClr val="dk1"/>
                          </a:solidFill>
                          <a:latin typeface="+mj-ea"/>
                          <a:ea typeface="+mj-ea"/>
                          <a:cs typeface="+mn-cs"/>
                        </a:rPr>
                        <a:t>，</a:t>
                      </a:r>
                      <a:r>
                        <a:rPr lang="en-US" altLang="zh-CN" sz="1800" kern="1200" dirty="0">
                          <a:solidFill>
                            <a:schemeClr val="dk1"/>
                          </a:solidFill>
                          <a:latin typeface="+mj-ea"/>
                          <a:ea typeface="+mj-ea"/>
                          <a:cs typeface="+mn-cs"/>
                        </a:rPr>
                        <a:t>UCOSII</a:t>
                      </a:r>
                      <a:endParaRPr lang="zh-CN" altLang="en-US" sz="1800" kern="1200" dirty="0">
                        <a:solidFill>
                          <a:schemeClr val="dk1"/>
                        </a:solidFill>
                        <a:latin typeface="+mj-ea"/>
                        <a:ea typeface="+mj-ea"/>
                        <a:cs typeface="+mn-cs"/>
                      </a:endParaRPr>
                    </a:p>
                  </a:txBody>
                  <a:tcPr/>
                </a:tc>
                <a:extLst>
                  <a:ext uri="{0D108BD9-81ED-4DB2-BD59-A6C34878D82A}">
                    <a16:rowId xmlns:a16="http://schemas.microsoft.com/office/drawing/2014/main" val="1428842866"/>
                  </a:ext>
                </a:extLst>
              </a:tr>
              <a:tr h="361618">
                <a:tc>
                  <a:txBody>
                    <a:bodyPr/>
                    <a:lstStyle/>
                    <a:p>
                      <a:r>
                        <a:rPr lang="en-US" altLang="zh-CN" dirty="0">
                          <a:latin typeface="+mj-ea"/>
                          <a:ea typeface="+mj-ea"/>
                        </a:rPr>
                        <a:t>EMW3060/EMW3080</a:t>
                      </a:r>
                      <a:endParaRPr lang="zh-CN" altLang="en-US" dirty="0">
                        <a:latin typeface="+mj-ea"/>
                        <a:ea typeface="+mj-ea"/>
                      </a:endParaRPr>
                    </a:p>
                  </a:txBody>
                  <a:tcPr/>
                </a:tc>
                <a:tc>
                  <a:txBody>
                    <a:bodyPr/>
                    <a:lstStyle/>
                    <a:p>
                      <a:r>
                        <a:rPr lang="zh-CN" altLang="en-US" dirty="0">
                          <a:latin typeface="+mj-ea"/>
                          <a:ea typeface="+mj-ea"/>
                        </a:rPr>
                        <a:t>庆科</a:t>
                      </a:r>
                    </a:p>
                  </a:txBody>
                  <a:tcPr/>
                </a:tc>
                <a:tc>
                  <a:txBody>
                    <a:bodyPr/>
                    <a:lstStyle/>
                    <a:p>
                      <a:r>
                        <a:rPr lang="en-US" altLang="zh-CN" sz="1800" kern="1200" dirty="0" err="1">
                          <a:solidFill>
                            <a:schemeClr val="dk1"/>
                          </a:solidFill>
                          <a:latin typeface="+mj-ea"/>
                          <a:ea typeface="+mj-ea"/>
                          <a:cs typeface="+mn-cs"/>
                        </a:rPr>
                        <a:t>AliOS</a:t>
                      </a:r>
                      <a:r>
                        <a:rPr lang="en-US" altLang="zh-CN" sz="1800" kern="1200" dirty="0">
                          <a:solidFill>
                            <a:schemeClr val="dk1"/>
                          </a:solidFill>
                          <a:latin typeface="+mj-ea"/>
                          <a:ea typeface="+mj-ea"/>
                          <a:cs typeface="+mn-cs"/>
                        </a:rPr>
                        <a:t>-Things</a:t>
                      </a:r>
                      <a:endParaRPr lang="zh-CN" altLang="en-US" dirty="0">
                        <a:latin typeface="+mj-ea"/>
                        <a:ea typeface="+mj-ea"/>
                      </a:endParaRPr>
                    </a:p>
                  </a:txBody>
                  <a:tcPr/>
                </a:tc>
                <a:extLst>
                  <a:ext uri="{0D108BD9-81ED-4DB2-BD59-A6C34878D82A}">
                    <a16:rowId xmlns:a16="http://schemas.microsoft.com/office/drawing/2014/main" val="3304725787"/>
                  </a:ext>
                </a:extLst>
              </a:tr>
              <a:tr h="361618">
                <a:tc>
                  <a:txBody>
                    <a:bodyPr/>
                    <a:lstStyle/>
                    <a:p>
                      <a:r>
                        <a:rPr lang="en-US" altLang="zh-CN" dirty="0">
                          <a:latin typeface="+mj-ea"/>
                          <a:ea typeface="+mj-ea"/>
                        </a:rPr>
                        <a:t>STM32F103X</a:t>
                      </a:r>
                      <a:endParaRPr lang="zh-CN" altLang="en-US" dirty="0">
                        <a:latin typeface="+mj-ea"/>
                        <a:ea typeface="+mj-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dk1"/>
                          </a:solidFill>
                          <a:latin typeface="+mj-ea"/>
                          <a:ea typeface="+mj-ea"/>
                          <a:cs typeface="+mn-cs"/>
                        </a:rPr>
                        <a:t>意法半导体</a:t>
                      </a:r>
                    </a:p>
                  </a:txBody>
                  <a:tcPr/>
                </a:tc>
                <a:tc>
                  <a:txBody>
                    <a:bodyPr/>
                    <a:lstStyle/>
                    <a:p>
                      <a:r>
                        <a:rPr lang="en-US" altLang="zh-CN" sz="1800" kern="1200" dirty="0">
                          <a:solidFill>
                            <a:schemeClr val="dk1"/>
                          </a:solidFill>
                          <a:latin typeface="+mj-ea"/>
                          <a:ea typeface="+mj-ea"/>
                          <a:cs typeface="+mn-cs"/>
                        </a:rPr>
                        <a:t>UCOSII</a:t>
                      </a:r>
                      <a:endParaRPr lang="zh-CN" altLang="en-US" dirty="0">
                        <a:latin typeface="+mj-ea"/>
                        <a:ea typeface="+mj-ea"/>
                      </a:endParaRPr>
                    </a:p>
                  </a:txBody>
                  <a:tcPr/>
                </a:tc>
                <a:extLst>
                  <a:ext uri="{0D108BD9-81ED-4DB2-BD59-A6C34878D82A}">
                    <a16:rowId xmlns:a16="http://schemas.microsoft.com/office/drawing/2014/main" val="3628291556"/>
                  </a:ext>
                </a:extLst>
              </a:tr>
              <a:tr h="694945">
                <a:tc>
                  <a:txBody>
                    <a:bodyPr/>
                    <a:lstStyle/>
                    <a:p>
                      <a:r>
                        <a:rPr lang="en-US" altLang="zh-CN" dirty="0">
                          <a:latin typeface="+mj-ea"/>
                          <a:ea typeface="+mj-ea"/>
                        </a:rPr>
                        <a:t>STM32F7XX</a:t>
                      </a:r>
                      <a:endParaRPr lang="zh-CN" altLang="en-US" dirty="0">
                        <a:latin typeface="+mj-ea"/>
                        <a:ea typeface="+mj-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dk1"/>
                          </a:solidFill>
                          <a:latin typeface="+mj-ea"/>
                          <a:ea typeface="+mj-ea"/>
                          <a:cs typeface="+mn-cs"/>
                        </a:rPr>
                        <a:t>意法半导体</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200" dirty="0" err="1">
                          <a:solidFill>
                            <a:schemeClr val="dk1"/>
                          </a:solidFill>
                          <a:latin typeface="+mj-ea"/>
                          <a:ea typeface="+mj-ea"/>
                          <a:cs typeface="+mn-cs"/>
                        </a:rPr>
                        <a:t>AliOS</a:t>
                      </a:r>
                      <a:r>
                        <a:rPr lang="en-US" altLang="zh-CN" sz="1800" kern="1200" dirty="0">
                          <a:solidFill>
                            <a:schemeClr val="dk1"/>
                          </a:solidFill>
                          <a:latin typeface="+mj-ea"/>
                          <a:ea typeface="+mj-ea"/>
                          <a:cs typeface="+mn-cs"/>
                        </a:rPr>
                        <a:t>-Things</a:t>
                      </a:r>
                      <a:r>
                        <a:rPr lang="zh-CN" altLang="en-US" sz="1800" kern="1200" dirty="0">
                          <a:solidFill>
                            <a:schemeClr val="dk1"/>
                          </a:solidFill>
                          <a:latin typeface="+mj-ea"/>
                          <a:ea typeface="+mj-ea"/>
                          <a:cs typeface="+mn-cs"/>
                        </a:rPr>
                        <a:t>，</a:t>
                      </a:r>
                      <a:r>
                        <a:rPr lang="en-US" altLang="zh-CN" sz="1800" kern="1200" dirty="0" err="1">
                          <a:solidFill>
                            <a:schemeClr val="dk1"/>
                          </a:solidFill>
                          <a:latin typeface="+mj-ea"/>
                          <a:ea typeface="+mj-ea"/>
                          <a:cs typeface="+mn-cs"/>
                        </a:rPr>
                        <a:t>FreeRTOS</a:t>
                      </a:r>
                      <a:r>
                        <a:rPr lang="zh-CN" altLang="en-US" sz="1800" kern="1200" dirty="0">
                          <a:solidFill>
                            <a:schemeClr val="dk1"/>
                          </a:solidFill>
                          <a:latin typeface="+mj-ea"/>
                          <a:ea typeface="+mj-ea"/>
                          <a:cs typeface="+mn-cs"/>
                        </a:rPr>
                        <a:t>，</a:t>
                      </a:r>
                      <a:r>
                        <a:rPr lang="en-US" altLang="zh-CN" sz="1800" kern="1200" dirty="0">
                          <a:solidFill>
                            <a:schemeClr val="dk1"/>
                          </a:solidFill>
                          <a:latin typeface="+mj-ea"/>
                          <a:ea typeface="+mj-ea"/>
                          <a:cs typeface="+mn-cs"/>
                        </a:rPr>
                        <a:t>UCOSII</a:t>
                      </a:r>
                      <a:endParaRPr lang="zh-CN" altLang="en-US" sz="1800" kern="1200" dirty="0">
                        <a:solidFill>
                          <a:schemeClr val="dk1"/>
                        </a:solidFill>
                        <a:latin typeface="+mj-ea"/>
                        <a:ea typeface="+mj-ea"/>
                        <a:cs typeface="+mn-cs"/>
                      </a:endParaRPr>
                    </a:p>
                  </a:txBody>
                  <a:tcPr/>
                </a:tc>
                <a:extLst>
                  <a:ext uri="{0D108BD9-81ED-4DB2-BD59-A6C34878D82A}">
                    <a16:rowId xmlns:a16="http://schemas.microsoft.com/office/drawing/2014/main" val="4125500558"/>
                  </a:ext>
                </a:extLst>
              </a:tr>
            </a:tbl>
          </a:graphicData>
        </a:graphic>
      </p:graphicFrame>
    </p:spTree>
    <p:extLst>
      <p:ext uri="{BB962C8B-B14F-4D97-AF65-F5344CB8AC3E}">
        <p14:creationId xmlns:p14="http://schemas.microsoft.com/office/powerpoint/2010/main" val="3343937543"/>
      </p:ext>
    </p:extLst>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a:t>IoT Studio + TinyLink </a:t>
            </a:r>
            <a:r>
              <a:rPr lang="zh-CN" altLang="en-US"/>
              <a:t>开发流程</a:t>
            </a:r>
            <a:endParaRPr lang="zh-CN" altLang="en-US" dirty="0"/>
          </a:p>
        </p:txBody>
      </p:sp>
      <p:sp>
        <p:nvSpPr>
          <p:cNvPr id="8" name="内容占位符 7"/>
          <p:cNvSpPr>
            <a:spLocks noGrp="1"/>
          </p:cNvSpPr>
          <p:nvPr>
            <p:ph idx="1"/>
          </p:nvPr>
        </p:nvSpPr>
        <p:spPr/>
        <p:txBody>
          <a:bodyPr/>
          <a:lstStyle/>
          <a:p>
            <a:r>
              <a:rPr lang="zh-CN" altLang="en-US" dirty="0"/>
              <a:t>使用</a:t>
            </a:r>
            <a:r>
              <a:rPr lang="en-US" altLang="zh-CN" dirty="0" err="1"/>
              <a:t>TinyLink</a:t>
            </a:r>
            <a:r>
              <a:rPr lang="zh-CN" altLang="en-US" dirty="0"/>
              <a:t>实现设备端开发，云端服务开发和</a:t>
            </a:r>
            <a:r>
              <a:rPr lang="en-US" altLang="zh-CN" dirty="0"/>
              <a:t>Web</a:t>
            </a:r>
            <a:r>
              <a:rPr lang="zh-CN" altLang="en-US" dirty="0"/>
              <a:t>应用</a:t>
            </a:r>
            <a:r>
              <a:rPr lang="en-US" altLang="zh-CN" dirty="0"/>
              <a:t>/</a:t>
            </a:r>
            <a:r>
              <a:rPr lang="zh-CN" altLang="en-US" dirty="0"/>
              <a:t>移动应用开发由</a:t>
            </a:r>
            <a:r>
              <a:rPr lang="en-US" altLang="zh-CN" dirty="0"/>
              <a:t>IoT Studio</a:t>
            </a:r>
            <a:r>
              <a:rPr lang="zh-CN" altLang="en-US" dirty="0"/>
              <a:t>完成</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sz="2800" dirty="0"/>
          </a:p>
          <a:p>
            <a:r>
              <a:rPr lang="zh-CN" altLang="en-US" dirty="0"/>
              <a:t>关键点：使用</a:t>
            </a:r>
            <a:r>
              <a:rPr lang="en-US" altLang="zh-CN" dirty="0" err="1"/>
              <a:t>TinyLink</a:t>
            </a:r>
            <a:r>
              <a:rPr lang="zh-CN" altLang="en-US" dirty="0"/>
              <a:t>实现基于物模型的设备接入</a:t>
            </a:r>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889" y="1904359"/>
            <a:ext cx="6085920" cy="3783623"/>
          </a:xfrm>
          <a:prstGeom prst="rect">
            <a:avLst/>
          </a:prstGeom>
        </p:spPr>
      </p:pic>
    </p:spTree>
    <p:extLst>
      <p:ext uri="{BB962C8B-B14F-4D97-AF65-F5344CB8AC3E}">
        <p14:creationId xmlns:p14="http://schemas.microsoft.com/office/powerpoint/2010/main" val="480229811"/>
      </p:ext>
    </p:extLst>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dirty="0"/>
              <a:t>IoT Studio + </a:t>
            </a:r>
            <a:r>
              <a:rPr lang="en-US" altLang="zh-CN" dirty="0" err="1"/>
              <a:t>TinyLink</a:t>
            </a:r>
            <a:r>
              <a:rPr lang="en-US" altLang="zh-CN" dirty="0"/>
              <a:t> </a:t>
            </a:r>
            <a:r>
              <a:rPr lang="zh-CN" altLang="en-US" dirty="0"/>
              <a:t>设备接入</a:t>
            </a:r>
          </a:p>
        </p:txBody>
      </p:sp>
      <p:sp>
        <p:nvSpPr>
          <p:cNvPr id="8" name="内容占位符 7"/>
          <p:cNvSpPr>
            <a:spLocks noGrp="1"/>
          </p:cNvSpPr>
          <p:nvPr>
            <p:ph idx="1"/>
          </p:nvPr>
        </p:nvSpPr>
        <p:spPr/>
        <p:txBody>
          <a:bodyPr/>
          <a:lstStyle/>
          <a:p>
            <a:r>
              <a:rPr lang="zh-CN" altLang="en-US"/>
              <a:t>使用</a:t>
            </a:r>
            <a:r>
              <a:rPr lang="en-US" altLang="zh-CN"/>
              <a:t>MQTT</a:t>
            </a:r>
            <a:r>
              <a:rPr lang="zh-CN" altLang="en-US"/>
              <a:t>协议连接阿里云，连接参数如下</a:t>
            </a:r>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dirty="0"/>
          </a:p>
        </p:txBody>
      </p:sp>
      <p:graphicFrame>
        <p:nvGraphicFramePr>
          <p:cNvPr id="3" name="表格 2"/>
          <p:cNvGraphicFramePr>
            <a:graphicFrameLocks noGrp="1"/>
          </p:cNvGraphicFramePr>
          <p:nvPr>
            <p:extLst>
              <p:ext uri="{D42A27DB-BD31-4B8C-83A1-F6EECF244321}">
                <p14:modId xmlns:p14="http://schemas.microsoft.com/office/powerpoint/2010/main" val="2903850746"/>
              </p:ext>
            </p:extLst>
          </p:nvPr>
        </p:nvGraphicFramePr>
        <p:xfrm>
          <a:off x="457200" y="1687669"/>
          <a:ext cx="8305800" cy="4671472"/>
        </p:xfrm>
        <a:graphic>
          <a:graphicData uri="http://schemas.openxmlformats.org/drawingml/2006/table">
            <a:tbl>
              <a:tblPr firstRow="1" bandRow="1">
                <a:tableStyleId>{93296810-A885-4BE3-A3E7-6D5BEEA58F35}</a:tableStyleId>
              </a:tblPr>
              <a:tblGrid>
                <a:gridCol w="2470206">
                  <a:extLst>
                    <a:ext uri="{9D8B030D-6E8A-4147-A177-3AD203B41FA5}">
                      <a16:colId xmlns:a16="http://schemas.microsoft.com/office/drawing/2014/main" val="20000"/>
                    </a:ext>
                  </a:extLst>
                </a:gridCol>
                <a:gridCol w="5835594">
                  <a:extLst>
                    <a:ext uri="{9D8B030D-6E8A-4147-A177-3AD203B41FA5}">
                      <a16:colId xmlns:a16="http://schemas.microsoft.com/office/drawing/2014/main" val="20001"/>
                    </a:ext>
                  </a:extLst>
                </a:gridCol>
              </a:tblGrid>
              <a:tr h="709035">
                <a:tc>
                  <a:txBody>
                    <a:bodyPr/>
                    <a:lstStyle/>
                    <a:p>
                      <a:r>
                        <a:rPr lang="zh-CN" altLang="en-US" dirty="0"/>
                        <a:t>参数名称</a:t>
                      </a:r>
                      <a:endParaRPr lang="zh-CN" altLang="en-US" dirty="0">
                        <a:latin typeface="+mj-ea"/>
                        <a:ea typeface="+mj-ea"/>
                        <a:cs typeface="Times New Roman" panose="02020603050405020304" pitchFamily="18" charset="0"/>
                      </a:endParaRPr>
                    </a:p>
                  </a:txBody>
                  <a:tcPr anchor="ctr"/>
                </a:tc>
                <a:tc>
                  <a:txBody>
                    <a:bodyPr/>
                    <a:lstStyle/>
                    <a:p>
                      <a:r>
                        <a:rPr lang="zh-CN" altLang="en-US" dirty="0"/>
                        <a:t>参数值</a:t>
                      </a:r>
                      <a:endParaRPr lang="zh-CN" altLang="en-US" dirty="0">
                        <a:latin typeface="+mj-ea"/>
                        <a:ea typeface="+mj-ea"/>
                        <a:cs typeface="Times New Roman" panose="02020603050405020304" pitchFamily="18" charset="0"/>
                      </a:endParaRPr>
                    </a:p>
                  </a:txBody>
                  <a:tcPr anchor="ctr"/>
                </a:tc>
                <a:extLst>
                  <a:ext uri="{0D108BD9-81ED-4DB2-BD59-A6C34878D82A}">
                    <a16:rowId xmlns:a16="http://schemas.microsoft.com/office/drawing/2014/main" val="10000"/>
                  </a:ext>
                </a:extLst>
              </a:tr>
              <a:tr h="504758">
                <a:tc>
                  <a:txBody>
                    <a:bodyPr/>
                    <a:lstStyle/>
                    <a:p>
                      <a:r>
                        <a:rPr lang="en-US" altLang="zh-CN" sz="1800" kern="1200" dirty="0" err="1">
                          <a:effectLst/>
                        </a:rPr>
                        <a:t>serverName</a:t>
                      </a:r>
                      <a:endParaRPr lang="zh-CN" altLang="en-US" dirty="0">
                        <a:latin typeface="+mj-ea"/>
                        <a:ea typeface="+mj-ea"/>
                        <a:cs typeface="Times New Roman" panose="02020603050405020304" pitchFamily="18" charset="0"/>
                      </a:endParaRPr>
                    </a:p>
                  </a:txBody>
                  <a:tcPr anchor="ctr"/>
                </a:tc>
                <a:tc>
                  <a:txBody>
                    <a:bodyPr/>
                    <a:lstStyle/>
                    <a:p>
                      <a:r>
                        <a:rPr lang="en-US" altLang="zh-CN" dirty="0"/>
                        <a:t>${</a:t>
                      </a:r>
                      <a:r>
                        <a:rPr lang="en-US" altLang="zh-CN" dirty="0" err="1"/>
                        <a:t>productKey</a:t>
                      </a:r>
                      <a:r>
                        <a:rPr lang="en-US" altLang="zh-CN" dirty="0"/>
                        <a:t>}.iot-as-mqtt.cn-shanghai.aliyuncs.com</a:t>
                      </a:r>
                      <a:endParaRPr lang="zh-CN" altLang="en-US" dirty="0">
                        <a:latin typeface="+mj-ea"/>
                        <a:ea typeface="+mj-ea"/>
                        <a:cs typeface="Times New Roman" panose="02020603050405020304" pitchFamily="18" charset="0"/>
                      </a:endParaRPr>
                    </a:p>
                  </a:txBody>
                  <a:tcPr anchor="ctr"/>
                </a:tc>
                <a:extLst>
                  <a:ext uri="{0D108BD9-81ED-4DB2-BD59-A6C34878D82A}">
                    <a16:rowId xmlns:a16="http://schemas.microsoft.com/office/drawing/2014/main" val="10001"/>
                  </a:ext>
                </a:extLst>
              </a:tr>
              <a:tr h="457200">
                <a:tc>
                  <a:txBody>
                    <a:bodyPr/>
                    <a:lstStyle/>
                    <a:p>
                      <a:r>
                        <a:rPr lang="en-US" altLang="zh-CN" dirty="0"/>
                        <a:t>port</a:t>
                      </a:r>
                      <a:endParaRPr lang="zh-CN" altLang="en-US" dirty="0">
                        <a:latin typeface="+mj-ea"/>
                        <a:ea typeface="+mj-ea"/>
                        <a:cs typeface="Times New Roman" panose="02020603050405020304" pitchFamily="18" charset="0"/>
                      </a:endParaRPr>
                    </a:p>
                  </a:txBody>
                  <a:tcPr anchor="ctr"/>
                </a:tc>
                <a:tc>
                  <a:txBody>
                    <a:bodyPr/>
                    <a:lstStyle/>
                    <a:p>
                      <a:r>
                        <a:rPr lang="en-US" altLang="zh-CN" dirty="0"/>
                        <a:t>1883</a:t>
                      </a:r>
                      <a:endParaRPr lang="zh-CN" altLang="en-US" dirty="0">
                        <a:latin typeface="+mj-ea"/>
                        <a:ea typeface="+mj-ea"/>
                        <a:cs typeface="Times New Roman" panose="02020603050405020304" pitchFamily="18" charset="0"/>
                      </a:endParaRPr>
                    </a:p>
                  </a:txBody>
                  <a:tcPr anchor="ctr"/>
                </a:tc>
                <a:extLst>
                  <a:ext uri="{0D108BD9-81ED-4DB2-BD59-A6C34878D82A}">
                    <a16:rowId xmlns:a16="http://schemas.microsoft.com/office/drawing/2014/main" val="10002"/>
                  </a:ext>
                </a:extLst>
              </a:tr>
              <a:tr h="1096047">
                <a:tc>
                  <a:txBody>
                    <a:bodyPr/>
                    <a:lstStyle/>
                    <a:p>
                      <a:r>
                        <a:rPr lang="en-US" altLang="zh-CN" sz="1800" kern="1200" dirty="0" err="1">
                          <a:effectLst/>
                        </a:rPr>
                        <a:t>clientName</a:t>
                      </a:r>
                      <a:endParaRPr lang="zh-CN" altLang="en-US" dirty="0">
                        <a:latin typeface="+mj-ea"/>
                        <a:ea typeface="+mj-ea"/>
                        <a:cs typeface="Times New Roman" panose="02020603050405020304" pitchFamily="18" charset="0"/>
                      </a:endParaRPr>
                    </a:p>
                  </a:txBody>
                  <a:tcPr anchor="ctr"/>
                </a:tc>
                <a:tc>
                  <a:txBody>
                    <a:bodyPr/>
                    <a:lstStyle/>
                    <a:p>
                      <a:r>
                        <a:rPr lang="en-US" altLang="zh-CN" dirty="0" err="1"/>
                        <a:t>clientId</a:t>
                      </a:r>
                      <a:r>
                        <a:rPr lang="en-US" altLang="zh-CN" dirty="0"/>
                        <a:t>+“|</a:t>
                      </a:r>
                      <a:r>
                        <a:rPr lang="en-US" altLang="zh-CN" dirty="0" err="1"/>
                        <a:t>securemode</a:t>
                      </a:r>
                      <a:r>
                        <a:rPr lang="en-US" altLang="zh-CN" dirty="0"/>
                        <a:t>=</a:t>
                      </a:r>
                      <a:r>
                        <a:rPr lang="en-US" altLang="zh-CN" dirty="0" err="1"/>
                        <a:t>x,signmethod</a:t>
                      </a:r>
                      <a:r>
                        <a:rPr lang="en-US" altLang="zh-CN" dirty="0"/>
                        <a:t>=</a:t>
                      </a:r>
                      <a:r>
                        <a:rPr lang="en-US" altLang="zh-CN" dirty="0" err="1"/>
                        <a:t>xxxxxx,timestamp</a:t>
                      </a:r>
                      <a:r>
                        <a:rPr lang="en-US" altLang="zh-CN" dirty="0"/>
                        <a:t>=</a:t>
                      </a:r>
                      <a:r>
                        <a:rPr lang="en-US" altLang="zh-CN" dirty="0" err="1"/>
                        <a:t>xxxxxx</a:t>
                      </a:r>
                      <a:r>
                        <a:rPr lang="en-US" altLang="zh-CN" dirty="0"/>
                        <a:t>|”</a:t>
                      </a:r>
                      <a:r>
                        <a:rPr lang="zh-CN" altLang="en-US" dirty="0"/>
                        <a:t>，其中，</a:t>
                      </a:r>
                      <a:r>
                        <a:rPr lang="en-US" altLang="zh-CN" dirty="0" err="1"/>
                        <a:t>clientId</a:t>
                      </a:r>
                      <a:r>
                        <a:rPr lang="zh-CN" altLang="en-US" dirty="0"/>
                        <a:t>由用户自定义，</a:t>
                      </a:r>
                      <a:r>
                        <a:rPr lang="en-US" altLang="zh-CN" dirty="0"/>
                        <a:t>64</a:t>
                      </a:r>
                      <a:r>
                        <a:rPr lang="zh-CN" altLang="en-US" dirty="0"/>
                        <a:t>字符以内；</a:t>
                      </a:r>
                      <a:r>
                        <a:rPr lang="en-US" altLang="zh-CN" dirty="0"/>
                        <a:t>timestamp</a:t>
                      </a:r>
                      <a:r>
                        <a:rPr lang="zh-CN" altLang="en-US" dirty="0"/>
                        <a:t>表示当前时间；</a:t>
                      </a:r>
                      <a:r>
                        <a:rPr lang="en-US" altLang="zh-CN" dirty="0" err="1"/>
                        <a:t>signmethod</a:t>
                      </a:r>
                      <a:r>
                        <a:rPr lang="zh-CN" altLang="en-US" dirty="0"/>
                        <a:t>代表签名算法类型，支持</a:t>
                      </a:r>
                      <a:r>
                        <a:rPr lang="en-US" altLang="zh-CN" dirty="0"/>
                        <a:t>hmacSha1</a:t>
                      </a:r>
                      <a:r>
                        <a:rPr lang="zh-CN" altLang="en-US" dirty="0"/>
                        <a:t>，</a:t>
                      </a:r>
                      <a:r>
                        <a:rPr lang="en-US" altLang="zh-CN" dirty="0"/>
                        <a:t>hmacSha256</a:t>
                      </a:r>
                      <a:r>
                        <a:rPr lang="zh-CN" altLang="en-US" dirty="0"/>
                        <a:t>，</a:t>
                      </a:r>
                      <a:r>
                        <a:rPr lang="en-US" altLang="zh-CN" dirty="0"/>
                        <a:t>hmacMd5</a:t>
                      </a:r>
                      <a:r>
                        <a:rPr lang="zh-CN" altLang="en-US" dirty="0"/>
                        <a:t>；</a:t>
                      </a:r>
                      <a:r>
                        <a:rPr lang="en-US" altLang="zh-CN" dirty="0" err="1"/>
                        <a:t>securemode</a:t>
                      </a:r>
                      <a:r>
                        <a:rPr lang="zh-CN" altLang="en-US" dirty="0"/>
                        <a:t>代表目前安全模式，可取</a:t>
                      </a:r>
                      <a:r>
                        <a:rPr lang="en-US" altLang="zh-CN" dirty="0"/>
                        <a:t>2</a:t>
                      </a:r>
                      <a:r>
                        <a:rPr lang="zh-CN" altLang="en-US" dirty="0"/>
                        <a:t>（</a:t>
                      </a:r>
                      <a:r>
                        <a:rPr lang="en-US" altLang="zh-CN" dirty="0"/>
                        <a:t>TLS</a:t>
                      </a:r>
                      <a:r>
                        <a:rPr lang="zh-CN" altLang="en-US" dirty="0"/>
                        <a:t>直连模式），</a:t>
                      </a:r>
                      <a:r>
                        <a:rPr lang="en-US" altLang="zh-CN" dirty="0"/>
                        <a:t>3</a:t>
                      </a:r>
                      <a:r>
                        <a:rPr lang="zh-CN" altLang="en-US" dirty="0"/>
                        <a:t>（</a:t>
                      </a:r>
                      <a:r>
                        <a:rPr lang="en-US" altLang="zh-CN" dirty="0"/>
                        <a:t>TCP</a:t>
                      </a:r>
                      <a:r>
                        <a:rPr lang="zh-CN" altLang="en-US" dirty="0"/>
                        <a:t>直连模式）</a:t>
                      </a:r>
                      <a:endParaRPr lang="zh-CN" altLang="en-US" dirty="0">
                        <a:latin typeface="+mj-ea"/>
                        <a:ea typeface="+mj-ea"/>
                        <a:cs typeface="Times New Roman" panose="02020603050405020304" pitchFamily="18" charset="0"/>
                      </a:endParaRPr>
                    </a:p>
                  </a:txBody>
                  <a:tcPr anchor="ctr"/>
                </a:tc>
                <a:extLst>
                  <a:ext uri="{0D108BD9-81ED-4DB2-BD59-A6C34878D82A}">
                    <a16:rowId xmlns:a16="http://schemas.microsoft.com/office/drawing/2014/main" val="10003"/>
                  </a:ext>
                </a:extLst>
              </a:tr>
              <a:tr h="495886">
                <a:tc>
                  <a:txBody>
                    <a:bodyPr/>
                    <a:lstStyle/>
                    <a:p>
                      <a:r>
                        <a:rPr lang="en-US" altLang="zh-CN" dirty="0" err="1"/>
                        <a:t>userName</a:t>
                      </a:r>
                      <a:endParaRPr lang="zh-CN" altLang="en-US" dirty="0">
                        <a:latin typeface="+mj-ea"/>
                        <a:ea typeface="+mj-ea"/>
                        <a:cs typeface="Times New Roman" panose="02020603050405020304" pitchFamily="18" charset="0"/>
                      </a:endParaRPr>
                    </a:p>
                  </a:txBody>
                  <a:tcPr anchor="ctr"/>
                </a:tc>
                <a:tc>
                  <a:txBody>
                    <a:bodyPr/>
                    <a:lstStyle/>
                    <a:p>
                      <a:r>
                        <a:rPr lang="en-US" altLang="zh-CN" dirty="0" err="1"/>
                        <a:t>deviceName</a:t>
                      </a:r>
                      <a:r>
                        <a:rPr lang="en-US" altLang="zh-CN" dirty="0"/>
                        <a:t>+"&amp;"+</a:t>
                      </a:r>
                      <a:r>
                        <a:rPr lang="en-US" altLang="zh-CN" dirty="0" err="1"/>
                        <a:t>productKey</a:t>
                      </a:r>
                      <a:endParaRPr lang="zh-CN" altLang="en-US" dirty="0">
                        <a:latin typeface="+mj-ea"/>
                        <a:ea typeface="+mj-ea"/>
                        <a:cs typeface="Times New Roman" panose="02020603050405020304" pitchFamily="18" charset="0"/>
                      </a:endParaRPr>
                    </a:p>
                  </a:txBody>
                  <a:tcPr anchor="ctr"/>
                </a:tc>
                <a:extLst>
                  <a:ext uri="{0D108BD9-81ED-4DB2-BD59-A6C34878D82A}">
                    <a16:rowId xmlns:a16="http://schemas.microsoft.com/office/drawing/2014/main" val="10004"/>
                  </a:ext>
                </a:extLst>
              </a:tr>
              <a:tr h="767233">
                <a:tc>
                  <a:txBody>
                    <a:bodyPr/>
                    <a:lstStyle/>
                    <a:p>
                      <a:r>
                        <a:rPr lang="en-US" altLang="zh-CN" sz="1800" kern="1200" dirty="0" err="1">
                          <a:effectLst/>
                        </a:rPr>
                        <a:t>passWord</a:t>
                      </a:r>
                      <a:endParaRPr lang="zh-CN" altLang="en-US" dirty="0">
                        <a:latin typeface="+mj-ea"/>
                        <a:ea typeface="+mj-ea"/>
                        <a:cs typeface="Times New Roman" panose="02020603050405020304" pitchFamily="18" charset="0"/>
                      </a:endParaRPr>
                    </a:p>
                  </a:txBody>
                  <a:tcPr anchor="ctr"/>
                </a:tc>
                <a:tc>
                  <a:txBody>
                    <a:bodyPr/>
                    <a:lstStyle/>
                    <a:p>
                      <a:r>
                        <a:rPr lang="en-US" altLang="zh-CN" dirty="0" err="1"/>
                        <a:t>sign_hmac</a:t>
                      </a:r>
                      <a:r>
                        <a:rPr lang="en-US" altLang="zh-CN" dirty="0"/>
                        <a:t>(</a:t>
                      </a:r>
                      <a:r>
                        <a:rPr lang="en-US" altLang="zh-CN" dirty="0" err="1"/>
                        <a:t>deviceSecret</a:t>
                      </a:r>
                      <a:r>
                        <a:rPr lang="en-US" altLang="zh-CN" dirty="0"/>
                        <a:t>,</a:t>
                      </a:r>
                      <a:r>
                        <a:rPr lang="en-US" altLang="zh-CN" baseline="0" dirty="0"/>
                        <a:t> </a:t>
                      </a:r>
                      <a:r>
                        <a:rPr lang="en-US" altLang="zh-CN" dirty="0"/>
                        <a:t>content)</a:t>
                      </a:r>
                      <a:r>
                        <a:rPr lang="zh-CN" altLang="en-US" dirty="0"/>
                        <a:t>，</a:t>
                      </a:r>
                      <a:r>
                        <a:rPr lang="zh-CN" altLang="en-US" baseline="0" dirty="0"/>
                        <a:t>其中，</a:t>
                      </a:r>
                      <a:r>
                        <a:rPr lang="en-US" altLang="zh-CN" baseline="0" dirty="0"/>
                        <a:t>content = </a:t>
                      </a:r>
                      <a:r>
                        <a:rPr lang="zh-CN" altLang="en-US" dirty="0"/>
                        <a:t>（</a:t>
                      </a:r>
                      <a:r>
                        <a:rPr lang="en-US" altLang="zh-CN" dirty="0" err="1"/>
                        <a:t>productKey</a:t>
                      </a:r>
                      <a:r>
                        <a:rPr lang="en-US" altLang="zh-CN" dirty="0"/>
                        <a:t>,</a:t>
                      </a:r>
                      <a:r>
                        <a:rPr lang="en-US" altLang="zh-CN" baseline="0" dirty="0"/>
                        <a:t> </a:t>
                      </a:r>
                      <a:r>
                        <a:rPr lang="en-US" altLang="zh-CN" dirty="0" err="1"/>
                        <a:t>deviceName</a:t>
                      </a:r>
                      <a:r>
                        <a:rPr lang="en-US" altLang="zh-CN" dirty="0"/>
                        <a:t>,</a:t>
                      </a:r>
                      <a:r>
                        <a:rPr lang="en-US" altLang="zh-CN" baseline="0" dirty="0"/>
                        <a:t> </a:t>
                      </a:r>
                      <a:r>
                        <a:rPr lang="en-US" altLang="zh-CN" dirty="0"/>
                        <a:t>timestamp,</a:t>
                      </a:r>
                      <a:r>
                        <a:rPr lang="en-US" altLang="zh-CN" baseline="0" dirty="0"/>
                        <a:t> </a:t>
                      </a:r>
                      <a:r>
                        <a:rPr lang="en-US" altLang="zh-CN" dirty="0" err="1"/>
                        <a:t>clientId</a:t>
                      </a:r>
                      <a:r>
                        <a:rPr lang="zh-CN" altLang="en-US" dirty="0"/>
                        <a:t>）</a:t>
                      </a:r>
                      <a:endParaRPr lang="zh-CN" altLang="en-US" dirty="0">
                        <a:latin typeface="+mj-ea"/>
                        <a:ea typeface="+mj-ea"/>
                        <a:cs typeface="Times New Roman" panose="02020603050405020304" pitchFamily="18" charset="0"/>
                      </a:endParaRPr>
                    </a:p>
                  </a:txBody>
                  <a:tcPr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62537682"/>
      </p:ext>
    </p:extLst>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dirty="0"/>
              <a:t>IoT Studio + </a:t>
            </a:r>
            <a:r>
              <a:rPr lang="en-US" altLang="zh-CN" dirty="0" err="1"/>
              <a:t>TinyLink</a:t>
            </a:r>
            <a:r>
              <a:rPr lang="zh-CN" altLang="en-US" dirty="0"/>
              <a:t>设备接入示例</a:t>
            </a:r>
          </a:p>
        </p:txBody>
      </p:sp>
      <p:sp>
        <p:nvSpPr>
          <p:cNvPr id="8" name="内容占位符 7"/>
          <p:cNvSpPr>
            <a:spLocks noGrp="1"/>
          </p:cNvSpPr>
          <p:nvPr>
            <p:ph idx="1"/>
          </p:nvPr>
        </p:nvSpPr>
        <p:spPr/>
        <p:txBody>
          <a:bodyPr/>
          <a:lstStyle/>
          <a:p>
            <a:r>
              <a:rPr lang="zh-CN" altLang="en-US"/>
              <a:t>假设设备相关属性如下</a:t>
            </a:r>
            <a:endParaRPr lang="en-US" altLang="zh-CN"/>
          </a:p>
          <a:p>
            <a:endParaRPr lang="en-US" altLang="zh-CN"/>
          </a:p>
          <a:p>
            <a:endParaRPr lang="en-US" altLang="zh-CN"/>
          </a:p>
          <a:p>
            <a:endParaRPr lang="en-US" altLang="zh-CN"/>
          </a:p>
          <a:p>
            <a:r>
              <a:rPr lang="zh-CN" altLang="en-US"/>
              <a:t>设备使用</a:t>
            </a:r>
            <a:r>
              <a:rPr lang="en-US" altLang="zh-CN"/>
              <a:t>MQTT</a:t>
            </a:r>
            <a:r>
              <a:rPr lang="zh-CN" altLang="en-US"/>
              <a:t>连接</a:t>
            </a:r>
            <a:r>
              <a:rPr lang="en-US" altLang="zh-CN"/>
              <a:t>Link Develop</a:t>
            </a:r>
            <a:r>
              <a:rPr lang="zh-CN" altLang="en-US"/>
              <a:t>参数</a:t>
            </a:r>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dirty="0"/>
          </a:p>
        </p:txBody>
      </p:sp>
      <p:graphicFrame>
        <p:nvGraphicFramePr>
          <p:cNvPr id="5" name="表格 4"/>
          <p:cNvGraphicFramePr>
            <a:graphicFrameLocks noGrp="1"/>
          </p:cNvGraphicFramePr>
          <p:nvPr>
            <p:extLst>
              <p:ext uri="{D42A27DB-BD31-4B8C-83A1-F6EECF244321}">
                <p14:modId xmlns:p14="http://schemas.microsoft.com/office/powerpoint/2010/main" val="814772167"/>
              </p:ext>
            </p:extLst>
          </p:nvPr>
        </p:nvGraphicFramePr>
        <p:xfrm>
          <a:off x="454269" y="1625599"/>
          <a:ext cx="8461131" cy="1349688"/>
        </p:xfrm>
        <a:graphic>
          <a:graphicData uri="http://schemas.openxmlformats.org/drawingml/2006/table">
            <a:tbl>
              <a:tblPr firstRow="1" bandRow="1">
                <a:tableStyleId>{93296810-A885-4BE3-A3E7-6D5BEEA58F35}</a:tableStyleId>
              </a:tblPr>
              <a:tblGrid>
                <a:gridCol w="1047922">
                  <a:extLst>
                    <a:ext uri="{9D8B030D-6E8A-4147-A177-3AD203B41FA5}">
                      <a16:colId xmlns:a16="http://schemas.microsoft.com/office/drawing/2014/main" val="20000"/>
                    </a:ext>
                  </a:extLst>
                </a:gridCol>
                <a:gridCol w="1543234">
                  <a:extLst>
                    <a:ext uri="{9D8B030D-6E8A-4147-A177-3AD203B41FA5}">
                      <a16:colId xmlns:a16="http://schemas.microsoft.com/office/drawing/2014/main" val="20001"/>
                    </a:ext>
                  </a:extLst>
                </a:gridCol>
                <a:gridCol w="1441558">
                  <a:extLst>
                    <a:ext uri="{9D8B030D-6E8A-4147-A177-3AD203B41FA5}">
                      <a16:colId xmlns:a16="http://schemas.microsoft.com/office/drawing/2014/main" val="20002"/>
                    </a:ext>
                  </a:extLst>
                </a:gridCol>
                <a:gridCol w="1314372">
                  <a:extLst>
                    <a:ext uri="{9D8B030D-6E8A-4147-A177-3AD203B41FA5}">
                      <a16:colId xmlns:a16="http://schemas.microsoft.com/office/drawing/2014/main" val="20003"/>
                    </a:ext>
                  </a:extLst>
                </a:gridCol>
                <a:gridCol w="1549014">
                  <a:extLst>
                    <a:ext uri="{9D8B030D-6E8A-4147-A177-3AD203B41FA5}">
                      <a16:colId xmlns:a16="http://schemas.microsoft.com/office/drawing/2014/main" val="20004"/>
                    </a:ext>
                  </a:extLst>
                </a:gridCol>
                <a:gridCol w="1565031">
                  <a:extLst>
                    <a:ext uri="{9D8B030D-6E8A-4147-A177-3AD203B41FA5}">
                      <a16:colId xmlns:a16="http://schemas.microsoft.com/office/drawing/2014/main" val="20005"/>
                    </a:ext>
                  </a:extLst>
                </a:gridCol>
              </a:tblGrid>
              <a:tr h="677986">
                <a:tc>
                  <a:txBody>
                    <a:bodyPr/>
                    <a:lstStyle/>
                    <a:p>
                      <a:r>
                        <a:rPr lang="en-US" altLang="zh-CN" sz="2000" dirty="0" err="1">
                          <a:latin typeface="+mj-ea"/>
                          <a:ea typeface="+mj-ea"/>
                        </a:rPr>
                        <a:t>clientId</a:t>
                      </a:r>
                      <a:endParaRPr lang="zh-CN" altLang="en-US" sz="2000" dirty="0">
                        <a:latin typeface="+mj-ea"/>
                        <a:ea typeface="+mj-ea"/>
                        <a:cs typeface="Times New Roman" panose="02020603050405020304" pitchFamily="18" charset="0"/>
                      </a:endParaRPr>
                    </a:p>
                  </a:txBody>
                  <a:tcPr/>
                </a:tc>
                <a:tc>
                  <a:txBody>
                    <a:bodyPr/>
                    <a:lstStyle/>
                    <a:p>
                      <a:r>
                        <a:rPr lang="en-US" altLang="zh-CN" sz="2000" dirty="0" err="1">
                          <a:latin typeface="+mj-ea"/>
                          <a:ea typeface="+mj-ea"/>
                        </a:rPr>
                        <a:t>deviceName</a:t>
                      </a:r>
                      <a:endParaRPr lang="zh-CN" altLang="en-US" sz="2000" dirty="0">
                        <a:latin typeface="+mj-ea"/>
                        <a:ea typeface="+mj-ea"/>
                        <a:cs typeface="Times New Roman" panose="02020603050405020304" pitchFamily="18" charset="0"/>
                      </a:endParaRPr>
                    </a:p>
                  </a:txBody>
                  <a:tcPr/>
                </a:tc>
                <a:tc>
                  <a:txBody>
                    <a:bodyPr/>
                    <a:lstStyle/>
                    <a:p>
                      <a:r>
                        <a:rPr lang="en-US" altLang="zh-CN" sz="2000" dirty="0" err="1">
                          <a:latin typeface="+mj-ea"/>
                          <a:ea typeface="+mj-ea"/>
                        </a:rPr>
                        <a:t>productKey</a:t>
                      </a:r>
                      <a:endParaRPr lang="zh-CN" altLang="en-US" sz="2000" dirty="0">
                        <a:latin typeface="+mj-ea"/>
                        <a:ea typeface="+mj-ea"/>
                        <a:cs typeface="Times New Roman" panose="02020603050405020304" pitchFamily="18" charset="0"/>
                      </a:endParaRPr>
                    </a:p>
                  </a:txBody>
                  <a:tcPr/>
                </a:tc>
                <a:tc>
                  <a:txBody>
                    <a:bodyPr/>
                    <a:lstStyle/>
                    <a:p>
                      <a:r>
                        <a:rPr lang="en-US" altLang="zh-CN" sz="2000" dirty="0" err="1">
                          <a:latin typeface="+mj-ea"/>
                          <a:ea typeface="+mj-ea"/>
                        </a:rPr>
                        <a:t>tinestamp</a:t>
                      </a:r>
                      <a:endParaRPr lang="zh-CN" altLang="en-US" sz="2000" dirty="0">
                        <a:latin typeface="+mj-ea"/>
                        <a:ea typeface="+mj-ea"/>
                        <a:cs typeface="Times New Roman" panose="02020603050405020304" pitchFamily="18" charset="0"/>
                      </a:endParaRPr>
                    </a:p>
                  </a:txBody>
                  <a:tcPr/>
                </a:tc>
                <a:tc>
                  <a:txBody>
                    <a:bodyPr/>
                    <a:lstStyle/>
                    <a:p>
                      <a:r>
                        <a:rPr lang="en-US" altLang="zh-CN" sz="2000" dirty="0" err="1">
                          <a:latin typeface="+mj-ea"/>
                          <a:ea typeface="+mj-ea"/>
                        </a:rPr>
                        <a:t>signmethod</a:t>
                      </a:r>
                      <a:endParaRPr lang="zh-CN" altLang="en-US" sz="2000" dirty="0">
                        <a:latin typeface="+mj-ea"/>
                        <a:ea typeface="+mj-ea"/>
                        <a:cs typeface="Times New Roman" panose="02020603050405020304" pitchFamily="18" charset="0"/>
                      </a:endParaRPr>
                    </a:p>
                  </a:txBody>
                  <a:tcPr/>
                </a:tc>
                <a:tc>
                  <a:txBody>
                    <a:bodyPr/>
                    <a:lstStyle/>
                    <a:p>
                      <a:r>
                        <a:rPr lang="en-US" altLang="zh-CN" sz="2000" dirty="0" err="1">
                          <a:latin typeface="+mj-ea"/>
                          <a:ea typeface="+mj-ea"/>
                        </a:rPr>
                        <a:t>deviceSecret</a:t>
                      </a:r>
                      <a:endParaRPr lang="zh-CN" altLang="en-US" sz="2000" dirty="0">
                        <a:latin typeface="+mj-ea"/>
                        <a:ea typeface="+mj-ea"/>
                        <a:cs typeface="Times New Roman" panose="02020603050405020304" pitchFamily="18" charset="0"/>
                      </a:endParaRPr>
                    </a:p>
                  </a:txBody>
                  <a:tcPr/>
                </a:tc>
                <a:extLst>
                  <a:ext uri="{0D108BD9-81ED-4DB2-BD59-A6C34878D82A}">
                    <a16:rowId xmlns:a16="http://schemas.microsoft.com/office/drawing/2014/main" val="10000"/>
                  </a:ext>
                </a:extLst>
              </a:tr>
              <a:tr h="648648">
                <a:tc>
                  <a:txBody>
                    <a:bodyPr/>
                    <a:lstStyle/>
                    <a:p>
                      <a:r>
                        <a:rPr lang="en-US" altLang="zh-CN" sz="2000" dirty="0">
                          <a:latin typeface="+mj-ea"/>
                          <a:ea typeface="+mj-ea"/>
                        </a:rPr>
                        <a:t>12345</a:t>
                      </a:r>
                      <a:endParaRPr lang="zh-CN" altLang="en-US" sz="2000" dirty="0">
                        <a:latin typeface="+mj-ea"/>
                        <a:ea typeface="+mj-ea"/>
                        <a:cs typeface="Times New Roman" panose="02020603050405020304" pitchFamily="18" charset="0"/>
                      </a:endParaRPr>
                    </a:p>
                  </a:txBody>
                  <a:tcPr/>
                </a:tc>
                <a:tc>
                  <a:txBody>
                    <a:bodyPr/>
                    <a:lstStyle/>
                    <a:p>
                      <a:r>
                        <a:rPr lang="en-US" altLang="zh-CN" sz="2000" dirty="0">
                          <a:latin typeface="+mj-ea"/>
                          <a:ea typeface="+mj-ea"/>
                        </a:rPr>
                        <a:t>device</a:t>
                      </a:r>
                      <a:endParaRPr lang="zh-CN" altLang="en-US" sz="2000" dirty="0">
                        <a:latin typeface="+mj-ea"/>
                        <a:ea typeface="+mj-ea"/>
                        <a:cs typeface="Times New Roman" panose="02020603050405020304" pitchFamily="18" charset="0"/>
                      </a:endParaRPr>
                    </a:p>
                  </a:txBody>
                  <a:tcPr/>
                </a:tc>
                <a:tc>
                  <a:txBody>
                    <a:bodyPr/>
                    <a:lstStyle/>
                    <a:p>
                      <a:r>
                        <a:rPr lang="en-US" altLang="zh-CN" sz="2000" dirty="0" err="1">
                          <a:latin typeface="+mj-ea"/>
                          <a:ea typeface="+mj-ea"/>
                        </a:rPr>
                        <a:t>pk</a:t>
                      </a:r>
                      <a:endParaRPr lang="zh-CN" altLang="en-US" sz="2000" dirty="0">
                        <a:latin typeface="+mj-ea"/>
                        <a:ea typeface="+mj-ea"/>
                        <a:cs typeface="Times New Roman" panose="02020603050405020304" pitchFamily="18" charset="0"/>
                      </a:endParaRPr>
                    </a:p>
                  </a:txBody>
                  <a:tcPr/>
                </a:tc>
                <a:tc>
                  <a:txBody>
                    <a:bodyPr/>
                    <a:lstStyle/>
                    <a:p>
                      <a:r>
                        <a:rPr lang="en-US" altLang="zh-CN" sz="2000" dirty="0">
                          <a:latin typeface="+mj-ea"/>
                          <a:ea typeface="+mj-ea"/>
                        </a:rPr>
                        <a:t>789</a:t>
                      </a:r>
                      <a:endParaRPr lang="zh-CN" altLang="en-US" sz="2000" dirty="0">
                        <a:latin typeface="+mj-ea"/>
                        <a:ea typeface="+mj-ea"/>
                        <a:cs typeface="Times New Roman" panose="02020603050405020304" pitchFamily="18" charset="0"/>
                      </a:endParaRPr>
                    </a:p>
                  </a:txBody>
                  <a:tcPr/>
                </a:tc>
                <a:tc>
                  <a:txBody>
                    <a:bodyPr/>
                    <a:lstStyle/>
                    <a:p>
                      <a:r>
                        <a:rPr lang="en-US" altLang="zh-CN" sz="2000" dirty="0">
                          <a:latin typeface="+mj-ea"/>
                          <a:ea typeface="+mj-ea"/>
                        </a:rPr>
                        <a:t>hmacsha1</a:t>
                      </a:r>
                      <a:endParaRPr lang="zh-CN" altLang="en-US" sz="2000" dirty="0">
                        <a:latin typeface="+mj-ea"/>
                        <a:ea typeface="+mj-ea"/>
                        <a:cs typeface="Times New Roman" panose="02020603050405020304" pitchFamily="18" charset="0"/>
                      </a:endParaRPr>
                    </a:p>
                  </a:txBody>
                  <a:tcPr/>
                </a:tc>
                <a:tc>
                  <a:txBody>
                    <a:bodyPr/>
                    <a:lstStyle/>
                    <a:p>
                      <a:r>
                        <a:rPr lang="en-US" altLang="zh-CN" sz="2000" dirty="0">
                          <a:latin typeface="+mj-ea"/>
                          <a:ea typeface="+mj-ea"/>
                        </a:rPr>
                        <a:t>secret</a:t>
                      </a:r>
                      <a:endParaRPr lang="zh-CN" altLang="en-US" sz="2000" dirty="0">
                        <a:latin typeface="+mj-ea"/>
                        <a:ea typeface="+mj-ea"/>
                        <a:cs typeface="Times New Roman" panose="02020603050405020304" pitchFamily="18" charset="0"/>
                      </a:endParaRPr>
                    </a:p>
                  </a:txBody>
                  <a:tcPr/>
                </a:tc>
                <a:extLst>
                  <a:ext uri="{0D108BD9-81ED-4DB2-BD59-A6C34878D82A}">
                    <a16:rowId xmlns:a16="http://schemas.microsoft.com/office/drawing/2014/main" val="10001"/>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2766493713"/>
              </p:ext>
            </p:extLst>
          </p:nvPr>
        </p:nvGraphicFramePr>
        <p:xfrm>
          <a:off x="454268" y="3540870"/>
          <a:ext cx="8461132" cy="2768600"/>
        </p:xfrm>
        <a:graphic>
          <a:graphicData uri="http://schemas.openxmlformats.org/drawingml/2006/table">
            <a:tbl>
              <a:tblPr firstRow="1" bandRow="1">
                <a:tableStyleId>{93296810-A885-4BE3-A3E7-6D5BEEA58F35}</a:tableStyleId>
              </a:tblPr>
              <a:tblGrid>
                <a:gridCol w="1585547">
                  <a:extLst>
                    <a:ext uri="{9D8B030D-6E8A-4147-A177-3AD203B41FA5}">
                      <a16:colId xmlns:a16="http://schemas.microsoft.com/office/drawing/2014/main" val="20000"/>
                    </a:ext>
                  </a:extLst>
                </a:gridCol>
                <a:gridCol w="6875585">
                  <a:extLst>
                    <a:ext uri="{9D8B030D-6E8A-4147-A177-3AD203B41FA5}">
                      <a16:colId xmlns:a16="http://schemas.microsoft.com/office/drawing/2014/main" val="20001"/>
                    </a:ext>
                  </a:extLst>
                </a:gridCol>
              </a:tblGrid>
              <a:tr h="370840">
                <a:tc>
                  <a:txBody>
                    <a:bodyPr/>
                    <a:lstStyle/>
                    <a:p>
                      <a:r>
                        <a:rPr lang="zh-CN" altLang="en-US" dirty="0"/>
                        <a:t>参数名称</a:t>
                      </a:r>
                      <a:endParaRPr lang="zh-CN" altLang="en-US" dirty="0">
                        <a:latin typeface="+mj-ea"/>
                        <a:ea typeface="+mj-ea"/>
                        <a:cs typeface="Times New Roman" panose="02020603050405020304" pitchFamily="18" charset="0"/>
                      </a:endParaRPr>
                    </a:p>
                  </a:txBody>
                  <a:tcPr/>
                </a:tc>
                <a:tc>
                  <a:txBody>
                    <a:bodyPr/>
                    <a:lstStyle/>
                    <a:p>
                      <a:r>
                        <a:rPr lang="zh-CN" altLang="en-US" dirty="0"/>
                        <a:t>参数值</a:t>
                      </a:r>
                      <a:endParaRPr lang="zh-CN" altLang="en-US" dirty="0">
                        <a:latin typeface="+mj-ea"/>
                        <a:ea typeface="+mj-ea"/>
                        <a:cs typeface="Times New Roman" panose="02020603050405020304" pitchFamily="18" charset="0"/>
                      </a:endParaRPr>
                    </a:p>
                  </a:txBody>
                  <a:tcPr/>
                </a:tc>
                <a:extLst>
                  <a:ext uri="{0D108BD9-81ED-4DB2-BD59-A6C34878D82A}">
                    <a16:rowId xmlns:a16="http://schemas.microsoft.com/office/drawing/2014/main" val="10000"/>
                  </a:ext>
                </a:extLst>
              </a:tr>
              <a:tr h="370840">
                <a:tc>
                  <a:txBody>
                    <a:bodyPr/>
                    <a:lstStyle/>
                    <a:p>
                      <a:r>
                        <a:rPr lang="en-US" altLang="zh-CN" dirty="0" err="1"/>
                        <a:t>serverName</a:t>
                      </a:r>
                      <a:endParaRPr lang="zh-CN" altLang="en-US" dirty="0">
                        <a:latin typeface="+mj-ea"/>
                        <a:ea typeface="+mj-ea"/>
                        <a:cs typeface="Times New Roman" panose="02020603050405020304" pitchFamily="18" charset="0"/>
                      </a:endParaRPr>
                    </a:p>
                  </a:txBody>
                  <a:tcPr/>
                </a:tc>
                <a:tc>
                  <a:txBody>
                    <a:bodyPr/>
                    <a:lstStyle/>
                    <a:p>
                      <a:r>
                        <a:rPr lang="en-US" altLang="zh-CN" dirty="0"/>
                        <a:t>pk.iot-as-mqtt.cn-shanghai.aliyuncs.com</a:t>
                      </a:r>
                      <a:endParaRPr lang="zh-CN" altLang="en-US" dirty="0">
                        <a:latin typeface="+mj-ea"/>
                        <a:ea typeface="+mj-ea"/>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r>
                        <a:rPr lang="en-US" altLang="zh-CN" dirty="0"/>
                        <a:t>port</a:t>
                      </a:r>
                      <a:endParaRPr lang="zh-CN" altLang="en-US" dirty="0">
                        <a:latin typeface="+mj-ea"/>
                        <a:ea typeface="+mj-ea"/>
                        <a:cs typeface="Times New Roman" panose="02020603050405020304" pitchFamily="18" charset="0"/>
                      </a:endParaRPr>
                    </a:p>
                  </a:txBody>
                  <a:tcPr/>
                </a:tc>
                <a:tc>
                  <a:txBody>
                    <a:bodyPr/>
                    <a:lstStyle/>
                    <a:p>
                      <a:r>
                        <a:rPr lang="en-US" altLang="zh-CN" dirty="0"/>
                        <a:t>1883</a:t>
                      </a:r>
                      <a:endParaRPr lang="zh-CN" altLang="en-US" dirty="0">
                        <a:latin typeface="+mj-ea"/>
                        <a:ea typeface="+mj-ea"/>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r>
                        <a:rPr lang="en-US" altLang="zh-CN" dirty="0" err="1"/>
                        <a:t>clientName</a:t>
                      </a:r>
                      <a:endParaRPr lang="zh-CN" altLang="en-US" dirty="0">
                        <a:latin typeface="+mj-ea"/>
                        <a:ea typeface="+mj-ea"/>
                        <a:cs typeface="Times New Roman" panose="02020603050405020304" pitchFamily="18" charset="0"/>
                      </a:endParaRPr>
                    </a:p>
                  </a:txBody>
                  <a:tcPr/>
                </a:tc>
                <a:tc>
                  <a:txBody>
                    <a:bodyPr/>
                    <a:lstStyle/>
                    <a:p>
                      <a:r>
                        <a:rPr lang="en-US" altLang="zh-CN" dirty="0"/>
                        <a:t>12345|securemode=3,signmethod=hmacsha1,timestamp=789|</a:t>
                      </a:r>
                      <a:endParaRPr lang="zh-CN" altLang="en-US" dirty="0">
                        <a:latin typeface="+mj-ea"/>
                        <a:ea typeface="+mj-ea"/>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r>
                        <a:rPr lang="en-US" altLang="zh-CN" dirty="0" err="1"/>
                        <a:t>userName</a:t>
                      </a:r>
                      <a:endParaRPr lang="en-US" altLang="zh-CN" dirty="0">
                        <a:latin typeface="+mj-ea"/>
                        <a:ea typeface="+mj-ea"/>
                        <a:cs typeface="Times New Roman" panose="02020603050405020304" pitchFamily="18" charset="0"/>
                      </a:endParaRPr>
                    </a:p>
                  </a:txBody>
                  <a:tcPr/>
                </a:tc>
                <a:tc>
                  <a:txBody>
                    <a:bodyPr/>
                    <a:lstStyle/>
                    <a:p>
                      <a:r>
                        <a:rPr lang="en-US" altLang="zh-CN" dirty="0" err="1"/>
                        <a:t>device&amp;pk</a:t>
                      </a:r>
                      <a:endParaRPr lang="zh-CN" altLang="en-US" dirty="0">
                        <a:latin typeface="+mj-ea"/>
                        <a:ea typeface="+mj-ea"/>
                        <a:cs typeface="Times New Roman" panose="02020603050405020304" pitchFamily="18" charset="0"/>
                      </a:endParaRPr>
                    </a:p>
                  </a:txBody>
                  <a:tcPr/>
                </a:tc>
                <a:extLst>
                  <a:ext uri="{0D108BD9-81ED-4DB2-BD59-A6C34878D82A}">
                    <a16:rowId xmlns:a16="http://schemas.microsoft.com/office/drawing/2014/main" val="10004"/>
                  </a:ext>
                </a:extLst>
              </a:tr>
              <a:tr h="370840">
                <a:tc>
                  <a:txBody>
                    <a:bodyPr/>
                    <a:lstStyle/>
                    <a:p>
                      <a:r>
                        <a:rPr lang="en-US" altLang="zh-CN" dirty="0" err="1"/>
                        <a:t>passWord</a:t>
                      </a:r>
                      <a:endParaRPr lang="en-US" altLang="zh-CN" dirty="0">
                        <a:latin typeface="+mj-ea"/>
                        <a:ea typeface="+mj-ea"/>
                        <a:cs typeface="Times New Roman" panose="02020603050405020304" pitchFamily="18" charset="0"/>
                      </a:endParaRPr>
                    </a:p>
                  </a:txBody>
                  <a:tcPr/>
                </a:tc>
                <a:tc>
                  <a:txBody>
                    <a:bodyPr/>
                    <a:lstStyle/>
                    <a:p>
                      <a:r>
                        <a:rPr lang="en-US" altLang="zh-CN" dirty="0"/>
                        <a:t>hmacsha1("secret","clientId12345deviceNamedeviceproductKeypktimestamp789").</a:t>
                      </a:r>
                      <a:r>
                        <a:rPr lang="en-US" altLang="zh-CN" dirty="0" err="1"/>
                        <a:t>toHexString</a:t>
                      </a:r>
                      <a:r>
                        <a:rPr lang="en-US" altLang="zh-CN" dirty="0"/>
                        <a:t>() = FAFD82A3D602B37FB0FA8B7892F24A477F851A14</a:t>
                      </a:r>
                      <a:endParaRPr lang="zh-CN" altLang="en-US" dirty="0">
                        <a:latin typeface="+mj-ea"/>
                        <a:ea typeface="+mj-ea"/>
                        <a:cs typeface="Times New Roman" panose="02020603050405020304" pitchFamily="18" charset="0"/>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70744174"/>
      </p:ext>
    </p:extLst>
  </p:cSld>
  <p:clrMapOvr>
    <a:masterClrMapping/>
  </p:clrMapOv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dirty="0"/>
              <a:t>IoT Studio + </a:t>
            </a:r>
            <a:r>
              <a:rPr lang="en-US" altLang="zh-CN" dirty="0" err="1"/>
              <a:t>TinyLink</a:t>
            </a:r>
            <a:r>
              <a:rPr lang="zh-CN" altLang="en-US" dirty="0"/>
              <a:t>设备开发示例</a:t>
            </a:r>
          </a:p>
        </p:txBody>
      </p:sp>
      <p:sp>
        <p:nvSpPr>
          <p:cNvPr id="8" name="内容占位符 7"/>
          <p:cNvSpPr>
            <a:spLocks noGrp="1"/>
          </p:cNvSpPr>
          <p:nvPr>
            <p:ph idx="1"/>
          </p:nvPr>
        </p:nvSpPr>
        <p:spPr/>
        <p:txBody>
          <a:bodyPr/>
          <a:lstStyle/>
          <a:p>
            <a:r>
              <a:rPr lang="zh-CN" altLang="en-US"/>
              <a:t>示例描述：基于</a:t>
            </a:r>
            <a:r>
              <a:rPr lang="en-US" altLang="zh-CN"/>
              <a:t>TinyLink</a:t>
            </a:r>
            <a:r>
              <a:rPr lang="zh-CN" altLang="en-US"/>
              <a:t>系统，开发智能教室座位使用统计系统设备端，接入</a:t>
            </a:r>
            <a:r>
              <a:rPr lang="en-US" altLang="zh-CN"/>
              <a:t>IoT Studio</a:t>
            </a:r>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dirty="0"/>
          </a:p>
        </p:txBody>
      </p:sp>
      <p:sp>
        <p:nvSpPr>
          <p:cNvPr id="7" name="矩形 6">
            <a:extLst>
              <a:ext uri="{FF2B5EF4-FFF2-40B4-BE49-F238E27FC236}">
                <a16:creationId xmlns:a16="http://schemas.microsoft.com/office/drawing/2014/main" id="{600FB7F4-7AEA-4850-A30C-6EAA0EA9DEAD}"/>
              </a:ext>
            </a:extLst>
          </p:cNvPr>
          <p:cNvSpPr/>
          <p:nvPr/>
        </p:nvSpPr>
        <p:spPr bwMode="auto">
          <a:xfrm>
            <a:off x="457201" y="1904157"/>
            <a:ext cx="8178800" cy="4848334"/>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sz="2200" dirty="0">
                <a:latin typeface="Courier New" panose="02070309020205020404" pitchFamily="49" charset="0"/>
                <a:cs typeface="Courier New" panose="02070309020205020404" pitchFamily="49" charset="0"/>
              </a:rPr>
              <a:t>TL_MQTT </a:t>
            </a:r>
            <a:r>
              <a:rPr lang="en-US" altLang="zh-CN" sz="2200" dirty="0" err="1">
                <a:latin typeface="Courier New" panose="02070309020205020404" pitchFamily="49" charset="0"/>
                <a:cs typeface="Courier New" panose="02070309020205020404" pitchFamily="49" charset="0"/>
              </a:rPr>
              <a:t>mqtt</a:t>
            </a:r>
            <a:r>
              <a:rPr lang="en-US" altLang="zh-CN" sz="2200" dirty="0">
                <a:latin typeface="Courier New" panose="02070309020205020404" pitchFamily="49" charset="0"/>
                <a:cs typeface="Courier New" panose="02070309020205020404" pitchFamily="49" charset="0"/>
              </a:rPr>
              <a:t>;</a:t>
            </a:r>
          </a:p>
          <a:p>
            <a:r>
              <a:rPr lang="en-US" altLang="zh-CN" sz="2200" dirty="0">
                <a:solidFill>
                  <a:srgbClr val="C00000"/>
                </a:solidFill>
                <a:latin typeface="Courier New" panose="02070309020205020404" pitchFamily="49" charset="0"/>
                <a:cs typeface="Courier New" panose="02070309020205020404" pitchFamily="49" charset="0"/>
              </a:rPr>
              <a:t>// </a:t>
            </a:r>
            <a:r>
              <a:rPr lang="zh-CN" altLang="en-US" sz="2200" dirty="0">
                <a:solidFill>
                  <a:srgbClr val="C00000"/>
                </a:solidFill>
                <a:latin typeface="Courier New" panose="02070309020205020404" pitchFamily="49" charset="0"/>
                <a:cs typeface="Courier New" panose="02070309020205020404" pitchFamily="49" charset="0"/>
              </a:rPr>
              <a:t>设置</a:t>
            </a:r>
            <a:r>
              <a:rPr lang="en-US" altLang="zh-CN" sz="2200" dirty="0">
                <a:solidFill>
                  <a:srgbClr val="C00000"/>
                </a:solidFill>
                <a:latin typeface="Courier New" panose="02070309020205020404" pitchFamily="49" charset="0"/>
                <a:cs typeface="Courier New" panose="02070309020205020404" pitchFamily="49" charset="0"/>
              </a:rPr>
              <a:t>MQTT</a:t>
            </a:r>
            <a:r>
              <a:rPr lang="zh-CN" altLang="en-US" sz="2200" dirty="0">
                <a:solidFill>
                  <a:srgbClr val="C00000"/>
                </a:solidFill>
                <a:latin typeface="Courier New" panose="02070309020205020404" pitchFamily="49" charset="0"/>
                <a:cs typeface="Courier New" panose="02070309020205020404" pitchFamily="49" charset="0"/>
              </a:rPr>
              <a:t>参数</a:t>
            </a:r>
            <a:endParaRPr lang="en-US" altLang="zh-CN" sz="2200" dirty="0">
              <a:solidFill>
                <a:srgbClr val="C00000"/>
              </a:solidFill>
              <a:latin typeface="Courier New" panose="02070309020205020404" pitchFamily="49" charset="0"/>
              <a:cs typeface="Courier New" panose="02070309020205020404" pitchFamily="49" charset="0"/>
            </a:endParaRPr>
          </a:p>
          <a:p>
            <a:r>
              <a:rPr lang="en-US" altLang="zh-CN" sz="2200" dirty="0" err="1">
                <a:latin typeface="Courier New" panose="02070309020205020404" pitchFamily="49" charset="0"/>
                <a:cs typeface="Courier New" panose="02070309020205020404" pitchFamily="49" charset="0"/>
              </a:rPr>
              <a:t>int</a:t>
            </a:r>
            <a:r>
              <a:rPr lang="en-US" altLang="zh-CN" sz="2200" dirty="0">
                <a:latin typeface="Courier New" panose="02070309020205020404" pitchFamily="49" charset="0"/>
                <a:cs typeface="Courier New" panose="02070309020205020404" pitchFamily="49" charset="0"/>
              </a:rPr>
              <a:t> port = 1883;</a:t>
            </a:r>
          </a:p>
          <a:p>
            <a:r>
              <a:rPr lang="en-US" altLang="zh-CN" sz="2200" dirty="0">
                <a:latin typeface="Courier New" panose="02070309020205020404" pitchFamily="49" charset="0"/>
                <a:cs typeface="Courier New" panose="02070309020205020404" pitchFamily="49" charset="0"/>
              </a:rPr>
              <a:t>char </a:t>
            </a:r>
            <a:r>
              <a:rPr lang="en-US" altLang="zh-CN" sz="2200" dirty="0" err="1">
                <a:latin typeface="Courier New" panose="02070309020205020404" pitchFamily="49" charset="0"/>
                <a:cs typeface="Courier New" panose="02070309020205020404" pitchFamily="49" charset="0"/>
              </a:rPr>
              <a:t>serverName</a:t>
            </a:r>
            <a:r>
              <a:rPr lang="en-US" altLang="zh-CN" sz="2200" dirty="0">
                <a:latin typeface="Courier New" panose="02070309020205020404" pitchFamily="49" charset="0"/>
                <a:cs typeface="Courier New" panose="02070309020205020404" pitchFamily="49" charset="0"/>
              </a:rPr>
              <a:t>[]= “pk.iot-as-mqtt.cn-shanghai.aliyuncs.com";</a:t>
            </a:r>
          </a:p>
          <a:p>
            <a:r>
              <a:rPr lang="en-US" altLang="zh-CN" sz="2200" dirty="0">
                <a:latin typeface="Courier New" panose="02070309020205020404" pitchFamily="49" charset="0"/>
                <a:cs typeface="Courier New" panose="02070309020205020404" pitchFamily="49" charset="0"/>
              </a:rPr>
              <a:t>char </a:t>
            </a:r>
            <a:r>
              <a:rPr lang="en-US" altLang="zh-CN" sz="2200" dirty="0" err="1">
                <a:latin typeface="Courier New" panose="02070309020205020404" pitchFamily="49" charset="0"/>
                <a:cs typeface="Courier New" panose="02070309020205020404" pitchFamily="49" charset="0"/>
              </a:rPr>
              <a:t>clientName</a:t>
            </a:r>
            <a:r>
              <a:rPr lang="en-US" altLang="zh-CN" sz="2200" dirty="0">
                <a:latin typeface="Courier New" panose="02070309020205020404" pitchFamily="49" charset="0"/>
                <a:cs typeface="Courier New" panose="02070309020205020404" pitchFamily="49" charset="0"/>
              </a:rPr>
              <a:t>[] = "12345|securemode=3,signmethod=hmacsha1,timestamp=789|";</a:t>
            </a:r>
          </a:p>
          <a:p>
            <a:r>
              <a:rPr lang="en-US" altLang="zh-CN" sz="2200" dirty="0">
                <a:latin typeface="Courier New" panose="02070309020205020404" pitchFamily="49" charset="0"/>
                <a:cs typeface="Courier New" panose="02070309020205020404" pitchFamily="49" charset="0"/>
              </a:rPr>
              <a:t>char </a:t>
            </a:r>
            <a:r>
              <a:rPr lang="en-US" altLang="zh-CN" sz="2200" dirty="0" err="1">
                <a:latin typeface="Courier New" panose="02070309020205020404" pitchFamily="49" charset="0"/>
                <a:cs typeface="Courier New" panose="02070309020205020404" pitchFamily="49" charset="0"/>
              </a:rPr>
              <a:t>userName</a:t>
            </a:r>
            <a:r>
              <a:rPr lang="en-US" altLang="zh-CN" sz="2200" dirty="0">
                <a:latin typeface="Courier New" panose="02070309020205020404" pitchFamily="49" charset="0"/>
                <a:cs typeface="Courier New" panose="02070309020205020404" pitchFamily="49" charset="0"/>
              </a:rPr>
              <a:t>[] = "</a:t>
            </a:r>
            <a:r>
              <a:rPr lang="en-US" altLang="zh-CN" sz="2200" dirty="0" err="1">
                <a:latin typeface="Courier New" panose="02070309020205020404" pitchFamily="49" charset="0"/>
                <a:cs typeface="Courier New" panose="02070309020205020404" pitchFamily="49" charset="0"/>
              </a:rPr>
              <a:t>device&amp;pk</a:t>
            </a:r>
            <a:r>
              <a:rPr lang="en-US" altLang="zh-CN" sz="2200" dirty="0">
                <a:latin typeface="Courier New" panose="02070309020205020404" pitchFamily="49" charset="0"/>
                <a:cs typeface="Courier New" panose="02070309020205020404" pitchFamily="49" charset="0"/>
              </a:rPr>
              <a:t>";</a:t>
            </a:r>
          </a:p>
          <a:p>
            <a:r>
              <a:rPr lang="en-US" altLang="zh-CN" sz="2200" dirty="0">
                <a:latin typeface="Courier New" panose="02070309020205020404" pitchFamily="49" charset="0"/>
                <a:cs typeface="Courier New" panose="02070309020205020404" pitchFamily="49" charset="0"/>
              </a:rPr>
              <a:t>char password[] = "FAFD82A3D602B37FB0FA8B7892F24A477F851A14";</a:t>
            </a:r>
          </a:p>
          <a:p>
            <a:r>
              <a:rPr lang="en-US" altLang="zh-CN" sz="2200" dirty="0">
                <a:latin typeface="Courier New" panose="02070309020205020404" pitchFamily="49" charset="0"/>
                <a:cs typeface="Courier New" panose="02070309020205020404" pitchFamily="49" charset="0"/>
              </a:rPr>
              <a:t>char </a:t>
            </a:r>
            <a:r>
              <a:rPr lang="en-US" altLang="zh-CN" sz="2200" dirty="0" err="1">
                <a:latin typeface="Courier New" panose="02070309020205020404" pitchFamily="49" charset="0"/>
                <a:cs typeface="Courier New" panose="02070309020205020404" pitchFamily="49" charset="0"/>
              </a:rPr>
              <a:t>propertyPostTopic</a:t>
            </a:r>
            <a:r>
              <a:rPr lang="en-US" altLang="zh-CN" sz="2200" dirty="0">
                <a:latin typeface="Courier New" panose="02070309020205020404" pitchFamily="49" charset="0"/>
                <a:cs typeface="Courier New" panose="02070309020205020404" pitchFamily="49" charset="0"/>
              </a:rPr>
              <a:t>[] = "/sys/</a:t>
            </a:r>
            <a:r>
              <a:rPr lang="en-US" altLang="zh-CN" sz="2200" dirty="0" err="1">
                <a:latin typeface="Courier New" panose="02070309020205020404" pitchFamily="49" charset="0"/>
                <a:cs typeface="Courier New" panose="02070309020205020404" pitchFamily="49" charset="0"/>
              </a:rPr>
              <a:t>pk</a:t>
            </a:r>
            <a:r>
              <a:rPr lang="en-US" altLang="zh-CN" sz="2200" dirty="0">
                <a:latin typeface="Courier New" panose="02070309020205020404" pitchFamily="49" charset="0"/>
                <a:cs typeface="Courier New" panose="02070309020205020404" pitchFamily="49" charset="0"/>
              </a:rPr>
              <a:t>/device/thing/event/property/post";</a:t>
            </a:r>
          </a:p>
          <a:p>
            <a:endParaRPr lang="en-US" altLang="zh-CN" sz="2200" dirty="0">
              <a:latin typeface="Courier New" panose="02070309020205020404" pitchFamily="49" charset="0"/>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unsigned </a:t>
            </a:r>
            <a:r>
              <a:rPr lang="en-US" altLang="zh-CN" sz="2200" dirty="0" err="1">
                <a:latin typeface="Courier New" panose="02070309020205020404" pitchFamily="49" charset="0"/>
                <a:cs typeface="Courier New" panose="02070309020205020404" pitchFamily="49" charset="0"/>
              </a:rPr>
              <a:t>int</a:t>
            </a: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messageID</a:t>
            </a:r>
            <a:r>
              <a:rPr lang="en-US" altLang="zh-CN" sz="2200" dirty="0">
                <a:latin typeface="Courier New" panose="02070309020205020404" pitchFamily="49" charset="0"/>
                <a:cs typeface="Courier New" panose="02070309020205020404" pitchFamily="49" charset="0"/>
              </a:rPr>
              <a:t> = 0;    </a:t>
            </a:r>
            <a:r>
              <a:rPr lang="en-US" altLang="zh-CN" sz="2200" dirty="0">
                <a:solidFill>
                  <a:srgbClr val="C00000"/>
                </a:solidFill>
                <a:latin typeface="Courier New" panose="02070309020205020404" pitchFamily="49" charset="0"/>
                <a:cs typeface="Courier New" panose="02070309020205020404" pitchFamily="49" charset="0"/>
              </a:rPr>
              <a:t>// </a:t>
            </a:r>
            <a:r>
              <a:rPr lang="zh-CN" altLang="en-US" sz="2200" dirty="0">
                <a:solidFill>
                  <a:srgbClr val="C00000"/>
                </a:solidFill>
                <a:latin typeface="Courier New" panose="02070309020205020404" pitchFamily="49" charset="0"/>
                <a:cs typeface="Courier New" panose="02070309020205020404" pitchFamily="49" charset="0"/>
              </a:rPr>
              <a:t>消息</a:t>
            </a:r>
            <a:r>
              <a:rPr lang="en-US" altLang="zh-CN" sz="2200" dirty="0">
                <a:solidFill>
                  <a:srgbClr val="C00000"/>
                </a:solidFill>
                <a:latin typeface="Courier New" panose="02070309020205020404" pitchFamily="49" charset="0"/>
                <a:cs typeface="Courier New" panose="02070309020205020404" pitchFamily="49" charset="0"/>
              </a:rPr>
              <a:t>ID</a:t>
            </a:r>
            <a:r>
              <a:rPr lang="zh-CN" altLang="en-US" sz="2200" dirty="0">
                <a:solidFill>
                  <a:srgbClr val="C00000"/>
                </a:solidFill>
                <a:latin typeface="Courier New" panose="02070309020205020404" pitchFamily="49" charset="0"/>
                <a:cs typeface="Courier New" panose="02070309020205020404" pitchFamily="49" charset="0"/>
              </a:rPr>
              <a:t>， 自增</a:t>
            </a:r>
            <a:endParaRPr lang="en-US" altLang="zh-CN" sz="2200" dirty="0">
              <a:solidFill>
                <a:srgbClr val="C00000"/>
              </a:solidFill>
              <a:latin typeface="Courier New" panose="02070309020205020404" pitchFamily="49" charset="0"/>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unsigned </a:t>
            </a:r>
            <a:r>
              <a:rPr lang="en-US" altLang="zh-CN" sz="2200" dirty="0" err="1">
                <a:latin typeface="Courier New" panose="02070309020205020404" pitchFamily="49" charset="0"/>
                <a:cs typeface="Courier New" panose="02070309020205020404" pitchFamily="49" charset="0"/>
              </a:rPr>
              <a:t>int</a:t>
            </a: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deviceID</a:t>
            </a:r>
            <a:r>
              <a:rPr lang="en-US" altLang="zh-CN" sz="2200" dirty="0">
                <a:latin typeface="Courier New" panose="02070309020205020404" pitchFamily="49" charset="0"/>
                <a:cs typeface="Courier New" panose="02070309020205020404" pitchFamily="49" charset="0"/>
              </a:rPr>
              <a:t> = 0;        </a:t>
            </a:r>
            <a:r>
              <a:rPr lang="en-US" altLang="zh-CN" sz="2200" dirty="0">
                <a:solidFill>
                  <a:srgbClr val="C00000"/>
                </a:solidFill>
                <a:latin typeface="Courier New" panose="02070309020205020404" pitchFamily="49" charset="0"/>
                <a:cs typeface="Courier New" panose="02070309020205020404" pitchFamily="49" charset="0"/>
              </a:rPr>
              <a:t>// </a:t>
            </a:r>
            <a:r>
              <a:rPr lang="en-US" altLang="zh-CN" sz="2200" dirty="0" err="1">
                <a:solidFill>
                  <a:srgbClr val="C00000"/>
                </a:solidFill>
                <a:latin typeface="Courier New" panose="02070309020205020404" pitchFamily="49" charset="0"/>
                <a:cs typeface="Courier New" panose="02070309020205020404" pitchFamily="49" charset="0"/>
              </a:rPr>
              <a:t>deviceID</a:t>
            </a:r>
            <a:r>
              <a:rPr lang="zh-CN" altLang="en-US" sz="2200" dirty="0">
                <a:solidFill>
                  <a:srgbClr val="C00000"/>
                </a:solidFill>
                <a:latin typeface="Courier New" panose="02070309020205020404" pitchFamily="49" charset="0"/>
                <a:cs typeface="Courier New" panose="02070309020205020404" pitchFamily="49" charset="0"/>
              </a:rPr>
              <a:t>，默认为</a:t>
            </a:r>
            <a:r>
              <a:rPr lang="en-US" altLang="zh-CN" sz="2200" dirty="0">
                <a:solidFill>
                  <a:srgbClr val="C00000"/>
                </a:solidFill>
                <a:latin typeface="Courier New" panose="02070309020205020404" pitchFamily="49" charset="0"/>
                <a:cs typeface="Courier New" panose="02070309020205020404" pitchFamily="49" charset="0"/>
              </a:rPr>
              <a:t>0</a:t>
            </a:r>
            <a:r>
              <a:rPr lang="zh-CN" altLang="en-US" sz="2200" dirty="0">
                <a:solidFill>
                  <a:srgbClr val="C00000"/>
                </a:solidFill>
                <a:latin typeface="Courier New" panose="02070309020205020404" pitchFamily="49" charset="0"/>
                <a:cs typeface="Courier New" panose="02070309020205020404" pitchFamily="49" charset="0"/>
              </a:rPr>
              <a:t> </a:t>
            </a:r>
            <a:endParaRPr lang="en-US" altLang="zh-CN" sz="2200" dirty="0">
              <a:solidFill>
                <a:srgbClr val="C00000"/>
              </a:solidFill>
              <a:latin typeface="Courier New" panose="02070309020205020404" pitchFamily="49" charset="0"/>
              <a:cs typeface="Courier New" panose="02070309020205020404" pitchFamily="49" charset="0"/>
            </a:endParaRPr>
          </a:p>
          <a:p>
            <a:endParaRPr lang="en-US" altLang="zh-CN" sz="2200" dirty="0">
              <a:latin typeface="Courier New" panose="02070309020205020404" pitchFamily="49" charset="0"/>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void setup() {</a:t>
            </a:r>
          </a:p>
          <a:p>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TL_Serial.begin</a:t>
            </a:r>
            <a:r>
              <a:rPr lang="en-US" altLang="zh-CN" sz="2200" dirty="0">
                <a:latin typeface="Courier New" panose="02070309020205020404" pitchFamily="49" charset="0"/>
                <a:cs typeface="Courier New" panose="02070309020205020404" pitchFamily="49" charset="0"/>
              </a:rPr>
              <a:t>(9600);</a:t>
            </a:r>
          </a:p>
          <a:p>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TL_WiFi.init</a:t>
            </a:r>
            <a:r>
              <a:rPr lang="en-US" altLang="zh-CN" sz="2200" dirty="0">
                <a:latin typeface="Courier New" panose="02070309020205020404" pitchFamily="49" charset="0"/>
                <a:cs typeface="Courier New" panose="02070309020205020404" pitchFamily="49" charset="0"/>
              </a:rPr>
              <a:t>();                        // </a:t>
            </a:r>
            <a:r>
              <a:rPr lang="zh-CN" altLang="en-US" sz="2200" dirty="0">
                <a:latin typeface="Courier New" panose="02070309020205020404" pitchFamily="49" charset="0"/>
                <a:cs typeface="Courier New" panose="02070309020205020404" pitchFamily="49" charset="0"/>
              </a:rPr>
              <a:t>连接</a:t>
            </a:r>
            <a:r>
              <a:rPr lang="en-US" altLang="zh-CN" sz="2200" dirty="0" err="1">
                <a:latin typeface="Courier New" panose="02070309020205020404" pitchFamily="49" charset="0"/>
                <a:cs typeface="Courier New" panose="02070309020205020404" pitchFamily="49" charset="0"/>
              </a:rPr>
              <a:t>WiFi</a:t>
            </a:r>
            <a:endParaRPr lang="en-US" altLang="zh-CN" sz="2200" dirty="0">
              <a:latin typeface="Courier New" panose="02070309020205020404" pitchFamily="49" charset="0"/>
              <a:cs typeface="Courier New" panose="02070309020205020404" pitchFamily="49" charset="0"/>
            </a:endParaRPr>
          </a:p>
          <a:p>
            <a:r>
              <a:rPr lang="en-US" altLang="zh-CN" sz="2200" dirty="0">
                <a:latin typeface="Courier New" panose="02070309020205020404" pitchFamily="49" charset="0"/>
                <a:cs typeface="Courier New" panose="02070309020205020404" pitchFamily="49" charset="0"/>
              </a:rPr>
              <a:t>    bool </a:t>
            </a:r>
            <a:r>
              <a:rPr lang="en-US" altLang="zh-CN" sz="2200" dirty="0" err="1">
                <a:latin typeface="Courier New" panose="02070309020205020404" pitchFamily="49" charset="0"/>
                <a:cs typeface="Courier New" panose="02070309020205020404" pitchFamily="49" charset="0"/>
              </a:rPr>
              <a:t>wifi_conn</a:t>
            </a:r>
            <a:r>
              <a:rPr lang="en-US" altLang="zh-CN" sz="2200" dirty="0">
                <a:latin typeface="Courier New" panose="02070309020205020404" pitchFamily="49" charset="0"/>
                <a:cs typeface="Courier New" panose="02070309020205020404" pitchFamily="49" charset="0"/>
              </a:rPr>
              <a:t> = </a:t>
            </a:r>
            <a:r>
              <a:rPr lang="en-US" altLang="zh-CN" sz="2200" dirty="0" err="1">
                <a:latin typeface="Courier New" panose="02070309020205020404" pitchFamily="49" charset="0"/>
                <a:cs typeface="Courier New" panose="02070309020205020404" pitchFamily="49" charset="0"/>
              </a:rPr>
              <a:t>TL_WiFi.join</a:t>
            </a:r>
            <a:r>
              <a:rPr lang="en-US" altLang="zh-CN" sz="2200" dirty="0">
                <a:latin typeface="Courier New" panose="02070309020205020404" pitchFamily="49" charset="0"/>
                <a:cs typeface="Courier New" panose="02070309020205020404" pitchFamily="49" charset="0"/>
              </a:rPr>
              <a:t>("EmNets-301", "eagle402");</a:t>
            </a:r>
          </a:p>
          <a:p>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mqtt</a:t>
            </a:r>
            <a:r>
              <a:rPr lang="en-US" altLang="zh-CN" sz="2200" dirty="0">
                <a:latin typeface="Courier New" panose="02070309020205020404" pitchFamily="49" charset="0"/>
                <a:cs typeface="Courier New" panose="02070309020205020404" pitchFamily="49" charset="0"/>
              </a:rPr>
              <a:t> = </a:t>
            </a:r>
            <a:r>
              <a:rPr lang="en-US" altLang="zh-CN" sz="2200" dirty="0" err="1">
                <a:latin typeface="Courier New" panose="02070309020205020404" pitchFamily="49" charset="0"/>
                <a:cs typeface="Courier New" panose="02070309020205020404" pitchFamily="49" charset="0"/>
              </a:rPr>
              <a:t>TL_WiFi.fetchMQTT</a:t>
            </a:r>
            <a:r>
              <a:rPr lang="en-US" altLang="zh-CN" sz="2200" dirty="0">
                <a:latin typeface="Courier New" panose="02070309020205020404" pitchFamily="49" charset="0"/>
                <a:cs typeface="Courier New" panose="02070309020205020404" pitchFamily="49" charset="0"/>
              </a:rPr>
              <a:t>();          // </a:t>
            </a:r>
            <a:r>
              <a:rPr lang="zh-CN" altLang="en-US" sz="2200" dirty="0">
                <a:latin typeface="Courier New" panose="02070309020205020404" pitchFamily="49" charset="0"/>
                <a:cs typeface="Courier New" panose="02070309020205020404" pitchFamily="49" charset="0"/>
              </a:rPr>
              <a:t>连接</a:t>
            </a:r>
            <a:r>
              <a:rPr lang="en-US" altLang="zh-CN" sz="2200" dirty="0">
                <a:latin typeface="Courier New" panose="02070309020205020404" pitchFamily="49" charset="0"/>
                <a:cs typeface="Courier New" panose="02070309020205020404" pitchFamily="49" charset="0"/>
              </a:rPr>
              <a:t>MQTT</a:t>
            </a:r>
          </a:p>
          <a:p>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int</a:t>
            </a: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mqtt_conn</a:t>
            </a:r>
            <a:r>
              <a:rPr lang="en-US" altLang="zh-CN" sz="2200" dirty="0">
                <a:latin typeface="Courier New" panose="02070309020205020404" pitchFamily="49" charset="0"/>
                <a:cs typeface="Courier New" panose="02070309020205020404" pitchFamily="49" charset="0"/>
              </a:rPr>
              <a:t> = </a:t>
            </a:r>
            <a:r>
              <a:rPr lang="en-US" altLang="zh-CN" sz="2200" dirty="0" err="1">
                <a:latin typeface="Courier New" panose="02070309020205020404" pitchFamily="49" charset="0"/>
                <a:cs typeface="Courier New" panose="02070309020205020404" pitchFamily="49" charset="0"/>
              </a:rPr>
              <a:t>mqtt.connect</a:t>
            </a:r>
            <a:r>
              <a:rPr lang="en-US" altLang="zh-CN" sz="2200" dirty="0">
                <a:latin typeface="Courier New" panose="02070309020205020404" pitchFamily="49" charset="0"/>
                <a:cs typeface="Courier New" panose="02070309020205020404" pitchFamily="49" charset="0"/>
              </a:rPr>
              <a:t>(</a:t>
            </a:r>
            <a:r>
              <a:rPr lang="en-US" altLang="zh-CN" sz="2200" dirty="0" err="1">
                <a:latin typeface="Courier New" panose="02070309020205020404" pitchFamily="49" charset="0"/>
                <a:cs typeface="Courier New" panose="02070309020205020404" pitchFamily="49" charset="0"/>
              </a:rPr>
              <a:t>serverName</a:t>
            </a:r>
            <a:r>
              <a:rPr lang="en-US" altLang="zh-CN" sz="2200" dirty="0">
                <a:latin typeface="Courier New" panose="02070309020205020404" pitchFamily="49" charset="0"/>
                <a:cs typeface="Courier New" panose="02070309020205020404" pitchFamily="49" charset="0"/>
              </a:rPr>
              <a:t>, port, </a:t>
            </a:r>
            <a:r>
              <a:rPr lang="en-US" altLang="zh-CN" sz="2200" dirty="0" err="1">
                <a:latin typeface="Courier New" panose="02070309020205020404" pitchFamily="49" charset="0"/>
                <a:cs typeface="Courier New" panose="02070309020205020404" pitchFamily="49" charset="0"/>
              </a:rPr>
              <a:t>clientName</a:t>
            </a: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userName</a:t>
            </a:r>
            <a:r>
              <a:rPr lang="en-US" altLang="zh-CN" sz="2200" dirty="0">
                <a:latin typeface="Courier New" panose="02070309020205020404" pitchFamily="49" charset="0"/>
                <a:cs typeface="Courier New" panose="02070309020205020404" pitchFamily="49" charset="0"/>
              </a:rPr>
              <a:t>, password);   </a:t>
            </a:r>
          </a:p>
          <a:p>
            <a:r>
              <a:rPr lang="en-US" altLang="zh-CN" sz="2200" dirty="0">
                <a:latin typeface="Courier New" panose="02070309020205020404" pitchFamily="49" charset="0"/>
                <a:cs typeface="Courier New" panose="02070309020205020404" pitchFamily="49" charset="0"/>
              </a:rPr>
              <a:t>}</a:t>
            </a:r>
          </a:p>
          <a:p>
            <a:endParaRPr lang="en-US" altLang="zh-CN" sz="2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07544847"/>
      </p:ext>
    </p:extLst>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en-US" altLang="zh-CN" dirty="0"/>
              <a:t>IoT Studio + </a:t>
            </a:r>
            <a:r>
              <a:rPr lang="en-US" altLang="zh-CN" dirty="0" err="1"/>
              <a:t>TinyLink</a:t>
            </a:r>
            <a:r>
              <a:rPr lang="zh-CN" altLang="en-US" dirty="0"/>
              <a:t>设备开发示例</a:t>
            </a:r>
          </a:p>
        </p:txBody>
      </p:sp>
      <p:sp>
        <p:nvSpPr>
          <p:cNvPr id="8" name="内容占位符 7"/>
          <p:cNvSpPr>
            <a:spLocks noGrp="1"/>
          </p:cNvSpPr>
          <p:nvPr>
            <p:ph idx="1"/>
          </p:nvPr>
        </p:nvSpPr>
        <p:spPr/>
        <p:txBody>
          <a:bodyPr/>
          <a:lstStyle/>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dirty="0"/>
          </a:p>
        </p:txBody>
      </p:sp>
      <p:sp>
        <p:nvSpPr>
          <p:cNvPr id="7" name="矩形 6">
            <a:extLst>
              <a:ext uri="{FF2B5EF4-FFF2-40B4-BE49-F238E27FC236}">
                <a16:creationId xmlns:a16="http://schemas.microsoft.com/office/drawing/2014/main" id="{600FB7F4-7AEA-4850-A30C-6EAA0EA9DEAD}"/>
              </a:ext>
            </a:extLst>
          </p:cNvPr>
          <p:cNvSpPr/>
          <p:nvPr/>
        </p:nvSpPr>
        <p:spPr bwMode="auto">
          <a:xfrm>
            <a:off x="457201" y="990600"/>
            <a:ext cx="8178800" cy="5681133"/>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spcBef>
                <a:spcPts val="300"/>
              </a:spcBef>
            </a:pPr>
            <a:r>
              <a:rPr lang="en-US" altLang="zh-CN" sz="2200" dirty="0">
                <a:latin typeface="Courier New" panose="02070309020205020404" pitchFamily="49" charset="0"/>
                <a:cs typeface="Courier New" panose="02070309020205020404" pitchFamily="49" charset="0"/>
              </a:rPr>
              <a:t>void loop() {</a:t>
            </a:r>
          </a:p>
          <a:p>
            <a:pPr>
              <a:spcBef>
                <a:spcPts val="300"/>
              </a:spcBef>
            </a:pP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int</a:t>
            </a: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motionState</a:t>
            </a:r>
            <a:r>
              <a:rPr lang="en-US" altLang="zh-CN" sz="2200" dirty="0">
                <a:latin typeface="Courier New" panose="02070309020205020404" pitchFamily="49" charset="0"/>
                <a:cs typeface="Courier New" panose="02070309020205020404" pitchFamily="49" charset="0"/>
              </a:rPr>
              <a:t> = </a:t>
            </a:r>
            <a:r>
              <a:rPr lang="en-US" altLang="zh-CN" sz="2200" dirty="0" err="1">
                <a:latin typeface="Courier New" panose="02070309020205020404" pitchFamily="49" charset="0"/>
                <a:cs typeface="Courier New" panose="02070309020205020404" pitchFamily="49" charset="0"/>
              </a:rPr>
              <a:t>TL_PIR.read</a:t>
            </a:r>
            <a:r>
              <a:rPr lang="en-US" altLang="zh-CN" sz="2200" dirty="0">
                <a:latin typeface="Courier New" panose="02070309020205020404" pitchFamily="49" charset="0"/>
                <a:cs typeface="Courier New" panose="02070309020205020404" pitchFamily="49" charset="0"/>
              </a:rPr>
              <a:t>();        </a:t>
            </a:r>
            <a:r>
              <a:rPr lang="en-US" altLang="zh-CN" sz="2200" dirty="0">
                <a:solidFill>
                  <a:srgbClr val="C00000"/>
                </a:solidFill>
                <a:latin typeface="Courier New" panose="02070309020205020404" pitchFamily="49" charset="0"/>
                <a:cs typeface="Courier New" panose="02070309020205020404" pitchFamily="49" charset="0"/>
              </a:rPr>
              <a:t>// </a:t>
            </a:r>
            <a:r>
              <a:rPr lang="zh-CN" altLang="en-US" sz="2200" dirty="0">
                <a:solidFill>
                  <a:srgbClr val="C00000"/>
                </a:solidFill>
                <a:latin typeface="Courier New" panose="02070309020205020404" pitchFamily="49" charset="0"/>
                <a:cs typeface="Courier New" panose="02070309020205020404" pitchFamily="49" charset="0"/>
              </a:rPr>
              <a:t>读取传感器数据</a:t>
            </a:r>
            <a:endParaRPr lang="en-US" altLang="zh-CN" sz="2200" dirty="0">
              <a:solidFill>
                <a:srgbClr val="C00000"/>
              </a:solidFill>
              <a:latin typeface="Courier New" panose="02070309020205020404" pitchFamily="49" charset="0"/>
              <a:cs typeface="Courier New" panose="02070309020205020404" pitchFamily="49" charset="0"/>
            </a:endParaRPr>
          </a:p>
          <a:p>
            <a:pPr>
              <a:spcBef>
                <a:spcPts val="300"/>
              </a:spcBef>
            </a:pPr>
            <a:r>
              <a:rPr lang="en-US" altLang="zh-CN" sz="2200" dirty="0">
                <a:latin typeface="Courier New" panose="02070309020205020404" pitchFamily="49" charset="0"/>
                <a:cs typeface="Courier New" panose="02070309020205020404" pitchFamily="49" charset="0"/>
              </a:rPr>
              <a:t>    char </a:t>
            </a:r>
            <a:r>
              <a:rPr lang="en-US" altLang="zh-CN" sz="2200" dirty="0" err="1">
                <a:latin typeface="Courier New" panose="02070309020205020404" pitchFamily="49" charset="0"/>
                <a:cs typeface="Courier New" panose="02070309020205020404" pitchFamily="49" charset="0"/>
              </a:rPr>
              <a:t>buf</a:t>
            </a:r>
            <a:r>
              <a:rPr lang="en-US" altLang="zh-CN" sz="2200" dirty="0">
                <a:latin typeface="Courier New" panose="02070309020205020404" pitchFamily="49" charset="0"/>
                <a:cs typeface="Courier New" panose="02070309020205020404" pitchFamily="49" charset="0"/>
              </a:rPr>
              <a:t>[150];</a:t>
            </a:r>
          </a:p>
          <a:p>
            <a:pPr>
              <a:spcBef>
                <a:spcPts val="300"/>
              </a:spcBef>
            </a:pPr>
            <a:r>
              <a:rPr lang="en-US" altLang="zh-CN" sz="2200" dirty="0">
                <a:latin typeface="Courier New" panose="02070309020205020404" pitchFamily="49" charset="0"/>
                <a:cs typeface="Courier New" panose="02070309020205020404" pitchFamily="49" charset="0"/>
              </a:rPr>
              <a:t>    String payload = “{\”id\“:\”“;                </a:t>
            </a:r>
            <a:r>
              <a:rPr lang="en-US" altLang="zh-CN" sz="2200" dirty="0">
                <a:solidFill>
                  <a:srgbClr val="C00000"/>
                </a:solidFill>
                <a:latin typeface="Courier New" panose="02070309020205020404" pitchFamily="49" charset="0"/>
                <a:cs typeface="Courier New" panose="02070309020205020404" pitchFamily="49" charset="0"/>
              </a:rPr>
              <a:t>// </a:t>
            </a:r>
            <a:r>
              <a:rPr lang="zh-CN" altLang="en-US" sz="2200" dirty="0">
                <a:solidFill>
                  <a:srgbClr val="C00000"/>
                </a:solidFill>
                <a:latin typeface="Courier New" panose="02070309020205020404" pitchFamily="49" charset="0"/>
                <a:cs typeface="Courier New" panose="02070309020205020404" pitchFamily="49" charset="0"/>
              </a:rPr>
              <a:t>根据物模型，构造数据包</a:t>
            </a:r>
            <a:endParaRPr lang="en-US" altLang="zh-CN" sz="2200" dirty="0">
              <a:solidFill>
                <a:srgbClr val="C00000"/>
              </a:solidFill>
              <a:latin typeface="Courier New" panose="02070309020205020404" pitchFamily="49" charset="0"/>
              <a:cs typeface="Courier New" panose="02070309020205020404" pitchFamily="49" charset="0"/>
            </a:endParaRPr>
          </a:p>
          <a:p>
            <a:pPr>
              <a:spcBef>
                <a:spcPts val="300"/>
              </a:spcBef>
            </a:pPr>
            <a:r>
              <a:rPr lang="en-US" altLang="zh-CN" sz="2200" dirty="0">
                <a:latin typeface="Courier New" panose="02070309020205020404" pitchFamily="49" charset="0"/>
                <a:cs typeface="Courier New" panose="02070309020205020404" pitchFamily="49" charset="0"/>
              </a:rPr>
              <a:t>    payload += </a:t>
            </a:r>
            <a:r>
              <a:rPr lang="en-US" altLang="zh-CN" sz="2200" dirty="0" err="1">
                <a:latin typeface="Courier New" panose="02070309020205020404" pitchFamily="49" charset="0"/>
                <a:cs typeface="Courier New" panose="02070309020205020404" pitchFamily="49" charset="0"/>
              </a:rPr>
              <a:t>messageID</a:t>
            </a:r>
            <a:r>
              <a:rPr lang="en-US" altLang="zh-CN" sz="2200" dirty="0">
                <a:latin typeface="Courier New" panose="02070309020205020404" pitchFamily="49" charset="0"/>
                <a:cs typeface="Courier New" panose="02070309020205020404" pitchFamily="49" charset="0"/>
              </a:rPr>
              <a:t>;</a:t>
            </a:r>
          </a:p>
          <a:p>
            <a:pPr>
              <a:spcBef>
                <a:spcPts val="300"/>
              </a:spcBef>
            </a:pPr>
            <a:r>
              <a:rPr lang="en-US" altLang="zh-CN" sz="2200" dirty="0">
                <a:latin typeface="Courier New" panose="02070309020205020404" pitchFamily="49" charset="0"/>
                <a:cs typeface="Courier New" panose="02070309020205020404" pitchFamily="49" charset="0"/>
              </a:rPr>
              <a:t>    payload += "\"";</a:t>
            </a:r>
          </a:p>
          <a:p>
            <a:pPr>
              <a:spcBef>
                <a:spcPts val="300"/>
              </a:spcBef>
            </a:pPr>
            <a:r>
              <a:rPr lang="en-US" altLang="zh-CN" sz="2200" dirty="0">
                <a:latin typeface="Courier New" panose="02070309020205020404" pitchFamily="49" charset="0"/>
                <a:cs typeface="Courier New" panose="02070309020205020404" pitchFamily="49" charset="0"/>
              </a:rPr>
              <a:t>    payload += ",\"version\":\"1.0\"";</a:t>
            </a:r>
          </a:p>
          <a:p>
            <a:pPr>
              <a:spcBef>
                <a:spcPts val="300"/>
              </a:spcBef>
            </a:pPr>
            <a:r>
              <a:rPr lang="en-US" altLang="zh-CN" sz="2200" dirty="0">
                <a:latin typeface="Courier New" panose="02070309020205020404" pitchFamily="49" charset="0"/>
                <a:cs typeface="Courier New" panose="02070309020205020404" pitchFamily="49" charset="0"/>
              </a:rPr>
              <a:t>    payload += ",\"</a:t>
            </a:r>
            <a:r>
              <a:rPr lang="en-US" altLang="zh-CN" sz="2200" dirty="0" err="1">
                <a:latin typeface="Courier New" panose="02070309020205020404" pitchFamily="49" charset="0"/>
                <a:cs typeface="Courier New" panose="02070309020205020404" pitchFamily="49" charset="0"/>
              </a:rPr>
              <a:t>params</a:t>
            </a:r>
            <a:r>
              <a:rPr lang="en-US" altLang="zh-CN" sz="2200" dirty="0">
                <a:latin typeface="Courier New" panose="02070309020205020404" pitchFamily="49" charset="0"/>
                <a:cs typeface="Courier New" panose="02070309020205020404" pitchFamily="49" charset="0"/>
              </a:rPr>
              <a:t>\":{\"</a:t>
            </a:r>
            <a:r>
              <a:rPr lang="en-US" altLang="zh-CN" sz="2200" dirty="0" err="1">
                <a:latin typeface="Courier New" panose="02070309020205020404" pitchFamily="49" charset="0"/>
                <a:cs typeface="Courier New" panose="02070309020205020404" pitchFamily="49" charset="0"/>
              </a:rPr>
              <a:t>deviceID</a:t>
            </a:r>
            <a:r>
              <a:rPr lang="en-US" altLang="zh-CN" sz="2200" dirty="0">
                <a:latin typeface="Courier New" panose="02070309020205020404" pitchFamily="49" charset="0"/>
                <a:cs typeface="Courier New" panose="02070309020205020404" pitchFamily="49" charset="0"/>
              </a:rPr>
              <a:t>\":";</a:t>
            </a:r>
          </a:p>
          <a:p>
            <a:pPr>
              <a:spcBef>
                <a:spcPts val="300"/>
              </a:spcBef>
            </a:pPr>
            <a:r>
              <a:rPr lang="en-US" altLang="zh-CN" sz="2200" dirty="0">
                <a:latin typeface="Courier New" panose="02070309020205020404" pitchFamily="49" charset="0"/>
                <a:cs typeface="Courier New" panose="02070309020205020404" pitchFamily="49" charset="0"/>
              </a:rPr>
              <a:t>    payload += </a:t>
            </a:r>
            <a:r>
              <a:rPr lang="en-US" altLang="zh-CN" sz="2200" dirty="0" err="1">
                <a:latin typeface="Courier New" panose="02070309020205020404" pitchFamily="49" charset="0"/>
                <a:cs typeface="Courier New" panose="02070309020205020404" pitchFamily="49" charset="0"/>
              </a:rPr>
              <a:t>deviceID</a:t>
            </a:r>
            <a:r>
              <a:rPr lang="en-US" altLang="zh-CN" sz="2200" dirty="0">
                <a:latin typeface="Courier New" panose="02070309020205020404" pitchFamily="49" charset="0"/>
                <a:cs typeface="Courier New" panose="02070309020205020404" pitchFamily="49" charset="0"/>
              </a:rPr>
              <a:t>;</a:t>
            </a:r>
          </a:p>
          <a:p>
            <a:pPr>
              <a:spcBef>
                <a:spcPts val="300"/>
              </a:spcBef>
            </a:pPr>
            <a:r>
              <a:rPr lang="en-US" altLang="zh-CN" sz="2200" dirty="0">
                <a:latin typeface="Courier New" panose="02070309020205020404" pitchFamily="49" charset="0"/>
                <a:cs typeface="Courier New" panose="02070309020205020404" pitchFamily="49" charset="0"/>
              </a:rPr>
              <a:t>    payload += ",\"</a:t>
            </a:r>
            <a:r>
              <a:rPr lang="en-US" altLang="zh-CN" sz="2200" dirty="0" err="1">
                <a:latin typeface="Courier New" panose="02070309020205020404" pitchFamily="49" charset="0"/>
                <a:cs typeface="Courier New" panose="02070309020205020404" pitchFamily="49" charset="0"/>
              </a:rPr>
              <a:t>motionState</a:t>
            </a:r>
            <a:r>
              <a:rPr lang="en-US" altLang="zh-CN" sz="2200" dirty="0">
                <a:latin typeface="Courier New" panose="02070309020205020404" pitchFamily="49" charset="0"/>
                <a:cs typeface="Courier New" panose="02070309020205020404" pitchFamily="49" charset="0"/>
              </a:rPr>
              <a:t>\":";</a:t>
            </a:r>
          </a:p>
          <a:p>
            <a:pPr>
              <a:spcBef>
                <a:spcPts val="300"/>
              </a:spcBef>
            </a:pPr>
            <a:r>
              <a:rPr lang="en-US" altLang="zh-CN" sz="2200" dirty="0">
                <a:latin typeface="Courier New" panose="02070309020205020404" pitchFamily="49" charset="0"/>
                <a:cs typeface="Courier New" panose="02070309020205020404" pitchFamily="49" charset="0"/>
              </a:rPr>
              <a:t>    payload += </a:t>
            </a:r>
            <a:r>
              <a:rPr lang="en-US" altLang="zh-CN" sz="2200" dirty="0" err="1">
                <a:latin typeface="Courier New" panose="02070309020205020404" pitchFamily="49" charset="0"/>
                <a:cs typeface="Courier New" panose="02070309020205020404" pitchFamily="49" charset="0"/>
              </a:rPr>
              <a:t>motionState</a:t>
            </a:r>
            <a:r>
              <a:rPr lang="en-US" altLang="zh-CN" sz="2200" dirty="0">
                <a:latin typeface="Courier New" panose="02070309020205020404" pitchFamily="49" charset="0"/>
                <a:cs typeface="Courier New" panose="02070309020205020404" pitchFamily="49" charset="0"/>
              </a:rPr>
              <a:t>;</a:t>
            </a:r>
          </a:p>
          <a:p>
            <a:pPr>
              <a:spcBef>
                <a:spcPts val="300"/>
              </a:spcBef>
            </a:pPr>
            <a:r>
              <a:rPr lang="en-US" altLang="zh-CN" sz="2200" dirty="0">
                <a:latin typeface="Courier New" panose="02070309020205020404" pitchFamily="49" charset="0"/>
                <a:cs typeface="Courier New" panose="02070309020205020404" pitchFamily="49" charset="0"/>
              </a:rPr>
              <a:t>    payload += "},\"method\":\"</a:t>
            </a:r>
            <a:r>
              <a:rPr lang="en-US" altLang="zh-CN" sz="2200" dirty="0" err="1">
                <a:latin typeface="Courier New" panose="02070309020205020404" pitchFamily="49" charset="0"/>
                <a:cs typeface="Courier New" panose="02070309020205020404" pitchFamily="49" charset="0"/>
              </a:rPr>
              <a:t>thing.event.property.post</a:t>
            </a:r>
            <a:r>
              <a:rPr lang="en-US" altLang="zh-CN" sz="2200" dirty="0">
                <a:latin typeface="Courier New" panose="02070309020205020404" pitchFamily="49" charset="0"/>
                <a:cs typeface="Courier New" panose="02070309020205020404" pitchFamily="49" charset="0"/>
              </a:rPr>
              <a:t>\"}";</a:t>
            </a:r>
          </a:p>
          <a:p>
            <a:pPr>
              <a:spcBef>
                <a:spcPts val="300"/>
              </a:spcBef>
            </a:pP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int</a:t>
            </a: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payloadlength</a:t>
            </a:r>
            <a:r>
              <a:rPr lang="en-US" altLang="zh-CN" sz="2200" dirty="0">
                <a:latin typeface="Courier New" panose="02070309020205020404" pitchFamily="49" charset="0"/>
                <a:cs typeface="Courier New" panose="02070309020205020404" pitchFamily="49" charset="0"/>
              </a:rPr>
              <a:t> = </a:t>
            </a:r>
            <a:r>
              <a:rPr lang="en-US" altLang="zh-CN" sz="2200" dirty="0" err="1">
                <a:latin typeface="Courier New" panose="02070309020205020404" pitchFamily="49" charset="0"/>
                <a:cs typeface="Courier New" panose="02070309020205020404" pitchFamily="49" charset="0"/>
              </a:rPr>
              <a:t>payload.length</a:t>
            </a:r>
            <a:r>
              <a:rPr lang="en-US" altLang="zh-CN" sz="2200" dirty="0">
                <a:latin typeface="Courier New" panose="02070309020205020404" pitchFamily="49" charset="0"/>
                <a:cs typeface="Courier New" panose="02070309020205020404" pitchFamily="49" charset="0"/>
              </a:rPr>
              <a:t>();</a:t>
            </a:r>
          </a:p>
          <a:p>
            <a:pPr>
              <a:spcBef>
                <a:spcPts val="300"/>
              </a:spcBef>
            </a:pP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payload.toCharArray</a:t>
            </a: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buf</a:t>
            </a:r>
            <a:r>
              <a:rPr lang="en-US" altLang="zh-CN" sz="2200" dirty="0">
                <a:latin typeface="Courier New" panose="02070309020205020404" pitchFamily="49" charset="0"/>
                <a:cs typeface="Courier New" panose="02070309020205020404" pitchFamily="49" charset="0"/>
              </a:rPr>
              <a:t>, 150 );</a:t>
            </a:r>
          </a:p>
          <a:p>
            <a:pPr>
              <a:spcBef>
                <a:spcPts val="300"/>
              </a:spcBef>
            </a:pP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mqtt.publish</a:t>
            </a:r>
            <a:r>
              <a:rPr lang="en-US" altLang="zh-CN" sz="2200" dirty="0">
                <a:latin typeface="Courier New" panose="02070309020205020404" pitchFamily="49" charset="0"/>
                <a:cs typeface="Courier New" panose="02070309020205020404" pitchFamily="49" charset="0"/>
              </a:rPr>
              <a:t>(</a:t>
            </a:r>
            <a:r>
              <a:rPr lang="en-US" altLang="zh-CN" sz="2200" dirty="0" err="1">
                <a:latin typeface="Courier New" panose="02070309020205020404" pitchFamily="49" charset="0"/>
                <a:cs typeface="Courier New" panose="02070309020205020404" pitchFamily="49" charset="0"/>
              </a:rPr>
              <a:t>propertyPostTopic</a:t>
            </a: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buf</a:t>
            </a: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payloadlength</a:t>
            </a:r>
            <a:r>
              <a:rPr lang="en-US" altLang="zh-CN" sz="2200" dirty="0">
                <a:latin typeface="Courier New" panose="02070309020205020404" pitchFamily="49" charset="0"/>
                <a:cs typeface="Courier New" panose="02070309020205020404" pitchFamily="49" charset="0"/>
              </a:rPr>
              <a:t>);  </a:t>
            </a:r>
            <a:r>
              <a:rPr lang="en-US" altLang="zh-CN" sz="2200" dirty="0">
                <a:solidFill>
                  <a:srgbClr val="C00000"/>
                </a:solidFill>
                <a:latin typeface="Courier New" panose="02070309020205020404" pitchFamily="49" charset="0"/>
                <a:cs typeface="Courier New" panose="02070309020205020404" pitchFamily="49" charset="0"/>
              </a:rPr>
              <a:t>// </a:t>
            </a:r>
            <a:r>
              <a:rPr lang="zh-CN" altLang="en-US" sz="2200" dirty="0">
                <a:solidFill>
                  <a:srgbClr val="C00000"/>
                </a:solidFill>
                <a:latin typeface="Courier New" panose="02070309020205020404" pitchFamily="49" charset="0"/>
                <a:cs typeface="Courier New" panose="02070309020205020404" pitchFamily="49" charset="0"/>
              </a:rPr>
              <a:t>数据包发送到指定</a:t>
            </a:r>
            <a:r>
              <a:rPr lang="en-US" altLang="zh-CN" sz="2200" dirty="0">
                <a:solidFill>
                  <a:srgbClr val="C00000"/>
                </a:solidFill>
                <a:latin typeface="Courier New" panose="02070309020205020404" pitchFamily="49" charset="0"/>
                <a:cs typeface="Courier New" panose="02070309020205020404" pitchFamily="49" charset="0"/>
              </a:rPr>
              <a:t>Topic</a:t>
            </a:r>
          </a:p>
          <a:p>
            <a:pPr>
              <a:spcBef>
                <a:spcPts val="300"/>
              </a:spcBef>
            </a:pP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messageID</a:t>
            </a:r>
            <a:r>
              <a:rPr lang="en-US" altLang="zh-CN" sz="2200" dirty="0">
                <a:latin typeface="Courier New" panose="02070309020205020404" pitchFamily="49" charset="0"/>
                <a:cs typeface="Courier New" panose="02070309020205020404" pitchFamily="49" charset="0"/>
              </a:rPr>
              <a:t>++;</a:t>
            </a:r>
          </a:p>
          <a:p>
            <a:pPr>
              <a:spcBef>
                <a:spcPts val="300"/>
              </a:spcBef>
            </a:pP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TL_Serial.println</a:t>
            </a:r>
            <a:r>
              <a:rPr lang="en-US" altLang="zh-CN" sz="2200" dirty="0">
                <a:latin typeface="Courier New" panose="02070309020205020404" pitchFamily="49" charset="0"/>
                <a:cs typeface="Courier New" panose="02070309020205020404" pitchFamily="49" charset="0"/>
              </a:rPr>
              <a:t>(</a:t>
            </a:r>
            <a:r>
              <a:rPr lang="en-US" altLang="zh-CN" sz="2200" dirty="0" err="1">
                <a:latin typeface="Courier New" panose="02070309020205020404" pitchFamily="49" charset="0"/>
                <a:cs typeface="Courier New" panose="02070309020205020404" pitchFamily="49" charset="0"/>
              </a:rPr>
              <a:t>buf</a:t>
            </a:r>
            <a:r>
              <a:rPr lang="en-US" altLang="zh-CN" sz="2200" dirty="0">
                <a:latin typeface="Courier New" panose="02070309020205020404" pitchFamily="49" charset="0"/>
                <a:cs typeface="Courier New" panose="02070309020205020404" pitchFamily="49" charset="0"/>
              </a:rPr>
              <a:t>);</a:t>
            </a:r>
          </a:p>
          <a:p>
            <a:pPr>
              <a:spcBef>
                <a:spcPts val="300"/>
              </a:spcBef>
            </a:pPr>
            <a:r>
              <a:rPr lang="en-US" altLang="zh-CN" sz="2200" dirty="0">
                <a:latin typeface="Courier New" panose="02070309020205020404" pitchFamily="49" charset="0"/>
                <a:cs typeface="Courier New" panose="02070309020205020404" pitchFamily="49" charset="0"/>
              </a:rPr>
              <a:t>    </a:t>
            </a:r>
            <a:r>
              <a:rPr lang="en-US" altLang="zh-CN" sz="2200" dirty="0" err="1">
                <a:latin typeface="Courier New" panose="02070309020205020404" pitchFamily="49" charset="0"/>
                <a:cs typeface="Courier New" panose="02070309020205020404" pitchFamily="49" charset="0"/>
              </a:rPr>
              <a:t>mqtt.yield</a:t>
            </a:r>
            <a:r>
              <a:rPr lang="en-US" altLang="zh-CN" sz="2200" dirty="0">
                <a:latin typeface="Courier New" panose="02070309020205020404" pitchFamily="49" charset="0"/>
                <a:cs typeface="Courier New" panose="02070309020205020404" pitchFamily="49" charset="0"/>
              </a:rPr>
              <a:t>(4000);</a:t>
            </a:r>
          </a:p>
          <a:p>
            <a:pPr>
              <a:spcBef>
                <a:spcPts val="300"/>
              </a:spcBef>
            </a:pPr>
            <a:r>
              <a:rPr lang="en-US" altLang="zh-CN" sz="22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141323601"/>
      </p:ext>
    </p:extLst>
  </p:cSld>
  <p:clrMapOvr>
    <a:masterClrMapping/>
  </p:clrMapOv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a:t>目录</a:t>
            </a:r>
            <a:endParaRPr lang="zh-CN" altLang="en-US" dirty="0"/>
          </a:p>
        </p:txBody>
      </p:sp>
      <p:sp>
        <p:nvSpPr>
          <p:cNvPr id="3" name="内容占位符 2">
            <a:extLst>
              <a:ext uri="{FF2B5EF4-FFF2-40B4-BE49-F238E27FC236}">
                <a16:creationId xmlns:a16="http://schemas.microsoft.com/office/drawing/2014/main" id="{1DD2BE9B-FC67-4E13-B652-DF0F918DEA7F}"/>
              </a:ext>
            </a:extLst>
          </p:cNvPr>
          <p:cNvSpPr>
            <a:spLocks noGrp="1"/>
          </p:cNvSpPr>
          <p:nvPr>
            <p:ph idx="1"/>
          </p:nvPr>
        </p:nvSpPr>
        <p:spPr/>
        <p:txBody>
          <a:bodyPr/>
          <a:lstStyle/>
          <a:p>
            <a:endParaRPr lang="en-US" altLang="zh-CN" sz="2800" dirty="0"/>
          </a:p>
          <a:p>
            <a:r>
              <a:rPr lang="zh-CN" altLang="en-US" sz="2800" dirty="0"/>
              <a:t>概述</a:t>
            </a:r>
          </a:p>
          <a:p>
            <a:r>
              <a:rPr lang="zh-CN" altLang="en-US" sz="2800" dirty="0"/>
              <a:t>云</a:t>
            </a:r>
            <a:r>
              <a:rPr lang="en-US" altLang="zh-CN" sz="2800" dirty="0"/>
              <a:t>-</a:t>
            </a:r>
            <a:r>
              <a:rPr lang="zh-CN" altLang="en-US" sz="2800" dirty="0"/>
              <a:t>端一体开发平台主要功能</a:t>
            </a:r>
          </a:p>
          <a:p>
            <a:r>
              <a:rPr lang="zh-CN" altLang="en-US" sz="2800" dirty="0"/>
              <a:t>典型物联网云</a:t>
            </a:r>
            <a:r>
              <a:rPr lang="en-US" altLang="zh-CN" sz="2800" dirty="0"/>
              <a:t>-</a:t>
            </a:r>
            <a:r>
              <a:rPr lang="zh-CN" altLang="en-US" sz="2800" dirty="0"/>
              <a:t>端一体开发平台</a:t>
            </a:r>
          </a:p>
          <a:p>
            <a:pPr lvl="1"/>
            <a:r>
              <a:rPr lang="en-US" altLang="zh-CN" sz="2400" dirty="0" err="1"/>
              <a:t>TinyLink</a:t>
            </a:r>
            <a:endParaRPr lang="en-US" altLang="zh-CN" sz="2400" dirty="0"/>
          </a:p>
          <a:p>
            <a:pPr lvl="1"/>
            <a:r>
              <a:rPr lang="en-US" altLang="zh-CN" sz="2400" dirty="0"/>
              <a:t>IoT Studio</a:t>
            </a:r>
          </a:p>
          <a:p>
            <a:pPr lvl="1"/>
            <a:r>
              <a:rPr lang="en-US" altLang="zh-CN" sz="2400" dirty="0" err="1"/>
              <a:t>Tuya</a:t>
            </a:r>
            <a:r>
              <a:rPr lang="en-US" altLang="zh-CN" sz="2400" dirty="0"/>
              <a:t> IoT</a:t>
            </a:r>
            <a:r>
              <a:rPr lang="zh-CN" altLang="en-US" sz="2400" dirty="0"/>
              <a:t>开发平台</a:t>
            </a:r>
          </a:p>
          <a:p>
            <a:r>
              <a:rPr lang="zh-CN" altLang="en-US" sz="2800" dirty="0"/>
              <a:t>案例开发</a:t>
            </a:r>
          </a:p>
          <a:p>
            <a:r>
              <a:rPr lang="zh-CN" altLang="en-US" sz="2800" dirty="0">
                <a:solidFill>
                  <a:srgbClr val="C00000"/>
                </a:solidFill>
              </a:rPr>
              <a:t>总结</a:t>
            </a:r>
          </a:p>
          <a:p>
            <a:endParaRPr lang="zh-CN" altLang="en-US" dirty="0"/>
          </a:p>
        </p:txBody>
      </p:sp>
      <p:sp>
        <p:nvSpPr>
          <p:cNvPr id="28" name="灯片编号占位符 4"/>
          <p:cNvSpPr txBox="1">
            <a:spLocks noChangeArrowheads="1"/>
          </p:cNvSpPr>
          <p:nvPr/>
        </p:nvSpPr>
        <p:spPr bwMode="auto">
          <a:xfrm>
            <a:off x="8229600" y="6553200"/>
            <a:ext cx="762000" cy="228600"/>
          </a:xfrm>
          <a:prstGeom prst="rect">
            <a:avLst/>
          </a:prstGeom>
          <a:noFill/>
          <a:ln w="9525">
            <a:noFill/>
            <a:miter lim="800000"/>
            <a:headEnd/>
            <a:tailEnd/>
          </a:ln>
        </p:spPr>
        <p:txBody>
          <a:bodyPr lIns="92075" tIns="46038" rIns="92075" bIns="46038" anchor="ctr"/>
          <a:lstStyle/>
          <a:p>
            <a:pPr algn="r"/>
            <a:fld id="{5C42246B-9AD6-4994-8CF2-B420465BEF68}" type="slidenum">
              <a:rPr lang="en-US" altLang="zh-CN" sz="1800" baseline="0">
                <a:solidFill>
                  <a:srgbClr val="000000"/>
                </a:solidFill>
                <a:latin typeface="Monotype Corsiva" pitchFamily="66" charset="0"/>
              </a:rPr>
              <a:pPr algn="r"/>
              <a:t>142</a:t>
            </a:fld>
            <a:endParaRPr lang="zh-CN" altLang="zh-CN" sz="1800" baseline="0" dirty="0">
              <a:solidFill>
                <a:srgbClr val="000000"/>
              </a:solidFill>
              <a:latin typeface="Monotype Corsiva" pitchFamily="66" charset="0"/>
            </a:endParaRPr>
          </a:p>
        </p:txBody>
      </p:sp>
      <p:sp>
        <p:nvSpPr>
          <p:cNvPr id="7" name="内容占位符 2"/>
          <p:cNvSpPr>
            <a:spLocks noGrp="1"/>
          </p:cNvSpPr>
          <p:nvPr/>
        </p:nvSpPr>
        <p:spPr bwMode="auto">
          <a:xfrm>
            <a:off x="457200" y="990000"/>
            <a:ext cx="8305800" cy="5410200"/>
          </a:xfrm>
          <a:prstGeom prst="rect">
            <a:avLst/>
          </a:prstGeom>
          <a:noFill/>
          <a:ln w="9525">
            <a:noFill/>
            <a:miter lim="800000"/>
          </a:ln>
          <a:effectLst/>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Tx/>
              <a:buFont typeface="Wingdings" panose="05000000000000000000" pitchFamily="2" charset="2"/>
              <a:buChar char="l"/>
              <a:defRPr lang="zh-CN" altLang="en-US" sz="2800" b="1" baseline="0" dirty="0" smtClean="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20000"/>
              </a:spcBef>
              <a:spcAft>
                <a:spcPct val="0"/>
              </a:spcAft>
              <a:buClrTx/>
              <a:buFont typeface="Wingdings" panose="05000000000000000000" pitchFamily="2" charset="2"/>
              <a:buChar char="l"/>
              <a:defRPr kumimoji="1" lang="zh-CN" altLang="en-US" sz="2800" b="1" baseline="0" dirty="0">
                <a:solidFill>
                  <a:schemeClr val="tx1"/>
                </a:solidFill>
                <a:effectLst/>
                <a:latin typeface="+mj-ea"/>
                <a:ea typeface="+mj-ea"/>
                <a:cs typeface="+mn-cs"/>
              </a:defRPr>
            </a:lvl2pPr>
            <a:lvl3pPr marL="1143000" indent="-228600" algn="l" rtl="0" eaLnBrk="0" fontAlgn="base" hangingPunct="0">
              <a:spcBef>
                <a:spcPct val="20000"/>
              </a:spcBef>
              <a:spcAft>
                <a:spcPct val="0"/>
              </a:spcAft>
              <a:buClrTx/>
              <a:buFont typeface="Wingdings" panose="05000000000000000000" pitchFamily="2" charset="2"/>
              <a:buChar char="l"/>
              <a:defRPr lang="en-US" altLang="zh-CN" sz="2400" b="1" i="0" baseline="0">
                <a:solidFill>
                  <a:schemeClr val="tx1"/>
                </a:solidFill>
                <a:effectLst/>
                <a:latin typeface="微软雅黑" panose="020B0503020204020204" pitchFamily="34" charset="-122"/>
                <a:ea typeface="微软雅黑" panose="020B0503020204020204" pitchFamily="34" charset="-122"/>
                <a:cs typeface="+mn-cs"/>
              </a:defRPr>
            </a:lvl3pPr>
            <a:lvl4pPr marL="1600200" indent="-228600" algn="l" rtl="0" eaLnBrk="0" fontAlgn="base" hangingPunct="0">
              <a:spcBef>
                <a:spcPct val="20000"/>
              </a:spcBef>
              <a:spcAft>
                <a:spcPct val="0"/>
              </a:spcAft>
              <a:buClrTx/>
              <a:buSzPct val="100000"/>
              <a:buFont typeface="Wingdings" panose="05000000000000000000" pitchFamily="2" charset="2"/>
              <a:buChar char="l"/>
              <a:defRPr lang="en-US" altLang="zh-CN" sz="2400" b="1" baseline="0">
                <a:solidFill>
                  <a:schemeClr val="tx1"/>
                </a:solidFill>
                <a:effectLst/>
                <a:latin typeface="微软雅黑" panose="020B0503020204020204" pitchFamily="34" charset="-122"/>
                <a:ea typeface="微软雅黑" panose="020B0503020204020204" pitchFamily="34" charset="-122"/>
                <a:cs typeface="+mn-cs"/>
              </a:defRPr>
            </a:lvl4pPr>
            <a:lvl5pPr marL="2057400" indent="-228600" algn="l" rtl="0" eaLnBrk="0" fontAlgn="base" hangingPunct="0">
              <a:spcBef>
                <a:spcPct val="20000"/>
              </a:spcBef>
              <a:spcAft>
                <a:spcPct val="0"/>
              </a:spcAft>
              <a:buClrTx/>
              <a:buSzPct val="100000"/>
              <a:buFont typeface="Wingdings" panose="05000000000000000000" pitchFamily="2" charset="2"/>
              <a:buChar char="l"/>
              <a:defRPr lang="en-US" altLang="zh-CN" sz="2400" b="1" i="1" baseline="0">
                <a:solidFill>
                  <a:schemeClr val="tx1"/>
                </a:solidFill>
                <a:effectLst/>
                <a:latin typeface="微软雅黑" panose="020B0503020204020204" pitchFamily="34" charset="-122"/>
                <a:ea typeface="微软雅黑" panose="020B0503020204020204" pitchFamily="34" charset="-122"/>
                <a:cs typeface="+mn-cs"/>
              </a:defRPr>
            </a:lvl5pPr>
            <a:lvl6pPr marL="25146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9pPr>
          </a:lstStyle>
          <a:p>
            <a:endParaRPr lang="zh-CN" altLang="en-US" dirty="0"/>
          </a:p>
        </p:txBody>
      </p:sp>
    </p:spTree>
    <p:extLst>
      <p:ext uri="{BB962C8B-B14F-4D97-AF65-F5344CB8AC3E}">
        <p14:creationId xmlns:p14="http://schemas.microsoft.com/office/powerpoint/2010/main" val="1597343179"/>
      </p:ext>
    </p:extLst>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12BB3-6535-4838-A010-C18377923B28}"/>
              </a:ext>
            </a:extLst>
          </p:cNvPr>
          <p:cNvSpPr>
            <a:spLocks noGrp="1"/>
          </p:cNvSpPr>
          <p:nvPr>
            <p:ph type="title"/>
          </p:nvPr>
        </p:nvSpPr>
        <p:spPr/>
        <p:txBody>
          <a:bodyPr/>
          <a:lstStyle/>
          <a:p>
            <a:r>
              <a:rPr lang="zh-CN" altLang="en-US"/>
              <a:t>总结</a:t>
            </a:r>
            <a:endParaRPr lang="zh-CN" altLang="en-US" dirty="0"/>
          </a:p>
        </p:txBody>
      </p:sp>
      <p:sp>
        <p:nvSpPr>
          <p:cNvPr id="5" name="内容占位符 2">
            <a:extLst>
              <a:ext uri="{FF2B5EF4-FFF2-40B4-BE49-F238E27FC236}">
                <a16:creationId xmlns:a16="http://schemas.microsoft.com/office/drawing/2014/main" id="{6052F64F-A0B0-4032-BEA6-47B40A36A473}"/>
              </a:ext>
            </a:extLst>
          </p:cNvPr>
          <p:cNvSpPr>
            <a:spLocks noGrp="1"/>
          </p:cNvSpPr>
          <p:nvPr>
            <p:ph idx="1"/>
          </p:nvPr>
        </p:nvSpPr>
        <p:spPr/>
        <p:txBody>
          <a:bodyPr/>
          <a:lstStyle/>
          <a:p>
            <a:r>
              <a:rPr lang="zh-CN" altLang="en-US"/>
              <a:t>物联网云</a:t>
            </a:r>
            <a:r>
              <a:rPr lang="en-US" altLang="zh-CN"/>
              <a:t>-</a:t>
            </a:r>
            <a:r>
              <a:rPr lang="zh-CN" altLang="en-US"/>
              <a:t>端一体开发平台涵盖了设备开发、云服务开发、</a:t>
            </a:r>
            <a:r>
              <a:rPr lang="en-US" altLang="zh-CN"/>
              <a:t>Web</a:t>
            </a:r>
            <a:r>
              <a:rPr lang="zh-CN" altLang="en-US"/>
              <a:t>应用</a:t>
            </a:r>
            <a:r>
              <a:rPr lang="en-US" altLang="zh-CN"/>
              <a:t>/</a:t>
            </a:r>
            <a:r>
              <a:rPr lang="zh-CN" altLang="en-US"/>
              <a:t>移动应用开发等物联网应用开发的全链路流程</a:t>
            </a:r>
            <a:endParaRPr lang="en-US" altLang="zh-CN"/>
          </a:p>
          <a:p>
            <a:r>
              <a:rPr lang="zh-CN" altLang="en-US"/>
              <a:t>本章涉及三个主流的物联网云平台，</a:t>
            </a:r>
            <a:r>
              <a:rPr lang="en-US" altLang="zh-CN"/>
              <a:t>TinyLink</a:t>
            </a:r>
            <a:r>
              <a:rPr lang="zh-CN" altLang="en-US"/>
              <a:t>、 </a:t>
            </a:r>
            <a:r>
              <a:rPr lang="en-US" altLang="zh-CN"/>
              <a:t>IoT Studio</a:t>
            </a:r>
            <a:r>
              <a:rPr lang="zh-CN" altLang="en-US"/>
              <a:t>和</a:t>
            </a:r>
            <a:r>
              <a:rPr lang="en-US" altLang="zh-CN"/>
              <a:t>Tuya IoT</a:t>
            </a:r>
            <a:r>
              <a:rPr lang="zh-CN" altLang="en-US"/>
              <a:t>平台，三个平台的比较如下</a:t>
            </a:r>
          </a:p>
          <a:p>
            <a:endParaRPr lang="en-US" altLang="zh-CN" dirty="0">
              <a:sym typeface="Wingdings" pitchFamily="2" charset="2"/>
            </a:endParaRPr>
          </a:p>
        </p:txBody>
      </p:sp>
      <p:graphicFrame>
        <p:nvGraphicFramePr>
          <p:cNvPr id="6" name="表格 5"/>
          <p:cNvGraphicFramePr>
            <a:graphicFrameLocks noGrp="1"/>
          </p:cNvGraphicFramePr>
          <p:nvPr>
            <p:extLst>
              <p:ext uri="{D42A27DB-BD31-4B8C-83A1-F6EECF244321}">
                <p14:modId xmlns:p14="http://schemas.microsoft.com/office/powerpoint/2010/main" val="500291398"/>
              </p:ext>
            </p:extLst>
          </p:nvPr>
        </p:nvGraphicFramePr>
        <p:xfrm>
          <a:off x="327660" y="2917194"/>
          <a:ext cx="8488680" cy="3603113"/>
        </p:xfrm>
        <a:graphic>
          <a:graphicData uri="http://schemas.openxmlformats.org/drawingml/2006/table">
            <a:tbl>
              <a:tblPr firstRow="1" bandRow="1">
                <a:tableStyleId>{93296810-A885-4BE3-A3E7-6D5BEEA58F35}</a:tableStyleId>
              </a:tblPr>
              <a:tblGrid>
                <a:gridCol w="1119826">
                  <a:extLst>
                    <a:ext uri="{9D8B030D-6E8A-4147-A177-3AD203B41FA5}">
                      <a16:colId xmlns:a16="http://schemas.microsoft.com/office/drawing/2014/main" val="20000"/>
                    </a:ext>
                  </a:extLst>
                </a:gridCol>
                <a:gridCol w="1936100">
                  <a:extLst>
                    <a:ext uri="{9D8B030D-6E8A-4147-A177-3AD203B41FA5}">
                      <a16:colId xmlns:a16="http://schemas.microsoft.com/office/drawing/2014/main" val="20001"/>
                    </a:ext>
                  </a:extLst>
                </a:gridCol>
                <a:gridCol w="1409122">
                  <a:extLst>
                    <a:ext uri="{9D8B030D-6E8A-4147-A177-3AD203B41FA5}">
                      <a16:colId xmlns:a16="http://schemas.microsoft.com/office/drawing/2014/main" val="20002"/>
                    </a:ext>
                  </a:extLst>
                </a:gridCol>
                <a:gridCol w="2597535">
                  <a:extLst>
                    <a:ext uri="{9D8B030D-6E8A-4147-A177-3AD203B41FA5}">
                      <a16:colId xmlns:a16="http://schemas.microsoft.com/office/drawing/2014/main" val="20003"/>
                    </a:ext>
                  </a:extLst>
                </a:gridCol>
                <a:gridCol w="1426097">
                  <a:extLst>
                    <a:ext uri="{9D8B030D-6E8A-4147-A177-3AD203B41FA5}">
                      <a16:colId xmlns:a16="http://schemas.microsoft.com/office/drawing/2014/main" val="20004"/>
                    </a:ext>
                  </a:extLst>
                </a:gridCol>
              </a:tblGrid>
              <a:tr h="364486">
                <a:tc>
                  <a:txBody>
                    <a:bodyPr/>
                    <a:lstStyle/>
                    <a:p>
                      <a:pPr>
                        <a:lnSpc>
                          <a:spcPct val="110000"/>
                        </a:lnSpc>
                      </a:pPr>
                      <a:r>
                        <a:rPr lang="zh-CN" altLang="en-US" sz="1600" dirty="0">
                          <a:latin typeface="+mj-ea"/>
                          <a:ea typeface="+mj-ea"/>
                        </a:rPr>
                        <a:t>平台名称</a:t>
                      </a:r>
                      <a:endParaRPr lang="zh-CN" altLang="en-US" sz="1600" dirty="0">
                        <a:latin typeface="+mj-ea"/>
                        <a:ea typeface="+mj-ea"/>
                        <a:cs typeface="Times New Roman" panose="02020603050405020304" pitchFamily="18" charset="0"/>
                      </a:endParaRPr>
                    </a:p>
                  </a:txBody>
                  <a:tcPr/>
                </a:tc>
                <a:tc>
                  <a:txBody>
                    <a:bodyPr/>
                    <a:lstStyle/>
                    <a:p>
                      <a:pPr>
                        <a:lnSpc>
                          <a:spcPct val="110000"/>
                        </a:lnSpc>
                      </a:pPr>
                      <a:r>
                        <a:rPr lang="zh-CN" altLang="en-US" sz="1600" dirty="0">
                          <a:latin typeface="+mj-ea"/>
                          <a:ea typeface="+mj-ea"/>
                        </a:rPr>
                        <a:t>设备开发</a:t>
                      </a:r>
                      <a:endParaRPr lang="zh-CN" altLang="en-US" sz="1600" dirty="0">
                        <a:latin typeface="+mj-ea"/>
                        <a:ea typeface="+mj-ea"/>
                        <a:cs typeface="Times New Roman" panose="02020603050405020304" pitchFamily="18" charset="0"/>
                      </a:endParaRPr>
                    </a:p>
                  </a:txBody>
                  <a:tcPr/>
                </a:tc>
                <a:tc>
                  <a:txBody>
                    <a:bodyPr/>
                    <a:lstStyle/>
                    <a:p>
                      <a:pPr>
                        <a:lnSpc>
                          <a:spcPct val="110000"/>
                        </a:lnSpc>
                      </a:pPr>
                      <a:r>
                        <a:rPr lang="zh-CN" altLang="en-US" sz="1600" dirty="0">
                          <a:latin typeface="+mj-ea"/>
                          <a:ea typeface="+mj-ea"/>
                        </a:rPr>
                        <a:t>服务开发</a:t>
                      </a:r>
                      <a:endParaRPr lang="zh-CN" altLang="en-US" sz="1600" dirty="0">
                        <a:latin typeface="+mj-ea"/>
                        <a:ea typeface="+mj-ea"/>
                        <a:cs typeface="Times New Roman" panose="02020603050405020304" pitchFamily="18" charset="0"/>
                      </a:endParaRPr>
                    </a:p>
                  </a:txBody>
                  <a:tcPr/>
                </a:tc>
                <a:tc>
                  <a:txBody>
                    <a:bodyPr/>
                    <a:lstStyle/>
                    <a:p>
                      <a:pPr>
                        <a:lnSpc>
                          <a:spcPct val="110000"/>
                        </a:lnSpc>
                      </a:pPr>
                      <a:r>
                        <a:rPr lang="en-US" altLang="zh-CN" sz="1600" dirty="0">
                          <a:latin typeface="+mj-ea"/>
                          <a:ea typeface="+mj-ea"/>
                        </a:rPr>
                        <a:t>Web</a:t>
                      </a:r>
                      <a:r>
                        <a:rPr lang="zh-CN" altLang="en-US" sz="1600" dirty="0">
                          <a:latin typeface="+mj-ea"/>
                          <a:ea typeface="+mj-ea"/>
                        </a:rPr>
                        <a:t>应用</a:t>
                      </a:r>
                      <a:r>
                        <a:rPr lang="en-US" altLang="zh-CN" sz="1600" dirty="0">
                          <a:latin typeface="+mj-ea"/>
                          <a:ea typeface="+mj-ea"/>
                        </a:rPr>
                        <a:t>/</a:t>
                      </a:r>
                      <a:r>
                        <a:rPr lang="zh-CN" altLang="en-US" sz="1600" dirty="0">
                          <a:latin typeface="+mj-ea"/>
                          <a:ea typeface="+mj-ea"/>
                        </a:rPr>
                        <a:t>移动应用开发</a:t>
                      </a:r>
                      <a:endParaRPr lang="zh-CN" altLang="en-US" sz="1600" dirty="0">
                        <a:latin typeface="+mj-ea"/>
                        <a:ea typeface="+mj-ea"/>
                        <a:cs typeface="Times New Roman" panose="02020603050405020304" pitchFamily="18" charset="0"/>
                      </a:endParaRPr>
                    </a:p>
                  </a:txBody>
                  <a:tcPr/>
                </a:tc>
                <a:tc>
                  <a:txBody>
                    <a:bodyPr/>
                    <a:lstStyle/>
                    <a:p>
                      <a:pPr>
                        <a:lnSpc>
                          <a:spcPct val="110000"/>
                        </a:lnSpc>
                      </a:pPr>
                      <a:r>
                        <a:rPr lang="zh-CN" altLang="en-US" sz="1600" dirty="0">
                          <a:latin typeface="+mj-ea"/>
                          <a:ea typeface="+mj-ea"/>
                        </a:rPr>
                        <a:t>特点</a:t>
                      </a:r>
                      <a:endParaRPr lang="zh-CN" altLang="en-US" sz="1600" dirty="0">
                        <a:latin typeface="+mj-ea"/>
                        <a:ea typeface="+mj-ea"/>
                        <a:cs typeface="Times New Roman" panose="02020603050405020304" pitchFamily="18" charset="0"/>
                      </a:endParaRPr>
                    </a:p>
                  </a:txBody>
                  <a:tcPr/>
                </a:tc>
                <a:extLst>
                  <a:ext uri="{0D108BD9-81ED-4DB2-BD59-A6C34878D82A}">
                    <a16:rowId xmlns:a16="http://schemas.microsoft.com/office/drawing/2014/main" val="10000"/>
                  </a:ext>
                </a:extLst>
              </a:tr>
              <a:tr h="924560">
                <a:tc>
                  <a:txBody>
                    <a:bodyPr/>
                    <a:lstStyle/>
                    <a:p>
                      <a:pPr>
                        <a:lnSpc>
                          <a:spcPct val="110000"/>
                        </a:lnSpc>
                      </a:pPr>
                      <a:r>
                        <a:rPr lang="en-US" altLang="zh-CN" sz="1600" dirty="0" err="1">
                          <a:latin typeface="+mj-ea"/>
                          <a:ea typeface="+mj-ea"/>
                        </a:rPr>
                        <a:t>TinyLink</a:t>
                      </a:r>
                      <a:endParaRPr lang="zh-CN" altLang="en-US" sz="1600" dirty="0">
                        <a:latin typeface="+mj-ea"/>
                        <a:ea typeface="+mj-ea"/>
                        <a:cs typeface="Times New Roman" panose="02020603050405020304" pitchFamily="18" charset="0"/>
                      </a:endParaRPr>
                    </a:p>
                  </a:txBody>
                  <a:tcPr/>
                </a:tc>
                <a:tc>
                  <a:txBody>
                    <a:bodyPr/>
                    <a:lstStyle/>
                    <a:p>
                      <a:pPr>
                        <a:lnSpc>
                          <a:spcPct val="110000"/>
                        </a:lnSpc>
                      </a:pPr>
                      <a:r>
                        <a:rPr lang="zh-CN" altLang="en-US" sz="1600" dirty="0">
                          <a:latin typeface="+mj-ea"/>
                          <a:ea typeface="+mj-ea"/>
                        </a:rPr>
                        <a:t>采用硬件无关的 </a:t>
                      </a:r>
                      <a:r>
                        <a:rPr lang="en-US" altLang="zh-CN" sz="1600" dirty="0" err="1">
                          <a:latin typeface="+mj-ea"/>
                          <a:ea typeface="+mj-ea"/>
                        </a:rPr>
                        <a:t>TinyLink</a:t>
                      </a:r>
                      <a:r>
                        <a:rPr lang="en-US" altLang="zh-CN" sz="1600" dirty="0">
                          <a:latin typeface="+mj-ea"/>
                          <a:ea typeface="+mj-ea"/>
                        </a:rPr>
                        <a:t> </a:t>
                      </a:r>
                      <a:r>
                        <a:rPr lang="zh-CN" altLang="en-US" sz="1600" dirty="0">
                          <a:latin typeface="+mj-ea"/>
                          <a:ea typeface="+mj-ea"/>
                        </a:rPr>
                        <a:t>语言，支持云端编译</a:t>
                      </a:r>
                      <a:endParaRPr lang="zh-CN" altLang="en-US" sz="1600" dirty="0">
                        <a:latin typeface="+mj-ea"/>
                        <a:ea typeface="+mj-ea"/>
                        <a:cs typeface="Times New Roman" panose="02020603050405020304" pitchFamily="18" charset="0"/>
                      </a:endParaRPr>
                    </a:p>
                  </a:txBody>
                  <a:tcPr/>
                </a:tc>
                <a:tc>
                  <a:txBody>
                    <a:bodyPr/>
                    <a:lstStyle/>
                    <a:p>
                      <a:pPr>
                        <a:lnSpc>
                          <a:spcPct val="110000"/>
                        </a:lnSpc>
                      </a:pPr>
                      <a:r>
                        <a:rPr lang="zh-CN" altLang="en-US" sz="1600" dirty="0">
                          <a:latin typeface="+mj-ea"/>
                          <a:ea typeface="+mj-ea"/>
                        </a:rPr>
                        <a:t>支持基于</a:t>
                      </a:r>
                      <a:r>
                        <a:rPr lang="en-US" altLang="zh-CN" sz="1600" dirty="0">
                          <a:latin typeface="+mj-ea"/>
                          <a:ea typeface="+mj-ea"/>
                        </a:rPr>
                        <a:t>IFTTT</a:t>
                      </a:r>
                      <a:r>
                        <a:rPr lang="zh-CN" altLang="en-US" sz="1600" dirty="0">
                          <a:latin typeface="+mj-ea"/>
                          <a:ea typeface="+mj-ea"/>
                        </a:rPr>
                        <a:t>规则的服务开发</a:t>
                      </a:r>
                      <a:endParaRPr lang="zh-CN" altLang="en-US" sz="1600" dirty="0">
                        <a:latin typeface="+mj-ea"/>
                        <a:ea typeface="+mj-ea"/>
                        <a:cs typeface="Times New Roman" panose="02020603050405020304" pitchFamily="18" charset="0"/>
                      </a:endParaRPr>
                    </a:p>
                  </a:txBody>
                  <a:tcPr/>
                </a:tc>
                <a:tc>
                  <a:txBody>
                    <a:bodyPr/>
                    <a:lstStyle/>
                    <a:p>
                      <a:pPr>
                        <a:lnSpc>
                          <a:spcPct val="110000"/>
                        </a:lnSpc>
                      </a:pPr>
                      <a:r>
                        <a:rPr lang="zh-CN" altLang="en-US" sz="1600" dirty="0">
                          <a:latin typeface="+mj-ea"/>
                          <a:ea typeface="+mj-ea"/>
                        </a:rPr>
                        <a:t>基于设备端代码，自动生成</a:t>
                      </a:r>
                      <a:r>
                        <a:rPr lang="en-US" altLang="zh-CN" sz="1600" dirty="0">
                          <a:latin typeface="+mj-ea"/>
                          <a:ea typeface="+mj-ea"/>
                        </a:rPr>
                        <a:t>Web</a:t>
                      </a:r>
                      <a:r>
                        <a:rPr lang="zh-CN" altLang="en-US" sz="1600" dirty="0">
                          <a:latin typeface="+mj-ea"/>
                          <a:ea typeface="+mj-ea"/>
                        </a:rPr>
                        <a:t>应用</a:t>
                      </a:r>
                      <a:r>
                        <a:rPr lang="en-US" altLang="zh-CN" sz="1600" dirty="0">
                          <a:latin typeface="+mj-ea"/>
                          <a:ea typeface="+mj-ea"/>
                        </a:rPr>
                        <a:t>/</a:t>
                      </a:r>
                      <a:r>
                        <a:rPr lang="zh-CN" altLang="en-US" sz="1600" dirty="0">
                          <a:latin typeface="+mj-ea"/>
                          <a:ea typeface="+mj-ea"/>
                        </a:rPr>
                        <a:t>移动应用框架，开发难度最低</a:t>
                      </a:r>
                      <a:endParaRPr lang="zh-CN" altLang="en-US" sz="1600" dirty="0">
                        <a:latin typeface="+mj-ea"/>
                        <a:ea typeface="+mj-ea"/>
                        <a:cs typeface="Times New Roman" panose="02020603050405020304" pitchFamily="18" charset="0"/>
                      </a:endParaRPr>
                    </a:p>
                  </a:txBody>
                  <a:tcPr/>
                </a:tc>
                <a:tc>
                  <a:txBody>
                    <a:bodyPr/>
                    <a:lstStyle/>
                    <a:p>
                      <a:pPr>
                        <a:lnSpc>
                          <a:spcPct val="110000"/>
                        </a:lnSpc>
                      </a:pPr>
                      <a:r>
                        <a:rPr lang="zh-CN" altLang="en-US" sz="1600" dirty="0">
                          <a:latin typeface="+mj-ea"/>
                          <a:ea typeface="+mj-ea"/>
                        </a:rPr>
                        <a:t>开发简单，适合物联网技术的初学者</a:t>
                      </a:r>
                      <a:endParaRPr lang="zh-CN" altLang="en-US" sz="1600" dirty="0">
                        <a:latin typeface="+mj-ea"/>
                        <a:ea typeface="+mj-ea"/>
                        <a:cs typeface="Times New Roman" panose="02020603050405020304" pitchFamily="18" charset="0"/>
                      </a:endParaRPr>
                    </a:p>
                  </a:txBody>
                  <a:tcPr/>
                </a:tc>
                <a:extLst>
                  <a:ext uri="{0D108BD9-81ED-4DB2-BD59-A6C34878D82A}">
                    <a16:rowId xmlns:a16="http://schemas.microsoft.com/office/drawing/2014/main" val="10001"/>
                  </a:ext>
                </a:extLst>
              </a:tr>
              <a:tr h="1168400">
                <a:tc>
                  <a:txBody>
                    <a:bodyPr/>
                    <a:lstStyle/>
                    <a:p>
                      <a:pPr>
                        <a:lnSpc>
                          <a:spcPct val="110000"/>
                        </a:lnSpc>
                      </a:pPr>
                      <a:r>
                        <a:rPr lang="en-US" altLang="zh-CN" sz="1600" dirty="0">
                          <a:latin typeface="+mj-ea"/>
                          <a:ea typeface="+mj-ea"/>
                        </a:rPr>
                        <a:t>Link Develop</a:t>
                      </a:r>
                      <a:endParaRPr lang="zh-CN" altLang="en-US" sz="1600" dirty="0">
                        <a:latin typeface="+mj-ea"/>
                        <a:ea typeface="+mj-ea"/>
                        <a:cs typeface="Times New Roman" panose="02020603050405020304" pitchFamily="18" charset="0"/>
                      </a:endParaRPr>
                    </a:p>
                  </a:txBody>
                  <a:tcPr/>
                </a:tc>
                <a:tc>
                  <a:txBody>
                    <a:bodyPr/>
                    <a:lstStyle/>
                    <a:p>
                      <a:pPr>
                        <a:lnSpc>
                          <a:spcPct val="110000"/>
                        </a:lnSpc>
                      </a:pPr>
                      <a:r>
                        <a:rPr lang="zh-CN" altLang="en-US" sz="1600" dirty="0">
                          <a:latin typeface="+mj-ea"/>
                          <a:ea typeface="+mj-ea"/>
                        </a:rPr>
                        <a:t>提供基于</a:t>
                      </a:r>
                      <a:r>
                        <a:rPr lang="en-US" altLang="zh-CN" sz="1600" dirty="0">
                          <a:latin typeface="+mj-ea"/>
                          <a:ea typeface="+mj-ea"/>
                        </a:rPr>
                        <a:t>SDK</a:t>
                      </a:r>
                      <a:r>
                        <a:rPr lang="zh-CN" altLang="en-US" sz="1600" dirty="0">
                          <a:latin typeface="+mj-ea"/>
                          <a:ea typeface="+mj-ea"/>
                        </a:rPr>
                        <a:t>、基于</a:t>
                      </a:r>
                      <a:r>
                        <a:rPr lang="en-US" altLang="zh-CN" sz="1600" dirty="0" err="1">
                          <a:latin typeface="+mj-ea"/>
                          <a:ea typeface="+mj-ea"/>
                        </a:rPr>
                        <a:t>AliOS</a:t>
                      </a:r>
                      <a:r>
                        <a:rPr lang="en-US" altLang="zh-CN" sz="1600" dirty="0">
                          <a:latin typeface="+mj-ea"/>
                          <a:ea typeface="+mj-ea"/>
                        </a:rPr>
                        <a:t>-Things</a:t>
                      </a:r>
                      <a:r>
                        <a:rPr lang="zh-CN" altLang="en-US" sz="1600" dirty="0">
                          <a:latin typeface="+mj-ea"/>
                          <a:ea typeface="+mj-ea"/>
                        </a:rPr>
                        <a:t>、基于解释型语言多种设备端开发方式</a:t>
                      </a:r>
                      <a:endParaRPr lang="zh-CN" altLang="en-US" sz="1600" dirty="0">
                        <a:latin typeface="+mj-ea"/>
                        <a:ea typeface="+mj-ea"/>
                        <a:cs typeface="Times New Roman" panose="02020603050405020304" pitchFamily="18" charset="0"/>
                      </a:endParaRPr>
                    </a:p>
                  </a:txBody>
                  <a:tcPr/>
                </a:tc>
                <a:tc>
                  <a:txBody>
                    <a:bodyPr/>
                    <a:lstStyle/>
                    <a:p>
                      <a:pPr>
                        <a:lnSpc>
                          <a:spcPct val="110000"/>
                        </a:lnSpc>
                      </a:pPr>
                      <a:r>
                        <a:rPr lang="zh-CN" altLang="en-US" sz="1600" dirty="0">
                          <a:latin typeface="+mj-ea"/>
                          <a:ea typeface="+mj-ea"/>
                        </a:rPr>
                        <a:t>提供基于可视化服务编排的服务开发方式</a:t>
                      </a:r>
                      <a:endParaRPr lang="zh-CN" altLang="en-US" sz="1600" dirty="0">
                        <a:latin typeface="+mj-ea"/>
                        <a:ea typeface="+mj-ea"/>
                        <a:cs typeface="Times New Roman" panose="02020603050405020304" pitchFamily="18" charset="0"/>
                      </a:endParaRPr>
                    </a:p>
                  </a:txBody>
                  <a:tcPr/>
                </a:tc>
                <a:tc>
                  <a:txBody>
                    <a:bodyPr/>
                    <a:lstStyle/>
                    <a:p>
                      <a:pPr>
                        <a:lnSpc>
                          <a:spcPct val="110000"/>
                        </a:lnSpc>
                      </a:pPr>
                      <a:r>
                        <a:rPr lang="zh-CN" altLang="en-US" sz="1600" dirty="0">
                          <a:latin typeface="+mj-ea"/>
                          <a:ea typeface="+mj-ea"/>
                        </a:rPr>
                        <a:t>提供可视化搭建的</a:t>
                      </a:r>
                      <a:r>
                        <a:rPr lang="en-US" altLang="zh-CN" sz="1600" dirty="0">
                          <a:latin typeface="+mj-ea"/>
                          <a:ea typeface="+mj-ea"/>
                        </a:rPr>
                        <a:t>Web</a:t>
                      </a:r>
                      <a:r>
                        <a:rPr lang="zh-CN" altLang="en-US" sz="1600" dirty="0">
                          <a:latin typeface="+mj-ea"/>
                          <a:ea typeface="+mj-ea"/>
                        </a:rPr>
                        <a:t>应用</a:t>
                      </a:r>
                      <a:r>
                        <a:rPr lang="en-US" altLang="zh-CN" sz="1600" dirty="0">
                          <a:latin typeface="+mj-ea"/>
                          <a:ea typeface="+mj-ea"/>
                        </a:rPr>
                        <a:t>/</a:t>
                      </a:r>
                      <a:r>
                        <a:rPr lang="zh-CN" altLang="en-US" sz="1600" dirty="0">
                          <a:latin typeface="+mj-ea"/>
                          <a:ea typeface="+mj-ea"/>
                        </a:rPr>
                        <a:t>移动应用开发方式，适合初学者</a:t>
                      </a:r>
                      <a:endParaRPr lang="zh-CN" altLang="en-US" sz="1600" dirty="0">
                        <a:latin typeface="+mj-ea"/>
                        <a:ea typeface="+mj-ea"/>
                        <a:cs typeface="Times New Roman" panose="02020603050405020304" pitchFamily="18" charset="0"/>
                      </a:endParaRPr>
                    </a:p>
                  </a:txBody>
                  <a:tcPr/>
                </a:tc>
                <a:tc>
                  <a:txBody>
                    <a:bodyPr/>
                    <a:lstStyle/>
                    <a:p>
                      <a:pPr>
                        <a:lnSpc>
                          <a:spcPct val="110000"/>
                        </a:lnSpc>
                      </a:pPr>
                      <a:r>
                        <a:rPr lang="zh-CN" altLang="en-US" sz="1600" dirty="0">
                          <a:latin typeface="+mj-ea"/>
                          <a:ea typeface="+mj-ea"/>
                        </a:rPr>
                        <a:t>支持多种开发方式，开发更为灵活</a:t>
                      </a:r>
                      <a:endParaRPr lang="zh-CN" altLang="en-US" sz="1600" dirty="0">
                        <a:latin typeface="+mj-ea"/>
                        <a:ea typeface="+mj-ea"/>
                        <a:cs typeface="Times New Roman" panose="02020603050405020304" pitchFamily="18" charset="0"/>
                      </a:endParaRPr>
                    </a:p>
                  </a:txBody>
                  <a:tcPr/>
                </a:tc>
                <a:extLst>
                  <a:ext uri="{0D108BD9-81ED-4DB2-BD59-A6C34878D82A}">
                    <a16:rowId xmlns:a16="http://schemas.microsoft.com/office/drawing/2014/main" val="10003"/>
                  </a:ext>
                </a:extLst>
              </a:tr>
              <a:tr h="1098007">
                <a:tc>
                  <a:txBody>
                    <a:bodyPr/>
                    <a:lstStyle/>
                    <a:p>
                      <a:pPr>
                        <a:lnSpc>
                          <a:spcPct val="110000"/>
                        </a:lnSpc>
                      </a:pPr>
                      <a:r>
                        <a:rPr lang="en-US" altLang="zh-CN" sz="1600" dirty="0" err="1">
                          <a:latin typeface="+mj-ea"/>
                          <a:ea typeface="+mj-ea"/>
                        </a:rPr>
                        <a:t>Tuya</a:t>
                      </a:r>
                      <a:r>
                        <a:rPr lang="en-US" altLang="zh-CN" sz="1600" dirty="0">
                          <a:latin typeface="+mj-ea"/>
                          <a:ea typeface="+mj-ea"/>
                        </a:rPr>
                        <a:t> IoT</a:t>
                      </a:r>
                      <a:r>
                        <a:rPr lang="zh-CN" altLang="en-US" sz="1600" dirty="0">
                          <a:latin typeface="+mj-ea"/>
                          <a:ea typeface="+mj-ea"/>
                        </a:rPr>
                        <a:t>平台</a:t>
                      </a:r>
                      <a:endParaRPr lang="zh-CN" altLang="en-US" sz="1600" dirty="0">
                        <a:latin typeface="+mj-ea"/>
                        <a:ea typeface="+mj-ea"/>
                        <a:cs typeface="Times New Roman" panose="02020603050405020304" pitchFamily="18" charset="0"/>
                      </a:endParaRPr>
                    </a:p>
                  </a:txBody>
                  <a:tcPr/>
                </a:tc>
                <a:tc>
                  <a:txBody>
                    <a:bodyPr/>
                    <a:lstStyle/>
                    <a:p>
                      <a:pPr>
                        <a:lnSpc>
                          <a:spcPct val="110000"/>
                        </a:lnSpc>
                      </a:pPr>
                      <a:r>
                        <a:rPr lang="zh-CN" altLang="en-US" sz="1600" dirty="0">
                          <a:latin typeface="+mj-ea"/>
                          <a:ea typeface="+mj-ea"/>
                        </a:rPr>
                        <a:t>提供零代码开发方式和基于</a:t>
                      </a:r>
                      <a:r>
                        <a:rPr lang="en-US" altLang="zh-CN" sz="1600" dirty="0">
                          <a:latin typeface="+mj-ea"/>
                          <a:ea typeface="+mj-ea"/>
                        </a:rPr>
                        <a:t>SDK</a:t>
                      </a:r>
                      <a:r>
                        <a:rPr lang="zh-CN" altLang="en-US" sz="1600" dirty="0">
                          <a:latin typeface="+mj-ea"/>
                          <a:ea typeface="+mj-ea"/>
                        </a:rPr>
                        <a:t>的低代码</a:t>
                      </a:r>
                      <a:r>
                        <a:rPr lang="en-US" altLang="zh-CN" sz="1600" dirty="0">
                          <a:latin typeface="+mj-ea"/>
                          <a:ea typeface="+mj-ea"/>
                        </a:rPr>
                        <a:t>/</a:t>
                      </a:r>
                      <a:r>
                        <a:rPr lang="zh-CN" altLang="en-US" sz="1600" dirty="0">
                          <a:latin typeface="+mj-ea"/>
                          <a:ea typeface="+mj-ea"/>
                        </a:rPr>
                        <a:t>多代码开发</a:t>
                      </a:r>
                      <a:endParaRPr lang="zh-CN" altLang="en-US" sz="1600" dirty="0">
                        <a:latin typeface="+mj-ea"/>
                        <a:ea typeface="+mj-ea"/>
                        <a:cs typeface="Times New Roman" panose="02020603050405020304" pitchFamily="18" charset="0"/>
                      </a:endParaRPr>
                    </a:p>
                  </a:txBody>
                  <a:tcPr/>
                </a:tc>
                <a:tc>
                  <a:txBody>
                    <a:bodyPr/>
                    <a:lstStyle/>
                    <a:p>
                      <a:pPr>
                        <a:lnSpc>
                          <a:spcPct val="110000"/>
                        </a:lnSpc>
                      </a:pPr>
                      <a:r>
                        <a:rPr lang="zh-CN" altLang="en-US" sz="1600" dirty="0">
                          <a:latin typeface="+mj-ea"/>
                          <a:ea typeface="+mj-ea"/>
                        </a:rPr>
                        <a:t>支持基于脚本语言的规则开发</a:t>
                      </a:r>
                      <a:endParaRPr lang="zh-CN" altLang="en-US" sz="1600" dirty="0">
                        <a:latin typeface="+mj-ea"/>
                        <a:ea typeface="+mj-ea"/>
                        <a:cs typeface="Times New Roman" panose="02020603050405020304" pitchFamily="18" charset="0"/>
                      </a:endParaRPr>
                    </a:p>
                  </a:txBody>
                  <a:tcPr/>
                </a:tc>
                <a:tc>
                  <a:txBody>
                    <a:bodyPr/>
                    <a:lstStyle/>
                    <a:p>
                      <a:pPr>
                        <a:lnSpc>
                          <a:spcPct val="110000"/>
                        </a:lnSpc>
                      </a:pPr>
                      <a:r>
                        <a:rPr lang="zh-CN" altLang="en-US" sz="1600" dirty="0">
                          <a:latin typeface="+mj-ea"/>
                          <a:ea typeface="+mj-ea"/>
                        </a:rPr>
                        <a:t>提供可视化搭建的</a:t>
                      </a:r>
                      <a:r>
                        <a:rPr lang="en-US" altLang="zh-CN" sz="1600" dirty="0">
                          <a:latin typeface="+mj-ea"/>
                          <a:ea typeface="+mj-ea"/>
                        </a:rPr>
                        <a:t>Web</a:t>
                      </a:r>
                      <a:r>
                        <a:rPr lang="zh-CN" altLang="en-US" sz="1600" dirty="0">
                          <a:latin typeface="+mj-ea"/>
                          <a:ea typeface="+mj-ea"/>
                        </a:rPr>
                        <a:t>应用</a:t>
                      </a:r>
                      <a:r>
                        <a:rPr lang="en-US" altLang="zh-CN" sz="1600" dirty="0">
                          <a:latin typeface="+mj-ea"/>
                          <a:ea typeface="+mj-ea"/>
                        </a:rPr>
                        <a:t>/</a:t>
                      </a:r>
                      <a:r>
                        <a:rPr lang="zh-CN" altLang="en-US" sz="1600" dirty="0">
                          <a:latin typeface="+mj-ea"/>
                          <a:ea typeface="+mj-ea"/>
                        </a:rPr>
                        <a:t>移动应用开发方式，也提供基于</a:t>
                      </a:r>
                      <a:r>
                        <a:rPr lang="en-US" altLang="zh-CN" sz="1600" dirty="0">
                          <a:latin typeface="+mj-ea"/>
                          <a:ea typeface="+mj-ea"/>
                        </a:rPr>
                        <a:t>SDK</a:t>
                      </a:r>
                      <a:r>
                        <a:rPr lang="zh-CN" altLang="en-US" sz="1600" dirty="0">
                          <a:latin typeface="+mj-ea"/>
                          <a:ea typeface="+mj-ea"/>
                        </a:rPr>
                        <a:t>的开发方式</a:t>
                      </a:r>
                      <a:endParaRPr lang="zh-CN" altLang="en-US" sz="1600" dirty="0">
                        <a:latin typeface="+mj-ea"/>
                        <a:ea typeface="+mj-ea"/>
                        <a:cs typeface="Times New Roman" panose="02020603050405020304" pitchFamily="18" charset="0"/>
                      </a:endParaRPr>
                    </a:p>
                  </a:txBody>
                  <a:tcPr/>
                </a:tc>
                <a:tc>
                  <a:txBody>
                    <a:bodyPr/>
                    <a:lstStyle/>
                    <a:p>
                      <a:pPr>
                        <a:lnSpc>
                          <a:spcPct val="110000"/>
                        </a:lnSpc>
                      </a:pPr>
                      <a:r>
                        <a:rPr lang="zh-CN" altLang="en-US" sz="1600" dirty="0">
                          <a:latin typeface="+mj-ea"/>
                          <a:ea typeface="+mj-ea"/>
                        </a:rPr>
                        <a:t>开发简单，解决方案成熟，对工业界支持较多</a:t>
                      </a:r>
                      <a:endParaRPr lang="zh-CN" altLang="en-US" sz="1600" dirty="0">
                        <a:latin typeface="+mj-ea"/>
                        <a:ea typeface="+mj-ea"/>
                        <a:cs typeface="Times New Roman" panose="02020603050405020304" pitchFamily="18" charset="0"/>
                      </a:endParaRPr>
                    </a:p>
                  </a:txBody>
                  <a:tcPr/>
                </a:tc>
                <a:extLst>
                  <a:ext uri="{0D108BD9-81ED-4DB2-BD59-A6C34878D82A}">
                    <a16:rowId xmlns:a16="http://schemas.microsoft.com/office/drawing/2014/main" val="2854289765"/>
                  </a:ext>
                </a:extLst>
              </a:tr>
            </a:tbl>
          </a:graphicData>
        </a:graphic>
      </p:graphicFrame>
    </p:spTree>
    <p:extLst>
      <p:ext uri="{BB962C8B-B14F-4D97-AF65-F5344CB8AC3E}">
        <p14:creationId xmlns:p14="http://schemas.microsoft.com/office/powerpoint/2010/main" val="577064744"/>
      </p:ext>
    </p:extLst>
  </p:cSld>
  <p:clrMapOvr>
    <a:masterClrMapping/>
  </p:clrMapOv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403225" y="2598420"/>
            <a:ext cx="8532813" cy="923330"/>
          </a:xfrm>
          <a:prstGeom prst="rect">
            <a:avLst/>
          </a:prstGeom>
          <a:solidFill>
            <a:schemeClr val="bg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aseline="-25000">
                <a:solidFill>
                  <a:schemeClr val="tx1"/>
                </a:solidFill>
                <a:latin typeface="Arial" charset="0"/>
                <a:ea typeface="宋体" charset="-122"/>
              </a:defRPr>
            </a:lvl1pPr>
            <a:lvl2pPr marL="742950" indent="-285750" eaLnBrk="0" hangingPunct="0">
              <a:defRPr sz="2400" baseline="-25000">
                <a:solidFill>
                  <a:schemeClr val="tx1"/>
                </a:solidFill>
                <a:latin typeface="Arial" charset="0"/>
                <a:ea typeface="宋体" charset="-122"/>
              </a:defRPr>
            </a:lvl2pPr>
            <a:lvl3pPr marL="1143000" indent="-228600" eaLnBrk="0" hangingPunct="0">
              <a:defRPr sz="2400" baseline="-25000">
                <a:solidFill>
                  <a:schemeClr val="tx1"/>
                </a:solidFill>
                <a:latin typeface="Arial" charset="0"/>
                <a:ea typeface="宋体" charset="-122"/>
              </a:defRPr>
            </a:lvl3pPr>
            <a:lvl4pPr marL="1600200" indent="-228600" eaLnBrk="0" hangingPunct="0">
              <a:defRPr sz="2400" baseline="-25000">
                <a:solidFill>
                  <a:schemeClr val="tx1"/>
                </a:solidFill>
                <a:latin typeface="Arial" charset="0"/>
                <a:ea typeface="宋体" charset="-122"/>
              </a:defRPr>
            </a:lvl4pPr>
            <a:lvl5pPr marL="2057400" indent="-228600" eaLnBrk="0" hangingPunct="0">
              <a:defRPr sz="2400" baseline="-25000">
                <a:solidFill>
                  <a:schemeClr val="tx1"/>
                </a:solidFill>
                <a:latin typeface="Arial" charset="0"/>
                <a:ea typeface="宋体" charset="-122"/>
              </a:defRPr>
            </a:lvl5pPr>
            <a:lvl6pPr marL="2514600" indent="-228600" eaLnBrk="0" fontAlgn="base" hangingPunct="0">
              <a:spcBef>
                <a:spcPct val="0"/>
              </a:spcBef>
              <a:spcAft>
                <a:spcPct val="0"/>
              </a:spcAft>
              <a:defRPr sz="2400" baseline="-25000">
                <a:solidFill>
                  <a:schemeClr val="tx1"/>
                </a:solidFill>
                <a:latin typeface="Arial" charset="0"/>
                <a:ea typeface="宋体" charset="-122"/>
              </a:defRPr>
            </a:lvl6pPr>
            <a:lvl7pPr marL="2971800" indent="-228600" eaLnBrk="0" fontAlgn="base" hangingPunct="0">
              <a:spcBef>
                <a:spcPct val="0"/>
              </a:spcBef>
              <a:spcAft>
                <a:spcPct val="0"/>
              </a:spcAft>
              <a:defRPr sz="2400" baseline="-25000">
                <a:solidFill>
                  <a:schemeClr val="tx1"/>
                </a:solidFill>
                <a:latin typeface="Arial" charset="0"/>
                <a:ea typeface="宋体" charset="-122"/>
              </a:defRPr>
            </a:lvl7pPr>
            <a:lvl8pPr marL="3429000" indent="-228600" eaLnBrk="0" fontAlgn="base" hangingPunct="0">
              <a:spcBef>
                <a:spcPct val="0"/>
              </a:spcBef>
              <a:spcAft>
                <a:spcPct val="0"/>
              </a:spcAft>
              <a:defRPr sz="2400" baseline="-25000">
                <a:solidFill>
                  <a:schemeClr val="tx1"/>
                </a:solidFill>
                <a:latin typeface="Arial" charset="0"/>
                <a:ea typeface="宋体" charset="-122"/>
              </a:defRPr>
            </a:lvl8pPr>
            <a:lvl9pPr marL="3886200" indent="-228600" eaLnBrk="0" fontAlgn="base" hangingPunct="0">
              <a:spcBef>
                <a:spcPct val="0"/>
              </a:spcBef>
              <a:spcAft>
                <a:spcPct val="0"/>
              </a:spcAft>
              <a:defRPr sz="2400" baseline="-25000">
                <a:solidFill>
                  <a:schemeClr val="tx1"/>
                </a:solidFill>
                <a:latin typeface="Arial" charset="0"/>
                <a:ea typeface="宋体" charset="-122"/>
              </a:defRPr>
            </a:lvl9pPr>
          </a:lstStyle>
          <a:p>
            <a:pPr algn="ctr" eaLnBrk="1" hangingPunct="1">
              <a:spcBef>
                <a:spcPts val="600"/>
              </a:spcBef>
            </a:pPr>
            <a:r>
              <a:rPr lang="zh-CN" altLang="en-US" sz="5400" b="1" baseline="0" dirty="0">
                <a:solidFill>
                  <a:srgbClr val="C00000"/>
                </a:solidFill>
                <a:latin typeface="黑体" pitchFamily="49" charset="-122"/>
                <a:ea typeface="黑体" pitchFamily="49" charset="-122"/>
              </a:rPr>
              <a:t>谢谢！</a:t>
            </a:r>
            <a:endParaRPr lang="en-US" altLang="zh-CN" sz="5400" b="1" baseline="0" dirty="0">
              <a:solidFill>
                <a:srgbClr val="C00000"/>
              </a:solidFill>
              <a:latin typeface="黑体" pitchFamily="49" charset="-122"/>
              <a:ea typeface="黑体" pitchFamily="49" charset="-122"/>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DEFAULTFONTSIZE" val="10"/>
  <p:tag name="DEFAULTWIDTH" val="354"/>
  <p:tag name="DEFAULTHEIGHT" val="200"/>
</p:tagLst>
</file>

<file path=ppt/theme/theme1.xml><?xml version="1.0" encoding="utf-8"?>
<a:theme xmlns:a="http://schemas.openxmlformats.org/drawingml/2006/main" name="NCSU-CS">
  <a:themeElements>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000000"/>
      </a:folHlink>
    </a:clrScheme>
    <a:fontScheme name="自定义 1">
      <a:majorFont>
        <a:latin typeface="Franklin Gothic Medium"/>
        <a:ea typeface="微软雅黑"/>
        <a:cs typeface=""/>
      </a:majorFont>
      <a:minorFont>
        <a:latin typeface="Franklin Gothic Book"/>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5400"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
            <a:schemeClr val="bg1"/>
          </a:buClr>
          <a:buSzPct val="100000"/>
          <a:buFontTx/>
          <a:buNone/>
          <a:tabLst/>
          <a:defRPr kumimoji="0" sz="2400" b="0" i="0" u="none" strike="noStrike" cap="none" normalizeH="0" baseline="-25000" smtClean="0">
            <a:ln>
              <a:noFill/>
            </a:ln>
            <a:solidFill>
              <a:schemeClr val="tx1"/>
            </a:solidFill>
            <a:effectLst>
              <a:outerShdw blurRad="38100" dist="38100" dir="2700000" algn="tl">
                <a:srgbClr val="000000">
                  <a:alpha val="43137"/>
                </a:srgbClr>
              </a:outerShdw>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
            <a:schemeClr val="bg1"/>
          </a:buClr>
          <a:buSzPct val="100000"/>
          <a:buFontTx/>
          <a:buNone/>
          <a:tabLst/>
          <a:defRPr kumimoji="0" lang="en-US" sz="2400" b="0" i="0" u="none" strike="noStrike" cap="none" normalizeH="0" baseline="-25000" smtClean="0">
            <a:ln>
              <a:noFill/>
            </a:ln>
            <a:solidFill>
              <a:schemeClr val="tx1"/>
            </a:solidFill>
            <a:effectLst>
              <a:outerShdw blurRad="38100" dist="38100" dir="2700000" algn="tl">
                <a:srgbClr val="000000">
                  <a:alpha val="43137"/>
                </a:srgbClr>
              </a:outerShdw>
            </a:effectLst>
            <a:latin typeface="Arial" charset="0"/>
          </a:defRPr>
        </a:defPPr>
      </a:lstStyle>
    </a:lnDef>
  </a:objectDefaults>
  <a:extraClrSchemeLst>
    <a:extraClrScheme>
      <a:clrScheme name="NCSU-CS 1">
        <a:dk1>
          <a:srgbClr val="000000"/>
        </a:dk1>
        <a:lt1>
          <a:srgbClr val="FFFFFF"/>
        </a:lt1>
        <a:dk2>
          <a:srgbClr val="3333FF"/>
        </a:dk2>
        <a:lt2>
          <a:srgbClr val="00FFFF"/>
        </a:lt2>
        <a:accent1>
          <a:srgbClr val="00CCCC"/>
        </a:accent1>
        <a:accent2>
          <a:srgbClr val="6666FF"/>
        </a:accent2>
        <a:accent3>
          <a:srgbClr val="ADADFF"/>
        </a:accent3>
        <a:accent4>
          <a:srgbClr val="DADADA"/>
        </a:accent4>
        <a:accent5>
          <a:srgbClr val="AAE2E2"/>
        </a:accent5>
        <a:accent6>
          <a:srgbClr val="5C5CE7"/>
        </a:accent6>
        <a:hlink>
          <a:srgbClr val="CCCCFF"/>
        </a:hlink>
        <a:folHlink>
          <a:srgbClr val="CC99FF"/>
        </a:folHlink>
      </a:clrScheme>
      <a:clrMap bg1="dk2" tx1="lt1" bg2="dk1" tx2="lt2" accent1="accent1" accent2="accent2" accent3="accent3" accent4="accent4" accent5="accent5" accent6="accent6" hlink="hlink" folHlink="folHlink"/>
    </a:extraClrScheme>
    <a:extraClrScheme>
      <a:clrScheme name="NCSU-CS 2">
        <a:dk1>
          <a:srgbClr val="000000"/>
        </a:dk1>
        <a:lt1>
          <a:srgbClr val="CCECFF"/>
        </a:lt1>
        <a:dk2>
          <a:srgbClr val="330099"/>
        </a:dk2>
        <a:lt2>
          <a:srgbClr val="0099CC"/>
        </a:lt2>
        <a:accent1>
          <a:srgbClr val="009999"/>
        </a:accent1>
        <a:accent2>
          <a:srgbClr val="FF99CC"/>
        </a:accent2>
        <a:accent3>
          <a:srgbClr val="E2F4FF"/>
        </a:accent3>
        <a:accent4>
          <a:srgbClr val="000000"/>
        </a:accent4>
        <a:accent5>
          <a:srgbClr val="AACACA"/>
        </a:accent5>
        <a:accent6>
          <a:srgbClr val="E78AB9"/>
        </a:accent6>
        <a:hlink>
          <a:srgbClr val="6600CC"/>
        </a:hlink>
        <a:folHlink>
          <a:srgbClr val="3366FF"/>
        </a:folHlink>
      </a:clrScheme>
      <a:clrMap bg1="lt1" tx1="dk1" bg2="lt2" tx2="dk2" accent1="accent1" accent2="accent2" accent3="accent3" accent4="accent4" accent5="accent5" accent6="accent6" hlink="hlink" folHlink="folHlink"/>
    </a:extraClrScheme>
    <a:extraClrScheme>
      <a:clrScheme name="NCSU-CS 3">
        <a:dk1>
          <a:srgbClr val="000000"/>
        </a:dk1>
        <a:lt1>
          <a:srgbClr val="FFFFFF"/>
        </a:lt1>
        <a:dk2>
          <a:srgbClr val="000000"/>
        </a:dk2>
        <a:lt2>
          <a:srgbClr val="CBCBCB"/>
        </a:lt2>
        <a:accent1>
          <a:srgbClr val="B2B2B2"/>
        </a:accent1>
        <a:accent2>
          <a:srgbClr val="DDDDDD"/>
        </a:accent2>
        <a:accent3>
          <a:srgbClr val="FFFFFF"/>
        </a:accent3>
        <a:accent4>
          <a:srgbClr val="000000"/>
        </a:accent4>
        <a:accent5>
          <a:srgbClr val="D5D5D5"/>
        </a:accent5>
        <a:accent6>
          <a:srgbClr val="C8C8C8"/>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NCSU-CS 4">
        <a:dk1>
          <a:srgbClr val="000000"/>
        </a:dk1>
        <a:lt1>
          <a:srgbClr val="FFFFFF"/>
        </a:lt1>
        <a:dk2>
          <a:srgbClr val="000000"/>
        </a:dk2>
        <a:lt2>
          <a:srgbClr val="777777"/>
        </a:lt2>
        <a:accent1>
          <a:srgbClr val="00CCCC"/>
        </a:accent1>
        <a:accent2>
          <a:srgbClr val="6666FF"/>
        </a:accent2>
        <a:accent3>
          <a:srgbClr val="FFFFFF"/>
        </a:accent3>
        <a:accent4>
          <a:srgbClr val="000000"/>
        </a:accent4>
        <a:accent5>
          <a:srgbClr val="AAE2E2"/>
        </a:accent5>
        <a:accent6>
          <a:srgbClr val="5C5CE7"/>
        </a:accent6>
        <a:hlink>
          <a:srgbClr val="CCCCFF"/>
        </a:hlink>
        <a:folHlink>
          <a:srgbClr val="CC99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48871</TotalTime>
  <Words>12331</Words>
  <Application>Microsoft Office PowerPoint</Application>
  <PresentationFormat>全屏显示(4:3)</PresentationFormat>
  <Paragraphs>2077</Paragraphs>
  <Slides>144</Slides>
  <Notes>113</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144</vt:i4>
      </vt:variant>
    </vt:vector>
  </HeadingPairs>
  <TitlesOfParts>
    <vt:vector size="158" baseType="lpstr">
      <vt:lpstr>Arial Unicode MS</vt:lpstr>
      <vt:lpstr>黑体</vt:lpstr>
      <vt:lpstr>宋体</vt:lpstr>
      <vt:lpstr>微软雅黑</vt:lpstr>
      <vt:lpstr>Arial</vt:lpstr>
      <vt:lpstr>Cambria Math</vt:lpstr>
      <vt:lpstr>Courier New</vt:lpstr>
      <vt:lpstr>Franklin Gothic Book</vt:lpstr>
      <vt:lpstr>Garamond</vt:lpstr>
      <vt:lpstr>Monotype Corsiva</vt:lpstr>
      <vt:lpstr>Times New Roman</vt:lpstr>
      <vt:lpstr>Wingdings</vt:lpstr>
      <vt:lpstr>NCSU-CS</vt:lpstr>
      <vt:lpstr>Visio</vt:lpstr>
      <vt:lpstr>第七章 物联网云-端一体开发</vt:lpstr>
      <vt:lpstr>学习目标</vt:lpstr>
      <vt:lpstr>目录</vt:lpstr>
      <vt:lpstr>概述</vt:lpstr>
      <vt:lpstr>空气质量监测应用</vt:lpstr>
      <vt:lpstr>共享单车</vt:lpstr>
      <vt:lpstr>智能楼宇</vt:lpstr>
      <vt:lpstr>概述</vt:lpstr>
      <vt:lpstr>目录</vt:lpstr>
      <vt:lpstr>主要功能</vt:lpstr>
      <vt:lpstr>设备端开发</vt:lpstr>
      <vt:lpstr>设备端开发</vt:lpstr>
      <vt:lpstr>设备端开发</vt:lpstr>
      <vt:lpstr>设备端开发</vt:lpstr>
      <vt:lpstr>设备端开发</vt:lpstr>
      <vt:lpstr>设备端开发</vt:lpstr>
      <vt:lpstr>主要功能</vt:lpstr>
      <vt:lpstr>云服务开发</vt:lpstr>
      <vt:lpstr>云服务开发</vt:lpstr>
      <vt:lpstr>云服务开发</vt:lpstr>
      <vt:lpstr>云服务开发</vt:lpstr>
      <vt:lpstr>云服务开发</vt:lpstr>
      <vt:lpstr>云服务开发</vt:lpstr>
      <vt:lpstr>主要功能</vt:lpstr>
      <vt:lpstr>Web应用/移动应用开发</vt:lpstr>
      <vt:lpstr>Web应用/移动应用开发</vt:lpstr>
      <vt:lpstr>Web应用/移动应用开发</vt:lpstr>
      <vt:lpstr>Web应用/移动应用开发</vt:lpstr>
      <vt:lpstr>Web应用/移动应用开发</vt:lpstr>
      <vt:lpstr>主要功能</vt:lpstr>
      <vt:lpstr>三端应用集成简化</vt:lpstr>
      <vt:lpstr>三端应用集成简化</vt:lpstr>
      <vt:lpstr>三端应用集成简化</vt:lpstr>
      <vt:lpstr>三端应用集成简化</vt:lpstr>
      <vt:lpstr>三端应用集成简化</vt:lpstr>
      <vt:lpstr>三端应用集成简化</vt:lpstr>
      <vt:lpstr>三端应用集成简化</vt:lpstr>
      <vt:lpstr>三端应用集成简化</vt:lpstr>
      <vt:lpstr>三端应用集成简化</vt:lpstr>
      <vt:lpstr>三端应用集成简化</vt:lpstr>
      <vt:lpstr>三端应用集成简化</vt:lpstr>
      <vt:lpstr>三端应用集成简化</vt:lpstr>
      <vt:lpstr>三端应用集成简化</vt:lpstr>
      <vt:lpstr>思考题</vt:lpstr>
      <vt:lpstr>市场主流云-端一体开发平台概览</vt:lpstr>
      <vt:lpstr>目录</vt:lpstr>
      <vt:lpstr>TinyLink</vt:lpstr>
      <vt:lpstr>传统物联网应用开发</vt:lpstr>
      <vt:lpstr>案例回顾：室内环境监测应用</vt:lpstr>
      <vt:lpstr>案例回顾：室内环境监测应用</vt:lpstr>
      <vt:lpstr>案例回顾：室内环境监测应用</vt:lpstr>
      <vt:lpstr>案例回顾：室内环境监测应用</vt:lpstr>
      <vt:lpstr>传统物联网应用开发的不便之处</vt:lpstr>
      <vt:lpstr>TinyLink 1.0</vt:lpstr>
      <vt:lpstr>TinyLink 1.0</vt:lpstr>
      <vt:lpstr>TinyLink开发流程</vt:lpstr>
      <vt:lpstr>TinyLink开发流程</vt:lpstr>
      <vt:lpstr>TinyLink开发流程</vt:lpstr>
      <vt:lpstr>TinyLink开发流程</vt:lpstr>
      <vt:lpstr>TinyLink开发流程</vt:lpstr>
      <vt:lpstr>TinyLink开发流程</vt:lpstr>
      <vt:lpstr>TinyLink开发流程</vt:lpstr>
      <vt:lpstr>TinyLink开发流程</vt:lpstr>
      <vt:lpstr>TinyLink特点小结</vt:lpstr>
      <vt:lpstr>TinyLink推荐系统</vt:lpstr>
      <vt:lpstr>TinyLink功能描述</vt:lpstr>
      <vt:lpstr>TinyLink 1.0 系统框架</vt:lpstr>
      <vt:lpstr>TinyLink 1.0 硬件生成系统</vt:lpstr>
      <vt:lpstr>TinyLink 1.0 硬件生成系统</vt:lpstr>
      <vt:lpstr>TinyLink 1.0 硬件生成系统</vt:lpstr>
      <vt:lpstr>TinyLink 1.0 硬件生成系统</vt:lpstr>
      <vt:lpstr>TinyLink 1.0 硬件生成系统</vt:lpstr>
      <vt:lpstr>TinyLink 1.0 软件生成系统</vt:lpstr>
      <vt:lpstr>TinyLink 1.0 软件生成系统</vt:lpstr>
      <vt:lpstr>TinyLink 1.0 软件生成系统</vt:lpstr>
      <vt:lpstr>TinyLink 1.0 软件生成系统</vt:lpstr>
      <vt:lpstr>TinyLink 2.0</vt:lpstr>
      <vt:lpstr>TinyLink 2.0 三端开发</vt:lpstr>
      <vt:lpstr>TinyLink 2.0 三端开发</vt:lpstr>
      <vt:lpstr>TinyLink 2.0 三端开发</vt:lpstr>
      <vt:lpstr>TinyLink 2.0 关键特性</vt:lpstr>
      <vt:lpstr>TinyLink 2.0 关键特性</vt:lpstr>
      <vt:lpstr>目录</vt:lpstr>
      <vt:lpstr>IoT Studio</vt:lpstr>
      <vt:lpstr>IoT Studio</vt:lpstr>
      <vt:lpstr>IoT Studio</vt:lpstr>
      <vt:lpstr>IoT Studio</vt:lpstr>
      <vt:lpstr>IoT Studio</vt:lpstr>
      <vt:lpstr>IoT Studio</vt:lpstr>
      <vt:lpstr>IoT Studio</vt:lpstr>
      <vt:lpstr>IoT Studio</vt:lpstr>
      <vt:lpstr>IoT Studio</vt:lpstr>
      <vt:lpstr>IoT Studio</vt:lpstr>
      <vt:lpstr>物模型</vt:lpstr>
      <vt:lpstr>物模型定义</vt:lpstr>
      <vt:lpstr>物模型定义</vt:lpstr>
      <vt:lpstr>物模型定义</vt:lpstr>
      <vt:lpstr>物模型定义</vt:lpstr>
      <vt:lpstr>物模型服务</vt:lpstr>
      <vt:lpstr>物模型示例</vt:lpstr>
      <vt:lpstr>物模型示例</vt:lpstr>
      <vt:lpstr>物模型示例</vt:lpstr>
      <vt:lpstr>物模型示例</vt:lpstr>
      <vt:lpstr>思考题</vt:lpstr>
      <vt:lpstr>物模型的使用(以智能空调为例)</vt:lpstr>
      <vt:lpstr>物模型的使用(以智能空调为例)</vt:lpstr>
      <vt:lpstr>物模型的使用(以智能空调为例)</vt:lpstr>
      <vt:lpstr>服务编排</vt:lpstr>
      <vt:lpstr>服务编排</vt:lpstr>
      <vt:lpstr>服务编排</vt:lpstr>
      <vt:lpstr>服务编排</vt:lpstr>
      <vt:lpstr>服务编排</vt:lpstr>
      <vt:lpstr>服务编排</vt:lpstr>
      <vt:lpstr>服务编排</vt:lpstr>
      <vt:lpstr>IoT Studio提供的服务节点</vt:lpstr>
      <vt:lpstr>IoT Studio提供的服务节点</vt:lpstr>
      <vt:lpstr>IoT Studio提供的服务节点</vt:lpstr>
      <vt:lpstr>目录</vt:lpstr>
      <vt:lpstr>Tuya IoT开发平台</vt:lpstr>
      <vt:lpstr>Tuya IoT开发平台</vt:lpstr>
      <vt:lpstr>设备端开发</vt:lpstr>
      <vt:lpstr>Tuya IoT开发平台</vt:lpstr>
      <vt:lpstr>Tuya IoT开发平台</vt:lpstr>
      <vt:lpstr>Tuya IoT开发平台</vt:lpstr>
      <vt:lpstr>目录</vt:lpstr>
      <vt:lpstr>IoT Studio 开发案例</vt:lpstr>
      <vt:lpstr>IoT Studio 开发案例</vt:lpstr>
      <vt:lpstr>IoT Studio 开发案例</vt:lpstr>
      <vt:lpstr>IoT Studio 开发案例</vt:lpstr>
      <vt:lpstr>IoT Studio 开发案例</vt:lpstr>
      <vt:lpstr>IoT Studio 开发案例</vt:lpstr>
      <vt:lpstr>IoT Studio 开发案例</vt:lpstr>
      <vt:lpstr>IoT Studio 开发案例</vt:lpstr>
      <vt:lpstr>IoT Studio 开发案例</vt:lpstr>
      <vt:lpstr>IoT Studio 开发案例</vt:lpstr>
      <vt:lpstr>IoT Studio 设备端开发的不足</vt:lpstr>
      <vt:lpstr>IoT Studio + TinyLink 开发流程</vt:lpstr>
      <vt:lpstr>IoT Studio + TinyLink 设备接入</vt:lpstr>
      <vt:lpstr>IoT Studio + TinyLink设备接入示例</vt:lpstr>
      <vt:lpstr>IoT Studio + TinyLink设备开发示例</vt:lpstr>
      <vt:lpstr>IoT Studio + TinyLink设备开发示例</vt:lpstr>
      <vt:lpstr>目录</vt:lpstr>
      <vt:lpstr>总结</vt:lpstr>
      <vt:lpstr>PowerPoint 演示文稿</vt:lpstr>
    </vt:vector>
  </TitlesOfParts>
  <Company>NCSU</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Centric Storage</dc:title>
  <dc:creator>Jayush R Luniya</dc:creator>
  <cp:lastModifiedBy>野 蔓</cp:lastModifiedBy>
  <cp:revision>4374</cp:revision>
  <cp:lastPrinted>2009-04-22T19:24:48Z</cp:lastPrinted>
  <dcterms:created xsi:type="dcterms:W3CDTF">2005-04-16T16:23:33Z</dcterms:created>
  <dcterms:modified xsi:type="dcterms:W3CDTF">2022-05-23T08:16:57Z</dcterms:modified>
</cp:coreProperties>
</file>