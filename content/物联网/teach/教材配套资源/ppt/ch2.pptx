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4.xml" ContentType="application/vnd.openxmlformats-officedocument.presentationml.tags+xml"/>
  <Override PartName="/ppt/notesSlides/notesSlide34.xml" ContentType="application/vnd.openxmlformats-officedocument.presentationml.notesSlide+xml"/>
  <Override PartName="/ppt/tags/tag5.xml" ContentType="application/vnd.openxmlformats-officedocument.presentationml.tags+xml"/>
  <Override PartName="/ppt/notesSlides/notesSlide35.xml" ContentType="application/vnd.openxmlformats-officedocument.presentationml.notesSlide+xml"/>
  <Override PartName="/ppt/tags/tag6.xml" ContentType="application/vnd.openxmlformats-officedocument.presentationml.tags+xml"/>
  <Override PartName="/ppt/notesSlides/notesSlide36.xml" ContentType="application/vnd.openxmlformats-officedocument.presentationml.notesSlide+xml"/>
  <Override PartName="/ppt/tags/tag7.xml" ContentType="application/vnd.openxmlformats-officedocument.presentationml.tags+xml"/>
  <Override PartName="/ppt/notesSlides/notesSlide37.xml" ContentType="application/vnd.openxmlformats-officedocument.presentationml.notesSlide+xml"/>
  <Override PartName="/ppt/tags/tag8.xml" ContentType="application/vnd.openxmlformats-officedocument.presentationml.tags+xml"/>
  <Override PartName="/ppt/notesSlides/notesSlide38.xml" ContentType="application/vnd.openxmlformats-officedocument.presentationml.notesSlide+xml"/>
  <Override PartName="/ppt/tags/tag9.xml" ContentType="application/vnd.openxmlformats-officedocument.presentationml.tags+xml"/>
  <Override PartName="/ppt/notesSlides/notesSlide39.xml" ContentType="application/vnd.openxmlformats-officedocument.presentationml.notesSlide+xml"/>
  <Override PartName="/ppt/tags/tag10.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6"/>
  </p:notesMasterIdLst>
  <p:handoutMasterIdLst>
    <p:handoutMasterId r:id="rId87"/>
  </p:handoutMasterIdLst>
  <p:sldIdLst>
    <p:sldId id="336" r:id="rId2"/>
    <p:sldId id="773" r:id="rId3"/>
    <p:sldId id="669" r:id="rId4"/>
    <p:sldId id="707" r:id="rId5"/>
    <p:sldId id="708" r:id="rId6"/>
    <p:sldId id="709" r:id="rId7"/>
    <p:sldId id="710" r:id="rId8"/>
    <p:sldId id="880" r:id="rId9"/>
    <p:sldId id="897" r:id="rId10"/>
    <p:sldId id="888" r:id="rId11"/>
    <p:sldId id="889" r:id="rId12"/>
    <p:sldId id="890" r:id="rId13"/>
    <p:sldId id="896" r:id="rId14"/>
    <p:sldId id="714" r:id="rId15"/>
    <p:sldId id="898" r:id="rId16"/>
    <p:sldId id="715" r:id="rId17"/>
    <p:sldId id="891" r:id="rId18"/>
    <p:sldId id="717" r:id="rId19"/>
    <p:sldId id="716" r:id="rId20"/>
    <p:sldId id="718" r:id="rId21"/>
    <p:sldId id="719" r:id="rId22"/>
    <p:sldId id="720" r:id="rId23"/>
    <p:sldId id="722" r:id="rId24"/>
    <p:sldId id="724" r:id="rId25"/>
    <p:sldId id="726" r:id="rId26"/>
    <p:sldId id="728" r:id="rId27"/>
    <p:sldId id="877" r:id="rId28"/>
    <p:sldId id="892" r:id="rId29"/>
    <p:sldId id="881" r:id="rId30"/>
    <p:sldId id="730" r:id="rId31"/>
    <p:sldId id="893" r:id="rId32"/>
    <p:sldId id="733" r:id="rId33"/>
    <p:sldId id="734" r:id="rId34"/>
    <p:sldId id="852" r:id="rId35"/>
    <p:sldId id="868" r:id="rId36"/>
    <p:sldId id="870" r:id="rId37"/>
    <p:sldId id="871" r:id="rId38"/>
    <p:sldId id="872" r:id="rId39"/>
    <p:sldId id="874" r:id="rId40"/>
    <p:sldId id="875" r:id="rId41"/>
    <p:sldId id="873" r:id="rId42"/>
    <p:sldId id="869" r:id="rId43"/>
    <p:sldId id="740" r:id="rId44"/>
    <p:sldId id="742" r:id="rId45"/>
    <p:sldId id="894" r:id="rId46"/>
    <p:sldId id="741" r:id="rId47"/>
    <p:sldId id="745" r:id="rId48"/>
    <p:sldId id="854" r:id="rId49"/>
    <p:sldId id="746" r:id="rId50"/>
    <p:sldId id="748" r:id="rId51"/>
    <p:sldId id="749" r:id="rId52"/>
    <p:sldId id="750" r:id="rId53"/>
    <p:sldId id="855" r:id="rId54"/>
    <p:sldId id="821" r:id="rId55"/>
    <p:sldId id="822" r:id="rId56"/>
    <p:sldId id="824" r:id="rId57"/>
    <p:sldId id="826" r:id="rId58"/>
    <p:sldId id="827" r:id="rId59"/>
    <p:sldId id="895" r:id="rId60"/>
    <p:sldId id="829" r:id="rId61"/>
    <p:sldId id="828" r:id="rId62"/>
    <p:sldId id="878" r:id="rId63"/>
    <p:sldId id="886" r:id="rId64"/>
    <p:sldId id="752" r:id="rId65"/>
    <p:sldId id="753" r:id="rId66"/>
    <p:sldId id="816" r:id="rId67"/>
    <p:sldId id="817" r:id="rId68"/>
    <p:sldId id="856" r:id="rId69"/>
    <p:sldId id="857" r:id="rId70"/>
    <p:sldId id="818" r:id="rId71"/>
    <p:sldId id="819" r:id="rId72"/>
    <p:sldId id="820" r:id="rId73"/>
    <p:sldId id="858" r:id="rId74"/>
    <p:sldId id="859" r:id="rId75"/>
    <p:sldId id="863" r:id="rId76"/>
    <p:sldId id="864" r:id="rId77"/>
    <p:sldId id="865" r:id="rId78"/>
    <p:sldId id="866" r:id="rId79"/>
    <p:sldId id="860" r:id="rId80"/>
    <p:sldId id="887" r:id="rId81"/>
    <p:sldId id="761" r:id="rId82"/>
    <p:sldId id="762" r:id="rId83"/>
    <p:sldId id="763" r:id="rId84"/>
    <p:sldId id="422" r:id="rId85"/>
  </p:sldIdLst>
  <p:sldSz cx="9144000" cy="6858000" type="screen4x3"/>
  <p:notesSz cx="6858000" cy="9144000"/>
  <p:custDataLst>
    <p:tags r:id="rId88"/>
  </p:custDataLst>
  <p:defaultTextStyle>
    <a:defPPr>
      <a:defRPr lang="en-US"/>
    </a:defPPr>
    <a:lvl1pPr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baseline="-250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49">
          <p15:clr>
            <a:srgbClr val="A4A3A4"/>
          </p15:clr>
        </p15:guide>
        <p15:guide id="2" pos="2880">
          <p15:clr>
            <a:srgbClr val="A4A3A4"/>
          </p15:clr>
        </p15:guide>
      </p15:sldGuideLst>
    </p:ext>
    <p:ext uri="{2D200454-40CA-4A62-9FC3-DE9A4176ACB9}">
      <p15:notesGuideLst xmlns:p15="http://schemas.microsoft.com/office/powerpoint/2012/main">
        <p15:guide id="1" orient="horz" pos="299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00000"/>
    <a:srgbClr val="E9EDF4"/>
    <a:srgbClr val="D0D8E8"/>
    <a:srgbClr val="4F81BD"/>
    <a:srgbClr val="D9D9D9"/>
    <a:srgbClr val="5F5F5F"/>
    <a:srgbClr val="111F65"/>
    <a:srgbClr val="0033CC"/>
    <a:srgbClr val="333333"/>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89" autoAdjust="0"/>
    <p:restoredTop sz="86108" autoAdjust="0"/>
  </p:normalViewPr>
  <p:slideViewPr>
    <p:cSldViewPr snapToGrid="0">
      <p:cViewPr varScale="1">
        <p:scale>
          <a:sx n="76" d="100"/>
          <a:sy n="76" d="100"/>
        </p:scale>
        <p:origin x="558" y="108"/>
      </p:cViewPr>
      <p:guideLst>
        <p:guide orient="horz" pos="2249"/>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382" y="-222"/>
      </p:cViewPr>
      <p:guideLst>
        <p:guide orient="horz" pos="299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75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57753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57754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57754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ClrTx/>
              <a:buSzTx/>
              <a:defRPr sz="1200" baseline="0">
                <a:effectLst/>
                <a:latin typeface="Times New Roman" panose="02020603050405020304" pitchFamily="18" charset="0"/>
                <a:ea typeface="+mn-ea"/>
              </a:defRPr>
            </a:lvl1pPr>
          </a:lstStyle>
          <a:p>
            <a:pPr>
              <a:defRPr/>
            </a:pPr>
            <a:fld id="{B6987093-2FA2-4B3E-A303-E109B2C659C7}" type="slidenum">
              <a:rPr lang="zh-CN" altLang="en-US"/>
              <a:t>‹#›</a:t>
            </a:fld>
            <a:endParaRPr lang="en-US" altLang="zh-CN"/>
          </a:p>
        </p:txBody>
      </p:sp>
    </p:spTree>
    <p:extLst>
      <p:ext uri="{BB962C8B-B14F-4D97-AF65-F5344CB8AC3E}">
        <p14:creationId xmlns:p14="http://schemas.microsoft.com/office/powerpoint/2010/main" val="31283176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6861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861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6861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buClrTx/>
              <a:buSzTx/>
              <a:defRPr sz="1200" baseline="0">
                <a:effectLst/>
                <a:latin typeface="Times New Roman" panose="02020603050405020304" pitchFamily="18" charset="0"/>
                <a:ea typeface="+mn-ea"/>
              </a:defRPr>
            </a:lvl1pPr>
          </a:lstStyle>
          <a:p>
            <a:pPr>
              <a:defRPr/>
            </a:pPr>
            <a:endParaRPr lang="en-US" altLang="zh-CN"/>
          </a:p>
        </p:txBody>
      </p:sp>
      <p:sp>
        <p:nvSpPr>
          <p:cNvPr id="6861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ClrTx/>
              <a:buSzTx/>
              <a:defRPr sz="1200" baseline="0">
                <a:effectLst/>
                <a:latin typeface="Times New Roman" panose="02020603050405020304" pitchFamily="18" charset="0"/>
                <a:ea typeface="+mn-ea"/>
              </a:defRPr>
            </a:lvl1pPr>
          </a:lstStyle>
          <a:p>
            <a:pPr>
              <a:defRPr/>
            </a:pPr>
            <a:fld id="{C163974F-E2FC-4919-A1F7-1DAB2B1EEBC0}" type="slidenum">
              <a:rPr lang="zh-CN" altLang="en-US"/>
              <a:t>‹#›</a:t>
            </a:fld>
            <a:endParaRPr lang="en-US" altLang="zh-CN"/>
          </a:p>
        </p:txBody>
      </p:sp>
    </p:spTree>
    <p:extLst>
      <p:ext uri="{BB962C8B-B14F-4D97-AF65-F5344CB8AC3E}">
        <p14:creationId xmlns:p14="http://schemas.microsoft.com/office/powerpoint/2010/main" val="30884455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panose="020B0604020202020204" pitchFamily="34" charset="0"/>
              </a:defRPr>
            </a:lvl1pPr>
            <a:lvl2pPr marL="742950" indent="-285750" algn="ctr" eaLnBrk="0" hangingPunct="0">
              <a:spcBef>
                <a:spcPct val="50000"/>
              </a:spcBef>
              <a:buClr>
                <a:schemeClr val="bg1"/>
              </a:buClr>
              <a:buSzPct val="100000"/>
              <a:defRPr sz="2400" baseline="-25000">
                <a:solidFill>
                  <a:schemeClr val="tx1"/>
                </a:solidFill>
                <a:latin typeface="Arial" panose="020B0604020202020204" pitchFamily="34" charset="0"/>
              </a:defRPr>
            </a:lvl2pPr>
            <a:lvl3pPr marL="11430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3pPr>
            <a:lvl4pPr marL="16002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4pPr>
            <a:lvl5pPr marL="20574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9pPr>
          </a:lstStyle>
          <a:p>
            <a:pPr algn="r" eaLnBrk="1" hangingPunct="1">
              <a:spcBef>
                <a:spcPct val="0"/>
              </a:spcBef>
              <a:buClrTx/>
              <a:buSzTx/>
              <a:defRPr/>
            </a:pPr>
            <a:fld id="{7ED47AB2-00CE-41E6-9820-72042BB36AE6}" type="slidenum">
              <a:rPr lang="zh-CN" altLang="en-US" sz="1200" baseline="0" smtClean="0">
                <a:latin typeface="Times New Roman" panose="02020603050405020304" pitchFamily="18" charset="0"/>
              </a:rPr>
              <a:t>1</a:t>
            </a:fld>
            <a:endParaRPr lang="en-US" altLang="zh-CN" sz="1200" baseline="0" dirty="0">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latin typeface="Arial" panose="020B0604020202020204" pitchFamily="34" charset="0"/>
            </a:endParaRPr>
          </a:p>
        </p:txBody>
      </p:sp>
    </p:spTree>
    <p:extLst>
      <p:ext uri="{BB962C8B-B14F-4D97-AF65-F5344CB8AC3E}">
        <p14:creationId xmlns:p14="http://schemas.microsoft.com/office/powerpoint/2010/main" val="1244562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3</a:t>
            </a:fld>
            <a:endParaRPr lang="en-US" altLang="zh-CN"/>
          </a:p>
        </p:txBody>
      </p:sp>
    </p:spTree>
    <p:extLst>
      <p:ext uri="{BB962C8B-B14F-4D97-AF65-F5344CB8AC3E}">
        <p14:creationId xmlns:p14="http://schemas.microsoft.com/office/powerpoint/2010/main" val="1065037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智能电表可以自动读取电表的读数，并上报到电力局；燃气报警器可以自动检测厨房的燃气浓度，并在发生危险时，自动报警；共享单车上的智能车锁可以感知用户的开</a:t>
            </a:r>
            <a:r>
              <a:rPr kumimoji="1" lang="en-US" altLang="zh-CN" sz="1200" kern="1200" dirty="0">
                <a:solidFill>
                  <a:schemeClr val="tx1"/>
                </a:solidFill>
                <a:effectLst/>
                <a:latin typeface="Arial" panose="020B0604020202020204" pitchFamily="34" charset="0"/>
                <a:ea typeface="+mn-ea"/>
                <a:cs typeface="+mn-cs"/>
              </a:rPr>
              <a:t>/</a:t>
            </a:r>
            <a:r>
              <a:rPr kumimoji="1" lang="zh-CN" altLang="zh-CN" sz="1200" kern="1200" dirty="0">
                <a:solidFill>
                  <a:schemeClr val="tx1"/>
                </a:solidFill>
                <a:effectLst/>
                <a:latin typeface="Arial" panose="020B0604020202020204" pitchFamily="34" charset="0"/>
                <a:ea typeface="+mn-ea"/>
                <a:cs typeface="+mn-cs"/>
              </a:rPr>
              <a:t>关锁行为，并在骑行过程中可以自动跟踪骑行的路线。</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4</a:t>
            </a:fld>
            <a:endParaRPr lang="en-US" altLang="zh-CN"/>
          </a:p>
        </p:txBody>
      </p:sp>
    </p:spTree>
    <p:extLst>
      <p:ext uri="{BB962C8B-B14F-4D97-AF65-F5344CB8AC3E}">
        <p14:creationId xmlns:p14="http://schemas.microsoft.com/office/powerpoint/2010/main" val="344472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从</a:t>
            </a:r>
            <a:r>
              <a:rPr kumimoji="1" lang="en-US" altLang="zh-CN" sz="1200" kern="1200" dirty="0">
                <a:solidFill>
                  <a:schemeClr val="tx1"/>
                </a:solidFill>
                <a:effectLst/>
                <a:latin typeface="Arial" panose="020B0604020202020204" pitchFamily="34" charset="0"/>
                <a:ea typeface="+mn-ea"/>
                <a:cs typeface="+mn-cs"/>
              </a:rPr>
              <a:t>1949</a:t>
            </a:r>
            <a:r>
              <a:rPr kumimoji="1" lang="zh-CN" altLang="zh-CN" sz="1200" kern="1200" dirty="0">
                <a:solidFill>
                  <a:schemeClr val="tx1"/>
                </a:solidFill>
                <a:effectLst/>
                <a:latin typeface="Arial" panose="020B0604020202020204" pitchFamily="34" charset="0"/>
                <a:ea typeface="+mn-ea"/>
                <a:cs typeface="+mn-cs"/>
              </a:rPr>
              <a:t>年诞生第一台计算机开始，我们的计算系统经历了几次重大变革。从巨型机，工作站，到个人计算机，再到笔记本，智能手机，最后到智能物联网硬件。我们看到单个节点的体积越来越小，价格也越来越低。</a:t>
            </a:r>
            <a:endParaRPr kumimoji="1" lang="en-US" altLang="zh-CN" sz="1200" kern="1200" dirty="0">
              <a:solidFill>
                <a:schemeClr val="tx1"/>
              </a:solidFill>
              <a:effectLst/>
              <a:latin typeface="Arial" panose="020B0604020202020204" pitchFamily="34" charset="0"/>
              <a:ea typeface="+mn-ea"/>
              <a:cs typeface="+mn-cs"/>
            </a:endParaRPr>
          </a:p>
          <a:p>
            <a:endParaRPr kumimoji="1" lang="en-US" altLang="zh-CN" sz="1200" kern="1200" dirty="0">
              <a:solidFill>
                <a:schemeClr val="tx1"/>
              </a:solidFill>
              <a:effectLst/>
              <a:latin typeface="Arial" panose="020B0604020202020204" pitchFamily="34" charset="0"/>
              <a:ea typeface="+mn-ea"/>
              <a:cs typeface="+mn-cs"/>
            </a:endParaRPr>
          </a:p>
          <a:p>
            <a:r>
              <a:rPr kumimoji="1" lang="zh-CN" altLang="en-US" sz="1200" kern="1200" dirty="0">
                <a:solidFill>
                  <a:schemeClr val="tx1"/>
                </a:solidFill>
                <a:effectLst/>
                <a:latin typeface="Arial" panose="020B0604020202020204" pitchFamily="34" charset="0"/>
                <a:ea typeface="+mn-ea"/>
                <a:cs typeface="+mn-cs"/>
              </a:rPr>
              <a:t>添加芯片</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5</a:t>
            </a:fld>
            <a:endParaRPr lang="en-US" altLang="zh-CN"/>
          </a:p>
        </p:txBody>
      </p:sp>
    </p:spTree>
    <p:extLst>
      <p:ext uri="{BB962C8B-B14F-4D97-AF65-F5344CB8AC3E}">
        <p14:creationId xmlns:p14="http://schemas.microsoft.com/office/powerpoint/2010/main" val="235770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表</a:t>
            </a:r>
            <a:r>
              <a:rPr kumimoji="1" lang="zh-CN" altLang="en-US" sz="1200" kern="1200" dirty="0">
                <a:solidFill>
                  <a:schemeClr val="tx1"/>
                </a:solidFill>
                <a:effectLst/>
                <a:latin typeface="Arial" panose="020B0604020202020204" pitchFamily="34" charset="0"/>
                <a:ea typeface="+mn-ea"/>
                <a:cs typeface="+mn-cs"/>
              </a:rPr>
              <a:t>中</a:t>
            </a:r>
            <a:r>
              <a:rPr kumimoji="1" lang="zh-CN" altLang="zh-CN" sz="1200" kern="1200" dirty="0">
                <a:solidFill>
                  <a:schemeClr val="tx1"/>
                </a:solidFill>
                <a:effectLst/>
                <a:latin typeface="Arial" panose="020B0604020202020204" pitchFamily="34" charset="0"/>
                <a:ea typeface="+mn-ea"/>
                <a:cs typeface="+mn-cs"/>
              </a:rPr>
              <a:t>显示了三类不同的物联网硬件平台。第一类称为类</a:t>
            </a:r>
            <a:r>
              <a:rPr kumimoji="1" lang="en-US" altLang="zh-CN" sz="1200" kern="1200" dirty="0">
                <a:solidFill>
                  <a:schemeClr val="tx1"/>
                </a:solidFill>
                <a:effectLst/>
                <a:latin typeface="Arial" panose="020B0604020202020204" pitchFamily="34" charset="0"/>
                <a:ea typeface="+mn-ea"/>
                <a:cs typeface="+mn-cs"/>
              </a:rPr>
              <a:t>PC</a:t>
            </a:r>
            <a:r>
              <a:rPr kumimoji="1" lang="zh-CN" altLang="zh-CN" sz="1200" kern="1200" dirty="0">
                <a:solidFill>
                  <a:schemeClr val="tx1"/>
                </a:solidFill>
                <a:effectLst/>
                <a:latin typeface="Arial" panose="020B0604020202020204" pitchFamily="34" charset="0"/>
                <a:ea typeface="+mn-ea"/>
                <a:cs typeface="+mn-cs"/>
              </a:rPr>
              <a:t>的嵌入式设备，它们功能强大，其实就是“缩小版”的</a:t>
            </a:r>
            <a:r>
              <a:rPr kumimoji="1" lang="en-US" altLang="zh-CN" sz="1200" kern="1200" dirty="0">
                <a:solidFill>
                  <a:schemeClr val="tx1"/>
                </a:solidFill>
                <a:effectLst/>
                <a:latin typeface="Arial" panose="020B0604020202020204" pitchFamily="34" charset="0"/>
                <a:ea typeface="+mn-ea"/>
                <a:cs typeface="+mn-cs"/>
              </a:rPr>
              <a:t>PC</a:t>
            </a:r>
            <a:r>
              <a:rPr kumimoji="1" lang="zh-CN" altLang="zh-CN" sz="1200" kern="1200" dirty="0">
                <a:solidFill>
                  <a:schemeClr val="tx1"/>
                </a:solidFill>
                <a:effectLst/>
                <a:latin typeface="Arial" panose="020B0604020202020204" pitchFamily="34" charset="0"/>
                <a:ea typeface="+mn-ea"/>
                <a:cs typeface="+mn-cs"/>
              </a:rPr>
              <a:t>机。第二类称为智能物件，它们功能相对强大，可以执行相对复杂的智能运算。第三类可称为物件，它们功能比较弱小</a:t>
            </a:r>
            <a:endParaRPr kumimoji="1" lang="en-US" altLang="zh-CN" sz="1200" kern="1200" dirty="0">
              <a:solidFill>
                <a:schemeClr val="tx1"/>
              </a:solidFill>
              <a:effectLst/>
              <a:latin typeface="Arial" panose="020B0604020202020204" pitchFamily="34" charset="0"/>
              <a:ea typeface="+mn-ea"/>
              <a:cs typeface="+mn-cs"/>
            </a:endParaRPr>
          </a:p>
          <a:p>
            <a:endParaRPr kumimoji="1" lang="en-US" altLang="zh-CN" sz="1200" kern="1200" dirty="0">
              <a:solidFill>
                <a:schemeClr val="tx1"/>
              </a:solidFill>
              <a:effectLst/>
              <a:latin typeface="Arial" panose="020B0604020202020204" pitchFamily="34" charset="0"/>
              <a:ea typeface="+mn-ea"/>
              <a:cs typeface="+mn-cs"/>
            </a:endParaRPr>
          </a:p>
          <a:p>
            <a:r>
              <a:rPr kumimoji="1" lang="zh-CN" altLang="en-US" sz="1200" kern="1200" dirty="0">
                <a:solidFill>
                  <a:schemeClr val="tx1"/>
                </a:solidFill>
                <a:effectLst/>
                <a:latin typeface="Arial" panose="020B0604020202020204" pitchFamily="34" charset="0"/>
                <a:ea typeface="+mn-ea"/>
                <a:cs typeface="+mn-cs"/>
              </a:rPr>
              <a:t>最后加一行典型设备</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6</a:t>
            </a:fld>
            <a:endParaRPr lang="en-US" altLang="zh-CN"/>
          </a:p>
        </p:txBody>
      </p:sp>
    </p:spTree>
    <p:extLst>
      <p:ext uri="{BB962C8B-B14F-4D97-AF65-F5344CB8AC3E}">
        <p14:creationId xmlns:p14="http://schemas.microsoft.com/office/powerpoint/2010/main" val="1320813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MCU</a:t>
            </a:r>
            <a:r>
              <a:rPr lang="zh-CN" altLang="en-US" dirty="0"/>
              <a:t>，</a:t>
            </a:r>
            <a:r>
              <a:rPr lang="en-US" altLang="zh-CN" dirty="0"/>
              <a:t>MCU+</a:t>
            </a:r>
            <a:r>
              <a:rPr lang="zh-CN" altLang="en-US" dirty="0"/>
              <a:t>供电装置？</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7</a:t>
            </a:fld>
            <a:endParaRPr lang="en-US" altLang="zh-CN"/>
          </a:p>
        </p:txBody>
      </p:sp>
    </p:spTree>
    <p:extLst>
      <p:ext uri="{BB962C8B-B14F-4D97-AF65-F5344CB8AC3E}">
        <p14:creationId xmlns:p14="http://schemas.microsoft.com/office/powerpoint/2010/main" val="1861803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8</a:t>
            </a:fld>
            <a:endParaRPr lang="en-US" altLang="zh-CN"/>
          </a:p>
        </p:txBody>
      </p:sp>
    </p:spTree>
    <p:extLst>
      <p:ext uri="{BB962C8B-B14F-4D97-AF65-F5344CB8AC3E}">
        <p14:creationId xmlns:p14="http://schemas.microsoft.com/office/powerpoint/2010/main" val="872090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Flash</a:t>
            </a:r>
            <a:r>
              <a:rPr lang="zh-CN" altLang="en-US" dirty="0"/>
              <a:t>，</a:t>
            </a:r>
            <a:r>
              <a:rPr lang="en-US" altLang="zh-CN" dirty="0"/>
              <a:t>Flash</a:t>
            </a:r>
            <a:r>
              <a:rPr lang="zh-CN" altLang="en-US" dirty="0"/>
              <a:t>是</a:t>
            </a:r>
            <a:r>
              <a:rPr lang="en-US" altLang="zh-CN" dirty="0"/>
              <a:t>Program Flash</a:t>
            </a:r>
            <a:r>
              <a:rPr lang="zh-CN" altLang="en-US" dirty="0"/>
              <a:t>，开发板</a:t>
            </a:r>
            <a:r>
              <a:rPr lang="en-US" altLang="zh-CN" dirty="0"/>
              <a:t>+MCU</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14</a:t>
            </a:fld>
            <a:endParaRPr lang="en-US" altLang="zh-CN"/>
          </a:p>
        </p:txBody>
      </p:sp>
    </p:spTree>
    <p:extLst>
      <p:ext uri="{BB962C8B-B14F-4D97-AF65-F5344CB8AC3E}">
        <p14:creationId xmlns:p14="http://schemas.microsoft.com/office/powerpoint/2010/main" val="3402414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需要修改，先介绍接口类型，</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16</a:t>
            </a:fld>
            <a:endParaRPr lang="en-US" altLang="zh-CN"/>
          </a:p>
        </p:txBody>
      </p:sp>
    </p:spTree>
    <p:extLst>
      <p:ext uri="{BB962C8B-B14F-4D97-AF65-F5344CB8AC3E}">
        <p14:creationId xmlns:p14="http://schemas.microsoft.com/office/powerpoint/2010/main" val="2810230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18</a:t>
            </a:fld>
            <a:endParaRPr lang="en-US" altLang="zh-CN"/>
          </a:p>
        </p:txBody>
      </p:sp>
    </p:spTree>
    <p:extLst>
      <p:ext uri="{BB962C8B-B14F-4D97-AF65-F5344CB8AC3E}">
        <p14:creationId xmlns:p14="http://schemas.microsoft.com/office/powerpoint/2010/main" val="138549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需要修改，把四种编码的表示都加上去，先讲模拟信号。</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19</a:t>
            </a:fld>
            <a:endParaRPr lang="en-US" altLang="zh-CN"/>
          </a:p>
        </p:txBody>
      </p:sp>
    </p:spTree>
    <p:extLst>
      <p:ext uri="{BB962C8B-B14F-4D97-AF65-F5344CB8AC3E}">
        <p14:creationId xmlns:p14="http://schemas.microsoft.com/office/powerpoint/2010/main" val="3888367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比如有个</a:t>
            </a:r>
            <a:r>
              <a:rPr kumimoji="1" lang="en-US" altLang="zh-CN" sz="1200" kern="1200" dirty="0">
                <a:solidFill>
                  <a:schemeClr val="tx1"/>
                </a:solidFill>
                <a:effectLst/>
                <a:latin typeface="Arial" panose="020B0604020202020204" pitchFamily="34" charset="0"/>
                <a:ea typeface="+mn-ea"/>
                <a:cs typeface="+mn-cs"/>
              </a:rPr>
              <a:t>5V</a:t>
            </a:r>
            <a:r>
              <a:rPr kumimoji="1" lang="zh-CN" altLang="zh-CN" sz="1200" kern="1200" dirty="0">
                <a:solidFill>
                  <a:schemeClr val="tx1"/>
                </a:solidFill>
                <a:effectLst/>
                <a:latin typeface="Arial" panose="020B0604020202020204" pitchFamily="34" charset="0"/>
                <a:ea typeface="+mn-ea"/>
                <a:cs typeface="+mn-cs"/>
              </a:rPr>
              <a:t>的</a:t>
            </a:r>
            <a:r>
              <a:rPr kumimoji="1" lang="en-US" altLang="zh-CN" sz="1200" kern="1200" dirty="0">
                <a:solidFill>
                  <a:schemeClr val="tx1"/>
                </a:solidFill>
                <a:effectLst/>
                <a:latin typeface="Arial" panose="020B0604020202020204" pitchFamily="34" charset="0"/>
                <a:ea typeface="+mn-ea"/>
                <a:cs typeface="+mn-cs"/>
              </a:rPr>
              <a:t>LED</a:t>
            </a:r>
            <a:r>
              <a:rPr kumimoji="1" lang="zh-CN" altLang="zh-CN" sz="1200" kern="1200" dirty="0">
                <a:solidFill>
                  <a:schemeClr val="tx1"/>
                </a:solidFill>
                <a:effectLst/>
                <a:latin typeface="Arial" panose="020B0604020202020204" pitchFamily="34" charset="0"/>
                <a:ea typeface="+mn-ea"/>
                <a:cs typeface="+mn-cs"/>
              </a:rPr>
              <a:t>灯，需要控制灯的亮度，传统的方法是串联一个滑动电阻，通过改变电阻就可以控制灯的亮度。还有一个节能的办法就是使用</a:t>
            </a:r>
            <a:r>
              <a:rPr kumimoji="1" lang="en-US" altLang="zh-CN" sz="1200" kern="1200" dirty="0">
                <a:solidFill>
                  <a:schemeClr val="tx1"/>
                </a:solidFill>
                <a:effectLst/>
                <a:latin typeface="Arial" panose="020B0604020202020204" pitchFamily="34" charset="0"/>
                <a:ea typeface="+mn-ea"/>
                <a:cs typeface="+mn-cs"/>
              </a:rPr>
              <a:t>PWM</a:t>
            </a:r>
            <a:r>
              <a:rPr kumimoji="1" lang="zh-CN" altLang="zh-CN" sz="1200" kern="1200" dirty="0">
                <a:solidFill>
                  <a:schemeClr val="tx1"/>
                </a:solidFill>
                <a:effectLst/>
                <a:latin typeface="Arial" panose="020B0604020202020204" pitchFamily="34" charset="0"/>
                <a:ea typeface="+mn-ea"/>
                <a:cs typeface="+mn-cs"/>
              </a:rPr>
              <a:t>，将信号周期设置为</a:t>
            </a:r>
            <a:r>
              <a:rPr kumimoji="1" lang="en-US" altLang="zh-CN" sz="1200" kern="1200" dirty="0">
                <a:solidFill>
                  <a:schemeClr val="tx1"/>
                </a:solidFill>
                <a:effectLst/>
                <a:latin typeface="Arial" panose="020B0604020202020204" pitchFamily="34" charset="0"/>
                <a:ea typeface="+mn-ea"/>
                <a:cs typeface="+mn-cs"/>
              </a:rPr>
              <a:t>10ms</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a:t>
            </a:r>
            <a:r>
              <a:rPr kumimoji="1" lang="en-US" altLang="zh-CN" sz="1200" kern="1200" dirty="0">
                <a:solidFill>
                  <a:schemeClr val="tx1"/>
                </a:solidFill>
                <a:effectLst/>
                <a:latin typeface="Arial" panose="020B0604020202020204" pitchFamily="34" charset="0"/>
                <a:ea typeface="+mn-ea"/>
                <a:cs typeface="+mn-cs"/>
              </a:rPr>
              <a:t>PWM</a:t>
            </a:r>
            <a:r>
              <a:rPr kumimoji="1" lang="zh-CN" altLang="zh-CN" sz="1200" kern="1200" dirty="0">
                <a:solidFill>
                  <a:schemeClr val="tx1"/>
                </a:solidFill>
                <a:effectLst/>
                <a:latin typeface="Arial" panose="020B0604020202020204" pitchFamily="34" charset="0"/>
                <a:ea typeface="+mn-ea"/>
                <a:cs typeface="+mn-cs"/>
              </a:rPr>
              <a:t>频率为</a:t>
            </a:r>
            <a:r>
              <a:rPr kumimoji="1" lang="en-US" altLang="zh-CN" sz="1200" kern="1200" dirty="0">
                <a:solidFill>
                  <a:schemeClr val="tx1"/>
                </a:solidFill>
                <a:effectLst/>
                <a:latin typeface="Arial" panose="020B0604020202020204" pitchFamily="34" charset="0"/>
                <a:ea typeface="+mn-ea"/>
                <a:cs typeface="+mn-cs"/>
              </a:rPr>
              <a:t>500Hz</a:t>
            </a:r>
            <a:r>
              <a:rPr kumimoji="1" lang="zh-CN" altLang="zh-CN" sz="1200" kern="1200" dirty="0">
                <a:solidFill>
                  <a:schemeClr val="tx1"/>
                </a:solidFill>
                <a:effectLst/>
                <a:latin typeface="Arial" panose="020B0604020202020204" pitchFamily="34" charset="0"/>
                <a:ea typeface="+mn-ea"/>
                <a:cs typeface="+mn-cs"/>
              </a:rPr>
              <a:t>，完全可以做到），占空比设置为</a:t>
            </a:r>
            <a:r>
              <a:rPr kumimoji="1" lang="en-US" altLang="zh-CN" sz="1200" kern="1200" dirty="0">
                <a:solidFill>
                  <a:schemeClr val="tx1"/>
                </a:solidFill>
                <a:effectLst/>
                <a:latin typeface="Arial" panose="020B0604020202020204" pitchFamily="34" charset="0"/>
                <a:ea typeface="+mn-ea"/>
                <a:cs typeface="+mn-cs"/>
              </a:rPr>
              <a:t>50%</a:t>
            </a:r>
            <a:r>
              <a:rPr kumimoji="1" lang="zh-CN" altLang="zh-CN" sz="1200" kern="1200" dirty="0">
                <a:solidFill>
                  <a:schemeClr val="tx1"/>
                </a:solidFill>
                <a:effectLst/>
                <a:latin typeface="Arial" panose="020B0604020202020204" pitchFamily="34" charset="0"/>
                <a:ea typeface="+mn-ea"/>
                <a:cs typeface="+mn-cs"/>
              </a:rPr>
              <a:t>，其中</a:t>
            </a:r>
            <a:r>
              <a:rPr kumimoji="1" lang="en-US" altLang="zh-CN" sz="1200" kern="1200" dirty="0">
                <a:solidFill>
                  <a:schemeClr val="tx1"/>
                </a:solidFill>
                <a:effectLst/>
                <a:latin typeface="Arial" panose="020B0604020202020204" pitchFamily="34" charset="0"/>
                <a:ea typeface="+mn-ea"/>
                <a:cs typeface="+mn-cs"/>
              </a:rPr>
              <a:t>5ms</a:t>
            </a:r>
            <a:r>
              <a:rPr kumimoji="1" lang="zh-CN" altLang="zh-CN" sz="1200" kern="1200" dirty="0">
                <a:solidFill>
                  <a:schemeClr val="tx1"/>
                </a:solidFill>
                <a:effectLst/>
                <a:latin typeface="Arial" panose="020B0604020202020204" pitchFamily="34" charset="0"/>
                <a:ea typeface="+mn-ea"/>
                <a:cs typeface="+mn-cs"/>
              </a:rPr>
              <a:t>为低电平，</a:t>
            </a:r>
            <a:r>
              <a:rPr kumimoji="1" lang="en-US" altLang="zh-CN" sz="1200" kern="1200" dirty="0">
                <a:solidFill>
                  <a:schemeClr val="tx1"/>
                </a:solidFill>
                <a:effectLst/>
                <a:latin typeface="Arial" panose="020B0604020202020204" pitchFamily="34" charset="0"/>
                <a:ea typeface="+mn-ea"/>
                <a:cs typeface="+mn-cs"/>
              </a:rPr>
              <a:t>5ms</a:t>
            </a:r>
            <a:r>
              <a:rPr kumimoji="1" lang="zh-CN" altLang="zh-CN" sz="1200" kern="1200" dirty="0">
                <a:solidFill>
                  <a:schemeClr val="tx1"/>
                </a:solidFill>
                <a:effectLst/>
                <a:latin typeface="Arial" panose="020B0604020202020204" pitchFamily="34" charset="0"/>
                <a:ea typeface="+mn-ea"/>
                <a:cs typeface="+mn-cs"/>
              </a:rPr>
              <a:t>为高电平，由于</a:t>
            </a:r>
            <a:r>
              <a:rPr kumimoji="1" lang="en-US" altLang="zh-CN" sz="1200" kern="1200" dirty="0">
                <a:solidFill>
                  <a:schemeClr val="tx1"/>
                </a:solidFill>
                <a:effectLst/>
                <a:latin typeface="Arial" panose="020B0604020202020204" pitchFamily="34" charset="0"/>
                <a:ea typeface="+mn-ea"/>
                <a:cs typeface="+mn-cs"/>
              </a:rPr>
              <a:t>10ms</a:t>
            </a:r>
            <a:r>
              <a:rPr kumimoji="1" lang="zh-CN" altLang="zh-CN" sz="1200" kern="1200" dirty="0">
                <a:solidFill>
                  <a:schemeClr val="tx1"/>
                </a:solidFill>
                <a:effectLst/>
                <a:latin typeface="Arial" panose="020B0604020202020204" pitchFamily="34" charset="0"/>
                <a:ea typeface="+mn-ea"/>
                <a:cs typeface="+mn-cs"/>
              </a:rPr>
              <a:t>非常短，人眼几乎感觉不到，所以给人的感觉就是</a:t>
            </a:r>
            <a:r>
              <a:rPr kumimoji="1" lang="en-US" altLang="zh-CN" sz="1200" kern="1200" dirty="0">
                <a:solidFill>
                  <a:schemeClr val="tx1"/>
                </a:solidFill>
                <a:effectLst/>
                <a:latin typeface="Arial" panose="020B0604020202020204" pitchFamily="34" charset="0"/>
                <a:ea typeface="+mn-ea"/>
                <a:cs typeface="+mn-cs"/>
              </a:rPr>
              <a:t>LED</a:t>
            </a:r>
            <a:r>
              <a:rPr kumimoji="1" lang="zh-CN" altLang="zh-CN" sz="1200" kern="1200" dirty="0">
                <a:solidFill>
                  <a:schemeClr val="tx1"/>
                </a:solidFill>
                <a:effectLst/>
                <a:latin typeface="Arial" panose="020B0604020202020204" pitchFamily="34" charset="0"/>
                <a:ea typeface="+mn-ea"/>
                <a:cs typeface="+mn-cs"/>
              </a:rPr>
              <a:t>灯的亮度只有平时的一半，而使用</a:t>
            </a:r>
            <a:r>
              <a:rPr kumimoji="1" lang="en-US" altLang="zh-CN" sz="1200" kern="1200" dirty="0">
                <a:solidFill>
                  <a:schemeClr val="tx1"/>
                </a:solidFill>
                <a:effectLst/>
                <a:latin typeface="Arial" panose="020B0604020202020204" pitchFamily="34" charset="0"/>
                <a:ea typeface="+mn-ea"/>
                <a:cs typeface="+mn-cs"/>
              </a:rPr>
              <a:t>PWM</a:t>
            </a:r>
            <a:r>
              <a:rPr kumimoji="1" lang="zh-CN" altLang="zh-CN" sz="1200" kern="1200" dirty="0">
                <a:solidFill>
                  <a:schemeClr val="tx1"/>
                </a:solidFill>
                <a:effectLst/>
                <a:latin typeface="Arial" panose="020B0604020202020204" pitchFamily="34" charset="0"/>
                <a:ea typeface="+mn-ea"/>
                <a:cs typeface="+mn-cs"/>
              </a:rPr>
              <a:t>低电平部分是不耗能的，也不用接外接电阻，很大程度上降低了能耗。</a:t>
            </a:r>
            <a:endParaRPr kumimoji="1" lang="en-US" altLang="zh-CN" sz="1200" kern="1200" dirty="0">
              <a:solidFill>
                <a:schemeClr val="tx1"/>
              </a:solidFill>
              <a:effectLst/>
              <a:latin typeface="Arial" panose="020B0604020202020204" pitchFamily="34" charset="0"/>
              <a:ea typeface="+mn-ea"/>
              <a:cs typeface="+mn-cs"/>
            </a:endParaRPr>
          </a:p>
          <a:p>
            <a:endParaRPr kumimoji="1" lang="en-US" altLang="zh-CN" sz="1200" kern="1200" dirty="0">
              <a:solidFill>
                <a:schemeClr val="tx1"/>
              </a:solidFill>
              <a:effectLst/>
              <a:latin typeface="Arial" panose="020B0604020202020204" pitchFamily="34" charset="0"/>
              <a:ea typeface="+mn-ea"/>
              <a:cs typeface="+mn-cs"/>
            </a:endParaRPr>
          </a:p>
          <a:p>
            <a:r>
              <a:rPr kumimoji="1" lang="zh-CN" altLang="en-US" sz="1200" kern="1200" dirty="0">
                <a:solidFill>
                  <a:schemeClr val="tx1"/>
                </a:solidFill>
                <a:effectLst/>
                <a:latin typeface="Arial" panose="020B0604020202020204" pitchFamily="34" charset="0"/>
                <a:ea typeface="+mn-ea"/>
                <a:cs typeface="+mn-cs"/>
              </a:rPr>
              <a:t>加电脑风扇或</a:t>
            </a:r>
            <a:r>
              <a:rPr kumimoji="1" lang="en-US" altLang="zh-CN" sz="1200" kern="1200" dirty="0">
                <a:solidFill>
                  <a:schemeClr val="tx1"/>
                </a:solidFill>
                <a:effectLst/>
                <a:latin typeface="Arial" panose="020B0604020202020204" pitchFamily="34" charset="0"/>
                <a:ea typeface="+mn-ea"/>
                <a:cs typeface="+mn-cs"/>
              </a:rPr>
              <a:t>LED</a:t>
            </a:r>
            <a:r>
              <a:rPr kumimoji="1" lang="zh-CN" altLang="en-US" sz="1200" kern="1200" dirty="0">
                <a:solidFill>
                  <a:schemeClr val="tx1"/>
                </a:solidFill>
                <a:effectLst/>
                <a:latin typeface="Arial" panose="020B0604020202020204" pitchFamily="34" charset="0"/>
                <a:ea typeface="+mn-ea"/>
                <a:cs typeface="+mn-cs"/>
              </a:rPr>
              <a:t>等</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20</a:t>
            </a:fld>
            <a:endParaRPr lang="en-US" altLang="zh-CN"/>
          </a:p>
        </p:txBody>
      </p:sp>
    </p:spTree>
    <p:extLst>
      <p:ext uri="{BB962C8B-B14F-4D97-AF65-F5344CB8AC3E}">
        <p14:creationId xmlns:p14="http://schemas.microsoft.com/office/powerpoint/2010/main" val="2013363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21</a:t>
            </a:fld>
            <a:endParaRPr lang="en-US" altLang="zh-CN"/>
          </a:p>
        </p:txBody>
      </p:sp>
    </p:spTree>
    <p:extLst>
      <p:ext uri="{BB962C8B-B14F-4D97-AF65-F5344CB8AC3E}">
        <p14:creationId xmlns:p14="http://schemas.microsoft.com/office/powerpoint/2010/main" val="273818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如图所示，收发双方规定数据位有</a:t>
            </a:r>
            <a:r>
              <a:rPr kumimoji="1" lang="en-US" altLang="zh-CN" sz="1200" kern="1200" dirty="0">
                <a:solidFill>
                  <a:schemeClr val="tx1"/>
                </a:solidFill>
                <a:effectLst/>
                <a:latin typeface="Arial" panose="020B0604020202020204" pitchFamily="34" charset="0"/>
                <a:ea typeface="+mn-ea"/>
                <a:cs typeface="+mn-cs"/>
              </a:rPr>
              <a:t>8</a:t>
            </a:r>
            <a:r>
              <a:rPr kumimoji="1" lang="zh-CN" altLang="zh-CN" sz="1200" kern="1200" dirty="0">
                <a:solidFill>
                  <a:schemeClr val="tx1"/>
                </a:solidFill>
                <a:effectLst/>
                <a:latin typeface="Arial" panose="020B0604020202020204" pitchFamily="34" charset="0"/>
                <a:ea typeface="+mn-ea"/>
                <a:cs typeface="+mn-cs"/>
              </a:rPr>
              <a:t>个，附加一个奇偶校验位，通信波特率为</a:t>
            </a:r>
            <a:r>
              <a:rPr kumimoji="1" lang="en-US" altLang="zh-CN" sz="1200" kern="1200" dirty="0">
                <a:solidFill>
                  <a:schemeClr val="tx1"/>
                </a:solidFill>
                <a:effectLst/>
                <a:latin typeface="Arial" panose="020B0604020202020204" pitchFamily="34" charset="0"/>
                <a:ea typeface="+mn-ea"/>
                <a:cs typeface="+mn-cs"/>
              </a:rPr>
              <a:t>9600</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UART</a:t>
            </a:r>
            <a:r>
              <a:rPr kumimoji="1" lang="zh-CN" altLang="zh-CN" sz="1200" kern="1200" dirty="0">
                <a:solidFill>
                  <a:schemeClr val="tx1"/>
                </a:solidFill>
                <a:effectLst/>
                <a:latin typeface="Arial" panose="020B0604020202020204" pitchFamily="34" charset="0"/>
                <a:ea typeface="+mn-ea"/>
                <a:cs typeface="+mn-cs"/>
              </a:rPr>
              <a:t>传输了</a:t>
            </a:r>
            <a:r>
              <a:rPr kumimoji="1" lang="en-US" altLang="zh-CN" sz="1200" kern="1200" dirty="0">
                <a:solidFill>
                  <a:schemeClr val="tx1"/>
                </a:solidFill>
                <a:effectLst/>
                <a:latin typeface="Arial" panose="020B0604020202020204" pitchFamily="34" charset="0"/>
                <a:ea typeface="+mn-ea"/>
                <a:cs typeface="+mn-cs"/>
              </a:rPr>
              <a:t>8</a:t>
            </a:r>
            <a:r>
              <a:rPr kumimoji="1" lang="zh-CN" altLang="zh-CN" sz="1200" kern="1200" dirty="0">
                <a:solidFill>
                  <a:schemeClr val="tx1"/>
                </a:solidFill>
                <a:effectLst/>
                <a:latin typeface="Arial" panose="020B0604020202020204" pitchFamily="34" charset="0"/>
                <a:ea typeface="+mn-ea"/>
                <a:cs typeface="+mn-cs"/>
              </a:rPr>
              <a:t>位数据</a:t>
            </a:r>
            <a:r>
              <a:rPr kumimoji="1" lang="en-US" altLang="zh-CN" sz="1200" kern="1200" dirty="0">
                <a:solidFill>
                  <a:schemeClr val="tx1"/>
                </a:solidFill>
                <a:effectLst/>
                <a:latin typeface="Arial" panose="020B0604020202020204" pitchFamily="34" charset="0"/>
                <a:ea typeface="+mn-ea"/>
                <a:cs typeface="+mn-cs"/>
              </a:rPr>
              <a:t>10110001</a:t>
            </a:r>
            <a:r>
              <a:rPr kumimoji="1" lang="zh-CN" altLang="zh-CN" sz="1200" kern="1200" dirty="0">
                <a:solidFill>
                  <a:schemeClr val="tx1"/>
                </a:solidFill>
                <a:effectLst/>
                <a:latin typeface="Arial" panose="020B0604020202020204" pitchFamily="34" charset="0"/>
                <a:ea typeface="+mn-ea"/>
                <a:cs typeface="+mn-cs"/>
              </a:rPr>
              <a:t>，在数据位之前有一个起始位，数据位之后有一个奇偶校验位，最后以一个停止位结束。</a:t>
            </a:r>
            <a:endParaRPr kumimoji="1" lang="en-US" altLang="zh-CN" sz="1200" kern="1200" dirty="0">
              <a:solidFill>
                <a:schemeClr val="tx1"/>
              </a:solidFill>
              <a:effectLst/>
              <a:latin typeface="Arial" panose="020B0604020202020204" pitchFamily="34" charset="0"/>
              <a:ea typeface="+mn-ea"/>
              <a:cs typeface="+mn-cs"/>
            </a:endParaRPr>
          </a:p>
          <a:p>
            <a:endParaRPr kumimoji="1" lang="en-US" altLang="zh-CN" sz="1200" kern="1200" dirty="0">
              <a:solidFill>
                <a:schemeClr val="tx1"/>
              </a:solidFill>
              <a:effectLst/>
              <a:latin typeface="Arial" panose="020B0604020202020204" pitchFamily="34" charset="0"/>
              <a:ea typeface="+mn-ea"/>
              <a:cs typeface="+mn-cs"/>
            </a:endParaRPr>
          </a:p>
          <a:p>
            <a:r>
              <a:rPr kumimoji="1" lang="zh-CN" altLang="zh-CN" sz="1200" kern="1200" dirty="0">
                <a:solidFill>
                  <a:schemeClr val="tx1"/>
                </a:solidFill>
                <a:effectLst/>
                <a:latin typeface="Arial" panose="020B0604020202020204" pitchFamily="34" charset="0"/>
                <a:ea typeface="+mn-ea"/>
                <a:cs typeface="+mn-cs"/>
              </a:rPr>
              <a:t>如图</a:t>
            </a:r>
            <a:r>
              <a:rPr kumimoji="1" lang="en-US" altLang="zh-CN" sz="1200" kern="1200" dirty="0">
                <a:solidFill>
                  <a:schemeClr val="tx1"/>
                </a:solidFill>
                <a:effectLst/>
                <a:latin typeface="Arial" panose="020B0604020202020204" pitchFamily="34" charset="0"/>
                <a:ea typeface="+mn-ea"/>
                <a:cs typeface="+mn-cs"/>
              </a:rPr>
              <a:t>2</a:t>
            </a:r>
            <a:r>
              <a:rPr kumimoji="1" lang="zh-CN" altLang="zh-CN" sz="1200" kern="1200" dirty="0">
                <a:solidFill>
                  <a:schemeClr val="tx1"/>
                </a:solidFill>
                <a:effectLst/>
                <a:latin typeface="Arial" panose="020B0604020202020204" pitchFamily="34" charset="0"/>
                <a:ea typeface="+mn-ea"/>
                <a:cs typeface="+mn-cs"/>
              </a:rPr>
              <a:t>所示。为了消除电磁干扰信号，接收方的时钟实际上以波特率</a:t>
            </a:r>
            <a:r>
              <a:rPr kumimoji="1" lang="en-US" altLang="zh-CN" sz="1200" kern="1200" dirty="0">
                <a:solidFill>
                  <a:schemeClr val="tx1"/>
                </a:solidFill>
                <a:effectLst/>
                <a:latin typeface="Arial" panose="020B0604020202020204" pitchFamily="34" charset="0"/>
                <a:ea typeface="+mn-ea"/>
                <a:cs typeface="+mn-cs"/>
              </a:rPr>
              <a:t>8-16</a:t>
            </a:r>
            <a:r>
              <a:rPr kumimoji="1" lang="zh-CN" altLang="zh-CN" sz="1200" kern="1200" dirty="0">
                <a:solidFill>
                  <a:schemeClr val="tx1"/>
                </a:solidFill>
                <a:effectLst/>
                <a:latin typeface="Arial" panose="020B0604020202020204" pitchFamily="34" charset="0"/>
                <a:ea typeface="+mn-ea"/>
                <a:cs typeface="+mn-cs"/>
              </a:rPr>
              <a:t>倍的采样频率采集</a:t>
            </a:r>
            <a:r>
              <a:rPr kumimoji="1" lang="en-US" altLang="zh-CN" sz="1200" kern="1200" dirty="0">
                <a:solidFill>
                  <a:schemeClr val="tx1"/>
                </a:solidFill>
                <a:effectLst/>
                <a:latin typeface="Arial" panose="020B0604020202020204" pitchFamily="34" charset="0"/>
                <a:ea typeface="+mn-ea"/>
                <a:cs typeface="+mn-cs"/>
              </a:rPr>
              <a:t>UART</a:t>
            </a:r>
            <a:r>
              <a:rPr kumimoji="1" lang="zh-CN" altLang="zh-CN" sz="1200" kern="1200" dirty="0">
                <a:solidFill>
                  <a:schemeClr val="tx1"/>
                </a:solidFill>
                <a:effectLst/>
                <a:latin typeface="Arial" panose="020B0604020202020204" pitchFamily="34" charset="0"/>
                <a:ea typeface="+mn-ea"/>
                <a:cs typeface="+mn-cs"/>
              </a:rPr>
              <a:t>数据的中间位。本例为</a:t>
            </a:r>
            <a:r>
              <a:rPr kumimoji="1" lang="en-US" altLang="zh-CN" sz="1200" kern="1200" dirty="0">
                <a:solidFill>
                  <a:schemeClr val="tx1"/>
                </a:solidFill>
                <a:effectLst/>
                <a:latin typeface="Arial" panose="020B0604020202020204" pitchFamily="34" charset="0"/>
                <a:ea typeface="+mn-ea"/>
                <a:cs typeface="+mn-cs"/>
              </a:rPr>
              <a:t>16</a:t>
            </a:r>
            <a:r>
              <a:rPr kumimoji="1" lang="zh-CN" altLang="zh-CN" sz="1200" kern="1200" dirty="0">
                <a:solidFill>
                  <a:schemeClr val="tx1"/>
                </a:solidFill>
                <a:effectLst/>
                <a:latin typeface="Arial" panose="020B0604020202020204" pitchFamily="34" charset="0"/>
                <a:ea typeface="+mn-ea"/>
                <a:cs typeface="+mn-cs"/>
              </a:rPr>
              <a:t>倍，如果发送方和之前约定好的波特率不一致，那势必会导致数据采样错误，所以才会出现一般</a:t>
            </a:r>
            <a:r>
              <a:rPr kumimoji="1" lang="en-US" altLang="zh-CN" sz="1200" kern="1200" dirty="0">
                <a:solidFill>
                  <a:schemeClr val="tx1"/>
                </a:solidFill>
                <a:effectLst/>
                <a:latin typeface="Arial" panose="020B0604020202020204" pitchFamily="34" charset="0"/>
                <a:ea typeface="+mn-ea"/>
                <a:cs typeface="+mn-cs"/>
              </a:rPr>
              <a:t>UART</a:t>
            </a:r>
            <a:r>
              <a:rPr kumimoji="1" lang="zh-CN" altLang="zh-CN" sz="1200" kern="1200" dirty="0">
                <a:solidFill>
                  <a:schemeClr val="tx1"/>
                </a:solidFill>
                <a:effectLst/>
                <a:latin typeface="Arial" panose="020B0604020202020204" pitchFamily="34" charset="0"/>
                <a:ea typeface="+mn-ea"/>
                <a:cs typeface="+mn-cs"/>
              </a:rPr>
              <a:t>波特率不一致带来的乱码问题。</a:t>
            </a:r>
            <a:endParaRPr kumimoji="1" lang="en-US" altLang="zh-CN" sz="1200" kern="1200" dirty="0">
              <a:solidFill>
                <a:schemeClr val="tx1"/>
              </a:solidFill>
              <a:effectLst/>
              <a:latin typeface="Arial" panose="020B0604020202020204" pitchFamily="34" charset="0"/>
              <a:ea typeface="+mn-ea"/>
              <a:cs typeface="+mn-cs"/>
            </a:endParaRPr>
          </a:p>
          <a:p>
            <a:endParaRPr kumimoji="1" lang="en-US" altLang="zh-CN" sz="1200" kern="1200" dirty="0">
              <a:solidFill>
                <a:schemeClr val="tx1"/>
              </a:solidFill>
              <a:effectLst/>
              <a:latin typeface="Arial" panose="020B0604020202020204" pitchFamily="34" charset="0"/>
              <a:ea typeface="+mn-ea"/>
              <a:cs typeface="+mn-cs"/>
            </a:endParaRPr>
          </a:p>
          <a:p>
            <a:r>
              <a:rPr kumimoji="1" lang="zh-CN" altLang="en-US" sz="1200" kern="1200" dirty="0">
                <a:solidFill>
                  <a:schemeClr val="tx1"/>
                </a:solidFill>
                <a:effectLst/>
                <a:latin typeface="Arial" panose="020B0604020202020204" pitchFamily="34" charset="0"/>
                <a:ea typeface="+mn-ea"/>
                <a:cs typeface="+mn-cs"/>
              </a:rPr>
              <a:t>第二个这个图需要画的</a:t>
            </a:r>
            <a:r>
              <a:rPr kumimoji="1" lang="en-US" altLang="zh-CN" sz="1200" kern="1200" dirty="0">
                <a:solidFill>
                  <a:schemeClr val="tx1"/>
                </a:solidFill>
                <a:effectLst/>
                <a:latin typeface="Arial" panose="020B0604020202020204" pitchFamily="34" charset="0"/>
                <a:ea typeface="+mn-ea"/>
                <a:cs typeface="+mn-cs"/>
              </a:rPr>
              <a:t>reasonable</a:t>
            </a:r>
            <a:r>
              <a:rPr kumimoji="1" lang="zh-CN" altLang="en-US" sz="1200" kern="1200" dirty="0">
                <a:solidFill>
                  <a:schemeClr val="tx1"/>
                </a:solidFill>
                <a:effectLst/>
                <a:latin typeface="Arial" panose="020B0604020202020204" pitchFamily="34" charset="0"/>
                <a:ea typeface="+mn-ea"/>
                <a:cs typeface="+mn-cs"/>
              </a:rPr>
              <a:t>一些</a:t>
            </a:r>
            <a:endParaRPr kumimoji="1" lang="en-US" altLang="zh-CN" sz="1200" kern="1200" dirty="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22</a:t>
            </a:fld>
            <a:endParaRPr lang="en-US" altLang="zh-CN"/>
          </a:p>
        </p:txBody>
      </p:sp>
    </p:spTree>
    <p:extLst>
      <p:ext uri="{BB962C8B-B14F-4D97-AF65-F5344CB8AC3E}">
        <p14:creationId xmlns:p14="http://schemas.microsoft.com/office/powerpoint/2010/main" val="1514872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典型的这些设备介绍</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23</a:t>
            </a:fld>
            <a:endParaRPr lang="en-US" altLang="zh-CN"/>
          </a:p>
        </p:txBody>
      </p:sp>
    </p:spTree>
    <p:extLst>
      <p:ext uri="{BB962C8B-B14F-4D97-AF65-F5344CB8AC3E}">
        <p14:creationId xmlns:p14="http://schemas.microsoft.com/office/powerpoint/2010/main" val="2694480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地址总线位宽可以为</a:t>
            </a:r>
            <a:r>
              <a:rPr kumimoji="1" lang="en-US" altLang="zh-CN" sz="1200" kern="1200" dirty="0">
                <a:solidFill>
                  <a:schemeClr val="tx1"/>
                </a:solidFill>
                <a:effectLst/>
                <a:latin typeface="Arial" panose="020B0604020202020204" pitchFamily="34" charset="0"/>
                <a:ea typeface="+mn-ea"/>
                <a:cs typeface="+mn-cs"/>
              </a:rPr>
              <a:t>7</a:t>
            </a:r>
            <a:r>
              <a:rPr kumimoji="1" lang="zh-CN" altLang="zh-CN" sz="1200" kern="1200" dirty="0">
                <a:solidFill>
                  <a:schemeClr val="tx1"/>
                </a:solidFill>
                <a:effectLst/>
                <a:latin typeface="Arial" panose="020B0604020202020204" pitchFamily="34" charset="0"/>
                <a:ea typeface="+mn-ea"/>
                <a:cs typeface="+mn-cs"/>
              </a:rPr>
              <a:t>或</a:t>
            </a:r>
            <a:r>
              <a:rPr kumimoji="1" lang="en-US" altLang="zh-CN" sz="1200" kern="1200" dirty="0">
                <a:solidFill>
                  <a:schemeClr val="tx1"/>
                </a:solidFill>
                <a:effectLst/>
                <a:latin typeface="Arial" panose="020B0604020202020204" pitchFamily="34" charset="0"/>
                <a:ea typeface="+mn-ea"/>
                <a:cs typeface="+mn-cs"/>
              </a:rPr>
              <a:t>10</a:t>
            </a:r>
            <a:r>
              <a:rPr kumimoji="1" lang="zh-CN" altLang="zh-CN" sz="1200" kern="1200" dirty="0">
                <a:solidFill>
                  <a:schemeClr val="tx1"/>
                </a:solidFill>
                <a:effectLst/>
                <a:latin typeface="Arial" panose="020B0604020202020204" pitchFamily="34" charset="0"/>
                <a:ea typeface="+mn-ea"/>
                <a:cs typeface="+mn-cs"/>
              </a:rPr>
              <a:t>，以</a:t>
            </a:r>
            <a:r>
              <a:rPr kumimoji="1" lang="en-US" altLang="zh-CN" sz="1200" kern="1200" dirty="0">
                <a:solidFill>
                  <a:schemeClr val="tx1"/>
                </a:solidFill>
                <a:effectLst/>
                <a:latin typeface="Arial" panose="020B0604020202020204" pitchFamily="34" charset="0"/>
                <a:ea typeface="+mn-ea"/>
                <a:cs typeface="+mn-cs"/>
              </a:rPr>
              <a:t>7</a:t>
            </a:r>
            <a:r>
              <a:rPr kumimoji="1" lang="zh-CN" altLang="zh-CN" sz="1200" kern="1200" dirty="0">
                <a:solidFill>
                  <a:schemeClr val="tx1"/>
                </a:solidFill>
                <a:effectLst/>
                <a:latin typeface="Arial" panose="020B0604020202020204" pitchFamily="34" charset="0"/>
                <a:ea typeface="+mn-ea"/>
                <a:cs typeface="+mn-cs"/>
              </a:rPr>
              <a:t>位编址方式为例，可表示</a:t>
            </a:r>
            <a:r>
              <a:rPr kumimoji="1" lang="en-US" altLang="zh-CN" sz="1200" kern="1200" dirty="0">
                <a:solidFill>
                  <a:schemeClr val="tx1"/>
                </a:solidFill>
                <a:effectLst/>
                <a:latin typeface="Arial" panose="020B0604020202020204" pitchFamily="34" charset="0"/>
                <a:ea typeface="+mn-ea"/>
                <a:cs typeface="+mn-cs"/>
              </a:rPr>
              <a:t>127</a:t>
            </a:r>
            <a:r>
              <a:rPr kumimoji="1" lang="zh-CN" altLang="zh-CN" sz="1200" kern="1200" dirty="0">
                <a:solidFill>
                  <a:schemeClr val="tx1"/>
                </a:solidFill>
                <a:effectLst/>
                <a:latin typeface="Arial" panose="020B0604020202020204" pitchFamily="34" charset="0"/>
                <a:ea typeface="+mn-ea"/>
                <a:cs typeface="+mn-cs"/>
              </a:rPr>
              <a:t>个地址。其中，</a:t>
            </a:r>
            <a:r>
              <a:rPr kumimoji="1" lang="en-US" altLang="zh-CN" sz="1200" kern="1200" dirty="0">
                <a:solidFill>
                  <a:schemeClr val="tx1"/>
                </a:solidFill>
                <a:effectLst/>
                <a:latin typeface="Arial" panose="020B0604020202020204" pitchFamily="34" charset="0"/>
                <a:ea typeface="+mn-ea"/>
                <a:cs typeface="+mn-cs"/>
              </a:rPr>
              <a:t>0000xxx</a:t>
            </a:r>
            <a:r>
              <a:rPr kumimoji="1" lang="zh-CN" altLang="zh-CN" sz="1200" kern="1200" dirty="0">
                <a:solidFill>
                  <a:schemeClr val="tx1"/>
                </a:solidFill>
                <a:effectLst/>
                <a:latin typeface="Arial" panose="020B0604020202020204" pitchFamily="34" charset="0"/>
                <a:ea typeface="+mn-ea"/>
                <a:cs typeface="+mn-cs"/>
              </a:rPr>
              <a:t>和</a:t>
            </a:r>
            <a:r>
              <a:rPr kumimoji="1" lang="en-US" altLang="zh-CN" sz="1200" kern="1200" dirty="0">
                <a:solidFill>
                  <a:schemeClr val="tx1"/>
                </a:solidFill>
                <a:effectLst/>
                <a:latin typeface="Arial" panose="020B0604020202020204" pitchFamily="34" charset="0"/>
                <a:ea typeface="+mn-ea"/>
                <a:cs typeface="+mn-cs"/>
              </a:rPr>
              <a:t>1111xxx</a:t>
            </a:r>
            <a:r>
              <a:rPr kumimoji="1" lang="zh-CN" altLang="zh-CN" sz="1200" kern="1200" dirty="0">
                <a:solidFill>
                  <a:schemeClr val="tx1"/>
                </a:solidFill>
                <a:effectLst/>
                <a:latin typeface="Arial" panose="020B0604020202020204" pitchFamily="34" charset="0"/>
                <a:ea typeface="+mn-ea"/>
                <a:cs typeface="+mn-cs"/>
              </a:rPr>
              <a:t>是两组保留地址，可以进行一些特殊的总线操作。例如，</a:t>
            </a:r>
            <a:r>
              <a:rPr kumimoji="1" lang="en-US" altLang="zh-CN" sz="1200" kern="1200" dirty="0">
                <a:solidFill>
                  <a:schemeClr val="tx1"/>
                </a:solidFill>
                <a:effectLst/>
                <a:latin typeface="Arial" panose="020B0604020202020204" pitchFamily="34" charset="0"/>
                <a:ea typeface="+mn-ea"/>
                <a:cs typeface="+mn-cs"/>
              </a:rPr>
              <a:t>00000001</a:t>
            </a:r>
            <a:r>
              <a:rPr kumimoji="1" lang="zh-CN" altLang="zh-CN" sz="1200" kern="1200" dirty="0">
                <a:solidFill>
                  <a:schemeClr val="tx1"/>
                </a:solidFill>
                <a:effectLst/>
                <a:latin typeface="Arial" panose="020B0604020202020204" pitchFamily="34" charset="0"/>
                <a:ea typeface="+mn-ea"/>
                <a:cs typeface="+mn-cs"/>
              </a:rPr>
              <a:t>是启动字，表示总线启动且无须应答；</a:t>
            </a:r>
            <a:r>
              <a:rPr kumimoji="1" lang="en-US" altLang="zh-CN" sz="1200" kern="1200" dirty="0">
                <a:solidFill>
                  <a:schemeClr val="tx1"/>
                </a:solidFill>
                <a:effectLst/>
                <a:latin typeface="Arial" panose="020B0604020202020204" pitchFamily="34" charset="0"/>
                <a:ea typeface="+mn-ea"/>
                <a:cs typeface="+mn-cs"/>
              </a:rPr>
              <a:t>0000001x</a:t>
            </a:r>
            <a:r>
              <a:rPr kumimoji="1" lang="zh-CN" altLang="zh-CN" sz="1200" kern="1200" dirty="0">
                <a:solidFill>
                  <a:schemeClr val="tx1"/>
                </a:solidFill>
                <a:effectLst/>
                <a:latin typeface="Arial" panose="020B0604020202020204" pitchFamily="34" charset="0"/>
                <a:ea typeface="+mn-ea"/>
                <a:cs typeface="+mn-cs"/>
              </a:rPr>
              <a:t>表示携带</a:t>
            </a:r>
            <a:r>
              <a:rPr kumimoji="1" lang="en-US" altLang="zh-CN" sz="1200" kern="1200" dirty="0">
                <a:solidFill>
                  <a:schemeClr val="tx1"/>
                </a:solidFill>
                <a:effectLst/>
                <a:latin typeface="Arial" panose="020B0604020202020204" pitchFamily="34" charset="0"/>
                <a:ea typeface="+mn-ea"/>
                <a:cs typeface="+mn-cs"/>
              </a:rPr>
              <a:t>CBUS</a:t>
            </a:r>
            <a:r>
              <a:rPr kumimoji="1" lang="zh-CN" altLang="zh-CN" sz="1200" kern="1200" dirty="0">
                <a:solidFill>
                  <a:schemeClr val="tx1"/>
                </a:solidFill>
                <a:effectLst/>
                <a:latin typeface="Arial" panose="020B0604020202020204" pitchFamily="34" charset="0"/>
                <a:ea typeface="+mn-ea"/>
                <a:cs typeface="+mn-cs"/>
              </a:rPr>
              <a:t>地址</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24</a:t>
            </a:fld>
            <a:endParaRPr lang="en-US" altLang="zh-CN"/>
          </a:p>
        </p:txBody>
      </p:sp>
    </p:spTree>
    <p:extLst>
      <p:ext uri="{BB962C8B-B14F-4D97-AF65-F5344CB8AC3E}">
        <p14:creationId xmlns:p14="http://schemas.microsoft.com/office/powerpoint/2010/main" val="3756956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修改错别字</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25</a:t>
            </a:fld>
            <a:endParaRPr lang="en-US" altLang="zh-CN"/>
          </a:p>
        </p:txBody>
      </p:sp>
    </p:spTree>
    <p:extLst>
      <p:ext uri="{BB962C8B-B14F-4D97-AF65-F5344CB8AC3E}">
        <p14:creationId xmlns:p14="http://schemas.microsoft.com/office/powerpoint/2010/main" val="3557130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当前时钟频率</a:t>
            </a:r>
            <a:r>
              <a:rPr kumimoji="1" lang="en-US" altLang="zh-CN" sz="1200" kern="1200" dirty="0">
                <a:solidFill>
                  <a:schemeClr val="tx1"/>
                </a:solidFill>
                <a:effectLst/>
                <a:latin typeface="Arial" panose="020B0604020202020204" pitchFamily="34" charset="0"/>
                <a:ea typeface="+mn-ea"/>
                <a:cs typeface="+mn-cs"/>
              </a:rPr>
              <a:t> </a:t>
            </a:r>
            <a:r>
              <a:rPr kumimoji="1" lang="zh-CN" altLang="zh-CN" sz="1200" kern="1200" dirty="0">
                <a:solidFill>
                  <a:schemeClr val="tx1"/>
                </a:solidFill>
                <a:effectLst/>
                <a:latin typeface="Arial" panose="020B0604020202020204" pitchFamily="34" charset="0"/>
                <a:ea typeface="+mn-ea"/>
                <a:cs typeface="+mn-cs"/>
              </a:rPr>
              <a:t>为</a:t>
            </a:r>
            <a:r>
              <a:rPr kumimoji="1" lang="en-US" altLang="zh-CN" sz="1200" kern="1200" dirty="0">
                <a:solidFill>
                  <a:schemeClr val="tx1"/>
                </a:solidFill>
                <a:effectLst/>
                <a:latin typeface="Arial" panose="020B0604020202020204" pitchFamily="34" charset="0"/>
                <a:ea typeface="+mn-ea"/>
                <a:cs typeface="+mn-cs"/>
              </a:rPr>
              <a:t>25MHz</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SPPR</a:t>
            </a:r>
            <a:r>
              <a:rPr kumimoji="1" lang="zh-CN" altLang="zh-CN" sz="1200" kern="1200" dirty="0">
                <a:solidFill>
                  <a:schemeClr val="tx1"/>
                </a:solidFill>
                <a:effectLst/>
                <a:latin typeface="Arial" panose="020B0604020202020204" pitchFamily="34" charset="0"/>
                <a:ea typeface="+mn-ea"/>
                <a:cs typeface="+mn-cs"/>
              </a:rPr>
              <a:t>和</a:t>
            </a:r>
            <a:r>
              <a:rPr kumimoji="1" lang="en-US" altLang="zh-CN" sz="1200" kern="1200" dirty="0">
                <a:solidFill>
                  <a:schemeClr val="tx1"/>
                </a:solidFill>
                <a:effectLst/>
                <a:latin typeface="Arial" panose="020B0604020202020204" pitchFamily="34" charset="0"/>
                <a:ea typeface="+mn-ea"/>
                <a:cs typeface="+mn-cs"/>
              </a:rPr>
              <a:t>SPR</a:t>
            </a:r>
            <a:r>
              <a:rPr kumimoji="1" lang="zh-CN" altLang="zh-CN" sz="1200" kern="1200" dirty="0">
                <a:solidFill>
                  <a:schemeClr val="tx1"/>
                </a:solidFill>
                <a:effectLst/>
                <a:latin typeface="Arial" panose="020B0604020202020204" pitchFamily="34" charset="0"/>
                <a:ea typeface="+mn-ea"/>
                <a:cs typeface="+mn-cs"/>
              </a:rPr>
              <a:t>都是</a:t>
            </a:r>
            <a:r>
              <a:rPr kumimoji="1" lang="en-US" altLang="zh-CN" sz="1200" kern="1200" dirty="0">
                <a:solidFill>
                  <a:schemeClr val="tx1"/>
                </a:solidFill>
                <a:effectLst/>
                <a:latin typeface="Arial" panose="020B0604020202020204" pitchFamily="34" charset="0"/>
                <a:ea typeface="+mn-ea"/>
                <a:cs typeface="+mn-cs"/>
              </a:rPr>
              <a:t>000</a:t>
            </a:r>
            <a:r>
              <a:rPr kumimoji="1" lang="zh-CN" altLang="zh-CN" sz="1200" kern="1200" dirty="0">
                <a:solidFill>
                  <a:schemeClr val="tx1"/>
                </a:solidFill>
                <a:effectLst/>
                <a:latin typeface="Arial" panose="020B0604020202020204" pitchFamily="34" charset="0"/>
                <a:ea typeface="+mn-ea"/>
                <a:cs typeface="+mn-cs"/>
              </a:rPr>
              <a:t>，则</a:t>
            </a:r>
            <a:r>
              <a:rPr kumimoji="1" lang="en-US" altLang="zh-CN" sz="1200" kern="1200" dirty="0">
                <a:solidFill>
                  <a:schemeClr val="tx1"/>
                </a:solidFill>
                <a:effectLst/>
                <a:latin typeface="Arial" panose="020B0604020202020204" pitchFamily="34" charset="0"/>
                <a:ea typeface="+mn-ea"/>
                <a:cs typeface="+mn-cs"/>
              </a:rPr>
              <a:t>BRD</a:t>
            </a:r>
            <a:r>
              <a:rPr kumimoji="1" lang="zh-CN" altLang="zh-CN" sz="1200" kern="1200" dirty="0">
                <a:solidFill>
                  <a:schemeClr val="tx1"/>
                </a:solidFill>
                <a:effectLst/>
                <a:latin typeface="Arial" panose="020B0604020202020204" pitchFamily="34" charset="0"/>
                <a:ea typeface="+mn-ea"/>
                <a:cs typeface="+mn-cs"/>
              </a:rPr>
              <a:t>为</a:t>
            </a:r>
            <a:r>
              <a:rPr kumimoji="1" lang="en-US" altLang="zh-CN" sz="1200" kern="1200" dirty="0">
                <a:solidFill>
                  <a:schemeClr val="tx1"/>
                </a:solidFill>
                <a:effectLst/>
                <a:latin typeface="Arial" panose="020B0604020202020204" pitchFamily="34" charset="0"/>
                <a:ea typeface="+mn-ea"/>
                <a:cs typeface="+mn-cs"/>
              </a:rPr>
              <a:t>2</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BR</a:t>
            </a:r>
            <a:r>
              <a:rPr kumimoji="1" lang="zh-CN" altLang="zh-CN" sz="1200" kern="1200" dirty="0">
                <a:solidFill>
                  <a:schemeClr val="tx1"/>
                </a:solidFill>
                <a:effectLst/>
                <a:latin typeface="Arial" panose="020B0604020202020204" pitchFamily="34" charset="0"/>
                <a:ea typeface="+mn-ea"/>
                <a:cs typeface="+mn-cs"/>
              </a:rPr>
              <a:t>为</a:t>
            </a:r>
            <a:r>
              <a:rPr kumimoji="1" lang="en-US" altLang="zh-CN" sz="1200" kern="1200" dirty="0">
                <a:solidFill>
                  <a:schemeClr val="tx1"/>
                </a:solidFill>
                <a:effectLst/>
                <a:latin typeface="Arial" panose="020B0604020202020204" pitchFamily="34" charset="0"/>
                <a:ea typeface="+mn-ea"/>
                <a:cs typeface="+mn-cs"/>
              </a:rPr>
              <a:t>12.5Mbps</a:t>
            </a:r>
          </a:p>
          <a:p>
            <a:r>
              <a:rPr kumimoji="1" lang="zh-CN" altLang="en-US" sz="1200" kern="1200" dirty="0">
                <a:solidFill>
                  <a:schemeClr val="tx1"/>
                </a:solidFill>
                <a:effectLst/>
                <a:latin typeface="Arial" panose="020B0604020202020204" pitchFamily="34" charset="0"/>
                <a:ea typeface="+mn-ea"/>
                <a:cs typeface="+mn-cs"/>
              </a:rPr>
              <a:t>修改 </a:t>
            </a:r>
            <a:r>
              <a:rPr kumimoji="1" lang="en-US" altLang="zh-CN" sz="1200" kern="1200" dirty="0">
                <a:solidFill>
                  <a:schemeClr val="tx1"/>
                </a:solidFill>
                <a:effectLst/>
                <a:latin typeface="Arial" panose="020B0604020202020204" pitchFamily="34" charset="0"/>
                <a:ea typeface="+mn-ea"/>
                <a:cs typeface="+mn-cs"/>
              </a:rPr>
              <a:t>BDR</a:t>
            </a:r>
            <a:r>
              <a:rPr kumimoji="1" lang="zh-CN" altLang="en-US" sz="1200" kern="1200" dirty="0">
                <a:solidFill>
                  <a:schemeClr val="tx1"/>
                </a:solidFill>
                <a:effectLst/>
                <a:latin typeface="Arial" panose="020B0604020202020204" pitchFamily="34" charset="0"/>
                <a:ea typeface="+mn-ea"/>
                <a:cs typeface="+mn-cs"/>
              </a:rPr>
              <a:t>到</a:t>
            </a:r>
            <a:r>
              <a:rPr kumimoji="1" lang="en-US" altLang="zh-CN" sz="1200" kern="1200" dirty="0">
                <a:solidFill>
                  <a:schemeClr val="tx1"/>
                </a:solidFill>
                <a:effectLst/>
                <a:latin typeface="Arial" panose="020B0604020202020204" pitchFamily="34" charset="0"/>
                <a:ea typeface="+mn-ea"/>
                <a:cs typeface="+mn-cs"/>
              </a:rPr>
              <a:t>BRD</a:t>
            </a:r>
            <a:r>
              <a:rPr kumimoji="1" lang="zh-CN" altLang="en-US" sz="1200" kern="1200" dirty="0">
                <a:solidFill>
                  <a:schemeClr val="tx1"/>
                </a:solidFill>
                <a:effectLst/>
                <a:latin typeface="Arial" panose="020B0604020202020204" pitchFamily="34" charset="0"/>
                <a:ea typeface="+mn-ea"/>
                <a:cs typeface="+mn-cs"/>
              </a:rPr>
              <a:t>， </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26</a:t>
            </a:fld>
            <a:endParaRPr lang="en-US" altLang="zh-CN"/>
          </a:p>
        </p:txBody>
      </p:sp>
    </p:spTree>
    <p:extLst>
      <p:ext uri="{BB962C8B-B14F-4D97-AF65-F5344CB8AC3E}">
        <p14:creationId xmlns:p14="http://schemas.microsoft.com/office/powerpoint/2010/main" val="610440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29</a:t>
            </a:fld>
            <a:endParaRPr lang="en-US" altLang="zh-CN"/>
          </a:p>
        </p:txBody>
      </p:sp>
    </p:spTree>
    <p:extLst>
      <p:ext uri="{BB962C8B-B14F-4D97-AF65-F5344CB8AC3E}">
        <p14:creationId xmlns:p14="http://schemas.microsoft.com/office/powerpoint/2010/main" val="1418359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Arial" panose="020B0604020202020204" pitchFamily="34" charset="0"/>
                <a:ea typeface="+mn-ea"/>
                <a:cs typeface="+mn-cs"/>
              </a:rPr>
              <a:t>一是技术发展不均衡。传感器节点最重要的功能就是感知，处理器和通信设备只是负责将感知的数据上传。因此，感知技术的发展速度在一定程度上会影响传感器节点性能的发展速度。二是功耗的制约。传感节点一般通过电池供电，部署在无人值守的野外，能量是制约传感节点发展的一个重要因素，由于能耗的限制，导致传感节点的处理性能不能太高。三是成本的制约。传感节点一般需要大规模部署，单个节点的成本不能太高，也是限制传感节点处理性能发展的因素之一</a:t>
            </a:r>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32</a:t>
            </a:fld>
            <a:endParaRPr lang="en-US" altLang="zh-CN"/>
          </a:p>
        </p:txBody>
      </p:sp>
    </p:spTree>
    <p:extLst>
      <p:ext uri="{BB962C8B-B14F-4D97-AF65-F5344CB8AC3E}">
        <p14:creationId xmlns:p14="http://schemas.microsoft.com/office/powerpoint/2010/main" val="316773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加上</a:t>
            </a:r>
            <a:r>
              <a:rPr lang="en-US" altLang="zh-CN" dirty="0"/>
              <a:t>Imote2</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33</a:t>
            </a:fld>
            <a:endParaRPr lang="en-US" altLang="zh-CN"/>
          </a:p>
        </p:txBody>
      </p:sp>
    </p:spTree>
    <p:extLst>
      <p:ext uri="{BB962C8B-B14F-4D97-AF65-F5344CB8AC3E}">
        <p14:creationId xmlns:p14="http://schemas.microsoft.com/office/powerpoint/2010/main" val="1440920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加上</a:t>
            </a:r>
            <a:r>
              <a:rPr lang="en-US" altLang="zh-CN" dirty="0"/>
              <a:t>Imote2</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34</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9772436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图是代码运行在</a:t>
            </a:r>
            <a:r>
              <a:rPr lang="en-US" altLang="zh-CN" dirty="0"/>
              <a:t>Flash</a:t>
            </a:r>
            <a:r>
              <a:rPr lang="zh-CN" altLang="en-US" dirty="0"/>
              <a:t>或</a:t>
            </a:r>
            <a:r>
              <a:rPr lang="en-US" altLang="zh-CN" dirty="0"/>
              <a:t>RAM</a:t>
            </a:r>
            <a:r>
              <a:rPr lang="zh-CN" altLang="en-US" dirty="0"/>
              <a:t>中，睡眠模式下的最大电流消耗图</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39</a:t>
            </a:fld>
            <a:endParaRPr lang="en-US" altLang="zh-CN"/>
          </a:p>
        </p:txBody>
      </p:sp>
    </p:spTree>
    <p:extLst>
      <p:ext uri="{BB962C8B-B14F-4D97-AF65-F5344CB8AC3E}">
        <p14:creationId xmlns:p14="http://schemas.microsoft.com/office/powerpoint/2010/main" val="2712613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精简</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42</a:t>
            </a:fld>
            <a:endParaRPr lang="en-US" altLang="zh-CN"/>
          </a:p>
        </p:txBody>
      </p:sp>
    </p:spTree>
    <p:extLst>
      <p:ext uri="{BB962C8B-B14F-4D97-AF65-F5344CB8AC3E}">
        <p14:creationId xmlns:p14="http://schemas.microsoft.com/office/powerpoint/2010/main" val="12253823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Arduino</a:t>
            </a:r>
            <a:r>
              <a:rPr lang="zh-CN" altLang="en-US" dirty="0"/>
              <a:t>是几几年，。。。。。。</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43</a:t>
            </a:fld>
            <a:endParaRPr lang="en-US" altLang="zh-CN"/>
          </a:p>
        </p:txBody>
      </p:sp>
    </p:spTree>
    <p:extLst>
      <p:ext uri="{BB962C8B-B14F-4D97-AF65-F5344CB8AC3E}">
        <p14:creationId xmlns:p14="http://schemas.microsoft.com/office/powerpoint/2010/main" val="3367310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44</a:t>
            </a:fld>
            <a:endParaRPr lang="en-US" altLang="zh-CN"/>
          </a:p>
        </p:txBody>
      </p:sp>
    </p:spTree>
    <p:extLst>
      <p:ext uri="{BB962C8B-B14F-4D97-AF65-F5344CB8AC3E}">
        <p14:creationId xmlns:p14="http://schemas.microsoft.com/office/powerpoint/2010/main" val="41691266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Arduino UNO</a:t>
            </a:r>
            <a:r>
              <a:rPr lang="zh-CN" altLang="en-US" dirty="0"/>
              <a:t>虽然在外形上和之前版本的开发板非常相似，但在处理器上却有着很大差异。如图</a:t>
            </a:r>
            <a:r>
              <a:rPr lang="en-US" altLang="zh-CN" dirty="0"/>
              <a:t>2-32</a:t>
            </a:r>
            <a:r>
              <a:rPr lang="zh-CN" altLang="en-US" dirty="0"/>
              <a:t>所示，</a:t>
            </a:r>
            <a:r>
              <a:rPr lang="en-US" altLang="zh-CN" dirty="0"/>
              <a:t>Arduino</a:t>
            </a:r>
            <a:r>
              <a:rPr lang="zh-CN" altLang="en-US" dirty="0"/>
              <a:t>早期开发板</a:t>
            </a:r>
            <a:r>
              <a:rPr lang="en-US" altLang="zh-CN" dirty="0"/>
              <a:t>Arduino Serial</a:t>
            </a:r>
            <a:r>
              <a:rPr lang="zh-CN" altLang="en-US" dirty="0"/>
              <a:t>最初采用的微控制器是</a:t>
            </a:r>
            <a:r>
              <a:rPr lang="en-US" altLang="zh-CN" dirty="0" err="1"/>
              <a:t>ATmega</a:t>
            </a:r>
            <a:r>
              <a:rPr lang="en-US" altLang="zh-CN" dirty="0"/>
              <a:t> 8</a:t>
            </a:r>
            <a:r>
              <a:rPr lang="zh-CN" altLang="en-US" dirty="0"/>
              <a:t>，仅有</a:t>
            </a:r>
            <a:r>
              <a:rPr lang="en-US" altLang="zh-CN" dirty="0"/>
              <a:t>8KB</a:t>
            </a:r>
            <a:r>
              <a:rPr lang="zh-CN" altLang="en-US" dirty="0"/>
              <a:t>的程序存储空间；后来出现了</a:t>
            </a:r>
            <a:r>
              <a:rPr lang="en-US" altLang="zh-CN" dirty="0"/>
              <a:t>Arduino NG</a:t>
            </a:r>
            <a:r>
              <a:rPr lang="zh-CN" altLang="en-US" dirty="0"/>
              <a:t>，微控制器被替换成</a:t>
            </a:r>
            <a:r>
              <a:rPr lang="en-US" altLang="zh-CN" dirty="0" err="1"/>
              <a:t>ATmega</a:t>
            </a:r>
            <a:r>
              <a:rPr lang="en-US" altLang="zh-CN" dirty="0"/>
              <a:t> 16</a:t>
            </a:r>
            <a:r>
              <a:rPr lang="zh-CN" altLang="en-US" dirty="0"/>
              <a:t>，程序存储空间扩大成了</a:t>
            </a:r>
            <a:r>
              <a:rPr lang="en-US" altLang="zh-CN" dirty="0"/>
              <a:t>16KB</a:t>
            </a:r>
            <a:r>
              <a:rPr lang="zh-CN" altLang="en-US" dirty="0"/>
              <a:t>；最先采用</a:t>
            </a:r>
            <a:r>
              <a:rPr lang="en-US" altLang="zh-CN" dirty="0"/>
              <a:t>32KB Flash</a:t>
            </a:r>
            <a:r>
              <a:rPr lang="zh-CN" altLang="en-US" dirty="0"/>
              <a:t>微控制器</a:t>
            </a:r>
            <a:r>
              <a:rPr lang="en-US" altLang="zh-CN" dirty="0" err="1"/>
              <a:t>ATmega</a:t>
            </a:r>
            <a:r>
              <a:rPr lang="en-US" altLang="zh-CN" dirty="0"/>
              <a:t> 328</a:t>
            </a:r>
            <a:r>
              <a:rPr lang="zh-CN" altLang="en-US" dirty="0"/>
              <a:t>的并不是</a:t>
            </a:r>
            <a:r>
              <a:rPr lang="en-US" altLang="zh-CN" dirty="0"/>
              <a:t>Arduino UNO</a:t>
            </a:r>
            <a:r>
              <a:rPr lang="zh-CN" altLang="en-US" dirty="0"/>
              <a:t>，而是</a:t>
            </a:r>
            <a:r>
              <a:rPr lang="en-US" altLang="zh-CN" dirty="0"/>
              <a:t>Arduino </a:t>
            </a:r>
            <a:r>
              <a:rPr lang="en-US" altLang="zh-CN" dirty="0" err="1"/>
              <a:t>Duemilanove</a:t>
            </a:r>
            <a:r>
              <a:rPr lang="zh-CN" altLang="en-US" dirty="0"/>
              <a:t>，直到现在</a:t>
            </a:r>
            <a:r>
              <a:rPr lang="en-US" altLang="zh-CN" dirty="0" err="1"/>
              <a:t>ATmega</a:t>
            </a:r>
            <a:r>
              <a:rPr lang="en-US" altLang="zh-CN" dirty="0"/>
              <a:t> 328</a:t>
            </a:r>
            <a:r>
              <a:rPr lang="zh-CN" altLang="en-US" dirty="0"/>
              <a:t>的开发板仍未被淘汰；后来又出现了</a:t>
            </a:r>
            <a:r>
              <a:rPr lang="en-US" altLang="zh-CN" dirty="0"/>
              <a:t>Arduino Mega 2560</a:t>
            </a:r>
            <a:r>
              <a:rPr lang="zh-CN" altLang="en-US" dirty="0"/>
              <a:t>，集成了</a:t>
            </a:r>
            <a:r>
              <a:rPr lang="en-US" altLang="zh-CN" dirty="0"/>
              <a:t>256KB Flash</a:t>
            </a:r>
            <a:r>
              <a:rPr lang="zh-CN" altLang="en-US" dirty="0"/>
              <a:t>和更强大的微控制器</a:t>
            </a:r>
            <a:r>
              <a:rPr lang="en-US" altLang="zh-CN" dirty="0" err="1"/>
              <a:t>ATmega</a:t>
            </a:r>
            <a:r>
              <a:rPr lang="en-US" altLang="zh-CN" dirty="0"/>
              <a:t> 2560</a:t>
            </a:r>
            <a:r>
              <a:rPr lang="zh-CN" altLang="en-US" dirty="0"/>
              <a:t>。</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47</a:t>
            </a:fld>
            <a:endParaRPr lang="en-US" altLang="zh-CN"/>
          </a:p>
        </p:txBody>
      </p:sp>
    </p:spTree>
    <p:extLst>
      <p:ext uri="{BB962C8B-B14F-4D97-AF65-F5344CB8AC3E}">
        <p14:creationId xmlns:p14="http://schemas.microsoft.com/office/powerpoint/2010/main" val="1679062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Arduino UNO</a:t>
            </a:r>
            <a:r>
              <a:rPr lang="zh-CN" altLang="en-US" dirty="0"/>
              <a:t>虽然在外形上和之前版本的开发板非常相似，但在处理器上却有着很大差异。如图</a:t>
            </a:r>
            <a:r>
              <a:rPr lang="en-US" altLang="zh-CN" dirty="0"/>
              <a:t>2-32</a:t>
            </a:r>
            <a:r>
              <a:rPr lang="zh-CN" altLang="en-US" dirty="0"/>
              <a:t>所示，</a:t>
            </a:r>
            <a:r>
              <a:rPr lang="en-US" altLang="zh-CN" dirty="0"/>
              <a:t>Arduino</a:t>
            </a:r>
            <a:r>
              <a:rPr lang="zh-CN" altLang="en-US" dirty="0"/>
              <a:t>早期开发板</a:t>
            </a:r>
            <a:r>
              <a:rPr lang="en-US" altLang="zh-CN" dirty="0"/>
              <a:t>Arduino Serial</a:t>
            </a:r>
            <a:r>
              <a:rPr lang="zh-CN" altLang="en-US" dirty="0"/>
              <a:t>最初采用的微控制器是</a:t>
            </a:r>
            <a:r>
              <a:rPr lang="en-US" altLang="zh-CN" dirty="0" err="1"/>
              <a:t>ATmega</a:t>
            </a:r>
            <a:r>
              <a:rPr lang="en-US" altLang="zh-CN" dirty="0"/>
              <a:t> 8</a:t>
            </a:r>
            <a:r>
              <a:rPr lang="zh-CN" altLang="en-US" dirty="0"/>
              <a:t>，仅有</a:t>
            </a:r>
            <a:r>
              <a:rPr lang="en-US" altLang="zh-CN" dirty="0"/>
              <a:t>8KB</a:t>
            </a:r>
            <a:r>
              <a:rPr lang="zh-CN" altLang="en-US" dirty="0"/>
              <a:t>的程序存储空间；后来出现了</a:t>
            </a:r>
            <a:r>
              <a:rPr lang="en-US" altLang="zh-CN" dirty="0"/>
              <a:t>Arduino NG</a:t>
            </a:r>
            <a:r>
              <a:rPr lang="zh-CN" altLang="en-US" dirty="0"/>
              <a:t>，微控制器被替换成</a:t>
            </a:r>
            <a:r>
              <a:rPr lang="en-US" altLang="zh-CN" dirty="0" err="1"/>
              <a:t>ATmega</a:t>
            </a:r>
            <a:r>
              <a:rPr lang="en-US" altLang="zh-CN" dirty="0"/>
              <a:t> 16</a:t>
            </a:r>
            <a:r>
              <a:rPr lang="zh-CN" altLang="en-US" dirty="0"/>
              <a:t>，程序存储空间扩大成了</a:t>
            </a:r>
            <a:r>
              <a:rPr lang="en-US" altLang="zh-CN" dirty="0"/>
              <a:t>16KB</a:t>
            </a:r>
            <a:r>
              <a:rPr lang="zh-CN" altLang="en-US" dirty="0"/>
              <a:t>；最先采用</a:t>
            </a:r>
            <a:r>
              <a:rPr lang="en-US" altLang="zh-CN" dirty="0"/>
              <a:t>32KB Flash</a:t>
            </a:r>
            <a:r>
              <a:rPr lang="zh-CN" altLang="en-US" dirty="0"/>
              <a:t>微控制器</a:t>
            </a:r>
            <a:r>
              <a:rPr lang="en-US" altLang="zh-CN" dirty="0" err="1"/>
              <a:t>ATmega</a:t>
            </a:r>
            <a:r>
              <a:rPr lang="en-US" altLang="zh-CN" dirty="0"/>
              <a:t> 328</a:t>
            </a:r>
            <a:r>
              <a:rPr lang="zh-CN" altLang="en-US" dirty="0"/>
              <a:t>的并不是</a:t>
            </a:r>
            <a:r>
              <a:rPr lang="en-US" altLang="zh-CN" dirty="0"/>
              <a:t>Arduino UNO</a:t>
            </a:r>
            <a:r>
              <a:rPr lang="zh-CN" altLang="en-US" dirty="0"/>
              <a:t>，而是</a:t>
            </a:r>
            <a:r>
              <a:rPr lang="en-US" altLang="zh-CN" dirty="0"/>
              <a:t>Arduino </a:t>
            </a:r>
            <a:r>
              <a:rPr lang="en-US" altLang="zh-CN" dirty="0" err="1"/>
              <a:t>Duemilanove</a:t>
            </a:r>
            <a:r>
              <a:rPr lang="zh-CN" altLang="en-US" dirty="0"/>
              <a:t>，直到现在</a:t>
            </a:r>
            <a:r>
              <a:rPr lang="en-US" altLang="zh-CN" dirty="0" err="1"/>
              <a:t>ATmega</a:t>
            </a:r>
            <a:r>
              <a:rPr lang="en-US" altLang="zh-CN" dirty="0"/>
              <a:t> 328</a:t>
            </a:r>
            <a:r>
              <a:rPr lang="zh-CN" altLang="en-US" dirty="0"/>
              <a:t>的开发板仍未被淘汰；后来又出现了</a:t>
            </a:r>
            <a:r>
              <a:rPr lang="en-US" altLang="zh-CN" dirty="0"/>
              <a:t>Arduino Mega 2560</a:t>
            </a:r>
            <a:r>
              <a:rPr lang="zh-CN" altLang="en-US" dirty="0"/>
              <a:t>，集成了</a:t>
            </a:r>
            <a:r>
              <a:rPr lang="en-US" altLang="zh-CN" dirty="0"/>
              <a:t>256KB Flash</a:t>
            </a:r>
            <a:r>
              <a:rPr lang="zh-CN" altLang="en-US" dirty="0"/>
              <a:t>和更强大的微控制器</a:t>
            </a:r>
            <a:r>
              <a:rPr lang="en-US" altLang="zh-CN" dirty="0" err="1"/>
              <a:t>ATmega</a:t>
            </a:r>
            <a:r>
              <a:rPr lang="en-US" altLang="zh-CN" dirty="0"/>
              <a:t> 2560</a:t>
            </a:r>
            <a:r>
              <a:rPr lang="zh-CN" altLang="en-US" dirty="0"/>
              <a:t>。</a:t>
            </a:r>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48</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2176393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供电电压改为工作电压？</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49</a:t>
            </a:fld>
            <a:endParaRPr lang="en-US" altLang="zh-CN"/>
          </a:p>
        </p:txBody>
      </p:sp>
    </p:spTree>
    <p:extLst>
      <p:ext uri="{BB962C8B-B14F-4D97-AF65-F5344CB8AC3E}">
        <p14:creationId xmlns:p14="http://schemas.microsoft.com/office/powerpoint/2010/main" val="470029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50</a:t>
            </a:fld>
            <a:endParaRPr lang="en-US" altLang="zh-CN"/>
          </a:p>
        </p:txBody>
      </p:sp>
    </p:spTree>
    <p:extLst>
      <p:ext uri="{BB962C8B-B14F-4D97-AF65-F5344CB8AC3E}">
        <p14:creationId xmlns:p14="http://schemas.microsoft.com/office/powerpoint/2010/main" val="11753341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横向来看，</a:t>
            </a:r>
            <a:r>
              <a:rPr kumimoji="1" lang="en-US" altLang="zh-CN" sz="1200" kern="1200" dirty="0" err="1">
                <a:solidFill>
                  <a:schemeClr val="tx1"/>
                </a:solidFill>
                <a:effectLst/>
                <a:latin typeface="Arial" panose="020B0604020202020204" pitchFamily="34" charset="0"/>
                <a:ea typeface="+mn-ea"/>
                <a:cs typeface="+mn-cs"/>
              </a:rPr>
              <a:t>Seeed</a:t>
            </a:r>
            <a:r>
              <a:rPr kumimoji="1" lang="en-US" altLang="zh-CN" sz="1200" kern="1200" dirty="0">
                <a:solidFill>
                  <a:schemeClr val="tx1"/>
                </a:solidFill>
                <a:effectLst/>
                <a:latin typeface="Arial" panose="020B0604020202020204" pitchFamily="34" charset="0"/>
                <a:ea typeface="+mn-ea"/>
                <a:cs typeface="+mn-cs"/>
              </a:rPr>
              <a:t> Studio</a:t>
            </a:r>
            <a:r>
              <a:rPr kumimoji="1" lang="zh-CN" altLang="zh-CN" sz="1200" kern="1200" dirty="0">
                <a:solidFill>
                  <a:schemeClr val="tx1"/>
                </a:solidFill>
                <a:effectLst/>
                <a:latin typeface="Arial" panose="020B0604020202020204" pitchFamily="34" charset="0"/>
                <a:ea typeface="+mn-ea"/>
                <a:cs typeface="+mn-cs"/>
              </a:rPr>
              <a:t>为主流开发板</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和</a:t>
            </a:r>
            <a:r>
              <a:rPr kumimoji="1" lang="en-US" altLang="zh-CN" sz="1200" kern="1200" dirty="0">
                <a:solidFill>
                  <a:schemeClr val="tx1"/>
                </a:solidFill>
                <a:effectLst/>
                <a:latin typeface="Arial" panose="020B0604020202020204" pitchFamily="34" charset="0"/>
                <a:ea typeface="+mn-ea"/>
                <a:cs typeface="+mn-cs"/>
              </a:rPr>
              <a:t>Arduino Mega</a:t>
            </a:r>
            <a:r>
              <a:rPr kumimoji="1" lang="zh-CN" altLang="zh-CN" sz="1200" kern="1200" dirty="0">
                <a:solidFill>
                  <a:schemeClr val="tx1"/>
                </a:solidFill>
                <a:effectLst/>
                <a:latin typeface="Arial" panose="020B0604020202020204" pitchFamily="34" charset="0"/>
                <a:ea typeface="+mn-ea"/>
                <a:cs typeface="+mn-cs"/>
              </a:rPr>
              <a:t>都提供了盾板来扩展额外功能。</a:t>
            </a:r>
            <a:r>
              <a:rPr kumimoji="1" lang="zh-CN" altLang="en-US" sz="1200" kern="1200" dirty="0">
                <a:solidFill>
                  <a:schemeClr val="tx1"/>
                </a:solidFill>
                <a:effectLst/>
                <a:latin typeface="Arial" panose="020B0604020202020204" pitchFamily="34" charset="0"/>
                <a:ea typeface="+mn-ea"/>
                <a:cs typeface="+mn-cs"/>
              </a:rPr>
              <a:t>纵</a:t>
            </a:r>
            <a:r>
              <a:rPr kumimoji="1" lang="zh-CN" altLang="zh-CN" sz="1200" kern="1200" dirty="0">
                <a:solidFill>
                  <a:schemeClr val="tx1"/>
                </a:solidFill>
                <a:effectLst/>
                <a:latin typeface="Arial" panose="020B0604020202020204" pitchFamily="34" charset="0"/>
                <a:ea typeface="+mn-ea"/>
                <a:cs typeface="+mn-cs"/>
              </a:rPr>
              <a:t>向来看，</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的盾板可以扩展</a:t>
            </a:r>
            <a:r>
              <a:rPr kumimoji="1" lang="en-US" altLang="zh-CN" sz="1200" kern="1200" dirty="0" err="1">
                <a:solidFill>
                  <a:schemeClr val="tx1"/>
                </a:solidFill>
                <a:effectLst/>
                <a:latin typeface="Arial" panose="020B0604020202020204" pitchFamily="34" charset="0"/>
                <a:ea typeface="+mn-ea"/>
                <a:cs typeface="+mn-cs"/>
              </a:rPr>
              <a:t>WiFi</a:t>
            </a:r>
            <a:r>
              <a:rPr kumimoji="1" lang="zh-CN" altLang="zh-CN" sz="1200" kern="1200" dirty="0">
                <a:solidFill>
                  <a:schemeClr val="tx1"/>
                </a:solidFill>
                <a:effectLst/>
                <a:latin typeface="Arial" panose="020B0604020202020204" pitchFamily="34" charset="0"/>
                <a:ea typeface="+mn-ea"/>
                <a:cs typeface="+mn-cs"/>
              </a:rPr>
              <a:t>功能、</a:t>
            </a:r>
            <a:r>
              <a:rPr kumimoji="1" lang="en-US" altLang="zh-CN" sz="1200" kern="1200" dirty="0">
                <a:solidFill>
                  <a:schemeClr val="tx1"/>
                </a:solidFill>
                <a:effectLst/>
                <a:latin typeface="Arial" panose="020B0604020202020204" pitchFamily="34" charset="0"/>
                <a:ea typeface="+mn-ea"/>
                <a:cs typeface="+mn-cs"/>
              </a:rPr>
              <a:t>Grove Port</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SD</a:t>
            </a:r>
            <a:r>
              <a:rPr kumimoji="1" lang="zh-CN" altLang="zh-CN" sz="1200" kern="1200" dirty="0">
                <a:solidFill>
                  <a:schemeClr val="tx1"/>
                </a:solidFill>
                <a:effectLst/>
                <a:latin typeface="Arial" panose="020B0604020202020204" pitchFamily="34" charset="0"/>
                <a:ea typeface="+mn-ea"/>
                <a:cs typeface="+mn-cs"/>
              </a:rPr>
              <a:t>卡。</a:t>
            </a: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51</a:t>
            </a:fld>
            <a:endParaRPr lang="en-US" altLang="zh-CN"/>
          </a:p>
        </p:txBody>
      </p:sp>
    </p:spTree>
    <p:extLst>
      <p:ext uri="{BB962C8B-B14F-4D97-AF65-F5344CB8AC3E}">
        <p14:creationId xmlns:p14="http://schemas.microsoft.com/office/powerpoint/2010/main" val="24633073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有没有什么技术上的要求？才能叫做</a:t>
            </a:r>
            <a:r>
              <a:rPr lang="en-US" altLang="zh-CN" dirty="0"/>
              <a:t>Arduino</a:t>
            </a:r>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52</a:t>
            </a:fld>
            <a:endParaRPr lang="en-US" altLang="zh-CN"/>
          </a:p>
        </p:txBody>
      </p:sp>
    </p:spTree>
    <p:extLst>
      <p:ext uri="{BB962C8B-B14F-4D97-AF65-F5344CB8AC3E}">
        <p14:creationId xmlns:p14="http://schemas.microsoft.com/office/powerpoint/2010/main" val="15008060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工作电压多少，睡眠电压多少</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53</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367964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Arduino</a:t>
            </a:r>
            <a:r>
              <a:rPr lang="zh-CN" altLang="en-US" dirty="0"/>
              <a:t>是几几年，。。。。。。</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54</a:t>
            </a:fld>
            <a:endParaRPr lang="en-US" altLang="zh-CN"/>
          </a:p>
        </p:txBody>
      </p:sp>
    </p:spTree>
    <p:extLst>
      <p:ext uri="{BB962C8B-B14F-4D97-AF65-F5344CB8AC3E}">
        <p14:creationId xmlns:p14="http://schemas.microsoft.com/office/powerpoint/2010/main" val="36208958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Arduino</a:t>
            </a:r>
            <a:r>
              <a:rPr lang="zh-CN" altLang="en-US" dirty="0"/>
              <a:t>是几几年，。。。。。。</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55</a:t>
            </a:fld>
            <a:endParaRPr lang="en-US" altLang="zh-CN"/>
          </a:p>
        </p:txBody>
      </p:sp>
    </p:spTree>
    <p:extLst>
      <p:ext uri="{BB962C8B-B14F-4D97-AF65-F5344CB8AC3E}">
        <p14:creationId xmlns:p14="http://schemas.microsoft.com/office/powerpoint/2010/main" val="1481491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Arduino</a:t>
            </a:r>
            <a:r>
              <a:rPr lang="zh-CN" altLang="en-US" dirty="0"/>
              <a:t>是几几年，。。。。。。</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56</a:t>
            </a:fld>
            <a:endParaRPr lang="en-US" altLang="zh-CN"/>
          </a:p>
        </p:txBody>
      </p:sp>
    </p:spTree>
    <p:extLst>
      <p:ext uri="{BB962C8B-B14F-4D97-AF65-F5344CB8AC3E}">
        <p14:creationId xmlns:p14="http://schemas.microsoft.com/office/powerpoint/2010/main" val="34954071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Arduino</a:t>
            </a:r>
            <a:r>
              <a:rPr lang="zh-CN" altLang="en-US" dirty="0"/>
              <a:t>是几几年，。。。。。。</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57</a:t>
            </a:fld>
            <a:endParaRPr lang="en-US" altLang="zh-CN"/>
          </a:p>
        </p:txBody>
      </p:sp>
    </p:spTree>
    <p:extLst>
      <p:ext uri="{BB962C8B-B14F-4D97-AF65-F5344CB8AC3E}">
        <p14:creationId xmlns:p14="http://schemas.microsoft.com/office/powerpoint/2010/main" val="28501957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Arduino</a:t>
            </a:r>
            <a:r>
              <a:rPr lang="zh-CN" altLang="en-US" dirty="0"/>
              <a:t>是几几年，。。。。。。</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58</a:t>
            </a:fld>
            <a:endParaRPr lang="en-US" altLang="zh-CN"/>
          </a:p>
        </p:txBody>
      </p:sp>
    </p:spTree>
    <p:extLst>
      <p:ext uri="{BB962C8B-B14F-4D97-AF65-F5344CB8AC3E}">
        <p14:creationId xmlns:p14="http://schemas.microsoft.com/office/powerpoint/2010/main" val="27321345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60</a:t>
            </a:fld>
            <a:endParaRPr lang="en-US" altLang="zh-CN"/>
          </a:p>
        </p:txBody>
      </p:sp>
    </p:spTree>
    <p:extLst>
      <p:ext uri="{BB962C8B-B14F-4D97-AF65-F5344CB8AC3E}">
        <p14:creationId xmlns:p14="http://schemas.microsoft.com/office/powerpoint/2010/main" val="27428337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修改：</a:t>
            </a:r>
            <a:r>
              <a:rPr lang="en-US" altLang="zh-CN" dirty="0"/>
              <a:t>Arduino</a:t>
            </a:r>
            <a:r>
              <a:rPr lang="zh-CN" altLang="en-US" dirty="0"/>
              <a:t>是几几年，。。。。。。</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Arial" panose="020B0604020202020204" pitchFamily="34" charset="0"/>
                <a:ea typeface="+mn-ea"/>
                <a:cs typeface="+mn-cs"/>
              </a:rPr>
              <a:t>第一块</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问世于</a:t>
            </a:r>
            <a:r>
              <a:rPr kumimoji="1" lang="en-US" altLang="zh-CN" sz="1200" kern="1200" dirty="0">
                <a:solidFill>
                  <a:schemeClr val="tx1"/>
                </a:solidFill>
                <a:effectLst/>
                <a:latin typeface="Arial" panose="020B0604020202020204" pitchFamily="34" charset="0"/>
                <a:ea typeface="+mn-ea"/>
                <a:cs typeface="+mn-cs"/>
              </a:rPr>
              <a:t>2005</a:t>
            </a:r>
            <a:r>
              <a:rPr kumimoji="1" lang="zh-CN" altLang="zh-CN" sz="1200" kern="1200" dirty="0">
                <a:solidFill>
                  <a:schemeClr val="tx1"/>
                </a:solidFill>
                <a:effectLst/>
                <a:latin typeface="Arial" panose="020B0604020202020204" pitchFamily="34" charset="0"/>
                <a:ea typeface="+mn-ea"/>
                <a:cs typeface="+mn-cs"/>
              </a:rPr>
              <a:t>年，经过</a:t>
            </a:r>
            <a:r>
              <a:rPr kumimoji="1" lang="en-US" altLang="zh-CN" sz="1200" kern="1200" dirty="0">
                <a:solidFill>
                  <a:schemeClr val="tx1"/>
                </a:solidFill>
                <a:effectLst/>
                <a:latin typeface="Arial" panose="020B0604020202020204" pitchFamily="34" charset="0"/>
                <a:ea typeface="+mn-ea"/>
                <a:cs typeface="+mn-cs"/>
              </a:rPr>
              <a:t>6</a:t>
            </a:r>
            <a:r>
              <a:rPr kumimoji="1" lang="zh-CN" altLang="zh-CN" sz="1200" kern="1200" dirty="0">
                <a:solidFill>
                  <a:schemeClr val="tx1"/>
                </a:solidFill>
                <a:effectLst/>
                <a:latin typeface="Arial" panose="020B0604020202020204" pitchFamily="34" charset="0"/>
                <a:ea typeface="+mn-ea"/>
                <a:cs typeface="+mn-cs"/>
              </a:rPr>
              <a:t>年后，</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a:t>
            </a:r>
            <a:r>
              <a:rPr kumimoji="1" lang="en-US" altLang="zh-CN" sz="1200" kern="1200" dirty="0">
                <a:solidFill>
                  <a:schemeClr val="tx1"/>
                </a:solidFill>
                <a:effectLst/>
                <a:latin typeface="Arial" panose="020B0604020202020204" pitchFamily="34" charset="0"/>
                <a:ea typeface="+mn-ea"/>
                <a:cs typeface="+mn-cs"/>
              </a:rPr>
              <a:t>9</a:t>
            </a:r>
            <a:r>
              <a:rPr kumimoji="1" lang="zh-CN" altLang="zh-CN" sz="1200" kern="1200" dirty="0">
                <a:solidFill>
                  <a:schemeClr val="tx1"/>
                </a:solidFill>
                <a:effectLst/>
                <a:latin typeface="Arial" panose="020B0604020202020204" pitchFamily="34" charset="0"/>
                <a:ea typeface="+mn-ea"/>
                <a:cs typeface="+mn-cs"/>
              </a:rPr>
              <a:t>月</a:t>
            </a:r>
            <a:r>
              <a:rPr kumimoji="1" lang="en-US" altLang="zh-CN" sz="1200" kern="1200" dirty="0">
                <a:solidFill>
                  <a:schemeClr val="tx1"/>
                </a:solidFill>
                <a:effectLst/>
                <a:latin typeface="Arial" panose="020B0604020202020204" pitchFamily="34" charset="0"/>
                <a:ea typeface="+mn-ea"/>
                <a:cs typeface="+mn-cs"/>
              </a:rPr>
              <a:t>25</a:t>
            </a:r>
            <a:r>
              <a:rPr kumimoji="1" lang="zh-CN" altLang="zh-CN" sz="1200" kern="1200" dirty="0">
                <a:solidFill>
                  <a:schemeClr val="tx1"/>
                </a:solidFill>
                <a:effectLst/>
                <a:latin typeface="Arial" panose="020B0604020202020204" pitchFamily="34" charset="0"/>
                <a:ea typeface="+mn-ea"/>
                <a:cs typeface="+mn-cs"/>
              </a:rPr>
              <a:t>日在纽约创客大会上发布了</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UNO</a:t>
            </a:r>
            <a:r>
              <a:rPr kumimoji="1" lang="zh-CN" altLang="zh-CN" sz="1200" kern="1200" dirty="0">
                <a:solidFill>
                  <a:schemeClr val="tx1"/>
                </a:solidFill>
                <a:effectLst/>
                <a:latin typeface="Arial" panose="020B0604020202020204" pitchFamily="34" charset="0"/>
                <a:ea typeface="+mn-ea"/>
                <a:cs typeface="+mn-cs"/>
              </a:rPr>
              <a:t>是意大利语中“一”的意思，用以表达</a:t>
            </a:r>
            <a:r>
              <a:rPr kumimoji="1" lang="en-US" altLang="zh-CN" sz="1200" kern="1200" dirty="0">
                <a:solidFill>
                  <a:schemeClr val="tx1"/>
                </a:solidFill>
                <a:effectLst/>
                <a:latin typeface="Arial" panose="020B0604020202020204" pitchFamily="34" charset="0"/>
                <a:ea typeface="+mn-ea"/>
                <a:cs typeface="+mn-cs"/>
              </a:rPr>
              <a:t>Arduino 1.0</a:t>
            </a:r>
            <a:r>
              <a:rPr kumimoji="1" lang="zh-CN" altLang="zh-CN" sz="1200" kern="1200" dirty="0">
                <a:solidFill>
                  <a:schemeClr val="tx1"/>
                </a:solidFill>
                <a:effectLst/>
                <a:latin typeface="Arial" panose="020B0604020202020204" pitchFamily="34" charset="0"/>
                <a:ea typeface="+mn-ea"/>
                <a:cs typeface="+mn-cs"/>
              </a:rPr>
              <a:t>版本，在</a:t>
            </a:r>
            <a:r>
              <a:rPr kumimoji="1" lang="en-US" altLang="zh-CN" sz="1200" kern="1200" dirty="0">
                <a:solidFill>
                  <a:schemeClr val="tx1"/>
                </a:solidFill>
                <a:effectLst/>
                <a:latin typeface="Arial" panose="020B0604020202020204" pitchFamily="34" charset="0"/>
                <a:ea typeface="+mn-ea"/>
                <a:cs typeface="+mn-cs"/>
              </a:rPr>
              <a:t>2005 </a:t>
            </a:r>
            <a:r>
              <a:rPr kumimoji="1" lang="zh-CN" altLang="zh-CN" sz="1200" kern="1200" dirty="0">
                <a:solidFill>
                  <a:schemeClr val="tx1"/>
                </a:solidFill>
                <a:effectLst/>
                <a:latin typeface="Arial" panose="020B0604020202020204" pitchFamily="34" charset="0"/>
                <a:ea typeface="+mn-ea"/>
                <a:cs typeface="+mn-cs"/>
              </a:rPr>
              <a:t>年到</a:t>
            </a:r>
            <a:r>
              <a:rPr kumimoji="1" lang="en-US" altLang="zh-CN" sz="1200" kern="1200" dirty="0">
                <a:solidFill>
                  <a:schemeClr val="tx1"/>
                </a:solidFill>
                <a:effectLst/>
                <a:latin typeface="Arial" panose="020B0604020202020204" pitchFamily="34" charset="0"/>
                <a:ea typeface="+mn-ea"/>
                <a:cs typeface="+mn-cs"/>
              </a:rPr>
              <a:t>2011</a:t>
            </a:r>
            <a:r>
              <a:rPr kumimoji="1" lang="zh-CN" altLang="zh-CN" sz="1200" kern="1200" dirty="0">
                <a:solidFill>
                  <a:schemeClr val="tx1"/>
                </a:solidFill>
                <a:effectLst/>
                <a:latin typeface="Arial" panose="020B0604020202020204" pitchFamily="34" charset="0"/>
                <a:ea typeface="+mn-ea"/>
                <a:cs typeface="+mn-cs"/>
              </a:rPr>
              <a:t>年期间的被认为是预先发布版本，虽然和</a:t>
            </a:r>
            <a:r>
              <a:rPr kumimoji="1" lang="en-US" altLang="zh-CN" sz="1200" kern="1200" dirty="0">
                <a:solidFill>
                  <a:schemeClr val="tx1"/>
                </a:solidFill>
                <a:effectLst/>
                <a:latin typeface="Arial" panose="020B0604020202020204" pitchFamily="34" charset="0"/>
                <a:ea typeface="+mn-ea"/>
                <a:cs typeface="+mn-cs"/>
              </a:rPr>
              <a:t>Arduino  UNO</a:t>
            </a:r>
            <a:r>
              <a:rPr kumimoji="1" lang="zh-CN" altLang="zh-CN" sz="1200" kern="1200" dirty="0">
                <a:solidFill>
                  <a:schemeClr val="tx1"/>
                </a:solidFill>
                <a:effectLst/>
                <a:latin typeface="Arial" panose="020B0604020202020204" pitchFamily="34" charset="0"/>
                <a:ea typeface="+mn-ea"/>
                <a:cs typeface="+mn-cs"/>
              </a:rPr>
              <a:t>的外形非常相似，但现在市面上已经很难见到。</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团队正式发布的开发板还有</a:t>
            </a:r>
            <a:r>
              <a:rPr kumimoji="1" lang="en-US" altLang="zh-CN" sz="1200" kern="1200" dirty="0">
                <a:solidFill>
                  <a:schemeClr val="tx1"/>
                </a:solidFill>
                <a:effectLst/>
                <a:latin typeface="Arial" panose="020B0604020202020204" pitchFamily="34" charset="0"/>
                <a:ea typeface="+mn-ea"/>
                <a:cs typeface="+mn-cs"/>
              </a:rPr>
              <a:t>Arduino Mega 2560</a:t>
            </a:r>
            <a:r>
              <a:rPr kumimoji="1" lang="zh-CN" altLang="zh-CN" sz="1200" kern="1200" dirty="0">
                <a:solidFill>
                  <a:schemeClr val="tx1"/>
                </a:solidFill>
                <a:effectLst/>
                <a:latin typeface="Arial" panose="020B0604020202020204" pitchFamily="34" charset="0"/>
                <a:ea typeface="+mn-ea"/>
                <a:cs typeface="+mn-cs"/>
              </a:rPr>
              <a:t>，至于其他的</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产品像</a:t>
            </a:r>
            <a:r>
              <a:rPr kumimoji="1" lang="en-US" altLang="zh-CN" sz="1200" kern="1200" dirty="0">
                <a:solidFill>
                  <a:schemeClr val="tx1"/>
                </a:solidFill>
                <a:effectLst/>
                <a:latin typeface="Arial" panose="020B0604020202020204" pitchFamily="34" charset="0"/>
                <a:ea typeface="+mn-ea"/>
                <a:cs typeface="+mn-cs"/>
              </a:rPr>
              <a:t>MICRO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NANO</a:t>
            </a:r>
            <a:r>
              <a:rPr kumimoji="1" lang="zh-CN" altLang="zh-CN" sz="1200" kern="1200" dirty="0">
                <a:solidFill>
                  <a:schemeClr val="tx1"/>
                </a:solidFill>
                <a:effectLst/>
                <a:latin typeface="Arial" panose="020B0604020202020204" pitchFamily="34" charset="0"/>
                <a:ea typeface="+mn-ea"/>
                <a:cs typeface="+mn-cs"/>
              </a:rPr>
              <a:t>、</a:t>
            </a:r>
            <a:r>
              <a:rPr kumimoji="1" lang="en-US" altLang="zh-CN" sz="1200" kern="1200" dirty="0">
                <a:solidFill>
                  <a:schemeClr val="tx1"/>
                </a:solidFill>
                <a:effectLst/>
                <a:latin typeface="Arial" panose="020B0604020202020204" pitchFamily="34" charset="0"/>
                <a:ea typeface="+mn-ea"/>
                <a:cs typeface="+mn-cs"/>
              </a:rPr>
              <a:t>GEMMA</a:t>
            </a:r>
            <a:r>
              <a:rPr kumimoji="1" lang="zh-CN" altLang="zh-CN" sz="1200" kern="1200" dirty="0">
                <a:solidFill>
                  <a:schemeClr val="tx1"/>
                </a:solidFill>
                <a:effectLst/>
                <a:latin typeface="Arial" panose="020B0604020202020204" pitchFamily="34" charset="0"/>
                <a:ea typeface="+mn-ea"/>
                <a:cs typeface="+mn-cs"/>
              </a:rPr>
              <a:t>等都是其他团队基于</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设计原理重新制作的开发板，后文会介绍</a:t>
            </a:r>
            <a:r>
              <a:rPr kumimoji="1" lang="en-US" altLang="zh-CN" sz="1200" kern="1200" dirty="0">
                <a:solidFill>
                  <a:schemeClr val="tx1"/>
                </a:solidFill>
                <a:effectLst/>
                <a:latin typeface="Arial" panose="020B0604020202020204" pitchFamily="34" charset="0"/>
                <a:ea typeface="+mn-ea"/>
                <a:cs typeface="+mn-cs"/>
              </a:rPr>
              <a:t>Arduino</a:t>
            </a:r>
            <a:r>
              <a:rPr kumimoji="1" lang="zh-CN" altLang="zh-CN" sz="1200" kern="1200" dirty="0">
                <a:solidFill>
                  <a:schemeClr val="tx1"/>
                </a:solidFill>
                <a:effectLst/>
                <a:latin typeface="Arial" panose="020B0604020202020204" pitchFamily="34" charset="0"/>
                <a:ea typeface="+mn-ea"/>
                <a:cs typeface="+mn-cs"/>
              </a:rPr>
              <a:t>的一些制作团队。</a:t>
            </a:r>
          </a:p>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61</a:t>
            </a:fld>
            <a:endParaRPr lang="en-US" altLang="zh-CN"/>
          </a:p>
        </p:txBody>
      </p:sp>
    </p:spTree>
    <p:extLst>
      <p:ext uri="{BB962C8B-B14F-4D97-AF65-F5344CB8AC3E}">
        <p14:creationId xmlns:p14="http://schemas.microsoft.com/office/powerpoint/2010/main" val="28834767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63</a:t>
            </a:fld>
            <a:endParaRPr lang="en-US" altLang="zh-CN"/>
          </a:p>
        </p:txBody>
      </p:sp>
    </p:spTree>
    <p:extLst>
      <p:ext uri="{BB962C8B-B14F-4D97-AF65-F5344CB8AC3E}">
        <p14:creationId xmlns:p14="http://schemas.microsoft.com/office/powerpoint/2010/main" val="1839355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需要修改：把图换掉，换成</a:t>
            </a:r>
            <a:r>
              <a:rPr lang="en-US" altLang="zh-CN" dirty="0"/>
              <a:t>IDE</a:t>
            </a:r>
            <a:r>
              <a:rPr lang="zh-CN" altLang="en-US" dirty="0"/>
              <a:t>的界面</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65</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6234352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需要修改：图看不清楚，这个图需要讲，代码要清楚。 管脚需要解释一下，那个是管脚</a:t>
            </a:r>
            <a:r>
              <a:rPr lang="en-US" altLang="zh-CN" dirty="0"/>
              <a:t>1</a:t>
            </a:r>
            <a:r>
              <a:rPr lang="zh-CN" altLang="en-US" dirty="0"/>
              <a:t>，管教</a:t>
            </a:r>
            <a:r>
              <a:rPr lang="en-US" altLang="zh-CN" dirty="0"/>
              <a:t>2</a:t>
            </a:r>
            <a:r>
              <a:rPr lang="zh-CN" altLang="en-US" dirty="0"/>
              <a:t>，定义清楚</a:t>
            </a:r>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66</a:t>
            </a:fld>
            <a:endParaRPr lang="en-US" altLang="zh-CN"/>
          </a:p>
        </p:txBody>
      </p:sp>
    </p:spTree>
    <p:extLst>
      <p:ext uri="{BB962C8B-B14F-4D97-AF65-F5344CB8AC3E}">
        <p14:creationId xmlns:p14="http://schemas.microsoft.com/office/powerpoint/2010/main" val="17682855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67</a:t>
            </a:fld>
            <a:endParaRPr lang="en-US" altLang="zh-CN"/>
          </a:p>
        </p:txBody>
      </p:sp>
    </p:spTree>
    <p:extLst>
      <p:ext uri="{BB962C8B-B14F-4D97-AF65-F5344CB8AC3E}">
        <p14:creationId xmlns:p14="http://schemas.microsoft.com/office/powerpoint/2010/main" val="24569800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68</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9312539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这里需要注意以下几点：</a:t>
            </a:r>
          </a:p>
          <a:p>
            <a:r>
              <a:rPr lang="zh-CN" altLang="en-US" dirty="0"/>
              <a:t>（</a:t>
            </a:r>
            <a:r>
              <a:rPr lang="en-US" altLang="zh-CN" dirty="0"/>
              <a:t>1</a:t>
            </a:r>
            <a:r>
              <a:rPr lang="zh-CN" altLang="en-US" dirty="0"/>
              <a:t>）头文件“</a:t>
            </a:r>
            <a:r>
              <a:rPr lang="en-US" altLang="zh-CN" dirty="0" err="1"/>
              <a:t>DHT.h</a:t>
            </a:r>
            <a:r>
              <a:rPr lang="en-US" altLang="zh-CN" dirty="0"/>
              <a:t>”</a:t>
            </a:r>
            <a:r>
              <a:rPr lang="zh-CN" altLang="en-US" dirty="0"/>
              <a:t>来自</a:t>
            </a:r>
            <a:r>
              <a:rPr lang="en-US" altLang="zh-CN" dirty="0"/>
              <a:t>DHT11</a:t>
            </a:r>
            <a:r>
              <a:rPr lang="zh-CN" altLang="en-US" dirty="0"/>
              <a:t>库，可以从开源网址</a:t>
            </a:r>
            <a:r>
              <a:rPr lang="en-US" altLang="zh-CN" dirty="0"/>
              <a:t>https://github.com/ </a:t>
            </a:r>
            <a:r>
              <a:rPr lang="en-US" altLang="zh-CN" dirty="0" err="1"/>
              <a:t>Seeed</a:t>
            </a:r>
            <a:r>
              <a:rPr lang="en-US" altLang="zh-CN" dirty="0"/>
              <a:t>-Studio/</a:t>
            </a:r>
            <a:r>
              <a:rPr lang="en-US" altLang="zh-CN" dirty="0" err="1"/>
              <a:t>Grove_Temperature_And_Humidity_Sensor</a:t>
            </a:r>
            <a:r>
              <a:rPr lang="zh-CN" altLang="en-US" dirty="0"/>
              <a:t>下载，将下载的库文件夹直接复制至</a:t>
            </a:r>
            <a:r>
              <a:rPr lang="en-US" altLang="zh-CN" dirty="0"/>
              <a:t>Arduino</a:t>
            </a:r>
            <a:r>
              <a:rPr lang="zh-CN" altLang="en-US" dirty="0"/>
              <a:t>安装目录下的</a:t>
            </a:r>
            <a:r>
              <a:rPr lang="en-US" altLang="zh-CN" dirty="0"/>
              <a:t>libraries</a:t>
            </a:r>
            <a:r>
              <a:rPr lang="zh-CN" altLang="en-US" dirty="0"/>
              <a:t>文件夹就可以直接使用</a:t>
            </a:r>
            <a:r>
              <a:rPr lang="en-US" altLang="zh-CN" dirty="0"/>
              <a:t>DHT11</a:t>
            </a:r>
            <a:r>
              <a:rPr lang="zh-CN" altLang="en-US" dirty="0"/>
              <a:t>库了。</a:t>
            </a:r>
          </a:p>
          <a:p>
            <a:r>
              <a:rPr lang="zh-CN" altLang="en-US" dirty="0"/>
              <a:t>（</a:t>
            </a:r>
            <a:r>
              <a:rPr lang="en-US" altLang="zh-CN" dirty="0"/>
              <a:t>2</a:t>
            </a:r>
            <a:r>
              <a:rPr lang="zh-CN" altLang="en-US" dirty="0"/>
              <a:t>）代码第</a:t>
            </a:r>
            <a:r>
              <a:rPr lang="en-US" altLang="zh-CN" dirty="0"/>
              <a:t>2</a:t>
            </a:r>
            <a:r>
              <a:rPr lang="zh-CN" altLang="en-US" dirty="0"/>
              <a:t>行中的数字</a:t>
            </a:r>
            <a:r>
              <a:rPr lang="en-US" altLang="zh-CN" dirty="0"/>
              <a:t>2</a:t>
            </a:r>
            <a:r>
              <a:rPr lang="zh-CN" altLang="en-US" dirty="0"/>
              <a:t>代表使用开发板的</a:t>
            </a:r>
            <a:r>
              <a:rPr lang="en-US" altLang="zh-CN" dirty="0"/>
              <a:t>2</a:t>
            </a:r>
            <a:r>
              <a:rPr lang="zh-CN" altLang="en-US" dirty="0"/>
              <a:t>号引脚与</a:t>
            </a:r>
            <a:r>
              <a:rPr lang="en-US" altLang="zh-CN" dirty="0"/>
              <a:t>DHT11</a:t>
            </a:r>
            <a:r>
              <a:rPr lang="zh-CN" altLang="en-US" dirty="0"/>
              <a:t>通信，这与步骤</a:t>
            </a:r>
            <a:r>
              <a:rPr lang="en-US" altLang="zh-CN" dirty="0"/>
              <a:t>1</a:t>
            </a:r>
            <a:r>
              <a:rPr lang="zh-CN" altLang="en-US" dirty="0"/>
              <a:t>完成的实物连接关系是相匹配的。</a:t>
            </a:r>
          </a:p>
          <a:p>
            <a:r>
              <a:rPr lang="zh-CN" altLang="en-US" dirty="0"/>
              <a:t>（</a:t>
            </a:r>
            <a:r>
              <a:rPr lang="en-US" altLang="zh-CN" dirty="0"/>
              <a:t>3</a:t>
            </a:r>
            <a:r>
              <a:rPr lang="zh-CN" altLang="en-US" dirty="0"/>
              <a:t>）</a:t>
            </a:r>
            <a:r>
              <a:rPr lang="en-US" altLang="zh-CN" dirty="0"/>
              <a:t>setup</a:t>
            </a:r>
            <a:r>
              <a:rPr lang="zh-CN" altLang="en-US" dirty="0"/>
              <a:t>函数中“</a:t>
            </a:r>
            <a:r>
              <a:rPr lang="en-US" altLang="zh-CN" dirty="0" err="1"/>
              <a:t>Serial.begin</a:t>
            </a:r>
            <a:r>
              <a:rPr lang="en-US" altLang="zh-CN" dirty="0"/>
              <a:t>(9600)”</a:t>
            </a:r>
            <a:r>
              <a:rPr lang="zh-CN" altLang="en-US" dirty="0"/>
              <a:t>代表设置开发板的串口打印波特率为</a:t>
            </a:r>
            <a:r>
              <a:rPr lang="en-US" altLang="zh-CN" dirty="0"/>
              <a:t>9600Bd/s</a:t>
            </a:r>
            <a:r>
              <a:rPr lang="zh-CN" altLang="en-US" dirty="0"/>
              <a:t>。</a:t>
            </a:r>
          </a:p>
          <a:p>
            <a:r>
              <a:rPr lang="zh-CN" altLang="en-US" dirty="0"/>
              <a:t>（</a:t>
            </a:r>
            <a:r>
              <a:rPr lang="en-US" altLang="zh-CN" dirty="0"/>
              <a:t>4</a:t>
            </a:r>
            <a:r>
              <a:rPr lang="zh-CN" altLang="en-US" dirty="0"/>
              <a:t>）</a:t>
            </a:r>
            <a:r>
              <a:rPr lang="en-US" altLang="zh-CN" dirty="0"/>
              <a:t>loop</a:t>
            </a:r>
            <a:r>
              <a:rPr lang="zh-CN" altLang="en-US" dirty="0"/>
              <a:t>函数中“</a:t>
            </a:r>
            <a:r>
              <a:rPr lang="en-US" altLang="zh-CN" dirty="0" err="1"/>
              <a:t>dht.readHumidity</a:t>
            </a:r>
            <a:r>
              <a:rPr lang="en-US" altLang="zh-CN" dirty="0"/>
              <a:t>()”</a:t>
            </a:r>
            <a:r>
              <a:rPr lang="zh-CN" altLang="en-US" dirty="0"/>
              <a:t>和“</a:t>
            </a:r>
            <a:r>
              <a:rPr lang="en-US" altLang="zh-CN" dirty="0" err="1"/>
              <a:t>dht.readTemperature</a:t>
            </a:r>
            <a:r>
              <a:rPr lang="en-US" altLang="zh-CN" dirty="0"/>
              <a:t>()”</a:t>
            </a:r>
            <a:r>
              <a:rPr lang="zh-CN" altLang="en-US" dirty="0"/>
              <a:t>分别代表读取一次湿度数据和温度数据；“</a:t>
            </a:r>
            <a:r>
              <a:rPr lang="en-US" altLang="zh-CN" dirty="0" err="1"/>
              <a:t>Serial.println</a:t>
            </a:r>
            <a:r>
              <a:rPr lang="en-US" altLang="zh-CN" dirty="0"/>
              <a:t>(h)”</a:t>
            </a:r>
            <a:r>
              <a:rPr lang="zh-CN" altLang="en-US" dirty="0"/>
              <a:t>和“</a:t>
            </a:r>
            <a:r>
              <a:rPr lang="en-US" altLang="zh-CN" dirty="0" err="1"/>
              <a:t>Serial.println</a:t>
            </a:r>
            <a:r>
              <a:rPr lang="en-US" altLang="zh-CN" dirty="0"/>
              <a:t>(t)”</a:t>
            </a:r>
            <a:r>
              <a:rPr lang="zh-CN" altLang="en-US" dirty="0"/>
              <a:t>分别代表打印一次湿度数据和温度数据；“</a:t>
            </a:r>
            <a:r>
              <a:rPr lang="en-US" altLang="zh-CN" dirty="0"/>
              <a:t>delay(3000)”</a:t>
            </a:r>
            <a:r>
              <a:rPr lang="zh-CN" altLang="en-US" dirty="0"/>
              <a:t>表示延时</a:t>
            </a:r>
            <a:r>
              <a:rPr lang="en-US" altLang="zh-CN" dirty="0"/>
              <a:t>3s</a:t>
            </a:r>
            <a:r>
              <a:rPr lang="zh-CN" altLang="en-US" dirty="0"/>
              <a:t>，符合应用案例要求“间隔</a:t>
            </a:r>
            <a:r>
              <a:rPr lang="en-US" altLang="zh-CN" dirty="0"/>
              <a:t>3s</a:t>
            </a:r>
            <a:r>
              <a:rPr lang="zh-CN" altLang="en-US" dirty="0"/>
              <a:t>打印一次环境数据”。</a:t>
            </a: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69</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1196318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交叉编译的目的是将源代码编译成目标平台可以运行的可执行文件，所以</a:t>
            </a:r>
            <a:r>
              <a:rPr lang="en-US" altLang="zh-CN" dirty="0"/>
              <a:t>MCU</a:t>
            </a:r>
            <a:r>
              <a:rPr lang="zh-CN" altLang="zh-CN" dirty="0"/>
              <a:t>相同的开发板对应的交叉编译链都是一样的。</a:t>
            </a:r>
            <a:endParaRPr lang="en-US" altLang="zh-CN" dirty="0"/>
          </a:p>
          <a:p>
            <a:r>
              <a:rPr lang="zh-CN" altLang="en-US" dirty="0"/>
              <a:t>修改</a:t>
            </a:r>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70</a:t>
            </a:fld>
            <a:endParaRPr lang="en-US" altLang="zh-CN"/>
          </a:p>
        </p:txBody>
      </p:sp>
    </p:spTree>
    <p:extLst>
      <p:ext uri="{BB962C8B-B14F-4D97-AF65-F5344CB8AC3E}">
        <p14:creationId xmlns:p14="http://schemas.microsoft.com/office/powerpoint/2010/main" val="41394787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烧写程序。通过</a:t>
            </a:r>
            <a:r>
              <a:rPr lang="en-US" altLang="zh-CN" dirty="0"/>
              <a:t>USB</a:t>
            </a:r>
            <a:r>
              <a:rPr lang="zh-CN" altLang="en-US" dirty="0"/>
              <a:t>把开发板接至计算机。如图所示，在</a:t>
            </a:r>
            <a:r>
              <a:rPr lang="en-US" altLang="zh-CN" dirty="0"/>
              <a:t>Arduino IDE</a:t>
            </a:r>
            <a:r>
              <a:rPr lang="zh-CN" altLang="en-US" dirty="0"/>
              <a:t>下，选择“工具”→“端口”，</a:t>
            </a:r>
            <a:r>
              <a:rPr lang="en-US" altLang="zh-CN" dirty="0"/>
              <a:t>Arduino UNO</a:t>
            </a:r>
            <a:r>
              <a:rPr lang="zh-CN" altLang="en-US" dirty="0"/>
              <a:t>对应的端口可通过设备管理器查看。单击“上传”，步骤</a:t>
            </a:r>
            <a:r>
              <a:rPr lang="en-US" altLang="zh-CN" dirty="0"/>
              <a:t>3</a:t>
            </a:r>
            <a:r>
              <a:rPr lang="zh-CN" altLang="en-US" dirty="0"/>
              <a:t>中交叉编译好的可执行程序会被自动烧写至</a:t>
            </a:r>
            <a:r>
              <a:rPr lang="en-US" altLang="zh-CN" dirty="0"/>
              <a:t>Arduino UNO</a:t>
            </a:r>
            <a:r>
              <a:rPr lang="zh-CN" altLang="en-US" dirty="0"/>
              <a:t>开发板。</a:t>
            </a:r>
            <a:endParaRPr lang="en-US" altLang="zh-CN" dirty="0"/>
          </a:p>
          <a:p>
            <a:r>
              <a:rPr lang="zh-CN" altLang="en-US" dirty="0"/>
              <a:t>可以发现，</a:t>
            </a:r>
            <a:r>
              <a:rPr lang="en-US" altLang="zh-CN" dirty="0"/>
              <a:t>Arduino</a:t>
            </a:r>
            <a:r>
              <a:rPr lang="zh-CN" altLang="en-US" dirty="0"/>
              <a:t>通过串口烧写程序，所以程序烧写过程中</a:t>
            </a:r>
            <a:r>
              <a:rPr lang="en-US" altLang="zh-CN" dirty="0"/>
              <a:t>D0D1</a:t>
            </a:r>
            <a:r>
              <a:rPr lang="zh-CN" altLang="en-US" dirty="0"/>
              <a:t>管脚不能接入其他外设。</a:t>
            </a:r>
          </a:p>
          <a:p>
            <a:endParaRPr lang="zh-CN" altLang="en-US" dirty="0"/>
          </a:p>
        </p:txBody>
      </p:sp>
      <p:sp>
        <p:nvSpPr>
          <p:cNvPr id="4" name="灯片编号占位符 3"/>
          <p:cNvSpPr>
            <a:spLocks noGrp="1"/>
          </p:cNvSpPr>
          <p:nvPr>
            <p:ph type="sldNum" sz="quarter" idx="5"/>
          </p:nvPr>
        </p:nvSpPr>
        <p:spPr/>
        <p:txBody>
          <a:bodyPr/>
          <a:lstStyle/>
          <a:p>
            <a:pPr>
              <a:defRPr/>
            </a:pPr>
            <a:fld id="{C163974F-E2FC-4919-A1F7-1DAB2B1EEBC0}" type="slidenum">
              <a:rPr lang="zh-CN" altLang="en-US" smtClean="0"/>
              <a:t>71</a:t>
            </a:fld>
            <a:endParaRPr lang="en-US" altLang="zh-CN"/>
          </a:p>
        </p:txBody>
      </p:sp>
    </p:spTree>
    <p:extLst>
      <p:ext uri="{BB962C8B-B14F-4D97-AF65-F5344CB8AC3E}">
        <p14:creationId xmlns:p14="http://schemas.microsoft.com/office/powerpoint/2010/main" val="18056876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需要修改：图看不清楚，这个图需要讲，代码要清楚。 管脚需要解释一下，那个是管脚</a:t>
            </a:r>
            <a:r>
              <a:rPr lang="en-US" altLang="zh-CN" dirty="0"/>
              <a:t>1</a:t>
            </a:r>
            <a:r>
              <a:rPr lang="zh-CN" altLang="en-US" dirty="0"/>
              <a:t>，管教</a:t>
            </a:r>
            <a:r>
              <a:rPr lang="en-US" altLang="zh-CN" dirty="0"/>
              <a:t>2</a:t>
            </a:r>
            <a:r>
              <a:rPr lang="zh-CN" altLang="en-US" dirty="0"/>
              <a:t>，定义清楚</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73</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0819924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74</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6816898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代码是基于</a:t>
            </a:r>
            <a:r>
              <a:rPr lang="en-US" altLang="zh-CN" dirty="0" err="1"/>
              <a:t>WiringPi</a:t>
            </a:r>
            <a:r>
              <a:rPr lang="zh-CN" altLang="en-US" dirty="0"/>
              <a:t>提供的部分类</a:t>
            </a:r>
            <a:r>
              <a:rPr lang="en-US" altLang="zh-CN" dirty="0"/>
              <a:t>Arduino</a:t>
            </a:r>
            <a:r>
              <a:rPr lang="zh-CN" altLang="en-US" dirty="0"/>
              <a:t>编程接口，包括</a:t>
            </a:r>
            <a:r>
              <a:rPr lang="en-US" altLang="zh-CN" dirty="0"/>
              <a:t>Time</a:t>
            </a:r>
            <a:r>
              <a:rPr lang="zh-CN" altLang="en-US" dirty="0"/>
              <a:t>、</a:t>
            </a:r>
            <a:r>
              <a:rPr lang="en-US" altLang="zh-CN" dirty="0" err="1"/>
              <a:t>analogIO</a:t>
            </a:r>
            <a:r>
              <a:rPr lang="zh-CN" altLang="en-US" dirty="0"/>
              <a:t>、</a:t>
            </a:r>
            <a:r>
              <a:rPr lang="en-US" altLang="zh-CN" dirty="0" err="1"/>
              <a:t>digitalIO</a:t>
            </a:r>
            <a:r>
              <a:rPr lang="zh-CN" altLang="en-US" dirty="0"/>
              <a:t>、串口操作等。</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75</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9138898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代码展示了部分</a:t>
            </a:r>
            <a:r>
              <a:rPr lang="en-US" altLang="zh-CN" dirty="0" err="1"/>
              <a:t>GrovePi</a:t>
            </a:r>
            <a:r>
              <a:rPr lang="zh-CN" altLang="en-US" dirty="0"/>
              <a:t>为开发者提供的统一编程接口，和</a:t>
            </a:r>
            <a:r>
              <a:rPr lang="en-US" altLang="zh-CN" dirty="0" err="1"/>
              <a:t>WiringPi</a:t>
            </a:r>
            <a:r>
              <a:rPr lang="zh-CN" altLang="en-US" dirty="0"/>
              <a:t>类似，除了操作各类型</a:t>
            </a:r>
            <a:r>
              <a:rPr lang="en-US" altLang="zh-CN" dirty="0"/>
              <a:t>GPIO</a:t>
            </a:r>
            <a:r>
              <a:rPr lang="zh-CN" altLang="en-US" dirty="0"/>
              <a:t>的接口，还有操作一些很常用传感器的接口，例如</a:t>
            </a:r>
            <a:r>
              <a:rPr lang="en-US" altLang="zh-CN" dirty="0"/>
              <a:t>DHT</a:t>
            </a:r>
            <a:r>
              <a:rPr lang="zh-CN" altLang="en-US" dirty="0"/>
              <a:t>和</a:t>
            </a:r>
            <a:r>
              <a:rPr lang="en-US" altLang="zh-CN" dirty="0"/>
              <a:t>Grove Accelerometer</a:t>
            </a:r>
            <a:r>
              <a:rPr lang="zh-CN" altLang="en-US" dirty="0"/>
              <a:t>。</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76</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3960455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77</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1788121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这里需要注意以下几点：</a:t>
            </a:r>
          </a:p>
          <a:p>
            <a:r>
              <a:rPr lang="zh-CN" altLang="en-US" dirty="0"/>
              <a:t>●使用“</a:t>
            </a:r>
            <a:r>
              <a:rPr lang="en-US" altLang="zh-CN" dirty="0"/>
              <a:t>import </a:t>
            </a:r>
            <a:r>
              <a:rPr lang="en-US" altLang="zh-CN" dirty="0" err="1"/>
              <a:t>grovepi</a:t>
            </a:r>
            <a:r>
              <a:rPr lang="en-US" altLang="zh-CN" dirty="0"/>
              <a:t>”</a:t>
            </a:r>
            <a:r>
              <a:rPr lang="zh-CN" altLang="en-US" dirty="0"/>
              <a:t>导入</a:t>
            </a:r>
            <a:r>
              <a:rPr lang="en-US" altLang="zh-CN" dirty="0" err="1"/>
              <a:t>GrovePi</a:t>
            </a:r>
            <a:r>
              <a:rPr lang="zh-CN" altLang="en-US" dirty="0"/>
              <a:t>库。</a:t>
            </a:r>
          </a:p>
          <a:p>
            <a:r>
              <a:rPr lang="zh-CN" altLang="en-US" dirty="0"/>
              <a:t>●代码第</a:t>
            </a:r>
            <a:r>
              <a:rPr lang="en-US" altLang="zh-CN" dirty="0"/>
              <a:t>4</a:t>
            </a:r>
            <a:r>
              <a:rPr lang="zh-CN" altLang="en-US" dirty="0"/>
              <a:t>行中的“</a:t>
            </a:r>
            <a:r>
              <a:rPr lang="en-US" altLang="zh-CN" dirty="0"/>
              <a:t>sensor=2”</a:t>
            </a:r>
            <a:r>
              <a:rPr lang="zh-CN" altLang="en-US" dirty="0"/>
              <a:t>表示树莓派</a:t>
            </a:r>
            <a:r>
              <a:rPr lang="en-US" altLang="zh-CN" dirty="0"/>
              <a:t>3B</a:t>
            </a:r>
            <a:r>
              <a:rPr lang="zh-CN" altLang="en-US" dirty="0"/>
              <a:t>的</a:t>
            </a:r>
            <a:r>
              <a:rPr lang="en-US" altLang="zh-CN" dirty="0"/>
              <a:t>2</a:t>
            </a:r>
            <a:r>
              <a:rPr lang="zh-CN" altLang="en-US" dirty="0"/>
              <a:t>号引脚；代码第</a:t>
            </a:r>
            <a:r>
              <a:rPr lang="en-US" altLang="zh-CN" dirty="0"/>
              <a:t>5</a:t>
            </a:r>
            <a:r>
              <a:rPr lang="zh-CN" altLang="en-US" dirty="0"/>
              <a:t>行中的“</a:t>
            </a:r>
            <a:r>
              <a:rPr lang="en-US" altLang="zh-CN" dirty="0"/>
              <a:t>blue = 0”</a:t>
            </a:r>
            <a:r>
              <a:rPr lang="zh-CN" altLang="en-US" dirty="0"/>
              <a:t>表示</a:t>
            </a:r>
            <a:r>
              <a:rPr lang="en-US" altLang="zh-CN" dirty="0"/>
              <a:t>DHT11</a:t>
            </a:r>
            <a:r>
              <a:rPr lang="zh-CN" altLang="en-US" dirty="0"/>
              <a:t>模块，如果“</a:t>
            </a:r>
            <a:r>
              <a:rPr lang="en-US" altLang="zh-CN" dirty="0"/>
              <a:t>blue = 1”</a:t>
            </a:r>
            <a:r>
              <a:rPr lang="zh-CN" altLang="en-US" dirty="0"/>
              <a:t>，则表示</a:t>
            </a:r>
            <a:r>
              <a:rPr lang="en-US" altLang="zh-CN" dirty="0"/>
              <a:t>DHT22</a:t>
            </a:r>
            <a:r>
              <a:rPr lang="zh-CN" altLang="en-US" dirty="0"/>
              <a:t>模块；“</a:t>
            </a:r>
            <a:r>
              <a:rPr lang="en-US" altLang="zh-CN" dirty="0"/>
              <a:t>sensor”</a:t>
            </a:r>
            <a:r>
              <a:rPr lang="zh-CN" altLang="en-US" dirty="0"/>
              <a:t>和“</a:t>
            </a:r>
            <a:r>
              <a:rPr lang="en-US" altLang="zh-CN" dirty="0"/>
              <a:t>blue”</a:t>
            </a:r>
            <a:r>
              <a:rPr lang="zh-CN" altLang="en-US" dirty="0"/>
              <a:t>会在第</a:t>
            </a:r>
            <a:r>
              <a:rPr lang="en-US" altLang="zh-CN" dirty="0"/>
              <a:t>8</a:t>
            </a:r>
            <a:r>
              <a:rPr lang="zh-CN" altLang="en-US" dirty="0"/>
              <a:t>行“</a:t>
            </a:r>
            <a:r>
              <a:rPr lang="en-US" altLang="zh-CN" dirty="0" err="1"/>
              <a:t>grovepi.dht</a:t>
            </a:r>
            <a:r>
              <a:rPr lang="en-US" altLang="zh-CN" dirty="0"/>
              <a:t>(</a:t>
            </a:r>
            <a:r>
              <a:rPr lang="en-US" altLang="zh-CN" dirty="0" err="1"/>
              <a:t>sensor,blue</a:t>
            </a:r>
            <a:r>
              <a:rPr lang="en-US" altLang="zh-CN" dirty="0"/>
              <a:t>)”</a:t>
            </a:r>
            <a:r>
              <a:rPr lang="zh-CN" altLang="en-US" dirty="0"/>
              <a:t>中用到，表示通过开发板的</a:t>
            </a:r>
            <a:r>
              <a:rPr lang="en-US" altLang="zh-CN" dirty="0"/>
              <a:t>2</a:t>
            </a:r>
            <a:r>
              <a:rPr lang="zh-CN" altLang="en-US" dirty="0"/>
              <a:t>号引脚与</a:t>
            </a:r>
            <a:r>
              <a:rPr lang="en-US" altLang="zh-CN" dirty="0"/>
              <a:t>DHT11</a:t>
            </a:r>
            <a:r>
              <a:rPr lang="zh-CN" altLang="en-US" dirty="0"/>
              <a:t>模块进行通信，这和步骤</a:t>
            </a:r>
            <a:r>
              <a:rPr lang="en-US" altLang="zh-CN" dirty="0"/>
              <a:t>1</a:t>
            </a:r>
            <a:r>
              <a:rPr lang="zh-CN" altLang="en-US" dirty="0"/>
              <a:t>中的实物连接关系是相吻合的。</a:t>
            </a:r>
          </a:p>
          <a:p>
            <a:r>
              <a:rPr lang="zh-CN" altLang="en-US" dirty="0"/>
              <a:t>●代码</a:t>
            </a:r>
            <a:r>
              <a:rPr lang="en-US" altLang="zh-CN" dirty="0"/>
              <a:t>11</a:t>
            </a:r>
            <a:r>
              <a:rPr lang="zh-CN" altLang="en-US" dirty="0"/>
              <a:t>行中的“</a:t>
            </a:r>
            <a:r>
              <a:rPr lang="en-US" altLang="zh-CN" dirty="0" err="1"/>
              <a:t>time.sleep</a:t>
            </a:r>
            <a:r>
              <a:rPr lang="en-US" altLang="zh-CN" dirty="0"/>
              <a:t>(3)”</a:t>
            </a:r>
            <a:r>
              <a:rPr lang="zh-CN" altLang="en-US" dirty="0"/>
              <a:t>表示延时</a:t>
            </a:r>
            <a:r>
              <a:rPr lang="en-US" altLang="zh-CN" dirty="0"/>
              <a:t>3s</a:t>
            </a:r>
            <a:r>
              <a:rPr lang="zh-CN" altLang="en-US" dirty="0"/>
              <a:t>，符合应用案例要求“间隔</a:t>
            </a:r>
            <a:r>
              <a:rPr lang="en-US" altLang="zh-CN" dirty="0"/>
              <a:t>3s</a:t>
            </a:r>
            <a:r>
              <a:rPr lang="zh-CN" altLang="en-US" dirty="0"/>
              <a:t>打印一次环境数据”。</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78</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7219162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163974F-E2FC-4919-A1F7-1DAB2B1EEBC0}" type="slidenum">
              <a:rPr kumimoji="0"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79</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0959910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163974F-E2FC-4919-A1F7-1DAB2B1EEBC0}" type="slidenum">
              <a:rPr lang="zh-CN" altLang="en-US" smtClean="0"/>
              <a:t>80</a:t>
            </a:fld>
            <a:endParaRPr lang="en-US" altLang="zh-CN"/>
          </a:p>
        </p:txBody>
      </p:sp>
    </p:spTree>
    <p:extLst>
      <p:ext uri="{BB962C8B-B14F-4D97-AF65-F5344CB8AC3E}">
        <p14:creationId xmlns:p14="http://schemas.microsoft.com/office/powerpoint/2010/main" val="13200708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p:txBody>
          <a:bodyPr/>
          <a:lstStyle>
            <a:lvl1pPr algn="ctr" eaLnBrk="0" hangingPunct="0">
              <a:spcBef>
                <a:spcPct val="50000"/>
              </a:spcBef>
              <a:buClr>
                <a:schemeClr val="bg1"/>
              </a:buClr>
              <a:buSzPct val="100000"/>
              <a:defRPr sz="2400" baseline="-25000">
                <a:solidFill>
                  <a:schemeClr val="tx1"/>
                </a:solidFill>
                <a:latin typeface="Arial" panose="020B0604020202020204" pitchFamily="34" charset="0"/>
              </a:defRPr>
            </a:lvl1pPr>
            <a:lvl2pPr marL="742950" indent="-285750" algn="ctr" eaLnBrk="0" hangingPunct="0">
              <a:spcBef>
                <a:spcPct val="50000"/>
              </a:spcBef>
              <a:buClr>
                <a:schemeClr val="bg1"/>
              </a:buClr>
              <a:buSzPct val="100000"/>
              <a:defRPr sz="2400" baseline="-25000">
                <a:solidFill>
                  <a:schemeClr val="tx1"/>
                </a:solidFill>
                <a:latin typeface="Arial" panose="020B0604020202020204" pitchFamily="34" charset="0"/>
              </a:defRPr>
            </a:lvl2pPr>
            <a:lvl3pPr marL="11430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3pPr>
            <a:lvl4pPr marL="16002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4pPr>
            <a:lvl5pPr marL="2057400" indent="-228600" algn="ctr" eaLnBrk="0" hangingPunct="0">
              <a:spcBef>
                <a:spcPct val="50000"/>
              </a:spcBef>
              <a:buClr>
                <a:schemeClr val="bg1"/>
              </a:buClr>
              <a:buSzPct val="100000"/>
              <a:defRPr sz="2400" baseline="-25000">
                <a:solidFill>
                  <a:schemeClr val="tx1"/>
                </a:solidFill>
                <a:latin typeface="Arial" panose="020B0604020202020204" pitchFamily="34" charset="0"/>
              </a:defRPr>
            </a:lvl5pPr>
            <a:lvl6pPr marL="25146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6pPr>
            <a:lvl7pPr marL="29718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7pPr>
            <a:lvl8pPr marL="34290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8pPr>
            <a:lvl9pPr marL="3886200" indent="-228600" algn="ctr" eaLnBrk="0" fontAlgn="base" hangingPunct="0">
              <a:spcBef>
                <a:spcPct val="50000"/>
              </a:spcBef>
              <a:spcAft>
                <a:spcPct val="0"/>
              </a:spcAft>
              <a:buClr>
                <a:schemeClr val="bg1"/>
              </a:buClr>
              <a:buSzPct val="100000"/>
              <a:defRPr sz="2400" baseline="-25000">
                <a:solidFill>
                  <a:schemeClr val="tx1"/>
                </a:solidFill>
                <a:latin typeface="Arial" panose="020B0604020202020204" pitchFamily="34" charset="0"/>
              </a:defRPr>
            </a:lvl9pPr>
          </a:lstStyle>
          <a:p>
            <a:pPr algn="r" eaLnBrk="1" hangingPunct="1">
              <a:spcBef>
                <a:spcPct val="0"/>
              </a:spcBef>
              <a:buClrTx/>
              <a:buSzTx/>
              <a:defRPr/>
            </a:pPr>
            <a:fld id="{76F23777-CEBB-41C8-8BE8-AF66406041A7}" type="slidenum">
              <a:rPr lang="zh-CN" altLang="en-US" sz="1200" baseline="0" smtClean="0">
                <a:latin typeface="Times New Roman" panose="02020603050405020304" pitchFamily="18" charset="0"/>
              </a:rPr>
              <a:t>84</a:t>
            </a:fld>
            <a:endParaRPr lang="en-US" altLang="zh-CN" sz="1200" baseline="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521932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4" name="Line 40">
            <a:extLst>
              <a:ext uri="{FF2B5EF4-FFF2-40B4-BE49-F238E27FC236}">
                <a16:creationId xmlns:a16="http://schemas.microsoft.com/office/drawing/2014/main" id="{464FA8D7-8922-4738-BDB5-AF0805B6D95B}"/>
              </a:ext>
            </a:extLst>
          </p:cNvPr>
          <p:cNvSpPr>
            <a:spLocks noChangeShapeType="1"/>
          </p:cNvSpPr>
          <p:nvPr userDrawn="1"/>
        </p:nvSpPr>
        <p:spPr bwMode="auto">
          <a:xfrm>
            <a:off x="0" y="1708558"/>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15" name="Line 41">
            <a:extLst>
              <a:ext uri="{FF2B5EF4-FFF2-40B4-BE49-F238E27FC236}">
                <a16:creationId xmlns:a16="http://schemas.microsoft.com/office/drawing/2014/main" id="{06889991-FB9A-4733-A64F-6651A896FF02}"/>
              </a:ext>
            </a:extLst>
          </p:cNvPr>
          <p:cNvSpPr>
            <a:spLocks noChangeShapeType="1"/>
          </p:cNvSpPr>
          <p:nvPr userDrawn="1"/>
        </p:nvSpPr>
        <p:spPr bwMode="auto">
          <a:xfrm>
            <a:off x="0" y="4349692"/>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
        <p:nvSpPr>
          <p:cNvPr id="16" name="Rectangle 34">
            <a:extLst>
              <a:ext uri="{FF2B5EF4-FFF2-40B4-BE49-F238E27FC236}">
                <a16:creationId xmlns:a16="http://schemas.microsoft.com/office/drawing/2014/main" id="{99B57C25-6F86-419D-A9E8-CE1D653562FE}"/>
              </a:ext>
            </a:extLst>
          </p:cNvPr>
          <p:cNvSpPr>
            <a:spLocks noGrp="1" noChangeArrowheads="1"/>
          </p:cNvSpPr>
          <p:nvPr>
            <p:ph type="ctrTitle" sz="quarter"/>
          </p:nvPr>
        </p:nvSpPr>
        <p:spPr>
          <a:xfrm>
            <a:off x="0" y="2420471"/>
            <a:ext cx="9144000" cy="1143000"/>
          </a:xfrm>
        </p:spPr>
        <p:txBody>
          <a:bodyPr/>
          <a:lstStyle>
            <a:lvl1pPr algn="ctr">
              <a:defRPr sz="4000" i="0">
                <a:solidFill>
                  <a:schemeClr val="tx1"/>
                </a:solidFill>
              </a:defRPr>
            </a:lvl1pPr>
          </a:lstStyle>
          <a:p>
            <a:r>
              <a:rPr lang="en-US" altLang="zh-CN" dirty="0"/>
              <a:t>Click to edit Master title style</a:t>
            </a:r>
          </a:p>
        </p:txBody>
      </p:sp>
      <p:sp>
        <p:nvSpPr>
          <p:cNvPr id="17" name="Rectangle 35">
            <a:extLst>
              <a:ext uri="{FF2B5EF4-FFF2-40B4-BE49-F238E27FC236}">
                <a16:creationId xmlns:a16="http://schemas.microsoft.com/office/drawing/2014/main" id="{6A715EC0-A7F3-4BE8-B113-D50A85684AB6}"/>
              </a:ext>
            </a:extLst>
          </p:cNvPr>
          <p:cNvSpPr>
            <a:spLocks noGrp="1" noChangeArrowheads="1"/>
          </p:cNvSpPr>
          <p:nvPr>
            <p:ph type="subTitle" sz="quarter" idx="1"/>
          </p:nvPr>
        </p:nvSpPr>
        <p:spPr>
          <a:xfrm>
            <a:off x="1638300" y="4648200"/>
            <a:ext cx="5867400" cy="1447800"/>
          </a:xfrm>
        </p:spPr>
        <p:txBody>
          <a:bodyPr lIns="92075" tIns="46038" rIns="92075" bIns="46038"/>
          <a:lstStyle>
            <a:lvl1pPr marL="0" indent="0" algn="ctr">
              <a:buFont typeface="Wingdings" pitchFamily="2" charset="2"/>
              <a:buNone/>
              <a:defRPr sz="2400"/>
            </a:lvl1pPr>
          </a:lstStyle>
          <a:p>
            <a:r>
              <a:rPr lang="en-US" altLang="zh-CN" dirty="0"/>
              <a:t>Click to edit Master subtitle style</a:t>
            </a:r>
          </a:p>
        </p:txBody>
      </p:sp>
      <p:sp>
        <p:nvSpPr>
          <p:cNvPr id="18" name="AutoShape 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89E7B10D-283A-459C-965F-3A72085DED70}"/>
              </a:ext>
            </a:extLst>
          </p:cNvPr>
          <p:cNvSpPr>
            <a:spLocks noChangeAspect="1" noChangeArrowheads="1"/>
          </p:cNvSpPr>
          <p:nvPr userDrawn="1"/>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AutoShape 4"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1FB7B0E9-ABD9-46B4-B5BA-09132BF98954}"/>
              </a:ext>
            </a:extLst>
          </p:cNvPr>
          <p:cNvSpPr>
            <a:spLocks noChangeAspect="1" noChangeArrowheads="1"/>
          </p:cNvSpPr>
          <p:nvPr userDrawn="1"/>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AutoShape 6"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F04A3C78-647C-42D9-A1AA-C8138A26B90A}"/>
              </a:ext>
            </a:extLst>
          </p:cNvPr>
          <p:cNvSpPr>
            <a:spLocks noChangeAspect="1" noChangeArrowheads="1"/>
          </p:cNvSpPr>
          <p:nvPr userDrawn="1"/>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AutoShape 8"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699FF475-1C0C-40B6-BDDC-BE3D7BC09D28}"/>
              </a:ext>
            </a:extLst>
          </p:cNvPr>
          <p:cNvSpPr>
            <a:spLocks noChangeAspect="1" noChangeArrowheads="1"/>
          </p:cNvSpPr>
          <p:nvPr userDrawn="1"/>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AutoShape 10"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9020F894-57CD-474F-AF66-183B65C1EBD3}"/>
              </a:ext>
            </a:extLst>
          </p:cNvPr>
          <p:cNvSpPr>
            <a:spLocks noChangeAspect="1" noChangeArrowheads="1"/>
          </p:cNvSpPr>
          <p:nvPr userDrawn="1"/>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12" descr="data:image/jpeg;base64,/9j/4AAQSkZJRgABAQAAAQABAAD/2wBDABkbGxsbGxsbGxsbGxsbGxsbGxsbGxsbGxsbGxsbGxsbGxsbGxsbGxsbGxsbGxsbGxsbGxsbGxsbGxsbGxsbGxv/wQARCAEsAcUDACIAAREAAhEA/8QAqwABAAIDAQEAAAAAAAAAAAAAAAQFAQMGAgcBAQEBAQEAAAAAAAAAAAAAAAABAgMEEAACAgECAgUHBQ0FBgYDAAAAAgEDBBESEyEFIjEyUhQjQUJRYWIzcXKCkkNTY3OBkaKxssLS4vAVNIOhwSR0k8PR8iVEVKOz4dPj8REBAQACAQQABAMHBQEAAAAAAAECESESMUFRQmFxgQMicmKCoaLB4vAyUpGSsdL/2gAMAwAAARECEQA/AOn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gAAAAAAAAAAAAAAAAAAAAAAAAAAAAAAAAAAAAAAAAAAAAAAAAAAAAAAAAAAAAAAAAAAAAAAAAAAAAAAAAAABpuvqoXdY232R2y30fTJC3ZmV3I8lp8X3Zo/UpUTrLqqo85Yqflghzno3yNV130Ek2V4WPX1ts2v47Z3m6i6q+vfTOq66dmm2fmBz9EXyjMbuYe38ZZEGeJn/wDpqv8AilgAK7ynLXv4bf4bqZjpCmJ0tWymfwiTEfa7CwPLKrRoyw3zj7HPt5SxLI3I6vHtWdTYQHwapnfVLY9niqnSJn3r2Sa+Nk43LJTi1ff6o5rHtdP3lGvVNrMGuuxLVh62h1nslecGwigAAAAAAAAAAAAAAAAAAAAAAAAAAAAAAAAAAAAAAAAAAAAAAAAAAAAAAAAAAEPIyeHMVVLxL37qeH4n9wysiaoVK43328q0/fn4DONjxTEs3Xuf5Szxf9pUeKcTa3GyG418+tPdT4UUnAEVpuuSiubLJmEjSJmI7N0wsf5yRqMZMWq1sbV5s84u6e91eqbsqKZos8o+S01b37Zjly9LTy2+sFizyaISFqs4cbI01iudOqv1exioq8DIzb8mzjfJpG1+XdcvSrwsa+tnuybN1r6xCrPUWNec6Ry1bQtBl3J2ACts6TxK2ZGZ96Nt2wk9pFeukMlsXH3p32aFX/UmI29FaY7yxM/lgobLbOkrq+BV5uidzcbqrxPi+j+kdAu7au7TdpGunZ2fqNWcJLu/JAsxXqabsPqP69P3Kz+FyRj5KZCzylLE5WVt3kn5vZ4SSQMnHbd5Rj9XIT/3V+9uQTwR8e9ciuHWNJjVXSe1HjtWSQRQAAAAABqa2pHVHdVd+4szES3zQbQAAAAAAAAAAAAEbIyacaEm1tsO22OWs++Z9ygSQYiYaImJ1ief5J9JkAAAAAAAAAAAAMFWnSlDZDUNEpo21bJmNrTE6frLJb4S3S1ABFAAAAAAA025FNGnFsVANx4V0fWUZWiJ0nbMTpPsnQqukOkK66NtLq9lsTCykxO2PS06dk+hSs6G4k5L6TOzhzv9kzMxt/L2/wCZrp4tZ6uZHVgAy0Guyxakax50VImZ+aDYVmT/ALRkVYsdxdL7/or3E+s5UesStnlsu75S75NfvdXqr9aObFieZmFjnMRH5oKDIzMii67dsSzYvAXrNXYm79v6Q11G9OhBCw8tcqvw2r8on9eIk2WJUkvY21f6/wAyKqduRl5rLcmzGxX6q/fPAxPfMpVpRN11kfc6FmyY+lp1F+symqEty+tbvox/RSuq22R+FbtWG+9L1viJldaVLsrRUWPVWNINVEbi5jdzFRPx13/4t43Z33vF/wCJbH/LYmggheUXJ8riWaeKllu/R7/6JrhcbJlrMdqlu9ezZ51Ptd1yxI12NVd1tNlnq219WxfrA/ih5H/h+Jux45xYsvLRul9Z6276Xi9Usan4lddmk9dNxFW6yloqyutunbXf6r/jPwhNFIyDEzERznkaHyaUrizfDLLbV2dfc3hUiol8eSXRlJHmrJhMlf2bSyiYmNfROmn5Ty6LYjI0dV40IWCzLFmM/fx22/4fqF/oiwABFADw7pWjO7QqrEzLTyiIA47pKxmzbdZnzcqqe6IWJ1j8vM6bo+9sjFrdubRqjT7ZX0/mIGTgr0hNeVj2KsPHX3Q3W/nXwltj0pj1JUnYsdvpaZ7Wn6RvKzpk8xjGXd9VvByfSWTcubOyx14W3bG7l/TfEdBi5SZNMWLPWiPOL6Vklxut+1mW7Z6SYsRmZFdZdNNy7uamWZV5s0L9KdP1nC+UW13vdU8o8u3ONJ1iZ7Jid0TBvWrIzZV7rlWHbYjXvpumZ7ta+n6q7d3VNdHz4Z6/ly7UHhF2oi667VhdfbpEHs5ugAABzfTkTrQ3o0ePdrrB0L2JWsvYyoses06EXIxcfOWuXltsayjVuaxurL4TKblnlU9C32NNlDTLIqQya89vPSYj3Nr3fcdGRsfFpxllaU2695tdWbT2zJ4zMtMOuHeJbdO1FX1pF/NeJ3ScTmpgOSu6XyrNYr20rz7sbm0+k37qlf5Tkb4sm62XiddZdp5/Nrpp8Jqfh32lzjvQR8a2bqKrfGkEg5tgAAAADxZrseY8M/qPn09sz6dZ/PqfQX7j/Rn9R8+nnM6R2zOnv1nkdfw/Ln+J4dr0fa1uJUzc5iNsz7ds6ak8h4dXk+LUjT6urfOSzne9bnaMgAihrssSpZex1RY7WadIg2FT0usthzMeq6TPzalk3YlupVorK6wyNDLPrLzOc6Zx7N0ZMTE1xEJMa6Ss+6PTuI/ReW1Vk0zPUs12RPYtmnV+aGIeVkZNrymQ8zNbTGzSIhZ+aIXX6R0xxsy7sXKXFDPaO9c7kdknlzWZif8AIlYLY65CzkrE17W70axE6cpmPz/nNFso9z8FJVGfzadvb7P4Tp8tOfz26vozKfJonic7Km2s3i5cmn3+IHro3FnFo6/ylkw7x4fCvzrHe+KQefLu7ztz3WMzpEzPoKeqq7IqvyKreDbfb1G0+5VztVecN3vhJ2ZZw8W947eHMR87dWP85NmPXwqKq/BWonEEOKeJjeTZli2W8/T1vgkqa6Z4yYubOzzf+ztr1lnd1etE/ol9bh0W2pcy+cTsYqasazKzL/KPuPm/j+BjUvfn/P2WbO3H+ftLJMTa9V7PC3pGlrL3bl+P+IxXHldnHePMVt5hPF+Gb/lnrKmYrrx0md1zRXr6YriNXbX26Rp+U1ZOLkNC+S5DVbV28Pls7Pm7Sfdfsshy9px+RX0lTEva92yO1lsnSNeXoIK33LOq3WxP02/6mujbPXp35HtysemdttqJPvKjA6S3V2JkNG+tZZWnSN8R6J95z1tjXWPY86s7TPzR6I+ZYJMObvwtz4mvLvVdXiGRoZZ9KzExJ7OfxuD0bRxXvmxrFiYqWY0nWNeUe34iDb0vlO3U21r4dP8AUdNu9djqk793VWVpajI67lbtiSLju1bzi2zLSsbqbJ+6VfP407GKOnN6Tt+TXif4f/aW1iZHky3W7fKaG43U8Pr1f8P9Ia0u9tV2YuRVdTWscdWlGot1jiJu62zu96O6VctNbRbt4bUr5rGuVlrr+g33R/3iZkVZGXbw0rr4Vmy6vK29Za29Xd8JOr6NqipqrGe3dPe16xeInNVM9I5T8Nlvpr3zFcrtnqz4+zXrfD1SeiXY1+PbfZxGu1qsb9gmV9H4taqvCVpWddzc27Rnr/szNHbXK2fZYm54hq+anA8I25FaPWWJ/PB7MNhUdMLY2J1OxbFazTwafqWdsluab1Z6bUTvOjKWXmJZuVyXR2XZRciRMzVY0KydsRLTpuX2T+0dHm51eHHOJaxo6qf16CFhdFcGyLbmVnTSVRecLPomZ9J66VuxVrlHRbL9Op7U+L+U3dZZTjbE3MbzpzNtjXWNY89Z2mZ/6QTYy1opmrFhomyPO2vpu+ii9mhXxEtMKsTMzpERHOZmS2yMJcXDV7Jjj2Ov1Y8P8R0uuIxN81VLMQ0Myw0RMTKzrENz7JmPEbbrnus36QumkVondSPCn9d4U0tdxNvZVXNjTPw/6sZxf7zj/jq/2y/0T183WdGpeuNE5DMzu0ssPMyypMRERMzz9Ezt95YgHmt29E4AABzvTe/SiI14fPX2S3o1/IeOhr7N70TOtezevwc/1MXmVjrk0tU06a6aNprKzHpgq2WromieH5zItmIXdylvyR2Qv7UnSXePTrlizWW/C9IuVjplUtU3b2o3hckLM7V3dukfqMM6JzdlWPik5tuQu6Nsx6XtusRdNIRV1mXmZ5R7iPiYz5VsVryXlLt6FX0/lLbpS2i9q/8AaV2JrqqRL9YmdFPjzXYlCPG2Y3u/a2vZ2dkfCdeq9O/Ll0zq14WqItaKix1UiIPYBydQArLuk8ei5qXh9U01mF1jWY1LJtLdLMFRPTGJEcuJPu2TGpCt6bbnwav+JJenL0nVj7XGdbFOLc+uk7JiPfLcoOJrbY6vpu2zE6Ty1058zdflX5E+dslo9C9ix+QndH9H+Va2W6xVHKNOUvPun2HSTpl2529Vmml78vpCyK9Z5z8mnJF+l7lOvprmqquvXXYkL/keKcenHXbUkL7/AEkg55XfaakdMZrvd0ABlp4d4rRnbsRZafmiNSlrz689bsZ04cujcPnrujT0+x/SXNqcSt6/Gkqcpg4ty5qqyT5lp3tpJvGTV9xjK3c9VWrDw8QmvEhurt5zrE+g3W4+SkTbdW6w082ftmZ+fmW9r4WBa71a3ZE66RrEpXLdvMpr8i3Ibfa8t7F9VfdEHWW3xw52SeeUcsujHqTLTirru6tc+Gz3/u+Er1VmmFWJZp5REc5mS/wei7UsrvvmF2Tuiv1tfeMrNXkxl3OHSAA87urukf7uq+O6n/5CxK7pD5On/eaP2yxL4ieaFTdXlVZvlFCb67FVbOZbACDzfN/FUR/7jEuxIsRk1mN0aarOkkWv++ZH4uomgcpkYPSCblV3vqnX151mPeslOyssyrRKzHbExpMSdjn4t2QqtRZKOnq7p65ymRTfU+l6tDT60zrDR7m9J1xu/wDa5ZTSOADbDPP0z/8ARtqpsumYrSWmNNdNI01+c0kyjEyrtJqRtPH3VF+qxcYuJn9XiZDU1+FdC/05bZ5xpp8/zkTCxpxatjPLu06u2szGunZGvoUmnnt27yaQsH5Dh/ebLafsWdX9AmkLE/8AM/73f+smj2eg0ZC7qLvxb/sm81XfJWfi3/ZIrVhtuxaPxcEoh4P90o/FwTCoGjIvTHqa157v6U+H6xsd1rRndoVV5zJxudmNmW9XXhJPm1/e+sXHHqTLLX1eJzsniWWrayTZrrHo0/l8RH22Or2zDNETG95582nSOftOpxujMeMdFur3WT1nb5/VNGfiXMtePi1LwO83s3fEdJlN8Ri43XNV3RFe/LhpjWESZ9sRM8oLzPwZzOHpZslNe2ORswcOMSrTtsfSXb9WnuUnmMsvzbjWOP5dVTxhJh4WT67vU+9vqnOYas2Vj7e3ip+jO47XIRrKba19etlK7A6NjFni2TDW6ctOxNe3T3t4izLjL2XHnH1FuADm2AETJy6sVN1jc/VSO80/N7PiA95GRXjVzZZPzR6Wn2HPYkWdI5vHtjzdWjbfRGncSP1sV9+Rdm3RrzmZ211x2Lr2f9x1uHjLi0LXHe7bJ9rHTXTP2q576r8omHNdL417W8dd1lW2F2xr1NO38jdu46UwYl1dt2bjga6LrWhK62aZ90xEfPPoOwwMTySna3yjzuf+EmxER2REfNEQejWWXV9GccekABhsOf6R6NstsbIo60tpvr9PZ2r/AAnQAsuks24RcPKZtsUWax7Y0iPylnX0WtSTdm2QirHcWf65/RLrNybMauGrpa1mnTl2J7205nOunSGe8b0fb6IaNla+/STpLcvOo56k8bqvVOLbsqWdHeYRe2YiZ5a/kO6pqWilK/AsEDB6OXF67zD3THb6Fj2L/EWhnPLf0jWOOvrVJ/bNUWsjVtshtu/WP60LlHWxYdJhlaImJjsmDjekMecfJaPUs1dPmmecfVku+hmZsZ1nXRLNF/r5y5YzUsMcruyroAHNsOa6SzMriPTWj11xy3Qs6v7+XoOheyuv5R1T6UlZd0riJ3dbp+GP9TWPf/TtnL66c5Th5N7aLW0RPazRMRHvmZM5VVVErUj8SxY860d3dPqr9Ek5HSmRdEomlKfD/EVX9fOdpvzw5XXjlc9D2VLkbGTWx4nY/bt0jWfteI6w5zovAbWvLdo001rWPfHe/lOjOWfd0w7AAMNq/pGJ8ldo+5tXZ9h4n9ROWYaIaOyYifzxqeLq+LVZX40b9UlWuZZViYzcOH63As3P3H7hUXEzERMz2GFZXWGRty+Ig8bM7GwoaPhyE/1hTVg8SprKra+DWzS1CPYkvGvNliInnC9o13Nt7ebzU/DVfsE4iZdbNXDp8pS0Wp9XvL9ZDfXYtta2L2PESPR7bDl87o61Xl6nhqmmW2O8RKa8527p00OoImXipl1cNplZ11RvDJcbyZTccKCZl4j4jQrvW8trptnnER6WX0biGd5dvPZp7RGsaERdzT2R7fznSdH9H21zFl7zERzSpXnT62nL6pAwejfKVW6bYhN3WRY6/wCv1jq1WFWFXlCxEHPPLxHXDHzXo8tMLEtPZEaz+SOZ6IOY0vCYqd7I6rfDR91f9z6xydHrBj/Zkf77Nl3/ABX3m+62KU3srSuvW2x3Y8RsiIiIiOyI/V2EKy617mx8fh9RN1rWKzd6Solq6usOjQyzGsNHOJg0ZbbMa9vwckWvEyqZZq8itd/3PheZ/b6pjKm1qqaLNnEuuVfN7u4s7pGuZyb47J2Muyilfwam8xEcvzGSKoem3aKqUjuu8y31Y/qSq6Loi7LTWNVqibG9kzHJY+3MfmOi6QxJy6YVJiLEbcmvKJ5aSs/SNXRuC+ItjWzHEs0jRfVVf4pOkykwvtzuO856WwAOboAAAAAAAAr+kb7cfGZ6o62sRLaa7Yn1tDjXsexpexpdp9LTrJ9AZVdZVohlmJiYnnExJUL0PjrdxNzymuvC5afn7dDpjlJv2xljbrnhp6JwtsRk2x1p+TXwx4vnL8xERERERpEejsiIMmLd1qTUAARQAAAAAAAGDIAAAAQcjBoynWy2G1WNOTTHLUk1VV0pFdawqx6I/XPtNoLv5mgAEFX0lhtlVrNenFr7vxRPqnPJ0bmO+2apT2s0xCxHt5TzO1BuZ2TTNxlUtXRWJQu7Ibf9OdqHPZfB8os8n04XLbp2f/w6XN6O8qbetzI2ndbrV/8A0VEdDZW7SWqhfFumeXt26GsbO9y5Yyl7THh0GB/c8f8AFwTTVTVFNVdUeou38xtOboAAihURUvHycOz5PJ89V9L19v0e+W5BzK2ZFur+Vx24ifFHrJ9YqNKpntXwt60qi7OK3Xus/cr3fWI+Ldi1LvsVmzN0o/euv3fD3p2G/Juh8evIW2zgt3kp+UZvDxPuZE4dlTUq6rjY987W4Lbrt3q8W41GV8rblhtJ5+ie0gTPkdkz/wCVtbn+Asaf8qnn1vVYYtb411tG1ponztT852+JJafTqT2WGiVaI0kz2+jX/rPKecdn6zJByXXFxtleu75KhVmd3Ebu7SRQrpSnFfiWeuwFV0rh8VPKK485XHW+NP8Aqpy6qztCLEyzTEREdszJ21eZVa0Jo8Q8utbsvUs2d7bJDjFx8PIm7a1j2zPBqVe74zeOWpq/usZY7u/+yXg4i4lML22N8oxONFd6W1TbXq2mvV0625fVIlWRlNfXXbTXUliO/el7OqY55b44TLrkoTe/1VjvO3hX2yxpx6n1bIu+Wt9X71X6tX8XxHpceOLN1rTa/Ph6x1aln0Kvj8T9422W10rutdUj2tOgGbLIrRnbdovhXdP2Ssx8ZWVr6cueNY7M9ifJv8D1NuHlL2W3P5VXRTTt2rtV+KnJuIeN+NfZD1xdi2WT5u/ZsS79yz65U2mpbkK8V307tZ5X0daufppPXr/SU1J5/Od/ueMvD/xD1Zddj0NxZSy2W2U8PWN8t8Pt8RvxaeBSqev3rG8Tt3pCpIAMqAr71ybMlEqtamrhbnZVWdW3d00ZC2YtU22Z93wrsq68+EqLcwUHRtmdkWcSy1uAnuXr/D/Ma8nenSdCcWxkZ0fazztXWZ9EctC9POk6uNukBjl2amTLQDHL2lfnY9+RFfBv4O2Z3dZl1100nq8+r4RProqxBXZePfdRXXVfKMum9tZXiaL7V59vMl0I1dNaO/EZVjc/iKn2bgY195kigMax26xp/kAMgxrHtMgACl6Ue/HSLqr3XV4XZokrHLtjVNf0iybS3S6BBweI1CW23Pa1ixPWhdF5+jSFn7Ro6Q49cJZVkOm6yuvZokr1p9HU11+sBag1Vo1aQrWNZPifb/pCwbNY7dSKyDVarPW6o+xmSYV+3bMxykiYOPdjo63XcXrcuszbftF+6fZYAwCKyDHzgDIMax7QBkGNfeViYuQubN7ZOtU6+b1bs8O3s0XxFRaAj3ZFdHD3T1rHhFU38iKyDAAyAAAAAp7q/J3et/7nla/4NpvhlrjHxbtt76d71dqeuTnRbElHjcrcpgpnpSl0qyol6dfMX66Sn4KyY9Bqcs9m+7I42/Y/Dxk+Vv8A+XUe0yuFW12R5qrlwUbnbt07zenVu3b6pptqs4ibK1dI/u9a/Ir+Ftn2+EjTXY10U5K+d3cSy7Xzfk6eAuom6tmortupydzdTmq69XrL4CQ8zCNtjc22dF9slPVY1udXdrtp4N/C/Fpt859c3pnO+uylrJaZatV+8/fH8O/1SWXhrcRMKuVya203bq7HsWVaIxrNfU9HWLHMrWYru4vCemZlW03ROvKVlfTuN1N63VcWFle9uVu1WXvKeIyFbG8p29XbLbfT2i277JrhqwKnrqZrNd1tjWfk/mNs1v5XxNOpwdv6R4ozFvm5IXbZXzhZ9aNNYkr1uyGsi1WnXZxYq16rL3ba/q+qNX6G4ssjKimJhF4lkSi7dYiFl+5LzPZDeIi3IyNVl3ItnDrnjVd/Z+FrU9LNd+TP3vJxY/bNVbV4b3eUNZZd6nr8Wr1Nn73xFGumadzNlY8V13WRZj7182m5fF8ff2Em2q99ONZSuNW8W9TvdU311JVVZFkx5N30Sz7mrd5PqkZVbOaOrw8Kvur9/wD/ANYHuhWyrvK7NeGn92T/AJv8JZmIiIiIiOUdkf6GTLQACDVbalNbWWNCqsazP+ke2WOZWLulsndOqUV/mRfZ+McndI42blWba1XgJ3evpubT93sU3URlY9a1V4aaR6eNzafF2G5xO/N/lYvN7cT+ZZItdKJWuiLHVWCgzomek8eFbbOlfW9k7pJ7LmX3Y/EpSuqqyLG85uI+RjZVubXkLV1K9vrr1tsicX90vM7fEj59b4t1Ftd1vXeN29/6+yTOk8p6aqkraUa7vNHaq+73mOkcfJypp4dXyejdZ1/rqmzNw3y6K+Wy6uO7Ml3Py7OfzIF0PU1FuGuT+F3cTrnrpiW2U2RZavF11r10Xu+EnUR0hNa1W8OuF0ji67rJj6PZr8RE6c+Sx47eu/zz1YEv5sUvavfSkMuJTYtli/JptVur3SUkW/2dTwrFrfhV+cb5jXn0X5GNVTVX97bdu+HumHxsi3o+Mbbw7EhF73J9mnpjs3E8Tn4l83j4VdlMlVNb0W2PcjRFl6s+xyfmtY/R6XcR0bYk9Se9uNFmJmW4VePwq04Ux63f+b0faJF1GU+CuPw136RHfjq7S8cc/Envj4UarHa3o6LOPb1a3ZVVur/MSOirbGw7Ocu1bPs1mZmeruhdZ957pqya8Fsfg+c2yi9dfWPPR9GTjU3Vuiq06uj7omN20W8ZfqXzP0o2FC5a5D5Vj8SGmIibGSK401iViJWI56/mPPRiXZDS9l10pQ6cPrTKPznVZ9vKI/ORq7HVrGvw5yLN8rNi67eXaui8v2i1xM9GsTGbHbH3a7PYLvnj+1J45/uXBSdNf3ZPxsF2RcrGXKpapp0mdJVvDMdkmJeY3eZXnB/umP8AizV0j8lV/vFP7RGx16QxE4PCS+uO42/mSFpyMiyuzJ21pVO5KVnd1viYqeOzR0vDcCLFssTrQu1W6pGfHZujVu49u5KEZV3eb7P66xO6SpuyKoqqTd1oaW3RGh4mrJ/s/wAm4PnNnC76/b/lLLxj+pLOf3WrEay7oxvO2K1fE6+vgPHREcbHyIslm32RrO5t3dj1tdTdi05NGHbQ1Or9fZ11085BnozHyMVbK7a4iGmG3Q2ovxfqJ8P6ULG3Y3SM0XPY6z8lusf6vuLHHpVsi66Gs4attrXiPK7o77aa9mvLaeekcJ8iarKflUaOeunV/lksaq4qrSuPVj88+mZ+lIt7eyT/AIihjIjKy7lu4vBr14dde/2+twzd0fOQtt1DxdwZ14TvHd+1+8eWwsrHymyMXa6vM6q06d71f5i1rjI52Xaa7erSk8vn3T6W+yL8ibc/VVfbm5NHlD92xJsaets3r3fpfDtJWVTk4mCqJa9nnZm19W+T8PuQ90UZdWbbk8Hq27/ui+sWeRx/NzSkP1vO1+JNpbefhJOPiV2C2PdbxKHeueHK2Y7O08+XXXmxGp3r0tw+JZZ3u+34Mk0YTrmzk8LgV6T5vdHWbaeFx8qM+cuaY2TPd4i6xErt1/1HHPPwpzxx8SNn1x/aFC7nmLNuvWnq6z2L4SzycKPJ34L28RdWTzr8zTnYl9mRTkUwrcP1ZktKuLK63bYafVXsX3a+klvGPPZZOcuO6iwr0bDvWyX4iTz84+9pb5Pbz5Try6pcYlE0VLDMzWTEb2Zmbn/KVtWGn9o2us+ar60x6OLPPb79vb8Jekyv/wBLjP4AAMtAAAHh0WxZR1hlk9gCr2ZGHPmtb8f7390r+gY2VZk2PXdzs4aWJp10rXvV/XLUiXYdV07/AJOz75XPWKiDkUvbmpSi7afJttjafc+J8n9cVWNVjX5NfD38ezibvvdXU4f2Dfpn0eDKT7FpElsPicTIxr6X3bm6rcLd4ur1DTK1rWIpnqbJsWbGX43jcxXrP/hU/i2X9MmLm4jRyvr/ACzpP+e0iTT0fv38de9v4fG839kk+i/doWpt9z1/LU8OyI8aNXG9PrGcfdZTTdUs7qch42/g3brE3yrBrdrOKm9tIbbq3dNa5ac/JcW190z6nCTX6xd30nHttjElMuL0bSva+6v2M+mu33N2sviPWRkY9TLujiXc+GiRus/lNXDzb/lbFx6/BV8p9sk04tNHcXrel26zt9YjSKuPdktFmX1a4nqYyzy/xPFP6JZREREREGQRQAEAAAAAAAAAAAarkd6nSt+G7LO1/DJWJg328Dyu1bFoaWXl35+MuAVAAEUAAA12pxK3r1ld6ypsAFVj42XiLwkeqyvdPe3bv8iQmNM3xk3ND2Iu2tVjRE/11+ImgqAAIoAAAAAAAAAAAAAAAAAABDzKr7qtlFnDfUmACLi48Y1UV67m5s7T2s09skoAAAAAAAAAAAABjSPTBkAaWopbvVVz9U8eS433ir7BJAGpaal7tafZNnzGQAAAAAAAAAAAAAAAAAAAAAAAAAAAAAAAAAAAAAAAAAAAAAAAAAAAAAAAAAAAAAAYBgAZBgAZBgAZBgAZBgAZBgAZBgAZBgAZBgAZBgAZBgAZBgAZBgAZBgAZBgAZBgAZBgAZBgAZBgAZBgAZBgAZBgAZBgAZBgAZBgAZBgAZBgAZBgAZBgAAAAAAAAAAAAAAAAAAAAAAAAAAAAAAAAAAAAAAAAAAAAAAAAAAAAAAAAAAAAAAAAAAAAAAAAAAAAAAAAAAAAAAAAAAAAAAAAAAAAAAAAAAAAAAAAAAAAAAAAAAAAAAAAAAAAAAAAAAAAAAAAAAAAAAAAAAAAAAAAAAAAAAAAAAAAAAAAAAAAAAAAAAAAAAAAAAAAAAAAAAAAAAAAAAAAAAAAAAAAAAAAAAAAAAAAAf/9k=">
            <a:extLst>
              <a:ext uri="{FF2B5EF4-FFF2-40B4-BE49-F238E27FC236}">
                <a16:creationId xmlns:a16="http://schemas.microsoft.com/office/drawing/2014/main" id="{DBF3A7AF-5928-45C2-AAEA-6514D1F5BC2C}"/>
              </a:ext>
            </a:extLst>
          </p:cNvPr>
          <p:cNvSpPr>
            <a:spLocks noChangeAspect="1" noChangeArrowheads="1"/>
          </p:cNvSpPr>
          <p:nvPr userDrawn="1"/>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D6FDBE8F-8F73-4862-A07D-F76CBD253159}"/>
              </a:ext>
            </a:extLst>
          </p:cNvPr>
          <p:cNvSpPr>
            <a:spLocks noGrp="1"/>
          </p:cNvSpPr>
          <p:nvPr>
            <p:ph type="title"/>
          </p:nvPr>
        </p:nvSpPr>
        <p:spPr>
          <a:xfrm>
            <a:off x="393700" y="38100"/>
            <a:ext cx="8242300" cy="914400"/>
          </a:xfrm>
        </p:spPr>
        <p:txBody>
          <a:bodyPr/>
          <a:lstStyle>
            <a:lvl1pPr algn="l" rtl="0" eaLnBrk="0" fontAlgn="base" hangingPunct="0">
              <a:spcBef>
                <a:spcPct val="0"/>
              </a:spcBef>
              <a:spcAft>
                <a:spcPct val="0"/>
              </a:spcAft>
              <a:defRPr lang="zh-CN" altLang="en-US" sz="3600" b="1" i="0" dirty="0">
                <a:solidFill>
                  <a:srgbClr val="C00000"/>
                </a:solidFill>
                <a:effectLst/>
                <a:latin typeface="微软雅黑" pitchFamily="34" charset="-122"/>
                <a:ea typeface="微软雅黑" pitchFamily="34" charset="-122"/>
                <a:cs typeface="+mj-cs"/>
              </a:defRPr>
            </a:lvl1pPr>
          </a:lstStyle>
          <a:p>
            <a:r>
              <a:rPr lang="zh-CN" altLang="en-US" dirty="0"/>
              <a:t>单击此处编辑母版标题样式</a:t>
            </a:r>
          </a:p>
        </p:txBody>
      </p:sp>
      <p:sp>
        <p:nvSpPr>
          <p:cNvPr id="6" name="内容占位符 2">
            <a:extLst>
              <a:ext uri="{FF2B5EF4-FFF2-40B4-BE49-F238E27FC236}">
                <a16:creationId xmlns:a16="http://schemas.microsoft.com/office/drawing/2014/main" id="{AB6D0738-2ABA-4560-9C94-3B5F8178D604}"/>
              </a:ext>
            </a:extLst>
          </p:cNvPr>
          <p:cNvSpPr>
            <a:spLocks noGrp="1"/>
          </p:cNvSpPr>
          <p:nvPr>
            <p:ph idx="1" hasCustomPrompt="1"/>
          </p:nvPr>
        </p:nvSpPr>
        <p:spPr>
          <a:xfrm>
            <a:off x="457200" y="990600"/>
            <a:ext cx="8305800" cy="5410200"/>
          </a:xfrm>
        </p:spPr>
        <p:txBody>
          <a:bodyPr/>
          <a:lstStyle>
            <a:lvl1pPr marL="342900" indent="-342900">
              <a:lnSpc>
                <a:spcPct val="120000"/>
              </a:lnSpc>
              <a:buClr>
                <a:srgbClr val="C00000"/>
              </a:buClr>
              <a:buFont typeface="Wingdings" panose="05000000000000000000" pitchFamily="2" charset="2"/>
              <a:buChar char="q"/>
              <a:defRPr lang="zh-CN" altLang="en-US" sz="2400" b="1" baseline="0" dirty="0" smtClean="0">
                <a:solidFill>
                  <a:schemeClr val="tx1"/>
                </a:solidFill>
                <a:latin typeface="+mj-ea"/>
                <a:ea typeface="+mj-ea"/>
                <a:cs typeface="+mn-cs"/>
              </a:defRPr>
            </a:lvl1pPr>
            <a:lvl2pPr marL="742950" indent="-285750">
              <a:lnSpc>
                <a:spcPct val="120000"/>
              </a:lnSpc>
              <a:buClr>
                <a:srgbClr val="C00000"/>
              </a:buClr>
              <a:buFont typeface="Wingdings" panose="05000000000000000000" pitchFamily="2" charset="2"/>
              <a:buChar char="Ø"/>
              <a:defRPr sz="2000" b="0" i="0" strike="noStrike" baseline="0">
                <a:solidFill>
                  <a:schemeClr val="tx1"/>
                </a:solidFill>
                <a:effectLst/>
                <a:latin typeface="+mj-ea"/>
                <a:ea typeface="+mj-ea"/>
              </a:defRPr>
            </a:lvl2pPr>
            <a:lvl3pPr marL="1143000" indent="-228600">
              <a:lnSpc>
                <a:spcPct val="120000"/>
              </a:lnSpc>
              <a:buClr>
                <a:srgbClr val="C00000"/>
              </a:buClr>
              <a:buFont typeface="Wingdings" panose="05000000000000000000" pitchFamily="2" charset="2"/>
              <a:buChar char="l"/>
              <a:defRPr sz="1800" b="0" i="0" baseline="0">
                <a:solidFill>
                  <a:schemeClr val="tx1"/>
                </a:solidFill>
                <a:latin typeface="+mj-ea"/>
                <a:ea typeface="+mj-ea"/>
              </a:defRPr>
            </a:lvl3pPr>
            <a:lvl4pPr marL="1600200" indent="-228600">
              <a:lnSpc>
                <a:spcPct val="120000"/>
              </a:lnSpc>
              <a:buClr>
                <a:srgbClr val="C00000"/>
              </a:buClr>
              <a:buFont typeface="Wingdings" panose="05000000000000000000" pitchFamily="2" charset="2"/>
              <a:buChar char="ü"/>
              <a:defRPr sz="1600" baseline="0">
                <a:solidFill>
                  <a:schemeClr val="tx1"/>
                </a:solidFill>
                <a:latin typeface="+mj-ea"/>
                <a:ea typeface="+mj-ea"/>
              </a:defRPr>
            </a:lvl4pPr>
            <a:lvl5pPr marL="2057400" indent="-228600">
              <a:buClr>
                <a:srgbClr val="111F65"/>
              </a:buClr>
              <a:buFont typeface="Wingdings" panose="05000000000000000000" pitchFamily="2" charset="2"/>
              <a:buChar char="l"/>
              <a:defRPr baseline="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7" name="Line 40">
            <a:extLst>
              <a:ext uri="{FF2B5EF4-FFF2-40B4-BE49-F238E27FC236}">
                <a16:creationId xmlns:a16="http://schemas.microsoft.com/office/drawing/2014/main" id="{1A7B5E60-F2FB-4D31-A48F-4DEFC364077A}"/>
              </a:ext>
            </a:extLst>
          </p:cNvPr>
          <p:cNvSpPr>
            <a:spLocks noChangeShapeType="1"/>
          </p:cNvSpPr>
          <p:nvPr userDrawn="1"/>
        </p:nvSpPr>
        <p:spPr bwMode="auto">
          <a:xfrm>
            <a:off x="0" y="853440"/>
            <a:ext cx="9144000" cy="0"/>
          </a:xfrm>
          <a:prstGeom prst="line">
            <a:avLst/>
          </a:prstGeom>
          <a:noFill/>
          <a:ln w="3175">
            <a:solidFill>
              <a:srgbClr val="CC3300"/>
            </a:solidFill>
            <a:round/>
            <a:headEnd/>
            <a:tailEnd/>
          </a:ln>
          <a:effectLst/>
        </p:spPr>
        <p:txBody>
          <a:bodyPr/>
          <a:lstStyle/>
          <a:p>
            <a:pPr algn="ctr">
              <a:spcBef>
                <a:spcPct val="50000"/>
              </a:spcBef>
              <a:buClr>
                <a:schemeClr val="bg1"/>
              </a:buClr>
              <a:buSzPct val="100000"/>
              <a:defRPr/>
            </a:pPr>
            <a:endParaRPr lang="zh-CN" altLang="en-US">
              <a:effectLst>
                <a:outerShdw blurRad="38100" dist="38100" dir="2700000" algn="tl">
                  <a:srgbClr val="000000">
                    <a:alpha val="43137"/>
                  </a:srgbClr>
                </a:outerShdw>
              </a:effectLst>
              <a:latin typeface="Arial" charset="0"/>
              <a:ea typeface="+mn-ea"/>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2" name="Rectangle 34"/>
          <p:cNvSpPr>
            <a:spLocks noGrp="1" noChangeArrowheads="1"/>
          </p:cNvSpPr>
          <p:nvPr>
            <p:ph type="title"/>
          </p:nvPr>
        </p:nvSpPr>
        <p:spPr bwMode="auto">
          <a:xfrm>
            <a:off x="393700" y="38100"/>
            <a:ext cx="8242300" cy="914400"/>
          </a:xfrm>
          <a:prstGeom prst="rect">
            <a:avLst/>
          </a:prstGeom>
          <a:noFill/>
          <a:ln w="9525">
            <a:noFill/>
            <a:miter lim="800000"/>
          </a:ln>
          <a:effectLst/>
        </p:spPr>
        <p:txBody>
          <a:bodyPr vert="horz" wrap="square" lIns="92075" tIns="46038" rIns="92075" bIns="46038" numCol="1" anchor="ctr" anchorCtr="0" compatLnSpc="1"/>
          <a:lstStyle/>
          <a:p>
            <a:pPr lvl="0"/>
            <a:r>
              <a:rPr lang="en-US" altLang="zh-CN" dirty="0"/>
              <a:t>Click to edit Master title style</a:t>
            </a:r>
          </a:p>
        </p:txBody>
      </p:sp>
      <p:sp>
        <p:nvSpPr>
          <p:cNvPr id="2087" name="Rectangle 39"/>
          <p:cNvSpPr>
            <a:spLocks noGrp="1" noChangeArrowheads="1"/>
          </p:cNvSpPr>
          <p:nvPr>
            <p:ph type="body" idx="1"/>
          </p:nvPr>
        </p:nvSpPr>
        <p:spPr bwMode="auto">
          <a:xfrm>
            <a:off x="457200" y="990600"/>
            <a:ext cx="8305800" cy="5410200"/>
          </a:xfrm>
          <a:prstGeom prst="rect">
            <a:avLst/>
          </a:prstGeom>
          <a:noFill/>
          <a:ln w="9525">
            <a:noFill/>
            <a:miter lim="800000"/>
          </a:ln>
          <a:effectLst/>
        </p:spPr>
        <p:txBody>
          <a:bodyPr vert="horz" wrap="square" lIns="91440" tIns="45720" rIns="91440" bIns="45720" numCol="1" anchor="t" anchorCtr="0" compatLnSpc="1"/>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hdr="0" dt="0"/>
  <p:txStyles>
    <p:titleStyle>
      <a:lvl1pPr algn="l" rtl="0" eaLnBrk="0" fontAlgn="base" hangingPunct="0">
        <a:spcBef>
          <a:spcPct val="0"/>
        </a:spcBef>
        <a:spcAft>
          <a:spcPct val="0"/>
        </a:spcAft>
        <a:defRPr lang="en-US" altLang="zh-CN" sz="3600" b="1" i="0" dirty="0" smtClean="0">
          <a:solidFill>
            <a:srgbClr val="C00000"/>
          </a:solidFill>
          <a:effectLst/>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2pPr>
      <a:lvl3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3pPr>
      <a:lvl4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4pPr>
      <a:lvl5pPr algn="l" rtl="0" eaLnBrk="0" fontAlgn="base" hangingPunct="0">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5pPr>
      <a:lvl6pPr marL="4572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6pPr>
      <a:lvl7pPr marL="9144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7pPr>
      <a:lvl8pPr marL="13716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8pPr>
      <a:lvl9pPr marL="1828800" algn="l" rtl="0" fontAlgn="base">
        <a:spcBef>
          <a:spcPct val="0"/>
        </a:spcBef>
        <a:spcAft>
          <a:spcPct val="0"/>
        </a:spcAft>
        <a:defRPr sz="3600" i="1">
          <a:solidFill>
            <a:schemeClr val="folHlink"/>
          </a:solidFill>
          <a:effectLst>
            <a:outerShdw blurRad="38100" dist="38100" dir="2700000" algn="tl">
              <a:srgbClr val="C0C0C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lr>
          <a:schemeClr val="accent2"/>
        </a:buClr>
        <a:buFont typeface="Wingdings" panose="05000000000000000000" pitchFamily="2" charset="2"/>
        <a:buChar char="q"/>
        <a:defRPr lang="en-US" altLang="zh-CN" sz="24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
          <a:schemeClr val="folHlink"/>
        </a:buClr>
        <a:buFont typeface="Wingdings" panose="05000000000000000000" pitchFamily="2" charset="2"/>
        <a:buChar char="Ø"/>
        <a:defRPr sz="2400" b="1">
          <a:solidFill>
            <a:srgbClr val="000066"/>
          </a:solidFill>
          <a:effectLst>
            <a:outerShdw blurRad="38100" dist="38100" dir="2700000" algn="tl">
              <a:srgbClr val="C0C0C0"/>
            </a:outerShdw>
          </a:effectLst>
          <a:latin typeface="Garamond" panose="02020404030301010803" pitchFamily="18" charset="0"/>
        </a:defRPr>
      </a:lvl2pPr>
      <a:lvl3pPr marL="1143000" indent="-228600" algn="l" rtl="0" eaLnBrk="0" fontAlgn="base" hangingPunct="0">
        <a:spcBef>
          <a:spcPct val="20000"/>
        </a:spcBef>
        <a:spcAft>
          <a:spcPct val="0"/>
        </a:spcAft>
        <a:buClr>
          <a:schemeClr val="folHlink"/>
        </a:buClr>
        <a:buFont typeface="Times New Roman" panose="02020603050405020304" pitchFamily="18" charset="0"/>
        <a:buChar char="–"/>
        <a:defRPr sz="2000" b="1" i="1">
          <a:solidFill>
            <a:srgbClr val="5F5F5F"/>
          </a:solidFill>
          <a:latin typeface="Times New Roman" panose="02020603050405020304" pitchFamily="18" charset="0"/>
        </a:defRPr>
      </a:lvl3pPr>
      <a:lvl4pPr marL="1600200" indent="-228600" algn="l" rtl="0" eaLnBrk="0" fontAlgn="base" hangingPunct="0">
        <a:spcBef>
          <a:spcPct val="20000"/>
        </a:spcBef>
        <a:spcAft>
          <a:spcPct val="0"/>
        </a:spcAft>
        <a:buClr>
          <a:schemeClr val="folHlink"/>
        </a:buClr>
        <a:buSzPct val="100000"/>
        <a:buChar char="o"/>
        <a:defRPr sz="2000">
          <a:solidFill>
            <a:srgbClr val="FF0000"/>
          </a:solidFill>
          <a:latin typeface="+mn-lt"/>
        </a:defRPr>
      </a:lvl4pPr>
      <a:lvl5pPr marL="2057400" indent="-228600" algn="l" rtl="0" eaLnBrk="0" fontAlgn="base" hangingPunct="0">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8.w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tiff"/></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notesSlide" Target="../notesSlides/notesSlide18.xm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33.wmf"/><Relationship Id="rId5" Type="http://schemas.openxmlformats.org/officeDocument/2006/relationships/oleObject" Target="../embeddings/oleObject3.bin"/><Relationship Id="rId4" Type="http://schemas.openxmlformats.org/officeDocument/2006/relationships/image" Target="../media/image35.png"/><Relationship Id="rId9" Type="http://schemas.openxmlformats.org/officeDocument/2006/relationships/image" Target="../media/image35.tif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tif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NULL" TargetMode="External"/><Relationship Id="rId4" Type="http://schemas.openxmlformats.org/officeDocument/2006/relationships/image" Target="../media/image3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3.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4.e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46.png"/><Relationship Id="rId4" Type="http://schemas.openxmlformats.org/officeDocument/2006/relationships/tags" Target="../tags/tag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tif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60.tif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5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 Id="rId4" Type="http://schemas.openxmlformats.org/officeDocument/2006/relationships/image" Target="../media/image63.tiff"/></Relationships>
</file>

<file path=ppt/slides/_rels/slide6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39.xml"/><Relationship Id="rId7"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6.jpeg"/><Relationship Id="rId5" Type="http://schemas.openxmlformats.org/officeDocument/2006/relationships/image" Target="../media/image65.jpeg"/><Relationship Id="rId4" Type="http://schemas.openxmlformats.org/officeDocument/2006/relationships/image" Target="../media/image64.jpe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tiff"/><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70.jpeg"/></Relationships>
</file>

<file path=ppt/slides/_rels/slide6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72.emf"/><Relationship Id="rId5" Type="http://schemas.openxmlformats.org/officeDocument/2006/relationships/oleObject" Target="../embeddings/oleObject7.bin"/><Relationship Id="rId4" Type="http://schemas.openxmlformats.org/officeDocument/2006/relationships/image" Target="../media/image73.png"/></Relationships>
</file>

<file path=ppt/slides/_rels/slide7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7.tiff"/><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78.jpe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611823" y="2164080"/>
            <a:ext cx="7900987" cy="1524000"/>
          </a:xfrm>
        </p:spPr>
        <p:txBody>
          <a:bodyPr/>
          <a:lstStyle/>
          <a:p>
            <a:pPr eaLnBrk="1" hangingPunct="1">
              <a:lnSpc>
                <a:spcPct val="120000"/>
              </a:lnSpc>
            </a:pPr>
            <a:r>
              <a:rPr lang="zh-CN" altLang="en-US" sz="4800" dirty="0">
                <a:solidFill>
                  <a:srgbClr val="800000"/>
                </a:solidFill>
              </a:rPr>
              <a:t>第二章：物联网硬件平台</a:t>
            </a:r>
            <a:endParaRPr lang="en-US" altLang="zh-CN" sz="4800" b="1" dirty="0">
              <a:solidFill>
                <a:srgbClr val="800000"/>
              </a:solidFill>
              <a:effectLst/>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47B961-FE50-45B0-A78A-B079036D1047}"/>
              </a:ext>
            </a:extLst>
          </p:cNvPr>
          <p:cNvSpPr>
            <a:spLocks noGrp="1"/>
          </p:cNvSpPr>
          <p:nvPr>
            <p:ph type="title"/>
          </p:nvPr>
        </p:nvSpPr>
        <p:spPr/>
        <p:txBody>
          <a:bodyPr/>
          <a:lstStyle/>
          <a:p>
            <a:r>
              <a:rPr lang="zh-CN" altLang="en-US" dirty="0"/>
              <a:t>学习目标</a:t>
            </a:r>
          </a:p>
        </p:txBody>
      </p:sp>
      <p:sp>
        <p:nvSpPr>
          <p:cNvPr id="3" name="内容占位符 2">
            <a:extLst>
              <a:ext uri="{FF2B5EF4-FFF2-40B4-BE49-F238E27FC236}">
                <a16:creationId xmlns:a16="http://schemas.microsoft.com/office/drawing/2014/main" id="{5AB7274E-2D52-40A0-B86D-55FD4459BBA0}"/>
              </a:ext>
            </a:extLst>
          </p:cNvPr>
          <p:cNvSpPr>
            <a:spLocks noGrp="1"/>
          </p:cNvSpPr>
          <p:nvPr>
            <p:ph idx="1"/>
          </p:nvPr>
        </p:nvSpPr>
        <p:spPr/>
        <p:txBody>
          <a:bodyPr/>
          <a:lstStyle/>
          <a:p>
            <a:endParaRPr lang="en-US" altLang="zh-CN" dirty="0"/>
          </a:p>
          <a:p>
            <a:r>
              <a:rPr lang="zh-CN" altLang="zh-CN" dirty="0"/>
              <a:t>了解常见的物联网硬件平台</a:t>
            </a:r>
          </a:p>
          <a:p>
            <a:r>
              <a:rPr lang="zh-CN" altLang="zh-CN" dirty="0">
                <a:solidFill>
                  <a:srgbClr val="C00000"/>
                </a:solidFill>
              </a:rPr>
              <a:t>掌握</a:t>
            </a:r>
            <a:r>
              <a:rPr lang="zh-CN" altLang="zh-CN" dirty="0"/>
              <a:t>典型物联网硬件平台的能耗计算方法</a:t>
            </a:r>
          </a:p>
          <a:p>
            <a:r>
              <a:rPr lang="zh-CN" altLang="zh-CN" dirty="0"/>
              <a:t>了解开发板和外设的常用物理接口类型、数据通信协议，掌握</a:t>
            </a:r>
            <a:r>
              <a:rPr lang="en-US" altLang="zh-CN" dirty="0"/>
              <a:t>UART</a:t>
            </a:r>
            <a:r>
              <a:rPr lang="zh-CN" altLang="zh-CN" dirty="0"/>
              <a:t>缓存区的计算方法，掌握基于总线频率计算</a:t>
            </a:r>
            <a:r>
              <a:rPr lang="en-US" altLang="zh-CN" dirty="0"/>
              <a:t>SPI</a:t>
            </a:r>
            <a:r>
              <a:rPr lang="zh-CN" altLang="zh-CN" dirty="0"/>
              <a:t>数据传输率的基本方法，掌握</a:t>
            </a:r>
            <a:r>
              <a:rPr lang="en-US" altLang="zh-CN" dirty="0"/>
              <a:t>I</a:t>
            </a:r>
            <a:r>
              <a:rPr lang="en-US" altLang="zh-CN" baseline="30000" dirty="0"/>
              <a:t>2</a:t>
            </a:r>
            <a:r>
              <a:rPr lang="en-US" altLang="zh-CN" dirty="0"/>
              <a:t>C</a:t>
            </a:r>
            <a:r>
              <a:rPr lang="zh-CN" altLang="zh-CN" dirty="0"/>
              <a:t>的数据传输过程</a:t>
            </a:r>
          </a:p>
          <a:p>
            <a:r>
              <a:rPr lang="zh-CN" altLang="zh-CN" dirty="0"/>
              <a:t>了解传感器节点平台、</a:t>
            </a:r>
            <a:r>
              <a:rPr lang="en-US" altLang="zh-CN" dirty="0"/>
              <a:t>STM32</a:t>
            </a:r>
            <a:r>
              <a:rPr lang="zh-CN" altLang="zh-CN" dirty="0"/>
              <a:t>平台、</a:t>
            </a:r>
            <a:r>
              <a:rPr lang="en-US" altLang="zh-CN" dirty="0"/>
              <a:t>Arduino</a:t>
            </a:r>
            <a:r>
              <a:rPr lang="zh-CN" altLang="zh-CN" dirty="0"/>
              <a:t>平台、树莓派平台的特点，掌握根据应用需求进行硬件选型的基本方法</a:t>
            </a:r>
          </a:p>
          <a:p>
            <a:r>
              <a:rPr lang="zh-CN" altLang="zh-CN" dirty="0">
                <a:solidFill>
                  <a:srgbClr val="C00000"/>
                </a:solidFill>
              </a:rPr>
              <a:t>掌握</a:t>
            </a:r>
            <a:r>
              <a:rPr lang="zh-CN" altLang="zh-CN" dirty="0"/>
              <a:t>基于</a:t>
            </a:r>
            <a:r>
              <a:rPr lang="en-US" altLang="zh-CN" dirty="0"/>
              <a:t>Arduino IDE</a:t>
            </a:r>
            <a:r>
              <a:rPr lang="zh-CN" altLang="zh-CN" dirty="0"/>
              <a:t>和</a:t>
            </a:r>
            <a:r>
              <a:rPr lang="en-US" altLang="zh-CN" dirty="0"/>
              <a:t>Grove Pi</a:t>
            </a:r>
            <a:r>
              <a:rPr lang="zh-CN" altLang="zh-CN" dirty="0"/>
              <a:t>的应用软件开发方法</a:t>
            </a:r>
          </a:p>
          <a:p>
            <a:endParaRPr lang="zh-CN" altLang="en-US" dirty="0"/>
          </a:p>
        </p:txBody>
      </p:sp>
      <p:sp>
        <p:nvSpPr>
          <p:cNvPr id="4" name="灯片编号占位符 4">
            <a:extLst>
              <a:ext uri="{FF2B5EF4-FFF2-40B4-BE49-F238E27FC236}">
                <a16:creationId xmlns:a16="http://schemas.microsoft.com/office/drawing/2014/main" id="{ADED19C9-18E1-4E97-AB9B-E687A015778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a:t>
            </a:fld>
            <a:endParaRPr lang="zh-CN" altLang="zh-CN" sz="1800" baseline="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507530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目录</a:t>
            </a:r>
            <a:endParaRPr lang="zh-CN" altLang="en-US" dirty="0"/>
          </a:p>
        </p:txBody>
      </p:sp>
      <p:sp>
        <p:nvSpPr>
          <p:cNvPr id="5" name="内容占位符 2"/>
          <p:cNvSpPr>
            <a:spLocks noGrp="1"/>
          </p:cNvSpPr>
          <p:nvPr>
            <p:ph idx="4294967295"/>
          </p:nvPr>
        </p:nvSpPr>
        <p:spPr>
          <a:xfrm>
            <a:off x="457200" y="990600"/>
            <a:ext cx="8305800" cy="5410200"/>
          </a:xfrm>
        </p:spPr>
        <p:txBody>
          <a:bodyPr/>
          <a:lstStyle/>
          <a:p>
            <a:endParaRPr lang="zh-CN" altLang="en-US" sz="2800" dirty="0"/>
          </a:p>
          <a:p>
            <a:r>
              <a:rPr lang="zh-CN" altLang="en-US" sz="2800" dirty="0">
                <a:solidFill>
                  <a:srgbClr val="C00000"/>
                </a:solidFill>
                <a:sym typeface="+mn-ea"/>
              </a:rPr>
              <a:t>概述</a:t>
            </a:r>
            <a:endParaRPr lang="zh-CN" altLang="en-US" sz="2800" dirty="0">
              <a:solidFill>
                <a:srgbClr val="C00000"/>
              </a:solidFill>
            </a:endParaRPr>
          </a:p>
          <a:p>
            <a:r>
              <a:rPr lang="zh-CN" altLang="en-US" sz="2800" dirty="0">
                <a:sym typeface="+mn-ea"/>
              </a:rPr>
              <a:t>关键特性</a:t>
            </a:r>
            <a:endParaRPr lang="zh-CN" altLang="en-US" sz="2800" dirty="0"/>
          </a:p>
          <a:p>
            <a:r>
              <a:rPr lang="zh-CN" altLang="en-US" sz="2800" dirty="0">
                <a:sym typeface="+mn-ea"/>
              </a:rPr>
              <a:t>常见的硬件平台</a:t>
            </a:r>
            <a:endParaRPr lang="zh-CN" altLang="en-US" sz="2800" dirty="0"/>
          </a:p>
          <a:p>
            <a:r>
              <a:rPr lang="zh-CN" altLang="en-US" sz="2800" dirty="0">
                <a:sym typeface="+mn-ea"/>
              </a:rPr>
              <a:t>案例开发</a:t>
            </a:r>
            <a:endParaRPr lang="zh-CN" altLang="en-US" sz="2800" dirty="0"/>
          </a:p>
          <a:p>
            <a:r>
              <a:rPr lang="zh-CN" altLang="en-US" sz="2800" dirty="0">
                <a:sym typeface="+mn-ea"/>
              </a:rPr>
              <a:t>学术研究进展</a:t>
            </a:r>
            <a:endParaRPr lang="zh-CN" altLang="en-US" sz="28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生活中的物联网硬件</a:t>
            </a:r>
            <a:endParaRPr lang="zh-CN" altLang="en-US" dirty="0"/>
          </a:p>
        </p:txBody>
      </p:sp>
      <p:sp>
        <p:nvSpPr>
          <p:cNvPr id="4" name="内容占位符 3">
            <a:extLst>
              <a:ext uri="{FF2B5EF4-FFF2-40B4-BE49-F238E27FC236}">
                <a16:creationId xmlns:a16="http://schemas.microsoft.com/office/drawing/2014/main" id="{41218E5E-B6C4-45F1-AB05-3EB68074DF0A}"/>
              </a:ext>
            </a:extLst>
          </p:cNvPr>
          <p:cNvSpPr>
            <a:spLocks noGrp="1"/>
          </p:cNvSpPr>
          <p:nvPr>
            <p:ph idx="1"/>
          </p:nvPr>
        </p:nvSpPr>
        <p:spPr/>
        <p:txBody>
          <a:bodyPr/>
          <a:lstStyle/>
          <a:p>
            <a:r>
              <a:rPr lang="zh-CN" altLang="en-US"/>
              <a:t>每个物体都是一台计算机</a:t>
            </a:r>
            <a:endParaRPr lang="zh-CN" altLang="en-US" dirty="0"/>
          </a:p>
        </p:txBody>
      </p:sp>
      <p:pic>
        <p:nvPicPr>
          <p:cNvPr id="4098" name="Picture 2" descr="第二章图绘"/>
          <p:cNvPicPr>
            <a:picLocks noChangeAspect="1" noChangeArrowheads="1"/>
          </p:cNvPicPr>
          <p:nvPr/>
        </p:nvPicPr>
        <p:blipFill rotWithShape="1">
          <a:blip r:embed="rId3">
            <a:extLst>
              <a:ext uri="{28A0092B-C50C-407E-A947-70E740481C1C}">
                <a14:useLocalDpi xmlns:a14="http://schemas.microsoft.com/office/drawing/2010/main" val="0"/>
              </a:ext>
            </a:extLst>
          </a:blip>
          <a:srcRect t="13592" b="19561"/>
          <a:stretch/>
        </p:blipFill>
        <p:spPr bwMode="auto">
          <a:xfrm>
            <a:off x="799827" y="1877438"/>
            <a:ext cx="7544346" cy="3103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1CC7C56B-8D0A-4EA8-A374-4FDB512A9F21}"/>
              </a:ext>
            </a:extLst>
          </p:cNvPr>
          <p:cNvSpPr txBox="1"/>
          <p:nvPr/>
        </p:nvSpPr>
        <p:spPr>
          <a:xfrm>
            <a:off x="885217" y="5086848"/>
            <a:ext cx="1555234" cy="420628"/>
          </a:xfrm>
          <a:prstGeom prst="rect">
            <a:avLst/>
          </a:prstGeom>
          <a:noFill/>
        </p:spPr>
        <p:txBody>
          <a:bodyPr wrap="none" rtlCol="0">
            <a:spAutoFit/>
          </a:bodyPr>
          <a:lstStyle/>
          <a:p>
            <a:r>
              <a:rPr lang="zh-CN" altLang="en-US" sz="3200" dirty="0">
                <a:latin typeface="+mj-ea"/>
                <a:ea typeface="+mj-ea"/>
              </a:rPr>
              <a:t>燃气报警器</a:t>
            </a:r>
          </a:p>
        </p:txBody>
      </p:sp>
      <p:sp>
        <p:nvSpPr>
          <p:cNvPr id="7" name="文本框 6">
            <a:extLst>
              <a:ext uri="{FF2B5EF4-FFF2-40B4-BE49-F238E27FC236}">
                <a16:creationId xmlns:a16="http://schemas.microsoft.com/office/drawing/2014/main" id="{2F3BDCCC-B90F-4CBB-BAB1-954AFA2D77B9}"/>
              </a:ext>
            </a:extLst>
          </p:cNvPr>
          <p:cNvSpPr txBox="1"/>
          <p:nvPr/>
        </p:nvSpPr>
        <p:spPr>
          <a:xfrm>
            <a:off x="3874290" y="5086848"/>
            <a:ext cx="1281120" cy="420628"/>
          </a:xfrm>
          <a:prstGeom prst="rect">
            <a:avLst/>
          </a:prstGeom>
          <a:noFill/>
        </p:spPr>
        <p:txBody>
          <a:bodyPr wrap="none" rtlCol="0">
            <a:spAutoFit/>
          </a:bodyPr>
          <a:lstStyle/>
          <a:p>
            <a:r>
              <a:rPr lang="zh-CN" altLang="en-US" sz="3200" dirty="0">
                <a:latin typeface="+mj-ea"/>
                <a:ea typeface="+mj-ea"/>
              </a:rPr>
              <a:t>智能车锁</a:t>
            </a:r>
          </a:p>
        </p:txBody>
      </p:sp>
      <p:sp>
        <p:nvSpPr>
          <p:cNvPr id="8" name="文本框 7">
            <a:extLst>
              <a:ext uri="{FF2B5EF4-FFF2-40B4-BE49-F238E27FC236}">
                <a16:creationId xmlns:a16="http://schemas.microsoft.com/office/drawing/2014/main" id="{731EA4A9-84F8-4B22-9392-E2901525BCF4}"/>
              </a:ext>
            </a:extLst>
          </p:cNvPr>
          <p:cNvSpPr txBox="1"/>
          <p:nvPr/>
        </p:nvSpPr>
        <p:spPr>
          <a:xfrm>
            <a:off x="6766717" y="5086848"/>
            <a:ext cx="1281120" cy="420628"/>
          </a:xfrm>
          <a:prstGeom prst="rect">
            <a:avLst/>
          </a:prstGeom>
          <a:noFill/>
        </p:spPr>
        <p:txBody>
          <a:bodyPr wrap="none" rtlCol="0">
            <a:spAutoFit/>
          </a:bodyPr>
          <a:lstStyle/>
          <a:p>
            <a:r>
              <a:rPr lang="zh-CN" altLang="en-US" sz="3200" dirty="0">
                <a:latin typeface="+mj-ea"/>
                <a:ea typeface="+mj-ea"/>
              </a:rPr>
              <a:t>智能电表</a:t>
            </a:r>
            <a:endParaRPr lang="en-US" altLang="zh-CN" sz="3200" dirty="0">
              <a:latin typeface="+mj-ea"/>
              <a:ea typeface="+mj-ea"/>
            </a:endParaRPr>
          </a:p>
        </p:txBody>
      </p:sp>
      <p:sp>
        <p:nvSpPr>
          <p:cNvPr id="9" name="灯片编号占位符 4">
            <a:extLst>
              <a:ext uri="{FF2B5EF4-FFF2-40B4-BE49-F238E27FC236}">
                <a16:creationId xmlns:a16="http://schemas.microsoft.com/office/drawing/2014/main" id="{24D10F4F-F858-4DFD-B649-277947D803B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物联网硬件发展历程</a:t>
            </a:r>
            <a:endParaRPr lang="zh-CN" altLang="en-US" dirty="0"/>
          </a:p>
        </p:txBody>
      </p:sp>
      <p:sp>
        <p:nvSpPr>
          <p:cNvPr id="5" name="内容占位符 2"/>
          <p:cNvSpPr>
            <a:spLocks noGrp="1"/>
          </p:cNvSpPr>
          <p:nvPr>
            <p:ph idx="1"/>
          </p:nvPr>
        </p:nvSpPr>
        <p:spPr/>
        <p:txBody>
          <a:bodyPr/>
          <a:lstStyle/>
          <a:p>
            <a:r>
              <a:rPr lang="zh-CN" altLang="en-US"/>
              <a:t>体积越来越小，价格越来越低</a:t>
            </a:r>
            <a:endParaRPr lang="zh-CN" altLang="en-US" dirty="0"/>
          </a:p>
        </p:txBody>
      </p:sp>
      <p:grpSp>
        <p:nvGrpSpPr>
          <p:cNvPr id="6" name="组合 5">
            <a:extLst>
              <a:ext uri="{FF2B5EF4-FFF2-40B4-BE49-F238E27FC236}">
                <a16:creationId xmlns:a16="http://schemas.microsoft.com/office/drawing/2014/main" id="{022314A4-E53A-46B9-BBC2-72C52A04717B}"/>
              </a:ext>
            </a:extLst>
          </p:cNvPr>
          <p:cNvGrpSpPr/>
          <p:nvPr/>
        </p:nvGrpSpPr>
        <p:grpSpPr>
          <a:xfrm>
            <a:off x="1323293" y="1847209"/>
            <a:ext cx="6497413" cy="4812050"/>
            <a:chOff x="474896" y="975360"/>
            <a:chExt cx="7826933" cy="5796706"/>
          </a:xfrm>
        </p:grpSpPr>
        <p:pic>
          <p:nvPicPr>
            <p:cNvPr id="7" name="Picture 2" descr="图片1">
              <a:extLst>
                <a:ext uri="{FF2B5EF4-FFF2-40B4-BE49-F238E27FC236}">
                  <a16:creationId xmlns:a16="http://schemas.microsoft.com/office/drawing/2014/main" id="{A63E0F6C-42DA-451E-84D5-2DBC621FBC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280"/>
            <a:stretch/>
          </p:blipFill>
          <p:spPr bwMode="auto">
            <a:xfrm>
              <a:off x="474896" y="975360"/>
              <a:ext cx="7826933" cy="468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9DD5EA46-3253-442D-A258-CDCAC1C4C3BC}"/>
                </a:ext>
              </a:extLst>
            </p:cNvPr>
            <p:cNvPicPr>
              <a:picLocks noChangeAspect="1"/>
            </p:cNvPicPr>
            <p:nvPr/>
          </p:nvPicPr>
          <p:blipFill>
            <a:blip r:embed="rId4"/>
            <a:stretch>
              <a:fillRect/>
            </a:stretch>
          </p:blipFill>
          <p:spPr>
            <a:xfrm>
              <a:off x="1669051" y="5657088"/>
              <a:ext cx="136568" cy="266192"/>
            </a:xfrm>
            <a:prstGeom prst="rect">
              <a:avLst/>
            </a:prstGeom>
          </p:spPr>
        </p:pic>
        <p:pic>
          <p:nvPicPr>
            <p:cNvPr id="9" name="图片 8">
              <a:extLst>
                <a:ext uri="{FF2B5EF4-FFF2-40B4-BE49-F238E27FC236}">
                  <a16:creationId xmlns:a16="http://schemas.microsoft.com/office/drawing/2014/main" id="{DA258A40-4D22-49C6-A5C7-E2EEA0026A72}"/>
                </a:ext>
              </a:extLst>
            </p:cNvPr>
            <p:cNvPicPr>
              <a:picLocks noChangeAspect="1"/>
            </p:cNvPicPr>
            <p:nvPr/>
          </p:nvPicPr>
          <p:blipFill>
            <a:blip r:embed="rId5"/>
            <a:stretch>
              <a:fillRect/>
            </a:stretch>
          </p:blipFill>
          <p:spPr>
            <a:xfrm>
              <a:off x="1456454" y="5613725"/>
              <a:ext cx="107494" cy="166127"/>
            </a:xfrm>
            <a:prstGeom prst="rect">
              <a:avLst/>
            </a:prstGeom>
          </p:spPr>
        </p:pic>
        <p:pic>
          <p:nvPicPr>
            <p:cNvPr id="10" name="图片 9">
              <a:extLst>
                <a:ext uri="{FF2B5EF4-FFF2-40B4-BE49-F238E27FC236}">
                  <a16:creationId xmlns:a16="http://schemas.microsoft.com/office/drawing/2014/main" id="{6FA3D217-0AA9-4D91-BEE2-A3EB1E59422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570938" y="5622620"/>
              <a:ext cx="138405" cy="182893"/>
            </a:xfrm>
            <a:prstGeom prst="rect">
              <a:avLst/>
            </a:prstGeom>
          </p:spPr>
        </p:pic>
        <p:pic>
          <p:nvPicPr>
            <p:cNvPr id="11" name="图片 10">
              <a:extLst>
                <a:ext uri="{FF2B5EF4-FFF2-40B4-BE49-F238E27FC236}">
                  <a16:creationId xmlns:a16="http://schemas.microsoft.com/office/drawing/2014/main" id="{4AD62CDE-0F5B-4846-A9C2-2D85931231E4}"/>
                </a:ext>
              </a:extLst>
            </p:cNvPr>
            <p:cNvPicPr>
              <a:picLocks noChangeAspect="1"/>
            </p:cNvPicPr>
            <p:nvPr/>
          </p:nvPicPr>
          <p:blipFill>
            <a:blip r:embed="rId7">
              <a:clrChange>
                <a:clrFrom>
                  <a:srgbClr val="FFFFFF"/>
                </a:clrFrom>
                <a:clrTo>
                  <a:srgbClr val="FFFFFF">
                    <a:alpha val="0"/>
                  </a:srgbClr>
                </a:clrTo>
              </a:clrChange>
              <a:grayscl/>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1529467" y="5689417"/>
              <a:ext cx="107494" cy="94058"/>
            </a:xfrm>
            <a:prstGeom prst="rect">
              <a:avLst/>
            </a:prstGeom>
            <a:effectLst>
              <a:softEdge rad="12700"/>
            </a:effectLst>
          </p:spPr>
        </p:pic>
        <p:grpSp>
          <p:nvGrpSpPr>
            <p:cNvPr id="12" name="组合 11">
              <a:extLst>
                <a:ext uri="{FF2B5EF4-FFF2-40B4-BE49-F238E27FC236}">
                  <a16:creationId xmlns:a16="http://schemas.microsoft.com/office/drawing/2014/main" id="{04F55F66-6F2B-43E8-9836-FE586A8291E8}"/>
                </a:ext>
              </a:extLst>
            </p:cNvPr>
            <p:cNvGrpSpPr/>
            <p:nvPr/>
          </p:nvGrpSpPr>
          <p:grpSpPr>
            <a:xfrm>
              <a:off x="474896" y="6152642"/>
              <a:ext cx="7826933" cy="619424"/>
              <a:chOff x="217035" y="6617970"/>
              <a:chExt cx="7826933" cy="619424"/>
            </a:xfrm>
          </p:grpSpPr>
          <p:pic>
            <p:nvPicPr>
              <p:cNvPr id="25" name="Picture 2" descr="图片1">
                <a:extLst>
                  <a:ext uri="{FF2B5EF4-FFF2-40B4-BE49-F238E27FC236}">
                    <a16:creationId xmlns:a16="http://schemas.microsoft.com/office/drawing/2014/main" id="{8ADF8FAD-2DE1-49C7-8E83-F38ABFC10B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8575"/>
              <a:stretch/>
            </p:blipFill>
            <p:spPr bwMode="auto">
              <a:xfrm>
                <a:off x="217035" y="6634480"/>
                <a:ext cx="7826933" cy="602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图片 25">
                <a:extLst>
                  <a:ext uri="{FF2B5EF4-FFF2-40B4-BE49-F238E27FC236}">
                    <a16:creationId xmlns:a16="http://schemas.microsoft.com/office/drawing/2014/main" id="{7470FB57-D41C-42F1-A484-10DBB949F0E3}"/>
                  </a:ext>
                </a:extLst>
              </p:cNvPr>
              <p:cNvPicPr>
                <a:picLocks noChangeAspect="1"/>
              </p:cNvPicPr>
              <p:nvPr/>
            </p:nvPicPr>
            <p:blipFill>
              <a:blip r:embed="rId9"/>
              <a:stretch>
                <a:fillRect/>
              </a:stretch>
            </p:blipFill>
            <p:spPr>
              <a:xfrm>
                <a:off x="6318840" y="6617970"/>
                <a:ext cx="678226" cy="147441"/>
              </a:xfrm>
              <a:prstGeom prst="rect">
                <a:avLst/>
              </a:prstGeom>
            </p:spPr>
          </p:pic>
          <p:pic>
            <p:nvPicPr>
              <p:cNvPr id="27" name="图片 26">
                <a:extLst>
                  <a:ext uri="{FF2B5EF4-FFF2-40B4-BE49-F238E27FC236}">
                    <a16:creationId xmlns:a16="http://schemas.microsoft.com/office/drawing/2014/main" id="{62FAF54E-6842-4109-B727-CE623A5599C3}"/>
                  </a:ext>
                </a:extLst>
              </p:cNvPr>
              <p:cNvPicPr>
                <a:picLocks noChangeAspect="1"/>
              </p:cNvPicPr>
              <p:nvPr/>
            </p:nvPicPr>
            <p:blipFill rotWithShape="1">
              <a:blip r:embed="rId10"/>
              <a:srcRect l="8099"/>
              <a:stretch/>
            </p:blipFill>
            <p:spPr>
              <a:xfrm>
                <a:off x="6453506" y="6766638"/>
                <a:ext cx="180974" cy="155663"/>
              </a:xfrm>
              <a:prstGeom prst="rect">
                <a:avLst/>
              </a:prstGeom>
            </p:spPr>
          </p:pic>
          <p:pic>
            <p:nvPicPr>
              <p:cNvPr id="28" name="图片 27">
                <a:extLst>
                  <a:ext uri="{FF2B5EF4-FFF2-40B4-BE49-F238E27FC236}">
                    <a16:creationId xmlns:a16="http://schemas.microsoft.com/office/drawing/2014/main" id="{EA44EA84-35E4-40BB-8BF4-E41178645682}"/>
                  </a:ext>
                </a:extLst>
              </p:cNvPr>
              <p:cNvPicPr>
                <a:picLocks noChangeAspect="1"/>
              </p:cNvPicPr>
              <p:nvPr/>
            </p:nvPicPr>
            <p:blipFill rotWithShape="1">
              <a:blip r:embed="rId10"/>
              <a:srcRect l="8099"/>
              <a:stretch/>
            </p:blipFill>
            <p:spPr>
              <a:xfrm>
                <a:off x="6634480" y="6764754"/>
                <a:ext cx="180974" cy="155663"/>
              </a:xfrm>
              <a:prstGeom prst="rect">
                <a:avLst/>
              </a:prstGeom>
            </p:spPr>
          </p:pic>
        </p:grpSp>
        <p:sp>
          <p:nvSpPr>
            <p:cNvPr id="13" name="矩形 12">
              <a:extLst>
                <a:ext uri="{FF2B5EF4-FFF2-40B4-BE49-F238E27FC236}">
                  <a16:creationId xmlns:a16="http://schemas.microsoft.com/office/drawing/2014/main" id="{CEFE59D7-A16E-4C4D-964B-07088F07E248}"/>
                </a:ext>
              </a:extLst>
            </p:cNvPr>
            <p:cNvSpPr/>
            <p:nvPr/>
          </p:nvSpPr>
          <p:spPr>
            <a:xfrm>
              <a:off x="5175115" y="5574948"/>
              <a:ext cx="272374" cy="1333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18205C54-4AAB-4FB2-B489-CD60AE019FFA}"/>
                </a:ext>
              </a:extLst>
            </p:cNvPr>
            <p:cNvCxnSpPr>
              <a:cxnSpLocks/>
            </p:cNvCxnSpPr>
            <p:nvPr/>
          </p:nvCxnSpPr>
          <p:spPr>
            <a:xfrm>
              <a:off x="6256020" y="5408295"/>
              <a:ext cx="693420" cy="5943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C2DD4CED-AF40-41B2-91D4-FA09B1AFE37C}"/>
                </a:ext>
              </a:extLst>
            </p:cNvPr>
            <p:cNvPicPr>
              <a:picLocks noChangeAspect="1"/>
            </p:cNvPicPr>
            <p:nvPr/>
          </p:nvPicPr>
          <p:blipFill>
            <a:blip r:embed="rId4"/>
            <a:stretch>
              <a:fillRect/>
            </a:stretch>
          </p:blipFill>
          <p:spPr>
            <a:xfrm>
              <a:off x="1669051" y="5921005"/>
              <a:ext cx="136568" cy="266192"/>
            </a:xfrm>
            <a:prstGeom prst="rect">
              <a:avLst/>
            </a:prstGeom>
          </p:spPr>
        </p:pic>
        <p:pic>
          <p:nvPicPr>
            <p:cNvPr id="16" name="图片 15">
              <a:extLst>
                <a:ext uri="{FF2B5EF4-FFF2-40B4-BE49-F238E27FC236}">
                  <a16:creationId xmlns:a16="http://schemas.microsoft.com/office/drawing/2014/main" id="{CA181C21-C69C-4077-9105-4D7877C613AB}"/>
                </a:ext>
              </a:extLst>
            </p:cNvPr>
            <p:cNvPicPr>
              <a:picLocks noChangeAspect="1"/>
            </p:cNvPicPr>
            <p:nvPr/>
          </p:nvPicPr>
          <p:blipFill>
            <a:blip r:embed="rId5"/>
            <a:stretch>
              <a:fillRect/>
            </a:stretch>
          </p:blipFill>
          <p:spPr>
            <a:xfrm>
              <a:off x="1391061" y="5886450"/>
              <a:ext cx="107494" cy="166127"/>
            </a:xfrm>
            <a:prstGeom prst="rect">
              <a:avLst/>
            </a:prstGeom>
          </p:spPr>
        </p:pic>
        <p:pic>
          <p:nvPicPr>
            <p:cNvPr id="17" name="图片 16">
              <a:extLst>
                <a:ext uri="{FF2B5EF4-FFF2-40B4-BE49-F238E27FC236}">
                  <a16:creationId xmlns:a16="http://schemas.microsoft.com/office/drawing/2014/main" id="{B80A142D-2B2B-4491-947D-308D162CF9C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515397" y="5885063"/>
              <a:ext cx="107494" cy="166127"/>
            </a:xfrm>
            <a:prstGeom prst="rect">
              <a:avLst/>
            </a:prstGeom>
          </p:spPr>
        </p:pic>
        <p:pic>
          <p:nvPicPr>
            <p:cNvPr id="18" name="图片 17">
              <a:extLst>
                <a:ext uri="{FF2B5EF4-FFF2-40B4-BE49-F238E27FC236}">
                  <a16:creationId xmlns:a16="http://schemas.microsoft.com/office/drawing/2014/main" id="{0C8DBDDB-59C1-4B3A-BCE3-73CD6B7CE8FF}"/>
                </a:ext>
              </a:extLst>
            </p:cNvPr>
            <p:cNvPicPr>
              <a:picLocks noChangeAspect="1"/>
            </p:cNvPicPr>
            <p:nvPr/>
          </p:nvPicPr>
          <p:blipFill>
            <a:blip r:embed="rId7">
              <a:clrChange>
                <a:clrFrom>
                  <a:srgbClr val="FFFFFF"/>
                </a:clrFrom>
                <a:clrTo>
                  <a:srgbClr val="FFFFFF">
                    <a:alpha val="0"/>
                  </a:srgbClr>
                </a:clrTo>
              </a:clrChange>
              <a:grayscl/>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1456454" y="5962835"/>
              <a:ext cx="107494" cy="94058"/>
            </a:xfrm>
            <a:prstGeom prst="rect">
              <a:avLst/>
            </a:prstGeom>
            <a:effectLst>
              <a:softEdge rad="12700"/>
            </a:effectLst>
          </p:spPr>
        </p:pic>
        <p:pic>
          <p:nvPicPr>
            <p:cNvPr id="19" name="图片 18">
              <a:extLst>
                <a:ext uri="{FF2B5EF4-FFF2-40B4-BE49-F238E27FC236}">
                  <a16:creationId xmlns:a16="http://schemas.microsoft.com/office/drawing/2014/main" id="{67568E1E-E357-48C4-A9D3-64E4ADBF7D8E}"/>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594133" y="5893440"/>
              <a:ext cx="138405" cy="182893"/>
            </a:xfrm>
            <a:prstGeom prst="rect">
              <a:avLst/>
            </a:prstGeom>
          </p:spPr>
        </p:pic>
        <p:pic>
          <p:nvPicPr>
            <p:cNvPr id="20" name="图片 19">
              <a:extLst>
                <a:ext uri="{FF2B5EF4-FFF2-40B4-BE49-F238E27FC236}">
                  <a16:creationId xmlns:a16="http://schemas.microsoft.com/office/drawing/2014/main" id="{F27DBD32-0B35-4462-80EC-A2C331C11928}"/>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6866911" y="5933051"/>
              <a:ext cx="216594" cy="179972"/>
            </a:xfrm>
            <a:prstGeom prst="rect">
              <a:avLst/>
            </a:prstGeom>
          </p:spPr>
        </p:pic>
        <p:pic>
          <p:nvPicPr>
            <p:cNvPr id="21" name="图片 20">
              <a:extLst>
                <a:ext uri="{FF2B5EF4-FFF2-40B4-BE49-F238E27FC236}">
                  <a16:creationId xmlns:a16="http://schemas.microsoft.com/office/drawing/2014/main" id="{888643E8-4ECD-41B3-AFF2-F7D5912D67AA}"/>
                </a:ext>
              </a:extLst>
            </p:cNvPr>
            <p:cNvPicPr>
              <a:picLocks noChangeAspect="1"/>
            </p:cNvPicPr>
            <p:nvPr/>
          </p:nvPicPr>
          <p:blipFill>
            <a:blip r:embed="rId12"/>
            <a:stretch>
              <a:fillRect/>
            </a:stretch>
          </p:blipFill>
          <p:spPr>
            <a:xfrm rot="520627">
              <a:off x="6106494" y="5942945"/>
              <a:ext cx="806707" cy="95846"/>
            </a:xfrm>
            <a:prstGeom prst="rect">
              <a:avLst/>
            </a:prstGeom>
          </p:spPr>
        </p:pic>
        <p:pic>
          <p:nvPicPr>
            <p:cNvPr id="22" name="图片 21">
              <a:extLst>
                <a:ext uri="{FF2B5EF4-FFF2-40B4-BE49-F238E27FC236}">
                  <a16:creationId xmlns:a16="http://schemas.microsoft.com/office/drawing/2014/main" id="{24949331-EE32-4CD1-A1FB-2E69DADDEC79}"/>
                </a:ext>
              </a:extLst>
            </p:cNvPr>
            <p:cNvPicPr>
              <a:picLocks noChangeAspect="1"/>
            </p:cNvPicPr>
            <p:nvPr/>
          </p:nvPicPr>
          <p:blipFill>
            <a:blip r:embed="rId12"/>
            <a:stretch>
              <a:fillRect/>
            </a:stretch>
          </p:blipFill>
          <p:spPr>
            <a:xfrm rot="520627">
              <a:off x="5296262" y="5841683"/>
              <a:ext cx="806707" cy="95846"/>
            </a:xfrm>
            <a:prstGeom prst="rect">
              <a:avLst/>
            </a:prstGeom>
          </p:spPr>
        </p:pic>
        <p:pic>
          <p:nvPicPr>
            <p:cNvPr id="23" name="图片 22">
              <a:extLst>
                <a:ext uri="{FF2B5EF4-FFF2-40B4-BE49-F238E27FC236}">
                  <a16:creationId xmlns:a16="http://schemas.microsoft.com/office/drawing/2014/main" id="{5E98856B-3597-4032-8B61-C896CB46B50A}"/>
                </a:ext>
              </a:extLst>
            </p:cNvPr>
            <p:cNvPicPr>
              <a:picLocks noChangeAspect="1"/>
            </p:cNvPicPr>
            <p:nvPr/>
          </p:nvPicPr>
          <p:blipFill rotWithShape="1">
            <a:blip r:embed="rId13">
              <a:clrChange>
                <a:clrFrom>
                  <a:srgbClr val="EFEFEF"/>
                </a:clrFrom>
                <a:clrTo>
                  <a:srgbClr val="EFEFEF">
                    <a:alpha val="0"/>
                  </a:srgbClr>
                </a:clrTo>
              </a:clrChange>
            </a:blip>
            <a:srcRect t="4646"/>
            <a:stretch/>
          </p:blipFill>
          <p:spPr>
            <a:xfrm>
              <a:off x="3968886" y="5643247"/>
              <a:ext cx="1239755" cy="423543"/>
            </a:xfrm>
            <a:prstGeom prst="rect">
              <a:avLst/>
            </a:prstGeom>
          </p:spPr>
        </p:pic>
        <p:sp>
          <p:nvSpPr>
            <p:cNvPr id="24" name="文本框 23">
              <a:extLst>
                <a:ext uri="{FF2B5EF4-FFF2-40B4-BE49-F238E27FC236}">
                  <a16:creationId xmlns:a16="http://schemas.microsoft.com/office/drawing/2014/main" id="{B91E6BD5-78B7-4FDD-9AA0-08F428C732D5}"/>
                </a:ext>
              </a:extLst>
            </p:cNvPr>
            <p:cNvSpPr txBox="1"/>
            <p:nvPr/>
          </p:nvSpPr>
          <p:spPr>
            <a:xfrm>
              <a:off x="2818697" y="5578019"/>
              <a:ext cx="1173384" cy="553998"/>
            </a:xfrm>
            <a:prstGeom prst="rect">
              <a:avLst/>
            </a:prstGeom>
            <a:noFill/>
          </p:spPr>
          <p:txBody>
            <a:bodyPr wrap="square" rtlCol="0">
              <a:spAutoFit/>
            </a:bodyPr>
            <a:lstStyle/>
            <a:p>
              <a:pPr algn="ctr"/>
              <a:r>
                <a:rPr lang="zh-CN" altLang="en-US" sz="1500" b="1" dirty="0">
                  <a:latin typeface="宋体" panose="02010600030101010101" pitchFamily="2" charset="-122"/>
                  <a:ea typeface="宋体" panose="02010600030101010101" pitchFamily="2" charset="-122"/>
                </a:rPr>
                <a:t>智能物联网芯片</a:t>
              </a:r>
            </a:p>
          </p:txBody>
        </p:sp>
      </p:grpSp>
      <p:sp>
        <p:nvSpPr>
          <p:cNvPr id="29" name="灯片编号占位符 4">
            <a:extLst>
              <a:ext uri="{FF2B5EF4-FFF2-40B4-BE49-F238E27FC236}">
                <a16:creationId xmlns:a16="http://schemas.microsoft.com/office/drawing/2014/main" id="{9FF44403-53D8-4198-972F-403205C08AC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物联网硬件平台类型</a:t>
            </a:r>
            <a:endParaRPr lang="zh-CN" altLang="en-US" dirty="0"/>
          </a:p>
        </p:txBody>
      </p:sp>
      <p:sp>
        <p:nvSpPr>
          <p:cNvPr id="3" name="内容占位符 2"/>
          <p:cNvSpPr>
            <a:spLocks noGrp="1"/>
          </p:cNvSpPr>
          <p:nvPr>
            <p:ph idx="1"/>
          </p:nvPr>
        </p:nvSpPr>
        <p:spPr/>
        <p:txBody>
          <a:bodyPr/>
          <a:lstStyle/>
          <a:p>
            <a:r>
              <a:rPr lang="zh-CN" altLang="en-US" dirty="0"/>
              <a:t>异构性强，功能差异大</a:t>
            </a:r>
          </a:p>
        </p:txBody>
      </p:sp>
      <p:graphicFrame>
        <p:nvGraphicFramePr>
          <p:cNvPr id="4" name="表格 3"/>
          <p:cNvGraphicFramePr>
            <a:graphicFrameLocks noGrp="1"/>
          </p:cNvGraphicFramePr>
          <p:nvPr>
            <p:extLst>
              <p:ext uri="{D42A27DB-BD31-4B8C-83A1-F6EECF244321}">
                <p14:modId xmlns:p14="http://schemas.microsoft.com/office/powerpoint/2010/main" val="876584362"/>
              </p:ext>
            </p:extLst>
          </p:nvPr>
        </p:nvGraphicFramePr>
        <p:xfrm>
          <a:off x="333991" y="1618733"/>
          <a:ext cx="8476019" cy="4560301"/>
        </p:xfrm>
        <a:graphic>
          <a:graphicData uri="http://schemas.openxmlformats.org/drawingml/2006/table">
            <a:tbl>
              <a:tblPr firstRow="1" firstCol="1" bandRow="1">
                <a:tableStyleId>{08FB837D-C827-4EFA-A057-4D05807E0F7C}</a:tableStyleId>
              </a:tblPr>
              <a:tblGrid>
                <a:gridCol w="988971">
                  <a:extLst>
                    <a:ext uri="{9D8B030D-6E8A-4147-A177-3AD203B41FA5}">
                      <a16:colId xmlns:a16="http://schemas.microsoft.com/office/drawing/2014/main" val="20000"/>
                    </a:ext>
                  </a:extLst>
                </a:gridCol>
                <a:gridCol w="2402732">
                  <a:extLst>
                    <a:ext uri="{9D8B030D-6E8A-4147-A177-3AD203B41FA5}">
                      <a16:colId xmlns:a16="http://schemas.microsoft.com/office/drawing/2014/main" val="20001"/>
                    </a:ext>
                  </a:extLst>
                </a:gridCol>
                <a:gridCol w="2558374">
                  <a:extLst>
                    <a:ext uri="{9D8B030D-6E8A-4147-A177-3AD203B41FA5}">
                      <a16:colId xmlns:a16="http://schemas.microsoft.com/office/drawing/2014/main" val="20002"/>
                    </a:ext>
                  </a:extLst>
                </a:gridCol>
                <a:gridCol w="2525942">
                  <a:extLst>
                    <a:ext uri="{9D8B030D-6E8A-4147-A177-3AD203B41FA5}">
                      <a16:colId xmlns:a16="http://schemas.microsoft.com/office/drawing/2014/main" val="20003"/>
                    </a:ext>
                  </a:extLst>
                </a:gridCol>
              </a:tblGrid>
              <a:tr h="889721">
                <a:tc>
                  <a:txBody>
                    <a:bodyPr/>
                    <a:lstStyle/>
                    <a:p>
                      <a:pPr marL="0" algn="ctr" defTabSz="914400" rtl="0" eaLnBrk="1" latinLnBrk="0" hangingPunct="1">
                        <a:spcAft>
                          <a:spcPts val="0"/>
                        </a:spcAft>
                      </a:pPr>
                      <a:r>
                        <a:rPr lang="zh-CN" altLang="en-US" sz="2000" kern="100" dirty="0">
                          <a:effectLst/>
                          <a:latin typeface="+mj-ea"/>
                          <a:ea typeface="+mj-ea"/>
                        </a:rPr>
                        <a:t>属性</a:t>
                      </a:r>
                      <a:endParaRPr lang="zh-CN" altLang="en-US" sz="20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zh-CN" altLang="en-US" sz="2000" kern="100" dirty="0">
                          <a:effectLst/>
                          <a:latin typeface="+mj-ea"/>
                          <a:ea typeface="+mj-ea"/>
                        </a:rPr>
                        <a:t>类</a:t>
                      </a:r>
                      <a:r>
                        <a:rPr lang="en-US" sz="2000" kern="100" dirty="0">
                          <a:effectLst/>
                          <a:latin typeface="+mj-ea"/>
                          <a:ea typeface="+mj-ea"/>
                        </a:rPr>
                        <a:t>PC</a:t>
                      </a:r>
                      <a:r>
                        <a:rPr lang="zh-CN" altLang="en-US" sz="2000" kern="100" dirty="0">
                          <a:effectLst/>
                          <a:latin typeface="+mj-ea"/>
                          <a:ea typeface="+mj-ea"/>
                        </a:rPr>
                        <a:t>的嵌入式设备</a:t>
                      </a:r>
                    </a:p>
                    <a:p>
                      <a:pPr marL="0" algn="ctr" defTabSz="914400" rtl="0" eaLnBrk="1" latinLnBrk="0" hangingPunct="1">
                        <a:spcAft>
                          <a:spcPts val="0"/>
                        </a:spcAft>
                      </a:pPr>
                      <a:r>
                        <a:rPr lang="zh-CN" altLang="en-US" sz="2000" kern="100" dirty="0">
                          <a:effectLst/>
                          <a:latin typeface="+mj-ea"/>
                          <a:ea typeface="+mj-ea"/>
                        </a:rPr>
                        <a:t>≈</a:t>
                      </a:r>
                      <a:r>
                        <a:rPr lang="en-US" sz="2000" kern="100" dirty="0">
                          <a:effectLst/>
                          <a:latin typeface="+mj-ea"/>
                          <a:ea typeface="+mj-ea"/>
                        </a:rPr>
                        <a:t>1</a:t>
                      </a:r>
                      <a:r>
                        <a:rPr lang="zh-CN" altLang="en-US" sz="2000" kern="100" dirty="0">
                          <a:effectLst/>
                          <a:latin typeface="+mj-ea"/>
                          <a:ea typeface="+mj-ea"/>
                        </a:rPr>
                        <a:t>亿台</a:t>
                      </a:r>
                      <a:endParaRPr lang="zh-CN" altLang="en-US" sz="20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zh-CN" altLang="en-US" sz="2000" kern="100" dirty="0">
                          <a:effectLst/>
                          <a:latin typeface="+mj-ea"/>
                          <a:ea typeface="+mj-ea"/>
                        </a:rPr>
                        <a:t>智能物件</a:t>
                      </a:r>
                    </a:p>
                    <a:p>
                      <a:pPr marL="0" algn="ctr" defTabSz="914400" rtl="0" eaLnBrk="1" latinLnBrk="0" hangingPunct="1">
                        <a:spcAft>
                          <a:spcPts val="0"/>
                        </a:spcAft>
                      </a:pPr>
                      <a:r>
                        <a:rPr lang="zh-CN" altLang="en-US" sz="2000" kern="100" dirty="0">
                          <a:effectLst/>
                          <a:latin typeface="+mj-ea"/>
                          <a:ea typeface="+mj-ea"/>
                        </a:rPr>
                        <a:t>≈</a:t>
                      </a:r>
                      <a:r>
                        <a:rPr lang="en-US" sz="2000" kern="100" dirty="0">
                          <a:effectLst/>
                          <a:latin typeface="+mj-ea"/>
                          <a:ea typeface="+mj-ea"/>
                        </a:rPr>
                        <a:t>8</a:t>
                      </a:r>
                      <a:r>
                        <a:rPr lang="zh-CN" altLang="en-US" sz="2000" kern="100" dirty="0">
                          <a:effectLst/>
                          <a:latin typeface="+mj-ea"/>
                          <a:ea typeface="+mj-ea"/>
                        </a:rPr>
                        <a:t>亿台</a:t>
                      </a:r>
                      <a:endParaRPr lang="zh-CN" altLang="en-US" sz="20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zh-CN" altLang="en-US" sz="2000" kern="100" dirty="0">
                          <a:effectLst/>
                          <a:latin typeface="+mj-ea"/>
                          <a:ea typeface="+mj-ea"/>
                        </a:rPr>
                        <a:t>物件</a:t>
                      </a:r>
                    </a:p>
                    <a:p>
                      <a:pPr marL="0" algn="ctr" defTabSz="914400" rtl="0" eaLnBrk="1" latinLnBrk="0" hangingPunct="1">
                        <a:spcAft>
                          <a:spcPts val="0"/>
                        </a:spcAft>
                      </a:pPr>
                      <a:r>
                        <a:rPr lang="zh-CN" altLang="en-US" sz="2000" kern="100" dirty="0">
                          <a:effectLst/>
                          <a:latin typeface="+mj-ea"/>
                          <a:ea typeface="+mj-ea"/>
                        </a:rPr>
                        <a:t>≈</a:t>
                      </a:r>
                      <a:r>
                        <a:rPr lang="en-US" sz="2000" kern="100" dirty="0">
                          <a:effectLst/>
                          <a:latin typeface="+mj-ea"/>
                          <a:ea typeface="+mj-ea"/>
                        </a:rPr>
                        <a:t>90</a:t>
                      </a:r>
                      <a:r>
                        <a:rPr lang="zh-CN" altLang="en-US" sz="2000" kern="100" dirty="0">
                          <a:effectLst/>
                          <a:latin typeface="+mj-ea"/>
                          <a:ea typeface="+mj-ea"/>
                        </a:rPr>
                        <a:t>亿台</a:t>
                      </a:r>
                      <a:endParaRPr lang="zh-CN" altLang="en-US" sz="2000" b="1" kern="100" dirty="0">
                        <a:solidFill>
                          <a:schemeClr val="lt1"/>
                        </a:solidFill>
                        <a:effectLst/>
                        <a:latin typeface="+mj-ea"/>
                        <a:ea typeface="+mj-ea"/>
                        <a:cs typeface="+mn-cs"/>
                      </a:endParaRPr>
                    </a:p>
                  </a:txBody>
                  <a:tcPr marL="36195" marR="36195" marT="0" marB="0" anchor="ctr"/>
                </a:tc>
                <a:extLst>
                  <a:ext uri="{0D108BD9-81ED-4DB2-BD59-A6C34878D82A}">
                    <a16:rowId xmlns:a16="http://schemas.microsoft.com/office/drawing/2014/main" val="10000"/>
                  </a:ext>
                </a:extLst>
              </a:tr>
              <a:tr h="679444">
                <a:tc>
                  <a:txBody>
                    <a:bodyPr/>
                    <a:lstStyle/>
                    <a:p>
                      <a:pPr marL="0" algn="ctr" defTabSz="914400" rtl="0" eaLnBrk="1" latinLnBrk="0" hangingPunct="1">
                        <a:spcAft>
                          <a:spcPts val="0"/>
                        </a:spcAft>
                      </a:pPr>
                      <a:r>
                        <a:rPr lang="zh-CN" altLang="en-US" sz="2000" kern="100">
                          <a:effectLst/>
                          <a:latin typeface="+mj-ea"/>
                          <a:ea typeface="+mj-ea"/>
                        </a:rPr>
                        <a:t>典型处理器</a:t>
                      </a:r>
                      <a:endParaRPr lang="zh-CN" altLang="en-US" sz="2000" b="1" kern="10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Intel Core</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ARM Cortex-A7, Intel Atom</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MCU</a:t>
                      </a:r>
                      <a:endParaRPr lang="zh-CN" altLang="en-US" sz="20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0001"/>
                  </a:ext>
                </a:extLst>
              </a:tr>
              <a:tr h="1358890">
                <a:tc>
                  <a:txBody>
                    <a:bodyPr/>
                    <a:lstStyle/>
                    <a:p>
                      <a:pPr marL="0" algn="ctr" defTabSz="914400" rtl="0" eaLnBrk="1" latinLnBrk="0" hangingPunct="1">
                        <a:spcAft>
                          <a:spcPts val="0"/>
                        </a:spcAft>
                      </a:pPr>
                      <a:r>
                        <a:rPr lang="zh-CN" altLang="en-US" sz="2000" kern="100" dirty="0">
                          <a:effectLst/>
                          <a:latin typeface="+mj-ea"/>
                          <a:ea typeface="+mj-ea"/>
                        </a:rPr>
                        <a:t>典型操作系统</a:t>
                      </a:r>
                      <a:endParaRPr lang="zh-CN" altLang="en-US" sz="20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Windows Embedded, Linux</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Linux, Wind River, Android Things</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err="1">
                          <a:effectLst/>
                          <a:latin typeface="+mj-ea"/>
                          <a:ea typeface="+mj-ea"/>
                        </a:rPr>
                        <a:t>TinyOS</a:t>
                      </a:r>
                      <a:r>
                        <a:rPr lang="en-US" sz="2000" kern="100" dirty="0">
                          <a:effectLst/>
                          <a:latin typeface="+mj-ea"/>
                          <a:ea typeface="+mj-ea"/>
                        </a:rPr>
                        <a:t>, Contiki, </a:t>
                      </a:r>
                      <a:r>
                        <a:rPr lang="en-US" sz="2000" kern="100" dirty="0" err="1">
                          <a:effectLst/>
                          <a:latin typeface="+mj-ea"/>
                          <a:ea typeface="+mj-ea"/>
                        </a:rPr>
                        <a:t>LiteOS</a:t>
                      </a:r>
                      <a:r>
                        <a:rPr lang="en-US" sz="2000" kern="100" dirty="0">
                          <a:effectLst/>
                          <a:latin typeface="+mj-ea"/>
                          <a:ea typeface="+mj-ea"/>
                        </a:rPr>
                        <a:t>, </a:t>
                      </a:r>
                      <a:r>
                        <a:rPr lang="en-US" sz="2000" kern="100" dirty="0" err="1">
                          <a:effectLst/>
                          <a:latin typeface="+mj-ea"/>
                          <a:ea typeface="+mj-ea"/>
                        </a:rPr>
                        <a:t>AliOS</a:t>
                      </a:r>
                      <a:r>
                        <a:rPr lang="en-US" sz="2000" kern="100" dirty="0">
                          <a:effectLst/>
                          <a:latin typeface="+mj-ea"/>
                          <a:ea typeface="+mj-ea"/>
                        </a:rPr>
                        <a:t> Things</a:t>
                      </a:r>
                      <a:endParaRPr lang="zh-CN" altLang="en-US" sz="20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0002"/>
                  </a:ext>
                </a:extLst>
              </a:tr>
              <a:tr h="679444">
                <a:tc>
                  <a:txBody>
                    <a:bodyPr/>
                    <a:lstStyle/>
                    <a:p>
                      <a:pPr marL="0" algn="ctr" defTabSz="914400" rtl="0" eaLnBrk="1" latinLnBrk="0" hangingPunct="1">
                        <a:spcAft>
                          <a:spcPts val="0"/>
                        </a:spcAft>
                      </a:pPr>
                      <a:r>
                        <a:rPr lang="zh-CN" altLang="en-US" sz="2000" kern="100" dirty="0">
                          <a:effectLst/>
                          <a:latin typeface="+mj-ea"/>
                          <a:ea typeface="+mj-ea"/>
                        </a:rPr>
                        <a:t>典型运行环境</a:t>
                      </a:r>
                      <a:endParaRPr lang="zh-CN" altLang="en-US" sz="20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Win32, Linux</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Node.js, Python, C APIs</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en-US" sz="2000" kern="100" dirty="0">
                          <a:effectLst/>
                          <a:latin typeface="+mj-ea"/>
                          <a:ea typeface="+mj-ea"/>
                        </a:rPr>
                        <a:t>C APIs</a:t>
                      </a:r>
                      <a:endParaRPr lang="zh-CN" altLang="en-US" sz="20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0003"/>
                  </a:ext>
                </a:extLst>
              </a:tr>
              <a:tr h="952802">
                <a:tc>
                  <a:txBody>
                    <a:bodyPr/>
                    <a:lstStyle/>
                    <a:p>
                      <a:pPr marL="0" algn="ctr" defTabSz="914400" rtl="0" eaLnBrk="1" latinLnBrk="0" hangingPunct="1">
                        <a:spcAft>
                          <a:spcPts val="0"/>
                        </a:spcAft>
                      </a:pPr>
                      <a:r>
                        <a:rPr lang="zh-CN" altLang="en-US" sz="2000" kern="100" dirty="0">
                          <a:effectLst/>
                          <a:latin typeface="+mj-ea"/>
                          <a:ea typeface="+mj-ea"/>
                        </a:rPr>
                        <a:t>典型设备</a:t>
                      </a:r>
                      <a:endParaRPr lang="zh-CN" altLang="en-US" sz="20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zh-CN" altLang="en-US" sz="2000" kern="100" dirty="0">
                          <a:effectLst/>
                          <a:latin typeface="+mj-ea"/>
                          <a:ea typeface="+mj-ea"/>
                        </a:rPr>
                        <a:t>自动取款机、零售服务点</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zh-CN" altLang="en-US" sz="2000" kern="100" dirty="0">
                          <a:effectLst/>
                          <a:latin typeface="+mj-ea"/>
                          <a:ea typeface="+mj-ea"/>
                        </a:rPr>
                        <a:t>可编程逻辑控制器、边缘网关</a:t>
                      </a:r>
                      <a:endParaRPr lang="zh-CN" altLang="en-US" sz="20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spcAft>
                          <a:spcPts val="0"/>
                        </a:spcAft>
                      </a:pPr>
                      <a:r>
                        <a:rPr lang="zh-CN" altLang="en-US" sz="2000" kern="100" dirty="0">
                          <a:effectLst/>
                          <a:latin typeface="+mj-ea"/>
                          <a:ea typeface="+mj-ea"/>
                        </a:rPr>
                        <a:t>温度传感器、</a:t>
                      </a:r>
                    </a:p>
                    <a:p>
                      <a:pPr marL="0" algn="ctr" defTabSz="914400" rtl="0" eaLnBrk="1" latinLnBrk="0" hangingPunct="1">
                        <a:spcAft>
                          <a:spcPts val="0"/>
                        </a:spcAft>
                      </a:pPr>
                      <a:r>
                        <a:rPr lang="zh-CN" altLang="en-US" sz="2000" kern="100" dirty="0">
                          <a:effectLst/>
                          <a:latin typeface="+mj-ea"/>
                          <a:ea typeface="+mj-ea"/>
                        </a:rPr>
                        <a:t>智能灯泡</a:t>
                      </a:r>
                      <a:endParaRPr lang="zh-CN" altLang="en-US" sz="20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707100897"/>
                  </a:ext>
                </a:extLst>
              </a:tr>
            </a:tbl>
          </a:graphicData>
        </a:graphic>
      </p:graphicFrame>
      <p:sp>
        <p:nvSpPr>
          <p:cNvPr id="7" name="灯片编号占位符 4">
            <a:extLst>
              <a:ext uri="{FF2B5EF4-FFF2-40B4-BE49-F238E27FC236}">
                <a16:creationId xmlns:a16="http://schemas.microsoft.com/office/drawing/2014/main" id="{9C58BDE0-7147-4BDF-A679-25DBDE3295E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硬件平台的组成</a:t>
            </a:r>
            <a:endParaRPr lang="zh-CN" altLang="en-US" dirty="0"/>
          </a:p>
        </p:txBody>
      </p:sp>
      <p:sp>
        <p:nvSpPr>
          <p:cNvPr id="3" name="内容占位符 2"/>
          <p:cNvSpPr>
            <a:spLocks noGrp="1"/>
          </p:cNvSpPr>
          <p:nvPr>
            <p:ph idx="1"/>
          </p:nvPr>
        </p:nvSpPr>
        <p:spPr/>
        <p:txBody>
          <a:bodyPr/>
          <a:lstStyle/>
          <a:p>
            <a:r>
              <a:rPr lang="zh-CN" altLang="en-US"/>
              <a:t>狭义的</a:t>
            </a:r>
            <a:r>
              <a:rPr lang="zh-CN" altLang="zh-CN"/>
              <a:t>硬件平台</a:t>
            </a:r>
            <a:r>
              <a:rPr lang="zh-CN" altLang="en-US"/>
              <a:t>：开发板（</a:t>
            </a:r>
            <a:r>
              <a:rPr lang="en-US" altLang="zh-CN"/>
              <a:t>PCB</a:t>
            </a:r>
            <a:r>
              <a:rPr lang="zh-CN" altLang="en-US"/>
              <a:t>、</a:t>
            </a:r>
            <a:r>
              <a:rPr lang="en-US" altLang="zh-CN"/>
              <a:t>SoC</a:t>
            </a:r>
            <a:r>
              <a:rPr lang="zh-CN" altLang="en-US"/>
              <a:t>）</a:t>
            </a:r>
            <a:endParaRPr lang="en-US" altLang="zh-CN"/>
          </a:p>
          <a:p>
            <a:r>
              <a:rPr lang="zh-CN" altLang="en-US"/>
              <a:t>广义的</a:t>
            </a:r>
            <a:r>
              <a:rPr lang="zh-CN" altLang="zh-CN"/>
              <a:t>硬件平台</a:t>
            </a:r>
            <a:r>
              <a:rPr lang="zh-CN" altLang="en-US"/>
              <a:t>：开发板（</a:t>
            </a:r>
            <a:r>
              <a:rPr lang="en-US" altLang="zh-CN"/>
              <a:t>PCB</a:t>
            </a:r>
            <a:r>
              <a:rPr lang="zh-CN" altLang="en-US"/>
              <a:t>、</a:t>
            </a:r>
            <a:r>
              <a:rPr lang="en-US" altLang="zh-CN"/>
              <a:t>SoC</a:t>
            </a:r>
            <a:r>
              <a:rPr lang="zh-CN" altLang="en-US"/>
              <a:t>）</a:t>
            </a:r>
            <a:r>
              <a:rPr lang="en-US" altLang="zh-CN"/>
              <a:t>+</a:t>
            </a:r>
            <a:r>
              <a:rPr lang="zh-CN" altLang="zh-CN"/>
              <a:t>外接传感设备或通信模块</a:t>
            </a:r>
            <a:endParaRPr lang="zh-CN" altLang="zh-CN" dirty="0"/>
          </a:p>
        </p:txBody>
      </p:sp>
      <p:pic>
        <p:nvPicPr>
          <p:cNvPr id="5" name="图片 4" descr="2-3"/>
          <p:cNvPicPr/>
          <p:nvPr/>
        </p:nvPicPr>
        <p:blipFill>
          <a:blip r:embed="rId3"/>
          <a:stretch>
            <a:fillRect/>
          </a:stretch>
        </p:blipFill>
        <p:spPr>
          <a:xfrm>
            <a:off x="1599898" y="2636854"/>
            <a:ext cx="5944205" cy="3714362"/>
          </a:xfrm>
          <a:prstGeom prst="rect">
            <a:avLst/>
          </a:prstGeom>
        </p:spPr>
      </p:pic>
      <p:sp>
        <p:nvSpPr>
          <p:cNvPr id="7" name="灯片编号占位符 4">
            <a:extLst>
              <a:ext uri="{FF2B5EF4-FFF2-40B4-BE49-F238E27FC236}">
                <a16:creationId xmlns:a16="http://schemas.microsoft.com/office/drawing/2014/main" id="{6712DB6E-944B-483F-A2CC-23D493FBFD7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目录</a:t>
            </a:r>
            <a:endParaRPr lang="zh-CN" altLang="en-US" dirty="0"/>
          </a:p>
        </p:txBody>
      </p:sp>
      <p:sp>
        <p:nvSpPr>
          <p:cNvPr id="5" name="内容占位符 2"/>
          <p:cNvSpPr>
            <a:spLocks noGrp="1"/>
          </p:cNvSpPr>
          <p:nvPr>
            <p:ph idx="4294967295"/>
          </p:nvPr>
        </p:nvSpPr>
        <p:spPr>
          <a:xfrm>
            <a:off x="457200" y="990600"/>
            <a:ext cx="8305800" cy="5410200"/>
          </a:xfrm>
        </p:spPr>
        <p:txBody>
          <a:bodyPr/>
          <a:lstStyle/>
          <a:p>
            <a:endParaRPr lang="zh-CN" altLang="en-US" sz="2800" dirty="0"/>
          </a:p>
          <a:p>
            <a:r>
              <a:rPr lang="zh-CN" altLang="en-US" sz="2800" dirty="0">
                <a:sym typeface="+mn-ea"/>
              </a:rPr>
              <a:t>概述</a:t>
            </a:r>
            <a:endParaRPr lang="zh-CN" altLang="en-US" sz="2800" dirty="0"/>
          </a:p>
          <a:p>
            <a:r>
              <a:rPr lang="zh-CN" altLang="en-US" sz="2800" dirty="0">
                <a:solidFill>
                  <a:srgbClr val="C00000"/>
                </a:solidFill>
                <a:sym typeface="+mn-ea"/>
              </a:rPr>
              <a:t>关键特性</a:t>
            </a:r>
            <a:endParaRPr lang="zh-CN" altLang="en-US" sz="2800" dirty="0">
              <a:solidFill>
                <a:srgbClr val="C00000"/>
              </a:solidFill>
            </a:endParaRPr>
          </a:p>
          <a:p>
            <a:r>
              <a:rPr lang="zh-CN" altLang="en-US" sz="2800" dirty="0">
                <a:sym typeface="+mn-ea"/>
              </a:rPr>
              <a:t>常见的硬件平台</a:t>
            </a:r>
            <a:endParaRPr lang="zh-CN" altLang="en-US" sz="2800" dirty="0"/>
          </a:p>
          <a:p>
            <a:r>
              <a:rPr lang="zh-CN" altLang="en-US" sz="2800" dirty="0">
                <a:sym typeface="+mn-ea"/>
              </a:rPr>
              <a:t>案例开发</a:t>
            </a:r>
            <a:endParaRPr lang="zh-CN" altLang="en-US" sz="2800" dirty="0"/>
          </a:p>
          <a:p>
            <a:r>
              <a:rPr lang="zh-CN" altLang="en-US" sz="2800" dirty="0">
                <a:sym typeface="+mn-ea"/>
              </a:rPr>
              <a:t>学术研究进展</a:t>
            </a:r>
            <a:endParaRPr lang="zh-CN" altLang="en-US" sz="2800" dirty="0"/>
          </a:p>
        </p:txBody>
      </p:sp>
    </p:spTree>
    <p:extLst>
      <p:ext uri="{BB962C8B-B14F-4D97-AF65-F5344CB8AC3E}">
        <p14:creationId xmlns:p14="http://schemas.microsoft.com/office/powerpoint/2010/main" val="163196472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7D194D-EA81-4DFC-A77B-149E30B89613}"/>
              </a:ext>
            </a:extLst>
          </p:cNvPr>
          <p:cNvSpPr>
            <a:spLocks noGrp="1"/>
          </p:cNvSpPr>
          <p:nvPr>
            <p:ph type="title"/>
          </p:nvPr>
        </p:nvSpPr>
        <p:spPr/>
        <p:txBody>
          <a:bodyPr/>
          <a:lstStyle/>
          <a:p>
            <a:r>
              <a:rPr lang="zh-CN" altLang="en-US" dirty="0"/>
              <a:t>关键特性</a:t>
            </a:r>
          </a:p>
        </p:txBody>
      </p:sp>
      <p:sp>
        <p:nvSpPr>
          <p:cNvPr id="3" name="内容占位符 2">
            <a:extLst>
              <a:ext uri="{FF2B5EF4-FFF2-40B4-BE49-F238E27FC236}">
                <a16:creationId xmlns:a16="http://schemas.microsoft.com/office/drawing/2014/main" id="{E3C212BE-740B-4B8C-BAB8-AF58538907B2}"/>
              </a:ext>
            </a:extLst>
          </p:cNvPr>
          <p:cNvSpPr>
            <a:spLocks noGrp="1"/>
          </p:cNvSpPr>
          <p:nvPr>
            <p:ph idx="1"/>
          </p:nvPr>
        </p:nvSpPr>
        <p:spPr/>
        <p:txBody>
          <a:bodyPr/>
          <a:lstStyle/>
          <a:p>
            <a:endParaRPr lang="en-US" altLang="zh-CN" dirty="0"/>
          </a:p>
          <a:p>
            <a:r>
              <a:rPr lang="zh-CN" altLang="en-US" dirty="0"/>
              <a:t>低成本与微型化</a:t>
            </a:r>
            <a:endParaRPr lang="en-US" altLang="zh-CN" dirty="0"/>
          </a:p>
          <a:p>
            <a:r>
              <a:rPr lang="zh-CN" altLang="en-US" dirty="0"/>
              <a:t>能耗</a:t>
            </a:r>
            <a:endParaRPr lang="en-US" altLang="zh-CN" dirty="0"/>
          </a:p>
          <a:p>
            <a:r>
              <a:rPr lang="zh-CN" altLang="en-US" dirty="0"/>
              <a:t>运算速度和内存大小</a:t>
            </a:r>
            <a:endParaRPr lang="en-US" altLang="zh-CN" dirty="0"/>
          </a:p>
          <a:p>
            <a:r>
              <a:rPr lang="zh-CN" altLang="en-US" dirty="0"/>
              <a:t>接口类型</a:t>
            </a:r>
            <a:endParaRPr lang="en-US" altLang="zh-CN" dirty="0"/>
          </a:p>
          <a:p>
            <a:pPr lvl="1"/>
            <a:r>
              <a:rPr lang="zh-CN" altLang="en-US" dirty="0"/>
              <a:t>物理接口</a:t>
            </a:r>
            <a:endParaRPr lang="en-US" altLang="zh-CN" dirty="0"/>
          </a:p>
          <a:p>
            <a:pPr lvl="1"/>
            <a:r>
              <a:rPr lang="zh-CN" altLang="en-US" dirty="0"/>
              <a:t>通信协议</a:t>
            </a:r>
            <a:endParaRPr lang="en-US" altLang="zh-CN" dirty="0"/>
          </a:p>
          <a:p>
            <a:pPr lvl="1"/>
            <a:r>
              <a:rPr lang="zh-CN" altLang="en-US" dirty="0"/>
              <a:t>可扩展性</a:t>
            </a:r>
          </a:p>
        </p:txBody>
      </p:sp>
    </p:spTree>
    <p:extLst>
      <p:ext uri="{BB962C8B-B14F-4D97-AF65-F5344CB8AC3E}">
        <p14:creationId xmlns:p14="http://schemas.microsoft.com/office/powerpoint/2010/main" val="260594336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9E32E-B6D3-43EC-ADCF-0DBA07420479}"/>
              </a:ext>
            </a:extLst>
          </p:cNvPr>
          <p:cNvSpPr>
            <a:spLocks noGrp="1"/>
          </p:cNvSpPr>
          <p:nvPr>
            <p:ph type="title"/>
          </p:nvPr>
        </p:nvSpPr>
        <p:spPr>
          <a:xfrm>
            <a:off x="393700" y="38100"/>
            <a:ext cx="8242300" cy="914400"/>
          </a:xfrm>
        </p:spPr>
        <p:txBody>
          <a:bodyPr/>
          <a:lstStyle/>
          <a:p>
            <a:r>
              <a:rPr lang="zh-CN" altLang="en-US" dirty="0"/>
              <a:t>低成本与微型化</a:t>
            </a:r>
          </a:p>
        </p:txBody>
      </p:sp>
      <p:sp>
        <p:nvSpPr>
          <p:cNvPr id="3" name="内容占位符 2">
            <a:extLst>
              <a:ext uri="{FF2B5EF4-FFF2-40B4-BE49-F238E27FC236}">
                <a16:creationId xmlns:a16="http://schemas.microsoft.com/office/drawing/2014/main" id="{1C5AAE9B-35E7-4BC2-90F8-BF5DF42F4CF6}"/>
              </a:ext>
            </a:extLst>
          </p:cNvPr>
          <p:cNvSpPr>
            <a:spLocks noGrp="1"/>
          </p:cNvSpPr>
          <p:nvPr>
            <p:ph idx="4294967295"/>
          </p:nvPr>
        </p:nvSpPr>
        <p:spPr>
          <a:xfrm>
            <a:off x="457200" y="990600"/>
            <a:ext cx="8305800" cy="5410200"/>
          </a:xfrm>
        </p:spPr>
        <p:txBody>
          <a:bodyPr/>
          <a:lstStyle/>
          <a:p>
            <a:r>
              <a:rPr lang="zh-CN" altLang="en-US" dirty="0"/>
              <a:t>节点价格低廉，微型化 </a:t>
            </a:r>
            <a:r>
              <a:rPr lang="en-US" altLang="zh-CN" dirty="0">
                <a:sym typeface="Wingdings" panose="05000000000000000000" pitchFamily="2" charset="2"/>
              </a:rPr>
              <a:t> </a:t>
            </a:r>
            <a:r>
              <a:rPr lang="zh-CN" altLang="en-US" dirty="0">
                <a:sym typeface="Wingdings" panose="05000000000000000000" pitchFamily="2" charset="2"/>
              </a:rPr>
              <a:t>更高的部署密度，更好的感知效果</a:t>
            </a:r>
            <a:endParaRPr lang="zh-CN" altLang="en-US" dirty="0"/>
          </a:p>
          <a:p>
            <a:endParaRPr lang="zh-CN" altLang="en-US" dirty="0"/>
          </a:p>
        </p:txBody>
      </p:sp>
      <p:sp>
        <p:nvSpPr>
          <p:cNvPr id="5" name="内容占位符 2">
            <a:extLst>
              <a:ext uri="{FF2B5EF4-FFF2-40B4-BE49-F238E27FC236}">
                <a16:creationId xmlns:a16="http://schemas.microsoft.com/office/drawing/2014/main" id="{8F4AFFF7-4122-4A4D-9F34-36CB863D9264}"/>
              </a:ext>
            </a:extLst>
          </p:cNvPr>
          <p:cNvSpPr txBox="1"/>
          <p:nvPr/>
        </p:nvSpPr>
        <p:spPr bwMode="auto">
          <a:xfrm>
            <a:off x="4376022" y="1716816"/>
            <a:ext cx="8305800" cy="541606"/>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accent2"/>
              </a:buClr>
              <a:buFont typeface="Wingdings" panose="05000000000000000000" pitchFamily="2" charset="2"/>
              <a:buChar char="q"/>
              <a:defRPr lang="zh-CN" altLang="en-US" sz="2400" b="1" baseline="0" dirty="0" smtClean="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Ø"/>
              <a:defRPr sz="2400" b="1" baseline="0">
                <a:solidFill>
                  <a:srgbClr val="000066"/>
                </a:solidFill>
                <a:effectLst>
                  <a:outerShdw blurRad="38100" dist="38100" dir="2700000" algn="tl">
                    <a:srgbClr val="C0C0C0"/>
                  </a:outerShdw>
                </a:effectLst>
                <a:latin typeface="Garamond" panose="02020404030301010803" pitchFamily="18" charset="0"/>
              </a:defRPr>
            </a:lvl2pPr>
            <a:lvl3pPr marL="1143000" indent="-228600" algn="l" rtl="0" eaLnBrk="0" fontAlgn="base" hangingPunct="0">
              <a:spcBef>
                <a:spcPct val="20000"/>
              </a:spcBef>
              <a:spcAft>
                <a:spcPct val="0"/>
              </a:spcAft>
              <a:buClr>
                <a:schemeClr val="accent2"/>
              </a:buClr>
              <a:buFont typeface="Times New Roman" panose="02020603050405020304" pitchFamily="18" charset="0"/>
              <a:buChar char="–"/>
              <a:defRPr sz="2000" b="1" i="1" baseline="0">
                <a:solidFill>
                  <a:srgbClr val="5F5F5F"/>
                </a:solidFill>
                <a:latin typeface="Times New Roman" panose="02020603050405020304" pitchFamily="18" charset="0"/>
              </a:defRPr>
            </a:lvl3pPr>
            <a:lvl4pPr marL="1600200" indent="-228600" algn="l" rtl="0" eaLnBrk="0" fontAlgn="base" hangingPunct="0">
              <a:spcBef>
                <a:spcPct val="20000"/>
              </a:spcBef>
              <a:spcAft>
                <a:spcPct val="0"/>
              </a:spcAft>
              <a:buClr>
                <a:schemeClr val="accent2"/>
              </a:buClr>
              <a:buSzPct val="100000"/>
              <a:buChar char="o"/>
              <a:defRPr sz="2000" baseline="0">
                <a:solidFill>
                  <a:srgbClr val="FF0000"/>
                </a:solidFill>
                <a:latin typeface="+mn-lt"/>
              </a:defRPr>
            </a:lvl4pPr>
            <a:lvl5pPr marL="2057400" indent="-228600" algn="l" rtl="0" eaLnBrk="0" fontAlgn="base" hangingPunct="0">
              <a:spcBef>
                <a:spcPct val="20000"/>
              </a:spcBef>
              <a:spcAft>
                <a:spcPct val="0"/>
              </a:spcAft>
              <a:buClr>
                <a:schemeClr val="accent2"/>
              </a:buClr>
              <a:buSzPct val="100000"/>
              <a:buFont typeface="Wingdings" panose="05000000000000000000" pitchFamily="2" charset="2"/>
              <a:buChar char="ü"/>
              <a:defRPr sz="1600" b="1" i="1" baseline="0">
                <a:solidFill>
                  <a:srgbClr val="660066"/>
                </a:solidFill>
                <a:latin typeface="+mn-lt"/>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pPr marL="0" indent="0">
              <a:buNone/>
            </a:pPr>
            <a:r>
              <a:rPr lang="zh-CN" altLang="en-US" sz="2000" b="0" kern="0" dirty="0"/>
              <a:t>*价格参考</a:t>
            </a:r>
            <a:r>
              <a:rPr lang="en-US" altLang="zh-CN" sz="2000" b="0" kern="0" dirty="0"/>
              <a:t>2022</a:t>
            </a:r>
            <a:r>
              <a:rPr lang="zh-CN" altLang="en-US" sz="2000" b="0" kern="0" dirty="0"/>
              <a:t>年</a:t>
            </a:r>
            <a:r>
              <a:rPr lang="en-US" altLang="zh-CN" sz="2000" b="0" kern="0" dirty="0"/>
              <a:t>3</a:t>
            </a:r>
            <a:r>
              <a:rPr lang="zh-CN" altLang="en-US" sz="2000" b="0" kern="0" dirty="0"/>
              <a:t>月淘宝平台售价</a:t>
            </a:r>
          </a:p>
        </p:txBody>
      </p:sp>
      <p:sp>
        <p:nvSpPr>
          <p:cNvPr id="6" name="灯片编号占位符 4">
            <a:extLst>
              <a:ext uri="{FF2B5EF4-FFF2-40B4-BE49-F238E27FC236}">
                <a16:creationId xmlns:a16="http://schemas.microsoft.com/office/drawing/2014/main" id="{1514FACA-3B27-4B65-9849-682549FD591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10</a:t>
            </a:fld>
            <a:endParaRPr lang="zh-CN" altLang="zh-CN" sz="1800" baseline="0" dirty="0">
              <a:solidFill>
                <a:schemeClr val="folHlink"/>
              </a:solidFill>
              <a:latin typeface="Monotype Corsiva" panose="03010101010201010101" pitchFamily="66" charset="0"/>
            </a:endParaRPr>
          </a:p>
        </p:txBody>
      </p:sp>
      <p:graphicFrame>
        <p:nvGraphicFramePr>
          <p:cNvPr id="8" name="表格 7">
            <a:extLst>
              <a:ext uri="{FF2B5EF4-FFF2-40B4-BE49-F238E27FC236}">
                <a16:creationId xmlns:a16="http://schemas.microsoft.com/office/drawing/2014/main" id="{2FCFEAE2-00D2-4320-BBA1-D85B9D239672}"/>
              </a:ext>
            </a:extLst>
          </p:cNvPr>
          <p:cNvGraphicFramePr>
            <a:graphicFrameLocks noGrp="1"/>
          </p:cNvGraphicFramePr>
          <p:nvPr>
            <p:extLst>
              <p:ext uri="{D42A27DB-BD31-4B8C-83A1-F6EECF244321}">
                <p14:modId xmlns:p14="http://schemas.microsoft.com/office/powerpoint/2010/main" val="3418544061"/>
              </p:ext>
            </p:extLst>
          </p:nvPr>
        </p:nvGraphicFramePr>
        <p:xfrm>
          <a:off x="381000" y="2077402"/>
          <a:ext cx="8255000" cy="4361497"/>
        </p:xfrm>
        <a:graphic>
          <a:graphicData uri="http://schemas.openxmlformats.org/drawingml/2006/table">
            <a:tbl>
              <a:tblPr firstRow="1" firstCol="1" bandRow="1">
                <a:tableStyleId>{93296810-A885-4BE3-A3E7-6D5BEEA58F35}</a:tableStyleId>
              </a:tblPr>
              <a:tblGrid>
                <a:gridCol w="1679382">
                  <a:extLst>
                    <a:ext uri="{9D8B030D-6E8A-4147-A177-3AD203B41FA5}">
                      <a16:colId xmlns:a16="http://schemas.microsoft.com/office/drawing/2014/main" val="3498294901"/>
                    </a:ext>
                  </a:extLst>
                </a:gridCol>
                <a:gridCol w="1461722">
                  <a:extLst>
                    <a:ext uri="{9D8B030D-6E8A-4147-A177-3AD203B41FA5}">
                      <a16:colId xmlns:a16="http://schemas.microsoft.com/office/drawing/2014/main" val="2089563540"/>
                    </a:ext>
                  </a:extLst>
                </a:gridCol>
                <a:gridCol w="1824486">
                  <a:extLst>
                    <a:ext uri="{9D8B030D-6E8A-4147-A177-3AD203B41FA5}">
                      <a16:colId xmlns:a16="http://schemas.microsoft.com/office/drawing/2014/main" val="2891758605"/>
                    </a:ext>
                  </a:extLst>
                </a:gridCol>
                <a:gridCol w="3289410">
                  <a:extLst>
                    <a:ext uri="{9D8B030D-6E8A-4147-A177-3AD203B41FA5}">
                      <a16:colId xmlns:a16="http://schemas.microsoft.com/office/drawing/2014/main" val="3353642427"/>
                    </a:ext>
                  </a:extLst>
                </a:gridCol>
              </a:tblGrid>
              <a:tr h="607866">
                <a:tc rowSpan="2">
                  <a:txBody>
                    <a:bodyPr/>
                    <a:lstStyle/>
                    <a:p>
                      <a:pPr algn="ctr">
                        <a:spcAft>
                          <a:spcPts val="0"/>
                        </a:spcAft>
                      </a:pPr>
                      <a:r>
                        <a:rPr lang="zh-CN" sz="2000" kern="500">
                          <a:effectLst/>
                          <a:latin typeface="+mj-ea"/>
                          <a:ea typeface="+mj-ea"/>
                        </a:rPr>
                        <a:t>开发板</a:t>
                      </a:r>
                      <a:endParaRPr lang="zh-CN" sz="2000" kern="750">
                        <a:effectLst/>
                        <a:latin typeface="+mj-ea"/>
                        <a:ea typeface="+mj-ea"/>
                        <a:cs typeface="Courier New" panose="02070309020205020404" pitchFamily="49" charset="0"/>
                      </a:endParaRPr>
                    </a:p>
                  </a:txBody>
                  <a:tcPr marL="68580" marR="68580" marT="0" marB="0" anchor="ctr"/>
                </a:tc>
                <a:tc gridSpan="3">
                  <a:txBody>
                    <a:bodyPr/>
                    <a:lstStyle/>
                    <a:p>
                      <a:pPr algn="ctr">
                        <a:spcAft>
                          <a:spcPts val="0"/>
                        </a:spcAft>
                      </a:pPr>
                      <a:r>
                        <a:rPr lang="zh-CN" sz="2000" kern="500">
                          <a:effectLst/>
                          <a:latin typeface="+mj-ea"/>
                          <a:ea typeface="+mj-ea"/>
                        </a:rPr>
                        <a:t>属性</a:t>
                      </a:r>
                      <a:endParaRPr lang="zh-CN" sz="2000" kern="750">
                        <a:effectLst/>
                        <a:latin typeface="+mj-ea"/>
                        <a:ea typeface="+mj-ea"/>
                        <a:cs typeface="Courier New" panose="02070309020205020404" pitchFamily="49"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38875973"/>
                  </a:ext>
                </a:extLst>
              </a:tr>
              <a:tr h="631518">
                <a:tc vMerge="1">
                  <a:txBody>
                    <a:bodyPr/>
                    <a:lstStyle/>
                    <a:p>
                      <a:endParaRPr lang="zh-CN" altLang="en-US"/>
                    </a:p>
                  </a:txBody>
                  <a:tcPr/>
                </a:tc>
                <a:tc>
                  <a:txBody>
                    <a:bodyPr/>
                    <a:lstStyle/>
                    <a:p>
                      <a:pPr algn="ctr">
                        <a:spcAft>
                          <a:spcPts val="0"/>
                        </a:spcAft>
                      </a:pPr>
                      <a:r>
                        <a:rPr lang="zh-CN" sz="2000" kern="500">
                          <a:effectLst/>
                          <a:latin typeface="+mj-ea"/>
                          <a:ea typeface="+mj-ea"/>
                        </a:rPr>
                        <a:t>价格</a:t>
                      </a:r>
                      <a:r>
                        <a:rPr lang="en-US" sz="2000" kern="500">
                          <a:effectLst/>
                          <a:latin typeface="+mj-ea"/>
                          <a:ea typeface="+mj-ea"/>
                        </a:rPr>
                        <a:t>/</a:t>
                      </a:r>
                      <a:r>
                        <a:rPr lang="zh-CN" sz="2000" kern="500">
                          <a:effectLst/>
                          <a:latin typeface="+mj-ea"/>
                          <a:ea typeface="+mj-ea"/>
                        </a:rPr>
                        <a:t>元</a:t>
                      </a:r>
                      <a:endParaRPr lang="zh-CN" sz="2000" kern="750">
                        <a:effectLst/>
                        <a:latin typeface="+mj-ea"/>
                        <a:ea typeface="+mj-ea"/>
                        <a:cs typeface="Courier New" panose="02070309020205020404" pitchFamily="49" charset="0"/>
                      </a:endParaRPr>
                    </a:p>
                  </a:txBody>
                  <a:tcPr marL="68580" marR="68580" marT="0" marB="0" anchor="ctr"/>
                </a:tc>
                <a:tc gridSpan="2">
                  <a:txBody>
                    <a:bodyPr/>
                    <a:lstStyle/>
                    <a:p>
                      <a:pPr algn="ctr">
                        <a:spcAft>
                          <a:spcPts val="0"/>
                        </a:spcAft>
                      </a:pPr>
                      <a:r>
                        <a:rPr lang="zh-CN" sz="2000" kern="500">
                          <a:effectLst/>
                          <a:latin typeface="+mj-ea"/>
                          <a:ea typeface="+mj-ea"/>
                        </a:rPr>
                        <a:t>尺寸</a:t>
                      </a:r>
                      <a:r>
                        <a:rPr lang="en-US" sz="2000" kern="500">
                          <a:effectLst/>
                          <a:latin typeface="+mj-ea"/>
                          <a:ea typeface="+mj-ea"/>
                        </a:rPr>
                        <a:t>/</a:t>
                      </a:r>
                      <a:r>
                        <a:rPr lang="zh-CN" sz="2000" kern="500">
                          <a:effectLst/>
                          <a:latin typeface="+mj-ea"/>
                          <a:ea typeface="+mj-ea"/>
                        </a:rPr>
                        <a:t>（</a:t>
                      </a:r>
                      <a:r>
                        <a:rPr lang="en-US" sz="2000" kern="500">
                          <a:effectLst/>
                          <a:latin typeface="+mj-ea"/>
                          <a:ea typeface="+mj-ea"/>
                        </a:rPr>
                        <a:t>mm×mm</a:t>
                      </a:r>
                      <a:r>
                        <a:rPr lang="zh-CN" sz="2000" kern="500">
                          <a:effectLst/>
                          <a:latin typeface="+mj-ea"/>
                          <a:ea typeface="+mj-ea"/>
                        </a:rPr>
                        <a:t>）（长</a:t>
                      </a:r>
                      <a:r>
                        <a:rPr lang="en-US" sz="2000" kern="500">
                          <a:effectLst/>
                          <a:latin typeface="+mj-ea"/>
                          <a:ea typeface="+mj-ea"/>
                        </a:rPr>
                        <a:t>×</a:t>
                      </a:r>
                      <a:r>
                        <a:rPr lang="zh-CN" sz="2000" kern="500">
                          <a:effectLst/>
                          <a:latin typeface="+mj-ea"/>
                          <a:ea typeface="+mj-ea"/>
                        </a:rPr>
                        <a:t>宽）</a:t>
                      </a:r>
                      <a:endParaRPr lang="zh-CN" sz="2000" kern="750">
                        <a:effectLst/>
                        <a:latin typeface="+mj-ea"/>
                        <a:ea typeface="+mj-ea"/>
                        <a:cs typeface="Courier New" panose="02070309020205020404" pitchFamily="49" charset="0"/>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1615824348"/>
                  </a:ext>
                </a:extLst>
              </a:tr>
              <a:tr h="605501">
                <a:tc>
                  <a:txBody>
                    <a:bodyPr/>
                    <a:lstStyle/>
                    <a:p>
                      <a:pPr algn="ctr">
                        <a:spcAft>
                          <a:spcPts val="0"/>
                        </a:spcAft>
                      </a:pPr>
                      <a:r>
                        <a:rPr lang="en-US" sz="2000" kern="500">
                          <a:effectLst/>
                          <a:latin typeface="+mj-ea"/>
                          <a:ea typeface="+mj-ea"/>
                        </a:rPr>
                        <a:t>TelosB</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850</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63.75×32</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endParaRPr lang="en-US" sz="2000" kern="500">
                        <a:solidFill>
                          <a:srgbClr val="000000"/>
                        </a:solidFill>
                        <a:effectLst/>
                        <a:latin typeface="+mj-ea"/>
                        <a:ea typeface="+mj-ea"/>
                        <a:cs typeface="Courier New" panose="02070309020205020404" pitchFamily="49" charset="0"/>
                      </a:endParaRPr>
                    </a:p>
                  </a:txBody>
                  <a:tcPr marL="68580" marR="68580" marT="0" marB="0"/>
                </a:tc>
                <a:extLst>
                  <a:ext uri="{0D108BD9-81ED-4DB2-BD59-A6C34878D82A}">
                    <a16:rowId xmlns:a16="http://schemas.microsoft.com/office/drawing/2014/main" val="1939802883"/>
                  </a:ext>
                </a:extLst>
              </a:tr>
              <a:tr h="629153">
                <a:tc>
                  <a:txBody>
                    <a:bodyPr/>
                    <a:lstStyle/>
                    <a:p>
                      <a:pPr algn="ctr">
                        <a:spcAft>
                          <a:spcPts val="0"/>
                        </a:spcAft>
                      </a:pPr>
                      <a:r>
                        <a:rPr lang="en-US" sz="2000" kern="500">
                          <a:effectLst/>
                          <a:latin typeface="+mj-ea"/>
                          <a:ea typeface="+mj-ea"/>
                        </a:rPr>
                        <a:t>Arduino UNO</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130</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68.8×53.4</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endParaRPr lang="en-US" sz="2000" kern="500">
                        <a:solidFill>
                          <a:srgbClr val="000000"/>
                        </a:solidFill>
                        <a:effectLst/>
                        <a:latin typeface="+mj-ea"/>
                        <a:ea typeface="+mj-ea"/>
                        <a:cs typeface="Courier New" panose="02070309020205020404" pitchFamily="49" charset="0"/>
                      </a:endParaRPr>
                    </a:p>
                  </a:txBody>
                  <a:tcPr marL="68580" marR="68580" marT="0" marB="0"/>
                </a:tc>
                <a:extLst>
                  <a:ext uri="{0D108BD9-81ED-4DB2-BD59-A6C34878D82A}">
                    <a16:rowId xmlns:a16="http://schemas.microsoft.com/office/drawing/2014/main" val="3606753433"/>
                  </a:ext>
                </a:extLst>
              </a:tr>
              <a:tr h="629153">
                <a:tc>
                  <a:txBody>
                    <a:bodyPr/>
                    <a:lstStyle/>
                    <a:p>
                      <a:pPr algn="ctr">
                        <a:spcAft>
                          <a:spcPts val="0"/>
                        </a:spcAft>
                      </a:pPr>
                      <a:r>
                        <a:rPr lang="en-US" sz="2000" kern="500">
                          <a:effectLst/>
                          <a:latin typeface="+mj-ea"/>
                          <a:ea typeface="+mj-ea"/>
                        </a:rPr>
                        <a:t>Arduino GEMMA</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90</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27.94×27.94</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endParaRPr lang="en-US" sz="2000" kern="500">
                        <a:solidFill>
                          <a:srgbClr val="000000"/>
                        </a:solidFill>
                        <a:effectLst/>
                        <a:latin typeface="+mj-ea"/>
                        <a:ea typeface="+mj-ea"/>
                        <a:cs typeface="Courier New" panose="02070309020205020404" pitchFamily="49" charset="0"/>
                      </a:endParaRPr>
                    </a:p>
                  </a:txBody>
                  <a:tcPr marL="68580" marR="68580" marT="0" marB="0"/>
                </a:tc>
                <a:extLst>
                  <a:ext uri="{0D108BD9-81ED-4DB2-BD59-A6C34878D82A}">
                    <a16:rowId xmlns:a16="http://schemas.microsoft.com/office/drawing/2014/main" val="668545981"/>
                  </a:ext>
                </a:extLst>
              </a:tr>
              <a:tr h="629153">
                <a:tc>
                  <a:txBody>
                    <a:bodyPr/>
                    <a:lstStyle/>
                    <a:p>
                      <a:pPr algn="ctr">
                        <a:spcAft>
                          <a:spcPts val="0"/>
                        </a:spcAft>
                      </a:pPr>
                      <a:r>
                        <a:rPr lang="en-US" sz="2000" kern="500">
                          <a:effectLst/>
                          <a:latin typeface="+mj-ea"/>
                          <a:ea typeface="+mj-ea"/>
                        </a:rPr>
                        <a:t>STM32F103</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268</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130x100</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    </a:t>
                      </a:r>
                      <a:endParaRPr lang="zh-CN" sz="2000" kern="750">
                        <a:effectLst/>
                        <a:latin typeface="+mj-ea"/>
                        <a:ea typeface="+mj-ea"/>
                        <a:cs typeface="Courier New" panose="02070309020205020404" pitchFamily="49" charset="0"/>
                      </a:endParaRPr>
                    </a:p>
                  </a:txBody>
                  <a:tcPr marL="68580" marR="68580" marT="0" marB="0"/>
                </a:tc>
                <a:extLst>
                  <a:ext uri="{0D108BD9-81ED-4DB2-BD59-A6C34878D82A}">
                    <a16:rowId xmlns:a16="http://schemas.microsoft.com/office/drawing/2014/main" val="2775261232"/>
                  </a:ext>
                </a:extLst>
              </a:tr>
              <a:tr h="629153">
                <a:tc>
                  <a:txBody>
                    <a:bodyPr/>
                    <a:lstStyle/>
                    <a:p>
                      <a:pPr algn="ctr">
                        <a:spcAft>
                          <a:spcPts val="0"/>
                        </a:spcAft>
                      </a:pPr>
                      <a:r>
                        <a:rPr lang="zh-CN" sz="2000" kern="500">
                          <a:effectLst/>
                          <a:latin typeface="+mj-ea"/>
                          <a:ea typeface="+mj-ea"/>
                        </a:rPr>
                        <a:t>树莓派</a:t>
                      </a:r>
                      <a:r>
                        <a:rPr lang="en-US" sz="2000" kern="500">
                          <a:effectLst/>
                          <a:latin typeface="+mj-ea"/>
                          <a:ea typeface="+mj-ea"/>
                        </a:rPr>
                        <a:t>4B</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735</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r>
                        <a:rPr lang="en-US" sz="2000" kern="500">
                          <a:effectLst/>
                          <a:latin typeface="+mj-ea"/>
                          <a:ea typeface="+mj-ea"/>
                        </a:rPr>
                        <a:t>88x58</a:t>
                      </a:r>
                      <a:endParaRPr lang="zh-CN" sz="2000" kern="750">
                        <a:effectLst/>
                        <a:latin typeface="+mj-ea"/>
                        <a:ea typeface="+mj-ea"/>
                        <a:cs typeface="Courier New" panose="02070309020205020404" pitchFamily="49" charset="0"/>
                      </a:endParaRPr>
                    </a:p>
                  </a:txBody>
                  <a:tcPr marL="68580" marR="68580" marT="0" marB="0" anchor="ctr"/>
                </a:tc>
                <a:tc>
                  <a:txBody>
                    <a:bodyPr/>
                    <a:lstStyle/>
                    <a:p>
                      <a:pPr algn="ctr">
                        <a:spcAft>
                          <a:spcPts val="0"/>
                        </a:spcAft>
                      </a:pPr>
                      <a:endParaRPr lang="en-US" sz="2000" kern="500" dirty="0">
                        <a:solidFill>
                          <a:srgbClr val="000000"/>
                        </a:solidFill>
                        <a:effectLst/>
                        <a:latin typeface="+mj-ea"/>
                        <a:ea typeface="+mj-ea"/>
                        <a:cs typeface="Courier New" panose="02070309020205020404" pitchFamily="49" charset="0"/>
                      </a:endParaRPr>
                    </a:p>
                  </a:txBody>
                  <a:tcPr marL="68580" marR="68580" marT="0" marB="0"/>
                </a:tc>
                <a:extLst>
                  <a:ext uri="{0D108BD9-81ED-4DB2-BD59-A6C34878D82A}">
                    <a16:rowId xmlns:a16="http://schemas.microsoft.com/office/drawing/2014/main" val="1417496555"/>
                  </a:ext>
                </a:extLst>
              </a:tr>
            </a:tbl>
          </a:graphicData>
        </a:graphic>
      </p:graphicFrame>
      <p:pic>
        <p:nvPicPr>
          <p:cNvPr id="50186" name="图片 160">
            <a:extLst>
              <a:ext uri="{FF2B5EF4-FFF2-40B4-BE49-F238E27FC236}">
                <a16:creationId xmlns:a16="http://schemas.microsoft.com/office/drawing/2014/main" id="{A3D722E9-90EA-44C5-9591-5342EEEC8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9019" y="3355004"/>
            <a:ext cx="1173359" cy="533345"/>
          </a:xfrm>
          <a:prstGeom prst="rect">
            <a:avLst/>
          </a:prstGeom>
          <a:noFill/>
          <a:extLst>
            <a:ext uri="{909E8E84-426E-40DD-AFC4-6F175D3DCCD1}">
              <a14:hiddenFill xmlns:a14="http://schemas.microsoft.com/office/drawing/2010/main">
                <a:solidFill>
                  <a:srgbClr val="FFFFFF"/>
                </a:solidFill>
              </a14:hiddenFill>
            </a:ext>
          </a:extLst>
        </p:spPr>
      </p:pic>
      <p:pic>
        <p:nvPicPr>
          <p:cNvPr id="50185" name="图片 162">
            <a:extLst>
              <a:ext uri="{FF2B5EF4-FFF2-40B4-BE49-F238E27FC236}">
                <a16:creationId xmlns:a16="http://schemas.microsoft.com/office/drawing/2014/main" id="{FBA57338-A09F-4E9B-A8A6-7058723FD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761" y="3852805"/>
            <a:ext cx="1248027" cy="725349"/>
          </a:xfrm>
          <a:prstGeom prst="rect">
            <a:avLst/>
          </a:prstGeom>
          <a:noFill/>
          <a:extLst>
            <a:ext uri="{909E8E84-426E-40DD-AFC4-6F175D3DCCD1}">
              <a14:hiddenFill xmlns:a14="http://schemas.microsoft.com/office/drawing/2010/main">
                <a:solidFill>
                  <a:srgbClr val="FFFFFF"/>
                </a:solidFill>
              </a14:hiddenFill>
            </a:ext>
          </a:extLst>
        </p:spPr>
      </p:pic>
      <p:pic>
        <p:nvPicPr>
          <p:cNvPr id="50184" name="图片 167">
            <a:extLst>
              <a:ext uri="{FF2B5EF4-FFF2-40B4-BE49-F238E27FC236}">
                <a16:creationId xmlns:a16="http://schemas.microsoft.com/office/drawing/2014/main" id="{E0BFFFBC-EC74-4F39-942D-923E54892C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0227" y="4578154"/>
            <a:ext cx="960022" cy="565346"/>
          </a:xfrm>
          <a:prstGeom prst="rect">
            <a:avLst/>
          </a:prstGeom>
          <a:noFill/>
          <a:extLst>
            <a:ext uri="{909E8E84-426E-40DD-AFC4-6F175D3DCCD1}">
              <a14:hiddenFill xmlns:a14="http://schemas.microsoft.com/office/drawing/2010/main">
                <a:solidFill>
                  <a:srgbClr val="FFFFFF"/>
                </a:solidFill>
              </a14:hiddenFill>
            </a:ext>
          </a:extLst>
        </p:spPr>
      </p:pic>
      <p:pic>
        <p:nvPicPr>
          <p:cNvPr id="50183" name="图片 3">
            <a:extLst>
              <a:ext uri="{FF2B5EF4-FFF2-40B4-BE49-F238E27FC236}">
                <a16:creationId xmlns:a16="http://schemas.microsoft.com/office/drawing/2014/main" id="{5D6A72E8-5EA1-407E-AC4F-91EB7067D7E6}"/>
              </a:ext>
            </a:extLst>
          </p:cNvPr>
          <p:cNvPicPr>
            <a:picLocks noChangeAspect="1" noChangeArrowheads="1"/>
          </p:cNvPicPr>
          <p:nvPr/>
        </p:nvPicPr>
        <p:blipFill>
          <a:blip r:embed="rId5" cstate="print">
            <a:clrChange>
              <a:clrFrom>
                <a:srgbClr val="E4E4E4"/>
              </a:clrFrom>
              <a:clrTo>
                <a:srgbClr val="E4E4E4">
                  <a:alpha val="0"/>
                </a:srgbClr>
              </a:clrTo>
            </a:clrChange>
            <a:extLst>
              <a:ext uri="{28A0092B-C50C-407E-A947-70E740481C1C}">
                <a14:useLocalDpi xmlns:a14="http://schemas.microsoft.com/office/drawing/2010/main" val="0"/>
              </a:ext>
            </a:extLst>
          </a:blip>
          <a:srcRect/>
          <a:stretch>
            <a:fillRect/>
          </a:stretch>
        </p:blipFill>
        <p:spPr bwMode="auto">
          <a:xfrm>
            <a:off x="6875551" y="4816149"/>
            <a:ext cx="1653371" cy="1141359"/>
          </a:xfrm>
          <a:prstGeom prst="rect">
            <a:avLst/>
          </a:prstGeom>
          <a:noFill/>
          <a:extLst>
            <a:ext uri="{909E8E84-426E-40DD-AFC4-6F175D3DCCD1}">
              <a14:hiddenFill xmlns:a14="http://schemas.microsoft.com/office/drawing/2010/main">
                <a:solidFill>
                  <a:srgbClr val="FFFFFF"/>
                </a:solidFill>
              </a14:hiddenFill>
            </a:ext>
          </a:extLst>
        </p:spPr>
      </p:pic>
      <p:pic>
        <p:nvPicPr>
          <p:cNvPr id="50182" name="图片 4">
            <a:extLst>
              <a:ext uri="{FF2B5EF4-FFF2-40B4-BE49-F238E27FC236}">
                <a16:creationId xmlns:a16="http://schemas.microsoft.com/office/drawing/2014/main" id="{A6945DF8-69F8-4CEE-BDE0-7330543AB64E}"/>
              </a:ext>
            </a:extLst>
          </p:cNvPr>
          <p:cNvPicPr>
            <a:picLocks noChangeAspect="1" noChangeArrowheads="1"/>
          </p:cNvPicPr>
          <p:nvPr/>
        </p:nvPicPr>
        <p:blipFill>
          <a:blip r:embed="rId6" cstate="print">
            <a:clrChange>
              <a:clrFrom>
                <a:srgbClr val="E4E4E4"/>
              </a:clrFrom>
              <a:clrTo>
                <a:srgbClr val="E4E4E4">
                  <a:alpha val="0"/>
                </a:srgbClr>
              </a:clrTo>
            </a:clrChange>
            <a:extLst>
              <a:ext uri="{28A0092B-C50C-407E-A947-70E740481C1C}">
                <a14:useLocalDpi xmlns:a14="http://schemas.microsoft.com/office/drawing/2010/main" val="0"/>
              </a:ext>
            </a:extLst>
          </a:blip>
          <a:srcRect/>
          <a:stretch>
            <a:fillRect/>
          </a:stretch>
        </p:blipFill>
        <p:spPr bwMode="auto">
          <a:xfrm>
            <a:off x="5465168" y="5679267"/>
            <a:ext cx="1600036" cy="7786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71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F18F52-58E2-48D1-B828-227C05BAB563}"/>
              </a:ext>
            </a:extLst>
          </p:cNvPr>
          <p:cNvSpPr>
            <a:spLocks noGrp="1"/>
          </p:cNvSpPr>
          <p:nvPr>
            <p:ph type="title"/>
          </p:nvPr>
        </p:nvSpPr>
        <p:spPr/>
        <p:txBody>
          <a:bodyPr/>
          <a:lstStyle/>
          <a:p>
            <a:r>
              <a:rPr lang="zh-CN" altLang="en-US" dirty="0">
                <a:sym typeface="Wingdings" panose="05000000000000000000" pitchFamily="2" charset="2"/>
              </a:rPr>
              <a:t>能耗</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7538491-456F-44AB-90F1-441DB639E9A4}"/>
                  </a:ext>
                </a:extLst>
              </p:cNvPr>
              <p:cNvSpPr>
                <a:spLocks noGrp="1"/>
              </p:cNvSpPr>
              <p:nvPr>
                <p:ph idx="1"/>
              </p:nvPr>
            </p:nvSpPr>
            <p:spPr/>
            <p:txBody>
              <a:bodyPr/>
              <a:lstStyle/>
              <a:p>
                <a:r>
                  <a:rPr lang="zh-CN" altLang="zh-CN" dirty="0"/>
                  <a:t>物联网节点一般会周期性采集数据并上报数据到云平台，或者不定时、间断地收到来自云平台的控制命令，其他大部分时间基本都处于休眠状态</a:t>
                </a:r>
                <a:r>
                  <a:rPr lang="zh-CN" altLang="en-US" dirty="0"/>
                  <a:t>，以延长应用的生命周期</a:t>
                </a:r>
              </a:p>
              <a:p>
                <a:endParaRPr lang="en-US" altLang="zh-CN" dirty="0"/>
              </a:p>
              <a:p>
                <a:endParaRPr lang="en-US" altLang="zh-CN" dirty="0"/>
              </a:p>
              <a:p>
                <a:pPr lvl="1"/>
                <a:r>
                  <a:rPr lang="zh-CN" altLang="zh-CN" dirty="0"/>
                  <a:t> </a:t>
                </a:r>
                <a:r>
                  <a:rPr lang="en-US" altLang="zh-CN" i="1" dirty="0">
                    <a:latin typeface="Cambria Math" panose="02040503050406030204" pitchFamily="18" charset="0"/>
                    <a:ea typeface="Cambria Math" panose="02040503050406030204" pitchFamily="18" charset="0"/>
                  </a:rPr>
                  <a:t>n</a:t>
                </a:r>
                <a:r>
                  <a:rPr lang="zh-CN" altLang="zh-CN" dirty="0"/>
                  <a:t>：部件能耗状态的数量</a:t>
                </a:r>
                <a:endParaRPr lang="en-US" altLang="zh-CN" dirty="0"/>
              </a:p>
              <a:p>
                <a:pPr lvl="1"/>
                <a14:m>
                  <m:oMath xmlns:m="http://schemas.openxmlformats.org/officeDocument/2006/math">
                    <m:r>
                      <m:rPr>
                        <m:sty m:val="p"/>
                      </m:rPr>
                      <a:rPr lang="zh-CN" altLang="zh-CN" dirty="0" smtClean="0">
                        <a:latin typeface="Cambria Math" panose="02040503050406030204" pitchFamily="18" charset="0"/>
                      </a:rPr>
                      <m:t>Δ</m:t>
                    </m:r>
                    <m:sSub>
                      <m:sSubPr>
                        <m:ctrlPr>
                          <a:rPr lang="zh-CN" altLang="zh-CN" i="1" dirty="0">
                            <a:latin typeface="Cambria Math" panose="02040503050406030204" pitchFamily="18" charset="0"/>
                          </a:rPr>
                        </m:ctrlPr>
                      </m:sSubPr>
                      <m:e>
                        <m:r>
                          <a:rPr lang="zh-CN" altLang="zh-CN" i="1" dirty="0">
                            <a:latin typeface="Cambria Math" panose="02040503050406030204" pitchFamily="18" charset="0"/>
                          </a:rPr>
                          <m:t>𝑡</m:t>
                        </m:r>
                      </m:e>
                      <m:sub>
                        <m:r>
                          <a:rPr lang="zh-CN" altLang="zh-CN" i="1" dirty="0">
                            <a:latin typeface="Cambria Math" panose="02040503050406030204" pitchFamily="18" charset="0"/>
                          </a:rPr>
                          <m:t>𝑖</m:t>
                        </m:r>
                      </m:sub>
                    </m:sSub>
                    <m:r>
                      <a:rPr lang="zh-CN" altLang="en-US" i="1" dirty="0">
                        <a:latin typeface="Cambria Math" panose="02040503050406030204" pitchFamily="18" charset="0"/>
                      </a:rPr>
                      <m:t>：</m:t>
                    </m:r>
                  </m:oMath>
                </a14:m>
                <a:r>
                  <a:rPr lang="zh-CN" altLang="zh-CN" dirty="0"/>
                  <a:t>部件在能耗状态</a:t>
                </a:r>
                <a:r>
                  <a:rPr lang="en-US" altLang="zh-CN" dirty="0"/>
                  <a:t> </a:t>
                </a:r>
                <a:r>
                  <a:rPr lang="en-US" altLang="zh-CN" i="1" dirty="0" err="1">
                    <a:latin typeface="Cambria Math" panose="02040503050406030204" pitchFamily="18" charset="0"/>
                    <a:ea typeface="Cambria Math" panose="02040503050406030204" pitchFamily="18" charset="0"/>
                  </a:rPr>
                  <a:t>i</a:t>
                </a:r>
                <a:r>
                  <a:rPr lang="en-US" altLang="zh-CN" i="1" dirty="0">
                    <a:latin typeface="Cambria Math" panose="02040503050406030204" pitchFamily="18" charset="0"/>
                    <a:ea typeface="Cambria Math" panose="02040503050406030204" pitchFamily="18" charset="0"/>
                  </a:rPr>
                  <a:t> </a:t>
                </a:r>
                <a:r>
                  <a:rPr lang="zh-CN" altLang="zh-CN" dirty="0"/>
                  <a:t>下的工作时间，假设部件在时间</a:t>
                </a:r>
                <a14:m>
                  <m:oMath xmlns:m="http://schemas.openxmlformats.org/officeDocument/2006/math">
                    <m:r>
                      <m:rPr>
                        <m:sty m:val="p"/>
                      </m:rPr>
                      <a:rPr lang="zh-CN" altLang="zh-CN" dirty="0">
                        <a:latin typeface="Cambria Math" panose="02040503050406030204" pitchFamily="18" charset="0"/>
                      </a:rPr>
                      <m:t>Δ</m:t>
                    </m:r>
                    <m:sSub>
                      <m:sSubPr>
                        <m:ctrlPr>
                          <a:rPr lang="zh-CN" altLang="zh-CN" i="1" dirty="0">
                            <a:latin typeface="Cambria Math" panose="02040503050406030204" pitchFamily="18" charset="0"/>
                          </a:rPr>
                        </m:ctrlPr>
                      </m:sSubPr>
                      <m:e>
                        <m:r>
                          <a:rPr lang="zh-CN" altLang="zh-CN" i="1" dirty="0">
                            <a:latin typeface="Cambria Math" panose="02040503050406030204" pitchFamily="18" charset="0"/>
                          </a:rPr>
                          <m:t>𝑡</m:t>
                        </m:r>
                      </m:e>
                      <m:sub>
                        <m:r>
                          <a:rPr lang="zh-CN" altLang="zh-CN" i="1" dirty="0">
                            <a:latin typeface="Cambria Math" panose="02040503050406030204" pitchFamily="18" charset="0"/>
                          </a:rPr>
                          <m:t>𝑖</m:t>
                        </m:r>
                      </m:sub>
                    </m:sSub>
                  </m:oMath>
                </a14:m>
                <a:r>
                  <a:rPr lang="zh-CN" altLang="zh-CN" dirty="0"/>
                  <a:t>内都处于能耗状态</a:t>
                </a:r>
                <a:r>
                  <a:rPr lang="en-US" altLang="zh-CN" dirty="0"/>
                  <a:t> </a:t>
                </a:r>
                <a:r>
                  <a:rPr lang="en-US" altLang="zh-CN" i="1" dirty="0" err="1">
                    <a:latin typeface="Cambria Math" panose="02040503050406030204" pitchFamily="18" charset="0"/>
                    <a:ea typeface="Cambria Math" panose="02040503050406030204" pitchFamily="18" charset="0"/>
                  </a:rPr>
                  <a:t>i</a:t>
                </a:r>
                <a:r>
                  <a:rPr lang="en-US" altLang="zh-CN" i="1" dirty="0">
                    <a:latin typeface="Cambria Math" panose="02040503050406030204" pitchFamily="18" charset="0"/>
                    <a:ea typeface="Cambria Math" panose="02040503050406030204" pitchFamily="18" charset="0"/>
                  </a:rPr>
                  <a:t> </a:t>
                </a:r>
                <a:r>
                  <a:rPr lang="en-US" altLang="zh-CN" i="1" dirty="0"/>
                  <a:t> </a:t>
                </a:r>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Sub>
                  </m:oMath>
                </a14:m>
                <a:r>
                  <a:rPr lang="zh-CN" altLang="zh-CN" dirty="0"/>
                  <a:t>部件在能耗状态</a:t>
                </a:r>
                <a:r>
                  <a:rPr lang="en-US" altLang="zh-CN" dirty="0"/>
                  <a:t> </a:t>
                </a:r>
                <a:r>
                  <a:rPr lang="en-US" altLang="zh-CN" i="1" dirty="0" err="1">
                    <a:latin typeface="Cambria Math" panose="02040503050406030204" pitchFamily="18" charset="0"/>
                    <a:ea typeface="Cambria Math" panose="02040503050406030204" pitchFamily="18" charset="0"/>
                  </a:rPr>
                  <a:t>i</a:t>
                </a:r>
                <a:r>
                  <a:rPr lang="en-US" altLang="zh-CN" i="1" dirty="0">
                    <a:latin typeface="Cambria Math" panose="02040503050406030204" pitchFamily="18" charset="0"/>
                    <a:ea typeface="Cambria Math" panose="02040503050406030204" pitchFamily="18" charset="0"/>
                  </a:rPr>
                  <a:t> </a:t>
                </a:r>
                <a:r>
                  <a:rPr lang="zh-CN" altLang="zh-CN" dirty="0"/>
                  <a:t>下的功率</a:t>
                </a:r>
                <a:endParaRPr lang="en-US" altLang="zh-CN" i="1" dirty="0"/>
              </a:p>
              <a:p>
                <a:pPr lvl="1"/>
                <a14:m>
                  <m:oMath xmlns:m="http://schemas.openxmlformats.org/officeDocument/2006/math">
                    <m:sSub>
                      <m:sSubPr>
                        <m:ctrlPr>
                          <a:rPr lang="zh-CN" altLang="zh-CN" i="1" dirty="0" smtClean="0">
                            <a:latin typeface="Cambria Math" panose="02040503050406030204" pitchFamily="18" charset="0"/>
                          </a:rPr>
                        </m:ctrlPr>
                      </m:sSubPr>
                      <m:e>
                        <m:r>
                          <a:rPr lang="zh-CN" altLang="zh-CN" dirty="0">
                            <a:latin typeface="Cambria Math" panose="02040503050406030204" pitchFamily="18" charset="0"/>
                          </a:rPr>
                          <m:t>𝜕</m:t>
                        </m:r>
                      </m:e>
                      <m:sub>
                        <m:r>
                          <a:rPr lang="zh-CN" altLang="zh-CN" i="1" dirty="0">
                            <a:latin typeface="Cambria Math" panose="02040503050406030204" pitchFamily="18" charset="0"/>
                          </a:rPr>
                          <m:t>𝑖</m:t>
                        </m:r>
                      </m:sub>
                    </m:sSub>
                    <m:r>
                      <a:rPr lang="zh-CN" altLang="en-US" i="1" dirty="0">
                        <a:latin typeface="Cambria Math" panose="02040503050406030204" pitchFamily="18" charset="0"/>
                      </a:rPr>
                      <m:t>：</m:t>
                    </m:r>
                  </m:oMath>
                </a14:m>
                <a:r>
                  <a:rPr lang="zh-CN" altLang="zh-CN" dirty="0"/>
                  <a:t>可取</a:t>
                </a:r>
                <a:r>
                  <a:rPr lang="en-US" altLang="zh-CN" dirty="0"/>
                  <a:t>1</a:t>
                </a:r>
                <a:r>
                  <a:rPr lang="zh-CN" altLang="zh-CN" dirty="0"/>
                  <a:t>或</a:t>
                </a:r>
                <a:r>
                  <a:rPr lang="en-US" altLang="zh-CN" dirty="0"/>
                  <a:t>0</a:t>
                </a:r>
                <a:r>
                  <a:rPr lang="zh-CN" altLang="en-US" dirty="0"/>
                  <a:t>。</a:t>
                </a:r>
                <a:r>
                  <a:rPr lang="en-US" altLang="zh-CN" dirty="0"/>
                  <a:t> </a:t>
                </a:r>
                <a14:m>
                  <m:oMath xmlns:m="http://schemas.openxmlformats.org/officeDocument/2006/math">
                    <m:sSub>
                      <m:sSubPr>
                        <m:ctrlPr>
                          <a:rPr lang="zh-CN" altLang="zh-CN" i="1" dirty="0">
                            <a:latin typeface="Cambria Math" panose="02040503050406030204" pitchFamily="18" charset="0"/>
                          </a:rPr>
                        </m:ctrlPr>
                      </m:sSubPr>
                      <m:e>
                        <m:r>
                          <a:rPr lang="zh-CN" altLang="zh-CN" dirty="0">
                            <a:latin typeface="Cambria Math" panose="02040503050406030204" pitchFamily="18" charset="0"/>
                          </a:rPr>
                          <m:t>𝜕</m:t>
                        </m:r>
                      </m:e>
                      <m:sub>
                        <m:r>
                          <a:rPr lang="zh-CN" altLang="zh-CN" i="1" dirty="0">
                            <a:latin typeface="Cambria Math" panose="02040503050406030204" pitchFamily="18" charset="0"/>
                          </a:rPr>
                          <m:t>𝑖</m:t>
                        </m:r>
                      </m:sub>
                    </m:sSub>
                    <m:r>
                      <a:rPr lang="zh-CN" altLang="zh-CN" i="1" dirty="0">
                        <a:latin typeface="Cambria Math" panose="02040503050406030204" pitchFamily="18" charset="0"/>
                      </a:rPr>
                      <m:t> </m:t>
                    </m:r>
                  </m:oMath>
                </a14:m>
                <a:r>
                  <a:rPr lang="en-US" altLang="zh-CN" dirty="0"/>
                  <a:t>=1</a:t>
                </a:r>
                <a:r>
                  <a:rPr lang="zh-CN" altLang="zh-CN" dirty="0"/>
                  <a:t>意味着</a:t>
                </a:r>
                <a14:m>
                  <m:oMath xmlns:m="http://schemas.openxmlformats.org/officeDocument/2006/math">
                    <m:r>
                      <m:rPr>
                        <m:sty m:val="p"/>
                      </m:rPr>
                      <a:rPr lang="zh-CN" altLang="zh-CN" dirty="0">
                        <a:latin typeface="Cambria Math" panose="02040503050406030204" pitchFamily="18" charset="0"/>
                      </a:rPr>
                      <m:t>Δ</m:t>
                    </m:r>
                    <m:sSub>
                      <m:sSubPr>
                        <m:ctrlPr>
                          <a:rPr lang="zh-CN" altLang="zh-CN" i="1" dirty="0">
                            <a:latin typeface="Cambria Math" panose="02040503050406030204" pitchFamily="18" charset="0"/>
                          </a:rPr>
                        </m:ctrlPr>
                      </m:sSubPr>
                      <m:e>
                        <m:r>
                          <a:rPr lang="zh-CN" altLang="zh-CN" i="1" dirty="0">
                            <a:latin typeface="Cambria Math" panose="02040503050406030204" pitchFamily="18" charset="0"/>
                          </a:rPr>
                          <m:t>𝑡</m:t>
                        </m:r>
                      </m:e>
                      <m:sub>
                        <m:r>
                          <a:rPr lang="zh-CN" altLang="zh-CN" i="1" dirty="0">
                            <a:latin typeface="Cambria Math" panose="02040503050406030204" pitchFamily="18" charset="0"/>
                          </a:rPr>
                          <m:t>𝑖</m:t>
                        </m:r>
                      </m:sub>
                    </m:sSub>
                  </m:oMath>
                </a14:m>
                <a:r>
                  <a:rPr lang="zh-CN" altLang="zh-CN" dirty="0"/>
                  <a:t>大于</a:t>
                </a:r>
                <a:r>
                  <a:rPr lang="en-US" altLang="zh-CN" dirty="0"/>
                  <a:t>0</a:t>
                </a:r>
                <a:r>
                  <a:rPr lang="zh-CN" altLang="zh-CN" dirty="0"/>
                  <a:t>； </a:t>
                </a:r>
                <a14:m>
                  <m:oMath xmlns:m="http://schemas.openxmlformats.org/officeDocument/2006/math">
                    <m:sSub>
                      <m:sSubPr>
                        <m:ctrlPr>
                          <a:rPr lang="zh-CN" altLang="zh-CN" i="1" dirty="0">
                            <a:latin typeface="Cambria Math" panose="02040503050406030204" pitchFamily="18" charset="0"/>
                          </a:rPr>
                        </m:ctrlPr>
                      </m:sSubPr>
                      <m:e>
                        <m:r>
                          <a:rPr lang="zh-CN" altLang="zh-CN" dirty="0">
                            <a:latin typeface="Cambria Math" panose="02040503050406030204" pitchFamily="18" charset="0"/>
                          </a:rPr>
                          <m:t>𝜕</m:t>
                        </m:r>
                      </m:e>
                      <m:sub>
                        <m:r>
                          <a:rPr lang="zh-CN" altLang="zh-CN" i="1" dirty="0">
                            <a:latin typeface="Cambria Math" panose="02040503050406030204" pitchFamily="18" charset="0"/>
                          </a:rPr>
                          <m:t>𝑖</m:t>
                        </m:r>
                      </m:sub>
                    </m:sSub>
                  </m:oMath>
                </a14:m>
                <a:r>
                  <a:rPr lang="en-US" altLang="zh-CN" dirty="0"/>
                  <a:t> =0</a:t>
                </a:r>
                <a:r>
                  <a:rPr lang="zh-CN" altLang="zh-CN" dirty="0"/>
                  <a:t>意味着</a:t>
                </a:r>
                <a14:m>
                  <m:oMath xmlns:m="http://schemas.openxmlformats.org/officeDocument/2006/math">
                    <m:r>
                      <m:rPr>
                        <m:sty m:val="p"/>
                      </m:rPr>
                      <a:rPr lang="zh-CN" altLang="zh-CN" dirty="0">
                        <a:latin typeface="Cambria Math" panose="02040503050406030204" pitchFamily="18" charset="0"/>
                      </a:rPr>
                      <m:t>Δ</m:t>
                    </m:r>
                    <m:sSub>
                      <m:sSubPr>
                        <m:ctrlPr>
                          <a:rPr lang="zh-CN" altLang="zh-CN" i="1" dirty="0">
                            <a:latin typeface="Cambria Math" panose="02040503050406030204" pitchFamily="18" charset="0"/>
                          </a:rPr>
                        </m:ctrlPr>
                      </m:sSubPr>
                      <m:e>
                        <m:r>
                          <a:rPr lang="zh-CN" altLang="zh-CN" i="1" dirty="0">
                            <a:latin typeface="Cambria Math" panose="02040503050406030204" pitchFamily="18" charset="0"/>
                          </a:rPr>
                          <m:t>𝑡</m:t>
                        </m:r>
                      </m:e>
                      <m:sub>
                        <m:r>
                          <a:rPr lang="zh-CN" altLang="zh-CN" i="1" dirty="0">
                            <a:latin typeface="Cambria Math" panose="02040503050406030204" pitchFamily="18" charset="0"/>
                          </a:rPr>
                          <m:t>𝑖</m:t>
                        </m:r>
                      </m:sub>
                    </m:sSub>
                  </m:oMath>
                </a14:m>
                <a:r>
                  <a:rPr lang="zh-CN" altLang="zh-CN" dirty="0"/>
                  <a:t>等于</a:t>
                </a:r>
                <a:r>
                  <a:rPr lang="en-US" altLang="zh-CN" dirty="0"/>
                  <a:t>0</a:t>
                </a:r>
              </a:p>
            </p:txBody>
          </p:sp>
        </mc:Choice>
        <mc:Fallback xmlns="">
          <p:sp>
            <p:nvSpPr>
              <p:cNvPr id="3" name="内容占位符 2">
                <a:extLst>
                  <a:ext uri="{FF2B5EF4-FFF2-40B4-BE49-F238E27FC236}">
                    <a16:creationId xmlns:a16="http://schemas.microsoft.com/office/drawing/2014/main" id="{37538491-456F-44AB-90F1-441DB639E9A4}"/>
                  </a:ext>
                </a:extLst>
              </p:cNvPr>
              <p:cNvSpPr>
                <a:spLocks noGrp="1" noRot="1" noChangeAspect="1" noMove="1" noResize="1" noEditPoints="1" noAdjustHandles="1" noChangeArrowheads="1" noChangeShapeType="1" noTextEdit="1"/>
              </p:cNvSpPr>
              <p:nvPr>
                <p:ph idx="1"/>
              </p:nvPr>
            </p:nvSpPr>
            <p:spPr>
              <a:blipFill>
                <a:blip r:embed="rId3"/>
                <a:stretch>
                  <a:fillRect l="-954" t="-225"/>
                </a:stretch>
              </a:blipFill>
            </p:spPr>
            <p:txBody>
              <a:bodyPr/>
              <a:lstStyle/>
              <a:p>
                <a:r>
                  <a:rPr lang="zh-CN" altLang="en-US">
                    <a:noFill/>
                  </a:rPr>
                  <a:t> </a:t>
                </a:r>
              </a:p>
            </p:txBody>
          </p:sp>
        </mc:Fallback>
      </mc:AlternateContent>
      <p:sp>
        <p:nvSpPr>
          <p:cNvPr id="5" name="灯片编号占位符 4">
            <a:extLst>
              <a:ext uri="{FF2B5EF4-FFF2-40B4-BE49-F238E27FC236}">
                <a16:creationId xmlns:a16="http://schemas.microsoft.com/office/drawing/2014/main" id="{CC8D1924-97F4-4F8A-AB1B-1A8C394B997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11</a:t>
            </a:fld>
            <a:endParaRPr lang="zh-CN" altLang="zh-CN" sz="1800" baseline="0" dirty="0">
              <a:solidFill>
                <a:schemeClr val="folHlink"/>
              </a:solidFill>
              <a:latin typeface="Monotype Corsiva" panose="03010101010201010101" pitchFamily="66" charset="0"/>
            </a:endParaRPr>
          </a:p>
        </p:txBody>
      </p:sp>
      <p:graphicFrame>
        <p:nvGraphicFramePr>
          <p:cNvPr id="41" name="对象 40">
            <a:extLst>
              <a:ext uri="{FF2B5EF4-FFF2-40B4-BE49-F238E27FC236}">
                <a16:creationId xmlns:a16="http://schemas.microsoft.com/office/drawing/2014/main" id="{559D1CA9-A8F4-48AF-ACA9-588EA5D4CDE2}"/>
              </a:ext>
            </a:extLst>
          </p:cNvPr>
          <p:cNvGraphicFramePr>
            <a:graphicFrameLocks noChangeAspect="1"/>
          </p:cNvGraphicFramePr>
          <p:nvPr>
            <p:extLst>
              <p:ext uri="{D42A27DB-BD31-4B8C-83A1-F6EECF244321}">
                <p14:modId xmlns:p14="http://schemas.microsoft.com/office/powerpoint/2010/main" val="1291343759"/>
              </p:ext>
            </p:extLst>
          </p:nvPr>
        </p:nvGraphicFramePr>
        <p:xfrm>
          <a:off x="3446206" y="2391752"/>
          <a:ext cx="2251588" cy="1037248"/>
        </p:xfrm>
        <a:graphic>
          <a:graphicData uri="http://schemas.openxmlformats.org/presentationml/2006/ole">
            <mc:AlternateContent xmlns:mc="http://schemas.openxmlformats.org/markup-compatibility/2006">
              <mc:Choice xmlns:v="urn:schemas-microsoft-com:vml" Requires="v">
                <p:oleObj spid="_x0000_s51260" r:id="rId4" imgW="850900" imgH="368300" progId="Equation.DSMT4">
                  <p:embed/>
                </p:oleObj>
              </mc:Choice>
              <mc:Fallback>
                <p:oleObj r:id="rId4" imgW="850900" imgH="368300" progId="Equation.DSMT4">
                  <p:embed/>
                  <p:pic>
                    <p:nvPicPr>
                      <p:cNvPr id="0" name="Object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6206" y="2391752"/>
                        <a:ext cx="2251588" cy="1037248"/>
                      </a:xfrm>
                      <a:prstGeom prst="rect">
                        <a:avLst/>
                      </a:prstGeom>
                      <a:noFill/>
                    </p:spPr>
                  </p:pic>
                </p:oleObj>
              </mc:Fallback>
            </mc:AlternateContent>
          </a:graphicData>
        </a:graphic>
      </p:graphicFrame>
    </p:spTree>
    <p:extLst>
      <p:ext uri="{BB962C8B-B14F-4D97-AF65-F5344CB8AC3E}">
        <p14:creationId xmlns:p14="http://schemas.microsoft.com/office/powerpoint/2010/main" val="194461190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80557-F2BE-43CC-8852-989E1F1F931D}"/>
              </a:ext>
            </a:extLst>
          </p:cNvPr>
          <p:cNvSpPr>
            <a:spLocks noGrp="1"/>
          </p:cNvSpPr>
          <p:nvPr>
            <p:ph type="title"/>
          </p:nvPr>
        </p:nvSpPr>
        <p:spPr/>
        <p:txBody>
          <a:bodyPr/>
          <a:lstStyle/>
          <a:p>
            <a:r>
              <a:rPr lang="zh-CN" altLang="en-US" dirty="0">
                <a:latin typeface="+mj-ea"/>
                <a:sym typeface="Wingdings" panose="05000000000000000000" pitchFamily="2" charset="2"/>
              </a:rPr>
              <a:t>能耗</a:t>
            </a:r>
            <a:endParaRPr lang="zh-CN" altLang="en-US" dirty="0"/>
          </a:p>
        </p:txBody>
      </p:sp>
      <p:sp>
        <p:nvSpPr>
          <p:cNvPr id="3" name="内容占位符 2">
            <a:extLst>
              <a:ext uri="{FF2B5EF4-FFF2-40B4-BE49-F238E27FC236}">
                <a16:creationId xmlns:a16="http://schemas.microsoft.com/office/drawing/2014/main" id="{04DA0083-64CA-425C-9A19-4C7FD688DF23}"/>
              </a:ext>
            </a:extLst>
          </p:cNvPr>
          <p:cNvSpPr>
            <a:spLocks noGrp="1"/>
          </p:cNvSpPr>
          <p:nvPr>
            <p:ph idx="1"/>
          </p:nvPr>
        </p:nvSpPr>
        <p:spPr/>
        <p:txBody>
          <a:bodyPr/>
          <a:lstStyle/>
          <a:p>
            <a:endParaRPr lang="en-US" altLang="zh-CN" b="0" dirty="0"/>
          </a:p>
          <a:p>
            <a:endParaRPr lang="en-US" altLang="zh-CN" b="0" dirty="0"/>
          </a:p>
          <a:p>
            <a:endParaRPr lang="en-US" altLang="zh-CN" b="0" dirty="0"/>
          </a:p>
          <a:p>
            <a:endParaRPr lang="en-US" altLang="zh-CN" b="0" dirty="0"/>
          </a:p>
          <a:p>
            <a:endParaRPr lang="en-US" altLang="zh-CN" b="0" dirty="0"/>
          </a:p>
          <a:p>
            <a:r>
              <a:rPr lang="zh-CN" altLang="en-US" b="0" dirty="0"/>
              <a:t>能耗计算：</a:t>
            </a:r>
            <a:r>
              <a:rPr lang="en-US" altLang="zh-CN" b="0" dirty="0"/>
              <a:t>Arduino Uno,</a:t>
            </a:r>
            <a:r>
              <a:rPr lang="zh-CN" altLang="en-US" b="0" dirty="0"/>
              <a:t>电压保持</a:t>
            </a:r>
            <a:r>
              <a:rPr lang="en-US" altLang="zh-CN" b="0" dirty="0"/>
              <a:t>5V</a:t>
            </a:r>
            <a:r>
              <a:rPr lang="zh-CN" altLang="en-US" b="0" dirty="0"/>
              <a:t>不变，</a:t>
            </a:r>
            <a:r>
              <a:rPr lang="en-US" altLang="zh-CN" b="0" dirty="0"/>
              <a:t>1s</a:t>
            </a:r>
            <a:r>
              <a:rPr lang="zh-CN" altLang="en-US" b="0" dirty="0"/>
              <a:t>时间，</a:t>
            </a:r>
            <a:r>
              <a:rPr lang="en-US" altLang="zh-CN" b="0" dirty="0"/>
              <a:t>0.5s</a:t>
            </a:r>
            <a:r>
              <a:rPr lang="zh-CN" altLang="en-US" b="0" dirty="0"/>
              <a:t>休眠，</a:t>
            </a:r>
            <a:r>
              <a:rPr lang="en-US" altLang="zh-CN" b="0" dirty="0"/>
              <a:t>0.5s</a:t>
            </a:r>
            <a:r>
              <a:rPr lang="zh-CN" altLang="en-US" b="0" dirty="0"/>
              <a:t>工作</a:t>
            </a:r>
            <a:endParaRPr lang="zh-CN" altLang="en-US" b="0" dirty="0">
              <a:solidFill>
                <a:srgbClr val="C00000"/>
              </a:solidFill>
            </a:endParaRPr>
          </a:p>
          <a:p>
            <a:endParaRPr lang="zh-CN" altLang="en-US" dirty="0"/>
          </a:p>
        </p:txBody>
      </p:sp>
      <p:graphicFrame>
        <p:nvGraphicFramePr>
          <p:cNvPr id="5" name="对象 4">
            <a:extLst>
              <a:ext uri="{FF2B5EF4-FFF2-40B4-BE49-F238E27FC236}">
                <a16:creationId xmlns:a16="http://schemas.microsoft.com/office/drawing/2014/main" id="{0734B25C-CCF0-46E2-A317-6FBE41AA7394}"/>
              </a:ext>
            </a:extLst>
          </p:cNvPr>
          <p:cNvGraphicFramePr>
            <a:graphicFrameLocks noChangeAspect="1"/>
          </p:cNvGraphicFramePr>
          <p:nvPr>
            <p:extLst>
              <p:ext uri="{D42A27DB-BD31-4B8C-83A1-F6EECF244321}">
                <p14:modId xmlns:p14="http://schemas.microsoft.com/office/powerpoint/2010/main" val="3091299291"/>
              </p:ext>
            </p:extLst>
          </p:nvPr>
        </p:nvGraphicFramePr>
        <p:xfrm>
          <a:off x="1905472" y="4373211"/>
          <a:ext cx="5409255" cy="1803085"/>
        </p:xfrm>
        <a:graphic>
          <a:graphicData uri="http://schemas.openxmlformats.org/presentationml/2006/ole">
            <mc:AlternateContent xmlns:mc="http://schemas.openxmlformats.org/markup-compatibility/2006">
              <mc:Choice xmlns:v="urn:schemas-microsoft-com:vml" Requires="v">
                <p:oleObj spid="_x0000_s52240" r:id="rId3" imgW="2311400" imgH="749300" progId="Equation.DSMT4">
                  <p:embed/>
                </p:oleObj>
              </mc:Choice>
              <mc:Fallback>
                <p:oleObj r:id="rId3" imgW="2311400" imgH="749300" progId="Equation.DSMT4">
                  <p:embed/>
                  <p:pic>
                    <p:nvPicPr>
                      <p:cNvPr id="10" name="对象 9">
                        <a:extLst>
                          <a:ext uri="{FF2B5EF4-FFF2-40B4-BE49-F238E27FC236}">
                            <a16:creationId xmlns:a16="http://schemas.microsoft.com/office/drawing/2014/main" id="{6F54EAD0-2A26-4D71-96BC-1A3A0E692E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472" y="4373211"/>
                        <a:ext cx="5409255" cy="1803085"/>
                      </a:xfrm>
                      <a:prstGeom prst="rect">
                        <a:avLst/>
                      </a:prstGeom>
                      <a:noFill/>
                    </p:spPr>
                  </p:pic>
                </p:oleObj>
              </mc:Fallback>
            </mc:AlternateContent>
          </a:graphicData>
        </a:graphic>
      </p:graphicFrame>
      <p:graphicFrame>
        <p:nvGraphicFramePr>
          <p:cNvPr id="6" name="表格 5">
            <a:extLst>
              <a:ext uri="{FF2B5EF4-FFF2-40B4-BE49-F238E27FC236}">
                <a16:creationId xmlns:a16="http://schemas.microsoft.com/office/drawing/2014/main" id="{4F8BA50B-98C4-4B67-8F7D-9C6EA43F906A}"/>
              </a:ext>
            </a:extLst>
          </p:cNvPr>
          <p:cNvGraphicFramePr>
            <a:graphicFrameLocks noGrp="1"/>
          </p:cNvGraphicFramePr>
          <p:nvPr>
            <p:extLst>
              <p:ext uri="{D42A27DB-BD31-4B8C-83A1-F6EECF244321}">
                <p14:modId xmlns:p14="http://schemas.microsoft.com/office/powerpoint/2010/main" val="2030529361"/>
              </p:ext>
            </p:extLst>
          </p:nvPr>
        </p:nvGraphicFramePr>
        <p:xfrm>
          <a:off x="211394" y="1052385"/>
          <a:ext cx="8721212" cy="2453936"/>
        </p:xfrm>
        <a:graphic>
          <a:graphicData uri="http://schemas.openxmlformats.org/drawingml/2006/table">
            <a:tbl>
              <a:tblPr firstRow="1" firstCol="1" bandRow="1">
                <a:tableStyleId>{93296810-A885-4BE3-A3E7-6D5BEEA58F35}</a:tableStyleId>
              </a:tblPr>
              <a:tblGrid>
                <a:gridCol w="2514716">
                  <a:extLst>
                    <a:ext uri="{9D8B030D-6E8A-4147-A177-3AD203B41FA5}">
                      <a16:colId xmlns:a16="http://schemas.microsoft.com/office/drawing/2014/main" val="2419768488"/>
                    </a:ext>
                  </a:extLst>
                </a:gridCol>
                <a:gridCol w="1551624">
                  <a:extLst>
                    <a:ext uri="{9D8B030D-6E8A-4147-A177-3AD203B41FA5}">
                      <a16:colId xmlns:a16="http://schemas.microsoft.com/office/drawing/2014/main" val="2876139051"/>
                    </a:ext>
                  </a:extLst>
                </a:gridCol>
                <a:gridCol w="1551624">
                  <a:extLst>
                    <a:ext uri="{9D8B030D-6E8A-4147-A177-3AD203B41FA5}">
                      <a16:colId xmlns:a16="http://schemas.microsoft.com/office/drawing/2014/main" val="2359396085"/>
                    </a:ext>
                  </a:extLst>
                </a:gridCol>
                <a:gridCol w="1551624">
                  <a:extLst>
                    <a:ext uri="{9D8B030D-6E8A-4147-A177-3AD203B41FA5}">
                      <a16:colId xmlns:a16="http://schemas.microsoft.com/office/drawing/2014/main" val="171906903"/>
                    </a:ext>
                  </a:extLst>
                </a:gridCol>
                <a:gridCol w="1551624">
                  <a:extLst>
                    <a:ext uri="{9D8B030D-6E8A-4147-A177-3AD203B41FA5}">
                      <a16:colId xmlns:a16="http://schemas.microsoft.com/office/drawing/2014/main" val="1719291016"/>
                    </a:ext>
                  </a:extLst>
                </a:gridCol>
              </a:tblGrid>
              <a:tr h="300394">
                <a:tc rowSpan="2">
                  <a:txBody>
                    <a:bodyPr/>
                    <a:lstStyle/>
                    <a:p>
                      <a:pPr algn="ctr">
                        <a:spcAft>
                          <a:spcPts val="0"/>
                        </a:spcAft>
                      </a:pPr>
                      <a:r>
                        <a:rPr lang="zh-CN" sz="2400" kern="500" dirty="0">
                          <a:effectLst/>
                          <a:latin typeface="+mj-ea"/>
                          <a:ea typeface="+mj-ea"/>
                        </a:rPr>
                        <a:t>开发板</a:t>
                      </a:r>
                      <a:endParaRPr lang="zh-CN" sz="2400" kern="750" dirty="0">
                        <a:effectLst/>
                        <a:latin typeface="+mj-ea"/>
                        <a:ea typeface="+mj-ea"/>
                        <a:cs typeface="Courier New" panose="02070309020205020404" pitchFamily="49" charset="0"/>
                      </a:endParaRPr>
                    </a:p>
                  </a:txBody>
                  <a:tcPr marL="36195" marR="36195" marT="0" marB="0" anchor="ctr"/>
                </a:tc>
                <a:tc gridSpan="4">
                  <a:txBody>
                    <a:bodyPr/>
                    <a:lstStyle/>
                    <a:p>
                      <a:pPr algn="ctr">
                        <a:spcAft>
                          <a:spcPts val="0"/>
                        </a:spcAft>
                      </a:pPr>
                      <a:r>
                        <a:rPr lang="zh-CN" sz="2400" kern="500">
                          <a:effectLst/>
                          <a:latin typeface="+mj-ea"/>
                          <a:ea typeface="+mj-ea"/>
                        </a:rPr>
                        <a:t>属性</a:t>
                      </a:r>
                      <a:endParaRPr lang="zh-CN" sz="2400" kern="750">
                        <a:effectLst/>
                        <a:latin typeface="+mj-ea"/>
                        <a:ea typeface="+mj-ea"/>
                        <a:cs typeface="Courier New" panose="02070309020205020404" pitchFamily="49" charset="0"/>
                      </a:endParaRPr>
                    </a:p>
                  </a:txBody>
                  <a:tcPr marL="36195" marR="36195"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13184390"/>
                  </a:ext>
                </a:extLst>
              </a:tr>
              <a:tr h="856068">
                <a:tc vMerge="1">
                  <a:txBody>
                    <a:bodyPr/>
                    <a:lstStyle/>
                    <a:p>
                      <a:endParaRPr lang="zh-CN" altLang="en-US"/>
                    </a:p>
                  </a:txBody>
                  <a:tcPr/>
                </a:tc>
                <a:tc>
                  <a:txBody>
                    <a:bodyPr/>
                    <a:lstStyle/>
                    <a:p>
                      <a:pPr algn="ctr">
                        <a:spcAft>
                          <a:spcPts val="0"/>
                        </a:spcAft>
                      </a:pPr>
                      <a:r>
                        <a:rPr lang="en-US" sz="2400" kern="500" dirty="0">
                          <a:effectLst/>
                          <a:latin typeface="+mj-ea"/>
                          <a:ea typeface="+mj-ea"/>
                        </a:rPr>
                        <a:t>MCU</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MCU</a:t>
                      </a:r>
                      <a:r>
                        <a:rPr lang="zh-CN" sz="2400" kern="500" dirty="0">
                          <a:effectLst/>
                          <a:latin typeface="+mj-ea"/>
                          <a:ea typeface="+mj-ea"/>
                        </a:rPr>
                        <a:t>供电电压</a:t>
                      </a:r>
                      <a:r>
                        <a:rPr lang="en-US" sz="2400" kern="500" dirty="0">
                          <a:effectLst/>
                          <a:latin typeface="+mj-ea"/>
                          <a:ea typeface="+mj-ea"/>
                        </a:rPr>
                        <a:t>/V</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MCU</a:t>
                      </a:r>
                      <a:r>
                        <a:rPr lang="zh-CN" sz="2400" kern="500" dirty="0">
                          <a:effectLst/>
                          <a:latin typeface="+mj-ea"/>
                          <a:ea typeface="+mj-ea"/>
                        </a:rPr>
                        <a:t>睡眠能耗</a:t>
                      </a:r>
                      <a:r>
                        <a:rPr lang="en-US" sz="2400" kern="500" dirty="0">
                          <a:effectLst/>
                          <a:latin typeface="+mj-ea"/>
                          <a:ea typeface="+mj-ea"/>
                        </a:rPr>
                        <a:t>/</a:t>
                      </a:r>
                      <a:r>
                        <a:rPr lang="en-US" sz="2400" kern="500" dirty="0" err="1">
                          <a:effectLst/>
                          <a:latin typeface="+mj-ea"/>
                          <a:ea typeface="+mj-ea"/>
                        </a:rPr>
                        <a:t>μA</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MCU</a:t>
                      </a:r>
                      <a:r>
                        <a:rPr lang="zh-CN" sz="2400" kern="500" dirty="0">
                          <a:effectLst/>
                          <a:latin typeface="+mj-ea"/>
                          <a:ea typeface="+mj-ea"/>
                        </a:rPr>
                        <a:t>工作能耗</a:t>
                      </a:r>
                      <a:r>
                        <a:rPr lang="en-US" sz="2400" kern="500" dirty="0">
                          <a:effectLst/>
                          <a:latin typeface="+mj-ea"/>
                          <a:ea typeface="+mj-ea"/>
                        </a:rPr>
                        <a:t>/mA</a:t>
                      </a:r>
                      <a:endParaRPr lang="zh-CN" sz="24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2834091611"/>
                  </a:ext>
                </a:extLst>
              </a:tr>
              <a:tr h="492844">
                <a:tc>
                  <a:txBody>
                    <a:bodyPr/>
                    <a:lstStyle/>
                    <a:p>
                      <a:pPr algn="ctr">
                        <a:spcAft>
                          <a:spcPts val="0"/>
                        </a:spcAft>
                      </a:pPr>
                      <a:r>
                        <a:rPr lang="en-US" sz="2400" kern="500" dirty="0" err="1">
                          <a:effectLst/>
                          <a:latin typeface="+mj-ea"/>
                          <a:ea typeface="+mj-ea"/>
                        </a:rPr>
                        <a:t>TelosB</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MSP430</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1.8</a:t>
                      </a:r>
                      <a:r>
                        <a:rPr lang="zh-CN" sz="2400" kern="500" dirty="0">
                          <a:effectLst/>
                          <a:latin typeface="+mj-ea"/>
                          <a:ea typeface="+mj-ea"/>
                        </a:rPr>
                        <a:t>～</a:t>
                      </a:r>
                      <a:r>
                        <a:rPr lang="en-US" sz="2400" kern="500" dirty="0">
                          <a:effectLst/>
                          <a:latin typeface="+mj-ea"/>
                          <a:ea typeface="+mj-ea"/>
                        </a:rPr>
                        <a:t>3.6</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2.6</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0.5</a:t>
                      </a:r>
                      <a:endParaRPr lang="zh-CN" sz="24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830839423"/>
                  </a:ext>
                </a:extLst>
              </a:tr>
              <a:tr h="739264">
                <a:tc>
                  <a:txBody>
                    <a:bodyPr/>
                    <a:lstStyle/>
                    <a:p>
                      <a:pPr algn="ctr">
                        <a:spcAft>
                          <a:spcPts val="0"/>
                        </a:spcAft>
                      </a:pPr>
                      <a:r>
                        <a:rPr lang="en-US" sz="2400" kern="500" dirty="0">
                          <a:effectLst/>
                          <a:latin typeface="+mj-ea"/>
                          <a:ea typeface="+mj-ea"/>
                        </a:rPr>
                        <a:t>Arduino UNO</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ATmega328</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1.8</a:t>
                      </a:r>
                      <a:r>
                        <a:rPr lang="zh-CN" sz="2400" kern="500" dirty="0">
                          <a:effectLst/>
                          <a:latin typeface="+mj-ea"/>
                          <a:ea typeface="+mj-ea"/>
                        </a:rPr>
                        <a:t>～</a:t>
                      </a:r>
                      <a:r>
                        <a:rPr lang="en-US" sz="2400" kern="500" dirty="0">
                          <a:effectLst/>
                          <a:latin typeface="+mj-ea"/>
                          <a:ea typeface="+mj-ea"/>
                        </a:rPr>
                        <a:t>5.5</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0.1</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0.2</a:t>
                      </a:r>
                      <a:endParaRPr lang="zh-CN" sz="24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4179998478"/>
                  </a:ext>
                </a:extLst>
              </a:tr>
            </a:tbl>
          </a:graphicData>
        </a:graphic>
      </p:graphicFrame>
      <p:sp>
        <p:nvSpPr>
          <p:cNvPr id="7" name="灯片编号占位符 4">
            <a:extLst>
              <a:ext uri="{FF2B5EF4-FFF2-40B4-BE49-F238E27FC236}">
                <a16:creationId xmlns:a16="http://schemas.microsoft.com/office/drawing/2014/main" id="{C7507A4E-2390-486F-835F-B1299E26A24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70414552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A9E1D6-CE79-404C-88BF-53B4EC9720FE}"/>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6C0A1A2F-9A2B-422A-9CE3-2CD5193F97F2}"/>
              </a:ext>
            </a:extLst>
          </p:cNvPr>
          <p:cNvSpPr>
            <a:spLocks noGrp="1"/>
          </p:cNvSpPr>
          <p:nvPr>
            <p:ph idx="1"/>
          </p:nvPr>
        </p:nvSpPr>
        <p:spPr/>
        <p:txBody>
          <a:bodyPr/>
          <a:lstStyle/>
          <a:p>
            <a:r>
              <a:rPr lang="zh-CN" altLang="zh-CN" dirty="0"/>
              <a:t>下表描述了两块</a:t>
            </a:r>
            <a:r>
              <a:rPr lang="en-US" altLang="zh-CN" dirty="0"/>
              <a:t>MCU</a:t>
            </a:r>
            <a:r>
              <a:rPr lang="zh-CN" altLang="zh-CN" dirty="0"/>
              <a:t>的部分属性，基于此表回答以下问题</a:t>
            </a:r>
            <a:endParaRPr lang="en-US" altLang="zh-CN" dirty="0"/>
          </a:p>
          <a:p>
            <a:endParaRPr lang="en-US" altLang="zh-CN" dirty="0"/>
          </a:p>
          <a:p>
            <a:endParaRPr lang="en-US" altLang="zh-CN" dirty="0"/>
          </a:p>
          <a:p>
            <a:endParaRPr lang="en-US" altLang="zh-CN" dirty="0"/>
          </a:p>
          <a:p>
            <a:endParaRPr lang="en-US" altLang="zh-CN" sz="3200" dirty="0"/>
          </a:p>
          <a:p>
            <a:pPr lvl="1"/>
            <a:r>
              <a:rPr lang="zh-CN" altLang="zh-CN" dirty="0"/>
              <a:t>对于一段给定程序，假设在</a:t>
            </a:r>
            <a:r>
              <a:rPr lang="en-US" altLang="zh-CN" dirty="0"/>
              <a:t>Msp430F2618</a:t>
            </a:r>
            <a:r>
              <a:rPr lang="zh-CN" altLang="zh-CN" dirty="0"/>
              <a:t>和</a:t>
            </a:r>
            <a:r>
              <a:rPr lang="en-US" altLang="zh-CN" dirty="0"/>
              <a:t>Msp430F5437</a:t>
            </a:r>
            <a:r>
              <a:rPr lang="zh-CN" altLang="zh-CN" dirty="0"/>
              <a:t>都执行了</a:t>
            </a:r>
            <a:r>
              <a:rPr lang="en-US" altLang="zh-CN" dirty="0"/>
              <a:t>10s</a:t>
            </a:r>
            <a:r>
              <a:rPr lang="zh-CN" altLang="zh-CN" dirty="0"/>
              <a:t>，当</a:t>
            </a:r>
            <a:r>
              <a:rPr lang="en-US" altLang="zh-CN" dirty="0"/>
              <a:t>Duty-cycle</a:t>
            </a:r>
            <a:r>
              <a:rPr lang="zh-CN" altLang="zh-CN" dirty="0"/>
              <a:t>为</a:t>
            </a:r>
            <a:r>
              <a:rPr lang="en-US" altLang="zh-CN" dirty="0"/>
              <a:t>80%</a:t>
            </a:r>
            <a:r>
              <a:rPr lang="zh-CN" altLang="zh-CN" dirty="0"/>
              <a:t>时，谁的能耗低？当</a:t>
            </a:r>
            <a:r>
              <a:rPr lang="en-US" altLang="zh-CN" dirty="0"/>
              <a:t>Duty-cycle</a:t>
            </a:r>
            <a:r>
              <a:rPr lang="zh-CN" altLang="zh-CN" dirty="0"/>
              <a:t>为</a:t>
            </a:r>
            <a:r>
              <a:rPr lang="en-US" altLang="zh-CN" dirty="0"/>
              <a:t>0.1%</a:t>
            </a:r>
            <a:r>
              <a:rPr lang="zh-CN" altLang="zh-CN" dirty="0"/>
              <a:t>时，谁的能耗低？（假设两个处理器工作电压恒定为</a:t>
            </a:r>
            <a:r>
              <a:rPr lang="en-US" altLang="zh-CN" dirty="0"/>
              <a:t>3V</a:t>
            </a:r>
            <a:r>
              <a:rPr lang="zh-CN" altLang="zh-CN" dirty="0"/>
              <a:t>）</a:t>
            </a:r>
            <a:endParaRPr lang="zh-CN" altLang="en-US" dirty="0"/>
          </a:p>
        </p:txBody>
      </p:sp>
      <p:graphicFrame>
        <p:nvGraphicFramePr>
          <p:cNvPr id="7" name="表格 6">
            <a:extLst>
              <a:ext uri="{FF2B5EF4-FFF2-40B4-BE49-F238E27FC236}">
                <a16:creationId xmlns:a16="http://schemas.microsoft.com/office/drawing/2014/main" id="{A0EFC421-829E-47B0-8659-3566552C88F0}"/>
              </a:ext>
            </a:extLst>
          </p:cNvPr>
          <p:cNvGraphicFramePr>
            <a:graphicFrameLocks noGrp="1"/>
          </p:cNvGraphicFramePr>
          <p:nvPr>
            <p:extLst>
              <p:ext uri="{D42A27DB-BD31-4B8C-83A1-F6EECF244321}">
                <p14:modId xmlns:p14="http://schemas.microsoft.com/office/powerpoint/2010/main" val="1593151291"/>
              </p:ext>
            </p:extLst>
          </p:nvPr>
        </p:nvGraphicFramePr>
        <p:xfrm>
          <a:off x="381000" y="1811810"/>
          <a:ext cx="8382000" cy="1808720"/>
        </p:xfrm>
        <a:graphic>
          <a:graphicData uri="http://schemas.openxmlformats.org/drawingml/2006/table">
            <a:tbl>
              <a:tblPr firstRow="1" firstCol="1" bandRow="1">
                <a:tableStyleId>{5940675A-B579-460E-94D1-54222C63F5DA}</a:tableStyleId>
              </a:tblPr>
              <a:tblGrid>
                <a:gridCol w="2164492">
                  <a:extLst>
                    <a:ext uri="{9D8B030D-6E8A-4147-A177-3AD203B41FA5}">
                      <a16:colId xmlns:a16="http://schemas.microsoft.com/office/drawing/2014/main" val="3823573445"/>
                    </a:ext>
                  </a:extLst>
                </a:gridCol>
                <a:gridCol w="1272318">
                  <a:extLst>
                    <a:ext uri="{9D8B030D-6E8A-4147-A177-3AD203B41FA5}">
                      <a16:colId xmlns:a16="http://schemas.microsoft.com/office/drawing/2014/main" val="4186549298"/>
                    </a:ext>
                  </a:extLst>
                </a:gridCol>
                <a:gridCol w="1091482">
                  <a:extLst>
                    <a:ext uri="{9D8B030D-6E8A-4147-A177-3AD203B41FA5}">
                      <a16:colId xmlns:a16="http://schemas.microsoft.com/office/drawing/2014/main" val="249359550"/>
                    </a:ext>
                  </a:extLst>
                </a:gridCol>
                <a:gridCol w="1089387">
                  <a:extLst>
                    <a:ext uri="{9D8B030D-6E8A-4147-A177-3AD203B41FA5}">
                      <a16:colId xmlns:a16="http://schemas.microsoft.com/office/drawing/2014/main" val="995411121"/>
                    </a:ext>
                  </a:extLst>
                </a:gridCol>
                <a:gridCol w="1356498">
                  <a:extLst>
                    <a:ext uri="{9D8B030D-6E8A-4147-A177-3AD203B41FA5}">
                      <a16:colId xmlns:a16="http://schemas.microsoft.com/office/drawing/2014/main" val="1455097148"/>
                    </a:ext>
                  </a:extLst>
                </a:gridCol>
                <a:gridCol w="1407823">
                  <a:extLst>
                    <a:ext uri="{9D8B030D-6E8A-4147-A177-3AD203B41FA5}">
                      <a16:colId xmlns:a16="http://schemas.microsoft.com/office/drawing/2014/main" val="1629853827"/>
                    </a:ext>
                  </a:extLst>
                </a:gridCol>
              </a:tblGrid>
              <a:tr h="904360">
                <a:tc>
                  <a:txBody>
                    <a:bodyPr/>
                    <a:lstStyle/>
                    <a:p>
                      <a:pPr algn="ctr">
                        <a:spcAft>
                          <a:spcPts val="0"/>
                        </a:spcAft>
                      </a:pPr>
                      <a:r>
                        <a:rPr lang="en-US" sz="2400" kern="500">
                          <a:effectLst/>
                          <a:latin typeface="+mj-ea"/>
                          <a:ea typeface="+mj-ea"/>
                        </a:rPr>
                        <a:t>MCU</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zh-CN" sz="2400" kern="500">
                          <a:effectLst/>
                          <a:latin typeface="+mj-ea"/>
                          <a:ea typeface="+mj-ea"/>
                        </a:rPr>
                        <a:t>工作电压</a:t>
                      </a:r>
                      <a:r>
                        <a:rPr lang="en-US" sz="2400" kern="500">
                          <a:effectLst/>
                          <a:latin typeface="+mj-ea"/>
                          <a:ea typeface="+mj-ea"/>
                        </a:rPr>
                        <a:t>/V</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RAM/KB</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Flash/KB</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zh-CN" sz="2400" kern="500">
                          <a:effectLst/>
                          <a:latin typeface="+mj-ea"/>
                          <a:ea typeface="+mj-ea"/>
                        </a:rPr>
                        <a:t>工作能耗</a:t>
                      </a:r>
                      <a:r>
                        <a:rPr lang="en-US" sz="2400" kern="500">
                          <a:effectLst/>
                          <a:latin typeface="+mj-ea"/>
                          <a:ea typeface="+mj-ea"/>
                        </a:rPr>
                        <a:t>/mA</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zh-CN" sz="2400" kern="500">
                          <a:effectLst/>
                          <a:latin typeface="+mj-ea"/>
                          <a:ea typeface="+mj-ea"/>
                        </a:rPr>
                        <a:t>睡眠能耗</a:t>
                      </a:r>
                      <a:r>
                        <a:rPr lang="en-US" sz="2400" kern="500">
                          <a:effectLst/>
                          <a:latin typeface="+mj-ea"/>
                          <a:ea typeface="+mj-ea"/>
                        </a:rPr>
                        <a:t>/μA</a:t>
                      </a:r>
                      <a:endParaRPr lang="zh-CN" sz="24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2765317360"/>
                  </a:ext>
                </a:extLst>
              </a:tr>
              <a:tr h="452180">
                <a:tc>
                  <a:txBody>
                    <a:bodyPr/>
                    <a:lstStyle/>
                    <a:p>
                      <a:pPr algn="ctr">
                        <a:spcAft>
                          <a:spcPts val="0"/>
                        </a:spcAft>
                      </a:pPr>
                      <a:r>
                        <a:rPr lang="en-US" sz="2400" kern="500">
                          <a:effectLst/>
                          <a:latin typeface="+mj-ea"/>
                          <a:ea typeface="+mj-ea"/>
                        </a:rPr>
                        <a:t>Msp430F2618</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1.8</a:t>
                      </a:r>
                      <a:r>
                        <a:rPr lang="zh-CN" sz="2400" kern="500" dirty="0">
                          <a:effectLst/>
                          <a:latin typeface="+mj-ea"/>
                          <a:ea typeface="+mj-ea"/>
                        </a:rPr>
                        <a:t>～</a:t>
                      </a:r>
                      <a:r>
                        <a:rPr lang="en-US" sz="2400" kern="500" dirty="0">
                          <a:effectLst/>
                          <a:latin typeface="+mj-ea"/>
                          <a:ea typeface="+mj-ea"/>
                        </a:rPr>
                        <a:t>3.6</a:t>
                      </a:r>
                      <a:endParaRPr lang="zh-CN" sz="24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8</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116</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0.5</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1.1</a:t>
                      </a:r>
                      <a:endParaRPr lang="zh-CN" sz="24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3736643118"/>
                  </a:ext>
                </a:extLst>
              </a:tr>
              <a:tr h="452180">
                <a:tc>
                  <a:txBody>
                    <a:bodyPr/>
                    <a:lstStyle/>
                    <a:p>
                      <a:pPr algn="ctr">
                        <a:spcAft>
                          <a:spcPts val="0"/>
                        </a:spcAft>
                      </a:pPr>
                      <a:r>
                        <a:rPr lang="en-US" sz="2400" kern="500">
                          <a:effectLst/>
                          <a:latin typeface="+mj-ea"/>
                          <a:ea typeface="+mj-ea"/>
                        </a:rPr>
                        <a:t>Msp430F5437</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1.8</a:t>
                      </a:r>
                      <a:r>
                        <a:rPr lang="zh-CN" sz="2400" kern="500">
                          <a:effectLst/>
                          <a:latin typeface="+mj-ea"/>
                          <a:ea typeface="+mj-ea"/>
                        </a:rPr>
                        <a:t>～</a:t>
                      </a:r>
                      <a:r>
                        <a:rPr lang="en-US" sz="2400" kern="500">
                          <a:effectLst/>
                          <a:latin typeface="+mj-ea"/>
                          <a:ea typeface="+mj-ea"/>
                        </a:rPr>
                        <a:t>3.6</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16</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256</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a:effectLst/>
                          <a:latin typeface="+mj-ea"/>
                          <a:ea typeface="+mj-ea"/>
                        </a:rPr>
                        <a:t>0.28</a:t>
                      </a:r>
                      <a:endParaRPr lang="zh-CN" sz="24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400" kern="500" dirty="0">
                          <a:effectLst/>
                          <a:latin typeface="+mj-ea"/>
                          <a:ea typeface="+mj-ea"/>
                        </a:rPr>
                        <a:t>1.7</a:t>
                      </a:r>
                      <a:endParaRPr lang="zh-CN" sz="24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296090454"/>
                  </a:ext>
                </a:extLst>
              </a:tr>
            </a:tbl>
          </a:graphicData>
        </a:graphic>
      </p:graphicFrame>
    </p:spTree>
    <p:extLst>
      <p:ext uri="{BB962C8B-B14F-4D97-AF65-F5344CB8AC3E}">
        <p14:creationId xmlns:p14="http://schemas.microsoft.com/office/powerpoint/2010/main" val="329375348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Wingdings" panose="05000000000000000000" pitchFamily="2" charset="2"/>
              </a:rPr>
              <a:t>运算速度和内存大小</a:t>
            </a:r>
            <a:endParaRPr lang="zh-CN" altLang="en-US" dirty="0"/>
          </a:p>
        </p:txBody>
      </p:sp>
      <p:sp>
        <p:nvSpPr>
          <p:cNvPr id="3" name="内容占位符 2"/>
          <p:cNvSpPr>
            <a:spLocks noGrp="1"/>
          </p:cNvSpPr>
          <p:nvPr>
            <p:ph idx="1"/>
          </p:nvPr>
        </p:nvSpPr>
        <p:spPr/>
        <p:txBody>
          <a:bodyPr/>
          <a:lstStyle/>
          <a:p>
            <a:r>
              <a:rPr lang="zh-CN" altLang="en-US"/>
              <a:t>平台运算速度</a:t>
            </a:r>
            <a:endParaRPr lang="en-US" altLang="zh-CN"/>
          </a:p>
          <a:p>
            <a:pPr lvl="1"/>
            <a:r>
              <a:rPr lang="zh-CN" altLang="en-US"/>
              <a:t>MCU时钟主频</a:t>
            </a:r>
          </a:p>
          <a:p>
            <a:r>
              <a:rPr lang="zh-CN" altLang="en-US"/>
              <a:t>平台内存</a:t>
            </a:r>
            <a:endParaRPr lang="en-US" altLang="zh-CN"/>
          </a:p>
          <a:p>
            <a:pPr lvl="1"/>
            <a:r>
              <a:rPr lang="zh-CN" altLang="en-US"/>
              <a:t>RAM（存数据，易失性）</a:t>
            </a:r>
          </a:p>
          <a:p>
            <a:pPr lvl="1"/>
            <a:r>
              <a:rPr lang="zh-CN" altLang="en-US"/>
              <a:t>Flash（存程序，非易失性）</a:t>
            </a:r>
            <a:endParaRPr lang="zh-CN" altLang="en-US" dirty="0"/>
          </a:p>
        </p:txBody>
      </p:sp>
      <p:sp>
        <p:nvSpPr>
          <p:cNvPr id="7" name="灯片编号占位符 4">
            <a:extLst>
              <a:ext uri="{FF2B5EF4-FFF2-40B4-BE49-F238E27FC236}">
                <a16:creationId xmlns:a16="http://schemas.microsoft.com/office/drawing/2014/main" id="{B831EFFA-CD9E-4C1C-B081-6532A68CA24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14</a:t>
            </a:fld>
            <a:endParaRPr lang="zh-CN" altLang="zh-CN" sz="1800" baseline="0" dirty="0">
              <a:solidFill>
                <a:schemeClr val="folHlink"/>
              </a:solidFill>
              <a:latin typeface="Monotype Corsiva" panose="03010101010201010101" pitchFamily="66" charset="0"/>
            </a:endParaRPr>
          </a:p>
        </p:txBody>
      </p:sp>
      <p:graphicFrame>
        <p:nvGraphicFramePr>
          <p:cNvPr id="8" name="表格 7">
            <a:extLst>
              <a:ext uri="{FF2B5EF4-FFF2-40B4-BE49-F238E27FC236}">
                <a16:creationId xmlns:a16="http://schemas.microsoft.com/office/drawing/2014/main" id="{40C76A7B-7E9D-47FE-A318-2EF8C5285770}"/>
              </a:ext>
            </a:extLst>
          </p:cNvPr>
          <p:cNvGraphicFramePr>
            <a:graphicFrameLocks noGrp="1"/>
          </p:cNvGraphicFramePr>
          <p:nvPr>
            <p:extLst>
              <p:ext uri="{D42A27DB-BD31-4B8C-83A1-F6EECF244321}">
                <p14:modId xmlns:p14="http://schemas.microsoft.com/office/powerpoint/2010/main" val="3296450187"/>
              </p:ext>
            </p:extLst>
          </p:nvPr>
        </p:nvGraphicFramePr>
        <p:xfrm>
          <a:off x="378081" y="3249930"/>
          <a:ext cx="8232519" cy="3303270"/>
        </p:xfrm>
        <a:graphic>
          <a:graphicData uri="http://schemas.openxmlformats.org/drawingml/2006/table">
            <a:tbl>
              <a:tblPr firstRow="1" firstCol="1" bandRow="1">
                <a:tableStyleId>{93296810-A885-4BE3-A3E7-6D5BEEA58F35}</a:tableStyleId>
              </a:tblPr>
              <a:tblGrid>
                <a:gridCol w="1465992">
                  <a:extLst>
                    <a:ext uri="{9D8B030D-6E8A-4147-A177-3AD203B41FA5}">
                      <a16:colId xmlns:a16="http://schemas.microsoft.com/office/drawing/2014/main" val="2831677282"/>
                    </a:ext>
                  </a:extLst>
                </a:gridCol>
                <a:gridCol w="1257473">
                  <a:extLst>
                    <a:ext uri="{9D8B030D-6E8A-4147-A177-3AD203B41FA5}">
                      <a16:colId xmlns:a16="http://schemas.microsoft.com/office/drawing/2014/main" val="3015231340"/>
                    </a:ext>
                  </a:extLst>
                </a:gridCol>
                <a:gridCol w="1499951">
                  <a:extLst>
                    <a:ext uri="{9D8B030D-6E8A-4147-A177-3AD203B41FA5}">
                      <a16:colId xmlns:a16="http://schemas.microsoft.com/office/drawing/2014/main" val="2411156762"/>
                    </a:ext>
                  </a:extLst>
                </a:gridCol>
                <a:gridCol w="884903">
                  <a:extLst>
                    <a:ext uri="{9D8B030D-6E8A-4147-A177-3AD203B41FA5}">
                      <a16:colId xmlns:a16="http://schemas.microsoft.com/office/drawing/2014/main" val="3145084959"/>
                    </a:ext>
                  </a:extLst>
                </a:gridCol>
                <a:gridCol w="1465006">
                  <a:extLst>
                    <a:ext uri="{9D8B030D-6E8A-4147-A177-3AD203B41FA5}">
                      <a16:colId xmlns:a16="http://schemas.microsoft.com/office/drawing/2014/main" val="3190411917"/>
                    </a:ext>
                  </a:extLst>
                </a:gridCol>
                <a:gridCol w="1659194">
                  <a:extLst>
                    <a:ext uri="{9D8B030D-6E8A-4147-A177-3AD203B41FA5}">
                      <a16:colId xmlns:a16="http://schemas.microsoft.com/office/drawing/2014/main" val="903769382"/>
                    </a:ext>
                  </a:extLst>
                </a:gridCol>
              </a:tblGrid>
              <a:tr h="491490">
                <a:tc rowSpan="2">
                  <a:txBody>
                    <a:bodyPr/>
                    <a:lstStyle/>
                    <a:p>
                      <a:pPr algn="ctr">
                        <a:lnSpc>
                          <a:spcPts val="1300"/>
                        </a:lnSpc>
                        <a:spcAft>
                          <a:spcPts val="0"/>
                        </a:spcAft>
                      </a:pPr>
                      <a:r>
                        <a:rPr lang="zh-CN" sz="2000" kern="500">
                          <a:effectLst/>
                          <a:latin typeface="+mj-ea"/>
                          <a:ea typeface="+mj-ea"/>
                        </a:rPr>
                        <a:t>开发板</a:t>
                      </a:r>
                      <a:endParaRPr lang="zh-CN" sz="2000" kern="750">
                        <a:effectLst/>
                        <a:latin typeface="+mj-ea"/>
                        <a:ea typeface="+mj-ea"/>
                        <a:cs typeface="Courier New" panose="02070309020205020404" pitchFamily="49" charset="0"/>
                      </a:endParaRPr>
                    </a:p>
                  </a:txBody>
                  <a:tcPr marL="36195" marR="36195" marT="0" marB="0" anchor="ctr"/>
                </a:tc>
                <a:tc gridSpan="5">
                  <a:txBody>
                    <a:bodyPr/>
                    <a:lstStyle/>
                    <a:p>
                      <a:pPr algn="ctr">
                        <a:lnSpc>
                          <a:spcPts val="1300"/>
                        </a:lnSpc>
                        <a:spcAft>
                          <a:spcPts val="0"/>
                        </a:spcAft>
                      </a:pPr>
                      <a:r>
                        <a:rPr lang="zh-CN" sz="2000" kern="500">
                          <a:effectLst/>
                          <a:latin typeface="+mj-ea"/>
                          <a:ea typeface="+mj-ea"/>
                        </a:rPr>
                        <a:t>属性</a:t>
                      </a:r>
                      <a:endParaRPr lang="zh-CN" sz="2000" kern="750">
                        <a:effectLst/>
                        <a:latin typeface="+mj-ea"/>
                        <a:ea typeface="+mj-ea"/>
                        <a:cs typeface="Courier New" panose="02070309020205020404" pitchFamily="49" charset="0"/>
                      </a:endParaRPr>
                    </a:p>
                  </a:txBody>
                  <a:tcPr marL="36195" marR="36195"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44710661"/>
                  </a:ext>
                </a:extLst>
              </a:tr>
              <a:tr h="491490">
                <a:tc vMerge="1">
                  <a:txBody>
                    <a:bodyPr/>
                    <a:lstStyle/>
                    <a:p>
                      <a:endParaRPr lang="zh-CN" altLang="en-US"/>
                    </a:p>
                  </a:txBody>
                  <a:tcPr/>
                </a:tc>
                <a:tc>
                  <a:txBody>
                    <a:bodyPr/>
                    <a:lstStyle/>
                    <a:p>
                      <a:pPr algn="ctr">
                        <a:lnSpc>
                          <a:spcPts val="1300"/>
                        </a:lnSpc>
                        <a:spcAft>
                          <a:spcPts val="0"/>
                        </a:spcAft>
                      </a:pPr>
                      <a:r>
                        <a:rPr lang="en-US" sz="2000" kern="500">
                          <a:effectLst/>
                          <a:latin typeface="+mj-ea"/>
                          <a:ea typeface="+mj-ea"/>
                        </a:rPr>
                        <a:t>MCU</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lnSpc>
                          <a:spcPts val="1300"/>
                        </a:lnSpc>
                        <a:spcAft>
                          <a:spcPts val="0"/>
                        </a:spcAft>
                      </a:pPr>
                      <a:r>
                        <a:rPr lang="en-US" sz="2000" kern="500">
                          <a:effectLst/>
                          <a:latin typeface="+mj-ea"/>
                          <a:ea typeface="+mj-ea"/>
                        </a:rPr>
                        <a:t>MCU</a:t>
                      </a:r>
                      <a:r>
                        <a:rPr lang="zh-CN" sz="2000" kern="500">
                          <a:effectLst/>
                          <a:latin typeface="+mj-ea"/>
                          <a:ea typeface="+mj-ea"/>
                        </a:rPr>
                        <a:t>主频</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lnSpc>
                          <a:spcPts val="1300"/>
                        </a:lnSpc>
                        <a:spcAft>
                          <a:spcPts val="0"/>
                        </a:spcAft>
                      </a:pPr>
                      <a:r>
                        <a:rPr lang="zh-CN" sz="2000" kern="500">
                          <a:effectLst/>
                          <a:latin typeface="+mj-ea"/>
                          <a:ea typeface="+mj-ea"/>
                        </a:rPr>
                        <a:t>位数</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lnSpc>
                          <a:spcPts val="1300"/>
                        </a:lnSpc>
                        <a:spcAft>
                          <a:spcPts val="0"/>
                        </a:spcAft>
                      </a:pPr>
                      <a:r>
                        <a:rPr lang="en-US" sz="2000" kern="500">
                          <a:effectLst/>
                          <a:latin typeface="+mj-ea"/>
                          <a:ea typeface="+mj-ea"/>
                        </a:rPr>
                        <a:t>RAM</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lnSpc>
                          <a:spcPts val="1300"/>
                        </a:lnSpc>
                        <a:spcAft>
                          <a:spcPts val="0"/>
                        </a:spcAft>
                      </a:pPr>
                      <a:r>
                        <a:rPr lang="en-US" sz="2000" kern="500">
                          <a:effectLst/>
                          <a:latin typeface="+mj-ea"/>
                          <a:ea typeface="+mj-ea"/>
                        </a:rPr>
                        <a:t>Flash</a:t>
                      </a:r>
                      <a:endParaRPr lang="zh-CN" sz="20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4045169468"/>
                  </a:ext>
                </a:extLst>
              </a:tr>
              <a:tr h="491490">
                <a:tc>
                  <a:txBody>
                    <a:bodyPr/>
                    <a:lstStyle/>
                    <a:p>
                      <a:pPr algn="ctr">
                        <a:spcAft>
                          <a:spcPts val="0"/>
                        </a:spcAft>
                      </a:pPr>
                      <a:r>
                        <a:rPr lang="en-US" sz="2000" kern="500">
                          <a:effectLst/>
                          <a:latin typeface="+mj-ea"/>
                          <a:ea typeface="+mj-ea"/>
                        </a:rPr>
                        <a:t>TelosB</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MSP430</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8MHz</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8</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10KB</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48KB</a:t>
                      </a:r>
                      <a:endParaRPr lang="zh-CN" sz="20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4015703314"/>
                  </a:ext>
                </a:extLst>
              </a:tr>
              <a:tr h="491490">
                <a:tc>
                  <a:txBody>
                    <a:bodyPr/>
                    <a:lstStyle/>
                    <a:p>
                      <a:pPr algn="ctr">
                        <a:spcAft>
                          <a:spcPts val="0"/>
                        </a:spcAft>
                      </a:pPr>
                      <a:r>
                        <a:rPr lang="en-US" sz="2000" kern="500">
                          <a:effectLst/>
                          <a:latin typeface="+mj-ea"/>
                          <a:ea typeface="+mj-ea"/>
                        </a:rPr>
                        <a:t>Arduino UNO</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ATmega328</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16MHz</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8</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2KB</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32KB</a:t>
                      </a:r>
                      <a:endParaRPr lang="zh-CN" sz="20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1204835706"/>
                  </a:ext>
                </a:extLst>
              </a:tr>
              <a:tr h="491490">
                <a:tc>
                  <a:txBody>
                    <a:bodyPr/>
                    <a:lstStyle/>
                    <a:p>
                      <a:pPr algn="ctr">
                        <a:spcAft>
                          <a:spcPts val="0"/>
                        </a:spcAft>
                      </a:pPr>
                      <a:r>
                        <a:rPr lang="en-US" sz="2000" kern="500">
                          <a:effectLst/>
                          <a:latin typeface="+mj-ea"/>
                          <a:ea typeface="+mj-ea"/>
                        </a:rPr>
                        <a:t>STM32F103</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Cortex-M3</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72MHz</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32</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64KB</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512KB</a:t>
                      </a:r>
                      <a:endParaRPr lang="zh-CN" sz="20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2434733495"/>
                  </a:ext>
                </a:extLst>
              </a:tr>
              <a:tr h="491490">
                <a:tc>
                  <a:txBody>
                    <a:bodyPr/>
                    <a:lstStyle/>
                    <a:p>
                      <a:pPr algn="ctr">
                        <a:spcAft>
                          <a:spcPts val="0"/>
                        </a:spcAft>
                      </a:pPr>
                      <a:r>
                        <a:rPr lang="zh-CN" sz="2000" kern="500">
                          <a:effectLst/>
                          <a:latin typeface="+mj-ea"/>
                          <a:ea typeface="+mj-ea"/>
                        </a:rPr>
                        <a:t>树莓派</a:t>
                      </a:r>
                      <a:r>
                        <a:rPr lang="en-US" sz="2000" kern="500">
                          <a:effectLst/>
                          <a:latin typeface="+mj-ea"/>
                          <a:ea typeface="+mj-ea"/>
                        </a:rPr>
                        <a:t>4B</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BCM</a:t>
                      </a:r>
                    </a:p>
                    <a:p>
                      <a:pPr algn="ctr">
                        <a:spcAft>
                          <a:spcPts val="0"/>
                        </a:spcAft>
                      </a:pPr>
                      <a:r>
                        <a:rPr lang="en-US" sz="2000" kern="500" dirty="0">
                          <a:effectLst/>
                          <a:latin typeface="+mj-ea"/>
                          <a:ea typeface="+mj-ea"/>
                        </a:rPr>
                        <a:t>2711</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1.5GHz</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64</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1/2/4/8GB</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zh-CN" sz="2000" kern="500" dirty="0">
                          <a:effectLst/>
                          <a:latin typeface="+mj-ea"/>
                          <a:ea typeface="+mj-ea"/>
                        </a:rPr>
                        <a:t>由外接</a:t>
                      </a:r>
                      <a:r>
                        <a:rPr lang="en-US" sz="2000" kern="500" dirty="0">
                          <a:effectLst/>
                          <a:latin typeface="+mj-ea"/>
                          <a:ea typeface="+mj-ea"/>
                        </a:rPr>
                        <a:t>SD</a:t>
                      </a:r>
                      <a:r>
                        <a:rPr lang="zh-CN" sz="2000" kern="500" dirty="0">
                          <a:effectLst/>
                          <a:latin typeface="+mj-ea"/>
                          <a:ea typeface="+mj-ea"/>
                        </a:rPr>
                        <a:t>卡</a:t>
                      </a:r>
                      <a:endParaRPr lang="en-US" altLang="zh-CN" sz="2000" kern="500" dirty="0">
                        <a:effectLst/>
                        <a:latin typeface="+mj-ea"/>
                        <a:ea typeface="+mj-ea"/>
                      </a:endParaRPr>
                    </a:p>
                    <a:p>
                      <a:pPr algn="ctr">
                        <a:spcAft>
                          <a:spcPts val="0"/>
                        </a:spcAft>
                      </a:pPr>
                      <a:r>
                        <a:rPr lang="zh-CN" sz="2000" kern="500" dirty="0">
                          <a:effectLst/>
                          <a:latin typeface="+mj-ea"/>
                          <a:ea typeface="+mj-ea"/>
                        </a:rPr>
                        <a:t>决定</a:t>
                      </a:r>
                      <a:endParaRPr lang="zh-CN" sz="20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1174122115"/>
                  </a:ext>
                </a:extLst>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7D194D-EA81-4DFC-A77B-149E30B89613}"/>
              </a:ext>
            </a:extLst>
          </p:cNvPr>
          <p:cNvSpPr>
            <a:spLocks noGrp="1"/>
          </p:cNvSpPr>
          <p:nvPr>
            <p:ph type="title"/>
          </p:nvPr>
        </p:nvSpPr>
        <p:spPr/>
        <p:txBody>
          <a:bodyPr/>
          <a:lstStyle/>
          <a:p>
            <a:r>
              <a:rPr lang="zh-CN" altLang="en-US" dirty="0"/>
              <a:t>关键特性</a:t>
            </a:r>
          </a:p>
        </p:txBody>
      </p:sp>
      <p:sp>
        <p:nvSpPr>
          <p:cNvPr id="3" name="内容占位符 2">
            <a:extLst>
              <a:ext uri="{FF2B5EF4-FFF2-40B4-BE49-F238E27FC236}">
                <a16:creationId xmlns:a16="http://schemas.microsoft.com/office/drawing/2014/main" id="{E3C212BE-740B-4B8C-BAB8-AF58538907B2}"/>
              </a:ext>
            </a:extLst>
          </p:cNvPr>
          <p:cNvSpPr>
            <a:spLocks noGrp="1"/>
          </p:cNvSpPr>
          <p:nvPr>
            <p:ph idx="1"/>
          </p:nvPr>
        </p:nvSpPr>
        <p:spPr/>
        <p:txBody>
          <a:bodyPr/>
          <a:lstStyle/>
          <a:p>
            <a:endParaRPr lang="en-US" altLang="zh-CN" dirty="0"/>
          </a:p>
          <a:p>
            <a:r>
              <a:rPr lang="zh-CN" altLang="en-US" dirty="0"/>
              <a:t>低成本与微型化</a:t>
            </a:r>
            <a:endParaRPr lang="en-US" altLang="zh-CN" dirty="0"/>
          </a:p>
          <a:p>
            <a:r>
              <a:rPr lang="zh-CN" altLang="en-US" dirty="0"/>
              <a:t>能耗</a:t>
            </a:r>
            <a:endParaRPr lang="en-US" altLang="zh-CN" dirty="0"/>
          </a:p>
          <a:p>
            <a:r>
              <a:rPr lang="zh-CN" altLang="en-US" dirty="0"/>
              <a:t>运算速度和内存大小</a:t>
            </a:r>
            <a:endParaRPr lang="en-US" altLang="zh-CN" dirty="0"/>
          </a:p>
          <a:p>
            <a:r>
              <a:rPr lang="zh-CN" altLang="en-US" dirty="0">
                <a:solidFill>
                  <a:srgbClr val="C00000"/>
                </a:solidFill>
              </a:rPr>
              <a:t>接口类型</a:t>
            </a:r>
            <a:endParaRPr lang="en-US" altLang="zh-CN" dirty="0">
              <a:solidFill>
                <a:srgbClr val="C00000"/>
              </a:solidFill>
            </a:endParaRPr>
          </a:p>
          <a:p>
            <a:pPr lvl="1"/>
            <a:r>
              <a:rPr lang="zh-CN" altLang="en-US" dirty="0"/>
              <a:t>物理接口</a:t>
            </a:r>
            <a:endParaRPr lang="en-US" altLang="zh-CN" dirty="0"/>
          </a:p>
          <a:p>
            <a:pPr lvl="1"/>
            <a:r>
              <a:rPr lang="zh-CN" altLang="en-US" dirty="0"/>
              <a:t>通信协议</a:t>
            </a:r>
            <a:endParaRPr lang="en-US" altLang="zh-CN" dirty="0"/>
          </a:p>
          <a:p>
            <a:pPr lvl="1"/>
            <a:r>
              <a:rPr lang="zh-CN" altLang="en-US" dirty="0"/>
              <a:t>可扩展性</a:t>
            </a:r>
          </a:p>
        </p:txBody>
      </p:sp>
    </p:spTree>
    <p:extLst>
      <p:ext uri="{BB962C8B-B14F-4D97-AF65-F5344CB8AC3E}">
        <p14:creationId xmlns:p14="http://schemas.microsoft.com/office/powerpoint/2010/main" val="92472836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Wingdings" panose="05000000000000000000" pitchFamily="2" charset="2"/>
              </a:rPr>
              <a:t>接口类型</a:t>
            </a:r>
          </a:p>
        </p:txBody>
      </p:sp>
      <p:sp>
        <p:nvSpPr>
          <p:cNvPr id="3" name="内容占位符 2"/>
          <p:cNvSpPr>
            <a:spLocks noGrp="1"/>
          </p:cNvSpPr>
          <p:nvPr>
            <p:ph idx="1"/>
          </p:nvPr>
        </p:nvSpPr>
        <p:spPr/>
        <p:txBody>
          <a:bodyPr/>
          <a:lstStyle/>
          <a:p>
            <a:r>
              <a:rPr lang="zh-CN" altLang="en-US" dirty="0"/>
              <a:t>物理接口：引脚和</a:t>
            </a:r>
            <a:r>
              <a:rPr lang="en-US" altLang="zh-CN" dirty="0"/>
              <a:t>Grove port</a:t>
            </a:r>
          </a:p>
          <a:p>
            <a:pPr lvl="1"/>
            <a:r>
              <a:rPr lang="zh-CN" altLang="en-US" dirty="0"/>
              <a:t>引脚接口：通过杜邦线连接</a:t>
            </a:r>
            <a:r>
              <a:rPr lang="en-US" altLang="zh-CN" dirty="0"/>
              <a:t> ，</a:t>
            </a:r>
            <a:r>
              <a:rPr lang="zh-CN" altLang="en-US" dirty="0">
                <a:solidFill>
                  <a:srgbClr val="C00000"/>
                </a:solidFill>
              </a:rPr>
              <a:t>过程复杂</a:t>
            </a:r>
            <a:r>
              <a:rPr lang="zh-CN" altLang="en-US" dirty="0"/>
              <a:t>且</a:t>
            </a:r>
            <a:r>
              <a:rPr lang="zh-CN" altLang="en-US" dirty="0">
                <a:solidFill>
                  <a:srgbClr val="C00000"/>
                </a:solidFill>
              </a:rPr>
              <a:t>易出错</a:t>
            </a:r>
            <a:r>
              <a:rPr lang="zh-CN" altLang="en-US" dirty="0"/>
              <a:t>，引脚接错可能会导致程序无法工作，甚至烧坏外设和主板</a:t>
            </a:r>
            <a:endParaRPr lang="en-US" altLang="zh-CN" dirty="0"/>
          </a:p>
          <a:p>
            <a:pPr lvl="1"/>
            <a:r>
              <a:rPr lang="en-US" altLang="zh-CN" dirty="0"/>
              <a:t>Grove port</a:t>
            </a:r>
            <a:r>
              <a:rPr lang="zh-CN" altLang="en-US" dirty="0"/>
              <a:t>接口</a:t>
            </a:r>
            <a:r>
              <a:rPr lang="en-US" altLang="zh-CN" dirty="0"/>
              <a:t>：</a:t>
            </a:r>
            <a:r>
              <a:rPr lang="zh-CN" altLang="zh-CN" dirty="0"/>
              <a:t>通过</a:t>
            </a:r>
            <a:r>
              <a:rPr lang="en-US" altLang="zh-CN" dirty="0"/>
              <a:t>Grove port</a:t>
            </a:r>
            <a:r>
              <a:rPr lang="zh-CN" altLang="zh-CN" dirty="0"/>
              <a:t>线连接</a:t>
            </a:r>
            <a:r>
              <a:rPr lang="zh-CN" altLang="en-US" dirty="0"/>
              <a:t>，</a:t>
            </a:r>
            <a:r>
              <a:rPr lang="en-US" altLang="zh-CN" dirty="0" err="1"/>
              <a:t>外设接入</a:t>
            </a:r>
            <a:r>
              <a:rPr lang="en-US" altLang="zh-CN" dirty="0" err="1">
                <a:solidFill>
                  <a:srgbClr val="C00000"/>
                </a:solidFill>
              </a:rPr>
              <a:t>容易</a:t>
            </a:r>
            <a:r>
              <a:rPr lang="zh-CN" altLang="en-US" dirty="0"/>
              <a:t>、</a:t>
            </a:r>
            <a:r>
              <a:rPr lang="zh-CN" altLang="zh-CN" dirty="0"/>
              <a:t>快速而且</a:t>
            </a:r>
            <a:r>
              <a:rPr lang="zh-CN" altLang="zh-CN" dirty="0">
                <a:solidFill>
                  <a:srgbClr val="C00000"/>
                </a:solidFill>
              </a:rPr>
              <a:t>不易出错</a:t>
            </a:r>
            <a:endParaRPr lang="en-US" altLang="zh-CN" dirty="0">
              <a:solidFill>
                <a:srgbClr val="C00000"/>
              </a:solidFill>
            </a:endParaRPr>
          </a:p>
        </p:txBody>
      </p:sp>
      <p:pic>
        <p:nvPicPr>
          <p:cNvPr id="11267" name="Picture 3" descr="新建 Microsoft Visio 绘图"/>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910662"/>
            <a:ext cx="4503511" cy="35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descr="绘图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511" y="3735082"/>
            <a:ext cx="4061879" cy="220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4">
            <a:extLst>
              <a:ext uri="{FF2B5EF4-FFF2-40B4-BE49-F238E27FC236}">
                <a16:creationId xmlns:a16="http://schemas.microsoft.com/office/drawing/2014/main" id="{3E605B53-B8D8-4BB0-919F-2F0C28C00F0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DDFDF-C6D7-4E41-83EF-B0C7BBF69BDA}"/>
              </a:ext>
            </a:extLst>
          </p:cNvPr>
          <p:cNvSpPr>
            <a:spLocks noGrp="1"/>
          </p:cNvSpPr>
          <p:nvPr>
            <p:ph type="title"/>
          </p:nvPr>
        </p:nvSpPr>
        <p:spPr/>
        <p:txBody>
          <a:bodyPr/>
          <a:lstStyle/>
          <a:p>
            <a:r>
              <a:rPr lang="zh-CN" altLang="en-US" dirty="0"/>
              <a:t>接口类型</a:t>
            </a:r>
          </a:p>
        </p:txBody>
      </p:sp>
      <p:sp>
        <p:nvSpPr>
          <p:cNvPr id="3" name="内容占位符 2">
            <a:extLst>
              <a:ext uri="{FF2B5EF4-FFF2-40B4-BE49-F238E27FC236}">
                <a16:creationId xmlns:a16="http://schemas.microsoft.com/office/drawing/2014/main" id="{A1DC4629-41A7-4298-A30A-BDF7EE19245C}"/>
              </a:ext>
            </a:extLst>
          </p:cNvPr>
          <p:cNvSpPr>
            <a:spLocks noGrp="1"/>
          </p:cNvSpPr>
          <p:nvPr>
            <p:ph idx="1"/>
          </p:nvPr>
        </p:nvSpPr>
        <p:spPr>
          <a:xfrm>
            <a:off x="457200" y="990600"/>
            <a:ext cx="8305800" cy="5410200"/>
          </a:xfrm>
        </p:spPr>
        <p:txBody>
          <a:bodyPr/>
          <a:lstStyle/>
          <a:p>
            <a:r>
              <a:rPr lang="zh-CN" altLang="en-US" dirty="0"/>
              <a:t>通信协议</a:t>
            </a:r>
            <a:endParaRPr lang="en-US" altLang="zh-CN" dirty="0"/>
          </a:p>
          <a:p>
            <a:pPr marL="914400" lvl="1" indent="-457200">
              <a:buFont typeface="+mj-lt"/>
              <a:buAutoNum type="arabicPeriod"/>
            </a:pPr>
            <a:r>
              <a:rPr lang="zh-CN" altLang="en-US" b="1" dirty="0"/>
              <a:t>模拟信号</a:t>
            </a:r>
            <a:r>
              <a:rPr lang="zh-CN" altLang="zh-CN" b="1" dirty="0"/>
              <a:t>（</a:t>
            </a:r>
            <a:r>
              <a:rPr lang="en-US" altLang="zh-CN" b="1" dirty="0"/>
              <a:t>Analog</a:t>
            </a:r>
            <a:r>
              <a:rPr lang="zh-CN" altLang="zh-CN" b="1" dirty="0"/>
              <a:t>）</a:t>
            </a:r>
            <a:r>
              <a:rPr lang="zh-CN" altLang="en-US" dirty="0"/>
              <a:t>：使用模拟量表示数据的信号</a:t>
            </a:r>
            <a:endParaRPr lang="en-US" altLang="zh-CN" dirty="0"/>
          </a:p>
          <a:p>
            <a:pPr marL="914400" lvl="1" indent="-457200">
              <a:buFont typeface="+mj-lt"/>
              <a:buAutoNum type="arabicPeriod"/>
            </a:pPr>
            <a:r>
              <a:rPr lang="zh-CN" altLang="en-US" b="1" dirty="0"/>
              <a:t>数字信号</a:t>
            </a:r>
            <a:r>
              <a:rPr lang="zh-CN" altLang="zh-CN" b="1" dirty="0"/>
              <a:t>（</a:t>
            </a:r>
            <a:r>
              <a:rPr lang="en-US" altLang="zh-CN" b="1" dirty="0"/>
              <a:t>Digital</a:t>
            </a:r>
            <a:r>
              <a:rPr lang="zh-CN" altLang="zh-CN" b="1" dirty="0"/>
              <a:t>）</a:t>
            </a:r>
            <a:r>
              <a:rPr lang="zh-CN" altLang="en-US" dirty="0"/>
              <a:t>：</a:t>
            </a:r>
            <a:r>
              <a:rPr lang="zh-CN" altLang="zh-CN" dirty="0"/>
              <a:t>使用序列离散值表示数据的信号</a:t>
            </a:r>
            <a:endParaRPr lang="en-US" altLang="zh-CN" dirty="0"/>
          </a:p>
          <a:p>
            <a:pPr marL="914400" lvl="1" indent="-457200">
              <a:buFont typeface="+mj-lt"/>
              <a:buAutoNum type="arabicPeriod"/>
            </a:pPr>
            <a:r>
              <a:rPr lang="en-US" altLang="zh-CN" b="1" dirty="0"/>
              <a:t>PWM</a:t>
            </a:r>
            <a:r>
              <a:rPr lang="zh-CN" altLang="zh-CN" b="1" dirty="0"/>
              <a:t>（</a:t>
            </a:r>
            <a:r>
              <a:rPr lang="en-US" altLang="zh-CN" b="1" dirty="0"/>
              <a:t>Pulse-width modulation</a:t>
            </a:r>
            <a:r>
              <a:rPr lang="zh-CN" altLang="zh-CN" b="1" dirty="0"/>
              <a:t>）</a:t>
            </a:r>
            <a:r>
              <a:rPr lang="zh-CN" altLang="en-US" dirty="0"/>
              <a:t>：</a:t>
            </a:r>
            <a:r>
              <a:rPr lang="zh-CN" altLang="zh-CN" dirty="0"/>
              <a:t>基于数字信号的脉冲调制技术</a:t>
            </a:r>
            <a:endParaRPr lang="en-US" altLang="zh-CN" dirty="0"/>
          </a:p>
          <a:p>
            <a:pPr marL="914400" lvl="1" indent="-457200">
              <a:buFont typeface="+mj-lt"/>
              <a:buAutoNum type="arabicPeriod"/>
            </a:pPr>
            <a:r>
              <a:rPr lang="en-US" altLang="zh-CN" b="1" dirty="0"/>
              <a:t>UART</a:t>
            </a:r>
            <a:r>
              <a:rPr lang="zh-CN" altLang="zh-CN" b="1" dirty="0"/>
              <a:t>（</a:t>
            </a:r>
            <a:r>
              <a:rPr lang="en-US" altLang="zh-CN" b="1" dirty="0"/>
              <a:t>Universal Asynchronous Receiver/Transmitter</a:t>
            </a:r>
            <a:r>
              <a:rPr lang="zh-CN" altLang="zh-CN" b="1" dirty="0"/>
              <a:t>）</a:t>
            </a:r>
            <a:r>
              <a:rPr lang="zh-CN" altLang="en-US" dirty="0"/>
              <a:t>：</a:t>
            </a:r>
            <a:r>
              <a:rPr lang="zh-CN" altLang="zh-CN" dirty="0"/>
              <a:t>用于异步逐位传输数据的全双工通信接口标准</a:t>
            </a:r>
            <a:endParaRPr lang="en-US" altLang="zh-CN" dirty="0"/>
          </a:p>
          <a:p>
            <a:pPr marL="914400" lvl="1" indent="-457200">
              <a:buFont typeface="+mj-lt"/>
              <a:buAutoNum type="arabicPeriod"/>
            </a:pPr>
            <a:r>
              <a:rPr lang="en-US" altLang="zh-CN" b="1" dirty="0"/>
              <a:t>I</a:t>
            </a:r>
            <a:r>
              <a:rPr lang="en-US" altLang="zh-CN" b="1" baseline="30000" dirty="0"/>
              <a:t>2</a:t>
            </a:r>
            <a:r>
              <a:rPr lang="en-US" altLang="zh-CN" b="1" dirty="0"/>
              <a:t>C</a:t>
            </a:r>
            <a:r>
              <a:rPr lang="zh-CN" altLang="zh-CN" b="1" dirty="0"/>
              <a:t>（</a:t>
            </a:r>
            <a:r>
              <a:rPr lang="en-US" altLang="zh-CN" b="1" dirty="0"/>
              <a:t>Inter Integrated Circuit</a:t>
            </a:r>
            <a:r>
              <a:rPr lang="zh-CN" altLang="zh-CN" b="1" dirty="0"/>
              <a:t>）</a:t>
            </a:r>
            <a:r>
              <a:rPr lang="zh-CN" altLang="en-US" dirty="0"/>
              <a:t>：</a:t>
            </a:r>
            <a:r>
              <a:rPr lang="en-US" altLang="zh-CN" dirty="0"/>
              <a:t>Phillips</a:t>
            </a:r>
            <a:r>
              <a:rPr lang="zh-CN" altLang="zh-CN" dirty="0"/>
              <a:t>公司推出的高性能串行总线</a:t>
            </a:r>
            <a:endParaRPr lang="en-US" altLang="zh-CN" dirty="0"/>
          </a:p>
          <a:p>
            <a:pPr marL="914400" lvl="1" indent="-457200">
              <a:buFont typeface="+mj-lt"/>
              <a:buAutoNum type="arabicPeriod"/>
            </a:pPr>
            <a:r>
              <a:rPr lang="en-US" altLang="zh-CN" b="1" dirty="0"/>
              <a:t>SPI</a:t>
            </a:r>
            <a:r>
              <a:rPr lang="zh-CN" altLang="zh-CN" b="1" dirty="0"/>
              <a:t>（</a:t>
            </a:r>
            <a:r>
              <a:rPr lang="en-US" altLang="zh-CN" b="1" dirty="0"/>
              <a:t>Serial Peripheral Interface</a:t>
            </a:r>
            <a:r>
              <a:rPr lang="zh-CN" altLang="zh-CN" b="1" dirty="0"/>
              <a:t>）</a:t>
            </a:r>
            <a:r>
              <a:rPr lang="zh-CN" altLang="en-US" dirty="0"/>
              <a:t>：</a:t>
            </a:r>
            <a:r>
              <a:rPr lang="zh-CN" altLang="zh-CN" dirty="0"/>
              <a:t>高速、全双工、同步的通信总线</a:t>
            </a:r>
            <a:endParaRPr lang="en-US" altLang="zh-CN" dirty="0"/>
          </a:p>
        </p:txBody>
      </p:sp>
      <p:sp>
        <p:nvSpPr>
          <p:cNvPr id="4" name="灯片编号占位符 4">
            <a:extLst>
              <a:ext uri="{FF2B5EF4-FFF2-40B4-BE49-F238E27FC236}">
                <a16:creationId xmlns:a16="http://schemas.microsoft.com/office/drawing/2014/main" id="{1D39EEED-05EA-460E-9111-1F708C76591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17598968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Wingdings" panose="05000000000000000000" pitchFamily="2" charset="2"/>
              </a:rPr>
              <a:t>通信协议</a:t>
            </a:r>
          </a:p>
        </p:txBody>
      </p:sp>
      <p:sp>
        <p:nvSpPr>
          <p:cNvPr id="3" name="内容占位符 2"/>
          <p:cNvSpPr>
            <a:spLocks noGrp="1"/>
          </p:cNvSpPr>
          <p:nvPr>
            <p:ph idx="1"/>
          </p:nvPr>
        </p:nvSpPr>
        <p:spPr/>
        <p:txBody>
          <a:bodyPr/>
          <a:lstStyle/>
          <a:p>
            <a:r>
              <a:rPr lang="zh-CN" altLang="en-US" dirty="0"/>
              <a:t>模拟信号</a:t>
            </a:r>
            <a:r>
              <a:rPr lang="zh-CN" altLang="zh-CN" dirty="0"/>
              <a:t>（</a:t>
            </a:r>
            <a:r>
              <a:rPr lang="en-US" altLang="zh-CN" dirty="0"/>
              <a:t>Analog</a:t>
            </a:r>
            <a:r>
              <a:rPr lang="zh-CN" altLang="zh-CN" dirty="0"/>
              <a:t>）</a:t>
            </a:r>
            <a:r>
              <a:rPr lang="zh-CN" altLang="en-US" dirty="0"/>
              <a:t>：使用模拟量表示数据的信号</a:t>
            </a:r>
            <a:endParaRPr lang="en-US" altLang="zh-CN" dirty="0"/>
          </a:p>
        </p:txBody>
      </p:sp>
      <p:pic>
        <p:nvPicPr>
          <p:cNvPr id="6" name="图片 5" descr="2-12"/>
          <p:cNvPicPr/>
          <p:nvPr/>
        </p:nvPicPr>
        <p:blipFill>
          <a:blip r:embed="rId3"/>
          <a:stretch>
            <a:fillRect/>
          </a:stretch>
        </p:blipFill>
        <p:spPr>
          <a:xfrm>
            <a:off x="5200650" y="1543050"/>
            <a:ext cx="2800350" cy="4979670"/>
          </a:xfrm>
          <a:prstGeom prst="rect">
            <a:avLst/>
          </a:prstGeom>
        </p:spPr>
      </p:pic>
      <p:sp>
        <p:nvSpPr>
          <p:cNvPr id="8" name="内容占位符 2">
            <a:extLst>
              <a:ext uri="{FF2B5EF4-FFF2-40B4-BE49-F238E27FC236}">
                <a16:creationId xmlns:a16="http://schemas.microsoft.com/office/drawing/2014/main" id="{C6277FD2-B0C7-450F-A319-B1DFA82E0039}"/>
              </a:ext>
            </a:extLst>
          </p:cNvPr>
          <p:cNvSpPr txBox="1">
            <a:spLocks/>
          </p:cNvSpPr>
          <p:nvPr/>
        </p:nvSpPr>
        <p:spPr bwMode="auto">
          <a:xfrm>
            <a:off x="457200" y="1590637"/>
            <a:ext cx="4312508" cy="3871051"/>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lnSpc>
                <a:spcPct val="120000"/>
              </a:lnSpc>
              <a:spcBef>
                <a:spcPct val="20000"/>
              </a:spcBef>
              <a:spcAft>
                <a:spcPct val="0"/>
              </a:spcAft>
              <a:buClr>
                <a:schemeClr val="tx1"/>
              </a:buClr>
              <a:buFont typeface="Wingdings" panose="05000000000000000000" pitchFamily="2" charset="2"/>
              <a:buChar char="l"/>
              <a:defRPr lang="zh-CN" altLang="en-US" sz="2400" b="1" baseline="0" dirty="0" smtClean="0">
                <a:solidFill>
                  <a:schemeClr val="tx1"/>
                </a:solidFill>
                <a:effectLst/>
                <a:latin typeface="+mj-ea"/>
                <a:ea typeface="+mj-ea"/>
                <a:cs typeface="+mn-cs"/>
              </a:defRPr>
            </a:lvl1pPr>
            <a:lvl2pPr marL="742950" indent="-285750" algn="l" rtl="0" eaLnBrk="0" fontAlgn="base" hangingPunct="0">
              <a:lnSpc>
                <a:spcPct val="120000"/>
              </a:lnSpc>
              <a:spcBef>
                <a:spcPct val="20000"/>
              </a:spcBef>
              <a:spcAft>
                <a:spcPct val="0"/>
              </a:spcAft>
              <a:buClr>
                <a:schemeClr val="tx1"/>
              </a:buClr>
              <a:buFont typeface="Wingdings" panose="05000000000000000000" pitchFamily="2" charset="2"/>
              <a:buChar char="l"/>
              <a:defRPr sz="2000" b="0" baseline="0">
                <a:solidFill>
                  <a:schemeClr val="tx1"/>
                </a:solidFill>
                <a:effectLst/>
                <a:latin typeface="+mj-ea"/>
                <a:ea typeface="+mj-ea"/>
              </a:defRPr>
            </a:lvl2pPr>
            <a:lvl3pPr marL="1143000" indent="-228600" algn="l" rtl="0" eaLnBrk="0" fontAlgn="base" hangingPunct="0">
              <a:lnSpc>
                <a:spcPct val="120000"/>
              </a:lnSpc>
              <a:spcBef>
                <a:spcPct val="20000"/>
              </a:spcBef>
              <a:spcAft>
                <a:spcPct val="0"/>
              </a:spcAft>
              <a:buClr>
                <a:schemeClr val="tx1"/>
              </a:buClr>
              <a:buFont typeface="Wingdings" panose="05000000000000000000" pitchFamily="2" charset="2"/>
              <a:buChar char="l"/>
              <a:defRPr sz="1800" b="0" i="0" baseline="0">
                <a:solidFill>
                  <a:schemeClr val="tx1"/>
                </a:solidFill>
                <a:effectLst/>
                <a:latin typeface="+mj-ea"/>
                <a:ea typeface="+mj-ea"/>
              </a:defRPr>
            </a:lvl3pPr>
            <a:lvl4pPr marL="1600200" indent="-228600" algn="l" rtl="0" eaLnBrk="0" fontAlgn="base" hangingPunct="0">
              <a:lnSpc>
                <a:spcPct val="120000"/>
              </a:lnSpc>
              <a:spcBef>
                <a:spcPct val="20000"/>
              </a:spcBef>
              <a:spcAft>
                <a:spcPct val="0"/>
              </a:spcAft>
              <a:buClr>
                <a:schemeClr val="tx1"/>
              </a:buClr>
              <a:buSzPct val="100000"/>
              <a:buFont typeface="Wingdings" panose="05000000000000000000" pitchFamily="2" charset="2"/>
              <a:buChar char="l"/>
              <a:defRPr sz="1600" baseline="0">
                <a:solidFill>
                  <a:schemeClr val="tx1"/>
                </a:solidFill>
                <a:effectLst/>
                <a:latin typeface="+mj-ea"/>
                <a:ea typeface="+mj-ea"/>
              </a:defRPr>
            </a:lvl4pPr>
            <a:lvl5pPr marL="1828800" indent="0" algn="l" rtl="0" eaLnBrk="0" fontAlgn="base" hangingPunct="0">
              <a:spcBef>
                <a:spcPct val="20000"/>
              </a:spcBef>
              <a:spcAft>
                <a:spcPct val="0"/>
              </a:spcAft>
              <a:buClr>
                <a:schemeClr val="tx1"/>
              </a:buClr>
              <a:buSzPct val="100000"/>
              <a:buFont typeface="Wingdings" panose="05000000000000000000" pitchFamily="2" charset="2"/>
              <a:buNone/>
              <a:defRPr sz="1600" b="1" i="1" baseline="0">
                <a:solidFill>
                  <a:schemeClr val="tx1"/>
                </a:solidFill>
                <a:effectLst/>
                <a:latin typeface="+mj-ea"/>
                <a:ea typeface="+mj-ea"/>
              </a:defRPr>
            </a:lvl5pPr>
            <a:lvl6pPr marL="25146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6pPr>
            <a:lvl7pPr marL="29718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7pPr>
            <a:lvl8pPr marL="34290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8pPr>
            <a:lvl9pPr marL="3886200" indent="-228600" algn="l" rtl="0" fontAlgn="base">
              <a:spcBef>
                <a:spcPct val="20000"/>
              </a:spcBef>
              <a:spcAft>
                <a:spcPct val="0"/>
              </a:spcAft>
              <a:buClr>
                <a:schemeClr val="folHlink"/>
              </a:buClr>
              <a:buSzPct val="100000"/>
              <a:buFont typeface="Wingdings" panose="05000000000000000000" pitchFamily="2" charset="2"/>
              <a:buChar char="ü"/>
              <a:defRPr sz="1600" b="1" i="1">
                <a:solidFill>
                  <a:srgbClr val="660066"/>
                </a:solidFill>
                <a:latin typeface="+mn-lt"/>
              </a:defRPr>
            </a:lvl9pPr>
          </a:lstStyle>
          <a:p>
            <a:pPr lvl="1">
              <a:buClr>
                <a:srgbClr val="C00000"/>
              </a:buClr>
              <a:buFont typeface="Wingdings" panose="05000000000000000000" pitchFamily="2" charset="2"/>
              <a:buChar char="Ø"/>
            </a:pPr>
            <a:r>
              <a:rPr lang="zh-CN" altLang="en-US" kern="0" dirty="0"/>
              <a:t>表示物理世界中随时间变化的连续变量，例如声音、压力、光照强度等</a:t>
            </a:r>
          </a:p>
          <a:p>
            <a:pPr lvl="1">
              <a:buClr>
                <a:srgbClr val="C00000"/>
              </a:buClr>
              <a:buFont typeface="Wingdings" panose="05000000000000000000" pitchFamily="2" charset="2"/>
              <a:buChar char="Ø"/>
            </a:pPr>
            <a:r>
              <a:rPr lang="zh-CN" altLang="en-US" kern="0" dirty="0"/>
              <a:t>处理器并不能直接解析模拟信号所表示的数据，一般需要借助模拟数字转换器（</a:t>
            </a:r>
            <a:r>
              <a:rPr lang="en-US" altLang="zh-CN" kern="0" dirty="0"/>
              <a:t>ADC</a:t>
            </a:r>
            <a:r>
              <a:rPr lang="zh-CN" altLang="en-US" kern="0" dirty="0"/>
              <a:t>，</a:t>
            </a:r>
            <a:r>
              <a:rPr lang="en-US" altLang="zh-CN" kern="0" dirty="0"/>
              <a:t>Analog to Digital</a:t>
            </a:r>
            <a:r>
              <a:rPr lang="zh-CN" altLang="en-US" kern="0" dirty="0"/>
              <a:t>）</a:t>
            </a:r>
            <a:endParaRPr lang="en-US" altLang="zh-CN" kern="0" dirty="0"/>
          </a:p>
          <a:p>
            <a:pPr lvl="1">
              <a:buClr>
                <a:srgbClr val="C00000"/>
              </a:buClr>
              <a:buFont typeface="Wingdings" panose="05000000000000000000" pitchFamily="2" charset="2"/>
              <a:buChar char="Ø"/>
            </a:pPr>
            <a:r>
              <a:rPr lang="zh-CN" altLang="en-US" kern="0" dirty="0"/>
              <a:t>接口连接方式：</a:t>
            </a:r>
          </a:p>
        </p:txBody>
      </p:sp>
      <p:sp>
        <p:nvSpPr>
          <p:cNvPr id="9" name="灯片编号占位符 4">
            <a:extLst>
              <a:ext uri="{FF2B5EF4-FFF2-40B4-BE49-F238E27FC236}">
                <a16:creationId xmlns:a16="http://schemas.microsoft.com/office/drawing/2014/main" id="{63EE1E3C-78ED-43D9-9994-0F4443DC20D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18</a:t>
            </a:fld>
            <a:endParaRPr lang="zh-CN" altLang="zh-CN" sz="1800" baseline="0" dirty="0">
              <a:solidFill>
                <a:schemeClr val="folHlink"/>
              </a:solidFill>
              <a:latin typeface="Monotype Corsiva" panose="03010101010201010101" pitchFamily="66" charset="0"/>
            </a:endParaRPr>
          </a:p>
        </p:txBody>
      </p:sp>
      <p:pic>
        <p:nvPicPr>
          <p:cNvPr id="10" name="图片 9" descr="2-13">
            <a:extLst>
              <a:ext uri="{FF2B5EF4-FFF2-40B4-BE49-F238E27FC236}">
                <a16:creationId xmlns:a16="http://schemas.microsoft.com/office/drawing/2014/main" id="{90259650-460D-4F60-B508-CE5BF088F08C}"/>
              </a:ext>
            </a:extLst>
          </p:cNvPr>
          <p:cNvPicPr/>
          <p:nvPr/>
        </p:nvPicPr>
        <p:blipFill>
          <a:blip r:embed="rId4"/>
          <a:stretch>
            <a:fillRect/>
          </a:stretch>
        </p:blipFill>
        <p:spPr>
          <a:xfrm>
            <a:off x="1143000" y="4829104"/>
            <a:ext cx="3243492" cy="1693616"/>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panose="05000000000000000000" pitchFamily="2" charset="2"/>
              </a:rPr>
              <a:t>通信协议</a:t>
            </a:r>
            <a:endParaRPr lang="zh-CN" altLang="en-US" dirty="0">
              <a:sym typeface="Wingdings" panose="05000000000000000000" pitchFamily="2" charset="2"/>
            </a:endParaRPr>
          </a:p>
        </p:txBody>
      </p:sp>
      <p:sp>
        <p:nvSpPr>
          <p:cNvPr id="3" name="内容占位符 2"/>
          <p:cNvSpPr>
            <a:spLocks noGrp="1"/>
          </p:cNvSpPr>
          <p:nvPr>
            <p:ph idx="1"/>
          </p:nvPr>
        </p:nvSpPr>
        <p:spPr/>
        <p:txBody>
          <a:bodyPr/>
          <a:lstStyle/>
          <a:p>
            <a:r>
              <a:rPr lang="zh-CN" altLang="en-US"/>
              <a:t>数字信号</a:t>
            </a:r>
            <a:r>
              <a:rPr lang="zh-CN" altLang="zh-CN"/>
              <a:t>（</a:t>
            </a:r>
            <a:r>
              <a:rPr lang="en-US" altLang="zh-CN"/>
              <a:t>Digital</a:t>
            </a:r>
            <a:r>
              <a:rPr lang="zh-CN" altLang="zh-CN"/>
              <a:t>）</a:t>
            </a:r>
            <a:r>
              <a:rPr lang="zh-CN" altLang="en-US"/>
              <a:t>：</a:t>
            </a:r>
            <a:r>
              <a:rPr lang="zh-CN" altLang="zh-CN"/>
              <a:t>使用序列离散值表示数据的信号</a:t>
            </a:r>
            <a:endParaRPr lang="en-US" altLang="zh-CN"/>
          </a:p>
          <a:p>
            <a:pPr lvl="1"/>
            <a:r>
              <a:rPr lang="en-US" altLang="zh-CN"/>
              <a:t>抗干扰能力强</a:t>
            </a:r>
          </a:p>
          <a:p>
            <a:pPr lvl="1"/>
            <a:r>
              <a:rPr lang="en-US" altLang="zh-CN"/>
              <a:t>可以使用不同的编码模式</a:t>
            </a:r>
          </a:p>
          <a:p>
            <a:pPr lvl="2"/>
            <a:r>
              <a:rPr lang="en-US" altLang="zh-CN"/>
              <a:t>不归零编码（NRZ）、归零编码（RZ）、曼彻斯特编码、差分曼彻斯特编码</a:t>
            </a:r>
            <a:endParaRPr lang="en-US" altLang="zh-CN"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4441" y="3317461"/>
            <a:ext cx="6175118" cy="3159539"/>
          </a:xfrm>
          <a:prstGeom prst="rect">
            <a:avLst/>
          </a:prstGeom>
        </p:spPr>
      </p:pic>
      <p:sp>
        <p:nvSpPr>
          <p:cNvPr id="7" name="灯片编号占位符 4">
            <a:extLst>
              <a:ext uri="{FF2B5EF4-FFF2-40B4-BE49-F238E27FC236}">
                <a16:creationId xmlns:a16="http://schemas.microsoft.com/office/drawing/2014/main" id="{C5297F72-32A3-4CDB-8965-05382A5E931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19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panose="05000000000000000000" pitchFamily="2" charset="2"/>
              </a:rPr>
              <a:t>通信协议</a:t>
            </a:r>
            <a:endParaRPr lang="zh-CN" altLang="en-US" dirty="0">
              <a:sym typeface="Wingdings" panose="05000000000000000000" pitchFamily="2" charset="2"/>
            </a:endParaRPr>
          </a:p>
        </p:txBody>
      </p:sp>
      <p:sp>
        <p:nvSpPr>
          <p:cNvPr id="3" name="内容占位符 2"/>
          <p:cNvSpPr>
            <a:spLocks noGrp="1"/>
          </p:cNvSpPr>
          <p:nvPr>
            <p:ph idx="1"/>
          </p:nvPr>
        </p:nvSpPr>
        <p:spPr/>
        <p:txBody>
          <a:bodyPr/>
          <a:lstStyle/>
          <a:p>
            <a:r>
              <a:rPr lang="en-US" altLang="zh-CN" dirty="0"/>
              <a:t>PWM</a:t>
            </a:r>
            <a:r>
              <a:rPr lang="zh-CN" altLang="zh-CN" dirty="0"/>
              <a:t>（</a:t>
            </a:r>
            <a:r>
              <a:rPr lang="en-US" altLang="zh-CN" dirty="0"/>
              <a:t>Pulse-width modulation</a:t>
            </a:r>
            <a:r>
              <a:rPr lang="zh-CN" altLang="zh-CN" dirty="0"/>
              <a:t>）</a:t>
            </a:r>
            <a:r>
              <a:rPr lang="zh-CN" altLang="en-US" dirty="0"/>
              <a:t>：</a:t>
            </a:r>
            <a:r>
              <a:rPr lang="zh-CN" altLang="zh-CN" dirty="0"/>
              <a:t>基于数字信号的脉冲调制技术</a:t>
            </a:r>
            <a:endParaRPr lang="en-US" altLang="zh-CN" dirty="0"/>
          </a:p>
          <a:p>
            <a:pPr lvl="1"/>
            <a:r>
              <a:rPr lang="zh-CN" altLang="en-US" dirty="0"/>
              <a:t>组成：频率，占空比</a:t>
            </a:r>
            <a:endParaRPr lang="en-US" altLang="zh-CN" dirty="0"/>
          </a:p>
          <a:p>
            <a:pPr lvl="2"/>
            <a:r>
              <a:rPr lang="zh-CN" altLang="zh-CN" dirty="0"/>
              <a:t>频率决定了信号的周期，占空比决定了单个周期内高电平的持续时间</a:t>
            </a:r>
            <a:endParaRPr lang="zh-CN" altLang="en-US" dirty="0"/>
          </a:p>
          <a:p>
            <a:pPr lvl="1"/>
            <a:r>
              <a:rPr lang="zh-CN" altLang="en-US" dirty="0"/>
              <a:t>用途：一般用于控制LED灯或电机功率，降低能耗</a:t>
            </a:r>
          </a:p>
        </p:txBody>
      </p:sp>
      <p:pic>
        <p:nvPicPr>
          <p:cNvPr id="14338" name="Picture 2"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790" y="3173492"/>
            <a:ext cx="6502420" cy="3684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a:extLst>
              <a:ext uri="{FF2B5EF4-FFF2-40B4-BE49-F238E27FC236}">
                <a16:creationId xmlns:a16="http://schemas.microsoft.com/office/drawing/2014/main" id="{DC5E4E2F-4177-4E40-BF3F-C18A9A6D142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panose="05000000000000000000" pitchFamily="2" charset="2"/>
              </a:rPr>
              <a:t>通信协议</a:t>
            </a:r>
            <a:endParaRPr lang="zh-CN" altLang="en-US" dirty="0">
              <a:sym typeface="Wingdings" panose="05000000000000000000" pitchFamily="2" charset="2"/>
            </a:endParaRPr>
          </a:p>
        </p:txBody>
      </p:sp>
      <p:sp>
        <p:nvSpPr>
          <p:cNvPr id="3" name="内容占位符 2"/>
          <p:cNvSpPr>
            <a:spLocks noGrp="1"/>
          </p:cNvSpPr>
          <p:nvPr>
            <p:ph idx="1"/>
          </p:nvPr>
        </p:nvSpPr>
        <p:spPr/>
        <p:txBody>
          <a:bodyPr/>
          <a:lstStyle/>
          <a:p>
            <a:r>
              <a:rPr lang="en-US" altLang="zh-CN" dirty="0"/>
              <a:t>UART</a:t>
            </a:r>
            <a:r>
              <a:rPr lang="zh-CN" altLang="zh-CN" dirty="0"/>
              <a:t>（</a:t>
            </a:r>
            <a:r>
              <a:rPr lang="en-US" altLang="zh-CN" dirty="0"/>
              <a:t>Universal Asynchronous Receiver/ Transmitter</a:t>
            </a:r>
            <a:r>
              <a:rPr lang="zh-CN" altLang="zh-CN" dirty="0"/>
              <a:t>）</a:t>
            </a:r>
            <a:r>
              <a:rPr lang="zh-CN" altLang="en-US" dirty="0"/>
              <a:t>：</a:t>
            </a:r>
            <a:r>
              <a:rPr lang="zh-CN" altLang="zh-CN" dirty="0"/>
              <a:t>用于异步逐位传输数据的全双工通信接口标准</a:t>
            </a:r>
            <a:endParaRPr lang="en-US" altLang="zh-CN" dirty="0"/>
          </a:p>
          <a:p>
            <a:pPr lvl="1"/>
            <a:r>
              <a:rPr lang="zh-CN" altLang="en-US" dirty="0"/>
              <a:t>全双工：同一时刻用两个引脚</a:t>
            </a:r>
            <a:r>
              <a:rPr lang="en-US" altLang="zh-CN" dirty="0"/>
              <a:t>RX</a:t>
            </a:r>
            <a:r>
              <a:rPr lang="zh-CN" altLang="en-US" dirty="0"/>
              <a:t>和</a:t>
            </a:r>
            <a:r>
              <a:rPr lang="en-US" altLang="zh-CN" dirty="0"/>
              <a:t>TX</a:t>
            </a:r>
            <a:r>
              <a:rPr lang="zh-CN" altLang="en-US" dirty="0"/>
              <a:t>分别收发数据</a:t>
            </a:r>
          </a:p>
          <a:p>
            <a:pPr lvl="1"/>
            <a:r>
              <a:rPr lang="zh-CN" altLang="en-US" dirty="0"/>
              <a:t>异步：没有时钟同步，收发方规定好数据位长和传输波特率即可开始通信</a:t>
            </a:r>
          </a:p>
        </p:txBody>
      </p:sp>
      <p:pic>
        <p:nvPicPr>
          <p:cNvPr id="15362" name="Picture 2"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797" y="3695700"/>
            <a:ext cx="7026605" cy="2912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a:extLst>
              <a:ext uri="{FF2B5EF4-FFF2-40B4-BE49-F238E27FC236}">
                <a16:creationId xmlns:a16="http://schemas.microsoft.com/office/drawing/2014/main" id="{531947E6-E80F-47BF-B14D-A01AA9F1B37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Wingdings" panose="05000000000000000000" pitchFamily="2" charset="2"/>
              </a:rPr>
              <a:t>通信协议</a:t>
            </a:r>
          </a:p>
        </p:txBody>
      </p:sp>
      <p:sp>
        <p:nvSpPr>
          <p:cNvPr id="3" name="内容占位符 2"/>
          <p:cNvSpPr>
            <a:spLocks noGrp="1"/>
          </p:cNvSpPr>
          <p:nvPr>
            <p:ph idx="1"/>
          </p:nvPr>
        </p:nvSpPr>
        <p:spPr>
          <a:xfrm>
            <a:off x="457200" y="990600"/>
            <a:ext cx="3583459" cy="5410200"/>
          </a:xfrm>
        </p:spPr>
        <p:txBody>
          <a:bodyPr/>
          <a:lstStyle/>
          <a:p>
            <a:r>
              <a:rPr lang="en-US" altLang="zh-CN" dirty="0"/>
              <a:t>UART</a:t>
            </a:r>
            <a:r>
              <a:rPr lang="zh-CN" altLang="en-US" dirty="0"/>
              <a:t>数据传输</a:t>
            </a:r>
            <a:endParaRPr lang="en-US" altLang="zh-CN" dirty="0"/>
          </a:p>
          <a:p>
            <a:pPr lvl="1"/>
            <a:r>
              <a:rPr lang="zh-CN" altLang="en-US" dirty="0"/>
              <a:t>为了保证数据正确传输，收发双方必须在传输开始和结束设置统一的</a:t>
            </a:r>
            <a:r>
              <a:rPr lang="zh-CN" altLang="en-US" dirty="0">
                <a:solidFill>
                  <a:srgbClr val="C00000"/>
                </a:solidFill>
              </a:rPr>
              <a:t>标志位和波特率</a:t>
            </a:r>
          </a:p>
          <a:p>
            <a:pPr lvl="1"/>
            <a:r>
              <a:rPr lang="zh-CN" altLang="en-US" dirty="0"/>
              <a:t>为了保证数据正确解析，收发双方还需要保证接收方具有足够大小的</a:t>
            </a:r>
            <a:r>
              <a:rPr lang="zh-CN" altLang="en-US" dirty="0">
                <a:solidFill>
                  <a:srgbClr val="C00000"/>
                </a:solidFill>
              </a:rPr>
              <a:t>接收缓冲区</a:t>
            </a:r>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pic>
        <p:nvPicPr>
          <p:cNvPr id="16387" name="Picture 3" descr="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4168" y="3429000"/>
            <a:ext cx="4879832" cy="2416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0659" y="1242564"/>
            <a:ext cx="5066271" cy="165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4">
            <a:extLst>
              <a:ext uri="{FF2B5EF4-FFF2-40B4-BE49-F238E27FC236}">
                <a16:creationId xmlns:a16="http://schemas.microsoft.com/office/drawing/2014/main" id="{DCFB04F3-E3A5-4AD1-8A50-AF99176699F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22</a:t>
            </a:fld>
            <a:endParaRPr lang="zh-CN" altLang="zh-CN" sz="1800" baseline="0" dirty="0">
              <a:solidFill>
                <a:schemeClr val="folHlink"/>
              </a:solidFill>
              <a:latin typeface="Monotype Corsiva" panose="03010101010201010101" pitchFamily="66" charset="0"/>
            </a:endParaRPr>
          </a:p>
        </p:txBody>
      </p:sp>
      <p:sp>
        <p:nvSpPr>
          <p:cNvPr id="7" name="矩形 6">
            <a:extLst>
              <a:ext uri="{FF2B5EF4-FFF2-40B4-BE49-F238E27FC236}">
                <a16:creationId xmlns:a16="http://schemas.microsoft.com/office/drawing/2014/main" id="{03CAD828-8551-4DA8-8E04-E7EF343C43B4}"/>
              </a:ext>
            </a:extLst>
          </p:cNvPr>
          <p:cNvSpPr/>
          <p:nvPr/>
        </p:nvSpPr>
        <p:spPr>
          <a:xfrm>
            <a:off x="4395273" y="5703763"/>
            <a:ext cx="4828053" cy="338554"/>
          </a:xfrm>
          <a:prstGeom prst="rect">
            <a:avLst/>
          </a:prstGeom>
        </p:spPr>
        <p:txBody>
          <a:bodyPr wrap="none">
            <a:spAutoFit/>
          </a:bodyPr>
          <a:lstStyle/>
          <a:p>
            <a:pPr algn="just">
              <a:spcAft>
                <a:spcPts val="0"/>
              </a:spcAft>
            </a:pPr>
            <a:r>
              <a:rPr lang="en-US" altLang="zh-CN" kern="900" dirty="0">
                <a:latin typeface="+mj-ea"/>
                <a:ea typeface="+mj-ea"/>
                <a:cs typeface="Courier New" panose="02070309020205020404" pitchFamily="49" charset="0"/>
              </a:rPr>
              <a:t>UART</a:t>
            </a:r>
            <a:r>
              <a:rPr lang="zh-CN" altLang="zh-CN" kern="900" dirty="0">
                <a:latin typeface="+mj-ea"/>
                <a:ea typeface="+mj-ea"/>
                <a:cs typeface="Courier New" panose="02070309020205020404" pitchFamily="49" charset="0"/>
              </a:rPr>
              <a:t>波特率和数据采样关系（收发端波特率一致）</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panose="05000000000000000000" pitchFamily="2" charset="2"/>
              </a:rPr>
              <a:t>通信协议</a:t>
            </a:r>
            <a:endParaRPr lang="zh-CN" altLang="en-US" dirty="0">
              <a:sym typeface="Wingdings" panose="05000000000000000000" pitchFamily="2" charset="2"/>
            </a:endParaRPr>
          </a:p>
        </p:txBody>
      </p:sp>
      <p:sp>
        <p:nvSpPr>
          <p:cNvPr id="3" name="内容占位符 2"/>
          <p:cNvSpPr>
            <a:spLocks noGrp="1"/>
          </p:cNvSpPr>
          <p:nvPr>
            <p:ph idx="1"/>
          </p:nvPr>
        </p:nvSpPr>
        <p:spPr/>
        <p:txBody>
          <a:bodyPr/>
          <a:lstStyle/>
          <a:p>
            <a:r>
              <a:rPr lang="en-US" altLang="zh-CN" dirty="0"/>
              <a:t>I</a:t>
            </a:r>
            <a:r>
              <a:rPr lang="en-US" altLang="zh-CN" baseline="30000" dirty="0"/>
              <a:t>2</a:t>
            </a:r>
            <a:r>
              <a:rPr lang="en-US" altLang="zh-CN" dirty="0"/>
              <a:t>C</a:t>
            </a:r>
            <a:r>
              <a:rPr lang="zh-CN" altLang="zh-CN" dirty="0"/>
              <a:t>（</a:t>
            </a:r>
            <a:r>
              <a:rPr lang="en-US" altLang="zh-CN" dirty="0"/>
              <a:t>Inter Integrated Circuit</a:t>
            </a:r>
            <a:r>
              <a:rPr lang="zh-CN" altLang="zh-CN" dirty="0"/>
              <a:t>）</a:t>
            </a:r>
            <a:r>
              <a:rPr lang="zh-CN" altLang="en-US" dirty="0"/>
              <a:t>：</a:t>
            </a:r>
            <a:r>
              <a:rPr lang="en-US" altLang="zh-CN" dirty="0"/>
              <a:t>Phillips</a:t>
            </a:r>
            <a:r>
              <a:rPr lang="zh-CN" altLang="zh-CN" dirty="0"/>
              <a:t>公司推出的高性能串行总线</a:t>
            </a:r>
            <a:endParaRPr lang="en-US" altLang="zh-CN" dirty="0"/>
          </a:p>
          <a:p>
            <a:pPr lvl="1"/>
            <a:r>
              <a:rPr lang="zh-CN" altLang="en-US" dirty="0"/>
              <a:t>两根传输线</a:t>
            </a:r>
          </a:p>
          <a:p>
            <a:pPr lvl="1"/>
            <a:r>
              <a:rPr lang="zh-CN" altLang="en-US" dirty="0"/>
              <a:t>双向数据传输的</a:t>
            </a:r>
            <a:r>
              <a:rPr lang="en-US" altLang="zh-CN" dirty="0"/>
              <a:t>SDA</a:t>
            </a:r>
            <a:r>
              <a:rPr lang="zh-CN" altLang="en-US" dirty="0"/>
              <a:t>数据线，用于数据同步的</a:t>
            </a:r>
            <a:r>
              <a:rPr lang="en-US" altLang="zh-CN" dirty="0"/>
              <a:t>SCL</a:t>
            </a:r>
            <a:r>
              <a:rPr lang="zh-CN" altLang="en-US" dirty="0"/>
              <a:t>时钟线</a:t>
            </a:r>
          </a:p>
          <a:p>
            <a:pPr lvl="1"/>
            <a:r>
              <a:rPr lang="zh-CN" altLang="en-US" dirty="0"/>
              <a:t>多设备支持</a:t>
            </a:r>
          </a:p>
          <a:p>
            <a:pPr lvl="1"/>
            <a:r>
              <a:rPr lang="zh-CN" altLang="en-US" dirty="0"/>
              <a:t>半双工：</a:t>
            </a:r>
            <a:r>
              <a:rPr lang="zh-CN" altLang="zh-CN" dirty="0"/>
              <a:t>同一时刻</a:t>
            </a:r>
            <a:r>
              <a:rPr lang="en-US" altLang="zh-CN" dirty="0"/>
              <a:t>SDA</a:t>
            </a:r>
            <a:r>
              <a:rPr lang="zh-CN" altLang="zh-CN" dirty="0"/>
              <a:t>数据线只有一个数据传输方向</a:t>
            </a:r>
            <a:endParaRPr lang="zh-CN" altLang="en-US" dirty="0"/>
          </a:p>
          <a:p>
            <a:pPr lvl="1"/>
            <a:r>
              <a:rPr lang="zh-CN" altLang="en-US" dirty="0"/>
              <a:t>总线调度采用先来先服务方式</a:t>
            </a:r>
          </a:p>
          <a:p>
            <a:pPr lvl="2"/>
            <a:endParaRPr lang="en-US" altLang="zh-CN" dirty="0"/>
          </a:p>
          <a:p>
            <a:pPr lvl="2"/>
            <a:endParaRPr lang="en-US" altLang="zh-CN" dirty="0"/>
          </a:p>
          <a:p>
            <a:pPr lvl="2"/>
            <a:endParaRPr lang="en-US" altLang="zh-CN" dirty="0"/>
          </a:p>
          <a:p>
            <a:pPr lvl="2"/>
            <a:endParaRPr lang="en-US" altLang="zh-CN" dirty="0"/>
          </a:p>
          <a:p>
            <a:pPr lvl="1"/>
            <a:endParaRPr lang="en-US" altLang="zh-CN" dirty="0"/>
          </a:p>
          <a:p>
            <a:pPr lvl="1"/>
            <a:endParaRPr lang="en-US" altLang="zh-CN" dirty="0"/>
          </a:p>
          <a:p>
            <a:pPr lvl="1"/>
            <a:endParaRPr lang="en-US" altLang="zh-CN" dirty="0"/>
          </a:p>
        </p:txBody>
      </p:sp>
      <p:pic>
        <p:nvPicPr>
          <p:cNvPr id="17410" name="Picture 2" descr="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0151" y="4062185"/>
            <a:ext cx="6343697" cy="260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a:extLst>
              <a:ext uri="{FF2B5EF4-FFF2-40B4-BE49-F238E27FC236}">
                <a16:creationId xmlns:a16="http://schemas.microsoft.com/office/drawing/2014/main" id="{8AB79FA4-E437-49AE-8AF3-143CCC228BB2}"/>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Wingdings" panose="05000000000000000000" pitchFamily="2" charset="2"/>
              </a:rPr>
              <a:t>通信协议</a:t>
            </a:r>
          </a:p>
        </p:txBody>
      </p:sp>
      <p:sp>
        <p:nvSpPr>
          <p:cNvPr id="3" name="内容占位符 2"/>
          <p:cNvSpPr>
            <a:spLocks noGrp="1"/>
          </p:cNvSpPr>
          <p:nvPr>
            <p:ph idx="1"/>
          </p:nvPr>
        </p:nvSpPr>
        <p:spPr/>
        <p:txBody>
          <a:bodyPr/>
          <a:lstStyle/>
          <a:p>
            <a:r>
              <a:rPr lang="en-US" altLang="zh-CN" dirty="0"/>
              <a:t>I</a:t>
            </a:r>
            <a:r>
              <a:rPr lang="en-US" altLang="zh-CN" baseline="30000" dirty="0"/>
              <a:t>2</a:t>
            </a:r>
            <a:r>
              <a:rPr lang="en-US" altLang="zh-CN" dirty="0"/>
              <a:t>C属性</a:t>
            </a:r>
          </a:p>
          <a:p>
            <a:pPr lvl="1"/>
            <a:r>
              <a:rPr lang="zh-CN" altLang="en-US" dirty="0"/>
              <a:t>数据属性</a:t>
            </a:r>
          </a:p>
          <a:p>
            <a:pPr lvl="1"/>
            <a:endParaRPr lang="zh-CN" altLang="en-US" dirty="0"/>
          </a:p>
          <a:p>
            <a:pPr lvl="1"/>
            <a:endParaRPr lang="zh-CN" altLang="en-US" dirty="0"/>
          </a:p>
          <a:p>
            <a:pPr lvl="1"/>
            <a:endParaRPr lang="zh-CN" altLang="en-US" dirty="0"/>
          </a:p>
          <a:p>
            <a:pPr lvl="1"/>
            <a:endParaRPr lang="zh-CN" altLang="en-US" dirty="0"/>
          </a:p>
          <a:p>
            <a:pPr lvl="1"/>
            <a:r>
              <a:rPr lang="zh-CN" altLang="en-US" dirty="0"/>
              <a:t>地址表示</a:t>
            </a:r>
          </a:p>
          <a:p>
            <a:pPr lvl="2"/>
            <a:r>
              <a:rPr lang="zh-CN" altLang="en-US" dirty="0"/>
              <a:t>高七位代表从设备地址</a:t>
            </a:r>
          </a:p>
          <a:p>
            <a:pPr lvl="2"/>
            <a:r>
              <a:rPr lang="zh-CN" altLang="en-US" dirty="0"/>
              <a:t>低一位表示数据传输方向，“</a:t>
            </a:r>
            <a:r>
              <a:rPr lang="en-US" altLang="zh-CN" dirty="0"/>
              <a:t>0”</a:t>
            </a:r>
            <a:r>
              <a:rPr lang="zh-CN" altLang="en-US" dirty="0"/>
              <a:t>表示写，“</a:t>
            </a:r>
            <a:r>
              <a:rPr lang="en-US" altLang="zh-CN" dirty="0"/>
              <a:t>1”</a:t>
            </a:r>
            <a:r>
              <a:rPr lang="zh-CN" altLang="en-US" dirty="0"/>
              <a:t>表示读</a:t>
            </a:r>
          </a:p>
          <a:p>
            <a:pPr lvl="1"/>
            <a:endParaRPr lang="en-US" altLang="zh-CN" dirty="0"/>
          </a:p>
          <a:p>
            <a:pPr lvl="1"/>
            <a:endParaRPr lang="en-US" altLang="zh-CN" dirty="0"/>
          </a:p>
          <a:p>
            <a:pPr lvl="1"/>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69092390"/>
              </p:ext>
            </p:extLst>
          </p:nvPr>
        </p:nvGraphicFramePr>
        <p:xfrm>
          <a:off x="1477736" y="1959896"/>
          <a:ext cx="6264732" cy="1645920"/>
        </p:xfrm>
        <a:graphic>
          <a:graphicData uri="http://schemas.openxmlformats.org/drawingml/2006/table">
            <a:tbl>
              <a:tblPr firstRow="1" firstCol="1" bandRow="1">
                <a:tableStyleId>{5940675A-B579-460E-94D1-54222C63F5DA}</a:tableStyleId>
              </a:tblPr>
              <a:tblGrid>
                <a:gridCol w="1044122">
                  <a:extLst>
                    <a:ext uri="{9D8B030D-6E8A-4147-A177-3AD203B41FA5}">
                      <a16:colId xmlns:a16="http://schemas.microsoft.com/office/drawing/2014/main" val="20000"/>
                    </a:ext>
                  </a:extLst>
                </a:gridCol>
                <a:gridCol w="1044122">
                  <a:extLst>
                    <a:ext uri="{9D8B030D-6E8A-4147-A177-3AD203B41FA5}">
                      <a16:colId xmlns:a16="http://schemas.microsoft.com/office/drawing/2014/main" val="20001"/>
                    </a:ext>
                  </a:extLst>
                </a:gridCol>
                <a:gridCol w="1044122">
                  <a:extLst>
                    <a:ext uri="{9D8B030D-6E8A-4147-A177-3AD203B41FA5}">
                      <a16:colId xmlns:a16="http://schemas.microsoft.com/office/drawing/2014/main" val="20002"/>
                    </a:ext>
                  </a:extLst>
                </a:gridCol>
                <a:gridCol w="1044122">
                  <a:extLst>
                    <a:ext uri="{9D8B030D-6E8A-4147-A177-3AD203B41FA5}">
                      <a16:colId xmlns:a16="http://schemas.microsoft.com/office/drawing/2014/main" val="20003"/>
                    </a:ext>
                  </a:extLst>
                </a:gridCol>
                <a:gridCol w="1044122">
                  <a:extLst>
                    <a:ext uri="{9D8B030D-6E8A-4147-A177-3AD203B41FA5}">
                      <a16:colId xmlns:a16="http://schemas.microsoft.com/office/drawing/2014/main" val="20004"/>
                    </a:ext>
                  </a:extLst>
                </a:gridCol>
                <a:gridCol w="1044122">
                  <a:extLst>
                    <a:ext uri="{9D8B030D-6E8A-4147-A177-3AD203B41FA5}">
                      <a16:colId xmlns:a16="http://schemas.microsoft.com/office/drawing/2014/main" val="20005"/>
                    </a:ext>
                  </a:extLst>
                </a:gridCol>
              </a:tblGrid>
              <a:tr h="442334">
                <a:tc gridSpan="4">
                  <a:txBody>
                    <a:bodyPr/>
                    <a:lstStyle/>
                    <a:p>
                      <a:pPr algn="ctr">
                        <a:spcAft>
                          <a:spcPts val="0"/>
                        </a:spcAft>
                      </a:pPr>
                      <a:r>
                        <a:rPr lang="zh-CN" sz="1800" kern="100" dirty="0">
                          <a:effectLst/>
                          <a:latin typeface="+mj-ea"/>
                          <a:ea typeface="+mj-ea"/>
                        </a:rPr>
                        <a:t>传输速率（</a:t>
                      </a:r>
                      <a:r>
                        <a:rPr lang="en-US" sz="1800" kern="100" dirty="0">
                          <a:effectLst/>
                          <a:latin typeface="+mj-ea"/>
                          <a:ea typeface="+mj-ea"/>
                        </a:rPr>
                        <a:t>bps</a:t>
                      </a:r>
                      <a:r>
                        <a:rPr lang="zh-CN" sz="1800" kern="100" dirty="0">
                          <a:effectLst/>
                          <a:latin typeface="+mj-ea"/>
                          <a:ea typeface="+mj-ea"/>
                        </a:rPr>
                        <a:t>）</a:t>
                      </a: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algn="ctr">
                        <a:spcAft>
                          <a:spcPts val="0"/>
                        </a:spcAft>
                      </a:pPr>
                      <a:r>
                        <a:rPr lang="zh-CN" sz="1800" kern="100">
                          <a:effectLst/>
                          <a:latin typeface="+mj-ea"/>
                          <a:ea typeface="+mj-ea"/>
                        </a:rPr>
                        <a:t>最大长度（</a:t>
                      </a:r>
                      <a:r>
                        <a:rPr lang="en-US" sz="1800" kern="100">
                          <a:effectLst/>
                          <a:latin typeface="+mj-ea"/>
                          <a:ea typeface="+mj-ea"/>
                        </a:rPr>
                        <a:t>m</a:t>
                      </a:r>
                      <a:r>
                        <a:rPr lang="zh-CN" sz="1800" kern="100">
                          <a:effectLst/>
                          <a:latin typeface="+mj-ea"/>
                          <a:ea typeface="+mj-ea"/>
                        </a:rPr>
                        <a:t>）</a:t>
                      </a:r>
                    </a:p>
                  </a:txBody>
                  <a:tcPr marL="68580" marR="68580" marT="0" marB="0" anchor="ctr"/>
                </a:tc>
                <a:tc>
                  <a:txBody>
                    <a:bodyPr/>
                    <a:lstStyle/>
                    <a:p>
                      <a:pPr algn="ctr">
                        <a:spcAft>
                          <a:spcPts val="0"/>
                        </a:spcAft>
                      </a:pPr>
                      <a:r>
                        <a:rPr lang="zh-CN" sz="1800" kern="100">
                          <a:effectLst/>
                          <a:latin typeface="+mj-ea"/>
                          <a:ea typeface="+mj-ea"/>
                        </a:rPr>
                        <a:t>支持设备数</a:t>
                      </a:r>
                    </a:p>
                  </a:txBody>
                  <a:tcPr marL="68580" marR="68580" marT="0" marB="0" anchor="ctr"/>
                </a:tc>
                <a:extLst>
                  <a:ext uri="{0D108BD9-81ED-4DB2-BD59-A6C34878D82A}">
                    <a16:rowId xmlns:a16="http://schemas.microsoft.com/office/drawing/2014/main" val="10000"/>
                  </a:ext>
                </a:extLst>
              </a:tr>
              <a:tr h="663501">
                <a:tc>
                  <a:txBody>
                    <a:bodyPr/>
                    <a:lstStyle/>
                    <a:p>
                      <a:pPr algn="ctr">
                        <a:spcAft>
                          <a:spcPts val="0"/>
                        </a:spcAft>
                      </a:pPr>
                      <a:r>
                        <a:rPr lang="zh-CN" sz="1800" kern="100" dirty="0">
                          <a:effectLst/>
                          <a:latin typeface="+mj-ea"/>
                          <a:ea typeface="+mj-ea"/>
                        </a:rPr>
                        <a:t>标准模式</a:t>
                      </a:r>
                      <a:r>
                        <a:rPr lang="en-US" sz="1800" kern="100" dirty="0">
                          <a:effectLst/>
                          <a:latin typeface="+mj-ea"/>
                          <a:ea typeface="+mj-ea"/>
                        </a:rPr>
                        <a:t>(Sm)</a:t>
                      </a:r>
                      <a:endParaRPr lang="zh-CN" sz="1800" b="0" kern="100" dirty="0">
                        <a:solidFill>
                          <a:schemeClr val="tx1"/>
                        </a:solidFill>
                        <a:effectLst/>
                        <a:latin typeface="+mj-ea"/>
                        <a:ea typeface="+mj-ea"/>
                      </a:endParaRPr>
                    </a:p>
                  </a:txBody>
                  <a:tcPr marL="68580" marR="68580" marT="0" marB="0" anchor="ctr"/>
                </a:tc>
                <a:tc>
                  <a:txBody>
                    <a:bodyPr/>
                    <a:lstStyle/>
                    <a:p>
                      <a:pPr algn="ctr">
                        <a:spcAft>
                          <a:spcPts val="0"/>
                        </a:spcAft>
                      </a:pPr>
                      <a:r>
                        <a:rPr lang="zh-CN" sz="1800" kern="100" dirty="0">
                          <a:effectLst/>
                          <a:latin typeface="+mj-ea"/>
                          <a:ea typeface="+mj-ea"/>
                        </a:rPr>
                        <a:t>快速模式</a:t>
                      </a:r>
                      <a:r>
                        <a:rPr lang="en-US" sz="1800" kern="100" dirty="0">
                          <a:effectLst/>
                          <a:latin typeface="+mj-ea"/>
                          <a:ea typeface="+mj-ea"/>
                        </a:rPr>
                        <a:t>(</a:t>
                      </a:r>
                      <a:r>
                        <a:rPr lang="en-US" sz="1800" kern="100" dirty="0" err="1">
                          <a:effectLst/>
                          <a:latin typeface="+mj-ea"/>
                          <a:ea typeface="+mj-ea"/>
                        </a:rPr>
                        <a:t>Fm</a:t>
                      </a:r>
                      <a:r>
                        <a:rPr lang="en-US" sz="1800" kern="100" dirty="0">
                          <a:effectLst/>
                          <a:latin typeface="+mj-ea"/>
                          <a:ea typeface="+mj-ea"/>
                        </a:rPr>
                        <a:t>)</a:t>
                      </a:r>
                      <a:endParaRPr lang="zh-CN" sz="1800" kern="100" dirty="0">
                        <a:effectLst/>
                        <a:latin typeface="+mj-ea"/>
                        <a:ea typeface="+mj-ea"/>
                      </a:endParaRPr>
                    </a:p>
                  </a:txBody>
                  <a:tcPr marL="68580" marR="68580" marT="0" marB="0" anchor="ctr"/>
                </a:tc>
                <a:tc>
                  <a:txBody>
                    <a:bodyPr/>
                    <a:lstStyle/>
                    <a:p>
                      <a:pPr algn="ctr">
                        <a:spcAft>
                          <a:spcPts val="0"/>
                        </a:spcAft>
                      </a:pPr>
                      <a:r>
                        <a:rPr lang="zh-CN" sz="1800" kern="100" dirty="0">
                          <a:effectLst/>
                          <a:latin typeface="+mj-ea"/>
                          <a:ea typeface="+mj-ea"/>
                        </a:rPr>
                        <a:t>增强快速模式</a:t>
                      </a:r>
                      <a:r>
                        <a:rPr lang="en-US" sz="1800" kern="100" dirty="0">
                          <a:effectLst/>
                          <a:latin typeface="+mj-ea"/>
                          <a:ea typeface="+mj-ea"/>
                        </a:rPr>
                        <a:t>(</a:t>
                      </a:r>
                      <a:r>
                        <a:rPr lang="en-US" sz="1800" kern="100" dirty="0" err="1">
                          <a:effectLst/>
                          <a:latin typeface="+mj-ea"/>
                          <a:ea typeface="+mj-ea"/>
                        </a:rPr>
                        <a:t>Fm</a:t>
                      </a:r>
                      <a:r>
                        <a:rPr lang="en-US" sz="1800" kern="100" dirty="0">
                          <a:effectLst/>
                          <a:latin typeface="+mj-ea"/>
                          <a:ea typeface="+mj-ea"/>
                        </a:rPr>
                        <a:t>+)</a:t>
                      </a:r>
                      <a:endParaRPr lang="zh-CN" sz="1800" kern="100" dirty="0">
                        <a:effectLst/>
                        <a:latin typeface="+mj-ea"/>
                        <a:ea typeface="+mj-ea"/>
                      </a:endParaRPr>
                    </a:p>
                  </a:txBody>
                  <a:tcPr marL="68580" marR="68580" marT="0" marB="0" anchor="ctr"/>
                </a:tc>
                <a:tc>
                  <a:txBody>
                    <a:bodyPr/>
                    <a:lstStyle/>
                    <a:p>
                      <a:pPr algn="ctr">
                        <a:spcAft>
                          <a:spcPts val="0"/>
                        </a:spcAft>
                      </a:pPr>
                      <a:r>
                        <a:rPr lang="zh-CN" sz="1800" kern="100" dirty="0">
                          <a:effectLst/>
                          <a:latin typeface="+mj-ea"/>
                          <a:ea typeface="+mj-ea"/>
                        </a:rPr>
                        <a:t>高速模式</a:t>
                      </a:r>
                      <a:r>
                        <a:rPr lang="en-US" sz="1800" kern="100" dirty="0">
                          <a:effectLst/>
                          <a:latin typeface="+mj-ea"/>
                          <a:ea typeface="+mj-ea"/>
                        </a:rPr>
                        <a:t>(Hs-Mode)</a:t>
                      </a:r>
                      <a:endParaRPr lang="zh-CN" sz="1800" kern="100" dirty="0">
                        <a:effectLst/>
                        <a:latin typeface="+mj-ea"/>
                        <a:ea typeface="+mj-ea"/>
                      </a:endParaRPr>
                    </a:p>
                  </a:txBody>
                  <a:tcPr marL="68580" marR="68580" marT="0" marB="0" anchor="ctr"/>
                </a:tc>
                <a:tc rowSpan="2">
                  <a:txBody>
                    <a:bodyPr/>
                    <a:lstStyle/>
                    <a:p>
                      <a:pPr algn="ctr">
                        <a:spcAft>
                          <a:spcPts val="0"/>
                        </a:spcAft>
                      </a:pPr>
                      <a:r>
                        <a:rPr lang="en-US" sz="1800" kern="100" dirty="0">
                          <a:effectLst/>
                          <a:latin typeface="+mj-ea"/>
                          <a:ea typeface="+mj-ea"/>
                        </a:rPr>
                        <a:t>7.62</a:t>
                      </a:r>
                      <a:endParaRPr lang="zh-CN" sz="1800" kern="100" dirty="0">
                        <a:effectLst/>
                        <a:latin typeface="+mj-ea"/>
                        <a:ea typeface="+mj-ea"/>
                      </a:endParaRPr>
                    </a:p>
                  </a:txBody>
                  <a:tcPr marL="68580" marR="68580" marT="0" marB="0" anchor="ctr"/>
                </a:tc>
                <a:tc rowSpan="2">
                  <a:txBody>
                    <a:bodyPr/>
                    <a:lstStyle/>
                    <a:p>
                      <a:pPr algn="ctr">
                        <a:spcAft>
                          <a:spcPts val="0"/>
                        </a:spcAft>
                      </a:pPr>
                      <a:r>
                        <a:rPr lang="en-US" sz="1800" kern="100" dirty="0">
                          <a:effectLst/>
                          <a:latin typeface="+mj-ea"/>
                          <a:ea typeface="+mj-ea"/>
                        </a:rPr>
                        <a:t>127</a:t>
                      </a:r>
                      <a:endParaRPr lang="zh-CN" sz="1800" kern="100" dirty="0">
                        <a:effectLst/>
                        <a:latin typeface="+mj-ea"/>
                        <a:ea typeface="+mj-ea"/>
                      </a:endParaRPr>
                    </a:p>
                  </a:txBody>
                  <a:tcPr marL="68580" marR="68580" marT="0" marB="0" anchor="ctr"/>
                </a:tc>
                <a:extLst>
                  <a:ext uri="{0D108BD9-81ED-4DB2-BD59-A6C34878D82A}">
                    <a16:rowId xmlns:a16="http://schemas.microsoft.com/office/drawing/2014/main" val="10001"/>
                  </a:ext>
                </a:extLst>
              </a:tr>
              <a:tr h="221167">
                <a:tc>
                  <a:txBody>
                    <a:bodyPr/>
                    <a:lstStyle/>
                    <a:p>
                      <a:pPr algn="ctr">
                        <a:spcAft>
                          <a:spcPts val="0"/>
                        </a:spcAft>
                      </a:pPr>
                      <a:r>
                        <a:rPr lang="en-US" sz="1800" kern="100" dirty="0">
                          <a:effectLst/>
                          <a:latin typeface="+mj-ea"/>
                          <a:ea typeface="+mj-ea"/>
                        </a:rPr>
                        <a:t>100k</a:t>
                      </a:r>
                      <a:endParaRPr lang="zh-CN" sz="1800" b="0" kern="100" dirty="0">
                        <a:solidFill>
                          <a:schemeClr val="tx1"/>
                        </a:solidFill>
                        <a:effectLst/>
                        <a:latin typeface="+mj-ea"/>
                        <a:ea typeface="+mj-ea"/>
                      </a:endParaRPr>
                    </a:p>
                  </a:txBody>
                  <a:tcPr marL="68580" marR="68580" marT="0" marB="0" anchor="ctr"/>
                </a:tc>
                <a:tc>
                  <a:txBody>
                    <a:bodyPr/>
                    <a:lstStyle/>
                    <a:p>
                      <a:pPr algn="ctr">
                        <a:spcAft>
                          <a:spcPts val="0"/>
                        </a:spcAft>
                      </a:pPr>
                      <a:r>
                        <a:rPr lang="en-US" sz="1800" kern="100" dirty="0">
                          <a:effectLst/>
                          <a:latin typeface="+mj-ea"/>
                          <a:ea typeface="+mj-ea"/>
                        </a:rPr>
                        <a:t>400k</a:t>
                      </a:r>
                      <a:endParaRPr lang="zh-CN" sz="1800" kern="100" dirty="0">
                        <a:effectLst/>
                        <a:latin typeface="+mj-ea"/>
                        <a:ea typeface="+mj-ea"/>
                      </a:endParaRPr>
                    </a:p>
                  </a:txBody>
                  <a:tcPr marL="68580" marR="68580" marT="0" marB="0" anchor="ctr"/>
                </a:tc>
                <a:tc>
                  <a:txBody>
                    <a:bodyPr/>
                    <a:lstStyle/>
                    <a:p>
                      <a:pPr algn="ctr">
                        <a:spcAft>
                          <a:spcPts val="0"/>
                        </a:spcAft>
                      </a:pPr>
                      <a:r>
                        <a:rPr lang="en-US" sz="1800" kern="100" dirty="0">
                          <a:effectLst/>
                          <a:latin typeface="+mj-ea"/>
                          <a:ea typeface="+mj-ea"/>
                        </a:rPr>
                        <a:t>1M</a:t>
                      </a:r>
                      <a:endParaRPr lang="zh-CN" sz="1800" kern="100" dirty="0">
                        <a:effectLst/>
                        <a:latin typeface="+mj-ea"/>
                        <a:ea typeface="+mj-ea"/>
                      </a:endParaRPr>
                    </a:p>
                  </a:txBody>
                  <a:tcPr marL="68580" marR="68580" marT="0" marB="0" anchor="ctr"/>
                </a:tc>
                <a:tc>
                  <a:txBody>
                    <a:bodyPr/>
                    <a:lstStyle/>
                    <a:p>
                      <a:pPr algn="ctr">
                        <a:spcAft>
                          <a:spcPts val="0"/>
                        </a:spcAft>
                      </a:pPr>
                      <a:r>
                        <a:rPr lang="en-US" sz="1800" kern="100" dirty="0">
                          <a:effectLst/>
                          <a:latin typeface="+mj-ea"/>
                          <a:ea typeface="+mj-ea"/>
                        </a:rPr>
                        <a:t>3.4M</a:t>
                      </a:r>
                      <a:endParaRPr lang="zh-CN" sz="1800" kern="100" dirty="0">
                        <a:effectLst/>
                        <a:latin typeface="+mj-ea"/>
                        <a:ea typeface="+mj-ea"/>
                      </a:endParaRPr>
                    </a:p>
                  </a:txBody>
                  <a:tcPr marL="68580" marR="68580" marT="0" marB="0" anchor="ct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2"/>
                  </a:ext>
                </a:extLst>
              </a:tr>
            </a:tbl>
          </a:graphicData>
        </a:graphic>
      </p:graphicFrame>
      <p:pic>
        <p:nvPicPr>
          <p:cNvPr id="6" name="Picture 2" descr="图片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38904" y="4966599"/>
            <a:ext cx="5342391" cy="1298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4">
            <a:extLst>
              <a:ext uri="{FF2B5EF4-FFF2-40B4-BE49-F238E27FC236}">
                <a16:creationId xmlns:a16="http://schemas.microsoft.com/office/drawing/2014/main" id="{3FCC7418-1383-4675-A9E6-A3EA8B8FDFC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Wingdings" panose="05000000000000000000" pitchFamily="2" charset="2"/>
              </a:rPr>
              <a:t>通信协议</a:t>
            </a:r>
            <a:endParaRPr lang="zh-CN" altLang="en-US" dirty="0"/>
          </a:p>
        </p:txBody>
      </p:sp>
      <p:sp>
        <p:nvSpPr>
          <p:cNvPr id="3" name="内容占位符 2"/>
          <p:cNvSpPr>
            <a:spLocks noGrp="1"/>
          </p:cNvSpPr>
          <p:nvPr>
            <p:ph idx="1"/>
          </p:nvPr>
        </p:nvSpPr>
        <p:spPr/>
        <p:txBody>
          <a:bodyPr/>
          <a:lstStyle/>
          <a:p>
            <a:r>
              <a:rPr lang="en-US" altLang="zh-CN" dirty="0"/>
              <a:t>SPI</a:t>
            </a:r>
            <a:r>
              <a:rPr lang="zh-CN" altLang="zh-CN" dirty="0"/>
              <a:t>（</a:t>
            </a:r>
            <a:r>
              <a:rPr lang="en-US" altLang="zh-CN" dirty="0"/>
              <a:t>Serial Peripheral Interface</a:t>
            </a:r>
            <a:r>
              <a:rPr lang="zh-CN" altLang="zh-CN" dirty="0"/>
              <a:t>）</a:t>
            </a:r>
            <a:r>
              <a:rPr lang="zh-CN" altLang="en-US" dirty="0"/>
              <a:t>：</a:t>
            </a:r>
            <a:r>
              <a:rPr lang="zh-CN" altLang="zh-CN" dirty="0"/>
              <a:t>高速、全双工、同步的通信总线</a:t>
            </a:r>
            <a:endParaRPr lang="en-US" altLang="zh-CN" dirty="0"/>
          </a:p>
          <a:p>
            <a:pPr lvl="1"/>
            <a:r>
              <a:rPr lang="zh-CN" altLang="en-US" dirty="0"/>
              <a:t>全双工：两根数据线</a:t>
            </a:r>
            <a:r>
              <a:rPr lang="en-US" altLang="zh-CN" dirty="0"/>
              <a:t>MISO</a:t>
            </a:r>
            <a:r>
              <a:rPr lang="zh-CN" altLang="en-US" dirty="0"/>
              <a:t>和</a:t>
            </a:r>
            <a:r>
              <a:rPr lang="en-US" altLang="zh-CN" dirty="0"/>
              <a:t>MOSI</a:t>
            </a:r>
            <a:r>
              <a:rPr lang="zh-CN" altLang="en-US" dirty="0"/>
              <a:t>，允许双向通信</a:t>
            </a:r>
            <a:endParaRPr lang="en-US" altLang="zh-CN" dirty="0"/>
          </a:p>
          <a:p>
            <a:pPr lvl="1"/>
            <a:r>
              <a:rPr lang="zh-CN" altLang="en-US" dirty="0"/>
              <a:t>时钟频率很高，数据传输率很高</a:t>
            </a:r>
            <a:endParaRPr lang="en-US" altLang="zh-CN" dirty="0"/>
          </a:p>
          <a:p>
            <a:pPr lvl="1"/>
            <a:r>
              <a:rPr lang="zh-CN" altLang="en-US" dirty="0"/>
              <a:t>配置复杂：控制寄存器配置工作模式，波特率寄存器配置数据传输率</a:t>
            </a:r>
            <a:endParaRPr lang="en-US" altLang="zh-CN" dirty="0"/>
          </a:p>
          <a:p>
            <a:pPr lvl="2"/>
            <a:endParaRPr lang="en-US" altLang="zh-CN" dirty="0"/>
          </a:p>
          <a:p>
            <a:pPr lvl="2"/>
            <a:endParaRPr lang="en-US" altLang="zh-CN" dirty="0"/>
          </a:p>
          <a:p>
            <a:pPr lvl="2"/>
            <a:endParaRPr lang="en-US" altLang="zh-CN" dirty="0"/>
          </a:p>
          <a:p>
            <a:pPr lvl="1"/>
            <a:endParaRPr lang="en-US" altLang="zh-CN" dirty="0"/>
          </a:p>
          <a:p>
            <a:pPr lvl="1"/>
            <a:endParaRPr lang="en-US" altLang="zh-CN" dirty="0"/>
          </a:p>
          <a:p>
            <a:pPr lvl="1"/>
            <a:endParaRPr lang="en-US" altLang="zh-CN" dirty="0"/>
          </a:p>
        </p:txBody>
      </p:sp>
      <p:sp>
        <p:nvSpPr>
          <p:cNvPr id="9" name="灯片编号占位符 4">
            <a:extLst>
              <a:ext uri="{FF2B5EF4-FFF2-40B4-BE49-F238E27FC236}">
                <a16:creationId xmlns:a16="http://schemas.microsoft.com/office/drawing/2014/main" id="{B09BFA12-5714-45C0-AA37-3333AAC4CD6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25</a:t>
            </a:fld>
            <a:endParaRPr lang="zh-CN" altLang="zh-CN" sz="1800" baseline="0" dirty="0">
              <a:solidFill>
                <a:schemeClr val="folHlink"/>
              </a:solidFill>
              <a:latin typeface="Monotype Corsiva" panose="03010101010201010101" pitchFamily="66" charset="0"/>
            </a:endParaRPr>
          </a:p>
        </p:txBody>
      </p:sp>
      <p:pic>
        <p:nvPicPr>
          <p:cNvPr id="10" name="图片 9" descr="2-27">
            <a:extLst>
              <a:ext uri="{FF2B5EF4-FFF2-40B4-BE49-F238E27FC236}">
                <a16:creationId xmlns:a16="http://schemas.microsoft.com/office/drawing/2014/main" id="{6CFF879B-AD81-47A7-9872-CE455F07BBAD}"/>
              </a:ext>
            </a:extLst>
          </p:cNvPr>
          <p:cNvPicPr/>
          <p:nvPr/>
        </p:nvPicPr>
        <p:blipFill>
          <a:blip r:embed="rId3"/>
          <a:stretch>
            <a:fillRect/>
          </a:stretch>
        </p:blipFill>
        <p:spPr>
          <a:xfrm>
            <a:off x="1881839" y="3607641"/>
            <a:ext cx="5266021" cy="2644877"/>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Wingdings" panose="05000000000000000000" pitchFamily="2" charset="2"/>
              </a:rPr>
              <a:t>通信协议</a:t>
            </a:r>
            <a:endParaRPr lang="zh-CN" altLang="en-US" dirty="0"/>
          </a:p>
        </p:txBody>
      </p:sp>
      <mc:AlternateContent xmlns:mc="http://schemas.openxmlformats.org/markup-compatibility/2006" xmlns:a14="http://schemas.microsoft.com/office/drawing/2010/main">
        <mc:Choice Requires="a14">
          <p:sp>
            <p:nvSpPr>
              <p:cNvPr id="3" name="内容占位符 2">
                <a:extLst/>
              </p:cNvPr>
              <p:cNvSpPr>
                <a:spLocks noGrp="1"/>
              </p:cNvSpPr>
              <p:nvPr>
                <p:ph idx="1"/>
              </p:nvPr>
            </p:nvSpPr>
            <p:spPr/>
            <p:txBody>
              <a:bodyPr/>
              <a:lstStyle/>
              <a:p>
                <a:r>
                  <a:rPr lang="en-US" altLang="zh-CN" dirty="0"/>
                  <a:t>SPI</a:t>
                </a:r>
                <a:r>
                  <a:rPr lang="zh-CN" altLang="en-US" dirty="0"/>
                  <a:t>数据传输</a:t>
                </a:r>
                <a:endParaRPr lang="en-US" altLang="zh-CN" dirty="0"/>
              </a:p>
              <a:p>
                <a:pPr lvl="1"/>
                <a:r>
                  <a:rPr lang="zh-CN" altLang="zh-CN" dirty="0"/>
                  <a:t>通过</a:t>
                </a:r>
                <a:r>
                  <a:rPr lang="zh-CN" altLang="en-US" dirty="0">
                    <a:solidFill>
                      <a:srgbClr val="C00000"/>
                    </a:solidFill>
                  </a:rPr>
                  <a:t>波特率</a:t>
                </a:r>
                <a:r>
                  <a:rPr lang="zh-CN" altLang="zh-CN" dirty="0">
                    <a:solidFill>
                      <a:srgbClr val="C00000"/>
                    </a:solidFill>
                  </a:rPr>
                  <a:t>寄存器</a:t>
                </a:r>
                <a:r>
                  <a:rPr lang="zh-CN" altLang="zh-CN" dirty="0"/>
                  <a:t>配置数据传输率</a:t>
                </a:r>
                <a:endParaRPr lang="en-US" altLang="zh-CN" dirty="0"/>
              </a:p>
              <a:p>
                <a:pPr lvl="1"/>
                <a:endParaRPr lang="en-US" altLang="zh-CN" dirty="0"/>
              </a:p>
              <a:p>
                <a:pPr lvl="1"/>
                <a:endParaRPr lang="en-US" altLang="zh-CN" dirty="0"/>
              </a:p>
              <a:p>
                <a:pPr lvl="1"/>
                <a:endParaRPr lang="en-US" altLang="zh-CN" dirty="0"/>
              </a:p>
              <a:p>
                <a:pPr lvl="1"/>
                <a:r>
                  <a:rPr lang="zh-CN" altLang="en-US" dirty="0"/>
                  <a:t>波特率分频因子</a:t>
                </a:r>
                <a:r>
                  <a:rPr lang="en-US" altLang="zh-CN" dirty="0"/>
                  <a:t>BRD</a:t>
                </a:r>
                <a:r>
                  <a:rPr lang="zh-CN" altLang="en-US" dirty="0"/>
                  <a:t>和波特率</a:t>
                </a:r>
                <a:r>
                  <a:rPr lang="en-US" altLang="zh-CN" dirty="0"/>
                  <a:t>BR</a:t>
                </a:r>
                <a:r>
                  <a:rPr lang="zh-CN" altLang="en-US" dirty="0"/>
                  <a:t>计算公式</a:t>
                </a:r>
                <a:endParaRPr lang="en-US" altLang="zh-CN" dirty="0"/>
              </a:p>
              <a:p>
                <a:pPr lvl="2"/>
                <a:endParaRPr lang="en-US" altLang="zh-CN" dirty="0"/>
              </a:p>
              <a:p>
                <a:pPr lvl="2"/>
                <a:endParaRPr lang="en-US" altLang="zh-CN" dirty="0"/>
              </a:p>
              <a:p>
                <a:pPr lvl="2"/>
                <a:endParaRPr lang="en-US" altLang="zh-CN" dirty="0"/>
              </a:p>
              <a:p>
                <a:pPr lvl="2"/>
                <a:endParaRPr lang="en-US" altLang="zh-CN" dirty="0"/>
              </a:p>
              <a:p>
                <a:pPr lvl="2"/>
                <a:r>
                  <a:rPr lang="zh-CN" altLang="en-US" dirty="0"/>
                  <a:t>如果当前时钟频率为</a:t>
                </a:r>
                <a:r>
                  <a:rPr lang="en-US" altLang="zh-CN" dirty="0"/>
                  <a:t>25MHz</a:t>
                </a:r>
                <a:r>
                  <a:rPr lang="zh-CN" altLang="en-US" dirty="0"/>
                  <a:t>，</a:t>
                </a:r>
                <a:r>
                  <a:rPr lang="en-US" altLang="zh-CN" dirty="0"/>
                  <a:t>SPPR</a:t>
                </a:r>
                <a:r>
                  <a:rPr lang="zh-CN" altLang="en-US" dirty="0"/>
                  <a:t>和</a:t>
                </a:r>
                <a:r>
                  <a:rPr lang="en-US" altLang="zh-CN" dirty="0"/>
                  <a:t>SPR</a:t>
                </a:r>
                <a:r>
                  <a:rPr lang="zh-CN" altLang="en-US" dirty="0"/>
                  <a:t>都是</a:t>
                </a:r>
                <a:r>
                  <a:rPr lang="en-US" altLang="zh-CN" dirty="0"/>
                  <a:t>000</a:t>
                </a:r>
              </a:p>
              <a:p>
                <a:pPr lvl="3"/>
                <a14:m>
                  <m:oMath xmlns:m="http://schemas.openxmlformats.org/officeDocument/2006/math">
                    <m:r>
                      <m:rPr>
                        <m:nor/>
                      </m:rPr>
                      <a:rPr lang="en-US" altLang="zh-CN" smtClean="0"/>
                      <m:t>BR</m:t>
                    </m:r>
                    <m:r>
                      <m:rPr>
                        <m:nor/>
                      </m:rPr>
                      <a:rPr lang="en-US" altLang="zh-CN" b="0" i="0" smtClean="0"/>
                      <m:t>D</m:t>
                    </m:r>
                    <m:r>
                      <m:rPr>
                        <m:nor/>
                      </m:rPr>
                      <a:rPr lang="en-US" altLang="zh-CN" smtClean="0"/>
                      <m:t>=</m:t>
                    </m:r>
                    <m:d>
                      <m:dPr>
                        <m:ctrlPr>
                          <a:rPr lang="en-US" altLang="zh-CN" i="1" smtClean="0">
                            <a:latin typeface="Cambria Math" panose="02040503050406030204" pitchFamily="18" charset="0"/>
                          </a:rPr>
                        </m:ctrlPr>
                      </m:dPr>
                      <m:e>
                        <m:r>
                          <m:rPr>
                            <m:nor/>
                          </m:rPr>
                          <a:rPr lang="en-US" altLang="zh-CN" smtClean="0"/>
                          <m:t>0+1</m:t>
                        </m:r>
                      </m:e>
                    </m:d>
                    <m:r>
                      <m:rPr>
                        <m:nor/>
                      </m:rPr>
                      <a:rPr lang="en-US" altLang="zh-CN"/>
                      <m:t>×</m:t>
                    </m:r>
                    <m:sSup>
                      <m:sSupPr>
                        <m:ctrlPr>
                          <a:rPr lang="en-US" altLang="zh-CN" i="1" smtClean="0">
                            <a:latin typeface="Cambria Math" panose="02040503050406030204" pitchFamily="18" charset="0"/>
                          </a:rPr>
                        </m:ctrlPr>
                      </m:sSupPr>
                      <m:e>
                        <m:r>
                          <m:rPr>
                            <m:nor/>
                          </m:rPr>
                          <a:rPr lang="en-US" altLang="zh-CN" smtClean="0"/>
                          <m:t>2</m:t>
                        </m:r>
                      </m:e>
                      <m:sup>
                        <m:r>
                          <m:rPr>
                            <m:nor/>
                          </m:rPr>
                          <a:rPr lang="en-US" altLang="zh-CN" smtClean="0"/>
                          <m:t>(0+1)</m:t>
                        </m:r>
                      </m:sup>
                    </m:sSup>
                    <m:r>
                      <m:rPr>
                        <m:nor/>
                      </m:rPr>
                      <a:rPr lang="en-US" altLang="zh-CN" smtClean="0"/>
                      <m:t>=2</m:t>
                    </m:r>
                  </m:oMath>
                </a14:m>
                <a:endParaRPr lang="en-US" altLang="zh-CN" dirty="0"/>
              </a:p>
              <a:p>
                <a:pPr lvl="3"/>
                <a14:m>
                  <m:oMath xmlns:m="http://schemas.openxmlformats.org/officeDocument/2006/math">
                    <m:r>
                      <m:rPr>
                        <m:nor/>
                      </m:rPr>
                      <a:rPr lang="en-US" altLang="zh-CN" smtClean="0"/>
                      <m:t>BR</m:t>
                    </m:r>
                    <m:r>
                      <m:rPr>
                        <m:nor/>
                      </m:rPr>
                      <a:rPr lang="en-US" altLang="zh-CN" smtClean="0"/>
                      <m:t>=</m:t>
                    </m:r>
                    <m:f>
                      <m:fPr>
                        <m:ctrlPr>
                          <a:rPr lang="en-US" altLang="zh-CN" i="1" smtClean="0">
                            <a:latin typeface="Cambria Math" panose="02040503050406030204" pitchFamily="18" charset="0"/>
                          </a:rPr>
                        </m:ctrlPr>
                      </m:fPr>
                      <m:num>
                        <m:r>
                          <m:rPr>
                            <m:nor/>
                          </m:rPr>
                          <a:rPr lang="en-US" altLang="zh-CN" smtClean="0"/>
                          <m:t>25</m:t>
                        </m:r>
                        <m:r>
                          <m:rPr>
                            <m:nor/>
                          </m:rPr>
                          <a:rPr lang="en-US" altLang="zh-CN" smtClean="0"/>
                          <m:t>M</m:t>
                        </m:r>
                      </m:num>
                      <m:den>
                        <m:r>
                          <m:rPr>
                            <m:nor/>
                          </m:rPr>
                          <a:rPr lang="en-US" altLang="zh-CN" smtClean="0"/>
                          <m:t>2</m:t>
                        </m:r>
                      </m:den>
                    </m:f>
                    <m:r>
                      <m:rPr>
                        <m:nor/>
                      </m:rPr>
                      <a:rPr lang="en-US" altLang="zh-CN" smtClean="0"/>
                      <m:t>=12.5</m:t>
                    </m:r>
                    <m:r>
                      <m:rPr>
                        <m:nor/>
                      </m:rPr>
                      <a:rPr lang="en-US" altLang="zh-CN" smtClean="0"/>
                      <m:t>Mbps</m:t>
                    </m:r>
                  </m:oMath>
                </a14:m>
                <a:endParaRPr lang="zh-CN" altLang="en-US" dirty="0"/>
              </a:p>
            </p:txBody>
          </p:sp>
        </mc:Choice>
        <mc:Fallback xmlns="">
          <p:sp>
            <p:nvSpPr>
              <p:cNvPr id="3" name="内容占位符 2">
                <a:extLst/>
              </p:cNvPr>
              <p:cNvSpPr>
                <a:spLocks noGrp="1" noRot="1" noChangeAspect="1" noMove="1" noResize="1" noEditPoints="1" noAdjustHandles="1" noChangeArrowheads="1" noChangeShapeType="1" noTextEdit="1"/>
              </p:cNvSpPr>
              <p:nvPr>
                <p:ph idx="1"/>
              </p:nvPr>
            </p:nvSpPr>
            <p:spPr>
              <a:blipFill>
                <a:blip r:embed="rId4"/>
                <a:stretch>
                  <a:fillRect l="-954" t="-225" b="-2480"/>
                </a:stretch>
              </a:blipFill>
            </p:spPr>
            <p:txBody>
              <a:bodyPr/>
              <a:lstStyle/>
              <a:p>
                <a:r>
                  <a:rPr lang="zh-CN" altLang="en-US">
                    <a:noFill/>
                  </a:rPr>
                  <a:t> </a:t>
                </a:r>
              </a:p>
            </p:txBody>
          </p:sp>
        </mc:Fallback>
      </mc:AlternateContent>
      <p:graphicFrame>
        <p:nvGraphicFramePr>
          <p:cNvPr id="5" name="对象 4"/>
          <p:cNvGraphicFramePr>
            <a:graphicFrameLocks noChangeAspect="1"/>
          </p:cNvGraphicFramePr>
          <p:nvPr/>
        </p:nvGraphicFramePr>
        <p:xfrm>
          <a:off x="2486220" y="3618493"/>
          <a:ext cx="3508179" cy="492001"/>
        </p:xfrm>
        <a:graphic>
          <a:graphicData uri="http://schemas.openxmlformats.org/presentationml/2006/ole">
            <mc:AlternateContent xmlns:mc="http://schemas.openxmlformats.org/markup-compatibility/2006">
              <mc:Choice xmlns:v="urn:schemas-microsoft-com:vml" Requires="v">
                <p:oleObj spid="_x0000_s23137" r:id="rId5" imgW="1434465" imgH="177800" progId="Equation.DSMT4">
                  <p:embed/>
                </p:oleObj>
              </mc:Choice>
              <mc:Fallback>
                <p:oleObj r:id="rId5" imgW="1434465" imgH="177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6220" y="3618493"/>
                        <a:ext cx="3508179" cy="492001"/>
                      </a:xfrm>
                      <a:prstGeom prst="rect">
                        <a:avLst/>
                      </a:prstGeom>
                      <a:noFill/>
                    </p:spPr>
                  </p:pic>
                </p:oleObj>
              </mc:Fallback>
            </mc:AlternateContent>
          </a:graphicData>
        </a:graphic>
      </p:graphicFrame>
      <p:sp>
        <p:nvSpPr>
          <p:cNvPr id="6" name="Rectangle 5"/>
          <p:cNvSpPr>
            <a:spLocks noChangeArrowheads="1"/>
          </p:cNvSpPr>
          <p:nvPr/>
        </p:nvSpPr>
        <p:spPr bwMode="auto">
          <a:xfrm>
            <a:off x="725714" y="5603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Rectangle 7"/>
          <p:cNvSpPr>
            <a:spLocks noChangeArrowheads="1"/>
          </p:cNvSpPr>
          <p:nvPr/>
        </p:nvSpPr>
        <p:spPr bwMode="auto">
          <a:xfrm>
            <a:off x="393700" y="585810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8" name="对象 7"/>
          <p:cNvGraphicFramePr>
            <a:graphicFrameLocks noChangeAspect="1"/>
          </p:cNvGraphicFramePr>
          <p:nvPr/>
        </p:nvGraphicFramePr>
        <p:xfrm>
          <a:off x="3487706" y="3994224"/>
          <a:ext cx="1505208" cy="988359"/>
        </p:xfrm>
        <a:graphic>
          <a:graphicData uri="http://schemas.openxmlformats.org/presentationml/2006/ole">
            <mc:AlternateContent xmlns:mc="http://schemas.openxmlformats.org/markup-compatibility/2006">
              <mc:Choice xmlns:v="urn:schemas-microsoft-com:vml" Requires="v">
                <p:oleObj spid="_x0000_s23138" r:id="rId7" imgW="584200" imgH="342900" progId="Equation.DSMT4">
                  <p:embed/>
                </p:oleObj>
              </mc:Choice>
              <mc:Fallback>
                <p:oleObj r:id="rId7" imgW="584200" imgH="3429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7706" y="3994224"/>
                        <a:ext cx="1505208" cy="988359"/>
                      </a:xfrm>
                      <a:prstGeom prst="rect">
                        <a:avLst/>
                      </a:prstGeom>
                      <a:noFill/>
                    </p:spPr>
                  </p:pic>
                </p:oleObj>
              </mc:Fallback>
            </mc:AlternateContent>
          </a:graphicData>
        </a:graphic>
      </p:graphicFrame>
      <p:cxnSp>
        <p:nvCxnSpPr>
          <p:cNvPr id="11" name="直接箭头连接符 10"/>
          <p:cNvCxnSpPr/>
          <p:nvPr/>
        </p:nvCxnSpPr>
        <p:spPr bwMode="auto">
          <a:xfrm>
            <a:off x="4965700" y="4267200"/>
            <a:ext cx="578757" cy="0"/>
          </a:xfrm>
          <a:prstGeom prst="straightConnector1">
            <a:avLst/>
          </a:prstGeom>
          <a:solidFill>
            <a:schemeClr val="accent1"/>
          </a:solidFill>
          <a:ln w="28575" cap="flat" cmpd="sng" algn="ctr">
            <a:solidFill>
              <a:srgbClr val="C00000"/>
            </a:solidFill>
            <a:prstDash val="solid"/>
            <a:round/>
            <a:headEnd type="none" w="med" len="med"/>
            <a:tailEnd type="triangle"/>
          </a:ln>
          <a:effectLst/>
        </p:spPr>
      </p:cxnSp>
      <p:sp>
        <p:nvSpPr>
          <p:cNvPr id="13" name="文本框 12"/>
          <p:cNvSpPr txBox="1"/>
          <p:nvPr/>
        </p:nvSpPr>
        <p:spPr>
          <a:xfrm>
            <a:off x="5529359" y="4038707"/>
            <a:ext cx="1057079" cy="338554"/>
          </a:xfrm>
          <a:prstGeom prst="rect">
            <a:avLst/>
          </a:prstGeom>
          <a:noFill/>
        </p:spPr>
        <p:txBody>
          <a:bodyPr wrap="square" rtlCol="0">
            <a:spAutoFit/>
          </a:bodyPr>
          <a:lstStyle/>
          <a:p>
            <a:r>
              <a:rPr lang="zh-CN" altLang="en-US" b="1" dirty="0">
                <a:solidFill>
                  <a:srgbClr val="C00000"/>
                </a:solidFill>
                <a:latin typeface="+mj-ea"/>
                <a:ea typeface="+mj-ea"/>
              </a:rPr>
              <a:t>时钟频率</a:t>
            </a:r>
          </a:p>
        </p:txBody>
      </p:sp>
      <p:sp>
        <p:nvSpPr>
          <p:cNvPr id="15" name="灯片编号占位符 4">
            <a:extLst>
              <a:ext uri="{FF2B5EF4-FFF2-40B4-BE49-F238E27FC236}">
                <a16:creationId xmlns:a16="http://schemas.microsoft.com/office/drawing/2014/main" id="{155E5E50-9879-405E-B909-DF70C643927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26</a:t>
            </a:fld>
            <a:endParaRPr lang="zh-CN" altLang="zh-CN" sz="1800" baseline="0" dirty="0">
              <a:solidFill>
                <a:schemeClr val="folHlink"/>
              </a:solidFill>
              <a:latin typeface="Monotype Corsiva" panose="03010101010201010101" pitchFamily="66" charset="0"/>
            </a:endParaRPr>
          </a:p>
        </p:txBody>
      </p:sp>
      <p:pic>
        <p:nvPicPr>
          <p:cNvPr id="16" name="图片 15" descr="2-26">
            <a:extLst>
              <a:ext uri="{FF2B5EF4-FFF2-40B4-BE49-F238E27FC236}">
                <a16:creationId xmlns:a16="http://schemas.microsoft.com/office/drawing/2014/main" id="{432CFFCD-E8EC-4625-8F77-E686198A5597}"/>
              </a:ext>
            </a:extLst>
          </p:cNvPr>
          <p:cNvPicPr/>
          <p:nvPr/>
        </p:nvPicPr>
        <p:blipFill>
          <a:blip r:embed="rId9"/>
          <a:stretch>
            <a:fillRect/>
          </a:stretch>
        </p:blipFill>
        <p:spPr>
          <a:xfrm>
            <a:off x="1739045" y="1922987"/>
            <a:ext cx="5665910" cy="1279399"/>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CB7945-6B43-4F04-B491-75E7CFD01D67}"/>
              </a:ext>
            </a:extLst>
          </p:cNvPr>
          <p:cNvSpPr>
            <a:spLocks noGrp="1"/>
          </p:cNvSpPr>
          <p:nvPr>
            <p:ph type="title"/>
          </p:nvPr>
        </p:nvSpPr>
        <p:spPr>
          <a:xfrm>
            <a:off x="393700" y="38100"/>
            <a:ext cx="8242300" cy="914400"/>
          </a:xfrm>
        </p:spPr>
        <p:txBody>
          <a:bodyPr/>
          <a:lstStyle/>
          <a:p>
            <a:r>
              <a:rPr lang="zh-CN" altLang="en-US" dirty="0"/>
              <a:t>思考题</a:t>
            </a:r>
          </a:p>
        </p:txBody>
      </p:sp>
      <p:sp>
        <p:nvSpPr>
          <p:cNvPr id="3" name="内容占位符 2">
            <a:extLst>
              <a:ext uri="{FF2B5EF4-FFF2-40B4-BE49-F238E27FC236}">
                <a16:creationId xmlns:a16="http://schemas.microsoft.com/office/drawing/2014/main" id="{6D7217EF-9D7F-4CD7-AAF3-6BEAF0C8C4A6}"/>
              </a:ext>
            </a:extLst>
          </p:cNvPr>
          <p:cNvSpPr>
            <a:spLocks noGrp="1"/>
          </p:cNvSpPr>
          <p:nvPr>
            <p:ph idx="4294967295"/>
          </p:nvPr>
        </p:nvSpPr>
        <p:spPr>
          <a:xfrm>
            <a:off x="457200" y="990600"/>
            <a:ext cx="8305800" cy="5410200"/>
          </a:xfrm>
        </p:spPr>
        <p:txBody>
          <a:bodyPr/>
          <a:lstStyle/>
          <a:p>
            <a:r>
              <a:rPr lang="zh-CN" altLang="zh-CN" dirty="0"/>
              <a:t>以写数据</a:t>
            </a:r>
            <a:r>
              <a:rPr lang="en-US" altLang="zh-CN" dirty="0"/>
              <a:t>“10101”</a:t>
            </a:r>
            <a:r>
              <a:rPr lang="zh-CN" altLang="zh-CN" dirty="0"/>
              <a:t>到</a:t>
            </a:r>
            <a:r>
              <a:rPr lang="en-US" altLang="zh-CN" dirty="0"/>
              <a:t>0x0B</a:t>
            </a:r>
            <a:r>
              <a:rPr lang="zh-CN" altLang="zh-CN" dirty="0"/>
              <a:t>设备为例，按步描述</a:t>
            </a:r>
            <a:r>
              <a:rPr lang="en-US" altLang="zh-CN" dirty="0"/>
              <a:t>I</a:t>
            </a:r>
            <a:r>
              <a:rPr lang="en-US" altLang="zh-CN" baseline="30000" dirty="0"/>
              <a:t>2</a:t>
            </a:r>
            <a:r>
              <a:rPr lang="en-US" altLang="zh-CN" dirty="0"/>
              <a:t>C</a:t>
            </a:r>
            <a:r>
              <a:rPr lang="zh-CN" altLang="zh-CN" dirty="0"/>
              <a:t>的传输过程，要求画出传输信号波形</a:t>
            </a:r>
            <a:endParaRPr lang="zh-CN" altLang="en-US" dirty="0"/>
          </a:p>
        </p:txBody>
      </p:sp>
      <p:sp>
        <p:nvSpPr>
          <p:cNvPr id="6" name="灯片编号占位符 4">
            <a:extLst>
              <a:ext uri="{FF2B5EF4-FFF2-40B4-BE49-F238E27FC236}">
                <a16:creationId xmlns:a16="http://schemas.microsoft.com/office/drawing/2014/main" id="{61807B11-E6E9-44CB-A6FC-BA1F9CA01C2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99394549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9A42A2-89D2-4C91-B5ED-A5FCC9989C9B}"/>
              </a:ext>
            </a:extLst>
          </p:cNvPr>
          <p:cNvSpPr>
            <a:spLocks noGrp="1"/>
          </p:cNvSpPr>
          <p:nvPr>
            <p:ph type="title"/>
          </p:nvPr>
        </p:nvSpPr>
        <p:spPr/>
        <p:txBody>
          <a:bodyPr/>
          <a:lstStyle/>
          <a:p>
            <a:r>
              <a:rPr lang="zh-CN" altLang="en-US" dirty="0"/>
              <a:t>接口类型</a:t>
            </a:r>
          </a:p>
        </p:txBody>
      </p:sp>
      <p:sp>
        <p:nvSpPr>
          <p:cNvPr id="3" name="内容占位符 2">
            <a:extLst>
              <a:ext uri="{FF2B5EF4-FFF2-40B4-BE49-F238E27FC236}">
                <a16:creationId xmlns:a16="http://schemas.microsoft.com/office/drawing/2014/main" id="{3EC22500-8659-412D-B80D-A5586270AF8B}"/>
              </a:ext>
            </a:extLst>
          </p:cNvPr>
          <p:cNvSpPr>
            <a:spLocks noGrp="1"/>
          </p:cNvSpPr>
          <p:nvPr>
            <p:ph idx="1"/>
          </p:nvPr>
        </p:nvSpPr>
        <p:spPr/>
        <p:txBody>
          <a:bodyPr/>
          <a:lstStyle/>
          <a:p>
            <a:r>
              <a:rPr lang="zh-CN" altLang="en-US" dirty="0"/>
              <a:t>可扩展性：</a:t>
            </a:r>
            <a:r>
              <a:rPr lang="zh-CN" altLang="zh-CN" dirty="0"/>
              <a:t>开发板对同时接入外接设备数量的支持程度</a:t>
            </a:r>
            <a:endParaRPr lang="en-US" altLang="zh-CN" dirty="0"/>
          </a:p>
          <a:p>
            <a:pPr lvl="1"/>
            <a:r>
              <a:rPr lang="zh-CN" altLang="zh-CN" dirty="0"/>
              <a:t>接口数量和接口类型是评估开发板可扩展性的重要指标</a:t>
            </a:r>
            <a:endParaRPr lang="en-US" altLang="zh-CN" dirty="0"/>
          </a:p>
          <a:p>
            <a:pPr lvl="1"/>
            <a:r>
              <a:rPr lang="zh-CN" altLang="zh-CN" dirty="0"/>
              <a:t>树莓派</a:t>
            </a:r>
            <a:r>
              <a:rPr lang="en-US" altLang="zh-CN" dirty="0"/>
              <a:t>4B</a:t>
            </a:r>
            <a:r>
              <a:rPr lang="zh-CN" altLang="en-US" dirty="0"/>
              <a:t>：</a:t>
            </a:r>
            <a:endParaRPr lang="en-US" altLang="zh-CN" dirty="0"/>
          </a:p>
          <a:p>
            <a:pPr lvl="2"/>
            <a:r>
              <a:rPr lang="en-US" altLang="zh-CN" dirty="0">
                <a:solidFill>
                  <a:srgbClr val="C00000"/>
                </a:solidFill>
              </a:rPr>
              <a:t>28</a:t>
            </a:r>
            <a:r>
              <a:rPr lang="zh-CN" altLang="zh-CN" dirty="0"/>
              <a:t>个</a:t>
            </a:r>
            <a:r>
              <a:rPr lang="en-US" altLang="zh-CN" dirty="0"/>
              <a:t>Digital</a:t>
            </a:r>
            <a:r>
              <a:rPr lang="zh-CN" altLang="zh-CN" dirty="0"/>
              <a:t>接口、</a:t>
            </a:r>
            <a:r>
              <a:rPr lang="en-US" altLang="zh-CN" dirty="0">
                <a:solidFill>
                  <a:srgbClr val="C00000"/>
                </a:solidFill>
              </a:rPr>
              <a:t>6</a:t>
            </a:r>
            <a:r>
              <a:rPr lang="zh-CN" altLang="zh-CN" dirty="0"/>
              <a:t>个</a:t>
            </a:r>
            <a:r>
              <a:rPr lang="en-US" altLang="zh-CN" dirty="0"/>
              <a:t>UART</a:t>
            </a:r>
            <a:r>
              <a:rPr lang="zh-CN" altLang="zh-CN" dirty="0"/>
              <a:t>接口、</a:t>
            </a:r>
            <a:r>
              <a:rPr lang="en-US" altLang="zh-CN" dirty="0">
                <a:solidFill>
                  <a:srgbClr val="C00000"/>
                </a:solidFill>
              </a:rPr>
              <a:t>6</a:t>
            </a:r>
            <a:r>
              <a:rPr lang="zh-CN" altLang="zh-CN" dirty="0"/>
              <a:t>个</a:t>
            </a:r>
            <a:r>
              <a:rPr lang="en-US" altLang="zh-CN" dirty="0"/>
              <a:t>I</a:t>
            </a:r>
            <a:r>
              <a:rPr lang="en-US" altLang="zh-CN" baseline="30000" dirty="0"/>
              <a:t>2</a:t>
            </a:r>
            <a:r>
              <a:rPr lang="en-US" altLang="zh-CN" dirty="0"/>
              <a:t>C</a:t>
            </a:r>
            <a:r>
              <a:rPr lang="zh-CN" altLang="zh-CN" dirty="0"/>
              <a:t>接口、</a:t>
            </a:r>
            <a:r>
              <a:rPr lang="en-US" altLang="zh-CN" dirty="0">
                <a:solidFill>
                  <a:srgbClr val="C00000"/>
                </a:solidFill>
              </a:rPr>
              <a:t>5</a:t>
            </a:r>
            <a:r>
              <a:rPr lang="zh-CN" altLang="zh-CN" dirty="0"/>
              <a:t>个</a:t>
            </a:r>
            <a:r>
              <a:rPr lang="en-US" altLang="zh-CN" dirty="0"/>
              <a:t>SPI</a:t>
            </a:r>
            <a:r>
              <a:rPr lang="zh-CN" altLang="zh-CN" dirty="0"/>
              <a:t>接口、</a:t>
            </a:r>
            <a:r>
              <a:rPr lang="en-US" altLang="zh-CN" dirty="0">
                <a:solidFill>
                  <a:srgbClr val="C00000"/>
                </a:solidFill>
              </a:rPr>
              <a:t>2</a:t>
            </a:r>
            <a:r>
              <a:rPr lang="zh-CN" altLang="zh-CN" dirty="0"/>
              <a:t>个</a:t>
            </a:r>
            <a:r>
              <a:rPr lang="en-US" altLang="zh-CN" dirty="0"/>
              <a:t>PWM</a:t>
            </a:r>
            <a:r>
              <a:rPr lang="zh-CN" altLang="zh-CN" dirty="0"/>
              <a:t>引脚</a:t>
            </a:r>
            <a:endParaRPr lang="en-US" altLang="zh-CN" dirty="0"/>
          </a:p>
          <a:p>
            <a:pPr lvl="1"/>
            <a:r>
              <a:rPr lang="en-US" altLang="zh-CN" dirty="0" err="1"/>
              <a:t>BeagleBone</a:t>
            </a:r>
            <a:r>
              <a:rPr lang="en-US" altLang="zh-CN" dirty="0"/>
              <a:t> Black</a:t>
            </a:r>
            <a:r>
              <a:rPr lang="zh-CN" altLang="en-US" dirty="0"/>
              <a:t>：</a:t>
            </a:r>
            <a:endParaRPr lang="en-US" altLang="zh-CN" baseline="30000" dirty="0"/>
          </a:p>
          <a:p>
            <a:pPr lvl="2"/>
            <a:r>
              <a:rPr lang="en-US" altLang="zh-CN" dirty="0">
                <a:solidFill>
                  <a:srgbClr val="C00000"/>
                </a:solidFill>
              </a:rPr>
              <a:t>65</a:t>
            </a:r>
            <a:r>
              <a:rPr lang="zh-CN" altLang="zh-CN" dirty="0"/>
              <a:t>个</a:t>
            </a:r>
            <a:r>
              <a:rPr lang="en-US" altLang="zh-CN" dirty="0"/>
              <a:t>Digital</a:t>
            </a:r>
            <a:r>
              <a:rPr lang="zh-CN" altLang="zh-CN" dirty="0"/>
              <a:t>接口、</a:t>
            </a:r>
            <a:r>
              <a:rPr lang="en-US" altLang="zh-CN" dirty="0">
                <a:solidFill>
                  <a:srgbClr val="C00000"/>
                </a:solidFill>
              </a:rPr>
              <a:t>7</a:t>
            </a:r>
            <a:r>
              <a:rPr lang="zh-CN" altLang="zh-CN" dirty="0"/>
              <a:t>个</a:t>
            </a:r>
            <a:r>
              <a:rPr lang="en-US" altLang="zh-CN" dirty="0"/>
              <a:t>Analog</a:t>
            </a:r>
            <a:r>
              <a:rPr lang="zh-CN" altLang="zh-CN" dirty="0"/>
              <a:t>接口、</a:t>
            </a:r>
            <a:r>
              <a:rPr lang="en-US" altLang="zh-CN" dirty="0">
                <a:solidFill>
                  <a:srgbClr val="C00000"/>
                </a:solidFill>
              </a:rPr>
              <a:t>2</a:t>
            </a:r>
            <a:r>
              <a:rPr lang="zh-CN" altLang="zh-CN" dirty="0"/>
              <a:t>个</a:t>
            </a:r>
            <a:r>
              <a:rPr lang="en-US" altLang="zh-CN" dirty="0"/>
              <a:t>I</a:t>
            </a:r>
            <a:r>
              <a:rPr lang="en-US" altLang="zh-CN" baseline="30000" dirty="0"/>
              <a:t>2</a:t>
            </a:r>
            <a:r>
              <a:rPr lang="en-US" altLang="zh-CN" dirty="0"/>
              <a:t>C</a:t>
            </a:r>
            <a:r>
              <a:rPr lang="zh-CN" altLang="zh-CN" dirty="0"/>
              <a:t>接口、</a:t>
            </a:r>
            <a:r>
              <a:rPr lang="en-US" altLang="zh-CN" dirty="0">
                <a:solidFill>
                  <a:srgbClr val="C00000"/>
                </a:solidFill>
              </a:rPr>
              <a:t>4</a:t>
            </a:r>
            <a:r>
              <a:rPr lang="zh-CN" altLang="zh-CN" dirty="0"/>
              <a:t>个</a:t>
            </a:r>
            <a:r>
              <a:rPr lang="en-US" altLang="zh-CN" dirty="0"/>
              <a:t>UART</a:t>
            </a:r>
            <a:r>
              <a:rPr lang="zh-CN" altLang="zh-CN" dirty="0"/>
              <a:t>接口、</a:t>
            </a:r>
            <a:r>
              <a:rPr lang="en-US" altLang="zh-CN" dirty="0">
                <a:solidFill>
                  <a:srgbClr val="C00000"/>
                </a:solidFill>
              </a:rPr>
              <a:t>8</a:t>
            </a:r>
            <a:r>
              <a:rPr lang="zh-CN" altLang="zh-CN" dirty="0"/>
              <a:t>个</a:t>
            </a:r>
            <a:r>
              <a:rPr lang="en-US" altLang="zh-CN" dirty="0"/>
              <a:t>PWM</a:t>
            </a:r>
            <a:r>
              <a:rPr lang="zh-CN" altLang="zh-CN" dirty="0"/>
              <a:t>引脚、</a:t>
            </a:r>
            <a:r>
              <a:rPr lang="en-US" altLang="zh-CN" dirty="0">
                <a:solidFill>
                  <a:srgbClr val="C00000"/>
                </a:solidFill>
              </a:rPr>
              <a:t>2</a:t>
            </a:r>
            <a:r>
              <a:rPr lang="zh-CN" altLang="zh-CN" dirty="0"/>
              <a:t>个</a:t>
            </a:r>
            <a:r>
              <a:rPr lang="en-US" altLang="zh-CN" dirty="0"/>
              <a:t>SPI</a:t>
            </a:r>
            <a:r>
              <a:rPr lang="zh-CN" altLang="zh-CN" dirty="0"/>
              <a:t>接口</a:t>
            </a:r>
            <a:endParaRPr lang="en-US" altLang="zh-CN" dirty="0"/>
          </a:p>
          <a:p>
            <a:pPr lvl="1"/>
            <a:r>
              <a:rPr lang="en-US" altLang="zh-CN" dirty="0" err="1"/>
              <a:t>BeagleBone</a:t>
            </a:r>
            <a:r>
              <a:rPr lang="en-US" altLang="zh-CN" dirty="0"/>
              <a:t> Black</a:t>
            </a:r>
            <a:r>
              <a:rPr lang="zh-CN" altLang="zh-CN" dirty="0"/>
              <a:t>平台的可扩展性要</a:t>
            </a:r>
            <a:r>
              <a:rPr lang="zh-CN" altLang="zh-CN" b="1" dirty="0"/>
              <a:t>优于</a:t>
            </a:r>
            <a:r>
              <a:rPr lang="zh-CN" altLang="zh-CN" dirty="0"/>
              <a:t>树莓派</a:t>
            </a:r>
            <a:endParaRPr lang="en-US" altLang="zh-CN" dirty="0"/>
          </a:p>
          <a:p>
            <a:pPr lvl="1"/>
            <a:r>
              <a:rPr lang="zh-CN" altLang="zh-CN" dirty="0"/>
              <a:t>考虑后续应用的功能扩充</a:t>
            </a:r>
            <a:r>
              <a:rPr lang="zh-CN" altLang="en-US" dirty="0"/>
              <a:t>，</a:t>
            </a:r>
            <a:r>
              <a:rPr lang="zh-CN" altLang="zh-CN" dirty="0"/>
              <a:t>往往需要在硬件平台预留几个常用类型的通信接口</a:t>
            </a:r>
            <a:endParaRPr lang="zh-CN" altLang="en-US" dirty="0"/>
          </a:p>
        </p:txBody>
      </p:sp>
      <p:sp>
        <p:nvSpPr>
          <p:cNvPr id="4" name="灯片编号占位符 4">
            <a:extLst>
              <a:ext uri="{FF2B5EF4-FFF2-40B4-BE49-F238E27FC236}">
                <a16:creationId xmlns:a16="http://schemas.microsoft.com/office/drawing/2014/main" id="{1004259A-7820-46CB-82CB-B89B02F934D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28</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83571273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目录</a:t>
            </a:r>
            <a:endParaRPr lang="zh-CN" altLang="en-US" dirty="0"/>
          </a:p>
        </p:txBody>
      </p:sp>
      <p:sp>
        <p:nvSpPr>
          <p:cNvPr id="5" name="内容占位符 2"/>
          <p:cNvSpPr>
            <a:spLocks noGrp="1"/>
          </p:cNvSpPr>
          <p:nvPr>
            <p:ph idx="4294967295"/>
          </p:nvPr>
        </p:nvSpPr>
        <p:spPr>
          <a:xfrm>
            <a:off x="457200" y="990600"/>
            <a:ext cx="8305800" cy="5410200"/>
          </a:xfrm>
        </p:spPr>
        <p:txBody>
          <a:bodyPr/>
          <a:lstStyle/>
          <a:p>
            <a:endParaRPr lang="zh-CN" altLang="en-US" sz="2800" dirty="0"/>
          </a:p>
          <a:p>
            <a:r>
              <a:rPr lang="zh-CN" altLang="en-US" sz="2800" dirty="0">
                <a:sym typeface="+mn-ea"/>
              </a:rPr>
              <a:t>概述</a:t>
            </a:r>
            <a:endParaRPr lang="zh-CN" altLang="en-US" sz="2800" dirty="0"/>
          </a:p>
          <a:p>
            <a:r>
              <a:rPr lang="zh-CN" altLang="en-US" sz="2800" dirty="0">
                <a:sym typeface="+mn-ea"/>
              </a:rPr>
              <a:t>关键特性</a:t>
            </a:r>
            <a:endParaRPr lang="zh-CN" altLang="en-US" sz="2800" dirty="0"/>
          </a:p>
          <a:p>
            <a:r>
              <a:rPr lang="zh-CN" altLang="en-US" sz="2800" dirty="0">
                <a:solidFill>
                  <a:srgbClr val="C00000"/>
                </a:solidFill>
                <a:sym typeface="+mn-ea"/>
              </a:rPr>
              <a:t>常见的硬件平台</a:t>
            </a:r>
            <a:endParaRPr lang="zh-CN" altLang="en-US" sz="2800" dirty="0">
              <a:solidFill>
                <a:srgbClr val="C00000"/>
              </a:solidFill>
            </a:endParaRPr>
          </a:p>
          <a:p>
            <a:r>
              <a:rPr lang="zh-CN" altLang="en-US" sz="2800" dirty="0">
                <a:sym typeface="+mn-ea"/>
              </a:rPr>
              <a:t>案例开发</a:t>
            </a:r>
            <a:endParaRPr lang="zh-CN" altLang="en-US" sz="2800" dirty="0"/>
          </a:p>
          <a:p>
            <a:r>
              <a:rPr lang="zh-CN" altLang="en-US" sz="2800" dirty="0">
                <a:sym typeface="+mn-ea"/>
              </a:rPr>
              <a:t>学术研究进展</a:t>
            </a:r>
            <a:endParaRPr lang="zh-CN" altLang="en-US" sz="2800" dirty="0"/>
          </a:p>
        </p:txBody>
      </p:sp>
    </p:spTree>
    <p:extLst>
      <p:ext uri="{BB962C8B-B14F-4D97-AF65-F5344CB8AC3E}">
        <p14:creationId xmlns:p14="http://schemas.microsoft.com/office/powerpoint/2010/main" val="378348142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常见的硬件平台</a:t>
            </a:r>
          </a:p>
        </p:txBody>
      </p:sp>
      <p:sp>
        <p:nvSpPr>
          <p:cNvPr id="5" name="内容占位符 2"/>
          <p:cNvSpPr>
            <a:spLocks noGrp="1"/>
          </p:cNvSpPr>
          <p:nvPr>
            <p:ph idx="1"/>
          </p:nvPr>
        </p:nvSpPr>
        <p:spPr/>
        <p:txBody>
          <a:bodyPr/>
          <a:lstStyle/>
          <a:p>
            <a:r>
              <a:rPr lang="en-US" altLang="zh-CN"/>
              <a:t>传感节点平台（TelosB等）</a:t>
            </a:r>
          </a:p>
          <a:p>
            <a:pPr lvl="1"/>
            <a:r>
              <a:rPr lang="en-US" altLang="zh-CN"/>
              <a:t>集成度高、功耗低</a:t>
            </a:r>
          </a:p>
          <a:p>
            <a:r>
              <a:rPr lang="en-US" altLang="zh-CN">
                <a:sym typeface="Wingdings" panose="05000000000000000000" pitchFamily="2" charset="2"/>
              </a:rPr>
              <a:t>STM32平台</a:t>
            </a:r>
          </a:p>
          <a:p>
            <a:pPr lvl="1"/>
            <a:r>
              <a:rPr lang="en-US" altLang="zh-CN">
                <a:sym typeface="Wingdings" panose="05000000000000000000" pitchFamily="2" charset="2"/>
              </a:rPr>
              <a:t>适合应用快速开发、物联网教学实验 </a:t>
            </a:r>
          </a:p>
          <a:p>
            <a:r>
              <a:rPr lang="en-US" altLang="zh-CN">
                <a:sym typeface="Wingdings" panose="05000000000000000000" pitchFamily="2" charset="2"/>
              </a:rPr>
              <a:t>Arduino平台</a:t>
            </a:r>
          </a:p>
          <a:p>
            <a:pPr lvl="1"/>
            <a:r>
              <a:rPr lang="en-US" altLang="zh-CN">
                <a:sym typeface="Wingdings" panose="05000000000000000000" pitchFamily="2" charset="2"/>
              </a:rPr>
              <a:t>适合应用快速开发、物联网教学实验</a:t>
            </a:r>
          </a:p>
          <a:p>
            <a:r>
              <a:rPr lang="en-US" altLang="zh-CN">
                <a:sym typeface="Wingdings" panose="05000000000000000000" pitchFamily="2" charset="2"/>
              </a:rPr>
              <a:t>树莓派平台</a:t>
            </a:r>
          </a:p>
          <a:p>
            <a:pPr lvl="1"/>
            <a:r>
              <a:rPr lang="en-US" altLang="zh-CN">
                <a:sym typeface="Wingdings" panose="05000000000000000000" pitchFamily="2" charset="2"/>
              </a:rPr>
              <a:t>适合做数据处理、复杂计算</a:t>
            </a:r>
            <a:endParaRPr lang="en-US" altLang="zh-CN" dirty="0">
              <a:sym typeface="Wingdings" panose="05000000000000000000" pitchFamily="2" charset="2"/>
            </a:endParaRPr>
          </a:p>
        </p:txBody>
      </p:sp>
      <p:sp>
        <p:nvSpPr>
          <p:cNvPr id="6" name="灯片编号占位符 4">
            <a:extLst>
              <a:ext uri="{FF2B5EF4-FFF2-40B4-BE49-F238E27FC236}">
                <a16:creationId xmlns:a16="http://schemas.microsoft.com/office/drawing/2014/main" id="{F2225394-7784-420B-B780-1E725E0277C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3A0D4F-B398-4836-A24A-E4CFCE7AD326}"/>
              </a:ext>
            </a:extLst>
          </p:cNvPr>
          <p:cNvSpPr>
            <a:spLocks noGrp="1"/>
          </p:cNvSpPr>
          <p:nvPr>
            <p:ph type="title"/>
          </p:nvPr>
        </p:nvSpPr>
        <p:spPr/>
        <p:txBody>
          <a:bodyPr/>
          <a:lstStyle/>
          <a:p>
            <a:r>
              <a:rPr lang="zh-CN" altLang="en-US" dirty="0"/>
              <a:t>传感器节点平台</a:t>
            </a:r>
          </a:p>
        </p:txBody>
      </p:sp>
      <p:sp>
        <p:nvSpPr>
          <p:cNvPr id="3" name="内容占位符 2">
            <a:extLst>
              <a:ext uri="{FF2B5EF4-FFF2-40B4-BE49-F238E27FC236}">
                <a16:creationId xmlns:a16="http://schemas.microsoft.com/office/drawing/2014/main" id="{B74CE7DC-F7B3-4D8E-97C3-61B7AFDB1B67}"/>
              </a:ext>
            </a:extLst>
          </p:cNvPr>
          <p:cNvSpPr>
            <a:spLocks noGrp="1"/>
          </p:cNvSpPr>
          <p:nvPr>
            <p:ph idx="1"/>
          </p:nvPr>
        </p:nvSpPr>
        <p:spPr/>
        <p:txBody>
          <a:bodyPr/>
          <a:lstStyle/>
          <a:p>
            <a:r>
              <a:rPr lang="zh-CN" altLang="en-US" dirty="0"/>
              <a:t>早期传感器节点研究的两条主线</a:t>
            </a:r>
          </a:p>
        </p:txBody>
      </p:sp>
      <p:pic>
        <p:nvPicPr>
          <p:cNvPr id="4" name="图片 3" descr="2-28">
            <a:extLst>
              <a:ext uri="{FF2B5EF4-FFF2-40B4-BE49-F238E27FC236}">
                <a16:creationId xmlns:a16="http://schemas.microsoft.com/office/drawing/2014/main" id="{8B879759-57AA-4815-A228-183ABF14EE1E}"/>
              </a:ext>
            </a:extLst>
          </p:cNvPr>
          <p:cNvPicPr/>
          <p:nvPr/>
        </p:nvPicPr>
        <p:blipFill>
          <a:blip r:embed="rId2"/>
          <a:stretch>
            <a:fillRect/>
          </a:stretch>
        </p:blipFill>
        <p:spPr>
          <a:xfrm>
            <a:off x="756240" y="2163891"/>
            <a:ext cx="7930560" cy="3063618"/>
          </a:xfrm>
          <a:prstGeom prst="rect">
            <a:avLst/>
          </a:prstGeom>
        </p:spPr>
      </p:pic>
    </p:spTree>
    <p:extLst>
      <p:ext uri="{BB962C8B-B14F-4D97-AF65-F5344CB8AC3E}">
        <p14:creationId xmlns:p14="http://schemas.microsoft.com/office/powerpoint/2010/main" val="87271847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传感器节点平台</a:t>
            </a:r>
          </a:p>
        </p:txBody>
      </p:sp>
      <p:sp>
        <p:nvSpPr>
          <p:cNvPr id="3" name="内容占位符 2"/>
          <p:cNvSpPr>
            <a:spLocks noGrp="1"/>
          </p:cNvSpPr>
          <p:nvPr>
            <p:ph idx="1"/>
          </p:nvPr>
        </p:nvSpPr>
        <p:spPr/>
        <p:txBody>
          <a:bodyPr/>
          <a:lstStyle/>
          <a:p>
            <a:r>
              <a:rPr lang="zh-CN" altLang="en-US" dirty="0"/>
              <a:t>传感器节点的发展缓慢</a:t>
            </a:r>
            <a:endParaRPr lang="en-US" altLang="zh-CN" dirty="0"/>
          </a:p>
          <a:p>
            <a:pPr lvl="1"/>
            <a:r>
              <a:rPr lang="zh-CN" altLang="zh-CN" dirty="0"/>
              <a:t>技术发展不均衡</a:t>
            </a:r>
            <a:endParaRPr lang="en-US" altLang="zh-CN" dirty="0"/>
          </a:p>
          <a:p>
            <a:pPr lvl="1"/>
            <a:r>
              <a:rPr lang="zh-CN" altLang="zh-CN" dirty="0"/>
              <a:t>功耗的制约</a:t>
            </a:r>
            <a:endParaRPr lang="en-US" altLang="zh-CN" dirty="0"/>
          </a:p>
          <a:p>
            <a:pPr lvl="1"/>
            <a:r>
              <a:rPr lang="zh-CN" altLang="zh-CN" dirty="0"/>
              <a:t>成本的制约</a:t>
            </a:r>
            <a:endParaRPr lang="zh-CN" altLang="en-US" dirty="0"/>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85563" y="2823957"/>
            <a:ext cx="6449073" cy="395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a:extLst>
              <a:ext uri="{FF2B5EF4-FFF2-40B4-BE49-F238E27FC236}">
                <a16:creationId xmlns:a16="http://schemas.microsoft.com/office/drawing/2014/main" id="{51A6047A-6138-44CD-9684-F825A86200F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5" name="Picture 7" descr="MICAz_L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314" y="4619694"/>
            <a:ext cx="2204283" cy="196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a:t>传感器节点平台</a:t>
            </a:r>
          </a:p>
        </p:txBody>
      </p:sp>
      <p:pic>
        <p:nvPicPr>
          <p:cNvPr id="27658" name="imgb" descr="http://www.coventry.ac.uk/researchnet/content/1/c4/62/18/telosmote-sm.jpg"/>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3724008" y="4968024"/>
            <a:ext cx="2176837" cy="1642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23152" y="4968024"/>
            <a:ext cx="1971040" cy="1494705"/>
          </a:xfrm>
          <a:prstGeom prst="rect">
            <a:avLst/>
          </a:prstGeom>
        </p:spPr>
      </p:pic>
      <p:sp>
        <p:nvSpPr>
          <p:cNvPr id="9" name="灯片编号占位符 4">
            <a:extLst>
              <a:ext uri="{FF2B5EF4-FFF2-40B4-BE49-F238E27FC236}">
                <a16:creationId xmlns:a16="http://schemas.microsoft.com/office/drawing/2014/main" id="{87049B5E-A85B-45B5-8271-B40D5C0A227F}"/>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33</a:t>
            </a:fld>
            <a:endParaRPr lang="zh-CN" altLang="zh-CN" sz="1800" baseline="0" dirty="0">
              <a:solidFill>
                <a:schemeClr val="folHlink"/>
              </a:solidFill>
              <a:latin typeface="Monotype Corsiva" panose="03010101010201010101" pitchFamily="66" charset="0"/>
            </a:endParaRPr>
          </a:p>
        </p:txBody>
      </p:sp>
      <p:sp>
        <p:nvSpPr>
          <p:cNvPr id="7" name="内容占位符 6">
            <a:extLst>
              <a:ext uri="{FF2B5EF4-FFF2-40B4-BE49-F238E27FC236}">
                <a16:creationId xmlns:a16="http://schemas.microsoft.com/office/drawing/2014/main" id="{A4C18D41-0DAF-404F-A9A7-D53709D0AF98}"/>
              </a:ext>
            </a:extLst>
          </p:cNvPr>
          <p:cNvSpPr>
            <a:spLocks noGrp="1"/>
          </p:cNvSpPr>
          <p:nvPr>
            <p:ph idx="1"/>
          </p:nvPr>
        </p:nvSpPr>
        <p:spPr/>
        <p:txBody>
          <a:bodyPr/>
          <a:lstStyle/>
          <a:p>
            <a:r>
              <a:rPr lang="zh-CN" altLang="en-US" dirty="0"/>
              <a:t>代表性传感器节点平台</a:t>
            </a:r>
          </a:p>
        </p:txBody>
      </p:sp>
      <p:graphicFrame>
        <p:nvGraphicFramePr>
          <p:cNvPr id="11" name="内容占位符 3">
            <a:extLst>
              <a:ext uri="{FF2B5EF4-FFF2-40B4-BE49-F238E27FC236}">
                <a16:creationId xmlns:a16="http://schemas.microsoft.com/office/drawing/2014/main" id="{925E4C47-07C8-423D-B80A-C1034F95F40D}"/>
              </a:ext>
            </a:extLst>
          </p:cNvPr>
          <p:cNvGraphicFramePr>
            <a:graphicFrameLocks/>
          </p:cNvGraphicFramePr>
          <p:nvPr>
            <p:extLst>
              <p:ext uri="{D42A27DB-BD31-4B8C-83A1-F6EECF244321}">
                <p14:modId xmlns:p14="http://schemas.microsoft.com/office/powerpoint/2010/main" val="4217390883"/>
              </p:ext>
            </p:extLst>
          </p:nvPr>
        </p:nvGraphicFramePr>
        <p:xfrm>
          <a:off x="254906" y="1629770"/>
          <a:ext cx="8634188" cy="2940496"/>
        </p:xfrm>
        <a:graphic>
          <a:graphicData uri="http://schemas.openxmlformats.org/drawingml/2006/table">
            <a:tbl>
              <a:tblPr firstRow="1" firstCol="1" bandRow="1">
                <a:tableStyleId>{5940675A-B579-460E-94D1-54222C63F5DA}</a:tableStyleId>
              </a:tblPr>
              <a:tblGrid>
                <a:gridCol w="1770743">
                  <a:extLst>
                    <a:ext uri="{9D8B030D-6E8A-4147-A177-3AD203B41FA5}">
                      <a16:colId xmlns:a16="http://schemas.microsoft.com/office/drawing/2014/main" val="20000"/>
                    </a:ext>
                  </a:extLst>
                </a:gridCol>
                <a:gridCol w="1498407">
                  <a:extLst>
                    <a:ext uri="{9D8B030D-6E8A-4147-A177-3AD203B41FA5}">
                      <a16:colId xmlns:a16="http://schemas.microsoft.com/office/drawing/2014/main" val="20001"/>
                    </a:ext>
                  </a:extLst>
                </a:gridCol>
                <a:gridCol w="1341016">
                  <a:extLst>
                    <a:ext uri="{9D8B030D-6E8A-4147-A177-3AD203B41FA5}">
                      <a16:colId xmlns:a16="http://schemas.microsoft.com/office/drawing/2014/main" val="20002"/>
                    </a:ext>
                  </a:extLst>
                </a:gridCol>
                <a:gridCol w="1370274">
                  <a:extLst>
                    <a:ext uri="{9D8B030D-6E8A-4147-A177-3AD203B41FA5}">
                      <a16:colId xmlns:a16="http://schemas.microsoft.com/office/drawing/2014/main" val="20003"/>
                    </a:ext>
                  </a:extLst>
                </a:gridCol>
                <a:gridCol w="1370274">
                  <a:extLst>
                    <a:ext uri="{9D8B030D-6E8A-4147-A177-3AD203B41FA5}">
                      <a16:colId xmlns:a16="http://schemas.microsoft.com/office/drawing/2014/main" val="20004"/>
                    </a:ext>
                  </a:extLst>
                </a:gridCol>
                <a:gridCol w="1283474">
                  <a:extLst>
                    <a:ext uri="{9D8B030D-6E8A-4147-A177-3AD203B41FA5}">
                      <a16:colId xmlns:a16="http://schemas.microsoft.com/office/drawing/2014/main" val="20005"/>
                    </a:ext>
                  </a:extLst>
                </a:gridCol>
              </a:tblGrid>
              <a:tr h="735124">
                <a:tc>
                  <a:txBody>
                    <a:bodyPr/>
                    <a:lstStyle/>
                    <a:p>
                      <a:pPr algn="ctr">
                        <a:lnSpc>
                          <a:spcPct val="100000"/>
                        </a:lnSpc>
                        <a:spcAft>
                          <a:spcPts val="0"/>
                        </a:spcAft>
                      </a:pPr>
                      <a:r>
                        <a:rPr lang="zh-CN" sz="2000" kern="100" dirty="0">
                          <a:effectLst/>
                          <a:latin typeface="+mj-ea"/>
                          <a:ea typeface="+mj-ea"/>
                        </a:rPr>
                        <a:t>传感器节点平台版本</a:t>
                      </a:r>
                    </a:p>
                  </a:txBody>
                  <a:tcPr marL="68580" marR="68580" marT="0" marB="0" anchor="ctr"/>
                </a:tc>
                <a:tc>
                  <a:txBody>
                    <a:bodyPr/>
                    <a:lstStyle/>
                    <a:p>
                      <a:pPr algn="ctr">
                        <a:lnSpc>
                          <a:spcPct val="100000"/>
                        </a:lnSpc>
                        <a:spcAft>
                          <a:spcPts val="0"/>
                        </a:spcAft>
                      </a:pPr>
                      <a:r>
                        <a:rPr lang="zh-CN" sz="2000" kern="100" dirty="0">
                          <a:effectLst/>
                          <a:latin typeface="+mj-ea"/>
                          <a:ea typeface="+mj-ea"/>
                        </a:rPr>
                        <a:t>代表平台</a:t>
                      </a:r>
                    </a:p>
                  </a:txBody>
                  <a:tcPr marL="68580" marR="68580" marT="0" marB="0" anchor="ctr"/>
                </a:tc>
                <a:tc>
                  <a:txBody>
                    <a:bodyPr/>
                    <a:lstStyle/>
                    <a:p>
                      <a:pPr algn="ctr">
                        <a:lnSpc>
                          <a:spcPct val="100000"/>
                        </a:lnSpc>
                        <a:spcAft>
                          <a:spcPts val="0"/>
                        </a:spcAft>
                      </a:pPr>
                      <a:r>
                        <a:rPr lang="zh-CN" sz="2000" kern="100" dirty="0">
                          <a:effectLst/>
                          <a:latin typeface="+mj-ea"/>
                          <a:ea typeface="+mj-ea"/>
                        </a:rPr>
                        <a:t>处理器频率</a:t>
                      </a:r>
                    </a:p>
                  </a:txBody>
                  <a:tcPr marL="68580" marR="68580" marT="0" marB="0" anchor="ctr"/>
                </a:tc>
                <a:tc>
                  <a:txBody>
                    <a:bodyPr/>
                    <a:lstStyle/>
                    <a:p>
                      <a:pPr algn="ctr">
                        <a:lnSpc>
                          <a:spcPct val="100000"/>
                        </a:lnSpc>
                        <a:spcAft>
                          <a:spcPts val="0"/>
                        </a:spcAft>
                      </a:pPr>
                      <a:r>
                        <a:rPr lang="zh-CN" sz="2000" kern="100">
                          <a:effectLst/>
                          <a:latin typeface="+mj-ea"/>
                          <a:ea typeface="+mj-ea"/>
                        </a:rPr>
                        <a:t>处理器位数</a:t>
                      </a:r>
                    </a:p>
                  </a:txBody>
                  <a:tcPr marL="68580" marR="68580" marT="0" marB="0" anchor="ctr"/>
                </a:tc>
                <a:tc>
                  <a:txBody>
                    <a:bodyPr/>
                    <a:lstStyle/>
                    <a:p>
                      <a:pPr algn="ctr">
                        <a:lnSpc>
                          <a:spcPct val="100000"/>
                        </a:lnSpc>
                        <a:spcAft>
                          <a:spcPts val="0"/>
                        </a:spcAft>
                      </a:pPr>
                      <a:r>
                        <a:rPr lang="en-US" sz="2000" kern="100" dirty="0">
                          <a:effectLst/>
                          <a:latin typeface="+mj-ea"/>
                          <a:ea typeface="+mj-ea"/>
                        </a:rPr>
                        <a:t>RAM</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Flash</a:t>
                      </a:r>
                      <a:endParaRPr lang="zh-CN" sz="2000" kern="100" dirty="0">
                        <a:effectLst/>
                        <a:latin typeface="+mj-ea"/>
                        <a:ea typeface="+mj-ea"/>
                      </a:endParaRPr>
                    </a:p>
                  </a:txBody>
                  <a:tcPr marL="68580" marR="68580" marT="0" marB="0" anchor="ctr"/>
                </a:tc>
                <a:extLst>
                  <a:ext uri="{0D108BD9-81ED-4DB2-BD59-A6C34878D82A}">
                    <a16:rowId xmlns:a16="http://schemas.microsoft.com/office/drawing/2014/main" val="10000"/>
                  </a:ext>
                </a:extLst>
              </a:tr>
              <a:tr h="367562">
                <a:tc rowSpan="2">
                  <a:txBody>
                    <a:bodyPr/>
                    <a:lstStyle/>
                    <a:p>
                      <a:pPr algn="ctr">
                        <a:lnSpc>
                          <a:spcPct val="100000"/>
                        </a:lnSpc>
                        <a:spcAft>
                          <a:spcPts val="0"/>
                        </a:spcAft>
                      </a:pPr>
                      <a:r>
                        <a:rPr lang="zh-CN" sz="2000" kern="100" dirty="0">
                          <a:effectLst/>
                          <a:latin typeface="+mj-ea"/>
                          <a:ea typeface="+mj-ea"/>
                        </a:rPr>
                        <a:t>第一代</a:t>
                      </a:r>
                    </a:p>
                  </a:txBody>
                  <a:tcPr marL="68580" marR="68580" marT="0" marB="0" anchor="ctr"/>
                </a:tc>
                <a:tc>
                  <a:txBody>
                    <a:bodyPr/>
                    <a:lstStyle/>
                    <a:p>
                      <a:pPr algn="ctr">
                        <a:lnSpc>
                          <a:spcPct val="100000"/>
                        </a:lnSpc>
                        <a:spcAft>
                          <a:spcPts val="0"/>
                        </a:spcAft>
                      </a:pPr>
                      <a:r>
                        <a:rPr lang="en-US" sz="2000" kern="100">
                          <a:effectLst/>
                          <a:latin typeface="+mj-ea"/>
                          <a:ea typeface="+mj-ea"/>
                        </a:rPr>
                        <a:t>Mica</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4 </a:t>
                      </a:r>
                      <a:r>
                        <a:rPr lang="en-US" altLang="zh-CN" sz="2000" kern="100" dirty="0">
                          <a:effectLst/>
                          <a:latin typeface="+mj-ea"/>
                          <a:ea typeface="+mj-ea"/>
                        </a:rPr>
                        <a:t>MHz</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a:effectLst/>
                          <a:latin typeface="+mj-ea"/>
                          <a:ea typeface="+mj-ea"/>
                        </a:rPr>
                        <a:t>8</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4 KB</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128 KB</a:t>
                      </a:r>
                      <a:endParaRPr lang="zh-CN" sz="2000" kern="100" dirty="0">
                        <a:effectLst/>
                        <a:latin typeface="+mj-ea"/>
                        <a:ea typeface="+mj-ea"/>
                      </a:endParaRPr>
                    </a:p>
                  </a:txBody>
                  <a:tcPr marL="68580" marR="68580" marT="0" marB="0" anchor="ctr"/>
                </a:tc>
                <a:extLst>
                  <a:ext uri="{0D108BD9-81ED-4DB2-BD59-A6C34878D82A}">
                    <a16:rowId xmlns:a16="http://schemas.microsoft.com/office/drawing/2014/main" val="10001"/>
                  </a:ext>
                </a:extLst>
              </a:tr>
              <a:tr h="367562">
                <a:tc vMerge="1">
                  <a:txBody>
                    <a:bodyPr/>
                    <a:lstStyle/>
                    <a:p>
                      <a:endParaRPr lang="zh-CN"/>
                    </a:p>
                  </a:txBody>
                  <a:tcPr/>
                </a:tc>
                <a:tc>
                  <a:txBody>
                    <a:bodyPr/>
                    <a:lstStyle/>
                    <a:p>
                      <a:pPr algn="ctr">
                        <a:lnSpc>
                          <a:spcPct val="100000"/>
                        </a:lnSpc>
                        <a:spcAft>
                          <a:spcPts val="0"/>
                        </a:spcAft>
                      </a:pPr>
                      <a:r>
                        <a:rPr lang="en-US" sz="2000" kern="100" dirty="0" err="1">
                          <a:effectLst/>
                          <a:latin typeface="+mj-ea"/>
                          <a:ea typeface="+mj-ea"/>
                        </a:rPr>
                        <a:t>MicaZ</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4 </a:t>
                      </a:r>
                      <a:r>
                        <a:rPr lang="en-US" altLang="zh-CN" sz="2000" kern="100" dirty="0">
                          <a:effectLst/>
                          <a:latin typeface="+mj-ea"/>
                          <a:ea typeface="+mj-ea"/>
                        </a:rPr>
                        <a:t>MHz</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a:effectLst/>
                          <a:latin typeface="+mj-ea"/>
                          <a:ea typeface="+mj-ea"/>
                        </a:rPr>
                        <a:t>8</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4 KB</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128 KB</a:t>
                      </a:r>
                      <a:endParaRPr lang="zh-CN" sz="2000" kern="100" dirty="0">
                        <a:effectLst/>
                        <a:latin typeface="+mj-ea"/>
                        <a:ea typeface="+mj-ea"/>
                      </a:endParaRPr>
                    </a:p>
                  </a:txBody>
                  <a:tcPr marL="68580" marR="68580" marT="0" marB="0" anchor="ctr"/>
                </a:tc>
                <a:extLst>
                  <a:ext uri="{0D108BD9-81ED-4DB2-BD59-A6C34878D82A}">
                    <a16:rowId xmlns:a16="http://schemas.microsoft.com/office/drawing/2014/main" val="10002"/>
                  </a:ext>
                </a:extLst>
              </a:tr>
              <a:tr h="367562">
                <a:tc>
                  <a:txBody>
                    <a:bodyPr/>
                    <a:lstStyle/>
                    <a:p>
                      <a:pPr algn="ctr">
                        <a:lnSpc>
                          <a:spcPct val="100000"/>
                        </a:lnSpc>
                        <a:spcAft>
                          <a:spcPts val="0"/>
                        </a:spcAft>
                      </a:pPr>
                      <a:r>
                        <a:rPr lang="zh-CN" sz="2000" kern="100">
                          <a:effectLst/>
                          <a:latin typeface="+mj-ea"/>
                          <a:ea typeface="+mj-ea"/>
                        </a:rPr>
                        <a:t>第二代</a:t>
                      </a:r>
                    </a:p>
                  </a:txBody>
                  <a:tcPr marL="68580" marR="68580" marT="0" marB="0" anchor="ctr"/>
                </a:tc>
                <a:tc>
                  <a:txBody>
                    <a:bodyPr/>
                    <a:lstStyle/>
                    <a:p>
                      <a:pPr algn="ctr">
                        <a:lnSpc>
                          <a:spcPct val="100000"/>
                        </a:lnSpc>
                        <a:spcAft>
                          <a:spcPts val="0"/>
                        </a:spcAft>
                      </a:pPr>
                      <a:r>
                        <a:rPr lang="en-US" sz="2000" kern="100">
                          <a:effectLst/>
                          <a:latin typeface="+mj-ea"/>
                          <a:ea typeface="+mj-ea"/>
                        </a:rPr>
                        <a:t>TelosB</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4 </a:t>
                      </a:r>
                      <a:r>
                        <a:rPr lang="en-US" altLang="zh-CN" sz="2000" kern="100" dirty="0">
                          <a:effectLst/>
                          <a:latin typeface="+mj-ea"/>
                          <a:ea typeface="+mj-ea"/>
                        </a:rPr>
                        <a:t>MHz</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a:effectLst/>
                          <a:latin typeface="+mj-ea"/>
                          <a:ea typeface="+mj-ea"/>
                        </a:rPr>
                        <a:t>16</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10 KB</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altLang="zh-CN" sz="2000" kern="100" baseline="0" dirty="0">
                          <a:effectLst/>
                          <a:latin typeface="+mj-ea"/>
                          <a:ea typeface="+mj-ea"/>
                        </a:rPr>
                        <a:t>48 KB</a:t>
                      </a:r>
                      <a:endParaRPr lang="zh-CN" sz="2000" kern="100" dirty="0">
                        <a:effectLst/>
                        <a:latin typeface="+mj-ea"/>
                        <a:ea typeface="+mj-ea"/>
                      </a:endParaRPr>
                    </a:p>
                  </a:txBody>
                  <a:tcPr marL="68580" marR="68580" marT="0" marB="0" anchor="ctr"/>
                </a:tc>
                <a:extLst>
                  <a:ext uri="{0D108BD9-81ED-4DB2-BD59-A6C34878D82A}">
                    <a16:rowId xmlns:a16="http://schemas.microsoft.com/office/drawing/2014/main" val="10003"/>
                  </a:ext>
                </a:extLst>
              </a:tr>
              <a:tr h="367562">
                <a:tc rowSpan="3">
                  <a:txBody>
                    <a:bodyPr/>
                    <a:lstStyle/>
                    <a:p>
                      <a:pPr algn="ctr">
                        <a:lnSpc>
                          <a:spcPct val="100000"/>
                        </a:lnSpc>
                        <a:spcAft>
                          <a:spcPts val="0"/>
                        </a:spcAft>
                      </a:pPr>
                      <a:r>
                        <a:rPr lang="zh-CN" sz="2000" kern="100" dirty="0">
                          <a:effectLst/>
                          <a:latin typeface="+mj-ea"/>
                          <a:ea typeface="+mj-ea"/>
                        </a:rPr>
                        <a:t>第三代</a:t>
                      </a:r>
                    </a:p>
                  </a:txBody>
                  <a:tcPr marL="68580" marR="68580" marT="0" marB="0" anchor="ctr"/>
                </a:tc>
                <a:tc>
                  <a:txBody>
                    <a:bodyPr/>
                    <a:lstStyle/>
                    <a:p>
                      <a:pPr algn="ctr">
                        <a:lnSpc>
                          <a:spcPct val="100000"/>
                        </a:lnSpc>
                        <a:spcAft>
                          <a:spcPts val="0"/>
                        </a:spcAft>
                      </a:pPr>
                      <a:r>
                        <a:rPr lang="en-US" sz="2000" kern="100">
                          <a:effectLst/>
                          <a:latin typeface="+mj-ea"/>
                          <a:ea typeface="+mj-ea"/>
                        </a:rPr>
                        <a:t>Firestorm</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48 MHz</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a:effectLst/>
                          <a:latin typeface="+mj-ea"/>
                          <a:ea typeface="+mj-ea"/>
                        </a:rPr>
                        <a:t>32</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64 KB</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altLang="zh-CN" sz="2000" kern="100" dirty="0">
                          <a:effectLst/>
                          <a:latin typeface="+mj-ea"/>
                          <a:ea typeface="+mj-ea"/>
                        </a:rPr>
                        <a:t>512 KB</a:t>
                      </a:r>
                      <a:endParaRPr lang="zh-CN" sz="2000" kern="100" dirty="0">
                        <a:effectLst/>
                        <a:latin typeface="+mj-ea"/>
                        <a:ea typeface="+mj-ea"/>
                      </a:endParaRPr>
                    </a:p>
                  </a:txBody>
                  <a:tcPr marL="68580" marR="68580" marT="0" marB="0" anchor="ctr"/>
                </a:tc>
                <a:extLst>
                  <a:ext uri="{0D108BD9-81ED-4DB2-BD59-A6C34878D82A}">
                    <a16:rowId xmlns:a16="http://schemas.microsoft.com/office/drawing/2014/main" val="10004"/>
                  </a:ext>
                </a:extLst>
              </a:tr>
              <a:tr h="367562">
                <a:tc vMerge="1">
                  <a:txBody>
                    <a:bodyPr/>
                    <a:lstStyle/>
                    <a:p>
                      <a:endParaRPr lang="zh-CN" altLang="en-US"/>
                    </a:p>
                  </a:txBody>
                  <a:tcPr/>
                </a:tc>
                <a:tc>
                  <a:txBody>
                    <a:bodyPr/>
                    <a:lstStyle/>
                    <a:p>
                      <a:pPr algn="ctr">
                        <a:lnSpc>
                          <a:spcPct val="100000"/>
                        </a:lnSpc>
                        <a:spcAft>
                          <a:spcPts val="0"/>
                        </a:spcAft>
                      </a:pPr>
                      <a:r>
                        <a:rPr lang="en-US" altLang="zh-CN" sz="2000" kern="100" dirty="0">
                          <a:effectLst/>
                          <a:latin typeface="+mj-ea"/>
                          <a:ea typeface="+mj-ea"/>
                        </a:rPr>
                        <a:t>Imote2</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altLang="zh-CN" sz="2000" kern="100" dirty="0">
                          <a:effectLst/>
                          <a:latin typeface="+mj-ea"/>
                          <a:ea typeface="+mj-ea"/>
                        </a:rPr>
                        <a:t>104 MHz</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altLang="zh-CN" sz="2000" kern="100" dirty="0">
                          <a:effectLst/>
                          <a:latin typeface="+mj-ea"/>
                          <a:ea typeface="+mj-ea"/>
                        </a:rPr>
                        <a:t>32</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altLang="zh-CN" sz="2000" kern="100" dirty="0">
                          <a:effectLst/>
                          <a:latin typeface="+mj-ea"/>
                          <a:ea typeface="+mj-ea"/>
                        </a:rPr>
                        <a:t>256 KB</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altLang="zh-CN" sz="2000" kern="100" dirty="0">
                          <a:effectLst/>
                          <a:latin typeface="+mj-ea"/>
                          <a:ea typeface="+mj-ea"/>
                        </a:rPr>
                        <a:t>32 MB</a:t>
                      </a:r>
                      <a:endParaRPr lang="zh-CN" sz="2000" kern="100" dirty="0">
                        <a:effectLst/>
                        <a:latin typeface="+mj-ea"/>
                        <a:ea typeface="+mj-ea"/>
                      </a:endParaRPr>
                    </a:p>
                  </a:txBody>
                  <a:tcPr marL="68580" marR="68580" marT="0" marB="0" anchor="ctr"/>
                </a:tc>
                <a:extLst>
                  <a:ext uri="{0D108BD9-81ED-4DB2-BD59-A6C34878D82A}">
                    <a16:rowId xmlns:a16="http://schemas.microsoft.com/office/drawing/2014/main" val="39683856"/>
                  </a:ext>
                </a:extLst>
              </a:tr>
              <a:tr h="367562">
                <a:tc vMerge="1">
                  <a:txBody>
                    <a:bodyPr/>
                    <a:lstStyle/>
                    <a:p>
                      <a:endParaRPr lang="zh-CN"/>
                    </a:p>
                  </a:txBody>
                  <a:tcPr/>
                </a:tc>
                <a:tc>
                  <a:txBody>
                    <a:bodyPr/>
                    <a:lstStyle/>
                    <a:p>
                      <a:pPr algn="ctr">
                        <a:lnSpc>
                          <a:spcPct val="100000"/>
                        </a:lnSpc>
                        <a:spcAft>
                          <a:spcPts val="0"/>
                        </a:spcAft>
                      </a:pPr>
                      <a:r>
                        <a:rPr lang="en-US" sz="2000" kern="100">
                          <a:effectLst/>
                          <a:latin typeface="+mj-ea"/>
                          <a:ea typeface="+mj-ea"/>
                        </a:rPr>
                        <a:t>Hamilton</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48 MHz</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a:effectLst/>
                          <a:latin typeface="+mj-ea"/>
                          <a:ea typeface="+mj-ea"/>
                        </a:rPr>
                        <a:t>32</a:t>
                      </a:r>
                      <a:endParaRPr lang="zh-CN" sz="2000" kern="10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32 KB</a:t>
                      </a:r>
                      <a:endParaRPr lang="zh-CN" sz="2000" kern="100" dirty="0">
                        <a:effectLst/>
                        <a:latin typeface="+mj-ea"/>
                        <a:ea typeface="+mj-ea"/>
                      </a:endParaRPr>
                    </a:p>
                  </a:txBody>
                  <a:tcPr marL="68580" marR="68580" marT="0" marB="0" anchor="ctr"/>
                </a:tc>
                <a:tc>
                  <a:txBody>
                    <a:bodyPr/>
                    <a:lstStyle/>
                    <a:p>
                      <a:pPr algn="ctr">
                        <a:lnSpc>
                          <a:spcPct val="100000"/>
                        </a:lnSpc>
                        <a:spcAft>
                          <a:spcPts val="0"/>
                        </a:spcAft>
                      </a:pPr>
                      <a:r>
                        <a:rPr lang="en-US" sz="2000" kern="100" dirty="0">
                          <a:effectLst/>
                          <a:latin typeface="+mj-ea"/>
                          <a:ea typeface="+mj-ea"/>
                        </a:rPr>
                        <a:t>256 KB</a:t>
                      </a:r>
                      <a:endParaRPr lang="zh-CN" sz="2000" kern="100" dirty="0">
                        <a:effectLst/>
                        <a:latin typeface="+mj-ea"/>
                        <a:ea typeface="+mj-ea"/>
                      </a:endParaRPr>
                    </a:p>
                  </a:txBody>
                  <a:tcPr marL="68580" marR="68580" marT="0" marB="0" anchor="ct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传感器节点平台</a:t>
            </a:r>
          </a:p>
        </p:txBody>
      </p:sp>
      <p:sp>
        <p:nvSpPr>
          <p:cNvPr id="5" name="内容占位符 4">
            <a:extLst>
              <a:ext uri="{FF2B5EF4-FFF2-40B4-BE49-F238E27FC236}">
                <a16:creationId xmlns:a16="http://schemas.microsoft.com/office/drawing/2014/main" id="{19E93E04-C341-47A0-BF21-FAB6D6AEE586}"/>
              </a:ext>
            </a:extLst>
          </p:cNvPr>
          <p:cNvSpPr>
            <a:spLocks noGrp="1"/>
          </p:cNvSpPr>
          <p:nvPr>
            <p:ph idx="1"/>
          </p:nvPr>
        </p:nvSpPr>
        <p:spPr/>
        <p:txBody>
          <a:bodyPr/>
          <a:lstStyle/>
          <a:p>
            <a:r>
              <a:rPr lang="zh-CN" altLang="en-US" dirty="0"/>
              <a:t>主要特点</a:t>
            </a:r>
            <a:endParaRPr lang="en-US" altLang="zh-CN" dirty="0"/>
          </a:p>
          <a:p>
            <a:pPr lvl="1"/>
            <a:r>
              <a:rPr lang="zh-CN" altLang="en-US" b="1" dirty="0"/>
              <a:t>低功耗</a:t>
            </a:r>
            <a:r>
              <a:rPr lang="zh-CN" altLang="en-US" dirty="0"/>
              <a:t>：传感器节点平台是低功耗物联网硬件平台，以</a:t>
            </a:r>
            <a:r>
              <a:rPr lang="en-US" altLang="zh-CN" dirty="0" err="1"/>
              <a:t>TelosB</a:t>
            </a:r>
            <a:r>
              <a:rPr lang="zh-CN" altLang="en-US" dirty="0"/>
              <a:t>节点为例，在睡眠状态下，节点的电流只有</a:t>
            </a:r>
            <a:r>
              <a:rPr lang="en-US" altLang="zh-CN" dirty="0"/>
              <a:t>5.1μA</a:t>
            </a:r>
          </a:p>
          <a:p>
            <a:pPr lvl="1"/>
            <a:r>
              <a:rPr lang="zh-CN" altLang="en-US" b="1" dirty="0"/>
              <a:t>体积小</a:t>
            </a:r>
            <a:r>
              <a:rPr lang="zh-CN" altLang="en-US" dirty="0"/>
              <a:t>：传感器节点平台体积小。最初被设计为军事探测系统，隐蔽性高。以</a:t>
            </a:r>
            <a:r>
              <a:rPr lang="en-US" altLang="zh-CN" dirty="0" err="1"/>
              <a:t>TelosB</a:t>
            </a:r>
            <a:r>
              <a:rPr lang="zh-CN" altLang="en-US" dirty="0"/>
              <a:t>节点为例，其大小为</a:t>
            </a:r>
            <a:r>
              <a:rPr lang="en-US" altLang="zh-CN" dirty="0"/>
              <a:t>63.75mm×32mm</a:t>
            </a:r>
          </a:p>
          <a:p>
            <a:pPr lvl="1"/>
            <a:r>
              <a:rPr lang="zh-CN" altLang="en-US" b="1" dirty="0"/>
              <a:t>集成度高</a:t>
            </a:r>
            <a:r>
              <a:rPr lang="zh-CN" altLang="en-US" dirty="0"/>
              <a:t>：传感器节点平台集成了</a:t>
            </a:r>
            <a:r>
              <a:rPr lang="en-US" altLang="zh-CN" dirty="0"/>
              <a:t>MCU</a:t>
            </a:r>
            <a:r>
              <a:rPr lang="zh-CN" altLang="en-US" dirty="0"/>
              <a:t>、传感模块和通信模块。以</a:t>
            </a:r>
            <a:r>
              <a:rPr lang="en-US" altLang="zh-CN" dirty="0" err="1"/>
              <a:t>TelosB</a:t>
            </a:r>
            <a:r>
              <a:rPr lang="zh-CN" altLang="en-US" dirty="0"/>
              <a:t>节点为例，单个节点集成了温度、湿度、光照强度等传感模块，还有无线通信模块</a:t>
            </a:r>
          </a:p>
          <a:p>
            <a:pPr lvl="1"/>
            <a:r>
              <a:rPr lang="zh-CN" altLang="en-US" b="1" dirty="0"/>
              <a:t>低成本</a:t>
            </a:r>
            <a:r>
              <a:rPr lang="zh-CN" altLang="en-US" dirty="0"/>
              <a:t>：单个传感器节点的成本较低，目前最新的</a:t>
            </a:r>
            <a:r>
              <a:rPr lang="en-US" altLang="zh-CN" dirty="0"/>
              <a:t>Hamilton</a:t>
            </a:r>
            <a:r>
              <a:rPr lang="zh-CN" altLang="en-US" dirty="0"/>
              <a:t>节点单价也只有</a:t>
            </a:r>
            <a:r>
              <a:rPr lang="en-US" altLang="zh-CN" dirty="0"/>
              <a:t>6.75</a:t>
            </a:r>
            <a:r>
              <a:rPr lang="zh-CN" altLang="en-US" dirty="0"/>
              <a:t>美元</a:t>
            </a:r>
          </a:p>
          <a:p>
            <a:endParaRPr lang="zh-CN" altLang="en-US" dirty="0"/>
          </a:p>
          <a:p>
            <a:endParaRPr lang="zh-CN" altLang="en-US" dirty="0"/>
          </a:p>
        </p:txBody>
      </p:sp>
      <p:sp>
        <p:nvSpPr>
          <p:cNvPr id="6" name="灯片编号占位符 4">
            <a:extLst>
              <a:ext uri="{FF2B5EF4-FFF2-40B4-BE49-F238E27FC236}">
                <a16:creationId xmlns:a16="http://schemas.microsoft.com/office/drawing/2014/main" id="{7AFDCF35-53B9-4A08-910E-78ADFD82A0A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9D9B9D-D892-464C-94BB-D7B16FBC0ED5}"/>
              </a:ext>
            </a:extLst>
          </p:cNvPr>
          <p:cNvSpPr>
            <a:spLocks noGrp="1"/>
          </p:cNvSpPr>
          <p:nvPr>
            <p:ph type="title"/>
          </p:nvPr>
        </p:nvSpPr>
        <p:spPr/>
        <p:txBody>
          <a:bodyPr/>
          <a:lstStyle/>
          <a:p>
            <a:r>
              <a:rPr lang="en-US" altLang="zh-CN" dirty="0"/>
              <a:t>STM32</a:t>
            </a:r>
            <a:r>
              <a:rPr lang="zh-CN" altLang="en-US" dirty="0"/>
              <a:t>系列硬件平台</a:t>
            </a:r>
          </a:p>
        </p:txBody>
      </p:sp>
      <p:sp>
        <p:nvSpPr>
          <p:cNvPr id="3" name="内容占位符 2">
            <a:extLst>
              <a:ext uri="{FF2B5EF4-FFF2-40B4-BE49-F238E27FC236}">
                <a16:creationId xmlns:a16="http://schemas.microsoft.com/office/drawing/2014/main" id="{1B1B55CE-A2C9-4828-BB71-9065EACFF5ED}"/>
              </a:ext>
            </a:extLst>
          </p:cNvPr>
          <p:cNvSpPr>
            <a:spLocks noGrp="1"/>
          </p:cNvSpPr>
          <p:nvPr>
            <p:ph idx="1"/>
          </p:nvPr>
        </p:nvSpPr>
        <p:spPr/>
        <p:txBody>
          <a:bodyPr/>
          <a:lstStyle/>
          <a:p>
            <a:r>
              <a:rPr lang="en-US" altLang="zh-CN"/>
              <a:t>STM32</a:t>
            </a:r>
            <a:r>
              <a:rPr lang="zh-CN" altLang="en-US"/>
              <a:t>系列是由意法半导体公司推出的</a:t>
            </a:r>
            <a:r>
              <a:rPr lang="en-US" altLang="zh-CN"/>
              <a:t>ARM Cortex-M</a:t>
            </a:r>
            <a:r>
              <a:rPr lang="zh-CN" altLang="en-US"/>
              <a:t>内核单片机</a:t>
            </a:r>
            <a:endParaRPr lang="en-US" altLang="zh-CN"/>
          </a:p>
          <a:p>
            <a:r>
              <a:rPr lang="zh-CN" altLang="en-US"/>
              <a:t>从内核上分有 </a:t>
            </a:r>
            <a:r>
              <a:rPr lang="en-US" altLang="zh-CN"/>
              <a:t>Cortex-M0</a:t>
            </a:r>
            <a:r>
              <a:rPr lang="zh-CN" altLang="en-US"/>
              <a:t>、 </a:t>
            </a:r>
            <a:r>
              <a:rPr lang="en-US" altLang="zh-CN"/>
              <a:t>M3</a:t>
            </a:r>
            <a:r>
              <a:rPr lang="zh-CN" altLang="en-US"/>
              <a:t>、 </a:t>
            </a:r>
            <a:r>
              <a:rPr lang="en-US" altLang="zh-CN"/>
              <a:t>M4</a:t>
            </a:r>
            <a:r>
              <a:rPr lang="zh-CN" altLang="en-US"/>
              <a:t>和 </a:t>
            </a:r>
            <a:r>
              <a:rPr lang="en-US" altLang="zh-CN"/>
              <a:t>M7</a:t>
            </a:r>
            <a:r>
              <a:rPr lang="zh-CN" altLang="en-US"/>
              <a:t>，每个内核又大概分为主流、高性能和低功耗</a:t>
            </a:r>
            <a:endParaRPr lang="en-US" altLang="zh-CN"/>
          </a:p>
          <a:p>
            <a:r>
              <a:rPr lang="zh-CN" altLang="en-US"/>
              <a:t>包含众多</a:t>
            </a:r>
            <a:r>
              <a:rPr lang="zh-CN" altLang="zh-CN"/>
              <a:t>基于</a:t>
            </a:r>
            <a:r>
              <a:rPr lang="en-US" altLang="zh-CN"/>
              <a:t>ARM Cortex</a:t>
            </a:r>
            <a:r>
              <a:rPr lang="zh-CN" altLang="zh-CN"/>
              <a:t>内核的</a:t>
            </a:r>
            <a:r>
              <a:rPr lang="en-US" altLang="zh-CN"/>
              <a:t>32</a:t>
            </a:r>
            <a:r>
              <a:rPr lang="zh-CN" altLang="zh-CN"/>
              <a:t>位</a:t>
            </a:r>
            <a:r>
              <a:rPr lang="en-US" altLang="zh-CN"/>
              <a:t>MCU</a:t>
            </a:r>
            <a:r>
              <a:rPr lang="zh-CN" altLang="zh-CN"/>
              <a:t>和</a:t>
            </a:r>
            <a:r>
              <a:rPr lang="en-US" altLang="zh-CN"/>
              <a:t>MPU</a:t>
            </a:r>
            <a:r>
              <a:rPr lang="zh-CN" altLang="zh-CN"/>
              <a:t>产品</a:t>
            </a:r>
            <a:endParaRPr lang="zh-CN" altLang="en-US" dirty="0"/>
          </a:p>
        </p:txBody>
      </p:sp>
      <p:pic>
        <p:nvPicPr>
          <p:cNvPr id="5" name="图片 4">
            <a:extLst>
              <a:ext uri="{FF2B5EF4-FFF2-40B4-BE49-F238E27FC236}">
                <a16:creationId xmlns:a16="http://schemas.microsoft.com/office/drawing/2014/main" id="{733FBA6D-A82C-4C3E-95FC-C8EEDD3B9A86}"/>
              </a:ext>
            </a:extLst>
          </p:cNvPr>
          <p:cNvPicPr/>
          <p:nvPr/>
        </p:nvPicPr>
        <p:blipFill>
          <a:blip r:embed="rId2">
            <a:extLst/>
          </a:blip>
          <a:stretch>
            <a:fillRect/>
          </a:stretch>
        </p:blipFill>
        <p:spPr>
          <a:xfrm>
            <a:off x="1586468" y="3401562"/>
            <a:ext cx="5971064" cy="3287378"/>
          </a:xfrm>
          <a:prstGeom prst="rect">
            <a:avLst/>
          </a:prstGeom>
        </p:spPr>
      </p:pic>
      <p:sp>
        <p:nvSpPr>
          <p:cNvPr id="7" name="灯片编号占位符 4">
            <a:extLst>
              <a:ext uri="{FF2B5EF4-FFF2-40B4-BE49-F238E27FC236}">
                <a16:creationId xmlns:a16="http://schemas.microsoft.com/office/drawing/2014/main" id="{A0DF023C-4EB0-475B-B2BC-C397F5F8800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35</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62520493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B2C9A4-E4E3-4786-A61F-867A0A175ABC}"/>
              </a:ext>
            </a:extLst>
          </p:cNvPr>
          <p:cNvSpPr>
            <a:spLocks noGrp="1"/>
          </p:cNvSpPr>
          <p:nvPr>
            <p:ph type="title"/>
          </p:nvPr>
        </p:nvSpPr>
        <p:spPr/>
        <p:txBody>
          <a:bodyPr/>
          <a:lstStyle/>
          <a:p>
            <a:r>
              <a:rPr lang="en-US" altLang="zh-CN" dirty="0"/>
              <a:t>STM32</a:t>
            </a:r>
            <a:r>
              <a:rPr lang="zh-CN" altLang="en-US" dirty="0"/>
              <a:t>系列硬件平台</a:t>
            </a:r>
          </a:p>
        </p:txBody>
      </p:sp>
      <p:sp>
        <p:nvSpPr>
          <p:cNvPr id="3" name="内容占位符 2">
            <a:extLst>
              <a:ext uri="{FF2B5EF4-FFF2-40B4-BE49-F238E27FC236}">
                <a16:creationId xmlns:a16="http://schemas.microsoft.com/office/drawing/2014/main" id="{6873A6C0-2573-412A-BCCB-55C079C51740}"/>
              </a:ext>
            </a:extLst>
          </p:cNvPr>
          <p:cNvSpPr>
            <a:spLocks noGrp="1"/>
          </p:cNvSpPr>
          <p:nvPr>
            <p:ph idx="1"/>
          </p:nvPr>
        </p:nvSpPr>
        <p:spPr/>
        <p:txBody>
          <a:bodyPr/>
          <a:lstStyle/>
          <a:p>
            <a:r>
              <a:rPr lang="en-US" altLang="zh-CN" dirty="0"/>
              <a:t>STM32</a:t>
            </a:r>
            <a:r>
              <a:rPr lang="zh-CN" altLang="en-US" dirty="0"/>
              <a:t>命名规则</a:t>
            </a:r>
            <a:endParaRPr lang="en-US" altLang="zh-CN" dirty="0"/>
          </a:p>
          <a:p>
            <a:pPr lvl="1"/>
            <a:r>
              <a:rPr lang="zh-CN" altLang="en-US" dirty="0"/>
              <a:t>通过命名规则在选择型号时可对其封装、存储器、性能和引脚数量进行选择，最大程度以最小的硬件变化来满足个性化的应用需求</a:t>
            </a:r>
          </a:p>
        </p:txBody>
      </p:sp>
      <p:pic>
        <p:nvPicPr>
          <p:cNvPr id="4" name="图片 3">
            <a:extLst>
              <a:ext uri="{FF2B5EF4-FFF2-40B4-BE49-F238E27FC236}">
                <a16:creationId xmlns:a16="http://schemas.microsoft.com/office/drawing/2014/main" id="{CD0C7268-A521-4570-B8A1-12988E01F6E7}"/>
              </a:ext>
            </a:extLst>
          </p:cNvPr>
          <p:cNvPicPr/>
          <p:nvPr/>
        </p:nvPicPr>
        <p:blipFill>
          <a:blip r:embed="rId2">
            <a:extLst/>
          </a:blip>
          <a:stretch>
            <a:fillRect/>
          </a:stretch>
        </p:blipFill>
        <p:spPr>
          <a:xfrm>
            <a:off x="1459201" y="2362382"/>
            <a:ext cx="6225597" cy="4495618"/>
          </a:xfrm>
          <a:prstGeom prst="rect">
            <a:avLst/>
          </a:prstGeom>
        </p:spPr>
      </p:pic>
      <p:sp>
        <p:nvSpPr>
          <p:cNvPr id="7" name="灯片编号占位符 4">
            <a:extLst>
              <a:ext uri="{FF2B5EF4-FFF2-40B4-BE49-F238E27FC236}">
                <a16:creationId xmlns:a16="http://schemas.microsoft.com/office/drawing/2014/main" id="{E9201BA4-4683-4DEA-AD8E-4F0D5C41BE2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36</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75208802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CFBD7-58F9-41AD-A7F9-14D8FC8E8D9F}"/>
              </a:ext>
            </a:extLst>
          </p:cNvPr>
          <p:cNvSpPr>
            <a:spLocks noGrp="1"/>
          </p:cNvSpPr>
          <p:nvPr>
            <p:ph type="title"/>
          </p:nvPr>
        </p:nvSpPr>
        <p:spPr/>
        <p:txBody>
          <a:bodyPr/>
          <a:lstStyle/>
          <a:p>
            <a:r>
              <a:rPr lang="en-US" altLang="zh-CN" dirty="0"/>
              <a:t>STM32</a:t>
            </a:r>
            <a:r>
              <a:rPr lang="zh-CN" altLang="en-US" dirty="0"/>
              <a:t>系列硬件平台</a:t>
            </a:r>
          </a:p>
        </p:txBody>
      </p:sp>
      <p:sp>
        <p:nvSpPr>
          <p:cNvPr id="3" name="内容占位符 2">
            <a:extLst>
              <a:ext uri="{FF2B5EF4-FFF2-40B4-BE49-F238E27FC236}">
                <a16:creationId xmlns:a16="http://schemas.microsoft.com/office/drawing/2014/main" id="{19F24EF9-239B-4249-8FFA-5C19941CD68C}"/>
              </a:ext>
            </a:extLst>
          </p:cNvPr>
          <p:cNvSpPr>
            <a:spLocks noGrp="1"/>
          </p:cNvSpPr>
          <p:nvPr>
            <p:ph idx="1"/>
          </p:nvPr>
        </p:nvSpPr>
        <p:spPr/>
        <p:txBody>
          <a:bodyPr/>
          <a:lstStyle/>
          <a:p>
            <a:r>
              <a:rPr lang="zh-CN" altLang="en-US" dirty="0"/>
              <a:t>开发板</a:t>
            </a:r>
            <a:endParaRPr lang="en-US" altLang="zh-CN" dirty="0"/>
          </a:p>
          <a:p>
            <a:pPr lvl="1"/>
            <a:r>
              <a:rPr lang="zh-CN" altLang="en-US" dirty="0"/>
              <a:t>主要由主控芯片、</a:t>
            </a:r>
            <a:r>
              <a:rPr lang="en-US" altLang="zh-CN" dirty="0"/>
              <a:t>USB</a:t>
            </a:r>
            <a:r>
              <a:rPr lang="zh-CN" altLang="en-US" dirty="0"/>
              <a:t>电源、扩展接口、电源接口、下载接口、复位按键构成</a:t>
            </a:r>
          </a:p>
        </p:txBody>
      </p:sp>
      <p:graphicFrame>
        <p:nvGraphicFramePr>
          <p:cNvPr id="5" name="内容占位符 5">
            <a:extLst>
              <a:ext uri="{FF2B5EF4-FFF2-40B4-BE49-F238E27FC236}">
                <a16:creationId xmlns:a16="http://schemas.microsoft.com/office/drawing/2014/main" id="{3C43D48C-524F-4707-95DC-CAB66A05CB0E}"/>
              </a:ext>
            </a:extLst>
          </p:cNvPr>
          <p:cNvGraphicFramePr>
            <a:graphicFrameLocks noChangeAspect="1"/>
          </p:cNvGraphicFramePr>
          <p:nvPr>
            <p:extLst>
              <p:ext uri="{D42A27DB-BD31-4B8C-83A1-F6EECF244321}">
                <p14:modId xmlns:p14="http://schemas.microsoft.com/office/powerpoint/2010/main" val="2840090959"/>
              </p:ext>
            </p:extLst>
          </p:nvPr>
        </p:nvGraphicFramePr>
        <p:xfrm>
          <a:off x="2060767" y="2374010"/>
          <a:ext cx="5022466" cy="3880485"/>
        </p:xfrm>
        <a:graphic>
          <a:graphicData uri="http://schemas.openxmlformats.org/presentationml/2006/ole">
            <mc:AlternateContent xmlns:mc="http://schemas.openxmlformats.org/markup-compatibility/2006">
              <mc:Choice xmlns:v="urn:schemas-microsoft-com:vml" Requires="v">
                <p:oleObj spid="_x0000_s48167" r:id="rId3" imgW="3804920" imgH="2940050" progId="Visio.Drawing.15">
                  <p:embed/>
                </p:oleObj>
              </mc:Choice>
              <mc:Fallback>
                <p:oleObj r:id="rId3" imgW="3804920" imgH="2940050" progId="Visio.Drawing.15">
                  <p:embed/>
                  <p:pic>
                    <p:nvPicPr>
                      <p:cNvPr id="6" name="内容占位符 5"/>
                      <p:cNvPicPr/>
                      <p:nvPr/>
                    </p:nvPicPr>
                    <p:blipFill>
                      <a:blip r:embed="rId4"/>
                      <a:stretch>
                        <a:fillRect/>
                      </a:stretch>
                    </p:blipFill>
                    <p:spPr>
                      <a:xfrm>
                        <a:off x="2060767" y="2374010"/>
                        <a:ext cx="5022466" cy="3880485"/>
                      </a:xfrm>
                      <a:prstGeom prst="rect">
                        <a:avLst/>
                      </a:prstGeom>
                    </p:spPr>
                  </p:pic>
                </p:oleObj>
              </mc:Fallback>
            </mc:AlternateContent>
          </a:graphicData>
        </a:graphic>
      </p:graphicFrame>
      <p:sp>
        <p:nvSpPr>
          <p:cNvPr id="7" name="灯片编号占位符 4">
            <a:extLst>
              <a:ext uri="{FF2B5EF4-FFF2-40B4-BE49-F238E27FC236}">
                <a16:creationId xmlns:a16="http://schemas.microsoft.com/office/drawing/2014/main" id="{71273B95-1704-4C03-9520-B8C90C1483C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37</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391747711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6A29D1-DC64-443F-B2E9-F17A1B94E7EB}"/>
              </a:ext>
            </a:extLst>
          </p:cNvPr>
          <p:cNvSpPr>
            <a:spLocks noGrp="1"/>
          </p:cNvSpPr>
          <p:nvPr>
            <p:ph type="title"/>
          </p:nvPr>
        </p:nvSpPr>
        <p:spPr/>
        <p:txBody>
          <a:bodyPr/>
          <a:lstStyle/>
          <a:p>
            <a:r>
              <a:rPr lang="en-US" altLang="zh-CN" dirty="0"/>
              <a:t>STM32</a:t>
            </a:r>
            <a:r>
              <a:rPr lang="zh-CN" altLang="en-US" dirty="0"/>
              <a:t>系列硬件平台</a:t>
            </a:r>
          </a:p>
        </p:txBody>
      </p:sp>
      <p:sp>
        <p:nvSpPr>
          <p:cNvPr id="3" name="内容占位符 2">
            <a:extLst>
              <a:ext uri="{FF2B5EF4-FFF2-40B4-BE49-F238E27FC236}">
                <a16:creationId xmlns:a16="http://schemas.microsoft.com/office/drawing/2014/main" id="{8969ED70-54E7-4B4F-AD45-0E8AE2DF0B19}"/>
              </a:ext>
            </a:extLst>
          </p:cNvPr>
          <p:cNvSpPr>
            <a:spLocks noGrp="1"/>
          </p:cNvSpPr>
          <p:nvPr>
            <p:ph idx="1"/>
          </p:nvPr>
        </p:nvSpPr>
        <p:spPr/>
        <p:txBody>
          <a:bodyPr/>
          <a:lstStyle/>
          <a:p>
            <a:r>
              <a:rPr lang="zh-CN" altLang="en-US"/>
              <a:t>微控制器</a:t>
            </a:r>
            <a:endParaRPr lang="en-US" altLang="zh-CN"/>
          </a:p>
          <a:p>
            <a:pPr lvl="1"/>
            <a:r>
              <a:rPr lang="en-US" altLang="zh-CN"/>
              <a:t>2007 </a:t>
            </a:r>
            <a:r>
              <a:rPr lang="zh-CN" altLang="en-US"/>
              <a:t>年 </a:t>
            </a:r>
            <a:r>
              <a:rPr lang="en-US" altLang="zh-CN"/>
              <a:t>6 </a:t>
            </a:r>
            <a:r>
              <a:rPr lang="zh-CN" altLang="en-US"/>
              <a:t>月 </a:t>
            </a:r>
            <a:r>
              <a:rPr lang="en-US" altLang="zh-CN"/>
              <a:t>11 </a:t>
            </a:r>
            <a:r>
              <a:rPr lang="zh-CN" altLang="en-US"/>
              <a:t>日 </a:t>
            </a:r>
            <a:r>
              <a:rPr lang="en-US" altLang="zh-CN"/>
              <a:t>STM32 </a:t>
            </a:r>
            <a:r>
              <a:rPr lang="zh-CN" altLang="en-US"/>
              <a:t>在北京发布</a:t>
            </a:r>
            <a:endParaRPr lang="en-US" altLang="zh-CN"/>
          </a:p>
          <a:p>
            <a:pPr lvl="1"/>
            <a:r>
              <a:rPr lang="zh-CN" altLang="en-US"/>
              <a:t>经过十年的发展，如今已经拥有 </a:t>
            </a:r>
            <a:r>
              <a:rPr lang="en-US" altLang="zh-CN"/>
              <a:t>10 </a:t>
            </a:r>
            <a:r>
              <a:rPr lang="zh-CN" altLang="en-US"/>
              <a:t>大产品系列，</a:t>
            </a:r>
            <a:r>
              <a:rPr lang="en-US" altLang="zh-CN"/>
              <a:t>700 </a:t>
            </a:r>
            <a:r>
              <a:rPr lang="zh-CN" altLang="en-US"/>
              <a:t>余款产品，从超低功耗到高性能，其强大的产品阵容覆盖各种应用，满足不同需求</a:t>
            </a:r>
            <a:endParaRPr lang="zh-CN" altLang="en-US" dirty="0"/>
          </a:p>
        </p:txBody>
      </p:sp>
      <p:graphicFrame>
        <p:nvGraphicFramePr>
          <p:cNvPr id="18" name="对象 17">
            <a:extLst>
              <a:ext uri="{FF2B5EF4-FFF2-40B4-BE49-F238E27FC236}">
                <a16:creationId xmlns:a16="http://schemas.microsoft.com/office/drawing/2014/main" id="{CD9DE8D0-B00E-4A19-BD1F-BFF25AF24919}"/>
              </a:ext>
            </a:extLst>
          </p:cNvPr>
          <p:cNvGraphicFramePr/>
          <p:nvPr>
            <p:extLst>
              <p:ext uri="{D42A27DB-BD31-4B8C-83A1-F6EECF244321}">
                <p14:modId xmlns:p14="http://schemas.microsoft.com/office/powerpoint/2010/main" val="1871800458"/>
              </p:ext>
            </p:extLst>
          </p:nvPr>
        </p:nvGraphicFramePr>
        <p:xfrm>
          <a:off x="252064" y="3205734"/>
          <a:ext cx="8891936" cy="2661666"/>
        </p:xfrm>
        <a:graphic>
          <a:graphicData uri="http://schemas.openxmlformats.org/presentationml/2006/ole">
            <mc:AlternateContent xmlns:mc="http://schemas.openxmlformats.org/markup-compatibility/2006">
              <mc:Choice xmlns:v="urn:schemas-microsoft-com:vml" Requires="v">
                <p:oleObj spid="_x0000_s49191" r:id="rId3" imgW="8308340" imgH="2506980" progId="Visio.Drawing.15">
                  <p:embed/>
                </p:oleObj>
              </mc:Choice>
              <mc:Fallback>
                <p:oleObj r:id="rId3" imgW="8308340" imgH="2506980" progId="Visio.Drawing.15">
                  <p:embed/>
                  <p:pic>
                    <p:nvPicPr>
                      <p:cNvPr id="8" name="对象 7"/>
                      <p:cNvPicPr/>
                      <p:nvPr/>
                    </p:nvPicPr>
                    <p:blipFill>
                      <a:blip r:embed="rId4"/>
                      <a:stretch>
                        <a:fillRect/>
                      </a:stretch>
                    </p:blipFill>
                    <p:spPr>
                      <a:xfrm>
                        <a:off x="252064" y="3205734"/>
                        <a:ext cx="8891936" cy="2661666"/>
                      </a:xfrm>
                      <a:prstGeom prst="rect">
                        <a:avLst/>
                      </a:prstGeom>
                    </p:spPr>
                  </p:pic>
                </p:oleObj>
              </mc:Fallback>
            </mc:AlternateContent>
          </a:graphicData>
        </a:graphic>
      </p:graphicFrame>
      <p:sp>
        <p:nvSpPr>
          <p:cNvPr id="9" name="灯片编号占位符 4">
            <a:extLst>
              <a:ext uri="{FF2B5EF4-FFF2-40B4-BE49-F238E27FC236}">
                <a16:creationId xmlns:a16="http://schemas.microsoft.com/office/drawing/2014/main" id="{4E1C5604-8D1F-4549-93DE-A5FB8DE9174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38</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42736360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23FF8B-BE47-41F6-96FF-F3BD373351EA}"/>
              </a:ext>
            </a:extLst>
          </p:cNvPr>
          <p:cNvSpPr>
            <a:spLocks noGrp="1"/>
          </p:cNvSpPr>
          <p:nvPr>
            <p:ph type="title"/>
          </p:nvPr>
        </p:nvSpPr>
        <p:spPr/>
        <p:txBody>
          <a:bodyPr/>
          <a:lstStyle/>
          <a:p>
            <a:r>
              <a:rPr lang="en-US" altLang="zh-CN" dirty="0"/>
              <a:t>STM32</a:t>
            </a:r>
            <a:r>
              <a:rPr lang="zh-CN" altLang="en-US" dirty="0"/>
              <a:t>系列硬件平台</a:t>
            </a:r>
          </a:p>
        </p:txBody>
      </p:sp>
      <p:sp>
        <p:nvSpPr>
          <p:cNvPr id="3" name="内容占位符 2">
            <a:extLst>
              <a:ext uri="{FF2B5EF4-FFF2-40B4-BE49-F238E27FC236}">
                <a16:creationId xmlns:a16="http://schemas.microsoft.com/office/drawing/2014/main" id="{06F3D823-FD28-4732-82B5-C749A1A9FCE8}"/>
              </a:ext>
            </a:extLst>
          </p:cNvPr>
          <p:cNvSpPr>
            <a:spLocks noGrp="1"/>
          </p:cNvSpPr>
          <p:nvPr>
            <p:ph idx="1"/>
          </p:nvPr>
        </p:nvSpPr>
        <p:spPr/>
        <p:txBody>
          <a:bodyPr/>
          <a:lstStyle/>
          <a:p>
            <a:r>
              <a:rPr lang="zh-CN" altLang="en-US" dirty="0"/>
              <a:t>电源与能耗</a:t>
            </a:r>
            <a:r>
              <a:rPr lang="en-US" altLang="zh-CN" dirty="0"/>
              <a:t>(</a:t>
            </a:r>
            <a:r>
              <a:rPr lang="zh-CN" altLang="en-US" dirty="0"/>
              <a:t>以</a:t>
            </a:r>
            <a:r>
              <a:rPr lang="en-US" altLang="zh-CN" dirty="0"/>
              <a:t>STM32F103</a:t>
            </a:r>
            <a:r>
              <a:rPr lang="zh-CN" altLang="en-US" dirty="0"/>
              <a:t>为例</a:t>
            </a:r>
            <a:r>
              <a:rPr lang="en-US" altLang="zh-CN" dirty="0"/>
              <a:t>) </a:t>
            </a:r>
          </a:p>
          <a:p>
            <a:pPr lvl="1"/>
            <a:r>
              <a:rPr lang="en-US" altLang="zh-CN" dirty="0"/>
              <a:t>STM32F103</a:t>
            </a:r>
            <a:r>
              <a:rPr lang="zh-CN" altLang="en-US" dirty="0"/>
              <a:t>产品支持三种低功耗模式：睡眠、停机和待机，可以在要求低功耗、短启动时间和多种唤醒事件之间达到最佳的平衡。</a:t>
            </a:r>
            <a:endParaRPr lang="en-US" altLang="zh-CN" dirty="0"/>
          </a:p>
        </p:txBody>
      </p:sp>
      <mc:AlternateContent xmlns:mc="http://schemas.openxmlformats.org/markup-compatibility/2006" xmlns:a14="http://schemas.microsoft.com/office/drawing/2010/main">
        <mc:Choice Requires="a14">
          <p:graphicFrame>
            <p:nvGraphicFramePr>
              <p:cNvPr id="4" name="内容占位符 8">
                <a:extLst>
                  <a:ext uri="{FF2B5EF4-FFF2-40B4-BE49-F238E27FC236}">
                    <a16:creationId xmlns:a16="http://schemas.microsoft.com/office/drawing/2014/main" id="{DA8B1D57-D24E-4111-893C-3EC79CDFE166}"/>
                  </a:ext>
                </a:extLst>
              </p:cNvPr>
              <p:cNvGraphicFramePr>
                <a:graphicFrameLocks/>
              </p:cNvGraphicFramePr>
              <p:nvPr>
                <p:custDataLst>
                  <p:tags r:id="rId1"/>
                </p:custDataLst>
                <p:extLst>
                  <p:ext uri="{D42A27DB-BD31-4B8C-83A1-F6EECF244321}">
                    <p14:modId xmlns:p14="http://schemas.microsoft.com/office/powerpoint/2010/main" val="1949872386"/>
                  </p:ext>
                </p:extLst>
              </p:nvPr>
            </p:nvGraphicFramePr>
            <p:xfrm>
              <a:off x="1405922" y="2495211"/>
              <a:ext cx="6332156" cy="3141984"/>
            </p:xfrm>
            <a:graphic>
              <a:graphicData uri="http://schemas.openxmlformats.org/drawingml/2006/table">
                <a:tbl>
                  <a:tblPr firstRow="1" bandRow="1">
                    <a:tableStyleId>{5940675A-B579-460E-94D1-54222C63F5DA}</a:tableStyleId>
                  </a:tblPr>
                  <a:tblGrid>
                    <a:gridCol w="1972508">
                      <a:extLst>
                        <a:ext uri="{9D8B030D-6E8A-4147-A177-3AD203B41FA5}">
                          <a16:colId xmlns:a16="http://schemas.microsoft.com/office/drawing/2014/main" val="20001"/>
                        </a:ext>
                      </a:extLst>
                    </a:gridCol>
                    <a:gridCol w="1453216">
                      <a:extLst>
                        <a:ext uri="{9D8B030D-6E8A-4147-A177-3AD203B41FA5}">
                          <a16:colId xmlns:a16="http://schemas.microsoft.com/office/drawing/2014/main" val="20002"/>
                        </a:ext>
                      </a:extLst>
                    </a:gridCol>
                    <a:gridCol w="1453216">
                      <a:extLst>
                        <a:ext uri="{9D8B030D-6E8A-4147-A177-3AD203B41FA5}">
                          <a16:colId xmlns:a16="http://schemas.microsoft.com/office/drawing/2014/main" val="20003"/>
                        </a:ext>
                      </a:extLst>
                    </a:gridCol>
                    <a:gridCol w="1453216">
                      <a:extLst>
                        <a:ext uri="{9D8B030D-6E8A-4147-A177-3AD203B41FA5}">
                          <a16:colId xmlns:a16="http://schemas.microsoft.com/office/drawing/2014/main" val="20004"/>
                        </a:ext>
                      </a:extLst>
                    </a:gridCol>
                  </a:tblGrid>
                  <a:tr h="381000">
                    <a:tc rowSpan="2">
                      <a:txBody>
                        <a:bodyPr/>
                        <a:lstStyle/>
                        <a:p>
                          <a:pPr algn="ctr">
                            <a:lnSpc>
                              <a:spcPct val="120000"/>
                            </a:lnSpc>
                            <a:buNone/>
                          </a:pPr>
                          <a:r>
                            <a:rPr lang="zh-CN" altLang="en-US" dirty="0">
                              <a:latin typeface="+mj-ea"/>
                              <a:ea typeface="+mj-ea"/>
                            </a:rPr>
                            <a:t>条件</a:t>
                          </a:r>
                        </a:p>
                      </a:txBody>
                      <a:tcPr anchor="ctr"/>
                    </a:tc>
                    <a:tc rowSpan="2">
                      <a:txBody>
                        <a:bodyPr/>
                        <a:lstStyle/>
                        <a:p>
                          <a:pPr algn="ctr">
                            <a:lnSpc>
                              <a:spcPct val="120000"/>
                            </a:lnSpc>
                            <a:buNone/>
                          </a:pPr>
                          <a14:m>
                            <m:oMath xmlns:m="http://schemas.openxmlformats.org/officeDocument/2006/math">
                              <m:r>
                                <a:rPr lang="zh-CN" altLang="en-US" i="1" smtClean="0">
                                  <a:latin typeface="Cambria Math" panose="02040503050406030204" pitchFamily="18" charset="0"/>
                                  <a:ea typeface="+mj-ea"/>
                                </a:rPr>
                                <m:t>时钟</m:t>
                              </m:r>
                            </m:oMath>
                          </a14:m>
                          <a:r>
                            <a:rPr lang="zh-CN" altLang="en-US" dirty="0">
                              <a:latin typeface="+mj-ea"/>
                              <a:ea typeface="+mj-ea"/>
                            </a:rPr>
                            <a:t>频率</a:t>
                          </a:r>
                          <a:endParaRPr lang="en-US" altLang="zh-CN" dirty="0">
                            <a:latin typeface="+mj-ea"/>
                            <a:ea typeface="+mj-ea"/>
                          </a:endParaRPr>
                        </a:p>
                      </a:txBody>
                      <a:tcPr anchor="ctr"/>
                    </a:tc>
                    <a:tc gridSpan="2">
                      <a:txBody>
                        <a:bodyPr/>
                        <a:lstStyle/>
                        <a:p>
                          <a:pPr algn="ctr">
                            <a:lnSpc>
                              <a:spcPct val="120000"/>
                            </a:lnSpc>
                            <a:buNone/>
                          </a:pPr>
                          <a:r>
                            <a:rPr lang="zh-CN" altLang="en-US" dirty="0">
                              <a:latin typeface="+mj-ea"/>
                              <a:ea typeface="+mj-ea"/>
                            </a:rPr>
                            <a:t>最大电流（</a:t>
                          </a:r>
                          <a:r>
                            <a:rPr lang="en-US" altLang="zh-CN" dirty="0">
                              <a:latin typeface="+mj-ea"/>
                              <a:ea typeface="+mj-ea"/>
                            </a:rPr>
                            <a:t>mA</a:t>
                          </a:r>
                          <a:r>
                            <a:rPr lang="zh-CN" altLang="en-US" dirty="0">
                              <a:latin typeface="+mj-ea"/>
                              <a:ea typeface="+mj-ea"/>
                            </a:rPr>
                            <a:t>）</a:t>
                          </a:r>
                        </a:p>
                      </a:txBody>
                      <a:tcPr anchor="ctr"/>
                    </a:tc>
                    <a:tc hMerge="1">
                      <a:txBody>
                        <a:bodyPr/>
                        <a:lstStyle/>
                        <a:p>
                          <a:endParaRPr lang="zh-CN"/>
                        </a:p>
                      </a:txBody>
                      <a:tcPr/>
                    </a:tc>
                    <a:extLst>
                      <a:ext uri="{0D108BD9-81ED-4DB2-BD59-A6C34878D82A}">
                        <a16:rowId xmlns:a16="http://schemas.microsoft.com/office/drawing/2014/main" val="10000"/>
                      </a:ext>
                    </a:extLst>
                  </a:tr>
                  <a:tr h="381000">
                    <a:tc vMerge="1">
                      <a:txBody>
                        <a:bodyPr/>
                        <a:lstStyle/>
                        <a:p>
                          <a:endParaRPr lang="zh-CN"/>
                        </a:p>
                      </a:txBody>
                      <a:tcPr/>
                    </a:tc>
                    <a:tc vMerge="1">
                      <a:txBody>
                        <a:bodyPr/>
                        <a:lstStyle/>
                        <a:p>
                          <a:endParaRPr lang="zh-CN"/>
                        </a:p>
                      </a:txBody>
                      <a:tcPr/>
                    </a:tc>
                    <a:tc>
                      <a:txBody>
                        <a:bodyPr/>
                        <a:lstStyle/>
                        <a:p>
                          <a:pPr algn="ctr">
                            <a:lnSpc>
                              <a:spcPct val="120000"/>
                            </a:lnSpc>
                            <a:buNone/>
                          </a:pPr>
                          <a:r>
                            <a:rPr lang="zh-CN" altLang="en-US" dirty="0">
                              <a:latin typeface="+mj-ea"/>
                              <a:ea typeface="+mj-ea"/>
                            </a:rPr>
                            <a:t>温度</a:t>
                          </a:r>
                          <a:r>
                            <a:rPr lang="en-US" altLang="zh-CN" dirty="0">
                              <a:latin typeface="+mj-ea"/>
                              <a:ea typeface="+mj-ea"/>
                            </a:rPr>
                            <a:t>=85℃</a:t>
                          </a:r>
                        </a:p>
                      </a:txBody>
                      <a:tcPr anchor="ctr"/>
                    </a:tc>
                    <a:tc>
                      <a:txBody>
                        <a:bodyPr/>
                        <a:lstStyle/>
                        <a:p>
                          <a:pPr algn="ctr">
                            <a:lnSpc>
                              <a:spcPct val="120000"/>
                            </a:lnSpc>
                            <a:buNone/>
                          </a:pPr>
                          <a:r>
                            <a:rPr lang="zh-CN" altLang="en-US" sz="1800" dirty="0">
                              <a:latin typeface="+mj-ea"/>
                              <a:ea typeface="+mj-ea"/>
                              <a:sym typeface="+mn-ea"/>
                            </a:rPr>
                            <a:t>温度</a:t>
                          </a:r>
                          <a:r>
                            <a:rPr lang="en-US" altLang="zh-CN" sz="1800" dirty="0">
                              <a:latin typeface="+mj-ea"/>
                              <a:ea typeface="+mj-ea"/>
                              <a:sym typeface="+mn-ea"/>
                            </a:rPr>
                            <a:t>=105℃</a:t>
                          </a:r>
                          <a:endParaRPr lang="zh-CN" altLang="en-US" sz="2800" dirty="0">
                            <a:latin typeface="+mj-ea"/>
                            <a:ea typeface="+mj-ea"/>
                          </a:endParaRPr>
                        </a:p>
                      </a:txBody>
                      <a:tcPr anchor="ctr"/>
                    </a:tc>
                    <a:extLst>
                      <a:ext uri="{0D108BD9-81ED-4DB2-BD59-A6C34878D82A}">
                        <a16:rowId xmlns:a16="http://schemas.microsoft.com/office/drawing/2014/main" val="10001"/>
                      </a:ext>
                    </a:extLst>
                  </a:tr>
                  <a:tr h="381000">
                    <a:tc rowSpan="3">
                      <a:txBody>
                        <a:bodyPr/>
                        <a:lstStyle/>
                        <a:p>
                          <a:pPr algn="ctr">
                            <a:lnSpc>
                              <a:spcPct val="120000"/>
                            </a:lnSpc>
                            <a:buNone/>
                          </a:pPr>
                          <a:r>
                            <a:rPr lang="zh-CN" altLang="en-US" dirty="0">
                              <a:latin typeface="+mj-ea"/>
                              <a:ea typeface="+mj-ea"/>
                            </a:rPr>
                            <a:t>外部时钟</a:t>
                          </a:r>
                        </a:p>
                        <a:p>
                          <a:pPr algn="ctr">
                            <a:lnSpc>
                              <a:spcPct val="120000"/>
                            </a:lnSpc>
                            <a:buNone/>
                          </a:pPr>
                          <a:r>
                            <a:rPr lang="zh-CN" altLang="en-US" dirty="0">
                              <a:latin typeface="+mj-ea"/>
                              <a:ea typeface="+mj-ea"/>
                            </a:rPr>
                            <a:t>使能所有时钟</a:t>
                          </a:r>
                        </a:p>
                      </a:txBody>
                      <a:tcPr anchor="ctr"/>
                    </a:tc>
                    <a:tc>
                      <a:txBody>
                        <a:bodyPr/>
                        <a:lstStyle/>
                        <a:p>
                          <a:pPr algn="ctr">
                            <a:lnSpc>
                              <a:spcPct val="120000"/>
                            </a:lnSpc>
                            <a:buNone/>
                          </a:pPr>
                          <a:r>
                            <a:rPr lang="en-US" altLang="zh-CN" dirty="0">
                              <a:latin typeface="+mj-ea"/>
                              <a:ea typeface="+mj-ea"/>
                            </a:rPr>
                            <a:t>72</a:t>
                          </a:r>
                        </a:p>
                      </a:txBody>
                      <a:tcPr anchor="ctr"/>
                    </a:tc>
                    <a:tc>
                      <a:txBody>
                        <a:bodyPr/>
                        <a:lstStyle/>
                        <a:p>
                          <a:pPr algn="ctr">
                            <a:lnSpc>
                              <a:spcPct val="120000"/>
                            </a:lnSpc>
                            <a:buNone/>
                          </a:pPr>
                          <a:r>
                            <a:rPr lang="en-US" altLang="zh-CN" dirty="0">
                              <a:latin typeface="+mj-ea"/>
                              <a:ea typeface="+mj-ea"/>
                            </a:rPr>
                            <a:t>30</a:t>
                          </a:r>
                        </a:p>
                      </a:txBody>
                      <a:tcPr anchor="ctr"/>
                    </a:tc>
                    <a:tc>
                      <a:txBody>
                        <a:bodyPr/>
                        <a:lstStyle/>
                        <a:p>
                          <a:pPr algn="ctr">
                            <a:lnSpc>
                              <a:spcPct val="120000"/>
                            </a:lnSpc>
                            <a:buNone/>
                          </a:pPr>
                          <a:r>
                            <a:rPr lang="en-US" altLang="zh-CN">
                              <a:latin typeface="+mj-ea"/>
                              <a:ea typeface="+mj-ea"/>
                            </a:rPr>
                            <a:t>32</a:t>
                          </a:r>
                        </a:p>
                      </a:txBody>
                      <a:tcPr anchor="ctr"/>
                    </a:tc>
                    <a:extLst>
                      <a:ext uri="{0D108BD9-81ED-4DB2-BD59-A6C34878D82A}">
                        <a16:rowId xmlns:a16="http://schemas.microsoft.com/office/drawing/2014/main" val="10002"/>
                      </a:ext>
                    </a:extLst>
                  </a:tr>
                  <a:tr h="381000">
                    <a:tc vMerge="1">
                      <a:txBody>
                        <a:bodyPr/>
                        <a:lstStyle/>
                        <a:p>
                          <a:endParaRPr lang="zh-CN"/>
                        </a:p>
                      </a:txBody>
                      <a:tcPr/>
                    </a:tc>
                    <a:tc>
                      <a:txBody>
                        <a:bodyPr/>
                        <a:lstStyle/>
                        <a:p>
                          <a:pPr algn="ctr">
                            <a:lnSpc>
                              <a:spcPct val="120000"/>
                            </a:lnSpc>
                            <a:buNone/>
                          </a:pPr>
                          <a:r>
                            <a:rPr lang="en-US" altLang="zh-CN" dirty="0">
                              <a:latin typeface="+mj-ea"/>
                              <a:ea typeface="+mj-ea"/>
                            </a:rPr>
                            <a:t>48</a:t>
                          </a:r>
                        </a:p>
                      </a:txBody>
                      <a:tcPr anchor="ctr"/>
                    </a:tc>
                    <a:tc>
                      <a:txBody>
                        <a:bodyPr/>
                        <a:lstStyle/>
                        <a:p>
                          <a:pPr algn="ctr">
                            <a:lnSpc>
                              <a:spcPct val="120000"/>
                            </a:lnSpc>
                            <a:buNone/>
                          </a:pPr>
                          <a:r>
                            <a:rPr lang="en-US" altLang="zh-CN" dirty="0">
                              <a:latin typeface="+mj-ea"/>
                              <a:ea typeface="+mj-ea"/>
                            </a:rPr>
                            <a:t>20</a:t>
                          </a:r>
                        </a:p>
                      </a:txBody>
                      <a:tcPr anchor="ctr"/>
                    </a:tc>
                    <a:tc>
                      <a:txBody>
                        <a:bodyPr/>
                        <a:lstStyle/>
                        <a:p>
                          <a:pPr algn="ctr">
                            <a:lnSpc>
                              <a:spcPct val="120000"/>
                            </a:lnSpc>
                            <a:buNone/>
                          </a:pPr>
                          <a:r>
                            <a:rPr lang="en-US" altLang="zh-CN">
                              <a:latin typeface="+mj-ea"/>
                              <a:ea typeface="+mj-ea"/>
                            </a:rPr>
                            <a:t>20.5</a:t>
                          </a:r>
                        </a:p>
                      </a:txBody>
                      <a:tcPr anchor="ctr"/>
                    </a:tc>
                    <a:extLst>
                      <a:ext uri="{0D108BD9-81ED-4DB2-BD59-A6C34878D82A}">
                        <a16:rowId xmlns:a16="http://schemas.microsoft.com/office/drawing/2014/main" val="10003"/>
                      </a:ext>
                    </a:extLst>
                  </a:tr>
                  <a:tr h="381000">
                    <a:tc vMerge="1">
                      <a:txBody>
                        <a:bodyPr/>
                        <a:lstStyle/>
                        <a:p>
                          <a:endParaRPr lang="zh-CN"/>
                        </a:p>
                      </a:txBody>
                      <a:tcPr/>
                    </a:tc>
                    <a:tc>
                      <a:txBody>
                        <a:bodyPr/>
                        <a:lstStyle/>
                        <a:p>
                          <a:pPr algn="ctr">
                            <a:lnSpc>
                              <a:spcPct val="120000"/>
                            </a:lnSpc>
                            <a:buNone/>
                          </a:pPr>
                          <a:r>
                            <a:rPr lang="en-US" altLang="zh-CN" dirty="0">
                              <a:latin typeface="+mj-ea"/>
                              <a:ea typeface="+mj-ea"/>
                            </a:rPr>
                            <a:t>36</a:t>
                          </a:r>
                        </a:p>
                      </a:txBody>
                      <a:tcPr anchor="ctr"/>
                    </a:tc>
                    <a:tc>
                      <a:txBody>
                        <a:bodyPr/>
                        <a:lstStyle/>
                        <a:p>
                          <a:pPr algn="ctr">
                            <a:lnSpc>
                              <a:spcPct val="120000"/>
                            </a:lnSpc>
                            <a:buNone/>
                          </a:pPr>
                          <a:r>
                            <a:rPr lang="en-US" altLang="zh-CN" dirty="0">
                              <a:latin typeface="+mj-ea"/>
                              <a:ea typeface="+mj-ea"/>
                            </a:rPr>
                            <a:t>15.5</a:t>
                          </a:r>
                        </a:p>
                      </a:txBody>
                      <a:tcPr anchor="ctr"/>
                    </a:tc>
                    <a:tc>
                      <a:txBody>
                        <a:bodyPr/>
                        <a:lstStyle/>
                        <a:p>
                          <a:pPr algn="ctr">
                            <a:lnSpc>
                              <a:spcPct val="120000"/>
                            </a:lnSpc>
                            <a:buNone/>
                          </a:pPr>
                          <a:r>
                            <a:rPr lang="en-US" altLang="zh-CN" dirty="0">
                              <a:latin typeface="+mj-ea"/>
                              <a:ea typeface="+mj-ea"/>
                            </a:rPr>
                            <a:t>16</a:t>
                          </a:r>
                        </a:p>
                      </a:txBody>
                      <a:tcPr anchor="ctr"/>
                    </a:tc>
                    <a:extLst>
                      <a:ext uri="{0D108BD9-81ED-4DB2-BD59-A6C34878D82A}">
                        <a16:rowId xmlns:a16="http://schemas.microsoft.com/office/drawing/2014/main" val="10004"/>
                      </a:ext>
                    </a:extLst>
                  </a:tr>
                  <a:tr h="381000">
                    <a:tc rowSpan="3">
                      <a:txBody>
                        <a:bodyPr/>
                        <a:lstStyle/>
                        <a:p>
                          <a:pPr algn="ctr">
                            <a:lnSpc>
                              <a:spcPct val="120000"/>
                            </a:lnSpc>
                            <a:buNone/>
                          </a:pPr>
                          <a:r>
                            <a:rPr lang="zh-CN" altLang="en-US" dirty="0">
                              <a:latin typeface="+mj-ea"/>
                              <a:ea typeface="+mj-ea"/>
                              <a:sym typeface="Arial" panose="020B0604020202020204" pitchFamily="34" charset="0"/>
                            </a:rPr>
                            <a:t>外部时钟</a:t>
                          </a:r>
                        </a:p>
                        <a:p>
                          <a:pPr algn="ctr">
                            <a:lnSpc>
                              <a:spcPct val="120000"/>
                            </a:lnSpc>
                            <a:buNone/>
                          </a:pPr>
                          <a:r>
                            <a:rPr lang="zh-CN" altLang="en-US" dirty="0">
                              <a:latin typeface="+mj-ea"/>
                              <a:ea typeface="+mj-ea"/>
                              <a:sym typeface="Arial" panose="020B0604020202020204" pitchFamily="34" charset="0"/>
                            </a:rPr>
                            <a:t>关闭使能所有时钟</a:t>
                          </a:r>
                          <a:endParaRPr lang="zh-CN" altLang="en-US" dirty="0">
                            <a:latin typeface="+mj-ea"/>
                            <a:ea typeface="+mj-ea"/>
                          </a:endParaRPr>
                        </a:p>
                      </a:txBody>
                      <a:tcPr anchor="ctr"/>
                    </a:tc>
                    <a:tc>
                      <a:txBody>
                        <a:bodyPr/>
                        <a:lstStyle/>
                        <a:p>
                          <a:pPr algn="ctr">
                            <a:lnSpc>
                              <a:spcPct val="120000"/>
                            </a:lnSpc>
                            <a:buNone/>
                          </a:pPr>
                          <a:r>
                            <a:rPr lang="en-US" altLang="zh-CN" sz="1800" kern="1200" dirty="0">
                              <a:solidFill>
                                <a:schemeClr val="tx1"/>
                              </a:solidFill>
                              <a:latin typeface="+mj-ea"/>
                              <a:ea typeface="+mj-ea"/>
                              <a:cs typeface="+mn-cs"/>
                              <a:sym typeface="+mn-ea"/>
                            </a:rPr>
                            <a:t>72</a:t>
                          </a:r>
                          <a:endParaRPr lang="en-US" altLang="zh-CN" sz="1800" kern="1200" dirty="0">
                            <a:solidFill>
                              <a:schemeClr val="tx1"/>
                            </a:solidFill>
                            <a:latin typeface="+mj-ea"/>
                            <a:ea typeface="+mj-ea"/>
                            <a:cs typeface="+mn-cs"/>
                          </a:endParaRPr>
                        </a:p>
                      </a:txBody>
                      <a:tcPr anchor="ctr"/>
                    </a:tc>
                    <a:tc>
                      <a:txBody>
                        <a:bodyPr/>
                        <a:lstStyle/>
                        <a:p>
                          <a:pPr algn="ctr">
                            <a:lnSpc>
                              <a:spcPct val="120000"/>
                            </a:lnSpc>
                            <a:buNone/>
                          </a:pPr>
                          <a:r>
                            <a:rPr lang="en-US" altLang="zh-CN" dirty="0">
                              <a:latin typeface="+mj-ea"/>
                              <a:ea typeface="+mj-ea"/>
                            </a:rPr>
                            <a:t>7.5</a:t>
                          </a:r>
                        </a:p>
                      </a:txBody>
                      <a:tcPr anchor="ctr"/>
                    </a:tc>
                    <a:tc>
                      <a:txBody>
                        <a:bodyPr/>
                        <a:lstStyle/>
                        <a:p>
                          <a:pPr algn="ctr">
                            <a:lnSpc>
                              <a:spcPct val="120000"/>
                            </a:lnSpc>
                            <a:buNone/>
                          </a:pPr>
                          <a:r>
                            <a:rPr lang="en-US" altLang="zh-CN" dirty="0">
                              <a:latin typeface="+mj-ea"/>
                              <a:ea typeface="+mj-ea"/>
                            </a:rPr>
                            <a:t>8</a:t>
                          </a:r>
                        </a:p>
                      </a:txBody>
                      <a:tcPr anchor="ctr"/>
                    </a:tc>
                    <a:extLst>
                      <a:ext uri="{0D108BD9-81ED-4DB2-BD59-A6C34878D82A}">
                        <a16:rowId xmlns:a16="http://schemas.microsoft.com/office/drawing/2014/main" val="10005"/>
                      </a:ext>
                    </a:extLst>
                  </a:tr>
                  <a:tr h="381000">
                    <a:tc vMerge="1">
                      <a:txBody>
                        <a:bodyPr/>
                        <a:lstStyle/>
                        <a:p>
                          <a:endParaRPr lang="zh-CN"/>
                        </a:p>
                      </a:txBody>
                      <a:tcPr anchor="ctr"/>
                    </a:tc>
                    <a:tc>
                      <a:txBody>
                        <a:bodyPr/>
                        <a:lstStyle/>
                        <a:p>
                          <a:pPr algn="ctr">
                            <a:lnSpc>
                              <a:spcPct val="120000"/>
                            </a:lnSpc>
                            <a:buNone/>
                          </a:pPr>
                          <a:r>
                            <a:rPr lang="en-US" altLang="zh-CN" sz="1800" kern="1200" dirty="0">
                              <a:solidFill>
                                <a:schemeClr val="tx1"/>
                              </a:solidFill>
                              <a:latin typeface="+mj-ea"/>
                              <a:ea typeface="+mj-ea"/>
                              <a:cs typeface="+mn-cs"/>
                              <a:sym typeface="+mn-ea"/>
                            </a:rPr>
                            <a:t>48</a:t>
                          </a:r>
                          <a:endParaRPr lang="zh-CN" altLang="en-US" sz="1800" kern="1200" dirty="0">
                            <a:solidFill>
                              <a:schemeClr val="tx1"/>
                            </a:solidFill>
                            <a:latin typeface="+mj-ea"/>
                            <a:ea typeface="+mj-ea"/>
                            <a:cs typeface="+mn-cs"/>
                          </a:endParaRPr>
                        </a:p>
                      </a:txBody>
                      <a:tcPr anchor="ctr"/>
                    </a:tc>
                    <a:tc>
                      <a:txBody>
                        <a:bodyPr/>
                        <a:lstStyle/>
                        <a:p>
                          <a:pPr algn="ctr">
                            <a:lnSpc>
                              <a:spcPct val="120000"/>
                            </a:lnSpc>
                            <a:buNone/>
                          </a:pPr>
                          <a:r>
                            <a:rPr lang="en-US" altLang="zh-CN" dirty="0">
                              <a:latin typeface="+mj-ea"/>
                              <a:ea typeface="+mj-ea"/>
                            </a:rPr>
                            <a:t>6</a:t>
                          </a:r>
                        </a:p>
                      </a:txBody>
                      <a:tcPr anchor="ctr"/>
                    </a:tc>
                    <a:tc>
                      <a:txBody>
                        <a:bodyPr/>
                        <a:lstStyle/>
                        <a:p>
                          <a:pPr algn="ctr">
                            <a:lnSpc>
                              <a:spcPct val="120000"/>
                            </a:lnSpc>
                            <a:buNone/>
                          </a:pPr>
                          <a:r>
                            <a:rPr lang="en-US" altLang="zh-CN" dirty="0">
                              <a:latin typeface="+mj-ea"/>
                              <a:ea typeface="+mj-ea"/>
                            </a:rPr>
                            <a:t>6.5</a:t>
                          </a:r>
                        </a:p>
                      </a:txBody>
                      <a:tcPr anchor="ctr"/>
                    </a:tc>
                    <a:extLst>
                      <a:ext uri="{0D108BD9-81ED-4DB2-BD59-A6C34878D82A}">
                        <a16:rowId xmlns:a16="http://schemas.microsoft.com/office/drawing/2014/main" val="10006"/>
                      </a:ext>
                    </a:extLst>
                  </a:tr>
                  <a:tr h="381000">
                    <a:tc vMerge="1">
                      <a:txBody>
                        <a:bodyPr/>
                        <a:lstStyle/>
                        <a:p>
                          <a:endParaRPr lang="zh-CN"/>
                        </a:p>
                      </a:txBody>
                      <a:tcPr anchor="ctr"/>
                    </a:tc>
                    <a:tc>
                      <a:txBody>
                        <a:bodyPr/>
                        <a:lstStyle/>
                        <a:p>
                          <a:pPr algn="ctr">
                            <a:lnSpc>
                              <a:spcPct val="120000"/>
                            </a:lnSpc>
                            <a:buNone/>
                          </a:pPr>
                          <a:r>
                            <a:rPr lang="en-US" altLang="zh-CN" sz="1800" kern="1200" dirty="0">
                              <a:solidFill>
                                <a:schemeClr val="tx1"/>
                              </a:solidFill>
                              <a:latin typeface="+mj-ea"/>
                              <a:ea typeface="+mj-ea"/>
                              <a:cs typeface="+mn-cs"/>
                              <a:sym typeface="+mn-ea"/>
                            </a:rPr>
                            <a:t>36</a:t>
                          </a:r>
                          <a:endParaRPr lang="zh-CN" altLang="en-US" sz="1800" kern="1200" dirty="0">
                            <a:solidFill>
                              <a:schemeClr val="tx1"/>
                            </a:solidFill>
                            <a:latin typeface="+mj-ea"/>
                            <a:ea typeface="+mj-ea"/>
                            <a:cs typeface="+mn-cs"/>
                          </a:endParaRPr>
                        </a:p>
                      </a:txBody>
                      <a:tcPr anchor="ctr"/>
                    </a:tc>
                    <a:tc>
                      <a:txBody>
                        <a:bodyPr/>
                        <a:lstStyle/>
                        <a:p>
                          <a:pPr algn="ctr">
                            <a:lnSpc>
                              <a:spcPct val="120000"/>
                            </a:lnSpc>
                            <a:buNone/>
                          </a:pPr>
                          <a:r>
                            <a:rPr lang="en-US" altLang="zh-CN" dirty="0">
                              <a:latin typeface="+mj-ea"/>
                              <a:ea typeface="+mj-ea"/>
                            </a:rPr>
                            <a:t>5</a:t>
                          </a:r>
                        </a:p>
                      </a:txBody>
                      <a:tcPr anchor="ctr"/>
                    </a:tc>
                    <a:tc>
                      <a:txBody>
                        <a:bodyPr/>
                        <a:lstStyle/>
                        <a:p>
                          <a:pPr algn="ctr">
                            <a:lnSpc>
                              <a:spcPct val="120000"/>
                            </a:lnSpc>
                            <a:buNone/>
                          </a:pPr>
                          <a:r>
                            <a:rPr lang="en-US" altLang="zh-CN" dirty="0">
                              <a:latin typeface="+mj-ea"/>
                              <a:ea typeface="+mj-ea"/>
                            </a:rPr>
                            <a:t>5.5</a:t>
                          </a:r>
                        </a:p>
                      </a:txBody>
                      <a:tcPr anchor="ctr"/>
                    </a:tc>
                    <a:extLst>
                      <a:ext uri="{0D108BD9-81ED-4DB2-BD59-A6C34878D82A}">
                        <a16:rowId xmlns:a16="http://schemas.microsoft.com/office/drawing/2014/main" val="10007"/>
                      </a:ext>
                    </a:extLst>
                  </a:tr>
                </a:tbl>
              </a:graphicData>
            </a:graphic>
          </p:graphicFrame>
        </mc:Choice>
        <mc:Fallback xmlns="">
          <p:graphicFrame>
            <p:nvGraphicFramePr>
              <p:cNvPr id="4" name="内容占位符 8">
                <a:extLst>
                  <a:ext uri="{FF2B5EF4-FFF2-40B4-BE49-F238E27FC236}">
                    <a16:creationId xmlns:a16="http://schemas.microsoft.com/office/drawing/2014/main" id="{DA8B1D57-D24E-4111-893C-3EC79CDFE166}"/>
                  </a:ext>
                </a:extLst>
              </p:cNvPr>
              <p:cNvGraphicFramePr>
                <a:graphicFrameLocks/>
              </p:cNvGraphicFramePr>
              <p:nvPr>
                <p:custDataLst>
                  <p:tags r:id="rId4"/>
                </p:custDataLst>
                <p:extLst>
                  <p:ext uri="{D42A27DB-BD31-4B8C-83A1-F6EECF244321}">
                    <p14:modId xmlns:p14="http://schemas.microsoft.com/office/powerpoint/2010/main" val="1949872386"/>
                  </p:ext>
                </p:extLst>
              </p:nvPr>
            </p:nvGraphicFramePr>
            <p:xfrm>
              <a:off x="1405922" y="2495211"/>
              <a:ext cx="6332156" cy="3141984"/>
            </p:xfrm>
            <a:graphic>
              <a:graphicData uri="http://schemas.openxmlformats.org/drawingml/2006/table">
                <a:tbl>
                  <a:tblPr firstRow="1" bandRow="1">
                    <a:tableStyleId>{5940675A-B579-460E-94D1-54222C63F5DA}</a:tableStyleId>
                  </a:tblPr>
                  <a:tblGrid>
                    <a:gridCol w="1972508">
                      <a:extLst>
                        <a:ext uri="{9D8B030D-6E8A-4147-A177-3AD203B41FA5}">
                          <a16:colId xmlns:a16="http://schemas.microsoft.com/office/drawing/2014/main" val="20001"/>
                        </a:ext>
                      </a:extLst>
                    </a:gridCol>
                    <a:gridCol w="1453216">
                      <a:extLst>
                        <a:ext uri="{9D8B030D-6E8A-4147-A177-3AD203B41FA5}">
                          <a16:colId xmlns:a16="http://schemas.microsoft.com/office/drawing/2014/main" val="20002"/>
                        </a:ext>
                      </a:extLst>
                    </a:gridCol>
                    <a:gridCol w="1453216">
                      <a:extLst>
                        <a:ext uri="{9D8B030D-6E8A-4147-A177-3AD203B41FA5}">
                          <a16:colId xmlns:a16="http://schemas.microsoft.com/office/drawing/2014/main" val="20003"/>
                        </a:ext>
                      </a:extLst>
                    </a:gridCol>
                    <a:gridCol w="1453216">
                      <a:extLst>
                        <a:ext uri="{9D8B030D-6E8A-4147-A177-3AD203B41FA5}">
                          <a16:colId xmlns:a16="http://schemas.microsoft.com/office/drawing/2014/main" val="20004"/>
                        </a:ext>
                      </a:extLst>
                    </a:gridCol>
                  </a:tblGrid>
                  <a:tr h="392748">
                    <a:tc rowSpan="2">
                      <a:txBody>
                        <a:bodyPr/>
                        <a:lstStyle/>
                        <a:p>
                          <a:pPr algn="ctr">
                            <a:lnSpc>
                              <a:spcPct val="120000"/>
                            </a:lnSpc>
                            <a:buNone/>
                          </a:pPr>
                          <a:r>
                            <a:rPr lang="zh-CN" altLang="en-US" dirty="0">
                              <a:latin typeface="+mj-ea"/>
                              <a:ea typeface="+mj-ea"/>
                            </a:rPr>
                            <a:t>条件</a:t>
                          </a:r>
                        </a:p>
                      </a:txBody>
                      <a:tcPr anchor="ctr"/>
                    </a:tc>
                    <a:tc rowSpan="2">
                      <a:txBody>
                        <a:bodyPr/>
                        <a:lstStyle/>
                        <a:p>
                          <a:endParaRPr lang="zh-CN"/>
                        </a:p>
                      </a:txBody>
                      <a:tcPr anchor="ctr">
                        <a:blipFill>
                          <a:blip r:embed="rId5"/>
                          <a:stretch>
                            <a:fillRect l="-135983" t="-775" r="-200418" b="-312403"/>
                          </a:stretch>
                        </a:blipFill>
                      </a:tcPr>
                    </a:tc>
                    <a:tc gridSpan="2">
                      <a:txBody>
                        <a:bodyPr/>
                        <a:lstStyle/>
                        <a:p>
                          <a:pPr algn="ctr">
                            <a:lnSpc>
                              <a:spcPct val="120000"/>
                            </a:lnSpc>
                            <a:buNone/>
                          </a:pPr>
                          <a:r>
                            <a:rPr lang="zh-CN" altLang="en-US" dirty="0">
                              <a:latin typeface="+mj-ea"/>
                              <a:ea typeface="+mj-ea"/>
                            </a:rPr>
                            <a:t>最大电流（</a:t>
                          </a:r>
                          <a:r>
                            <a:rPr lang="en-US" altLang="zh-CN" dirty="0">
                              <a:latin typeface="+mj-ea"/>
                              <a:ea typeface="+mj-ea"/>
                            </a:rPr>
                            <a:t>mA</a:t>
                          </a:r>
                          <a:r>
                            <a:rPr lang="zh-CN" altLang="en-US" dirty="0">
                              <a:latin typeface="+mj-ea"/>
                              <a:ea typeface="+mj-ea"/>
                            </a:rPr>
                            <a:t>）</a:t>
                          </a:r>
                        </a:p>
                      </a:txBody>
                      <a:tcPr anchor="ctr"/>
                    </a:tc>
                    <a:tc hMerge="1">
                      <a:txBody>
                        <a:bodyPr/>
                        <a:lstStyle/>
                        <a:p>
                          <a:endParaRPr lang="zh-CN"/>
                        </a:p>
                      </a:txBody>
                      <a:tcPr/>
                    </a:tc>
                    <a:extLst>
                      <a:ext uri="{0D108BD9-81ED-4DB2-BD59-A6C34878D82A}">
                        <a16:rowId xmlns:a16="http://schemas.microsoft.com/office/drawing/2014/main" val="10000"/>
                      </a:ext>
                    </a:extLst>
                  </a:tr>
                  <a:tr h="392748">
                    <a:tc vMerge="1">
                      <a:txBody>
                        <a:bodyPr/>
                        <a:lstStyle/>
                        <a:p>
                          <a:endParaRPr lang="zh-CN"/>
                        </a:p>
                      </a:txBody>
                      <a:tcPr/>
                    </a:tc>
                    <a:tc vMerge="1">
                      <a:txBody>
                        <a:bodyPr/>
                        <a:lstStyle/>
                        <a:p>
                          <a:endParaRPr lang="zh-CN"/>
                        </a:p>
                      </a:txBody>
                      <a:tcPr/>
                    </a:tc>
                    <a:tc>
                      <a:txBody>
                        <a:bodyPr/>
                        <a:lstStyle/>
                        <a:p>
                          <a:pPr algn="ctr">
                            <a:lnSpc>
                              <a:spcPct val="120000"/>
                            </a:lnSpc>
                            <a:buNone/>
                          </a:pPr>
                          <a:r>
                            <a:rPr lang="zh-CN" altLang="en-US" dirty="0">
                              <a:latin typeface="+mj-ea"/>
                              <a:ea typeface="+mj-ea"/>
                            </a:rPr>
                            <a:t>温度</a:t>
                          </a:r>
                          <a:r>
                            <a:rPr lang="en-US" altLang="zh-CN" dirty="0">
                              <a:latin typeface="+mj-ea"/>
                              <a:ea typeface="+mj-ea"/>
                            </a:rPr>
                            <a:t>=85℃</a:t>
                          </a:r>
                        </a:p>
                      </a:txBody>
                      <a:tcPr anchor="ctr"/>
                    </a:tc>
                    <a:tc>
                      <a:txBody>
                        <a:bodyPr/>
                        <a:lstStyle/>
                        <a:p>
                          <a:pPr algn="ctr">
                            <a:lnSpc>
                              <a:spcPct val="120000"/>
                            </a:lnSpc>
                            <a:buNone/>
                          </a:pPr>
                          <a:r>
                            <a:rPr lang="zh-CN" altLang="en-US" sz="1800" dirty="0">
                              <a:latin typeface="+mj-ea"/>
                              <a:ea typeface="+mj-ea"/>
                              <a:sym typeface="+mn-ea"/>
                            </a:rPr>
                            <a:t>温度</a:t>
                          </a:r>
                          <a:r>
                            <a:rPr lang="en-US" altLang="zh-CN" sz="1800" dirty="0">
                              <a:latin typeface="+mj-ea"/>
                              <a:ea typeface="+mj-ea"/>
                              <a:sym typeface="+mn-ea"/>
                            </a:rPr>
                            <a:t>=105℃</a:t>
                          </a:r>
                          <a:endParaRPr lang="zh-CN" altLang="en-US" sz="2800" dirty="0">
                            <a:latin typeface="+mj-ea"/>
                            <a:ea typeface="+mj-ea"/>
                          </a:endParaRPr>
                        </a:p>
                      </a:txBody>
                      <a:tcPr anchor="ctr"/>
                    </a:tc>
                    <a:extLst>
                      <a:ext uri="{0D108BD9-81ED-4DB2-BD59-A6C34878D82A}">
                        <a16:rowId xmlns:a16="http://schemas.microsoft.com/office/drawing/2014/main" val="10001"/>
                      </a:ext>
                    </a:extLst>
                  </a:tr>
                  <a:tr h="392748">
                    <a:tc rowSpan="3">
                      <a:txBody>
                        <a:bodyPr/>
                        <a:lstStyle/>
                        <a:p>
                          <a:pPr algn="ctr">
                            <a:lnSpc>
                              <a:spcPct val="120000"/>
                            </a:lnSpc>
                            <a:buNone/>
                          </a:pPr>
                          <a:r>
                            <a:rPr lang="zh-CN" altLang="en-US" dirty="0">
                              <a:latin typeface="+mj-ea"/>
                              <a:ea typeface="+mj-ea"/>
                            </a:rPr>
                            <a:t>外部时钟</a:t>
                          </a:r>
                        </a:p>
                        <a:p>
                          <a:pPr algn="ctr">
                            <a:lnSpc>
                              <a:spcPct val="120000"/>
                            </a:lnSpc>
                            <a:buNone/>
                          </a:pPr>
                          <a:r>
                            <a:rPr lang="zh-CN" altLang="en-US" dirty="0">
                              <a:latin typeface="+mj-ea"/>
                              <a:ea typeface="+mj-ea"/>
                            </a:rPr>
                            <a:t>使能所有时钟</a:t>
                          </a:r>
                        </a:p>
                      </a:txBody>
                      <a:tcPr anchor="ctr"/>
                    </a:tc>
                    <a:tc>
                      <a:txBody>
                        <a:bodyPr/>
                        <a:lstStyle/>
                        <a:p>
                          <a:pPr algn="ctr">
                            <a:lnSpc>
                              <a:spcPct val="120000"/>
                            </a:lnSpc>
                            <a:buNone/>
                          </a:pPr>
                          <a:r>
                            <a:rPr lang="en-US" altLang="zh-CN" dirty="0">
                              <a:latin typeface="+mj-ea"/>
                              <a:ea typeface="+mj-ea"/>
                            </a:rPr>
                            <a:t>72</a:t>
                          </a:r>
                        </a:p>
                      </a:txBody>
                      <a:tcPr anchor="ctr"/>
                    </a:tc>
                    <a:tc>
                      <a:txBody>
                        <a:bodyPr/>
                        <a:lstStyle/>
                        <a:p>
                          <a:pPr algn="ctr">
                            <a:lnSpc>
                              <a:spcPct val="120000"/>
                            </a:lnSpc>
                            <a:buNone/>
                          </a:pPr>
                          <a:r>
                            <a:rPr lang="en-US" altLang="zh-CN" dirty="0">
                              <a:latin typeface="+mj-ea"/>
                              <a:ea typeface="+mj-ea"/>
                            </a:rPr>
                            <a:t>30</a:t>
                          </a:r>
                        </a:p>
                      </a:txBody>
                      <a:tcPr anchor="ctr"/>
                    </a:tc>
                    <a:tc>
                      <a:txBody>
                        <a:bodyPr/>
                        <a:lstStyle/>
                        <a:p>
                          <a:pPr algn="ctr">
                            <a:lnSpc>
                              <a:spcPct val="120000"/>
                            </a:lnSpc>
                            <a:buNone/>
                          </a:pPr>
                          <a:r>
                            <a:rPr lang="en-US" altLang="zh-CN">
                              <a:latin typeface="+mj-ea"/>
                              <a:ea typeface="+mj-ea"/>
                            </a:rPr>
                            <a:t>32</a:t>
                          </a:r>
                        </a:p>
                      </a:txBody>
                      <a:tcPr anchor="ctr"/>
                    </a:tc>
                    <a:extLst>
                      <a:ext uri="{0D108BD9-81ED-4DB2-BD59-A6C34878D82A}">
                        <a16:rowId xmlns:a16="http://schemas.microsoft.com/office/drawing/2014/main" val="10002"/>
                      </a:ext>
                    </a:extLst>
                  </a:tr>
                  <a:tr h="392748">
                    <a:tc vMerge="1">
                      <a:txBody>
                        <a:bodyPr/>
                        <a:lstStyle/>
                        <a:p>
                          <a:endParaRPr lang="zh-CN"/>
                        </a:p>
                      </a:txBody>
                      <a:tcPr/>
                    </a:tc>
                    <a:tc>
                      <a:txBody>
                        <a:bodyPr/>
                        <a:lstStyle/>
                        <a:p>
                          <a:pPr algn="ctr">
                            <a:lnSpc>
                              <a:spcPct val="120000"/>
                            </a:lnSpc>
                            <a:buNone/>
                          </a:pPr>
                          <a:r>
                            <a:rPr lang="en-US" altLang="zh-CN" dirty="0">
                              <a:latin typeface="+mj-ea"/>
                              <a:ea typeface="+mj-ea"/>
                            </a:rPr>
                            <a:t>48</a:t>
                          </a:r>
                        </a:p>
                      </a:txBody>
                      <a:tcPr anchor="ctr"/>
                    </a:tc>
                    <a:tc>
                      <a:txBody>
                        <a:bodyPr/>
                        <a:lstStyle/>
                        <a:p>
                          <a:pPr algn="ctr">
                            <a:lnSpc>
                              <a:spcPct val="120000"/>
                            </a:lnSpc>
                            <a:buNone/>
                          </a:pPr>
                          <a:r>
                            <a:rPr lang="en-US" altLang="zh-CN" dirty="0">
                              <a:latin typeface="+mj-ea"/>
                              <a:ea typeface="+mj-ea"/>
                            </a:rPr>
                            <a:t>20</a:t>
                          </a:r>
                        </a:p>
                      </a:txBody>
                      <a:tcPr anchor="ctr"/>
                    </a:tc>
                    <a:tc>
                      <a:txBody>
                        <a:bodyPr/>
                        <a:lstStyle/>
                        <a:p>
                          <a:pPr algn="ctr">
                            <a:lnSpc>
                              <a:spcPct val="120000"/>
                            </a:lnSpc>
                            <a:buNone/>
                          </a:pPr>
                          <a:r>
                            <a:rPr lang="en-US" altLang="zh-CN">
                              <a:latin typeface="+mj-ea"/>
                              <a:ea typeface="+mj-ea"/>
                            </a:rPr>
                            <a:t>20.5</a:t>
                          </a:r>
                        </a:p>
                      </a:txBody>
                      <a:tcPr anchor="ctr"/>
                    </a:tc>
                    <a:extLst>
                      <a:ext uri="{0D108BD9-81ED-4DB2-BD59-A6C34878D82A}">
                        <a16:rowId xmlns:a16="http://schemas.microsoft.com/office/drawing/2014/main" val="10003"/>
                      </a:ext>
                    </a:extLst>
                  </a:tr>
                  <a:tr h="392748">
                    <a:tc vMerge="1">
                      <a:txBody>
                        <a:bodyPr/>
                        <a:lstStyle/>
                        <a:p>
                          <a:endParaRPr lang="zh-CN"/>
                        </a:p>
                      </a:txBody>
                      <a:tcPr/>
                    </a:tc>
                    <a:tc>
                      <a:txBody>
                        <a:bodyPr/>
                        <a:lstStyle/>
                        <a:p>
                          <a:pPr algn="ctr">
                            <a:lnSpc>
                              <a:spcPct val="120000"/>
                            </a:lnSpc>
                            <a:buNone/>
                          </a:pPr>
                          <a:r>
                            <a:rPr lang="en-US" altLang="zh-CN" dirty="0">
                              <a:latin typeface="+mj-ea"/>
                              <a:ea typeface="+mj-ea"/>
                            </a:rPr>
                            <a:t>36</a:t>
                          </a:r>
                        </a:p>
                      </a:txBody>
                      <a:tcPr anchor="ctr"/>
                    </a:tc>
                    <a:tc>
                      <a:txBody>
                        <a:bodyPr/>
                        <a:lstStyle/>
                        <a:p>
                          <a:pPr algn="ctr">
                            <a:lnSpc>
                              <a:spcPct val="120000"/>
                            </a:lnSpc>
                            <a:buNone/>
                          </a:pPr>
                          <a:r>
                            <a:rPr lang="en-US" altLang="zh-CN" dirty="0">
                              <a:latin typeface="+mj-ea"/>
                              <a:ea typeface="+mj-ea"/>
                            </a:rPr>
                            <a:t>15.5</a:t>
                          </a:r>
                        </a:p>
                      </a:txBody>
                      <a:tcPr anchor="ctr"/>
                    </a:tc>
                    <a:tc>
                      <a:txBody>
                        <a:bodyPr/>
                        <a:lstStyle/>
                        <a:p>
                          <a:pPr algn="ctr">
                            <a:lnSpc>
                              <a:spcPct val="120000"/>
                            </a:lnSpc>
                            <a:buNone/>
                          </a:pPr>
                          <a:r>
                            <a:rPr lang="en-US" altLang="zh-CN" dirty="0">
                              <a:latin typeface="+mj-ea"/>
                              <a:ea typeface="+mj-ea"/>
                            </a:rPr>
                            <a:t>16</a:t>
                          </a:r>
                        </a:p>
                      </a:txBody>
                      <a:tcPr anchor="ctr"/>
                    </a:tc>
                    <a:extLst>
                      <a:ext uri="{0D108BD9-81ED-4DB2-BD59-A6C34878D82A}">
                        <a16:rowId xmlns:a16="http://schemas.microsoft.com/office/drawing/2014/main" val="10004"/>
                      </a:ext>
                    </a:extLst>
                  </a:tr>
                  <a:tr h="392748">
                    <a:tc rowSpan="3">
                      <a:txBody>
                        <a:bodyPr/>
                        <a:lstStyle/>
                        <a:p>
                          <a:pPr algn="ctr">
                            <a:lnSpc>
                              <a:spcPct val="120000"/>
                            </a:lnSpc>
                            <a:buNone/>
                          </a:pPr>
                          <a:r>
                            <a:rPr lang="zh-CN" altLang="en-US" dirty="0">
                              <a:latin typeface="+mj-ea"/>
                              <a:ea typeface="+mj-ea"/>
                              <a:sym typeface="Arial" panose="020B0604020202020204" pitchFamily="34" charset="0"/>
                            </a:rPr>
                            <a:t>外部时钟</a:t>
                          </a:r>
                        </a:p>
                        <a:p>
                          <a:pPr algn="ctr">
                            <a:lnSpc>
                              <a:spcPct val="120000"/>
                            </a:lnSpc>
                            <a:buNone/>
                          </a:pPr>
                          <a:r>
                            <a:rPr lang="zh-CN" altLang="en-US" dirty="0">
                              <a:latin typeface="+mj-ea"/>
                              <a:ea typeface="+mj-ea"/>
                              <a:sym typeface="Arial" panose="020B0604020202020204" pitchFamily="34" charset="0"/>
                            </a:rPr>
                            <a:t>关闭使能所有时钟</a:t>
                          </a:r>
                          <a:endParaRPr lang="zh-CN" altLang="en-US" dirty="0">
                            <a:latin typeface="+mj-ea"/>
                            <a:ea typeface="+mj-ea"/>
                          </a:endParaRPr>
                        </a:p>
                      </a:txBody>
                      <a:tcPr anchor="ctr"/>
                    </a:tc>
                    <a:tc>
                      <a:txBody>
                        <a:bodyPr/>
                        <a:lstStyle/>
                        <a:p>
                          <a:pPr algn="ctr">
                            <a:lnSpc>
                              <a:spcPct val="120000"/>
                            </a:lnSpc>
                            <a:buNone/>
                          </a:pPr>
                          <a:r>
                            <a:rPr lang="en-US" altLang="zh-CN" sz="1800" kern="1200" dirty="0">
                              <a:solidFill>
                                <a:schemeClr val="tx1"/>
                              </a:solidFill>
                              <a:latin typeface="+mj-ea"/>
                              <a:ea typeface="+mj-ea"/>
                              <a:cs typeface="+mn-cs"/>
                              <a:sym typeface="+mn-ea"/>
                            </a:rPr>
                            <a:t>72</a:t>
                          </a:r>
                          <a:endParaRPr lang="en-US" altLang="zh-CN" sz="1800" kern="1200" dirty="0">
                            <a:solidFill>
                              <a:schemeClr val="tx1"/>
                            </a:solidFill>
                            <a:latin typeface="+mj-ea"/>
                            <a:ea typeface="+mj-ea"/>
                            <a:cs typeface="+mn-cs"/>
                          </a:endParaRPr>
                        </a:p>
                      </a:txBody>
                      <a:tcPr anchor="ctr"/>
                    </a:tc>
                    <a:tc>
                      <a:txBody>
                        <a:bodyPr/>
                        <a:lstStyle/>
                        <a:p>
                          <a:pPr algn="ctr">
                            <a:lnSpc>
                              <a:spcPct val="120000"/>
                            </a:lnSpc>
                            <a:buNone/>
                          </a:pPr>
                          <a:r>
                            <a:rPr lang="en-US" altLang="zh-CN" dirty="0">
                              <a:latin typeface="+mj-ea"/>
                              <a:ea typeface="+mj-ea"/>
                            </a:rPr>
                            <a:t>7.5</a:t>
                          </a:r>
                        </a:p>
                      </a:txBody>
                      <a:tcPr anchor="ctr"/>
                    </a:tc>
                    <a:tc>
                      <a:txBody>
                        <a:bodyPr/>
                        <a:lstStyle/>
                        <a:p>
                          <a:pPr algn="ctr">
                            <a:lnSpc>
                              <a:spcPct val="120000"/>
                            </a:lnSpc>
                            <a:buNone/>
                          </a:pPr>
                          <a:r>
                            <a:rPr lang="en-US" altLang="zh-CN" dirty="0">
                              <a:latin typeface="+mj-ea"/>
                              <a:ea typeface="+mj-ea"/>
                            </a:rPr>
                            <a:t>8</a:t>
                          </a:r>
                        </a:p>
                      </a:txBody>
                      <a:tcPr anchor="ctr"/>
                    </a:tc>
                    <a:extLst>
                      <a:ext uri="{0D108BD9-81ED-4DB2-BD59-A6C34878D82A}">
                        <a16:rowId xmlns:a16="http://schemas.microsoft.com/office/drawing/2014/main" val="10005"/>
                      </a:ext>
                    </a:extLst>
                  </a:tr>
                  <a:tr h="392748">
                    <a:tc vMerge="1">
                      <a:txBody>
                        <a:bodyPr/>
                        <a:lstStyle/>
                        <a:p>
                          <a:endParaRPr lang="zh-CN"/>
                        </a:p>
                      </a:txBody>
                      <a:tcPr anchor="ctr"/>
                    </a:tc>
                    <a:tc>
                      <a:txBody>
                        <a:bodyPr/>
                        <a:lstStyle/>
                        <a:p>
                          <a:pPr algn="ctr">
                            <a:lnSpc>
                              <a:spcPct val="120000"/>
                            </a:lnSpc>
                            <a:buNone/>
                          </a:pPr>
                          <a:r>
                            <a:rPr lang="en-US" altLang="zh-CN" sz="1800" kern="1200" dirty="0">
                              <a:solidFill>
                                <a:schemeClr val="tx1"/>
                              </a:solidFill>
                              <a:latin typeface="+mj-ea"/>
                              <a:ea typeface="+mj-ea"/>
                              <a:cs typeface="+mn-cs"/>
                              <a:sym typeface="+mn-ea"/>
                            </a:rPr>
                            <a:t>48</a:t>
                          </a:r>
                          <a:endParaRPr lang="zh-CN" altLang="en-US" sz="1800" kern="1200" dirty="0">
                            <a:solidFill>
                              <a:schemeClr val="tx1"/>
                            </a:solidFill>
                            <a:latin typeface="+mj-ea"/>
                            <a:ea typeface="+mj-ea"/>
                            <a:cs typeface="+mn-cs"/>
                          </a:endParaRPr>
                        </a:p>
                      </a:txBody>
                      <a:tcPr anchor="ctr"/>
                    </a:tc>
                    <a:tc>
                      <a:txBody>
                        <a:bodyPr/>
                        <a:lstStyle/>
                        <a:p>
                          <a:pPr algn="ctr">
                            <a:lnSpc>
                              <a:spcPct val="120000"/>
                            </a:lnSpc>
                            <a:buNone/>
                          </a:pPr>
                          <a:r>
                            <a:rPr lang="en-US" altLang="zh-CN" dirty="0">
                              <a:latin typeface="+mj-ea"/>
                              <a:ea typeface="+mj-ea"/>
                            </a:rPr>
                            <a:t>6</a:t>
                          </a:r>
                        </a:p>
                      </a:txBody>
                      <a:tcPr anchor="ctr"/>
                    </a:tc>
                    <a:tc>
                      <a:txBody>
                        <a:bodyPr/>
                        <a:lstStyle/>
                        <a:p>
                          <a:pPr algn="ctr">
                            <a:lnSpc>
                              <a:spcPct val="120000"/>
                            </a:lnSpc>
                            <a:buNone/>
                          </a:pPr>
                          <a:r>
                            <a:rPr lang="en-US" altLang="zh-CN" dirty="0">
                              <a:latin typeface="+mj-ea"/>
                              <a:ea typeface="+mj-ea"/>
                            </a:rPr>
                            <a:t>6.5</a:t>
                          </a:r>
                        </a:p>
                      </a:txBody>
                      <a:tcPr anchor="ctr"/>
                    </a:tc>
                    <a:extLst>
                      <a:ext uri="{0D108BD9-81ED-4DB2-BD59-A6C34878D82A}">
                        <a16:rowId xmlns:a16="http://schemas.microsoft.com/office/drawing/2014/main" val="10006"/>
                      </a:ext>
                    </a:extLst>
                  </a:tr>
                  <a:tr h="392748">
                    <a:tc vMerge="1">
                      <a:txBody>
                        <a:bodyPr/>
                        <a:lstStyle/>
                        <a:p>
                          <a:endParaRPr lang="zh-CN"/>
                        </a:p>
                      </a:txBody>
                      <a:tcPr anchor="ctr"/>
                    </a:tc>
                    <a:tc>
                      <a:txBody>
                        <a:bodyPr/>
                        <a:lstStyle/>
                        <a:p>
                          <a:pPr algn="ctr">
                            <a:lnSpc>
                              <a:spcPct val="120000"/>
                            </a:lnSpc>
                            <a:buNone/>
                          </a:pPr>
                          <a:r>
                            <a:rPr lang="en-US" altLang="zh-CN" sz="1800" kern="1200" dirty="0">
                              <a:solidFill>
                                <a:schemeClr val="tx1"/>
                              </a:solidFill>
                              <a:latin typeface="+mj-ea"/>
                              <a:ea typeface="+mj-ea"/>
                              <a:cs typeface="+mn-cs"/>
                              <a:sym typeface="+mn-ea"/>
                            </a:rPr>
                            <a:t>36</a:t>
                          </a:r>
                          <a:endParaRPr lang="zh-CN" altLang="en-US" sz="1800" kern="1200" dirty="0">
                            <a:solidFill>
                              <a:schemeClr val="tx1"/>
                            </a:solidFill>
                            <a:latin typeface="+mj-ea"/>
                            <a:ea typeface="+mj-ea"/>
                            <a:cs typeface="+mn-cs"/>
                          </a:endParaRPr>
                        </a:p>
                      </a:txBody>
                      <a:tcPr anchor="ctr"/>
                    </a:tc>
                    <a:tc>
                      <a:txBody>
                        <a:bodyPr/>
                        <a:lstStyle/>
                        <a:p>
                          <a:pPr algn="ctr">
                            <a:lnSpc>
                              <a:spcPct val="120000"/>
                            </a:lnSpc>
                            <a:buNone/>
                          </a:pPr>
                          <a:r>
                            <a:rPr lang="en-US" altLang="zh-CN" dirty="0">
                              <a:latin typeface="+mj-ea"/>
                              <a:ea typeface="+mj-ea"/>
                            </a:rPr>
                            <a:t>5</a:t>
                          </a:r>
                        </a:p>
                      </a:txBody>
                      <a:tcPr anchor="ctr"/>
                    </a:tc>
                    <a:tc>
                      <a:txBody>
                        <a:bodyPr/>
                        <a:lstStyle/>
                        <a:p>
                          <a:pPr algn="ctr">
                            <a:lnSpc>
                              <a:spcPct val="120000"/>
                            </a:lnSpc>
                            <a:buNone/>
                          </a:pPr>
                          <a:r>
                            <a:rPr lang="en-US" altLang="zh-CN" dirty="0">
                              <a:latin typeface="+mj-ea"/>
                              <a:ea typeface="+mj-ea"/>
                            </a:rPr>
                            <a:t>5.5</a:t>
                          </a:r>
                        </a:p>
                      </a:txBody>
                      <a:tcPr anchor="ctr"/>
                    </a:tc>
                    <a:extLst>
                      <a:ext uri="{0D108BD9-81ED-4DB2-BD59-A6C34878D82A}">
                        <a16:rowId xmlns:a16="http://schemas.microsoft.com/office/drawing/2014/main" val="10007"/>
                      </a:ext>
                    </a:extLst>
                  </a:tr>
                </a:tbl>
              </a:graphicData>
            </a:graphic>
          </p:graphicFrame>
        </mc:Fallback>
      </mc:AlternateContent>
      <p:sp>
        <p:nvSpPr>
          <p:cNvPr id="9" name="灯片编号占位符 4">
            <a:extLst>
              <a:ext uri="{FF2B5EF4-FFF2-40B4-BE49-F238E27FC236}">
                <a16:creationId xmlns:a16="http://schemas.microsoft.com/office/drawing/2014/main" id="{0305AE9C-4688-4B39-91F2-331EADD2ECA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39</a:t>
            </a:fld>
            <a:endParaRPr lang="zh-CN" altLang="zh-CN" sz="1800" baseline="0" dirty="0">
              <a:solidFill>
                <a:schemeClr val="folHlink"/>
              </a:solidFill>
              <a:latin typeface="Monotype Corsiva" panose="03010101010201010101" pitchFamily="66" charset="0"/>
            </a:endParaRPr>
          </a:p>
        </p:txBody>
      </p:sp>
      <p:sp>
        <p:nvSpPr>
          <p:cNvPr id="8" name="矩形 7">
            <a:extLst>
              <a:ext uri="{FF2B5EF4-FFF2-40B4-BE49-F238E27FC236}">
                <a16:creationId xmlns:a16="http://schemas.microsoft.com/office/drawing/2014/main" id="{F34D3F6E-E8C4-4B35-9B82-F39025B4ACFB}"/>
              </a:ext>
            </a:extLst>
          </p:cNvPr>
          <p:cNvSpPr/>
          <p:nvPr/>
        </p:nvSpPr>
        <p:spPr>
          <a:xfrm>
            <a:off x="1854543" y="5698123"/>
            <a:ext cx="5511113" cy="338554"/>
          </a:xfrm>
          <a:prstGeom prst="rect">
            <a:avLst/>
          </a:prstGeom>
        </p:spPr>
        <p:txBody>
          <a:bodyPr wrap="square">
            <a:spAutoFit/>
          </a:bodyPr>
          <a:lstStyle/>
          <a:p>
            <a:r>
              <a:rPr lang="zh-CN" altLang="en-US" dirty="0">
                <a:latin typeface="+mj-ea"/>
                <a:ea typeface="+mj-ea"/>
              </a:rPr>
              <a:t>睡眠模式下，代码运行在</a:t>
            </a:r>
            <a:r>
              <a:rPr lang="en-US" altLang="zh-CN" dirty="0">
                <a:latin typeface="+mj-ea"/>
                <a:ea typeface="+mj-ea"/>
              </a:rPr>
              <a:t>Flash</a:t>
            </a:r>
            <a:r>
              <a:rPr lang="zh-CN" altLang="en-US" dirty="0">
                <a:latin typeface="+mj-ea"/>
                <a:ea typeface="+mj-ea"/>
              </a:rPr>
              <a:t>或</a:t>
            </a:r>
            <a:r>
              <a:rPr lang="en-US" altLang="zh-CN" dirty="0">
                <a:latin typeface="+mj-ea"/>
                <a:ea typeface="+mj-ea"/>
              </a:rPr>
              <a:t>RAM</a:t>
            </a:r>
            <a:r>
              <a:rPr lang="zh-CN" altLang="en-US" dirty="0">
                <a:latin typeface="+mj-ea"/>
                <a:ea typeface="+mj-ea"/>
              </a:rPr>
              <a:t>中的最大供应电流</a:t>
            </a:r>
          </a:p>
        </p:txBody>
      </p:sp>
    </p:spTree>
    <p:extLst>
      <p:ext uri="{BB962C8B-B14F-4D97-AF65-F5344CB8AC3E}">
        <p14:creationId xmlns:p14="http://schemas.microsoft.com/office/powerpoint/2010/main" val="220852225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5EA62B-3D05-445A-A163-D1E274A14B1C}"/>
              </a:ext>
            </a:extLst>
          </p:cNvPr>
          <p:cNvSpPr>
            <a:spLocks noGrp="1"/>
          </p:cNvSpPr>
          <p:nvPr>
            <p:ph type="title"/>
          </p:nvPr>
        </p:nvSpPr>
        <p:spPr/>
        <p:txBody>
          <a:bodyPr/>
          <a:lstStyle/>
          <a:p>
            <a:r>
              <a:rPr lang="en-US" altLang="zh-CN" dirty="0"/>
              <a:t>STM32</a:t>
            </a:r>
            <a:r>
              <a:rPr lang="zh-CN" altLang="en-US" dirty="0"/>
              <a:t>系列硬件平台</a:t>
            </a:r>
          </a:p>
        </p:txBody>
      </p:sp>
      <p:sp>
        <p:nvSpPr>
          <p:cNvPr id="3" name="内容占位符 2">
            <a:extLst>
              <a:ext uri="{FF2B5EF4-FFF2-40B4-BE49-F238E27FC236}">
                <a16:creationId xmlns:a16="http://schemas.microsoft.com/office/drawing/2014/main" id="{05F7E047-3FCA-4FDE-9086-D00877E4666B}"/>
              </a:ext>
            </a:extLst>
          </p:cNvPr>
          <p:cNvSpPr>
            <a:spLocks noGrp="1"/>
          </p:cNvSpPr>
          <p:nvPr>
            <p:ph idx="1"/>
          </p:nvPr>
        </p:nvSpPr>
        <p:spPr/>
        <p:txBody>
          <a:bodyPr/>
          <a:lstStyle/>
          <a:p>
            <a:r>
              <a:rPr lang="zh-CN" altLang="en-US"/>
              <a:t>扩展接口</a:t>
            </a:r>
            <a:endParaRPr lang="en-US" altLang="zh-CN"/>
          </a:p>
          <a:p>
            <a:pPr lvl="1"/>
            <a:r>
              <a:rPr lang="en-US" altLang="zh-CN"/>
              <a:t>STM32</a:t>
            </a:r>
            <a:r>
              <a:rPr lang="zh-CN" altLang="en-US"/>
              <a:t>开发板上各通信协议的引脚数量</a:t>
            </a:r>
            <a:endParaRPr lang="zh-CN" altLang="en-US" dirty="0"/>
          </a:p>
        </p:txBody>
      </p:sp>
      <p:graphicFrame>
        <p:nvGraphicFramePr>
          <p:cNvPr id="4" name="表格 3">
            <a:extLst>
              <a:ext uri="{FF2B5EF4-FFF2-40B4-BE49-F238E27FC236}">
                <a16:creationId xmlns:a16="http://schemas.microsoft.com/office/drawing/2014/main" id="{0C462F9F-DB8D-43B3-B3EA-744B0D1EB382}"/>
              </a:ext>
            </a:extLst>
          </p:cNvPr>
          <p:cNvGraphicFramePr>
            <a:graphicFrameLocks noGrp="1"/>
          </p:cNvGraphicFramePr>
          <p:nvPr>
            <p:custDataLst>
              <p:tags r:id="rId1"/>
            </p:custDataLst>
            <p:extLst>
              <p:ext uri="{D42A27DB-BD31-4B8C-83A1-F6EECF244321}">
                <p14:modId xmlns:p14="http://schemas.microsoft.com/office/powerpoint/2010/main" val="3694355814"/>
              </p:ext>
            </p:extLst>
          </p:nvPr>
        </p:nvGraphicFramePr>
        <p:xfrm>
          <a:off x="749299" y="2429081"/>
          <a:ext cx="7721602" cy="3075051"/>
        </p:xfrm>
        <a:graphic>
          <a:graphicData uri="http://schemas.openxmlformats.org/drawingml/2006/table">
            <a:tbl>
              <a:tblPr firstRow="1" firstCol="1" bandRow="1">
                <a:tableStyleId>{5940675A-B579-460E-94D1-54222C63F5DA}</a:tableStyleId>
              </a:tblPr>
              <a:tblGrid>
                <a:gridCol w="2381265">
                  <a:extLst>
                    <a:ext uri="{9D8B030D-6E8A-4147-A177-3AD203B41FA5}">
                      <a16:colId xmlns:a16="http://schemas.microsoft.com/office/drawing/2014/main" val="20000"/>
                    </a:ext>
                  </a:extLst>
                </a:gridCol>
                <a:gridCol w="2763551">
                  <a:extLst>
                    <a:ext uri="{9D8B030D-6E8A-4147-A177-3AD203B41FA5}">
                      <a16:colId xmlns:a16="http://schemas.microsoft.com/office/drawing/2014/main" val="20001"/>
                    </a:ext>
                  </a:extLst>
                </a:gridCol>
                <a:gridCol w="2576786">
                  <a:extLst>
                    <a:ext uri="{9D8B030D-6E8A-4147-A177-3AD203B41FA5}">
                      <a16:colId xmlns:a16="http://schemas.microsoft.com/office/drawing/2014/main" val="20002"/>
                    </a:ext>
                  </a:extLst>
                </a:gridCol>
              </a:tblGrid>
              <a:tr h="914400">
                <a:tc>
                  <a:txBody>
                    <a:bodyPr/>
                    <a:lstStyle/>
                    <a:p>
                      <a:pPr algn="ctr">
                        <a:lnSpc>
                          <a:spcPct val="125000"/>
                        </a:lnSpc>
                        <a:spcAft>
                          <a:spcPts val="0"/>
                        </a:spcAft>
                      </a:pPr>
                      <a:r>
                        <a:rPr lang="zh-CN" sz="2400" kern="100" dirty="0">
                          <a:effectLst/>
                          <a:latin typeface="+mj-ea"/>
                          <a:ea typeface="+mj-ea"/>
                        </a:rPr>
                        <a:t>接口类型</a:t>
                      </a:r>
                      <a:endParaRPr lang="zh-CN" sz="18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STM32F103C8T6</a:t>
                      </a:r>
                      <a:endParaRPr lang="zh-CN" sz="18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STM32F103VET6</a:t>
                      </a:r>
                      <a:endParaRPr lang="zh-CN" sz="1800" kern="100" dirty="0">
                        <a:effectLst/>
                        <a:latin typeface="+mj-ea"/>
                        <a:ea typeface="+mj-ea"/>
                      </a:endParaRPr>
                    </a:p>
                  </a:txBody>
                  <a:tcPr marL="68580" marR="68580" marT="0" marB="0" anchor="ctr"/>
                </a:tc>
                <a:extLst>
                  <a:ext uri="{0D108BD9-81ED-4DB2-BD59-A6C34878D82A}">
                    <a16:rowId xmlns:a16="http://schemas.microsoft.com/office/drawing/2014/main" val="10000"/>
                  </a:ext>
                </a:extLst>
              </a:tr>
              <a:tr h="457200">
                <a:tc>
                  <a:txBody>
                    <a:bodyPr/>
                    <a:lstStyle/>
                    <a:p>
                      <a:pPr algn="ctr">
                        <a:lnSpc>
                          <a:spcPct val="125000"/>
                        </a:lnSpc>
                        <a:spcAft>
                          <a:spcPts val="0"/>
                        </a:spcAft>
                      </a:pPr>
                      <a:r>
                        <a:rPr lang="en-US" sz="2400" kern="100">
                          <a:effectLst/>
                          <a:latin typeface="+mj-ea"/>
                          <a:ea typeface="+mj-ea"/>
                        </a:rPr>
                        <a:t>Digital</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altLang="zh-CN" sz="2400" kern="100">
                          <a:effectLst/>
                          <a:latin typeface="+mj-ea"/>
                          <a:ea typeface="+mj-ea"/>
                        </a:rPr>
                        <a:t>32</a:t>
                      </a:r>
                    </a:p>
                  </a:txBody>
                  <a:tcPr marL="68580" marR="68580" marT="0" marB="0" anchor="ctr"/>
                </a:tc>
                <a:tc>
                  <a:txBody>
                    <a:bodyPr/>
                    <a:lstStyle/>
                    <a:p>
                      <a:pPr algn="ctr">
                        <a:lnSpc>
                          <a:spcPct val="125000"/>
                        </a:lnSpc>
                        <a:spcAft>
                          <a:spcPts val="0"/>
                        </a:spcAft>
                      </a:pPr>
                      <a:r>
                        <a:rPr lang="en-US" sz="2400" kern="100">
                          <a:effectLst/>
                          <a:latin typeface="+mj-ea"/>
                          <a:ea typeface="+mj-ea"/>
                        </a:rPr>
                        <a:t>100</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1"/>
                  </a:ext>
                </a:extLst>
              </a:tr>
              <a:tr h="0">
                <a:tc>
                  <a:txBody>
                    <a:bodyPr/>
                    <a:lstStyle/>
                    <a:p>
                      <a:pPr algn="ctr">
                        <a:lnSpc>
                          <a:spcPct val="125000"/>
                        </a:lnSpc>
                        <a:spcAft>
                          <a:spcPts val="0"/>
                        </a:spcAft>
                      </a:pPr>
                      <a:r>
                        <a:rPr lang="en-US" sz="2400" kern="100">
                          <a:effectLst/>
                          <a:latin typeface="+mj-ea"/>
                          <a:ea typeface="+mj-ea"/>
                        </a:rPr>
                        <a:t>PWM</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6</a:t>
                      </a:r>
                      <a:endParaRPr lang="zh-CN" sz="18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14</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2"/>
                  </a:ext>
                </a:extLst>
              </a:tr>
              <a:tr h="457200">
                <a:tc>
                  <a:txBody>
                    <a:bodyPr/>
                    <a:lstStyle/>
                    <a:p>
                      <a:pPr algn="ctr">
                        <a:lnSpc>
                          <a:spcPct val="125000"/>
                        </a:lnSpc>
                        <a:spcAft>
                          <a:spcPts val="0"/>
                        </a:spcAft>
                      </a:pPr>
                      <a:r>
                        <a:rPr lang="en-US" sz="2400" kern="100">
                          <a:effectLst/>
                          <a:latin typeface="+mj-ea"/>
                          <a:ea typeface="+mj-ea"/>
                        </a:rPr>
                        <a:t>UART</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3</a:t>
                      </a:r>
                      <a:endParaRPr lang="zh-CN" sz="18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3</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3"/>
                  </a:ext>
                </a:extLst>
              </a:tr>
              <a:tr h="0">
                <a:tc>
                  <a:txBody>
                    <a:bodyPr/>
                    <a:lstStyle/>
                    <a:p>
                      <a:pPr algn="ctr">
                        <a:lnSpc>
                          <a:spcPct val="125000"/>
                        </a:lnSpc>
                        <a:spcAft>
                          <a:spcPts val="0"/>
                        </a:spcAft>
                      </a:pPr>
                      <a:r>
                        <a:rPr lang="en-US" sz="2400" kern="100">
                          <a:effectLst/>
                          <a:latin typeface="+mj-ea"/>
                          <a:ea typeface="+mj-ea"/>
                        </a:rPr>
                        <a:t>I2C</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2</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sym typeface="+mn-ea"/>
                        </a:rPr>
                        <a:t>2</a:t>
                      </a:r>
                      <a:endParaRPr lang="en-US" altLang="zh-CN" sz="2400" kern="100">
                        <a:effectLst/>
                        <a:latin typeface="+mj-ea"/>
                        <a:ea typeface="+mj-ea"/>
                      </a:endParaRPr>
                    </a:p>
                  </a:txBody>
                  <a:tcPr marL="68580" marR="68580" marT="0" marB="0" anchor="ctr"/>
                </a:tc>
                <a:extLst>
                  <a:ext uri="{0D108BD9-81ED-4DB2-BD59-A6C34878D82A}">
                    <a16:rowId xmlns:a16="http://schemas.microsoft.com/office/drawing/2014/main" val="10004"/>
                  </a:ext>
                </a:extLst>
              </a:tr>
              <a:tr h="0">
                <a:tc>
                  <a:txBody>
                    <a:bodyPr/>
                    <a:lstStyle/>
                    <a:p>
                      <a:pPr algn="ctr">
                        <a:lnSpc>
                          <a:spcPct val="125000"/>
                        </a:lnSpc>
                        <a:spcAft>
                          <a:spcPts val="0"/>
                        </a:spcAft>
                      </a:pPr>
                      <a:r>
                        <a:rPr lang="en-US" sz="2400" kern="100">
                          <a:effectLst/>
                          <a:latin typeface="+mj-ea"/>
                          <a:ea typeface="+mj-ea"/>
                        </a:rPr>
                        <a:t>SPI</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altLang="zh-CN" sz="2400" kern="100">
                          <a:effectLst/>
                          <a:latin typeface="+mj-ea"/>
                          <a:ea typeface="+mj-ea"/>
                        </a:rPr>
                        <a:t>2</a:t>
                      </a:r>
                    </a:p>
                  </a:txBody>
                  <a:tcPr marL="68580" marR="68580" marT="0" marB="0" anchor="ctr"/>
                </a:tc>
                <a:tc>
                  <a:txBody>
                    <a:bodyPr/>
                    <a:lstStyle/>
                    <a:p>
                      <a:pPr algn="ctr">
                        <a:lnSpc>
                          <a:spcPct val="125000"/>
                        </a:lnSpc>
                        <a:spcAft>
                          <a:spcPts val="0"/>
                        </a:spcAft>
                      </a:pPr>
                      <a:r>
                        <a:rPr lang="en-US" sz="2400" kern="100" dirty="0">
                          <a:effectLst/>
                          <a:latin typeface="+mj-ea"/>
                          <a:ea typeface="+mj-ea"/>
                        </a:rPr>
                        <a:t>2</a:t>
                      </a:r>
                      <a:endParaRPr lang="zh-CN" sz="1800" kern="100" dirty="0">
                        <a:effectLst/>
                        <a:latin typeface="+mj-ea"/>
                        <a:ea typeface="+mj-ea"/>
                      </a:endParaRPr>
                    </a:p>
                  </a:txBody>
                  <a:tcPr marL="68580" marR="68580" marT="0" marB="0" anchor="ctr"/>
                </a:tc>
                <a:extLst>
                  <a:ext uri="{0D108BD9-81ED-4DB2-BD59-A6C34878D82A}">
                    <a16:rowId xmlns:a16="http://schemas.microsoft.com/office/drawing/2014/main" val="10005"/>
                  </a:ext>
                </a:extLst>
              </a:tr>
            </a:tbl>
          </a:graphicData>
        </a:graphic>
      </p:graphicFrame>
      <p:sp>
        <p:nvSpPr>
          <p:cNvPr id="7" name="灯片编号占位符 4">
            <a:extLst>
              <a:ext uri="{FF2B5EF4-FFF2-40B4-BE49-F238E27FC236}">
                <a16:creationId xmlns:a16="http://schemas.microsoft.com/office/drawing/2014/main" id="{AB019C95-BCFE-47CF-8BBE-8DE23180672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40</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158554631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内容占位符 4">
            <a:extLst>
              <a:ext uri="{FF2B5EF4-FFF2-40B4-BE49-F238E27FC236}">
                <a16:creationId xmlns:a16="http://schemas.microsoft.com/office/drawing/2014/main" id="{B0592009-E537-4932-A706-315BCEFC1E15}"/>
              </a:ext>
            </a:extLst>
          </p:cNvPr>
          <p:cNvGraphicFramePr>
            <a:graphicFrameLocks/>
          </p:cNvGraphicFramePr>
          <p:nvPr>
            <p:extLst>
              <p:ext uri="{D42A27DB-BD31-4B8C-83A1-F6EECF244321}">
                <p14:modId xmlns:p14="http://schemas.microsoft.com/office/powerpoint/2010/main" val="1000858638"/>
              </p:ext>
            </p:extLst>
          </p:nvPr>
        </p:nvGraphicFramePr>
        <p:xfrm>
          <a:off x="381000" y="1453573"/>
          <a:ext cx="8382001" cy="4848373"/>
        </p:xfrm>
        <a:graphic>
          <a:graphicData uri="http://schemas.openxmlformats.org/drawingml/2006/table">
            <a:tbl>
              <a:tblPr firstRow="1" firstCol="1" bandRow="1">
                <a:tableStyleId>{5940675A-B579-460E-94D1-54222C63F5DA}</a:tableStyleId>
              </a:tblPr>
              <a:tblGrid>
                <a:gridCol w="2448697">
                  <a:extLst>
                    <a:ext uri="{9D8B030D-6E8A-4147-A177-3AD203B41FA5}">
                      <a16:colId xmlns:a16="http://schemas.microsoft.com/office/drawing/2014/main" val="3195112033"/>
                    </a:ext>
                  </a:extLst>
                </a:gridCol>
                <a:gridCol w="1322173">
                  <a:extLst>
                    <a:ext uri="{9D8B030D-6E8A-4147-A177-3AD203B41FA5}">
                      <a16:colId xmlns:a16="http://schemas.microsoft.com/office/drawing/2014/main" val="2034203059"/>
                    </a:ext>
                  </a:extLst>
                </a:gridCol>
                <a:gridCol w="1136822">
                  <a:extLst>
                    <a:ext uri="{9D8B030D-6E8A-4147-A177-3AD203B41FA5}">
                      <a16:colId xmlns:a16="http://schemas.microsoft.com/office/drawing/2014/main" val="4248500717"/>
                    </a:ext>
                  </a:extLst>
                </a:gridCol>
                <a:gridCol w="1235676">
                  <a:extLst>
                    <a:ext uri="{9D8B030D-6E8A-4147-A177-3AD203B41FA5}">
                      <a16:colId xmlns:a16="http://schemas.microsoft.com/office/drawing/2014/main" val="4245605004"/>
                    </a:ext>
                  </a:extLst>
                </a:gridCol>
                <a:gridCol w="1458097">
                  <a:extLst>
                    <a:ext uri="{9D8B030D-6E8A-4147-A177-3AD203B41FA5}">
                      <a16:colId xmlns:a16="http://schemas.microsoft.com/office/drawing/2014/main" val="1837452191"/>
                    </a:ext>
                  </a:extLst>
                </a:gridCol>
                <a:gridCol w="780536">
                  <a:extLst>
                    <a:ext uri="{9D8B030D-6E8A-4147-A177-3AD203B41FA5}">
                      <a16:colId xmlns:a16="http://schemas.microsoft.com/office/drawing/2014/main" val="3750531834"/>
                    </a:ext>
                  </a:extLst>
                </a:gridCol>
              </a:tblGrid>
              <a:tr h="1215897">
                <a:tc>
                  <a:txBody>
                    <a:bodyPr/>
                    <a:lstStyle/>
                    <a:p>
                      <a:pPr algn="ctr">
                        <a:spcAft>
                          <a:spcPts val="0"/>
                        </a:spcAft>
                      </a:pPr>
                      <a:r>
                        <a:rPr lang="zh-CN" sz="1800" kern="500">
                          <a:effectLst/>
                          <a:latin typeface="+mj-ea"/>
                          <a:ea typeface="+mj-ea"/>
                        </a:rPr>
                        <a:t>开发板型号</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MCU/</a:t>
                      </a:r>
                      <a:r>
                        <a:rPr lang="zh-CN" sz="1800" kern="500">
                          <a:effectLst/>
                          <a:latin typeface="+mj-ea"/>
                          <a:ea typeface="+mj-ea"/>
                        </a:rPr>
                        <a:t>时钟频率</a:t>
                      </a:r>
                      <a:endParaRPr lang="zh-CN" sz="1800" kern="750">
                        <a:effectLst/>
                        <a:latin typeface="+mj-ea"/>
                        <a:ea typeface="+mj-ea"/>
                      </a:endParaRPr>
                    </a:p>
                    <a:p>
                      <a:pPr algn="ctr">
                        <a:spcAft>
                          <a:spcPts val="0"/>
                        </a:spcAft>
                      </a:pPr>
                      <a:r>
                        <a:rPr lang="en-US" sz="1800" kern="500">
                          <a:effectLst/>
                          <a:latin typeface="+mj-ea"/>
                          <a:ea typeface="+mj-ea"/>
                        </a:rPr>
                        <a:t>/MHz</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dirty="0">
                          <a:effectLst/>
                          <a:latin typeface="+mj-ea"/>
                          <a:ea typeface="+mj-ea"/>
                        </a:rPr>
                        <a:t>Flash/RAM/KB</a:t>
                      </a:r>
                      <a:endParaRPr lang="zh-CN" sz="1800" kern="750" dirty="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dirty="0">
                          <a:effectLst/>
                          <a:latin typeface="+mj-ea"/>
                          <a:ea typeface="+mj-ea"/>
                        </a:rPr>
                        <a:t>UART/I</a:t>
                      </a:r>
                      <a:r>
                        <a:rPr lang="en-US" sz="1800" kern="500" baseline="30000" dirty="0">
                          <a:effectLst/>
                          <a:latin typeface="+mj-ea"/>
                          <a:ea typeface="+mj-ea"/>
                        </a:rPr>
                        <a:t>2</a:t>
                      </a:r>
                      <a:r>
                        <a:rPr lang="en-US" sz="1800" kern="500" dirty="0">
                          <a:effectLst/>
                          <a:latin typeface="+mj-ea"/>
                          <a:ea typeface="+mj-ea"/>
                        </a:rPr>
                        <a:t>C/SPI</a:t>
                      </a:r>
                      <a:endParaRPr lang="zh-CN" sz="1800" kern="750" dirty="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zh-CN" sz="1800" kern="500" dirty="0">
                          <a:effectLst/>
                          <a:latin typeface="+mj-ea"/>
                          <a:ea typeface="+mj-ea"/>
                        </a:rPr>
                        <a:t>尺寸</a:t>
                      </a:r>
                      <a:r>
                        <a:rPr lang="en-US" sz="1800" kern="500" dirty="0">
                          <a:effectLst/>
                          <a:latin typeface="+mj-ea"/>
                          <a:ea typeface="+mj-ea"/>
                        </a:rPr>
                        <a:t>/</a:t>
                      </a:r>
                      <a:r>
                        <a:rPr lang="zh-CN" sz="1800" kern="500" dirty="0">
                          <a:effectLst/>
                          <a:latin typeface="+mj-ea"/>
                          <a:ea typeface="+mj-ea"/>
                        </a:rPr>
                        <a:t>（</a:t>
                      </a:r>
                      <a:r>
                        <a:rPr lang="en-US" sz="1800" kern="500" dirty="0" err="1">
                          <a:effectLst/>
                          <a:latin typeface="+mj-ea"/>
                          <a:ea typeface="+mj-ea"/>
                        </a:rPr>
                        <a:t>mm×mm</a:t>
                      </a:r>
                      <a:r>
                        <a:rPr lang="zh-CN" sz="1800" kern="500" dirty="0">
                          <a:effectLst/>
                          <a:latin typeface="+mj-ea"/>
                          <a:ea typeface="+mj-ea"/>
                        </a:rPr>
                        <a:t>）</a:t>
                      </a:r>
                      <a:endParaRPr lang="zh-CN" sz="1800" kern="750" dirty="0">
                        <a:effectLst/>
                        <a:latin typeface="+mj-ea"/>
                        <a:ea typeface="+mj-ea"/>
                      </a:endParaRPr>
                    </a:p>
                    <a:p>
                      <a:pPr algn="ctr">
                        <a:spcAft>
                          <a:spcPts val="0"/>
                        </a:spcAft>
                      </a:pPr>
                      <a:r>
                        <a:rPr lang="zh-CN" sz="1800" kern="500" dirty="0">
                          <a:effectLst/>
                          <a:latin typeface="+mj-ea"/>
                          <a:ea typeface="+mj-ea"/>
                        </a:rPr>
                        <a:t>（长</a:t>
                      </a:r>
                      <a:r>
                        <a:rPr lang="en-US" sz="1800" kern="500" dirty="0">
                          <a:effectLst/>
                          <a:latin typeface="+mj-ea"/>
                          <a:ea typeface="+mj-ea"/>
                        </a:rPr>
                        <a:t>×</a:t>
                      </a:r>
                      <a:r>
                        <a:rPr lang="zh-CN" sz="1800" kern="500" dirty="0">
                          <a:effectLst/>
                          <a:latin typeface="+mj-ea"/>
                          <a:ea typeface="+mj-ea"/>
                        </a:rPr>
                        <a:t>宽）</a:t>
                      </a:r>
                      <a:endParaRPr lang="zh-CN" sz="1800" kern="750" dirty="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zh-CN" sz="1800" kern="500">
                          <a:effectLst/>
                          <a:latin typeface="+mj-ea"/>
                          <a:ea typeface="+mj-ea"/>
                        </a:rPr>
                        <a:t>电源输入</a:t>
                      </a:r>
                      <a:endParaRPr lang="zh-CN" sz="1800" kern="750">
                        <a:effectLst/>
                        <a:latin typeface="+mj-ea"/>
                        <a:ea typeface="+mj-ea"/>
                        <a:cs typeface="Courier New" panose="02070309020205020404" pitchFamily="49" charset="0"/>
                      </a:endParaRPr>
                    </a:p>
                  </a:txBody>
                  <a:tcPr marL="80691" marR="80691" marT="0" marB="0" anchor="ctr"/>
                </a:tc>
                <a:extLst>
                  <a:ext uri="{0D108BD9-81ED-4DB2-BD59-A6C34878D82A}">
                    <a16:rowId xmlns:a16="http://schemas.microsoft.com/office/drawing/2014/main" val="1479542257"/>
                  </a:ext>
                </a:extLst>
              </a:tr>
              <a:tr h="1130810">
                <a:tc>
                  <a:txBody>
                    <a:bodyPr/>
                    <a:lstStyle/>
                    <a:p>
                      <a:pPr algn="ctr">
                        <a:spcAft>
                          <a:spcPts val="0"/>
                        </a:spcAft>
                      </a:pPr>
                      <a:r>
                        <a:rPr lang="en-US" sz="1800" kern="500" dirty="0">
                          <a:effectLst/>
                          <a:latin typeface="+mj-ea"/>
                          <a:ea typeface="+mj-ea"/>
                        </a:rPr>
                        <a:t> </a:t>
                      </a:r>
                    </a:p>
                    <a:p>
                      <a:pPr algn="ctr">
                        <a:spcAft>
                          <a:spcPts val="0"/>
                        </a:spcAft>
                      </a:pPr>
                      <a:endParaRPr lang="en-US" altLang="zh-CN" sz="1800" kern="500" dirty="0">
                        <a:effectLst/>
                        <a:latin typeface="+mj-ea"/>
                        <a:ea typeface="+mj-ea"/>
                      </a:endParaRPr>
                    </a:p>
                    <a:p>
                      <a:pPr algn="ctr">
                        <a:spcAft>
                          <a:spcPts val="0"/>
                        </a:spcAft>
                      </a:pPr>
                      <a:endParaRPr lang="zh-CN" sz="1800" kern="750" dirty="0">
                        <a:effectLst/>
                        <a:latin typeface="+mj-ea"/>
                        <a:ea typeface="+mj-ea"/>
                      </a:endParaRPr>
                    </a:p>
                    <a:p>
                      <a:pPr algn="ctr">
                        <a:spcAft>
                          <a:spcPts val="0"/>
                        </a:spcAft>
                      </a:pPr>
                      <a:r>
                        <a:rPr lang="en-US" sz="1800" kern="750" dirty="0">
                          <a:effectLst/>
                          <a:latin typeface="+mj-ea"/>
                          <a:ea typeface="+mj-ea"/>
                        </a:rPr>
                        <a:t>STM32</a:t>
                      </a:r>
                      <a:r>
                        <a:rPr lang="zh-CN" sz="1800" kern="750" dirty="0">
                          <a:effectLst/>
                          <a:latin typeface="+mj-ea"/>
                          <a:ea typeface="+mj-ea"/>
                        </a:rPr>
                        <a:t>最小系统板</a:t>
                      </a:r>
                      <a:r>
                        <a:rPr lang="en-US" sz="1800" kern="500" dirty="0">
                          <a:effectLst/>
                          <a:latin typeface="+mj-ea"/>
                          <a:ea typeface="+mj-ea"/>
                        </a:rPr>
                        <a:t> </a:t>
                      </a:r>
                      <a:endParaRPr lang="zh-CN" sz="1800" kern="750" dirty="0">
                        <a:effectLst/>
                        <a:latin typeface="+mj-ea"/>
                        <a:ea typeface="+mj-ea"/>
                        <a:cs typeface="Courier New" panose="02070309020205020404" pitchFamily="49" charset="0"/>
                      </a:endParaRPr>
                    </a:p>
                  </a:txBody>
                  <a:tcPr marL="80691" marR="80691" marT="0" marB="0" anchor="b"/>
                </a:tc>
                <a:tc>
                  <a:txBody>
                    <a:bodyPr/>
                    <a:lstStyle/>
                    <a:p>
                      <a:pPr algn="ctr">
                        <a:spcAft>
                          <a:spcPts val="0"/>
                        </a:spcAft>
                      </a:pPr>
                      <a:r>
                        <a:rPr lang="en-US" sz="1800" kern="500">
                          <a:effectLst/>
                          <a:latin typeface="+mj-ea"/>
                          <a:ea typeface="+mj-ea"/>
                        </a:rPr>
                        <a:t>STM32F103C8T6/72</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64/20</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3/2/2</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53×23</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5V</a:t>
                      </a:r>
                      <a:endParaRPr lang="zh-CN" sz="1800" kern="750">
                        <a:effectLst/>
                        <a:latin typeface="+mj-ea"/>
                        <a:ea typeface="+mj-ea"/>
                        <a:cs typeface="Courier New" panose="02070309020205020404" pitchFamily="49" charset="0"/>
                      </a:endParaRPr>
                    </a:p>
                  </a:txBody>
                  <a:tcPr marL="80691" marR="80691" marT="0" marB="0" anchor="ctr"/>
                </a:tc>
                <a:extLst>
                  <a:ext uri="{0D108BD9-81ED-4DB2-BD59-A6C34878D82A}">
                    <a16:rowId xmlns:a16="http://schemas.microsoft.com/office/drawing/2014/main" val="1719814366"/>
                  </a:ext>
                </a:extLst>
              </a:tr>
              <a:tr h="1327774">
                <a:tc>
                  <a:txBody>
                    <a:bodyPr/>
                    <a:lstStyle/>
                    <a:p>
                      <a:pPr algn="ctr">
                        <a:spcBef>
                          <a:spcPts val="240"/>
                        </a:spcBef>
                        <a:spcAft>
                          <a:spcPts val="0"/>
                        </a:spcAft>
                      </a:pPr>
                      <a:endParaRPr lang="en-US" sz="1800" kern="500" dirty="0">
                        <a:effectLst/>
                        <a:latin typeface="+mj-ea"/>
                        <a:ea typeface="+mj-ea"/>
                      </a:endParaRPr>
                    </a:p>
                    <a:p>
                      <a:pPr algn="ctr">
                        <a:spcAft>
                          <a:spcPts val="0"/>
                        </a:spcAft>
                      </a:pPr>
                      <a:r>
                        <a:rPr lang="zh-CN" sz="1800" kern="500" dirty="0">
                          <a:effectLst/>
                          <a:latin typeface="+mj-ea"/>
                          <a:ea typeface="+mj-ea"/>
                        </a:rPr>
                        <a:t>野火指南者开发板</a:t>
                      </a:r>
                      <a:endParaRPr lang="zh-CN" sz="1800" kern="750" dirty="0">
                        <a:effectLst/>
                        <a:latin typeface="+mj-ea"/>
                        <a:ea typeface="+mj-ea"/>
                        <a:cs typeface="Courier New" panose="02070309020205020404" pitchFamily="49" charset="0"/>
                      </a:endParaRPr>
                    </a:p>
                  </a:txBody>
                  <a:tcPr marL="80691" marR="80691" marT="0" marB="0" anchor="b"/>
                </a:tc>
                <a:tc>
                  <a:txBody>
                    <a:bodyPr/>
                    <a:lstStyle/>
                    <a:p>
                      <a:pPr algn="ctr">
                        <a:spcAft>
                          <a:spcPts val="0"/>
                        </a:spcAft>
                      </a:pPr>
                      <a:r>
                        <a:rPr lang="en-US" sz="1800" kern="500" dirty="0">
                          <a:effectLst/>
                          <a:latin typeface="+mj-ea"/>
                          <a:ea typeface="+mj-ea"/>
                        </a:rPr>
                        <a:t>STM32F103VET6/72</a:t>
                      </a:r>
                      <a:endParaRPr lang="zh-CN" sz="1800" kern="750" dirty="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512/64</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5/2/3</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130×100</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5V</a:t>
                      </a:r>
                      <a:endParaRPr lang="zh-CN" sz="1800" kern="750">
                        <a:effectLst/>
                        <a:latin typeface="+mj-ea"/>
                        <a:ea typeface="+mj-ea"/>
                        <a:cs typeface="Courier New" panose="02070309020205020404" pitchFamily="49" charset="0"/>
                      </a:endParaRPr>
                    </a:p>
                  </a:txBody>
                  <a:tcPr marL="80691" marR="80691" marT="0" marB="0" anchor="ctr"/>
                </a:tc>
                <a:extLst>
                  <a:ext uri="{0D108BD9-81ED-4DB2-BD59-A6C34878D82A}">
                    <a16:rowId xmlns:a16="http://schemas.microsoft.com/office/drawing/2014/main" val="15093143"/>
                  </a:ext>
                </a:extLst>
              </a:tr>
              <a:tr h="1173892">
                <a:tc>
                  <a:txBody>
                    <a:bodyPr/>
                    <a:lstStyle/>
                    <a:p>
                      <a:pPr algn="ctr">
                        <a:spcBef>
                          <a:spcPts val="240"/>
                        </a:spcBef>
                        <a:spcAft>
                          <a:spcPts val="0"/>
                        </a:spcAft>
                      </a:pPr>
                      <a:endParaRPr lang="en-US" sz="1800" kern="500" dirty="0">
                        <a:effectLst/>
                        <a:latin typeface="+mj-ea"/>
                        <a:ea typeface="+mj-ea"/>
                      </a:endParaRPr>
                    </a:p>
                    <a:p>
                      <a:pPr algn="ctr">
                        <a:spcAft>
                          <a:spcPts val="0"/>
                        </a:spcAft>
                      </a:pPr>
                      <a:r>
                        <a:rPr lang="zh-CN" sz="1800" kern="500" dirty="0">
                          <a:effectLst/>
                          <a:latin typeface="+mj-ea"/>
                          <a:ea typeface="+mj-ea"/>
                        </a:rPr>
                        <a:t>正点原子精英开发板</a:t>
                      </a:r>
                      <a:endParaRPr lang="zh-CN" sz="1800" kern="750" dirty="0">
                        <a:effectLst/>
                        <a:latin typeface="+mj-ea"/>
                        <a:ea typeface="+mj-ea"/>
                        <a:cs typeface="Courier New" panose="02070309020205020404" pitchFamily="49" charset="0"/>
                      </a:endParaRPr>
                    </a:p>
                  </a:txBody>
                  <a:tcPr marL="80691" marR="80691" marT="0" marB="0" anchor="b"/>
                </a:tc>
                <a:tc>
                  <a:txBody>
                    <a:bodyPr/>
                    <a:lstStyle/>
                    <a:p>
                      <a:pPr algn="ctr">
                        <a:spcAft>
                          <a:spcPts val="0"/>
                        </a:spcAft>
                      </a:pPr>
                      <a:r>
                        <a:rPr lang="en-US" sz="1800" kern="500" dirty="0">
                          <a:effectLst/>
                          <a:latin typeface="+mj-ea"/>
                          <a:ea typeface="+mj-ea"/>
                        </a:rPr>
                        <a:t>STM32F103ZET6/72</a:t>
                      </a:r>
                      <a:endParaRPr lang="zh-CN" sz="1800" kern="750" dirty="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512/64</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dirty="0">
                          <a:effectLst/>
                          <a:latin typeface="+mj-ea"/>
                          <a:ea typeface="+mj-ea"/>
                        </a:rPr>
                        <a:t>5/2/3</a:t>
                      </a:r>
                      <a:endParaRPr lang="zh-CN" sz="1800" kern="750" dirty="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a:effectLst/>
                          <a:latin typeface="+mj-ea"/>
                          <a:ea typeface="+mj-ea"/>
                        </a:rPr>
                        <a:t>115×117</a:t>
                      </a:r>
                      <a:endParaRPr lang="zh-CN" sz="1800" kern="750">
                        <a:effectLst/>
                        <a:latin typeface="+mj-ea"/>
                        <a:ea typeface="+mj-ea"/>
                        <a:cs typeface="Courier New" panose="02070309020205020404" pitchFamily="49" charset="0"/>
                      </a:endParaRPr>
                    </a:p>
                  </a:txBody>
                  <a:tcPr marL="80691" marR="80691" marT="0" marB="0" anchor="ctr"/>
                </a:tc>
                <a:tc>
                  <a:txBody>
                    <a:bodyPr/>
                    <a:lstStyle/>
                    <a:p>
                      <a:pPr algn="ctr">
                        <a:spcAft>
                          <a:spcPts val="0"/>
                        </a:spcAft>
                      </a:pPr>
                      <a:r>
                        <a:rPr lang="en-US" sz="1800" kern="500" dirty="0">
                          <a:effectLst/>
                          <a:latin typeface="+mj-ea"/>
                          <a:ea typeface="+mj-ea"/>
                        </a:rPr>
                        <a:t>5V</a:t>
                      </a:r>
                      <a:endParaRPr lang="zh-CN" sz="1800" kern="750" dirty="0">
                        <a:effectLst/>
                        <a:latin typeface="+mj-ea"/>
                        <a:ea typeface="+mj-ea"/>
                        <a:cs typeface="Courier New" panose="02070309020205020404" pitchFamily="49" charset="0"/>
                      </a:endParaRPr>
                    </a:p>
                  </a:txBody>
                  <a:tcPr marL="80691" marR="80691" marT="0" marB="0" anchor="ctr"/>
                </a:tc>
                <a:extLst>
                  <a:ext uri="{0D108BD9-81ED-4DB2-BD59-A6C34878D82A}">
                    <a16:rowId xmlns:a16="http://schemas.microsoft.com/office/drawing/2014/main" val="4189604120"/>
                  </a:ext>
                </a:extLst>
              </a:tr>
            </a:tbl>
          </a:graphicData>
        </a:graphic>
      </p:graphicFrame>
      <p:sp>
        <p:nvSpPr>
          <p:cNvPr id="2" name="标题 1">
            <a:extLst>
              <a:ext uri="{FF2B5EF4-FFF2-40B4-BE49-F238E27FC236}">
                <a16:creationId xmlns:a16="http://schemas.microsoft.com/office/drawing/2014/main" id="{2D8D48EB-E6F7-49E8-8B48-72F9EFEACE03}"/>
              </a:ext>
            </a:extLst>
          </p:cNvPr>
          <p:cNvSpPr>
            <a:spLocks noGrp="1"/>
          </p:cNvSpPr>
          <p:nvPr>
            <p:ph type="title"/>
          </p:nvPr>
        </p:nvSpPr>
        <p:spPr/>
        <p:txBody>
          <a:bodyPr/>
          <a:lstStyle/>
          <a:p>
            <a:r>
              <a:rPr lang="en-US" altLang="zh-CN" dirty="0"/>
              <a:t>STM32</a:t>
            </a:r>
            <a:r>
              <a:rPr lang="zh-CN" altLang="en-US" dirty="0"/>
              <a:t>系列硬件平台</a:t>
            </a:r>
          </a:p>
        </p:txBody>
      </p:sp>
      <p:sp>
        <p:nvSpPr>
          <p:cNvPr id="4" name="内容占位符 3">
            <a:extLst>
              <a:ext uri="{FF2B5EF4-FFF2-40B4-BE49-F238E27FC236}">
                <a16:creationId xmlns:a16="http://schemas.microsoft.com/office/drawing/2014/main" id="{56438445-6831-44E9-8D78-FD82426ABF1B}"/>
              </a:ext>
            </a:extLst>
          </p:cNvPr>
          <p:cNvSpPr>
            <a:spLocks noGrp="1"/>
          </p:cNvSpPr>
          <p:nvPr>
            <p:ph idx="1"/>
          </p:nvPr>
        </p:nvSpPr>
        <p:spPr/>
        <p:txBody>
          <a:bodyPr/>
          <a:lstStyle/>
          <a:p>
            <a:r>
              <a:rPr lang="zh-CN" altLang="en-US" dirty="0"/>
              <a:t>常见开发板</a:t>
            </a:r>
          </a:p>
        </p:txBody>
      </p:sp>
      <p:pic>
        <p:nvPicPr>
          <p:cNvPr id="13" name="图片 12">
            <a:extLst>
              <a:ext uri="{FF2B5EF4-FFF2-40B4-BE49-F238E27FC236}">
                <a16:creationId xmlns:a16="http://schemas.microsoft.com/office/drawing/2014/main" id="{3325989D-9A72-4EA0-815B-06C08ABC8F95}"/>
              </a:ext>
            </a:extLst>
          </p:cNvPr>
          <p:cNvPicPr/>
          <p:nvPr/>
        </p:nvPicPr>
        <p:blipFill>
          <a:blip r:embed="rId2">
            <a:extLst/>
          </a:blip>
          <a:stretch>
            <a:fillRect/>
          </a:stretch>
        </p:blipFill>
        <p:spPr>
          <a:xfrm>
            <a:off x="915492" y="2726441"/>
            <a:ext cx="1488419" cy="619961"/>
          </a:xfrm>
          <a:prstGeom prst="rect">
            <a:avLst/>
          </a:prstGeom>
          <a:noFill/>
          <a:ln>
            <a:noFill/>
          </a:ln>
        </p:spPr>
      </p:pic>
      <p:pic>
        <p:nvPicPr>
          <p:cNvPr id="14" name="图片 13">
            <a:extLst>
              <a:ext uri="{FF2B5EF4-FFF2-40B4-BE49-F238E27FC236}">
                <a16:creationId xmlns:a16="http://schemas.microsoft.com/office/drawing/2014/main" id="{76CDCB1A-2009-418B-87FE-9634AC3DE98C}"/>
              </a:ext>
            </a:extLst>
          </p:cNvPr>
          <p:cNvPicPr/>
          <p:nvPr/>
        </p:nvPicPr>
        <p:blipFill>
          <a:blip r:embed="rId3">
            <a:extLst/>
          </a:blip>
          <a:stretch>
            <a:fillRect/>
          </a:stretch>
        </p:blipFill>
        <p:spPr>
          <a:xfrm rot="5400000">
            <a:off x="1231169" y="3816791"/>
            <a:ext cx="857064" cy="1061274"/>
          </a:xfrm>
          <a:prstGeom prst="rect">
            <a:avLst/>
          </a:prstGeom>
          <a:noFill/>
          <a:ln>
            <a:noFill/>
          </a:ln>
        </p:spPr>
      </p:pic>
      <p:pic>
        <p:nvPicPr>
          <p:cNvPr id="15" name="图片 14">
            <a:extLst>
              <a:ext uri="{FF2B5EF4-FFF2-40B4-BE49-F238E27FC236}">
                <a16:creationId xmlns:a16="http://schemas.microsoft.com/office/drawing/2014/main" id="{6E0E86B8-EFED-47B0-BBEA-A76C72B54B52}"/>
              </a:ext>
            </a:extLst>
          </p:cNvPr>
          <p:cNvPicPr/>
          <p:nvPr/>
        </p:nvPicPr>
        <p:blipFill>
          <a:blip r:embed="rId4">
            <a:extLst/>
          </a:blip>
          <a:stretch>
            <a:fillRect/>
          </a:stretch>
        </p:blipFill>
        <p:spPr>
          <a:xfrm>
            <a:off x="1170827" y="5181988"/>
            <a:ext cx="1019511" cy="797439"/>
          </a:xfrm>
          <a:prstGeom prst="rect">
            <a:avLst/>
          </a:prstGeom>
          <a:noFill/>
          <a:ln>
            <a:noFill/>
          </a:ln>
        </p:spPr>
      </p:pic>
      <p:sp>
        <p:nvSpPr>
          <p:cNvPr id="9" name="灯片编号占位符 4">
            <a:extLst>
              <a:ext uri="{FF2B5EF4-FFF2-40B4-BE49-F238E27FC236}">
                <a16:creationId xmlns:a16="http://schemas.microsoft.com/office/drawing/2014/main" id="{60571E2B-3F3B-4A3F-8B53-64CD49DBF48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41</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973193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821D29-5ACB-47F5-889C-9B2ADD2EF9B6}"/>
              </a:ext>
            </a:extLst>
          </p:cNvPr>
          <p:cNvSpPr>
            <a:spLocks noGrp="1"/>
          </p:cNvSpPr>
          <p:nvPr>
            <p:ph type="title"/>
          </p:nvPr>
        </p:nvSpPr>
        <p:spPr/>
        <p:txBody>
          <a:bodyPr/>
          <a:lstStyle/>
          <a:p>
            <a:r>
              <a:rPr lang="en-US" altLang="zh-CN" dirty="0"/>
              <a:t>STM32</a:t>
            </a:r>
            <a:r>
              <a:rPr lang="zh-CN" altLang="en-US" dirty="0"/>
              <a:t>系列硬件平台</a:t>
            </a:r>
          </a:p>
        </p:txBody>
      </p:sp>
      <p:sp>
        <p:nvSpPr>
          <p:cNvPr id="5" name="内容占位符 4">
            <a:extLst>
              <a:ext uri="{FF2B5EF4-FFF2-40B4-BE49-F238E27FC236}">
                <a16:creationId xmlns:a16="http://schemas.microsoft.com/office/drawing/2014/main" id="{A4CDF162-8A2E-4C93-B22F-505F19A25BB4}"/>
              </a:ext>
            </a:extLst>
          </p:cNvPr>
          <p:cNvSpPr>
            <a:spLocks noGrp="1"/>
          </p:cNvSpPr>
          <p:nvPr>
            <p:ph idx="1"/>
          </p:nvPr>
        </p:nvSpPr>
        <p:spPr/>
        <p:txBody>
          <a:bodyPr/>
          <a:lstStyle/>
          <a:p>
            <a:r>
              <a:rPr lang="zh-CN" altLang="en-US" dirty="0"/>
              <a:t>主要特点</a:t>
            </a:r>
            <a:endParaRPr lang="en-US" altLang="zh-CN" dirty="0"/>
          </a:p>
          <a:p>
            <a:pPr lvl="1"/>
            <a:r>
              <a:rPr lang="zh-CN" altLang="en-US" b="1" dirty="0"/>
              <a:t>开发成本低</a:t>
            </a:r>
            <a:r>
              <a:rPr lang="zh-CN" altLang="en-US" dirty="0"/>
              <a:t>：</a:t>
            </a:r>
            <a:r>
              <a:rPr lang="en-US" altLang="zh-CN" dirty="0"/>
              <a:t>STM32</a:t>
            </a:r>
            <a:r>
              <a:rPr lang="zh-CN" altLang="en-US" dirty="0"/>
              <a:t>可以通过库文件进行开发，程序都是模块化的，接口相对简单，只要一个串口即可对程序进行烧写</a:t>
            </a:r>
          </a:p>
          <a:p>
            <a:pPr lvl="1"/>
            <a:r>
              <a:rPr lang="zh-CN" altLang="en-US" b="1" dirty="0"/>
              <a:t>丰富的通信接口</a:t>
            </a:r>
            <a:r>
              <a:rPr lang="zh-CN" altLang="en-US" dirty="0"/>
              <a:t>：</a:t>
            </a:r>
            <a:r>
              <a:rPr lang="en-US" altLang="zh-CN" dirty="0"/>
              <a:t>STM32</a:t>
            </a:r>
            <a:r>
              <a:rPr lang="zh-CN" altLang="en-US" dirty="0"/>
              <a:t>提供多个通信接口，包括</a:t>
            </a:r>
            <a:r>
              <a:rPr lang="en-US" altLang="zh-CN" dirty="0"/>
              <a:t>I2C</a:t>
            </a:r>
            <a:r>
              <a:rPr lang="zh-CN" altLang="en-US" dirty="0"/>
              <a:t>接口、</a:t>
            </a:r>
            <a:r>
              <a:rPr lang="en-US" altLang="zh-CN" dirty="0"/>
              <a:t>USART</a:t>
            </a:r>
            <a:r>
              <a:rPr lang="zh-CN" altLang="en-US" dirty="0"/>
              <a:t>接口、</a:t>
            </a:r>
            <a:r>
              <a:rPr lang="en-US" altLang="zh-CN" dirty="0"/>
              <a:t>SPI</a:t>
            </a:r>
            <a:r>
              <a:rPr lang="zh-CN" altLang="en-US" dirty="0"/>
              <a:t>接口、</a:t>
            </a:r>
            <a:r>
              <a:rPr lang="en-US" altLang="zh-CN" dirty="0"/>
              <a:t>CAN</a:t>
            </a:r>
            <a:r>
              <a:rPr lang="zh-CN" altLang="en-US" dirty="0"/>
              <a:t>接口、</a:t>
            </a:r>
            <a:r>
              <a:rPr lang="en-US" altLang="zh-CN" dirty="0"/>
              <a:t>USB 2.0</a:t>
            </a:r>
            <a:r>
              <a:rPr lang="zh-CN" altLang="en-US" dirty="0"/>
              <a:t>全速接口</a:t>
            </a:r>
          </a:p>
          <a:p>
            <a:pPr lvl="1"/>
            <a:r>
              <a:rPr lang="zh-CN" altLang="en-US" b="1" dirty="0"/>
              <a:t>调试简单</a:t>
            </a:r>
            <a:r>
              <a:rPr lang="zh-CN" altLang="en-US" dirty="0"/>
              <a:t>：</a:t>
            </a:r>
            <a:r>
              <a:rPr lang="en-US" altLang="zh-CN" dirty="0"/>
              <a:t>STM32</a:t>
            </a:r>
            <a:r>
              <a:rPr lang="zh-CN" altLang="en-US" dirty="0"/>
              <a:t>支持标准的</a:t>
            </a:r>
            <a:r>
              <a:rPr lang="en-US" altLang="zh-CN" dirty="0"/>
              <a:t>20</a:t>
            </a:r>
            <a:r>
              <a:rPr lang="zh-CN" altLang="en-US" dirty="0"/>
              <a:t>脚</a:t>
            </a:r>
            <a:r>
              <a:rPr lang="en-US" altLang="zh-CN" dirty="0"/>
              <a:t>JTAG </a:t>
            </a:r>
            <a:r>
              <a:rPr lang="zh-CN" altLang="en-US" dirty="0"/>
              <a:t>仿真调试以及针对</a:t>
            </a:r>
            <a:r>
              <a:rPr lang="en-US" altLang="zh-CN" dirty="0"/>
              <a:t>Cortex- M3</a:t>
            </a:r>
            <a:r>
              <a:rPr lang="zh-CN" altLang="en-US" dirty="0"/>
              <a:t>内核的串行单线调试（</a:t>
            </a:r>
            <a:r>
              <a:rPr lang="en-US" altLang="zh-CN" dirty="0"/>
              <a:t>SWD</a:t>
            </a:r>
            <a:r>
              <a:rPr lang="zh-CN" altLang="en-US" dirty="0"/>
              <a:t>）功能</a:t>
            </a:r>
          </a:p>
          <a:p>
            <a:pPr lvl="1"/>
            <a:r>
              <a:rPr lang="zh-CN" altLang="en-US" b="1" dirty="0"/>
              <a:t>低功耗</a:t>
            </a:r>
            <a:r>
              <a:rPr lang="zh-CN" altLang="en-US" dirty="0"/>
              <a:t>：</a:t>
            </a:r>
            <a:r>
              <a:rPr lang="en-US" altLang="zh-CN" dirty="0"/>
              <a:t>STM32</a:t>
            </a:r>
            <a:r>
              <a:rPr lang="zh-CN" altLang="en-US" dirty="0"/>
              <a:t>在功耗方面控制得比较好，支持睡眠、停机和待机模式。可以在要求低功耗、短启动时间和多种唤醒事件之间达到最佳的平衡</a:t>
            </a:r>
          </a:p>
          <a:p>
            <a:endParaRPr lang="zh-CN" altLang="en-US" dirty="0"/>
          </a:p>
        </p:txBody>
      </p:sp>
      <p:sp>
        <p:nvSpPr>
          <p:cNvPr id="6" name="灯片编号占位符 4">
            <a:extLst>
              <a:ext uri="{FF2B5EF4-FFF2-40B4-BE49-F238E27FC236}">
                <a16:creationId xmlns:a16="http://schemas.microsoft.com/office/drawing/2014/main" id="{C4DC9F0D-1A00-4C48-8BA2-FE38EEBF503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297334070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Arduino</a:t>
            </a:r>
            <a:r>
              <a:rPr lang="zh-CN" altLang="en-US" dirty="0"/>
              <a:t>系列硬件平台</a:t>
            </a:r>
          </a:p>
        </p:txBody>
      </p:sp>
      <p:sp>
        <p:nvSpPr>
          <p:cNvPr id="3" name="内容占位符 2"/>
          <p:cNvSpPr>
            <a:spLocks noGrp="1"/>
          </p:cNvSpPr>
          <p:nvPr>
            <p:ph idx="1"/>
          </p:nvPr>
        </p:nvSpPr>
        <p:spPr/>
        <p:txBody>
          <a:bodyPr/>
          <a:lstStyle/>
          <a:p>
            <a:r>
              <a:rPr lang="en-US" altLang="zh-CN"/>
              <a:t>2005</a:t>
            </a:r>
            <a:r>
              <a:rPr lang="zh-CN" altLang="en-US"/>
              <a:t>年，第一块 </a:t>
            </a:r>
            <a:r>
              <a:rPr lang="en-US" altLang="zh-CN"/>
              <a:t>Arduino </a:t>
            </a:r>
            <a:r>
              <a:rPr lang="zh-CN" altLang="en-US"/>
              <a:t>问世</a:t>
            </a:r>
            <a:endParaRPr lang="en-US" altLang="zh-CN"/>
          </a:p>
          <a:p>
            <a:r>
              <a:rPr lang="en-US" altLang="zh-CN"/>
              <a:t>Arduino </a:t>
            </a:r>
            <a:r>
              <a:rPr lang="zh-CN" altLang="en-US"/>
              <a:t>名字来源于意大利一家酒吧</a:t>
            </a:r>
            <a:endParaRPr lang="en-US" altLang="zh-CN"/>
          </a:p>
          <a:p>
            <a:r>
              <a:rPr lang="zh-CN" altLang="zh-CN"/>
              <a:t>不仅仅是</a:t>
            </a:r>
            <a:r>
              <a:rPr lang="zh-CN" altLang="en-US"/>
              <a:t>一块开发板</a:t>
            </a:r>
            <a:r>
              <a:rPr lang="zh-CN" altLang="zh-CN"/>
              <a:t>，还包括软件、开发团队、开源社区和设计原理等。</a:t>
            </a:r>
            <a:endParaRPr lang="zh-CN" altLang="en-US" dirty="0"/>
          </a:p>
        </p:txBody>
      </p:sp>
      <p:pic>
        <p:nvPicPr>
          <p:cNvPr id="32770" name="Picture 2" desc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962" y="3566204"/>
            <a:ext cx="3291064" cy="2548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a:extLst>
              <a:ext uri="{FF2B5EF4-FFF2-40B4-BE49-F238E27FC236}">
                <a16:creationId xmlns:a16="http://schemas.microsoft.com/office/drawing/2014/main" id="{CA0BD289-8904-446C-AFBD-93418FB39A2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Arduino</a:t>
            </a:r>
            <a:r>
              <a:rPr lang="zh-CN" altLang="en-US" dirty="0"/>
              <a:t>处理器的演变</a:t>
            </a:r>
          </a:p>
        </p:txBody>
      </p:sp>
      <p:pic>
        <p:nvPicPr>
          <p:cNvPr id="34818" name="Picture 2" descr="微信图片_201811201712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623" y="1204686"/>
            <a:ext cx="8746753" cy="537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4">
            <a:extLst>
              <a:ext uri="{FF2B5EF4-FFF2-40B4-BE49-F238E27FC236}">
                <a16:creationId xmlns:a16="http://schemas.microsoft.com/office/drawing/2014/main" id="{91A5D5C7-61CB-427C-87F6-9387095F113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微信图片_20181120171240">
            <a:extLst>
              <a:ext uri="{FF2B5EF4-FFF2-40B4-BE49-F238E27FC236}">
                <a16:creationId xmlns:a16="http://schemas.microsoft.com/office/drawing/2014/main" id="{62EA12F8-8D3F-4F83-AFE9-D36894BD2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723" y="1068615"/>
            <a:ext cx="8746753" cy="537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99DEE98D-C7B8-4FF4-8A63-5C93CE5F2486}"/>
              </a:ext>
            </a:extLst>
          </p:cNvPr>
          <p:cNvSpPr>
            <a:spLocks noGrp="1"/>
          </p:cNvSpPr>
          <p:nvPr>
            <p:ph type="title"/>
          </p:nvPr>
        </p:nvSpPr>
        <p:spPr/>
        <p:txBody>
          <a:bodyPr/>
          <a:lstStyle/>
          <a:p>
            <a:r>
              <a:rPr lang="en-US" altLang="zh-CN" dirty="0"/>
              <a:t>Arduino</a:t>
            </a:r>
            <a:r>
              <a:rPr lang="zh-CN" altLang="en-US" dirty="0"/>
              <a:t>系列硬件平台</a:t>
            </a:r>
          </a:p>
        </p:txBody>
      </p:sp>
      <p:sp>
        <p:nvSpPr>
          <p:cNvPr id="3" name="内容占位符 2">
            <a:extLst>
              <a:ext uri="{FF2B5EF4-FFF2-40B4-BE49-F238E27FC236}">
                <a16:creationId xmlns:a16="http://schemas.microsoft.com/office/drawing/2014/main" id="{4CD2B027-032F-40F7-B46C-578F51C6A4C4}"/>
              </a:ext>
            </a:extLst>
          </p:cNvPr>
          <p:cNvSpPr>
            <a:spLocks noGrp="1"/>
          </p:cNvSpPr>
          <p:nvPr>
            <p:ph idx="1"/>
          </p:nvPr>
        </p:nvSpPr>
        <p:spPr/>
        <p:txBody>
          <a:bodyPr/>
          <a:lstStyle/>
          <a:p>
            <a:r>
              <a:rPr lang="en-US" altLang="zh-CN" dirty="0"/>
              <a:t>Arduino</a:t>
            </a:r>
            <a:r>
              <a:rPr lang="zh-CN" altLang="en-US" dirty="0"/>
              <a:t>处理器的演变</a:t>
            </a:r>
          </a:p>
        </p:txBody>
      </p:sp>
    </p:spTree>
    <p:extLst>
      <p:ext uri="{BB962C8B-B14F-4D97-AF65-F5344CB8AC3E}">
        <p14:creationId xmlns:p14="http://schemas.microsoft.com/office/powerpoint/2010/main" val="67619008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Arduino</a:t>
            </a:r>
            <a:r>
              <a:rPr lang="zh-CN" altLang="en-US" dirty="0"/>
              <a:t>系列硬件平台</a:t>
            </a:r>
          </a:p>
        </p:txBody>
      </p:sp>
      <p:sp>
        <p:nvSpPr>
          <p:cNvPr id="3" name="内容占位符 2"/>
          <p:cNvSpPr>
            <a:spLocks noGrp="1"/>
          </p:cNvSpPr>
          <p:nvPr>
            <p:ph idx="1"/>
          </p:nvPr>
        </p:nvSpPr>
        <p:spPr/>
        <p:txBody>
          <a:bodyPr/>
          <a:lstStyle/>
          <a:p>
            <a:r>
              <a:rPr lang="zh-CN" altLang="en-US" dirty="0"/>
              <a:t>开发板组成</a:t>
            </a:r>
            <a:endParaRPr lang="en-US" altLang="zh-CN" dirty="0"/>
          </a:p>
          <a:p>
            <a:pPr lvl="1"/>
            <a:r>
              <a:rPr lang="en-US" altLang="zh-CN" dirty="0" err="1"/>
              <a:t>微处理器、USB串口、扩展插座、电源</a:t>
            </a:r>
            <a:endParaRPr lang="en-US" altLang="zh-CN" dirty="0"/>
          </a:p>
          <a:p>
            <a:pPr lvl="1"/>
            <a:endParaRPr lang="en-US" altLang="zh-CN" dirty="0"/>
          </a:p>
          <a:p>
            <a:pPr lvl="1"/>
            <a:endParaRPr lang="en-US" altLang="zh-CN" dirty="0"/>
          </a:p>
          <a:p>
            <a:pPr lvl="0"/>
            <a:endParaRPr lang="en-US" altLang="zh-CN" dirty="0"/>
          </a:p>
          <a:p>
            <a:pPr lvl="0"/>
            <a:endParaRPr lang="en-US" altLang="zh-CN" dirty="0"/>
          </a:p>
          <a:p>
            <a:pPr lvl="0"/>
            <a:endParaRPr lang="en-US" altLang="zh-CN" sz="1800" dirty="0"/>
          </a:p>
          <a:p>
            <a:pPr lvl="0"/>
            <a:r>
              <a:rPr lang="zh-CN" altLang="en-US" dirty="0"/>
              <a:t>代表性开发板尺寸与价格</a:t>
            </a:r>
            <a:endParaRPr lang="en-US" altLang="zh-CN" dirty="0"/>
          </a:p>
          <a:p>
            <a:pPr lvl="1"/>
            <a:endParaRPr lang="en-US" altLang="zh-CN" dirty="0"/>
          </a:p>
        </p:txBody>
      </p:sp>
      <p:pic>
        <p:nvPicPr>
          <p:cNvPr id="33794" name="Picture 2" descr="微信图片_201811201713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8612" y="1913259"/>
            <a:ext cx="32924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p:cNvGraphicFramePr>
            <a:graphicFrameLocks noGrp="1"/>
          </p:cNvGraphicFramePr>
          <p:nvPr>
            <p:extLst>
              <p:ext uri="{D42A27DB-BD31-4B8C-83A1-F6EECF244321}">
                <p14:modId xmlns:p14="http://schemas.microsoft.com/office/powerpoint/2010/main" val="3561236555"/>
              </p:ext>
            </p:extLst>
          </p:nvPr>
        </p:nvGraphicFramePr>
        <p:xfrm>
          <a:off x="635953" y="4707380"/>
          <a:ext cx="7872095" cy="1828800"/>
        </p:xfrm>
        <a:graphic>
          <a:graphicData uri="http://schemas.openxmlformats.org/drawingml/2006/table">
            <a:tbl>
              <a:tblPr firstRow="1" firstCol="1" bandRow="1">
                <a:tableStyleId>{5940675A-B579-460E-94D1-54222C63F5DA}</a:tableStyleId>
              </a:tblPr>
              <a:tblGrid>
                <a:gridCol w="2328545">
                  <a:extLst>
                    <a:ext uri="{9D8B030D-6E8A-4147-A177-3AD203B41FA5}">
                      <a16:colId xmlns:a16="http://schemas.microsoft.com/office/drawing/2014/main" val="20000"/>
                    </a:ext>
                  </a:extLst>
                </a:gridCol>
                <a:gridCol w="2868930">
                  <a:extLst>
                    <a:ext uri="{9D8B030D-6E8A-4147-A177-3AD203B41FA5}">
                      <a16:colId xmlns:a16="http://schemas.microsoft.com/office/drawing/2014/main" val="20001"/>
                    </a:ext>
                  </a:extLst>
                </a:gridCol>
                <a:gridCol w="2674620">
                  <a:extLst>
                    <a:ext uri="{9D8B030D-6E8A-4147-A177-3AD203B41FA5}">
                      <a16:colId xmlns:a16="http://schemas.microsoft.com/office/drawing/2014/main" val="20002"/>
                    </a:ext>
                  </a:extLst>
                </a:gridCol>
              </a:tblGrid>
              <a:tr h="457200">
                <a:tc>
                  <a:txBody>
                    <a:bodyPr/>
                    <a:lstStyle/>
                    <a:p>
                      <a:pPr algn="ctr">
                        <a:lnSpc>
                          <a:spcPct val="125000"/>
                        </a:lnSpc>
                        <a:spcAft>
                          <a:spcPts val="0"/>
                        </a:spcAft>
                      </a:pPr>
                      <a:r>
                        <a:rPr lang="zh-CN" sz="2400" kern="100" dirty="0">
                          <a:effectLst/>
                          <a:latin typeface="+mj-ea"/>
                          <a:ea typeface="+mj-ea"/>
                        </a:rPr>
                        <a:t>开发板</a:t>
                      </a:r>
                    </a:p>
                  </a:txBody>
                  <a:tcPr marL="68580" marR="68580" marT="0" marB="0" anchor="ctr"/>
                </a:tc>
                <a:tc>
                  <a:txBody>
                    <a:bodyPr/>
                    <a:lstStyle/>
                    <a:p>
                      <a:pPr algn="ctr">
                        <a:lnSpc>
                          <a:spcPct val="125000"/>
                        </a:lnSpc>
                        <a:spcAft>
                          <a:spcPts val="0"/>
                        </a:spcAft>
                      </a:pPr>
                      <a:r>
                        <a:rPr lang="zh-CN" sz="2400" kern="100" dirty="0">
                          <a:effectLst/>
                          <a:latin typeface="+mj-ea"/>
                          <a:ea typeface="+mj-ea"/>
                        </a:rPr>
                        <a:t>价格（元）</a:t>
                      </a:r>
                    </a:p>
                  </a:txBody>
                  <a:tcPr marL="68580" marR="68580" marT="0" marB="0" anchor="ctr"/>
                </a:tc>
                <a:tc>
                  <a:txBody>
                    <a:bodyPr/>
                    <a:lstStyle/>
                    <a:p>
                      <a:pPr algn="ctr">
                        <a:lnSpc>
                          <a:spcPct val="125000"/>
                        </a:lnSpc>
                        <a:spcAft>
                          <a:spcPts val="0"/>
                        </a:spcAft>
                      </a:pPr>
                      <a:r>
                        <a:rPr lang="zh-CN" sz="2400" kern="100">
                          <a:effectLst/>
                          <a:latin typeface="+mj-ea"/>
                          <a:ea typeface="+mj-ea"/>
                        </a:rPr>
                        <a:t>尺寸（长</a:t>
                      </a:r>
                      <a:r>
                        <a:rPr lang="en-US" sz="2400" kern="100">
                          <a:effectLst/>
                          <a:latin typeface="+mj-ea"/>
                          <a:ea typeface="+mj-ea"/>
                        </a:rPr>
                        <a:t>*</a:t>
                      </a:r>
                      <a:r>
                        <a:rPr lang="zh-CN" sz="2400" kern="100">
                          <a:effectLst/>
                          <a:latin typeface="+mj-ea"/>
                          <a:ea typeface="+mj-ea"/>
                        </a:rPr>
                        <a:t>宽</a:t>
                      </a:r>
                      <a:r>
                        <a:rPr lang="en-US" sz="2400" kern="100">
                          <a:effectLst/>
                          <a:latin typeface="+mj-ea"/>
                          <a:ea typeface="+mj-ea"/>
                        </a:rPr>
                        <a:t>/mm</a:t>
                      </a:r>
                      <a:r>
                        <a:rPr lang="zh-CN" sz="2400" kern="100">
                          <a:effectLst/>
                          <a:latin typeface="+mj-ea"/>
                          <a:ea typeface="+mj-ea"/>
                        </a:rPr>
                        <a:t>）</a:t>
                      </a:r>
                    </a:p>
                  </a:txBody>
                  <a:tcPr marL="68580" marR="68580" marT="0" marB="0" anchor="ctr"/>
                </a:tc>
                <a:extLst>
                  <a:ext uri="{0D108BD9-81ED-4DB2-BD59-A6C34878D82A}">
                    <a16:rowId xmlns:a16="http://schemas.microsoft.com/office/drawing/2014/main" val="10000"/>
                  </a:ext>
                </a:extLst>
              </a:tr>
              <a:tr h="457200">
                <a:tc>
                  <a:txBody>
                    <a:bodyPr/>
                    <a:lstStyle/>
                    <a:p>
                      <a:pPr algn="ctr">
                        <a:lnSpc>
                          <a:spcPct val="125000"/>
                        </a:lnSpc>
                        <a:spcAft>
                          <a:spcPts val="0"/>
                        </a:spcAft>
                      </a:pPr>
                      <a:r>
                        <a:rPr lang="en-US" sz="2400" kern="100">
                          <a:effectLst/>
                          <a:latin typeface="+mj-ea"/>
                          <a:ea typeface="+mj-ea"/>
                        </a:rPr>
                        <a:t>Arduino UNO</a:t>
                      </a:r>
                      <a:endParaRPr lang="zh-CN" sz="2400" kern="10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149.25</a:t>
                      </a:r>
                      <a:endParaRPr lang="zh-CN" sz="24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68.8*53.4</a:t>
                      </a:r>
                      <a:endParaRPr lang="zh-CN" sz="2400" kern="100">
                        <a:effectLst/>
                        <a:latin typeface="+mj-ea"/>
                        <a:ea typeface="+mj-ea"/>
                      </a:endParaRPr>
                    </a:p>
                  </a:txBody>
                  <a:tcPr marL="68580" marR="68580" marT="0" marB="0" anchor="ctr"/>
                </a:tc>
                <a:extLst>
                  <a:ext uri="{0D108BD9-81ED-4DB2-BD59-A6C34878D82A}">
                    <a16:rowId xmlns:a16="http://schemas.microsoft.com/office/drawing/2014/main" val="10001"/>
                  </a:ext>
                </a:extLst>
              </a:tr>
              <a:tr h="914400">
                <a:tc>
                  <a:txBody>
                    <a:bodyPr/>
                    <a:lstStyle/>
                    <a:p>
                      <a:pPr algn="ctr">
                        <a:lnSpc>
                          <a:spcPct val="125000"/>
                        </a:lnSpc>
                        <a:spcAft>
                          <a:spcPts val="0"/>
                        </a:spcAft>
                      </a:pPr>
                      <a:r>
                        <a:rPr lang="en-US" sz="2400" kern="100" dirty="0">
                          <a:effectLst/>
                          <a:latin typeface="+mj-ea"/>
                          <a:ea typeface="+mj-ea"/>
                        </a:rPr>
                        <a:t>Arduino Mega 2560</a:t>
                      </a:r>
                      <a:endParaRPr lang="zh-CN" sz="24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299</a:t>
                      </a:r>
                      <a:endParaRPr lang="zh-CN" sz="24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101.52*53.3</a:t>
                      </a:r>
                      <a:endParaRPr lang="zh-CN" sz="2400" kern="100" dirty="0">
                        <a:effectLst/>
                        <a:latin typeface="+mj-ea"/>
                        <a:ea typeface="+mj-ea"/>
                      </a:endParaRPr>
                    </a:p>
                  </a:txBody>
                  <a:tcPr marL="68580" marR="68580" marT="0" marB="0" anchor="ctr"/>
                </a:tc>
                <a:extLst>
                  <a:ext uri="{0D108BD9-81ED-4DB2-BD59-A6C34878D82A}">
                    <a16:rowId xmlns:a16="http://schemas.microsoft.com/office/drawing/2014/main" val="10002"/>
                  </a:ext>
                </a:extLst>
              </a:tr>
            </a:tbl>
          </a:graphicData>
        </a:graphic>
      </p:graphicFrame>
      <p:sp>
        <p:nvSpPr>
          <p:cNvPr id="8" name="灯片编号占位符 4">
            <a:extLst>
              <a:ext uri="{FF2B5EF4-FFF2-40B4-BE49-F238E27FC236}">
                <a16:creationId xmlns:a16="http://schemas.microsoft.com/office/drawing/2014/main" id="{DE2F39B6-2B6A-4EBA-9585-DB20D5233AC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系列硬件平台</a:t>
            </a:r>
            <a:endParaRPr lang="zh-CN" altLang="en-US" dirty="0"/>
          </a:p>
        </p:txBody>
      </p:sp>
      <p:sp>
        <p:nvSpPr>
          <p:cNvPr id="3" name="内容占位符 2"/>
          <p:cNvSpPr>
            <a:spLocks noGrp="1"/>
          </p:cNvSpPr>
          <p:nvPr>
            <p:ph idx="1"/>
          </p:nvPr>
        </p:nvSpPr>
        <p:spPr/>
        <p:txBody>
          <a:bodyPr/>
          <a:lstStyle/>
          <a:p>
            <a:r>
              <a:rPr lang="zh-CN" altLang="en-US"/>
              <a:t>微控制器的演变</a:t>
            </a:r>
            <a:endParaRPr lang="en-US" altLang="zh-CN" dirty="0"/>
          </a:p>
        </p:txBody>
      </p:sp>
      <p:pic>
        <p:nvPicPr>
          <p:cNvPr id="5" name="图片 4" descr="\\Dm-11\i\孙普\赵丽欣\新建文件夹\tp\2-32.tif"/>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8302" y="1988314"/>
            <a:ext cx="6667396" cy="3879086"/>
          </a:xfrm>
          <a:prstGeom prst="rect">
            <a:avLst/>
          </a:prstGeom>
          <a:noFill/>
          <a:ln>
            <a:noFill/>
          </a:ln>
        </p:spPr>
      </p:pic>
      <p:sp>
        <p:nvSpPr>
          <p:cNvPr id="7" name="灯片编号占位符 4">
            <a:extLst>
              <a:ext uri="{FF2B5EF4-FFF2-40B4-BE49-F238E27FC236}">
                <a16:creationId xmlns:a16="http://schemas.microsoft.com/office/drawing/2014/main" id="{0AA3BAF5-722E-4388-ACB4-276C77E7902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系列硬件平台</a:t>
            </a:r>
            <a:endParaRPr lang="zh-CN" altLang="en-US" dirty="0"/>
          </a:p>
        </p:txBody>
      </p:sp>
      <p:sp>
        <p:nvSpPr>
          <p:cNvPr id="3" name="内容占位符 2"/>
          <p:cNvSpPr>
            <a:spLocks noGrp="1"/>
          </p:cNvSpPr>
          <p:nvPr>
            <p:ph idx="1"/>
          </p:nvPr>
        </p:nvSpPr>
        <p:spPr/>
        <p:txBody>
          <a:bodyPr/>
          <a:lstStyle/>
          <a:p>
            <a:r>
              <a:rPr lang="zh-CN" altLang="en-US"/>
              <a:t>两种微控制器属性</a:t>
            </a:r>
            <a:endParaRPr lang="en-US" altLang="zh-CN" dirty="0"/>
          </a:p>
        </p:txBody>
      </p:sp>
      <p:graphicFrame>
        <p:nvGraphicFramePr>
          <p:cNvPr id="4" name="表格 3"/>
          <p:cNvGraphicFramePr>
            <a:graphicFrameLocks noGrp="1"/>
          </p:cNvGraphicFramePr>
          <p:nvPr>
            <p:extLst>
              <p:ext uri="{D42A27DB-BD31-4B8C-83A1-F6EECF244321}">
                <p14:modId xmlns:p14="http://schemas.microsoft.com/office/powerpoint/2010/main" val="2975673413"/>
              </p:ext>
            </p:extLst>
          </p:nvPr>
        </p:nvGraphicFramePr>
        <p:xfrm>
          <a:off x="890314" y="2108719"/>
          <a:ext cx="7363372" cy="3573109"/>
        </p:xfrm>
        <a:graphic>
          <a:graphicData uri="http://schemas.openxmlformats.org/drawingml/2006/table">
            <a:tbl>
              <a:tblPr firstRow="1" firstCol="1" bandRow="1">
                <a:tableStyleId>{5940675A-B579-460E-94D1-54222C63F5DA}</a:tableStyleId>
              </a:tblPr>
              <a:tblGrid>
                <a:gridCol w="2383523">
                  <a:extLst>
                    <a:ext uri="{9D8B030D-6E8A-4147-A177-3AD203B41FA5}">
                      <a16:colId xmlns:a16="http://schemas.microsoft.com/office/drawing/2014/main" val="20000"/>
                    </a:ext>
                  </a:extLst>
                </a:gridCol>
                <a:gridCol w="2338292">
                  <a:extLst>
                    <a:ext uri="{9D8B030D-6E8A-4147-A177-3AD203B41FA5}">
                      <a16:colId xmlns:a16="http://schemas.microsoft.com/office/drawing/2014/main" val="20001"/>
                    </a:ext>
                  </a:extLst>
                </a:gridCol>
                <a:gridCol w="2641557">
                  <a:extLst>
                    <a:ext uri="{9D8B030D-6E8A-4147-A177-3AD203B41FA5}">
                      <a16:colId xmlns:a16="http://schemas.microsoft.com/office/drawing/2014/main" val="20002"/>
                    </a:ext>
                  </a:extLst>
                </a:gridCol>
              </a:tblGrid>
              <a:tr h="609325">
                <a:tc>
                  <a:txBody>
                    <a:bodyPr/>
                    <a:lstStyle/>
                    <a:p>
                      <a:pPr marL="0" algn="ctr" defTabSz="914400" rtl="0" eaLnBrk="1" latinLnBrk="0" hangingPunct="1">
                        <a:lnSpc>
                          <a:spcPct val="125000"/>
                        </a:lnSpc>
                        <a:spcAft>
                          <a:spcPts val="0"/>
                        </a:spcAft>
                      </a:pPr>
                      <a:r>
                        <a:rPr lang="zh-CN" altLang="en-US" sz="2400" kern="100" dirty="0">
                          <a:effectLst/>
                          <a:latin typeface="+mj-ea"/>
                          <a:ea typeface="+mj-ea"/>
                        </a:rPr>
                        <a:t>参数</a:t>
                      </a:r>
                      <a:endParaRPr lang="zh-CN" altLang="en-US" sz="24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altLang="zh-CN" sz="2400" kern="100" dirty="0" err="1">
                          <a:effectLst/>
                          <a:latin typeface="+mj-ea"/>
                          <a:ea typeface="+mj-ea"/>
                        </a:rPr>
                        <a:t>ATmega</a:t>
                      </a:r>
                      <a:r>
                        <a:rPr lang="en-US" altLang="zh-CN" sz="2400" kern="100" dirty="0">
                          <a:effectLst/>
                          <a:latin typeface="+mj-ea"/>
                          <a:ea typeface="+mj-ea"/>
                        </a:rPr>
                        <a:t> 328</a:t>
                      </a:r>
                      <a:endParaRPr lang="en-US" altLang="zh-CN" sz="24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altLang="zh-CN" sz="2400" kern="100" dirty="0" err="1">
                          <a:effectLst/>
                          <a:latin typeface="+mj-ea"/>
                          <a:ea typeface="+mj-ea"/>
                        </a:rPr>
                        <a:t>ATmega</a:t>
                      </a:r>
                      <a:r>
                        <a:rPr lang="en-US" altLang="zh-CN" sz="2400" kern="100" dirty="0">
                          <a:effectLst/>
                          <a:latin typeface="+mj-ea"/>
                          <a:ea typeface="+mj-ea"/>
                        </a:rPr>
                        <a:t> 2560</a:t>
                      </a:r>
                      <a:endParaRPr lang="en-US" altLang="zh-CN" sz="2400" b="1" kern="100" dirty="0">
                        <a:solidFill>
                          <a:schemeClr val="lt1"/>
                        </a:solidFill>
                        <a:effectLst/>
                        <a:latin typeface="+mj-ea"/>
                        <a:ea typeface="+mj-ea"/>
                        <a:cs typeface="+mn-cs"/>
                      </a:endParaRPr>
                    </a:p>
                  </a:txBody>
                  <a:tcPr marL="36195" marR="36195" marT="0" marB="0" anchor="ctr"/>
                </a:tc>
                <a:extLst>
                  <a:ext uri="{0D108BD9-81ED-4DB2-BD59-A6C34878D82A}">
                    <a16:rowId xmlns:a16="http://schemas.microsoft.com/office/drawing/2014/main" val="10000"/>
                  </a:ext>
                </a:extLst>
              </a:tr>
              <a:tr h="609325">
                <a:tc>
                  <a:txBody>
                    <a:bodyPr/>
                    <a:lstStyle/>
                    <a:p>
                      <a:pPr marL="0" algn="ctr" defTabSz="914400" rtl="0" eaLnBrk="1" latinLnBrk="0" hangingPunct="1">
                        <a:lnSpc>
                          <a:spcPct val="125000"/>
                        </a:lnSpc>
                        <a:spcAft>
                          <a:spcPts val="0"/>
                        </a:spcAft>
                      </a:pPr>
                      <a:r>
                        <a:rPr lang="zh-CN" altLang="en-US" sz="2400" kern="100" dirty="0">
                          <a:effectLst/>
                          <a:latin typeface="+mj-ea"/>
                          <a:ea typeface="+mj-ea"/>
                        </a:rPr>
                        <a:t>时钟频率</a:t>
                      </a:r>
                      <a:r>
                        <a:rPr lang="en-US" sz="2400" kern="100" dirty="0">
                          <a:effectLst/>
                          <a:latin typeface="+mj-ea"/>
                          <a:ea typeface="+mj-ea"/>
                        </a:rPr>
                        <a:t>/MHZ</a:t>
                      </a:r>
                      <a:endParaRPr lang="zh-CN" altLang="en-US" sz="24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0</a:t>
                      </a:r>
                      <a:r>
                        <a:rPr lang="zh-CN" altLang="en-US" sz="2400" kern="100" dirty="0">
                          <a:effectLst/>
                          <a:latin typeface="+mj-ea"/>
                          <a:ea typeface="+mj-ea"/>
                        </a:rPr>
                        <a:t>～</a:t>
                      </a:r>
                      <a:r>
                        <a:rPr lang="en-US" sz="2400" kern="100" dirty="0">
                          <a:effectLst/>
                          <a:latin typeface="+mj-ea"/>
                          <a:ea typeface="+mj-ea"/>
                        </a:rPr>
                        <a:t>20</a:t>
                      </a:r>
                      <a:endParaRPr lang="zh-CN" altLang="en-US" sz="24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0</a:t>
                      </a:r>
                      <a:r>
                        <a:rPr lang="zh-CN" altLang="en-US" sz="2400" kern="100" dirty="0">
                          <a:effectLst/>
                          <a:latin typeface="+mj-ea"/>
                          <a:ea typeface="+mj-ea"/>
                        </a:rPr>
                        <a:t>～</a:t>
                      </a:r>
                      <a:r>
                        <a:rPr lang="en-US" sz="2400" kern="100" dirty="0">
                          <a:effectLst/>
                          <a:latin typeface="+mj-ea"/>
                          <a:ea typeface="+mj-ea"/>
                        </a:rPr>
                        <a:t>16</a:t>
                      </a:r>
                      <a:endParaRPr lang="zh-CN" altLang="en-US" sz="24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0001"/>
                  </a:ext>
                </a:extLst>
              </a:tr>
              <a:tr h="609325">
                <a:tc>
                  <a:txBody>
                    <a:bodyPr/>
                    <a:lstStyle/>
                    <a:p>
                      <a:pPr marL="0" algn="ctr" defTabSz="914400" rtl="0" eaLnBrk="1" latinLnBrk="0" hangingPunct="1">
                        <a:lnSpc>
                          <a:spcPct val="125000"/>
                        </a:lnSpc>
                        <a:spcAft>
                          <a:spcPts val="0"/>
                        </a:spcAft>
                      </a:pPr>
                      <a:r>
                        <a:rPr lang="en-US" sz="2400" kern="100" dirty="0">
                          <a:effectLst/>
                          <a:latin typeface="+mj-ea"/>
                          <a:ea typeface="+mj-ea"/>
                        </a:rPr>
                        <a:t>RAM/KB</a:t>
                      </a:r>
                      <a:endParaRPr lang="zh-CN" altLang="en-US" sz="24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2</a:t>
                      </a:r>
                      <a:endParaRPr lang="zh-CN" altLang="en-US" sz="24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8</a:t>
                      </a:r>
                      <a:endParaRPr lang="zh-CN" altLang="en-US" sz="24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0002"/>
                  </a:ext>
                </a:extLst>
              </a:tr>
              <a:tr h="609325">
                <a:tc>
                  <a:txBody>
                    <a:bodyPr/>
                    <a:lstStyle/>
                    <a:p>
                      <a:pPr marL="0" algn="ctr" defTabSz="914400" rtl="0" eaLnBrk="1" latinLnBrk="0" hangingPunct="1">
                        <a:lnSpc>
                          <a:spcPct val="125000"/>
                        </a:lnSpc>
                        <a:spcAft>
                          <a:spcPts val="0"/>
                        </a:spcAft>
                      </a:pPr>
                      <a:r>
                        <a:rPr lang="en-US" sz="2400" kern="100">
                          <a:effectLst/>
                          <a:latin typeface="+mj-ea"/>
                          <a:ea typeface="+mj-ea"/>
                        </a:rPr>
                        <a:t>Flash/KB</a:t>
                      </a:r>
                      <a:endParaRPr lang="zh-CN" altLang="en-US" sz="2400" b="1" kern="10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32</a:t>
                      </a:r>
                      <a:endParaRPr lang="zh-CN" altLang="en-US" sz="24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256</a:t>
                      </a:r>
                      <a:endParaRPr lang="zh-CN" altLang="en-US" sz="24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0003"/>
                  </a:ext>
                </a:extLst>
              </a:tr>
              <a:tr h="1135809">
                <a:tc>
                  <a:txBody>
                    <a:bodyPr/>
                    <a:lstStyle/>
                    <a:p>
                      <a:pPr marL="0" algn="ctr" defTabSz="914400" rtl="0" eaLnBrk="1" latinLnBrk="0" hangingPunct="1">
                        <a:lnSpc>
                          <a:spcPct val="125000"/>
                        </a:lnSpc>
                        <a:spcAft>
                          <a:spcPts val="0"/>
                        </a:spcAft>
                      </a:pPr>
                      <a:r>
                        <a:rPr lang="zh-CN" altLang="en-US" sz="2400" kern="100" dirty="0">
                          <a:effectLst/>
                          <a:latin typeface="+mj-ea"/>
                          <a:ea typeface="+mj-ea"/>
                        </a:rPr>
                        <a:t>能耗（时钟为</a:t>
                      </a:r>
                      <a:r>
                        <a:rPr lang="en-US" sz="2400" kern="100" dirty="0">
                          <a:effectLst/>
                          <a:latin typeface="+mj-ea"/>
                          <a:ea typeface="+mj-ea"/>
                        </a:rPr>
                        <a:t>1MHz</a:t>
                      </a:r>
                      <a:r>
                        <a:rPr lang="zh-CN" altLang="en-US" sz="2400" kern="100" dirty="0">
                          <a:effectLst/>
                          <a:latin typeface="+mj-ea"/>
                          <a:ea typeface="+mj-ea"/>
                        </a:rPr>
                        <a:t>）</a:t>
                      </a:r>
                      <a:endParaRPr lang="zh-CN" altLang="en-US" sz="2400" b="1" kern="100" dirty="0">
                        <a:solidFill>
                          <a:schemeClr val="lt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0.1μA</a:t>
                      </a:r>
                      <a:r>
                        <a:rPr lang="zh-CN" altLang="en-US" sz="2400" kern="100" dirty="0">
                          <a:effectLst/>
                          <a:latin typeface="+mj-ea"/>
                          <a:ea typeface="+mj-ea"/>
                        </a:rPr>
                        <a:t>～</a:t>
                      </a:r>
                      <a:r>
                        <a:rPr lang="en-US" sz="2400" kern="100" dirty="0">
                          <a:effectLst/>
                          <a:latin typeface="+mj-ea"/>
                          <a:ea typeface="+mj-ea"/>
                        </a:rPr>
                        <a:t>0.2mA</a:t>
                      </a:r>
                      <a:endParaRPr lang="zh-CN" altLang="en-US" sz="2400" kern="100" dirty="0">
                        <a:solidFill>
                          <a:schemeClr val="dk1"/>
                        </a:solidFill>
                        <a:effectLst/>
                        <a:latin typeface="+mj-ea"/>
                        <a:ea typeface="+mj-ea"/>
                        <a:cs typeface="+mn-cs"/>
                      </a:endParaRPr>
                    </a:p>
                  </a:txBody>
                  <a:tcPr marL="36195" marR="36195" marT="0" marB="0" anchor="ctr"/>
                </a:tc>
                <a:tc>
                  <a:txBody>
                    <a:bodyPr/>
                    <a:lstStyle/>
                    <a:p>
                      <a:pPr marL="0" algn="ctr" defTabSz="914400" rtl="0" eaLnBrk="1" latinLnBrk="0" hangingPunct="1">
                        <a:lnSpc>
                          <a:spcPct val="125000"/>
                        </a:lnSpc>
                        <a:spcAft>
                          <a:spcPts val="0"/>
                        </a:spcAft>
                      </a:pPr>
                      <a:r>
                        <a:rPr lang="en-US" sz="2400" kern="100" dirty="0">
                          <a:effectLst/>
                          <a:latin typeface="+mj-ea"/>
                          <a:ea typeface="+mj-ea"/>
                        </a:rPr>
                        <a:t>3μA</a:t>
                      </a:r>
                      <a:r>
                        <a:rPr lang="zh-CN" altLang="en-US" sz="2400" kern="100" dirty="0">
                          <a:effectLst/>
                          <a:latin typeface="+mj-ea"/>
                          <a:ea typeface="+mj-ea"/>
                        </a:rPr>
                        <a:t>～</a:t>
                      </a:r>
                      <a:r>
                        <a:rPr lang="en-US" sz="2400" kern="100" dirty="0">
                          <a:effectLst/>
                          <a:latin typeface="+mj-ea"/>
                          <a:ea typeface="+mj-ea"/>
                        </a:rPr>
                        <a:t>0.8mA</a:t>
                      </a:r>
                      <a:endParaRPr lang="zh-CN" altLang="en-US" sz="240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0004"/>
                  </a:ext>
                </a:extLst>
              </a:tr>
            </a:tbl>
          </a:graphicData>
        </a:graphic>
      </p:graphicFrame>
      <p:sp>
        <p:nvSpPr>
          <p:cNvPr id="7" name="灯片编号占位符 4">
            <a:extLst>
              <a:ext uri="{FF2B5EF4-FFF2-40B4-BE49-F238E27FC236}">
                <a16:creationId xmlns:a16="http://schemas.microsoft.com/office/drawing/2014/main" id="{7FA3FC9F-DF5C-41FA-B645-B2360393012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系列硬件平台</a:t>
            </a:r>
            <a:endParaRPr lang="zh-CN" altLang="en-US" dirty="0"/>
          </a:p>
        </p:txBody>
      </p:sp>
      <p:sp>
        <p:nvSpPr>
          <p:cNvPr id="3" name="内容占位符 2"/>
          <p:cNvSpPr>
            <a:spLocks noGrp="1"/>
          </p:cNvSpPr>
          <p:nvPr>
            <p:ph idx="1"/>
          </p:nvPr>
        </p:nvSpPr>
        <p:spPr/>
        <p:txBody>
          <a:bodyPr/>
          <a:lstStyle/>
          <a:p>
            <a:r>
              <a:rPr lang="zh-CN" altLang="en-US"/>
              <a:t>电源与能耗（以</a:t>
            </a:r>
            <a:r>
              <a:rPr lang="en-US" altLang="zh-CN"/>
              <a:t>ATmega 328</a:t>
            </a:r>
            <a:r>
              <a:rPr lang="zh-CN" altLang="en-US"/>
              <a:t>为例）</a:t>
            </a:r>
            <a:endParaRPr lang="en-US" altLang="zh-CN"/>
          </a:p>
          <a:p>
            <a:pPr lvl="1"/>
            <a:r>
              <a:rPr lang="en-US" altLang="zh-CN"/>
              <a:t>ATmega 328</a:t>
            </a:r>
            <a:r>
              <a:rPr lang="zh-CN" altLang="en-US"/>
              <a:t>的供电电压为</a:t>
            </a:r>
            <a:r>
              <a:rPr lang="en-US" altLang="zh-CN"/>
              <a:t>1.8</a:t>
            </a:r>
            <a:r>
              <a:rPr lang="zh-CN" altLang="en-US"/>
              <a:t>～</a:t>
            </a:r>
            <a:r>
              <a:rPr lang="en-US" altLang="zh-CN"/>
              <a:t>5.5V</a:t>
            </a:r>
            <a:r>
              <a:rPr lang="zh-CN" altLang="en-US"/>
              <a:t>，更高的电压可以支持更快的时钟频率</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4238491449"/>
              </p:ext>
            </p:extLst>
          </p:nvPr>
        </p:nvGraphicFramePr>
        <p:xfrm>
          <a:off x="1184729" y="2464910"/>
          <a:ext cx="6850742" cy="1928179"/>
        </p:xfrm>
        <a:graphic>
          <a:graphicData uri="http://schemas.openxmlformats.org/drawingml/2006/table">
            <a:tbl>
              <a:tblPr firstRow="1" firstCol="1" bandRow="1">
                <a:tableStyleId>{5940675A-B579-460E-94D1-54222C63F5DA}</a:tableStyleId>
              </a:tblPr>
              <a:tblGrid>
                <a:gridCol w="2410961">
                  <a:extLst>
                    <a:ext uri="{9D8B030D-6E8A-4147-A177-3AD203B41FA5}">
                      <a16:colId xmlns:a16="http://schemas.microsoft.com/office/drawing/2014/main" val="20000"/>
                    </a:ext>
                  </a:extLst>
                </a:gridCol>
                <a:gridCol w="4439781">
                  <a:extLst>
                    <a:ext uri="{9D8B030D-6E8A-4147-A177-3AD203B41FA5}">
                      <a16:colId xmlns:a16="http://schemas.microsoft.com/office/drawing/2014/main" val="20001"/>
                    </a:ext>
                  </a:extLst>
                </a:gridCol>
              </a:tblGrid>
              <a:tr h="0">
                <a:tc>
                  <a:txBody>
                    <a:bodyPr/>
                    <a:lstStyle/>
                    <a:p>
                      <a:pPr algn="ctr">
                        <a:lnSpc>
                          <a:spcPct val="125000"/>
                        </a:lnSpc>
                        <a:spcAft>
                          <a:spcPts val="0"/>
                        </a:spcAft>
                      </a:pPr>
                      <a:r>
                        <a:rPr lang="zh-CN" sz="2800" kern="100" dirty="0">
                          <a:effectLst/>
                        </a:rPr>
                        <a:t>最小供电电压</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25000"/>
                        </a:lnSpc>
                        <a:spcAft>
                          <a:spcPts val="0"/>
                        </a:spcAft>
                      </a:pPr>
                      <a:r>
                        <a:rPr lang="zh-CN" sz="2800" kern="100">
                          <a:effectLst/>
                        </a:rPr>
                        <a:t>最高时钟频率</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0">
                <a:tc>
                  <a:txBody>
                    <a:bodyPr/>
                    <a:lstStyle/>
                    <a:p>
                      <a:pPr algn="ctr">
                        <a:lnSpc>
                          <a:spcPct val="125000"/>
                        </a:lnSpc>
                        <a:spcAft>
                          <a:spcPts val="0"/>
                        </a:spcAft>
                      </a:pPr>
                      <a:r>
                        <a:rPr lang="en-US" sz="2800" kern="100" dirty="0">
                          <a:effectLst/>
                        </a:rPr>
                        <a:t>1.8V</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25000"/>
                        </a:lnSpc>
                        <a:spcAft>
                          <a:spcPts val="0"/>
                        </a:spcAft>
                      </a:pPr>
                      <a:r>
                        <a:rPr lang="en-US" sz="2800" kern="100">
                          <a:effectLst/>
                        </a:rPr>
                        <a:t>4MHz</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0">
                <a:tc>
                  <a:txBody>
                    <a:bodyPr/>
                    <a:lstStyle/>
                    <a:p>
                      <a:pPr algn="ctr">
                        <a:lnSpc>
                          <a:spcPct val="125000"/>
                        </a:lnSpc>
                        <a:spcAft>
                          <a:spcPts val="0"/>
                        </a:spcAft>
                      </a:pPr>
                      <a:r>
                        <a:rPr lang="en-US" sz="2800" kern="100" dirty="0">
                          <a:effectLst/>
                        </a:rPr>
                        <a:t>2.7V</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25000"/>
                        </a:lnSpc>
                        <a:spcAft>
                          <a:spcPts val="0"/>
                        </a:spcAft>
                      </a:pPr>
                      <a:r>
                        <a:rPr lang="en-US" sz="2800" kern="100">
                          <a:effectLst/>
                        </a:rPr>
                        <a:t>10MHz</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0">
                <a:tc>
                  <a:txBody>
                    <a:bodyPr/>
                    <a:lstStyle/>
                    <a:p>
                      <a:pPr algn="ctr">
                        <a:lnSpc>
                          <a:spcPct val="125000"/>
                        </a:lnSpc>
                        <a:spcAft>
                          <a:spcPts val="0"/>
                        </a:spcAft>
                      </a:pPr>
                      <a:r>
                        <a:rPr lang="en-US" sz="2800" kern="100">
                          <a:effectLst/>
                        </a:rPr>
                        <a:t>4.5V</a:t>
                      </a:r>
                      <a:endParaRPr lang="zh-CN" sz="20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25000"/>
                        </a:lnSpc>
                        <a:spcAft>
                          <a:spcPts val="0"/>
                        </a:spcAft>
                      </a:pPr>
                      <a:r>
                        <a:rPr lang="en-US" sz="2800" kern="100" dirty="0">
                          <a:effectLst/>
                        </a:rPr>
                        <a:t>20MHz</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bl>
          </a:graphicData>
        </a:graphic>
      </p:graphicFrame>
      <p:sp>
        <p:nvSpPr>
          <p:cNvPr id="7" name="灯片编号占位符 4">
            <a:extLst>
              <a:ext uri="{FF2B5EF4-FFF2-40B4-BE49-F238E27FC236}">
                <a16:creationId xmlns:a16="http://schemas.microsoft.com/office/drawing/2014/main" id="{6650B436-5F0D-466F-A1A2-BD736ED971A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49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系列硬件平台</a:t>
            </a:r>
            <a:endParaRPr lang="zh-CN" altLang="en-US" dirty="0"/>
          </a:p>
        </p:txBody>
      </p:sp>
      <p:sp>
        <p:nvSpPr>
          <p:cNvPr id="3" name="内容占位符 2"/>
          <p:cNvSpPr>
            <a:spLocks noGrp="1"/>
          </p:cNvSpPr>
          <p:nvPr>
            <p:ph idx="1"/>
          </p:nvPr>
        </p:nvSpPr>
        <p:spPr/>
        <p:txBody>
          <a:bodyPr/>
          <a:lstStyle/>
          <a:p>
            <a:r>
              <a:rPr lang="zh-CN" altLang="en-US" dirty="0"/>
              <a:t>扩展插座</a:t>
            </a:r>
            <a:endParaRPr lang="en-US" altLang="zh-CN" dirty="0"/>
          </a:p>
          <a:p>
            <a:pPr lvl="1"/>
            <a:r>
              <a:rPr lang="zh-CN" altLang="en-US" dirty="0"/>
              <a:t>用于提供连接外接设备</a:t>
            </a:r>
            <a:endParaRPr lang="en-US" altLang="zh-CN" dirty="0"/>
          </a:p>
          <a:p>
            <a:r>
              <a:rPr lang="zh-CN" altLang="en-US" dirty="0"/>
              <a:t>开发板上各通信协议的引脚数量</a:t>
            </a:r>
          </a:p>
        </p:txBody>
      </p:sp>
      <p:graphicFrame>
        <p:nvGraphicFramePr>
          <p:cNvPr id="4" name="表格 3"/>
          <p:cNvGraphicFramePr>
            <a:graphicFrameLocks noGrp="1"/>
          </p:cNvGraphicFramePr>
          <p:nvPr>
            <p:extLst>
              <p:ext uri="{D42A27DB-BD31-4B8C-83A1-F6EECF244321}">
                <p14:modId xmlns:p14="http://schemas.microsoft.com/office/powerpoint/2010/main" val="476893842"/>
              </p:ext>
            </p:extLst>
          </p:nvPr>
        </p:nvGraphicFramePr>
        <p:xfrm>
          <a:off x="749299" y="2587557"/>
          <a:ext cx="7721602" cy="3628414"/>
        </p:xfrm>
        <a:graphic>
          <a:graphicData uri="http://schemas.openxmlformats.org/drawingml/2006/table">
            <a:tbl>
              <a:tblPr firstRow="1" firstCol="1" bandRow="1">
                <a:tableStyleId>{5940675A-B579-460E-94D1-54222C63F5DA}</a:tableStyleId>
              </a:tblPr>
              <a:tblGrid>
                <a:gridCol w="2381265">
                  <a:extLst>
                    <a:ext uri="{9D8B030D-6E8A-4147-A177-3AD203B41FA5}">
                      <a16:colId xmlns:a16="http://schemas.microsoft.com/office/drawing/2014/main" val="20000"/>
                    </a:ext>
                  </a:extLst>
                </a:gridCol>
                <a:gridCol w="2763551">
                  <a:extLst>
                    <a:ext uri="{9D8B030D-6E8A-4147-A177-3AD203B41FA5}">
                      <a16:colId xmlns:a16="http://schemas.microsoft.com/office/drawing/2014/main" val="20001"/>
                    </a:ext>
                  </a:extLst>
                </a:gridCol>
                <a:gridCol w="2576786">
                  <a:extLst>
                    <a:ext uri="{9D8B030D-6E8A-4147-A177-3AD203B41FA5}">
                      <a16:colId xmlns:a16="http://schemas.microsoft.com/office/drawing/2014/main" val="20002"/>
                    </a:ext>
                  </a:extLst>
                </a:gridCol>
              </a:tblGrid>
              <a:tr h="940894">
                <a:tc>
                  <a:txBody>
                    <a:bodyPr/>
                    <a:lstStyle/>
                    <a:p>
                      <a:pPr algn="ctr">
                        <a:lnSpc>
                          <a:spcPct val="125000"/>
                        </a:lnSpc>
                        <a:spcAft>
                          <a:spcPts val="0"/>
                        </a:spcAft>
                      </a:pPr>
                      <a:r>
                        <a:rPr lang="zh-CN" sz="2400" kern="100">
                          <a:effectLst/>
                          <a:latin typeface="+mj-ea"/>
                          <a:ea typeface="+mj-ea"/>
                        </a:rPr>
                        <a:t>接口类型</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Arduino UNO</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Arduino Mega 2560</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0"/>
                  </a:ext>
                </a:extLst>
              </a:tr>
              <a:tr h="447920">
                <a:tc>
                  <a:txBody>
                    <a:bodyPr/>
                    <a:lstStyle/>
                    <a:p>
                      <a:pPr algn="ctr">
                        <a:lnSpc>
                          <a:spcPct val="125000"/>
                        </a:lnSpc>
                        <a:spcAft>
                          <a:spcPts val="0"/>
                        </a:spcAft>
                      </a:pPr>
                      <a:r>
                        <a:rPr lang="en-US" sz="2400" kern="100">
                          <a:effectLst/>
                          <a:latin typeface="+mj-ea"/>
                          <a:ea typeface="+mj-ea"/>
                        </a:rPr>
                        <a:t>Digital</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14</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54</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1"/>
                  </a:ext>
                </a:extLst>
              </a:tr>
              <a:tr h="447920">
                <a:tc>
                  <a:txBody>
                    <a:bodyPr/>
                    <a:lstStyle/>
                    <a:p>
                      <a:pPr algn="ctr">
                        <a:lnSpc>
                          <a:spcPct val="125000"/>
                        </a:lnSpc>
                        <a:spcAft>
                          <a:spcPts val="0"/>
                        </a:spcAft>
                      </a:pPr>
                      <a:r>
                        <a:rPr lang="en-US" sz="2400" kern="100">
                          <a:effectLst/>
                          <a:latin typeface="+mj-ea"/>
                          <a:ea typeface="+mj-ea"/>
                        </a:rPr>
                        <a:t>Analog</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6</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16</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2"/>
                  </a:ext>
                </a:extLst>
              </a:tr>
              <a:tr h="447920">
                <a:tc>
                  <a:txBody>
                    <a:bodyPr/>
                    <a:lstStyle/>
                    <a:p>
                      <a:pPr algn="ctr">
                        <a:lnSpc>
                          <a:spcPct val="125000"/>
                        </a:lnSpc>
                        <a:spcAft>
                          <a:spcPts val="0"/>
                        </a:spcAft>
                      </a:pPr>
                      <a:r>
                        <a:rPr lang="en-US" sz="2400" kern="100">
                          <a:effectLst/>
                          <a:latin typeface="+mj-ea"/>
                          <a:ea typeface="+mj-ea"/>
                        </a:rPr>
                        <a:t>PWM</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6</a:t>
                      </a:r>
                      <a:endParaRPr lang="zh-CN" sz="18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14</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3"/>
                  </a:ext>
                </a:extLst>
              </a:tr>
              <a:tr h="447920">
                <a:tc>
                  <a:txBody>
                    <a:bodyPr/>
                    <a:lstStyle/>
                    <a:p>
                      <a:pPr algn="ctr">
                        <a:lnSpc>
                          <a:spcPct val="125000"/>
                        </a:lnSpc>
                        <a:spcAft>
                          <a:spcPts val="0"/>
                        </a:spcAft>
                      </a:pPr>
                      <a:r>
                        <a:rPr lang="en-US" sz="2400" kern="100">
                          <a:effectLst/>
                          <a:latin typeface="+mj-ea"/>
                          <a:ea typeface="+mj-ea"/>
                        </a:rPr>
                        <a:t>UART</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1</a:t>
                      </a:r>
                      <a:endParaRPr lang="zh-CN" sz="1800" kern="100" dirty="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4</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4"/>
                  </a:ext>
                </a:extLst>
              </a:tr>
              <a:tr h="447920">
                <a:tc>
                  <a:txBody>
                    <a:bodyPr/>
                    <a:lstStyle/>
                    <a:p>
                      <a:pPr algn="ctr">
                        <a:lnSpc>
                          <a:spcPct val="125000"/>
                        </a:lnSpc>
                        <a:spcAft>
                          <a:spcPts val="0"/>
                        </a:spcAft>
                      </a:pPr>
                      <a:r>
                        <a:rPr lang="en-US" sz="2400" kern="100">
                          <a:effectLst/>
                          <a:latin typeface="+mj-ea"/>
                          <a:ea typeface="+mj-ea"/>
                        </a:rPr>
                        <a:t>I2C</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1</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1</a:t>
                      </a:r>
                      <a:endParaRPr lang="zh-CN" sz="1800" kern="100">
                        <a:effectLst/>
                        <a:latin typeface="+mj-ea"/>
                        <a:ea typeface="+mj-ea"/>
                      </a:endParaRPr>
                    </a:p>
                  </a:txBody>
                  <a:tcPr marL="68580" marR="68580" marT="0" marB="0" anchor="ctr"/>
                </a:tc>
                <a:extLst>
                  <a:ext uri="{0D108BD9-81ED-4DB2-BD59-A6C34878D82A}">
                    <a16:rowId xmlns:a16="http://schemas.microsoft.com/office/drawing/2014/main" val="10005"/>
                  </a:ext>
                </a:extLst>
              </a:tr>
              <a:tr h="447920">
                <a:tc>
                  <a:txBody>
                    <a:bodyPr/>
                    <a:lstStyle/>
                    <a:p>
                      <a:pPr algn="ctr">
                        <a:lnSpc>
                          <a:spcPct val="125000"/>
                        </a:lnSpc>
                        <a:spcAft>
                          <a:spcPts val="0"/>
                        </a:spcAft>
                      </a:pPr>
                      <a:r>
                        <a:rPr lang="en-US" sz="2400" kern="100">
                          <a:effectLst/>
                          <a:latin typeface="+mj-ea"/>
                          <a:ea typeface="+mj-ea"/>
                        </a:rPr>
                        <a:t>SPI</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a:effectLst/>
                          <a:latin typeface="+mj-ea"/>
                          <a:ea typeface="+mj-ea"/>
                        </a:rPr>
                        <a:t>1</a:t>
                      </a:r>
                      <a:endParaRPr lang="zh-CN" sz="1800" kern="100">
                        <a:effectLst/>
                        <a:latin typeface="+mj-ea"/>
                        <a:ea typeface="+mj-ea"/>
                      </a:endParaRPr>
                    </a:p>
                  </a:txBody>
                  <a:tcPr marL="68580" marR="68580" marT="0" marB="0" anchor="ctr"/>
                </a:tc>
                <a:tc>
                  <a:txBody>
                    <a:bodyPr/>
                    <a:lstStyle/>
                    <a:p>
                      <a:pPr algn="ctr">
                        <a:lnSpc>
                          <a:spcPct val="125000"/>
                        </a:lnSpc>
                        <a:spcAft>
                          <a:spcPts val="0"/>
                        </a:spcAft>
                      </a:pPr>
                      <a:r>
                        <a:rPr lang="en-US" sz="2400" kern="100" dirty="0">
                          <a:effectLst/>
                          <a:latin typeface="+mj-ea"/>
                          <a:ea typeface="+mj-ea"/>
                        </a:rPr>
                        <a:t>1</a:t>
                      </a:r>
                      <a:endParaRPr lang="zh-CN" sz="1800" kern="100" dirty="0">
                        <a:effectLst/>
                        <a:latin typeface="+mj-ea"/>
                        <a:ea typeface="+mj-ea"/>
                      </a:endParaRPr>
                    </a:p>
                  </a:txBody>
                  <a:tcPr marL="68580" marR="68580" marT="0" marB="0" anchor="ctr"/>
                </a:tc>
                <a:extLst>
                  <a:ext uri="{0D108BD9-81ED-4DB2-BD59-A6C34878D82A}">
                    <a16:rowId xmlns:a16="http://schemas.microsoft.com/office/drawing/2014/main" val="10006"/>
                  </a:ext>
                </a:extLst>
              </a:tr>
            </a:tbl>
          </a:graphicData>
        </a:graphic>
      </p:graphicFrame>
      <p:sp>
        <p:nvSpPr>
          <p:cNvPr id="7" name="灯片编号占位符 4">
            <a:extLst>
              <a:ext uri="{FF2B5EF4-FFF2-40B4-BE49-F238E27FC236}">
                <a16:creationId xmlns:a16="http://schemas.microsoft.com/office/drawing/2014/main" id="{E501F7F5-731E-4D91-BE4F-691A38E7075D}"/>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系列硬件平台</a:t>
            </a:r>
            <a:endParaRPr lang="zh-CN" altLang="en-US" dirty="0"/>
          </a:p>
        </p:txBody>
      </p:sp>
      <p:sp>
        <p:nvSpPr>
          <p:cNvPr id="3" name="内容占位符 2"/>
          <p:cNvSpPr>
            <a:spLocks noGrp="1"/>
          </p:cNvSpPr>
          <p:nvPr>
            <p:ph idx="1"/>
          </p:nvPr>
        </p:nvSpPr>
        <p:spPr>
          <a:xfrm>
            <a:off x="457200" y="990600"/>
            <a:ext cx="3978876" cy="5410200"/>
          </a:xfrm>
        </p:spPr>
        <p:txBody>
          <a:bodyPr/>
          <a:lstStyle/>
          <a:p>
            <a:r>
              <a:rPr lang="zh-CN" altLang="zh-CN" dirty="0"/>
              <a:t>盾板</a:t>
            </a:r>
            <a:r>
              <a:rPr lang="zh-CN" altLang="en-US" dirty="0"/>
              <a:t>：为</a:t>
            </a:r>
            <a:r>
              <a:rPr lang="en-US" altLang="zh-CN" dirty="0"/>
              <a:t>Arduino</a:t>
            </a:r>
            <a:r>
              <a:rPr lang="zh-CN" altLang="zh-CN" dirty="0"/>
              <a:t>提供了非常强大的扩展能力</a:t>
            </a:r>
            <a:endParaRPr lang="en-US" altLang="zh-CN" dirty="0"/>
          </a:p>
          <a:p>
            <a:pPr lvl="1"/>
            <a:r>
              <a:rPr lang="en-US" altLang="zh-CN" dirty="0"/>
              <a:t>Marc de </a:t>
            </a:r>
            <a:r>
              <a:rPr lang="en-US" altLang="zh-CN" dirty="0" err="1"/>
              <a:t>Vinck的创客盾板</a:t>
            </a:r>
            <a:endParaRPr lang="en-US" altLang="zh-CN" dirty="0"/>
          </a:p>
          <a:p>
            <a:pPr lvl="1"/>
            <a:r>
              <a:rPr lang="en-US" altLang="zh-CN" dirty="0" err="1"/>
              <a:t>Seeed</a:t>
            </a:r>
            <a:r>
              <a:rPr lang="en-US" altLang="zh-CN" dirty="0"/>
              <a:t> </a:t>
            </a:r>
            <a:r>
              <a:rPr lang="en-US" altLang="zh-CN" dirty="0" err="1"/>
              <a:t>Studio系列的Grove扩展板</a:t>
            </a:r>
            <a:endParaRPr lang="en-US" altLang="zh-CN" dirty="0"/>
          </a:p>
          <a:p>
            <a:pPr lvl="2"/>
            <a:r>
              <a:rPr lang="en-US" altLang="zh-CN" dirty="0" err="1"/>
              <a:t>WiFi功能</a:t>
            </a:r>
            <a:endParaRPr lang="en-US" altLang="zh-CN" dirty="0"/>
          </a:p>
          <a:p>
            <a:pPr lvl="2"/>
            <a:r>
              <a:rPr lang="en-US" altLang="zh-CN" dirty="0"/>
              <a:t>Grove Port</a:t>
            </a:r>
          </a:p>
          <a:p>
            <a:pPr lvl="2"/>
            <a:r>
              <a:rPr lang="en-US" altLang="zh-CN" dirty="0" err="1"/>
              <a:t>SD卡</a:t>
            </a:r>
            <a:endParaRPr lang="en-US" altLang="zh-CN" dirty="0"/>
          </a:p>
        </p:txBody>
      </p:sp>
      <p:pic>
        <p:nvPicPr>
          <p:cNvPr id="39938" name="Picture 2" descr="微信图片_201811201711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1" y="952500"/>
            <a:ext cx="4400366"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a:extLst>
              <a:ext uri="{FF2B5EF4-FFF2-40B4-BE49-F238E27FC236}">
                <a16:creationId xmlns:a16="http://schemas.microsoft.com/office/drawing/2014/main" id="{0E05820F-0042-429E-9581-93EC2324DDC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lang="en-US" altLang="zh-CN" dirty="0"/>
              <a:t>Arduino</a:t>
            </a:r>
            <a:r>
              <a:rPr lang="zh-CN" altLang="en-US" dirty="0"/>
              <a:t>系列硬件平台</a:t>
            </a:r>
          </a:p>
        </p:txBody>
      </p:sp>
      <p:sp>
        <p:nvSpPr>
          <p:cNvPr id="10" name="灯片编号占位符 4">
            <a:extLst>
              <a:ext uri="{FF2B5EF4-FFF2-40B4-BE49-F238E27FC236}">
                <a16:creationId xmlns:a16="http://schemas.microsoft.com/office/drawing/2014/main" id="{E0969E5F-26CC-4921-B6C2-AC74A4AEEE53}"/>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52</a:t>
            </a:fld>
            <a:endParaRPr lang="zh-CN" altLang="zh-CN" sz="1800" baseline="0" dirty="0">
              <a:solidFill>
                <a:schemeClr val="folHlink"/>
              </a:solidFill>
              <a:latin typeface="Monotype Corsiva" panose="03010101010201010101" pitchFamily="66" charset="0"/>
            </a:endParaRPr>
          </a:p>
        </p:txBody>
      </p:sp>
      <p:graphicFrame>
        <p:nvGraphicFramePr>
          <p:cNvPr id="6" name="表格 5">
            <a:extLst>
              <a:ext uri="{FF2B5EF4-FFF2-40B4-BE49-F238E27FC236}">
                <a16:creationId xmlns:a16="http://schemas.microsoft.com/office/drawing/2014/main" id="{641C1742-CBFD-410D-AC9C-E41B91A48A3E}"/>
              </a:ext>
            </a:extLst>
          </p:cNvPr>
          <p:cNvGraphicFramePr>
            <a:graphicFrameLocks noGrp="1"/>
          </p:cNvGraphicFramePr>
          <p:nvPr>
            <p:extLst>
              <p:ext uri="{D42A27DB-BD31-4B8C-83A1-F6EECF244321}">
                <p14:modId xmlns:p14="http://schemas.microsoft.com/office/powerpoint/2010/main" val="4093359537"/>
              </p:ext>
            </p:extLst>
          </p:nvPr>
        </p:nvGraphicFramePr>
        <p:xfrm>
          <a:off x="76199" y="978115"/>
          <a:ext cx="8991601" cy="5589833"/>
        </p:xfrm>
        <a:graphic>
          <a:graphicData uri="http://schemas.openxmlformats.org/drawingml/2006/table">
            <a:tbl>
              <a:tblPr firstRow="1" firstCol="1" bandRow="1">
                <a:tableStyleId>{5940675A-B579-460E-94D1-54222C63F5DA}</a:tableStyleId>
              </a:tblPr>
              <a:tblGrid>
                <a:gridCol w="3494904">
                  <a:extLst>
                    <a:ext uri="{9D8B030D-6E8A-4147-A177-3AD203B41FA5}">
                      <a16:colId xmlns:a16="http://schemas.microsoft.com/office/drawing/2014/main" val="2339541855"/>
                    </a:ext>
                  </a:extLst>
                </a:gridCol>
                <a:gridCol w="916458">
                  <a:extLst>
                    <a:ext uri="{9D8B030D-6E8A-4147-A177-3AD203B41FA5}">
                      <a16:colId xmlns:a16="http://schemas.microsoft.com/office/drawing/2014/main" val="558177343"/>
                    </a:ext>
                  </a:extLst>
                </a:gridCol>
                <a:gridCol w="1075038">
                  <a:extLst>
                    <a:ext uri="{9D8B030D-6E8A-4147-A177-3AD203B41FA5}">
                      <a16:colId xmlns:a16="http://schemas.microsoft.com/office/drawing/2014/main" val="3464416812"/>
                    </a:ext>
                  </a:extLst>
                </a:gridCol>
                <a:gridCol w="1260389">
                  <a:extLst>
                    <a:ext uri="{9D8B030D-6E8A-4147-A177-3AD203B41FA5}">
                      <a16:colId xmlns:a16="http://schemas.microsoft.com/office/drawing/2014/main" val="640229454"/>
                    </a:ext>
                  </a:extLst>
                </a:gridCol>
                <a:gridCol w="1149179">
                  <a:extLst>
                    <a:ext uri="{9D8B030D-6E8A-4147-A177-3AD203B41FA5}">
                      <a16:colId xmlns:a16="http://schemas.microsoft.com/office/drawing/2014/main" val="298669515"/>
                    </a:ext>
                  </a:extLst>
                </a:gridCol>
                <a:gridCol w="1095633">
                  <a:extLst>
                    <a:ext uri="{9D8B030D-6E8A-4147-A177-3AD203B41FA5}">
                      <a16:colId xmlns:a16="http://schemas.microsoft.com/office/drawing/2014/main" val="954798231"/>
                    </a:ext>
                  </a:extLst>
                </a:gridCol>
              </a:tblGrid>
              <a:tr h="0">
                <a:tc>
                  <a:txBody>
                    <a:bodyPr/>
                    <a:lstStyle/>
                    <a:p>
                      <a:pPr algn="ctr">
                        <a:spcAft>
                          <a:spcPts val="0"/>
                        </a:spcAft>
                      </a:pPr>
                      <a:r>
                        <a:rPr lang="zh-CN" sz="2000" kern="500">
                          <a:effectLst/>
                          <a:latin typeface="+mj-ea"/>
                          <a:ea typeface="+mj-ea"/>
                        </a:rPr>
                        <a:t>开发板型号</a:t>
                      </a:r>
                      <a:r>
                        <a:rPr lang="en-US" sz="2000" kern="500">
                          <a:effectLst/>
                          <a:latin typeface="+mj-ea"/>
                          <a:ea typeface="+mj-ea"/>
                        </a:rPr>
                        <a:t>/MCU</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MCU</a:t>
                      </a:r>
                      <a:r>
                        <a:rPr lang="zh-CN" sz="2000" kern="500">
                          <a:effectLst/>
                          <a:latin typeface="+mj-ea"/>
                          <a:ea typeface="+mj-ea"/>
                        </a:rPr>
                        <a:t>时钟频率</a:t>
                      </a:r>
                      <a:endParaRPr lang="zh-CN" sz="2000" kern="750">
                        <a:effectLst/>
                        <a:latin typeface="+mj-ea"/>
                        <a:ea typeface="+mj-ea"/>
                      </a:endParaRPr>
                    </a:p>
                    <a:p>
                      <a:pPr algn="ctr">
                        <a:spcAft>
                          <a:spcPts val="0"/>
                        </a:spcAft>
                      </a:pPr>
                      <a:r>
                        <a:rPr lang="en-US" sz="2000" kern="500">
                          <a:effectLst/>
                          <a:latin typeface="+mj-ea"/>
                          <a:ea typeface="+mj-ea"/>
                        </a:rPr>
                        <a:t>/MHz</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Flash/RAM</a:t>
                      </a:r>
                      <a:endParaRPr lang="zh-CN" sz="2000" kern="750">
                        <a:effectLst/>
                        <a:latin typeface="+mj-ea"/>
                        <a:ea typeface="+mj-ea"/>
                      </a:endParaRPr>
                    </a:p>
                    <a:p>
                      <a:pPr algn="ctr">
                        <a:spcAft>
                          <a:spcPts val="0"/>
                        </a:spcAft>
                      </a:pPr>
                      <a:r>
                        <a:rPr lang="en-US" sz="2000" kern="500">
                          <a:effectLst/>
                          <a:latin typeface="+mj-ea"/>
                          <a:ea typeface="+mj-ea"/>
                        </a:rPr>
                        <a:t>/KB</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Digital/Analog/PWM/UART/I</a:t>
                      </a:r>
                      <a:r>
                        <a:rPr lang="en-US" sz="2000" kern="500" baseline="30000">
                          <a:effectLst/>
                          <a:latin typeface="+mj-ea"/>
                          <a:ea typeface="+mj-ea"/>
                        </a:rPr>
                        <a:t>2</a:t>
                      </a:r>
                      <a:r>
                        <a:rPr lang="en-US" sz="2000" kern="500">
                          <a:effectLst/>
                          <a:latin typeface="+mj-ea"/>
                          <a:ea typeface="+mj-ea"/>
                        </a:rPr>
                        <a:t>C/SPI</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zh-CN" sz="2000" kern="500">
                          <a:effectLst/>
                          <a:latin typeface="+mj-ea"/>
                          <a:ea typeface="+mj-ea"/>
                        </a:rPr>
                        <a:t>尺寸</a:t>
                      </a:r>
                      <a:r>
                        <a:rPr lang="en-US" sz="2000" kern="500">
                          <a:effectLst/>
                          <a:latin typeface="+mj-ea"/>
                          <a:ea typeface="+mj-ea"/>
                        </a:rPr>
                        <a:t>/</a:t>
                      </a:r>
                      <a:r>
                        <a:rPr lang="zh-CN" sz="2000" kern="500">
                          <a:effectLst/>
                          <a:latin typeface="+mj-ea"/>
                          <a:ea typeface="+mj-ea"/>
                        </a:rPr>
                        <a:t>（</a:t>
                      </a:r>
                      <a:r>
                        <a:rPr lang="en-US" sz="2000" kern="500">
                          <a:effectLst/>
                          <a:latin typeface="+mj-ea"/>
                          <a:ea typeface="+mj-ea"/>
                        </a:rPr>
                        <a:t>mm×mm</a:t>
                      </a:r>
                      <a:r>
                        <a:rPr lang="zh-CN" sz="2000" kern="500">
                          <a:effectLst/>
                          <a:latin typeface="+mj-ea"/>
                          <a:ea typeface="+mj-ea"/>
                        </a:rPr>
                        <a:t>）</a:t>
                      </a:r>
                      <a:endParaRPr lang="zh-CN" sz="2000" kern="750">
                        <a:effectLst/>
                        <a:latin typeface="+mj-ea"/>
                        <a:ea typeface="+mj-ea"/>
                      </a:endParaRPr>
                    </a:p>
                    <a:p>
                      <a:pPr algn="ctr">
                        <a:spcAft>
                          <a:spcPts val="0"/>
                        </a:spcAft>
                      </a:pPr>
                      <a:r>
                        <a:rPr lang="zh-CN" sz="2000" kern="500">
                          <a:effectLst/>
                          <a:latin typeface="+mj-ea"/>
                          <a:ea typeface="+mj-ea"/>
                        </a:rPr>
                        <a:t>（长</a:t>
                      </a:r>
                      <a:r>
                        <a:rPr lang="en-US" sz="2000" kern="500">
                          <a:effectLst/>
                          <a:latin typeface="+mj-ea"/>
                          <a:ea typeface="+mj-ea"/>
                        </a:rPr>
                        <a:t>×</a:t>
                      </a:r>
                      <a:r>
                        <a:rPr lang="zh-CN" sz="2000" kern="500">
                          <a:effectLst/>
                          <a:latin typeface="+mj-ea"/>
                          <a:ea typeface="+mj-ea"/>
                        </a:rPr>
                        <a:t>宽）</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MCU</a:t>
                      </a:r>
                      <a:r>
                        <a:rPr lang="zh-CN" sz="2000" kern="500" dirty="0">
                          <a:effectLst/>
                          <a:latin typeface="+mj-ea"/>
                          <a:ea typeface="+mj-ea"/>
                        </a:rPr>
                        <a:t>睡眠能耗</a:t>
                      </a:r>
                      <a:endParaRPr lang="zh-CN" sz="2000" kern="750" dirty="0">
                        <a:effectLst/>
                        <a:latin typeface="+mj-ea"/>
                        <a:ea typeface="+mj-ea"/>
                      </a:endParaRPr>
                    </a:p>
                    <a:p>
                      <a:pPr algn="ctr">
                        <a:spcAft>
                          <a:spcPts val="0"/>
                        </a:spcAft>
                      </a:pPr>
                      <a:r>
                        <a:rPr lang="en-US" sz="2000" kern="500" dirty="0">
                          <a:effectLst/>
                          <a:latin typeface="+mj-ea"/>
                          <a:ea typeface="+mj-ea"/>
                        </a:rPr>
                        <a:t>/</a:t>
                      </a:r>
                      <a:r>
                        <a:rPr lang="zh-CN" sz="2000" kern="500" dirty="0">
                          <a:effectLst/>
                          <a:latin typeface="+mj-ea"/>
                          <a:ea typeface="+mj-ea"/>
                        </a:rPr>
                        <a:t>工作能耗</a:t>
                      </a:r>
                      <a:endParaRPr lang="zh-CN" sz="20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720430195"/>
                  </a:ext>
                </a:extLst>
              </a:tr>
              <a:tr h="752362">
                <a:tc>
                  <a:txBody>
                    <a:bodyPr/>
                    <a:lstStyle/>
                    <a:p>
                      <a:pPr algn="ctr">
                        <a:spcAft>
                          <a:spcPts val="0"/>
                        </a:spcAft>
                      </a:pPr>
                      <a:endParaRPr lang="en-US" sz="1800" kern="500" dirty="0">
                        <a:effectLst/>
                        <a:latin typeface="+mj-ea"/>
                        <a:ea typeface="+mj-ea"/>
                      </a:endParaRPr>
                    </a:p>
                    <a:p>
                      <a:pPr algn="ctr">
                        <a:spcAft>
                          <a:spcPts val="0"/>
                        </a:spcAft>
                      </a:pPr>
                      <a:r>
                        <a:rPr lang="en-US" sz="1800" kern="500" dirty="0">
                          <a:effectLst/>
                          <a:latin typeface="+mj-ea"/>
                          <a:ea typeface="+mj-ea"/>
                        </a:rPr>
                        <a:t>Arduino MICRO/ ATmega32U4</a:t>
                      </a:r>
                      <a:endParaRPr lang="zh-CN" sz="1800" kern="750" dirty="0">
                        <a:effectLst/>
                        <a:latin typeface="+mj-ea"/>
                        <a:ea typeface="+mj-ea"/>
                        <a:cs typeface="Courier New" panose="02070309020205020404" pitchFamily="49" charset="0"/>
                      </a:endParaRPr>
                    </a:p>
                  </a:txBody>
                  <a:tcPr marL="36195" marR="36195" marT="0" marB="0" anchor="b"/>
                </a:tc>
                <a:tc>
                  <a:txBody>
                    <a:bodyPr/>
                    <a:lstStyle/>
                    <a:p>
                      <a:pPr algn="ctr">
                        <a:spcAft>
                          <a:spcPts val="0"/>
                        </a:spcAft>
                      </a:pPr>
                      <a:r>
                        <a:rPr lang="en-US" sz="2000" kern="500" dirty="0">
                          <a:effectLst/>
                          <a:latin typeface="+mj-ea"/>
                          <a:ea typeface="+mj-ea"/>
                        </a:rPr>
                        <a:t>16</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32/2.5</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14/12/7/1/1/1</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48×17.7</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0.35mA/1.1mA</a:t>
                      </a:r>
                      <a:endParaRPr lang="zh-CN" sz="20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3858941316"/>
                  </a:ext>
                </a:extLst>
              </a:tr>
              <a:tr h="747252">
                <a:tc>
                  <a:txBody>
                    <a:bodyPr/>
                    <a:lstStyle/>
                    <a:p>
                      <a:pPr algn="ctr">
                        <a:spcAft>
                          <a:spcPts val="0"/>
                        </a:spcAft>
                      </a:pPr>
                      <a:endParaRPr lang="en-US" sz="1800" kern="500">
                        <a:effectLst/>
                        <a:latin typeface="+mj-ea"/>
                        <a:ea typeface="+mj-ea"/>
                      </a:endParaRPr>
                    </a:p>
                    <a:p>
                      <a:pPr algn="ctr">
                        <a:spcAft>
                          <a:spcPts val="0"/>
                        </a:spcAft>
                      </a:pPr>
                      <a:r>
                        <a:rPr lang="en-US" sz="1800" kern="500">
                          <a:effectLst/>
                          <a:latin typeface="+mj-ea"/>
                          <a:ea typeface="+mj-ea"/>
                        </a:rPr>
                        <a:t>Arduino NANO/ ATmega 328</a:t>
                      </a:r>
                      <a:endParaRPr lang="zh-CN" sz="1800" kern="750">
                        <a:effectLst/>
                        <a:latin typeface="+mj-ea"/>
                        <a:ea typeface="+mj-ea"/>
                        <a:cs typeface="Courier New" panose="02070309020205020404" pitchFamily="49" charset="0"/>
                      </a:endParaRPr>
                    </a:p>
                  </a:txBody>
                  <a:tcPr marL="36195" marR="36195" marT="0" marB="0" anchor="b"/>
                </a:tc>
                <a:tc>
                  <a:txBody>
                    <a:bodyPr/>
                    <a:lstStyle/>
                    <a:p>
                      <a:pPr algn="ctr">
                        <a:spcAft>
                          <a:spcPts val="0"/>
                        </a:spcAft>
                      </a:pPr>
                      <a:r>
                        <a:rPr lang="en-US" sz="2000" kern="500" dirty="0">
                          <a:effectLst/>
                          <a:latin typeface="+mj-ea"/>
                          <a:ea typeface="+mj-ea"/>
                        </a:rPr>
                        <a:t>16</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32/2</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14/8/6/1/1/1</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45×18</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0.1μA/0.2mA</a:t>
                      </a:r>
                      <a:endParaRPr lang="zh-CN" sz="20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3111098643"/>
                  </a:ext>
                </a:extLst>
              </a:tr>
              <a:tr h="993058">
                <a:tc>
                  <a:txBody>
                    <a:bodyPr/>
                    <a:lstStyle/>
                    <a:p>
                      <a:pPr algn="ctr">
                        <a:spcBef>
                          <a:spcPts val="240"/>
                        </a:spcBef>
                        <a:spcAft>
                          <a:spcPts val="0"/>
                        </a:spcAft>
                      </a:pPr>
                      <a:endParaRPr lang="en-US" sz="1800" kern="500" dirty="0">
                        <a:effectLst/>
                        <a:latin typeface="+mj-ea"/>
                        <a:ea typeface="+mj-ea"/>
                      </a:endParaRPr>
                    </a:p>
                    <a:p>
                      <a:pPr algn="ctr">
                        <a:spcAft>
                          <a:spcPts val="0"/>
                        </a:spcAft>
                      </a:pPr>
                      <a:r>
                        <a:rPr lang="en-US" sz="1800" kern="500" dirty="0">
                          <a:effectLst/>
                          <a:latin typeface="+mj-ea"/>
                          <a:ea typeface="+mj-ea"/>
                        </a:rPr>
                        <a:t>Arduino ZERO/ ATSAMD21G18</a:t>
                      </a:r>
                      <a:endParaRPr lang="zh-CN" sz="1800" kern="750" dirty="0">
                        <a:effectLst/>
                        <a:latin typeface="+mj-ea"/>
                        <a:ea typeface="+mj-ea"/>
                        <a:cs typeface="Courier New" panose="02070309020205020404" pitchFamily="49" charset="0"/>
                      </a:endParaRPr>
                    </a:p>
                  </a:txBody>
                  <a:tcPr marL="36195" marR="36195" marT="0" marB="0" anchor="b"/>
                </a:tc>
                <a:tc>
                  <a:txBody>
                    <a:bodyPr/>
                    <a:lstStyle/>
                    <a:p>
                      <a:pPr algn="ctr">
                        <a:spcAft>
                          <a:spcPts val="0"/>
                        </a:spcAft>
                      </a:pPr>
                      <a:r>
                        <a:rPr lang="en-US" sz="2000" kern="500">
                          <a:effectLst/>
                          <a:latin typeface="+mj-ea"/>
                          <a:ea typeface="+mj-ea"/>
                        </a:rPr>
                        <a:t>48</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256/32</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14/6/6/1/2/1</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68×53</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4.06μA/3.37mA</a:t>
                      </a:r>
                      <a:endParaRPr lang="zh-CN" sz="20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414476829"/>
                  </a:ext>
                </a:extLst>
              </a:tr>
              <a:tr h="874395">
                <a:tc>
                  <a:txBody>
                    <a:bodyPr/>
                    <a:lstStyle/>
                    <a:p>
                      <a:pPr algn="ctr">
                        <a:spcBef>
                          <a:spcPts val="240"/>
                        </a:spcBef>
                        <a:spcAft>
                          <a:spcPts val="0"/>
                        </a:spcAft>
                      </a:pPr>
                      <a:endParaRPr lang="en-US" sz="1800" kern="500" dirty="0">
                        <a:effectLst/>
                        <a:latin typeface="+mj-ea"/>
                        <a:ea typeface="+mj-ea"/>
                      </a:endParaRPr>
                    </a:p>
                    <a:p>
                      <a:pPr algn="ctr">
                        <a:spcAft>
                          <a:spcPts val="0"/>
                        </a:spcAft>
                      </a:pPr>
                      <a:r>
                        <a:rPr lang="en-US" sz="1800" kern="500" dirty="0" err="1">
                          <a:effectLst/>
                          <a:latin typeface="+mj-ea"/>
                          <a:ea typeface="+mj-ea"/>
                        </a:rPr>
                        <a:t>LilyPad</a:t>
                      </a:r>
                      <a:r>
                        <a:rPr lang="en-US" sz="1800" kern="500" dirty="0">
                          <a:effectLst/>
                          <a:latin typeface="+mj-ea"/>
                          <a:ea typeface="+mj-ea"/>
                        </a:rPr>
                        <a:t> Arduino/ ATmega168</a:t>
                      </a:r>
                      <a:endParaRPr lang="zh-CN" sz="1800" kern="750" dirty="0">
                        <a:effectLst/>
                        <a:latin typeface="+mj-ea"/>
                        <a:ea typeface="+mj-ea"/>
                        <a:cs typeface="Courier New" panose="02070309020205020404" pitchFamily="49" charset="0"/>
                      </a:endParaRPr>
                    </a:p>
                  </a:txBody>
                  <a:tcPr marL="36195" marR="36195" marT="0" marB="0" anchor="b"/>
                </a:tc>
                <a:tc>
                  <a:txBody>
                    <a:bodyPr/>
                    <a:lstStyle/>
                    <a:p>
                      <a:pPr algn="ctr">
                        <a:spcAft>
                          <a:spcPts val="0"/>
                        </a:spcAft>
                      </a:pPr>
                      <a:r>
                        <a:rPr lang="en-US" sz="2000" kern="500" dirty="0">
                          <a:effectLst/>
                          <a:latin typeface="+mj-ea"/>
                          <a:ea typeface="+mj-ea"/>
                        </a:rPr>
                        <a:t>8</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16/1</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14/6/6/1/0/0</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27.94×27.94</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a:effectLst/>
                          <a:latin typeface="+mj-ea"/>
                          <a:ea typeface="+mj-ea"/>
                        </a:rPr>
                        <a:t>0.1μA/250μA</a:t>
                      </a:r>
                      <a:endParaRPr lang="zh-CN" sz="2000" kern="75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1621185279"/>
                  </a:ext>
                </a:extLst>
              </a:tr>
              <a:tr h="1003566">
                <a:tc>
                  <a:txBody>
                    <a:bodyPr/>
                    <a:lstStyle/>
                    <a:p>
                      <a:pPr algn="ctr">
                        <a:spcBef>
                          <a:spcPts val="240"/>
                        </a:spcBef>
                        <a:spcAft>
                          <a:spcPts val="0"/>
                        </a:spcAft>
                      </a:pPr>
                      <a:endParaRPr lang="en-US" sz="1800" kern="500" dirty="0">
                        <a:effectLst/>
                        <a:latin typeface="+mj-ea"/>
                        <a:ea typeface="+mj-ea"/>
                      </a:endParaRPr>
                    </a:p>
                    <a:p>
                      <a:pPr algn="ctr">
                        <a:spcAft>
                          <a:spcPts val="0"/>
                        </a:spcAft>
                      </a:pPr>
                      <a:r>
                        <a:rPr lang="en-US" sz="1800" kern="500" dirty="0">
                          <a:effectLst/>
                          <a:latin typeface="+mj-ea"/>
                          <a:ea typeface="+mj-ea"/>
                        </a:rPr>
                        <a:t>Arduino GEMMA/ ATtiny85</a:t>
                      </a:r>
                      <a:endParaRPr lang="zh-CN" sz="1800" kern="750" dirty="0">
                        <a:effectLst/>
                        <a:latin typeface="+mj-ea"/>
                        <a:ea typeface="+mj-ea"/>
                        <a:cs typeface="Courier New" panose="02070309020205020404" pitchFamily="49" charset="0"/>
                      </a:endParaRPr>
                    </a:p>
                  </a:txBody>
                  <a:tcPr marL="36195" marR="36195" marT="0" marB="0" anchor="b"/>
                </a:tc>
                <a:tc>
                  <a:txBody>
                    <a:bodyPr/>
                    <a:lstStyle/>
                    <a:p>
                      <a:pPr algn="ctr">
                        <a:spcAft>
                          <a:spcPts val="0"/>
                        </a:spcAft>
                      </a:pPr>
                      <a:r>
                        <a:rPr lang="en-US" sz="2000" kern="500">
                          <a:effectLst/>
                          <a:latin typeface="+mj-ea"/>
                          <a:ea typeface="+mj-ea"/>
                        </a:rPr>
                        <a:t>8</a:t>
                      </a:r>
                      <a:endParaRPr lang="zh-CN" sz="2000" kern="75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8/0.5</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3/1/2/1/0/0</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27.94×27.94</a:t>
                      </a:r>
                      <a:endParaRPr lang="zh-CN" sz="2000" kern="750" dirty="0">
                        <a:effectLst/>
                        <a:latin typeface="+mj-ea"/>
                        <a:ea typeface="+mj-ea"/>
                        <a:cs typeface="Courier New" panose="02070309020205020404" pitchFamily="49" charset="0"/>
                      </a:endParaRPr>
                    </a:p>
                  </a:txBody>
                  <a:tcPr marL="36195" marR="36195" marT="0" marB="0" anchor="ctr"/>
                </a:tc>
                <a:tc>
                  <a:txBody>
                    <a:bodyPr/>
                    <a:lstStyle/>
                    <a:p>
                      <a:pPr algn="ctr">
                        <a:spcAft>
                          <a:spcPts val="0"/>
                        </a:spcAft>
                      </a:pPr>
                      <a:r>
                        <a:rPr lang="en-US" sz="2000" kern="500" dirty="0">
                          <a:effectLst/>
                          <a:latin typeface="+mj-ea"/>
                          <a:ea typeface="+mj-ea"/>
                        </a:rPr>
                        <a:t>0.1μA/300μA</a:t>
                      </a:r>
                      <a:endParaRPr lang="zh-CN" sz="2000" kern="750" dirty="0">
                        <a:effectLst/>
                        <a:latin typeface="+mj-ea"/>
                        <a:ea typeface="+mj-ea"/>
                        <a:cs typeface="Courier New" panose="02070309020205020404" pitchFamily="49" charset="0"/>
                      </a:endParaRPr>
                    </a:p>
                  </a:txBody>
                  <a:tcPr marL="36195" marR="36195" marT="0" marB="0" anchor="ctr"/>
                </a:tc>
                <a:extLst>
                  <a:ext uri="{0D108BD9-81ED-4DB2-BD59-A6C34878D82A}">
                    <a16:rowId xmlns:a16="http://schemas.microsoft.com/office/drawing/2014/main" val="599714170"/>
                  </a:ext>
                </a:extLst>
              </a:tr>
            </a:tbl>
          </a:graphicData>
        </a:graphic>
      </p:graphicFrame>
      <p:pic>
        <p:nvPicPr>
          <p:cNvPr id="53254" name="图片 658" descr="未标题-1">
            <a:extLst>
              <a:ext uri="{FF2B5EF4-FFF2-40B4-BE49-F238E27FC236}">
                <a16:creationId xmlns:a16="http://schemas.microsoft.com/office/drawing/2014/main" id="{60A2F75E-95BC-449D-AD5D-FBB9951C4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2289" y="2265903"/>
            <a:ext cx="1103732" cy="393409"/>
          </a:xfrm>
          <a:prstGeom prst="rect">
            <a:avLst/>
          </a:prstGeom>
          <a:noFill/>
          <a:extLst>
            <a:ext uri="{909E8E84-426E-40DD-AFC4-6F175D3DCCD1}">
              <a14:hiddenFill xmlns:a14="http://schemas.microsoft.com/office/drawing/2010/main">
                <a:solidFill>
                  <a:srgbClr val="FFFFFF"/>
                </a:solidFill>
              </a14:hiddenFill>
            </a:ext>
          </a:extLst>
        </p:spPr>
      </p:pic>
      <p:pic>
        <p:nvPicPr>
          <p:cNvPr id="53253" name="图片 659" descr="未标题-1">
            <a:extLst>
              <a:ext uri="{FF2B5EF4-FFF2-40B4-BE49-F238E27FC236}">
                <a16:creationId xmlns:a16="http://schemas.microsoft.com/office/drawing/2014/main" id="{C051A7F7-E8DC-47E7-A716-5E994139DF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519" y="3016726"/>
            <a:ext cx="1007271" cy="398919"/>
          </a:xfrm>
          <a:prstGeom prst="rect">
            <a:avLst/>
          </a:prstGeom>
          <a:noFill/>
          <a:extLst>
            <a:ext uri="{909E8E84-426E-40DD-AFC4-6F175D3DCCD1}">
              <a14:hiddenFill xmlns:a14="http://schemas.microsoft.com/office/drawing/2010/main">
                <a:solidFill>
                  <a:srgbClr val="FFFFFF"/>
                </a:solidFill>
              </a14:hiddenFill>
            </a:ext>
          </a:extLst>
        </p:spPr>
      </p:pic>
      <p:pic>
        <p:nvPicPr>
          <p:cNvPr id="53257" name="图片 660" descr="未标题-1">
            <a:extLst>
              <a:ext uri="{FF2B5EF4-FFF2-40B4-BE49-F238E27FC236}">
                <a16:creationId xmlns:a16="http://schemas.microsoft.com/office/drawing/2014/main" id="{AA588C12-ADC1-4206-981F-78F2F1B894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9816" y="3726078"/>
            <a:ext cx="828675" cy="638175"/>
          </a:xfrm>
          <a:prstGeom prst="rect">
            <a:avLst/>
          </a:prstGeom>
          <a:noFill/>
          <a:extLst>
            <a:ext uri="{909E8E84-426E-40DD-AFC4-6F175D3DCCD1}">
              <a14:hiddenFill xmlns:a14="http://schemas.microsoft.com/office/drawing/2010/main">
                <a:solidFill>
                  <a:srgbClr val="FFFFFF"/>
                </a:solidFill>
              </a14:hiddenFill>
            </a:ext>
          </a:extLst>
        </p:spPr>
      </p:pic>
      <p:pic>
        <p:nvPicPr>
          <p:cNvPr id="53256" name="图片 661" descr="未标题-1">
            <a:extLst>
              <a:ext uri="{FF2B5EF4-FFF2-40B4-BE49-F238E27FC236}">
                <a16:creationId xmlns:a16="http://schemas.microsoft.com/office/drawing/2014/main" id="{0DD7C94F-A401-4C2E-9B3B-8A01D48A9F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8390" y="4674686"/>
            <a:ext cx="771525" cy="666750"/>
          </a:xfrm>
          <a:prstGeom prst="rect">
            <a:avLst/>
          </a:prstGeom>
          <a:noFill/>
          <a:extLst>
            <a:ext uri="{909E8E84-426E-40DD-AFC4-6F175D3DCCD1}">
              <a14:hiddenFill xmlns:a14="http://schemas.microsoft.com/office/drawing/2010/main">
                <a:solidFill>
                  <a:srgbClr val="FFFFFF"/>
                </a:solidFill>
              </a14:hiddenFill>
            </a:ext>
          </a:extLst>
        </p:spPr>
      </p:pic>
      <p:pic>
        <p:nvPicPr>
          <p:cNvPr id="53255" name="图片 662" descr="未标题-1">
            <a:extLst>
              <a:ext uri="{FF2B5EF4-FFF2-40B4-BE49-F238E27FC236}">
                <a16:creationId xmlns:a16="http://schemas.microsoft.com/office/drawing/2014/main" id="{0BB2AA93-0968-4C14-8DCF-8DF18BD925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5986" y="5574497"/>
            <a:ext cx="809625" cy="695325"/>
          </a:xfrm>
          <a:prstGeom prst="rect">
            <a:avLst/>
          </a:prstGeom>
          <a:noFill/>
          <a:extLst>
            <a:ext uri="{909E8E84-426E-40DD-AFC4-6F175D3DCCD1}">
              <a14:hiddenFill xmlns:a14="http://schemas.microsoft.com/office/drawing/2010/main">
                <a:solidFill>
                  <a:srgbClr val="FFFFFF"/>
                </a:solidFill>
              </a14:hiddenFill>
            </a:ext>
          </a:extLst>
        </p:spPr>
      </p:pic>
      <p:pic>
        <p:nvPicPr>
          <p:cNvPr id="53250" name="图片 658" descr="未标题-1">
            <a:extLst>
              <a:ext uri="{FF2B5EF4-FFF2-40B4-BE49-F238E27FC236}">
                <a16:creationId xmlns:a16="http://schemas.microsoft.com/office/drawing/2014/main" id="{05A9235C-3CD2-47DF-8C02-4B888B827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62025" cy="342900"/>
          </a:xfrm>
          <a:prstGeom prst="rect">
            <a:avLst/>
          </a:prstGeom>
          <a:noFill/>
          <a:extLst>
            <a:ext uri="{909E8E84-426E-40DD-AFC4-6F175D3DCCD1}">
              <a14:hiddenFill xmlns:a14="http://schemas.microsoft.com/office/drawing/2010/main">
                <a:solidFill>
                  <a:srgbClr val="FFFFFF"/>
                </a:solidFill>
              </a14:hiddenFill>
            </a:ext>
          </a:extLst>
        </p:spPr>
      </p:pic>
      <p:pic>
        <p:nvPicPr>
          <p:cNvPr id="53249" name="图片 659" descr="未标题-1">
            <a:extLst>
              <a:ext uri="{FF2B5EF4-FFF2-40B4-BE49-F238E27FC236}">
                <a16:creationId xmlns:a16="http://schemas.microsoft.com/office/drawing/2014/main" id="{578C4B53-316D-45B1-9DA3-3D439F8122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62025" cy="381000"/>
          </a:xfrm>
          <a:prstGeom prst="rect">
            <a:avLst/>
          </a:prstGeom>
          <a:noFill/>
          <a:extLst>
            <a:ext uri="{909E8E84-426E-40DD-AFC4-6F175D3DCCD1}">
              <a14:hiddenFill xmlns:a14="http://schemas.microsoft.com/office/drawing/2010/main">
                <a:solidFill>
                  <a:srgbClr val="FFFFFF"/>
                </a:solidFill>
              </a14:hiddenFill>
            </a:ext>
          </a:extLst>
        </p:spPr>
      </p:pic>
      <p:pic>
        <p:nvPicPr>
          <p:cNvPr id="53252" name="Picture 4" descr="未标题-1">
            <a:extLst>
              <a:ext uri="{FF2B5EF4-FFF2-40B4-BE49-F238E27FC236}">
                <a16:creationId xmlns:a16="http://schemas.microsoft.com/office/drawing/2014/main" id="{B5AD7336-B476-40D4-BBF5-680D4C76E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62025" cy="342900"/>
          </a:xfrm>
          <a:prstGeom prst="rect">
            <a:avLst/>
          </a:prstGeom>
          <a:noFill/>
          <a:extLst>
            <a:ext uri="{909E8E84-426E-40DD-AFC4-6F175D3DCCD1}">
              <a14:hiddenFill xmlns:a14="http://schemas.microsoft.com/office/drawing/2010/main">
                <a:solidFill>
                  <a:srgbClr val="FFFFFF"/>
                </a:solidFill>
              </a14:hiddenFill>
            </a:ext>
          </a:extLst>
        </p:spPr>
      </p:pic>
      <p:pic>
        <p:nvPicPr>
          <p:cNvPr id="53251" name="Picture 3" descr="未标题-1">
            <a:extLst>
              <a:ext uri="{FF2B5EF4-FFF2-40B4-BE49-F238E27FC236}">
                <a16:creationId xmlns:a16="http://schemas.microsoft.com/office/drawing/2014/main" id="{9426E590-61A6-4AB4-8281-932279227F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62025" cy="38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系列硬件平台</a:t>
            </a:r>
            <a:endParaRPr lang="zh-CN" altLang="en-US" dirty="0"/>
          </a:p>
        </p:txBody>
      </p:sp>
      <p:sp>
        <p:nvSpPr>
          <p:cNvPr id="3" name="内容占位符 2"/>
          <p:cNvSpPr>
            <a:spLocks noGrp="1"/>
          </p:cNvSpPr>
          <p:nvPr>
            <p:ph idx="1"/>
          </p:nvPr>
        </p:nvSpPr>
        <p:spPr/>
        <p:txBody>
          <a:bodyPr/>
          <a:lstStyle/>
          <a:p>
            <a:r>
              <a:rPr lang="zh-CN" altLang="en-US" dirty="0"/>
              <a:t>平台特点</a:t>
            </a:r>
          </a:p>
          <a:p>
            <a:pPr lvl="1"/>
            <a:r>
              <a:rPr lang="zh-CN" altLang="en-US" b="1" dirty="0"/>
              <a:t>上手容易</a:t>
            </a:r>
            <a:r>
              <a:rPr lang="zh-CN" altLang="en-US" dirty="0"/>
              <a:t>：</a:t>
            </a:r>
            <a:r>
              <a:rPr lang="en-US" altLang="zh-CN" dirty="0"/>
              <a:t>Arduino</a:t>
            </a:r>
            <a:r>
              <a:rPr lang="zh-CN" altLang="en-US" dirty="0"/>
              <a:t>设计初衷是为学生提供一款便宜又好用的开发平台，为了达到此效果，</a:t>
            </a:r>
            <a:r>
              <a:rPr lang="en-US" altLang="zh-CN" dirty="0"/>
              <a:t>Arduino</a:t>
            </a:r>
            <a:r>
              <a:rPr lang="zh-CN" altLang="en-US" dirty="0"/>
              <a:t>对底层电路做了很高的封装</a:t>
            </a:r>
          </a:p>
          <a:p>
            <a:pPr lvl="1"/>
            <a:r>
              <a:rPr lang="zh-CN" altLang="en-US" b="1" dirty="0"/>
              <a:t>开发简单</a:t>
            </a:r>
            <a:r>
              <a:rPr lang="zh-CN" altLang="en-US" dirty="0"/>
              <a:t>：</a:t>
            </a:r>
            <a:r>
              <a:rPr lang="en-US" altLang="zh-CN" dirty="0"/>
              <a:t>Arduino</a:t>
            </a:r>
            <a:r>
              <a:rPr lang="zh-CN" altLang="en-US" dirty="0"/>
              <a:t>为旗下多块不同型号的开发板提供了统一的编程接口，相同应用可以在不同开发板间快速移植，达到快速开发的效果</a:t>
            </a:r>
          </a:p>
          <a:p>
            <a:pPr lvl="1"/>
            <a:r>
              <a:rPr lang="zh-CN" altLang="en-US" b="1" dirty="0"/>
              <a:t>可扩展性强</a:t>
            </a:r>
            <a:r>
              <a:rPr lang="zh-CN" altLang="en-US" dirty="0"/>
              <a:t>：</a:t>
            </a:r>
            <a:r>
              <a:rPr lang="en-US" altLang="zh-CN" dirty="0"/>
              <a:t>Arduino</a:t>
            </a:r>
            <a:r>
              <a:rPr lang="zh-CN" altLang="en-US" dirty="0"/>
              <a:t>盾板的出现使其功能和接口都可以得到扩展</a:t>
            </a:r>
          </a:p>
          <a:p>
            <a:pPr lvl="1"/>
            <a:r>
              <a:rPr lang="zh-CN" altLang="en-US" b="1" dirty="0"/>
              <a:t>低功耗</a:t>
            </a:r>
            <a:r>
              <a:rPr lang="zh-CN" altLang="en-US" dirty="0"/>
              <a:t>：其主频和其他性能远小于一些高性能平台如树莓派和</a:t>
            </a:r>
            <a:r>
              <a:rPr lang="en-US" altLang="zh-CN" dirty="0" err="1"/>
              <a:t>BeagleBone</a:t>
            </a:r>
            <a:endParaRPr lang="en-US" altLang="zh-CN" dirty="0"/>
          </a:p>
          <a:p>
            <a:pPr lvl="1"/>
            <a:r>
              <a:rPr lang="zh-CN" altLang="en-US" b="1" dirty="0"/>
              <a:t>开源创新</a:t>
            </a:r>
            <a:r>
              <a:rPr lang="zh-CN" altLang="en-US" dirty="0"/>
              <a:t>：</a:t>
            </a:r>
          </a:p>
          <a:p>
            <a:pPr lvl="2"/>
            <a:r>
              <a:rPr lang="en-US" altLang="zh-CN" dirty="0"/>
              <a:t>Arduino</a:t>
            </a:r>
            <a:r>
              <a:rPr lang="zh-CN" altLang="en-US" dirty="0"/>
              <a:t>以软硬件技术全部开源并使用</a:t>
            </a:r>
            <a:r>
              <a:rPr lang="en-US" altLang="zh-CN" dirty="0"/>
              <a:t>CC</a:t>
            </a:r>
            <a:r>
              <a:rPr lang="zh-CN" altLang="en-US" dirty="0"/>
              <a:t>（</a:t>
            </a:r>
            <a:r>
              <a:rPr lang="en-US" altLang="zh-CN" dirty="0"/>
              <a:t>Create Commons</a:t>
            </a:r>
            <a:r>
              <a:rPr lang="zh-CN" altLang="en-US" dirty="0"/>
              <a:t>）授权的方式让</a:t>
            </a:r>
            <a:r>
              <a:rPr lang="en-US" altLang="zh-CN" dirty="0"/>
              <a:t>Arduino</a:t>
            </a:r>
            <a:r>
              <a:rPr lang="zh-CN" altLang="en-US" dirty="0"/>
              <a:t>的灵魂出现在各类厂商的</a:t>
            </a:r>
            <a:r>
              <a:rPr lang="en-US" altLang="zh-CN" dirty="0"/>
              <a:t>Arduino</a:t>
            </a:r>
            <a:r>
              <a:rPr lang="zh-CN" altLang="en-US" dirty="0"/>
              <a:t>开发板中</a:t>
            </a:r>
          </a:p>
          <a:p>
            <a:pPr lvl="2"/>
            <a:r>
              <a:rPr lang="zh-CN" altLang="en-US" dirty="0"/>
              <a:t>个人都可以使用面包板加</a:t>
            </a:r>
            <a:r>
              <a:rPr lang="en-US" altLang="zh-CN" dirty="0"/>
              <a:t>AVR</a:t>
            </a:r>
            <a:r>
              <a:rPr lang="zh-CN" altLang="en-US" dirty="0"/>
              <a:t>处理器构建简单</a:t>
            </a:r>
            <a:r>
              <a:rPr lang="en-US" altLang="zh-CN" dirty="0"/>
              <a:t>Arduino</a:t>
            </a:r>
            <a:r>
              <a:rPr lang="zh-CN" altLang="en-US" dirty="0"/>
              <a:t>开发板</a:t>
            </a:r>
          </a:p>
          <a:p>
            <a:endParaRPr lang="en-US" altLang="zh-CN" dirty="0"/>
          </a:p>
        </p:txBody>
      </p:sp>
      <p:sp>
        <p:nvSpPr>
          <p:cNvPr id="8" name="灯片编号占位符 4">
            <a:extLst>
              <a:ext uri="{FF2B5EF4-FFF2-40B4-BE49-F238E27FC236}">
                <a16:creationId xmlns:a16="http://schemas.microsoft.com/office/drawing/2014/main" id="{AE0A679A-1624-4BA4-8FBC-ECF48114B9AA}"/>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树莓派系列硬件平台</a:t>
            </a:r>
          </a:p>
        </p:txBody>
      </p:sp>
      <p:sp>
        <p:nvSpPr>
          <p:cNvPr id="3" name="内容占位符 2"/>
          <p:cNvSpPr>
            <a:spLocks noGrp="1"/>
          </p:cNvSpPr>
          <p:nvPr>
            <p:ph idx="1"/>
          </p:nvPr>
        </p:nvSpPr>
        <p:spPr/>
        <p:txBody>
          <a:bodyPr/>
          <a:lstStyle/>
          <a:p>
            <a:r>
              <a:rPr lang="zh-CN" altLang="en-US"/>
              <a:t>树莓派是一款微型计算机，性能几乎和一台计算机相同</a:t>
            </a:r>
          </a:p>
          <a:p>
            <a:pPr lvl="1"/>
            <a:r>
              <a:rPr lang="en-US" altLang="zh-CN"/>
              <a:t>2006</a:t>
            </a:r>
            <a:r>
              <a:rPr lang="zh-CN" altLang="en-US"/>
              <a:t>年的原型树莓派，采用</a:t>
            </a:r>
            <a:r>
              <a:rPr lang="en-US" altLang="zh-CN"/>
              <a:t>22.1MHz</a:t>
            </a:r>
            <a:r>
              <a:rPr lang="zh-CN" altLang="en-US"/>
              <a:t>的</a:t>
            </a:r>
            <a:r>
              <a:rPr lang="en-US" altLang="zh-CN"/>
              <a:t>ATmega 664</a:t>
            </a:r>
            <a:r>
              <a:rPr lang="zh-CN" altLang="en-US"/>
              <a:t>作为微控制器，整个板子成本只需</a:t>
            </a:r>
            <a:r>
              <a:rPr lang="en-US" altLang="zh-CN"/>
              <a:t>25</a:t>
            </a:r>
            <a:r>
              <a:rPr lang="zh-CN" altLang="en-US"/>
              <a:t>美元</a:t>
            </a:r>
          </a:p>
          <a:p>
            <a:pPr lvl="1"/>
            <a:r>
              <a:rPr lang="en-US" altLang="zh-CN"/>
              <a:t>2011</a:t>
            </a:r>
            <a:r>
              <a:rPr lang="zh-CN" altLang="en-US"/>
              <a:t>年，树莓派新集成的功能包括</a:t>
            </a:r>
            <a:r>
              <a:rPr lang="en-US" altLang="zh-CN"/>
              <a:t>HDMI</a:t>
            </a:r>
            <a:r>
              <a:rPr lang="zh-CN" altLang="en-US"/>
              <a:t>、</a:t>
            </a:r>
            <a:r>
              <a:rPr lang="en-US" altLang="zh-CN"/>
              <a:t>USB</a:t>
            </a:r>
            <a:r>
              <a:rPr lang="zh-CN" altLang="en-US"/>
              <a:t>、以太网</a:t>
            </a:r>
          </a:p>
          <a:p>
            <a:pPr lvl="1"/>
            <a:r>
              <a:rPr lang="en-US" altLang="zh-CN"/>
              <a:t>2012</a:t>
            </a:r>
            <a:r>
              <a:rPr lang="zh-CN" altLang="en-US"/>
              <a:t>年，树莓派二代发布，处理器换成了</a:t>
            </a:r>
            <a:r>
              <a:rPr lang="en-US" altLang="zh-CN"/>
              <a:t>BCM 2836</a:t>
            </a:r>
          </a:p>
          <a:p>
            <a:pPr lvl="1"/>
            <a:r>
              <a:rPr lang="zh-CN" altLang="en-US"/>
              <a:t>树莓派三代发布于</a:t>
            </a:r>
            <a:r>
              <a:rPr lang="en-US" altLang="zh-CN"/>
              <a:t>2016</a:t>
            </a:r>
            <a:r>
              <a:rPr lang="zh-CN" altLang="en-US"/>
              <a:t>年，集成了</a:t>
            </a:r>
            <a:r>
              <a:rPr lang="en-US" altLang="zh-CN"/>
              <a:t>WiFi</a:t>
            </a:r>
            <a:r>
              <a:rPr lang="zh-CN" altLang="en-US"/>
              <a:t>和</a:t>
            </a:r>
            <a:r>
              <a:rPr lang="en-US" altLang="zh-CN"/>
              <a:t>BLE</a:t>
            </a:r>
            <a:r>
              <a:rPr lang="zh-CN" altLang="en-US"/>
              <a:t>功能，处理器更新为</a:t>
            </a:r>
            <a:r>
              <a:rPr lang="en-US" altLang="zh-CN"/>
              <a:t>BCM 2837</a:t>
            </a:r>
            <a:endParaRPr lang="zh-CN" altLang="en-US"/>
          </a:p>
          <a:p>
            <a:pPr lvl="1"/>
            <a:r>
              <a:rPr lang="zh-CN" altLang="en-US"/>
              <a:t>树莓派四代发布于</a:t>
            </a:r>
            <a:r>
              <a:rPr lang="en-US" altLang="zh-CN"/>
              <a:t>2019</a:t>
            </a:r>
            <a:r>
              <a:rPr lang="zh-CN" altLang="en-US"/>
              <a:t>年，支持</a:t>
            </a:r>
            <a:r>
              <a:rPr lang="en-US" altLang="zh-CN"/>
              <a:t>BLE5.0</a:t>
            </a:r>
            <a:r>
              <a:rPr lang="zh-CN" altLang="en-US"/>
              <a:t>，处理器更改为</a:t>
            </a:r>
            <a:r>
              <a:rPr lang="en-US" altLang="zh-CN"/>
              <a:t>BCM2711</a:t>
            </a:r>
            <a:endParaRPr lang="zh-CN" altLang="en-US" dirty="0"/>
          </a:p>
        </p:txBody>
      </p:sp>
      <p:pic>
        <p:nvPicPr>
          <p:cNvPr id="4" name="图片 3">
            <a:extLst>
              <a:ext uri="{FF2B5EF4-FFF2-40B4-BE49-F238E27FC236}">
                <a16:creationId xmlns:a16="http://schemas.microsoft.com/office/drawing/2014/main" id="{A02B8760-7BAC-42D3-8E02-4CA65A017575}"/>
              </a:ext>
            </a:extLst>
          </p:cNvPr>
          <p:cNvPicPr>
            <a:picLocks noChangeAspect="1"/>
          </p:cNvPicPr>
          <p:nvPr/>
        </p:nvPicPr>
        <p:blipFill>
          <a:blip r:embed="rId4"/>
          <a:stretch>
            <a:fillRect/>
          </a:stretch>
        </p:blipFill>
        <p:spPr>
          <a:xfrm>
            <a:off x="1006465" y="4797510"/>
            <a:ext cx="7016770" cy="1847130"/>
          </a:xfrm>
          <a:prstGeom prst="rect">
            <a:avLst/>
          </a:prstGeom>
        </p:spPr>
      </p:pic>
      <p:sp>
        <p:nvSpPr>
          <p:cNvPr id="7" name="灯片编号占位符 4">
            <a:extLst>
              <a:ext uri="{FF2B5EF4-FFF2-40B4-BE49-F238E27FC236}">
                <a16:creationId xmlns:a16="http://schemas.microsoft.com/office/drawing/2014/main" id="{0A3C868E-8C03-4D37-8F6F-3814673EB88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54</a:t>
            </a:fld>
            <a:endParaRPr lang="zh-CN" altLang="zh-CN" sz="1800" baseline="0" dirty="0">
              <a:solidFill>
                <a:schemeClr val="folHlink"/>
              </a:solidFill>
              <a:latin typeface="Monotype Corsiva" panose="03010101010201010101" pitchFamily="66" charset="0"/>
            </a:endParaRPr>
          </a:p>
        </p:txBody>
      </p:sp>
    </p:spTree>
    <p:custDataLst>
      <p:tags r:id="rId1"/>
    </p:custData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树莓派系列硬件平台</a:t>
            </a:r>
            <a:endParaRPr lang="zh-CN" altLang="en-US" dirty="0"/>
          </a:p>
        </p:txBody>
      </p:sp>
      <p:sp>
        <p:nvSpPr>
          <p:cNvPr id="3" name="内容占位符 2"/>
          <p:cNvSpPr>
            <a:spLocks noGrp="1"/>
          </p:cNvSpPr>
          <p:nvPr>
            <p:ph idx="1"/>
          </p:nvPr>
        </p:nvSpPr>
        <p:spPr/>
        <p:txBody>
          <a:bodyPr/>
          <a:lstStyle/>
          <a:p>
            <a:r>
              <a:rPr lang="zh-CN" altLang="en-US" dirty="0"/>
              <a:t>开发板</a:t>
            </a:r>
            <a:endParaRPr lang="en-US" altLang="zh-CN" dirty="0"/>
          </a:p>
          <a:p>
            <a:pPr lvl="1"/>
            <a:r>
              <a:rPr lang="zh-CN" altLang="en-US" dirty="0"/>
              <a:t>组成：微控制器、扩展接口、</a:t>
            </a:r>
            <a:r>
              <a:rPr lang="en-US" altLang="zh-CN" dirty="0"/>
              <a:t>USB</a:t>
            </a:r>
            <a:r>
              <a:rPr lang="zh-CN" altLang="en-US" dirty="0"/>
              <a:t>电源、</a:t>
            </a:r>
            <a:r>
              <a:rPr lang="en-US" altLang="zh-CN" dirty="0"/>
              <a:t>SD</a:t>
            </a:r>
            <a:r>
              <a:rPr lang="zh-CN" altLang="en-US" dirty="0"/>
              <a:t>卡、</a:t>
            </a:r>
            <a:r>
              <a:rPr lang="en-US" altLang="zh-CN" dirty="0"/>
              <a:t>HDMI</a:t>
            </a:r>
            <a:r>
              <a:rPr lang="zh-CN" altLang="en-US" dirty="0"/>
              <a:t>、音频接口、以太网口、</a:t>
            </a:r>
            <a:r>
              <a:rPr lang="en-US" altLang="zh-CN" dirty="0"/>
              <a:t>USB</a:t>
            </a:r>
            <a:r>
              <a:rPr lang="zh-CN" altLang="en-US" dirty="0"/>
              <a:t>接口</a:t>
            </a:r>
            <a:endParaRPr lang="en-US" altLang="zh-CN" dirty="0"/>
          </a:p>
          <a:p>
            <a:pPr lvl="1"/>
            <a:r>
              <a:rPr lang="zh-CN" altLang="en-US" dirty="0"/>
              <a:t>树莓派不愧为一台微型计算机，只要接上电源、插上外设鼠标、键盘和显示器就可以随时随地开机办公。</a:t>
            </a:r>
          </a:p>
          <a:p>
            <a:endParaRPr lang="zh-CN" altLang="en-US" dirty="0"/>
          </a:p>
        </p:txBody>
      </p:sp>
      <p:pic>
        <p:nvPicPr>
          <p:cNvPr id="2878" name="图片 2878"/>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a:xfrm>
            <a:off x="2292985" y="3361690"/>
            <a:ext cx="4443095" cy="2903855"/>
          </a:xfrm>
          <a:prstGeom prst="rect">
            <a:avLst/>
          </a:prstGeom>
          <a:noFill/>
          <a:ln>
            <a:noFill/>
          </a:ln>
        </p:spPr>
      </p:pic>
      <p:sp>
        <p:nvSpPr>
          <p:cNvPr id="7" name="灯片编号占位符 4">
            <a:extLst>
              <a:ext uri="{FF2B5EF4-FFF2-40B4-BE49-F238E27FC236}">
                <a16:creationId xmlns:a16="http://schemas.microsoft.com/office/drawing/2014/main" id="{3C2A4F50-8C6D-47DF-8C99-03D8929DBBC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55</a:t>
            </a:fld>
            <a:endParaRPr lang="zh-CN" altLang="zh-CN" sz="1800" baseline="0" dirty="0">
              <a:solidFill>
                <a:schemeClr val="folHlink"/>
              </a:solidFill>
              <a:latin typeface="Monotype Corsiva" panose="03010101010201010101" pitchFamily="66" charset="0"/>
            </a:endParaRPr>
          </a:p>
        </p:txBody>
      </p:sp>
    </p:spTree>
    <p:custDataLst>
      <p:tags r:id="rId1"/>
    </p:custData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树莓派系列硬件平台</a:t>
            </a:r>
          </a:p>
        </p:txBody>
      </p:sp>
      <p:sp>
        <p:nvSpPr>
          <p:cNvPr id="3" name="内容占位符 2"/>
          <p:cNvSpPr>
            <a:spLocks noGrp="1"/>
          </p:cNvSpPr>
          <p:nvPr>
            <p:ph idx="1"/>
          </p:nvPr>
        </p:nvSpPr>
        <p:spPr/>
        <p:txBody>
          <a:bodyPr/>
          <a:lstStyle/>
          <a:p>
            <a:r>
              <a:rPr lang="zh-CN" altLang="en-US" dirty="0"/>
              <a:t>微控制器</a:t>
            </a:r>
            <a:endParaRPr lang="en-US" altLang="zh-CN" dirty="0"/>
          </a:p>
          <a:p>
            <a:pPr lvl="1"/>
            <a:r>
              <a:rPr lang="zh-CN" altLang="en-US" dirty="0"/>
              <a:t>从最初只有</a:t>
            </a:r>
            <a:r>
              <a:rPr lang="en-US" altLang="zh-CN" dirty="0"/>
              <a:t>22MHz</a:t>
            </a:r>
            <a:r>
              <a:rPr lang="zh-CN" altLang="en-US" dirty="0"/>
              <a:t>的</a:t>
            </a:r>
            <a:r>
              <a:rPr lang="en-US" altLang="zh-CN" dirty="0" err="1"/>
              <a:t>Atmega</a:t>
            </a:r>
            <a:r>
              <a:rPr lang="en-US" altLang="zh-CN" dirty="0"/>
              <a:t> </a:t>
            </a:r>
            <a:r>
              <a:rPr lang="en-US" altLang="zh-CN" dirty="0" err="1"/>
              <a:t>ATmega</a:t>
            </a:r>
            <a:r>
              <a:rPr lang="en-US" altLang="zh-CN" dirty="0"/>
              <a:t> 664</a:t>
            </a:r>
            <a:r>
              <a:rPr lang="zh-CN" altLang="en-US" dirty="0"/>
              <a:t>到如今</a:t>
            </a:r>
            <a:r>
              <a:rPr lang="en-US" altLang="zh-CN" dirty="0"/>
              <a:t>1GHz</a:t>
            </a:r>
            <a:r>
              <a:rPr lang="zh-CN" altLang="en-US" dirty="0"/>
              <a:t>的</a:t>
            </a:r>
            <a:r>
              <a:rPr lang="en-US" altLang="zh-CN" dirty="0"/>
              <a:t>BCM 2837</a:t>
            </a:r>
            <a:r>
              <a:rPr lang="zh-CN" altLang="en-US" dirty="0"/>
              <a:t>，树莓派始终定位在高性能硬件平台</a:t>
            </a:r>
            <a:endParaRPr lang="en-US" altLang="zh-CN" dirty="0"/>
          </a:p>
          <a:p>
            <a:pPr lvl="1"/>
            <a:r>
              <a:rPr lang="zh-CN" altLang="en-US" dirty="0"/>
              <a:t>下表展示了部分树莓派开发板处理器时钟频率、内存大小的变化</a:t>
            </a:r>
          </a:p>
          <a:p>
            <a:endParaRPr lang="zh-CN" altLang="en-US" dirty="0"/>
          </a:p>
        </p:txBody>
      </p:sp>
      <p:graphicFrame>
        <p:nvGraphicFramePr>
          <p:cNvPr id="4" name="表格 3"/>
          <p:cNvGraphicFramePr/>
          <p:nvPr>
            <p:extLst>
              <p:ext uri="{D42A27DB-BD31-4B8C-83A1-F6EECF244321}">
                <p14:modId xmlns:p14="http://schemas.microsoft.com/office/powerpoint/2010/main" val="3023095977"/>
              </p:ext>
            </p:extLst>
          </p:nvPr>
        </p:nvGraphicFramePr>
        <p:xfrm>
          <a:off x="768985" y="3126105"/>
          <a:ext cx="7682230" cy="3306445"/>
        </p:xfrm>
        <a:graphic>
          <a:graphicData uri="http://schemas.openxmlformats.org/drawingml/2006/table">
            <a:tbl>
              <a:tblPr firstRow="1" bandRow="1">
                <a:tableStyleId>{5940675A-B579-460E-94D1-54222C63F5DA}</a:tableStyleId>
              </a:tblPr>
              <a:tblGrid>
                <a:gridCol w="2364740">
                  <a:extLst>
                    <a:ext uri="{9D8B030D-6E8A-4147-A177-3AD203B41FA5}">
                      <a16:colId xmlns:a16="http://schemas.microsoft.com/office/drawing/2014/main" val="20000"/>
                    </a:ext>
                  </a:extLst>
                </a:gridCol>
                <a:gridCol w="257429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14985">
                <a:tc>
                  <a:txBody>
                    <a:bodyPr/>
                    <a:lstStyle/>
                    <a:p>
                      <a:pPr marL="0" algn="ctr" defTabSz="914400" rtl="0" eaLnBrk="1" latinLnBrk="0" hangingPunct="1">
                        <a:lnSpc>
                          <a:spcPct val="125000"/>
                        </a:lnSpc>
                        <a:spcAft>
                          <a:spcPts val="0"/>
                        </a:spcAft>
                        <a:buClrTx/>
                        <a:buSzTx/>
                        <a:buFontTx/>
                        <a:buNone/>
                      </a:pPr>
                      <a:r>
                        <a:rPr lang="en-US" sz="2400" kern="100" dirty="0">
                          <a:effectLst/>
                          <a:latin typeface="+mj-ea"/>
                          <a:ea typeface="+mj-ea"/>
                        </a:rPr>
                        <a:t>开发板型号</a:t>
                      </a:r>
                      <a:endParaRPr lang="en-US" sz="2400" b="1" kern="100" dirty="0">
                        <a:solidFill>
                          <a:schemeClr val="lt1"/>
                        </a:solidFill>
                        <a:effectLst/>
                        <a:latin typeface="+mj-ea"/>
                        <a:ea typeface="+mj-ea"/>
                        <a:cs typeface="+mn-cs"/>
                      </a:endParaRPr>
                    </a:p>
                  </a:txBody>
                  <a:tcPr marL="36194" marR="36194" marT="0" marB="0" anchor="ctr"/>
                </a:tc>
                <a:tc>
                  <a:txBody>
                    <a:bodyPr/>
                    <a:lstStyle/>
                    <a:p>
                      <a:pPr marL="0" algn="ctr" defTabSz="914400" rtl="0" eaLnBrk="1" latinLnBrk="0" hangingPunct="1">
                        <a:lnSpc>
                          <a:spcPct val="125000"/>
                        </a:lnSpc>
                        <a:spcAft>
                          <a:spcPts val="0"/>
                        </a:spcAft>
                        <a:buClrTx/>
                        <a:buSzTx/>
                        <a:buFontTx/>
                        <a:buNone/>
                      </a:pPr>
                      <a:r>
                        <a:rPr lang="en-US" sz="2400" kern="100" dirty="0">
                          <a:effectLst/>
                          <a:latin typeface="+mj-ea"/>
                          <a:ea typeface="+mj-ea"/>
                        </a:rPr>
                        <a:t>时钟频率/GHz</a:t>
                      </a:r>
                      <a:endParaRPr lang="en-US" sz="2400" b="1" kern="100" dirty="0">
                        <a:solidFill>
                          <a:schemeClr val="lt1"/>
                        </a:solidFill>
                        <a:effectLst/>
                        <a:latin typeface="+mj-ea"/>
                        <a:ea typeface="+mj-ea"/>
                        <a:cs typeface="+mn-cs"/>
                      </a:endParaRPr>
                    </a:p>
                  </a:txBody>
                  <a:tcPr marL="36194" marR="36194" marT="0" marB="0" anchor="ctr"/>
                </a:tc>
                <a:tc>
                  <a:txBody>
                    <a:bodyPr/>
                    <a:lstStyle/>
                    <a:p>
                      <a:pPr marL="0" algn="ctr" defTabSz="914400" rtl="0" eaLnBrk="1" latinLnBrk="0" hangingPunct="1">
                        <a:lnSpc>
                          <a:spcPct val="125000"/>
                        </a:lnSpc>
                        <a:spcAft>
                          <a:spcPts val="0"/>
                        </a:spcAft>
                        <a:buClrTx/>
                        <a:buSzTx/>
                        <a:buFontTx/>
                        <a:buNone/>
                      </a:pPr>
                      <a:r>
                        <a:rPr lang="en-US" sz="2400" kern="100" dirty="0">
                          <a:effectLst/>
                          <a:latin typeface="+mj-ea"/>
                          <a:ea typeface="+mj-ea"/>
                        </a:rPr>
                        <a:t>RAM/MB</a:t>
                      </a:r>
                      <a:endParaRPr lang="en-US" sz="2400" b="1" kern="100" dirty="0">
                        <a:solidFill>
                          <a:schemeClr val="lt1"/>
                        </a:solidFill>
                        <a:effectLst/>
                        <a:latin typeface="+mj-ea"/>
                        <a:ea typeface="+mj-ea"/>
                        <a:cs typeface="+mn-cs"/>
                      </a:endParaRPr>
                    </a:p>
                  </a:txBody>
                  <a:tcPr marL="36194" marR="36194" marT="0" marB="0" anchor="ctr"/>
                </a:tc>
                <a:extLst>
                  <a:ext uri="{0D108BD9-81ED-4DB2-BD59-A6C34878D82A}">
                    <a16:rowId xmlns:a16="http://schemas.microsoft.com/office/drawing/2014/main" val="10000"/>
                  </a:ext>
                </a:extLst>
              </a:tr>
              <a:tr h="514985">
                <a:tc>
                  <a:txBody>
                    <a:bodyPr/>
                    <a:lstStyle/>
                    <a:p>
                      <a:pPr marL="0" algn="ctr" defTabSz="914400" rtl="0" eaLnBrk="1" latinLnBrk="0" hangingPunct="1">
                        <a:lnSpc>
                          <a:spcPct val="125000"/>
                        </a:lnSpc>
                        <a:spcAft>
                          <a:spcPts val="0"/>
                        </a:spcAft>
                        <a:buClrTx/>
                        <a:buSzTx/>
                        <a:buFontTx/>
                        <a:buNone/>
                      </a:pPr>
                      <a:r>
                        <a:rPr lang="en-US" sz="2400" kern="100" dirty="0">
                          <a:effectLst/>
                          <a:latin typeface="+mj-ea"/>
                          <a:ea typeface="+mj-ea"/>
                        </a:rPr>
                        <a:t>树莓派1B</a:t>
                      </a:r>
                      <a:endParaRPr lang="en-US" sz="2400" b="1" kern="100" dirty="0">
                        <a:solidFill>
                          <a:schemeClr val="lt1"/>
                        </a:solidFill>
                        <a:effectLst/>
                        <a:latin typeface="+mj-ea"/>
                        <a:ea typeface="+mj-ea"/>
                        <a:cs typeface="+mn-cs"/>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0.7</a:t>
                      </a:r>
                      <a:endParaRPr lang="en-US" sz="2400" b="0" kern="100" dirty="0">
                        <a:solidFill>
                          <a:schemeClr val="dk1"/>
                        </a:solidFill>
                        <a:effectLst/>
                        <a:latin typeface="+mj-ea"/>
                        <a:ea typeface="+mj-ea"/>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512</a:t>
                      </a:r>
                      <a:endParaRPr lang="en-US" sz="2400" b="0" kern="100" dirty="0">
                        <a:solidFill>
                          <a:schemeClr val="dk1"/>
                        </a:solidFill>
                        <a:effectLst/>
                        <a:latin typeface="+mj-ea"/>
                        <a:ea typeface="+mj-ea"/>
                      </a:endParaRPr>
                    </a:p>
                  </a:txBody>
                  <a:tcPr marL="36194" marR="36194" marT="0" marB="0" anchor="ctr"/>
                </a:tc>
                <a:extLst>
                  <a:ext uri="{0D108BD9-81ED-4DB2-BD59-A6C34878D82A}">
                    <a16:rowId xmlns:a16="http://schemas.microsoft.com/office/drawing/2014/main" val="10001"/>
                  </a:ext>
                </a:extLst>
              </a:tr>
              <a:tr h="514985">
                <a:tc>
                  <a:txBody>
                    <a:bodyPr/>
                    <a:lstStyle/>
                    <a:p>
                      <a:pPr marL="0" algn="ctr" defTabSz="914400" rtl="0" eaLnBrk="1" latinLnBrk="0" hangingPunct="1">
                        <a:lnSpc>
                          <a:spcPct val="125000"/>
                        </a:lnSpc>
                        <a:spcAft>
                          <a:spcPts val="0"/>
                        </a:spcAft>
                        <a:buClrTx/>
                        <a:buSzTx/>
                        <a:buFontTx/>
                        <a:buNone/>
                      </a:pPr>
                      <a:r>
                        <a:rPr lang="en-US" sz="2400" kern="100" dirty="0">
                          <a:effectLst/>
                          <a:latin typeface="+mj-ea"/>
                          <a:ea typeface="+mj-ea"/>
                        </a:rPr>
                        <a:t>树莓派2B</a:t>
                      </a:r>
                      <a:endParaRPr lang="en-US" sz="2400" b="1" kern="100" dirty="0">
                        <a:solidFill>
                          <a:schemeClr val="lt1"/>
                        </a:solidFill>
                        <a:effectLst/>
                        <a:latin typeface="+mj-ea"/>
                        <a:ea typeface="+mj-ea"/>
                        <a:cs typeface="+mn-cs"/>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0.9</a:t>
                      </a:r>
                      <a:endParaRPr lang="en-US" sz="2400" b="0" kern="100" dirty="0">
                        <a:solidFill>
                          <a:schemeClr val="dk1"/>
                        </a:solidFill>
                        <a:effectLst/>
                        <a:latin typeface="+mj-ea"/>
                        <a:ea typeface="+mj-ea"/>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1024</a:t>
                      </a:r>
                      <a:endParaRPr lang="en-US" sz="2400" b="0" kern="100" dirty="0">
                        <a:solidFill>
                          <a:schemeClr val="dk1"/>
                        </a:solidFill>
                        <a:effectLst/>
                        <a:latin typeface="+mj-ea"/>
                        <a:ea typeface="+mj-ea"/>
                      </a:endParaRPr>
                    </a:p>
                  </a:txBody>
                  <a:tcPr marL="36194" marR="36194" marT="0" marB="0" anchor="ctr"/>
                </a:tc>
                <a:extLst>
                  <a:ext uri="{0D108BD9-81ED-4DB2-BD59-A6C34878D82A}">
                    <a16:rowId xmlns:a16="http://schemas.microsoft.com/office/drawing/2014/main" val="10002"/>
                  </a:ext>
                </a:extLst>
              </a:tr>
              <a:tr h="514985">
                <a:tc>
                  <a:txBody>
                    <a:bodyPr/>
                    <a:lstStyle/>
                    <a:p>
                      <a:pPr marL="0" algn="ctr" defTabSz="914400" rtl="0" eaLnBrk="1" latinLnBrk="0" hangingPunct="1">
                        <a:lnSpc>
                          <a:spcPct val="125000"/>
                        </a:lnSpc>
                        <a:spcAft>
                          <a:spcPts val="0"/>
                        </a:spcAft>
                        <a:buClrTx/>
                        <a:buSzTx/>
                        <a:buFontTx/>
                        <a:buNone/>
                      </a:pPr>
                      <a:r>
                        <a:rPr lang="en-US" sz="2400" kern="100" dirty="0">
                          <a:effectLst/>
                          <a:latin typeface="+mj-ea"/>
                          <a:ea typeface="+mj-ea"/>
                        </a:rPr>
                        <a:t>树莓派3B</a:t>
                      </a:r>
                      <a:endParaRPr lang="en-US" sz="2400" b="1" kern="100" dirty="0">
                        <a:solidFill>
                          <a:schemeClr val="lt1"/>
                        </a:solidFill>
                        <a:effectLst/>
                        <a:latin typeface="+mj-ea"/>
                        <a:ea typeface="+mj-ea"/>
                        <a:cs typeface="+mn-cs"/>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1.2</a:t>
                      </a:r>
                      <a:endParaRPr lang="en-US" sz="2400" b="0" kern="100" dirty="0">
                        <a:solidFill>
                          <a:schemeClr val="dk1"/>
                        </a:solidFill>
                        <a:effectLst/>
                        <a:latin typeface="+mj-ea"/>
                        <a:ea typeface="+mj-ea"/>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1024</a:t>
                      </a:r>
                      <a:endParaRPr lang="en-US" sz="2400" b="0" kern="100" dirty="0">
                        <a:solidFill>
                          <a:schemeClr val="dk1"/>
                        </a:solidFill>
                        <a:effectLst/>
                        <a:latin typeface="+mj-ea"/>
                        <a:ea typeface="+mj-ea"/>
                      </a:endParaRPr>
                    </a:p>
                  </a:txBody>
                  <a:tcPr marL="36194" marR="36194" marT="0" marB="0" anchor="ctr"/>
                </a:tc>
                <a:extLst>
                  <a:ext uri="{0D108BD9-81ED-4DB2-BD59-A6C34878D82A}">
                    <a16:rowId xmlns:a16="http://schemas.microsoft.com/office/drawing/2014/main" val="10003"/>
                  </a:ext>
                </a:extLst>
              </a:tr>
              <a:tr h="514985">
                <a:tc>
                  <a:txBody>
                    <a:bodyPr/>
                    <a:lstStyle/>
                    <a:p>
                      <a:pPr marL="0" algn="ctr" defTabSz="914400" rtl="0" eaLnBrk="1" latinLnBrk="0" hangingPunct="1">
                        <a:lnSpc>
                          <a:spcPct val="125000"/>
                        </a:lnSpc>
                        <a:spcAft>
                          <a:spcPts val="0"/>
                        </a:spcAft>
                        <a:buClrTx/>
                        <a:buSzTx/>
                        <a:buFontTx/>
                        <a:buNone/>
                      </a:pPr>
                      <a:r>
                        <a:rPr lang="en-US" sz="2400" kern="100" dirty="0">
                          <a:effectLst/>
                          <a:latin typeface="+mj-ea"/>
                          <a:ea typeface="+mj-ea"/>
                        </a:rPr>
                        <a:t>树莓派3B+</a:t>
                      </a:r>
                      <a:endParaRPr lang="en-US" sz="2400" b="1" kern="100" dirty="0">
                        <a:solidFill>
                          <a:schemeClr val="lt1"/>
                        </a:solidFill>
                        <a:effectLst/>
                        <a:latin typeface="+mj-ea"/>
                        <a:ea typeface="+mj-ea"/>
                        <a:cs typeface="+mn-cs"/>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1.4</a:t>
                      </a:r>
                      <a:endParaRPr lang="en-US" sz="2400" b="0" kern="100" dirty="0">
                        <a:solidFill>
                          <a:schemeClr val="dk1"/>
                        </a:solidFill>
                        <a:effectLst/>
                        <a:latin typeface="+mj-ea"/>
                        <a:ea typeface="+mj-ea"/>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1024</a:t>
                      </a:r>
                      <a:endParaRPr lang="en-US" sz="2400" b="0" kern="100" dirty="0">
                        <a:solidFill>
                          <a:schemeClr val="dk1"/>
                        </a:solidFill>
                        <a:effectLst/>
                        <a:latin typeface="+mj-ea"/>
                        <a:ea typeface="+mj-ea"/>
                      </a:endParaRPr>
                    </a:p>
                  </a:txBody>
                  <a:tcPr marL="36194" marR="36194" marT="0" marB="0" anchor="ctr"/>
                </a:tc>
                <a:extLst>
                  <a:ext uri="{0D108BD9-81ED-4DB2-BD59-A6C34878D82A}">
                    <a16:rowId xmlns:a16="http://schemas.microsoft.com/office/drawing/2014/main" val="10004"/>
                  </a:ext>
                </a:extLst>
              </a:tr>
              <a:tr h="514985">
                <a:tc>
                  <a:txBody>
                    <a:bodyPr/>
                    <a:lstStyle/>
                    <a:p>
                      <a:pPr marL="0" algn="ctr" defTabSz="914400" rtl="0" eaLnBrk="1" latinLnBrk="0" hangingPunct="1">
                        <a:lnSpc>
                          <a:spcPct val="125000"/>
                        </a:lnSpc>
                        <a:spcAft>
                          <a:spcPts val="0"/>
                        </a:spcAft>
                        <a:buClrTx/>
                        <a:buSzTx/>
                        <a:buFontTx/>
                        <a:buNone/>
                      </a:pPr>
                      <a:r>
                        <a:rPr lang="zh-CN" altLang="en-US" sz="2400" kern="100" dirty="0">
                          <a:effectLst/>
                          <a:latin typeface="+mj-ea"/>
                          <a:ea typeface="+mj-ea"/>
                        </a:rPr>
                        <a:t>树莓派</a:t>
                      </a:r>
                      <a:r>
                        <a:rPr lang="en-US" altLang="zh-CN" sz="2400" kern="100" dirty="0">
                          <a:effectLst/>
                          <a:latin typeface="+mj-ea"/>
                          <a:ea typeface="+mj-ea"/>
                        </a:rPr>
                        <a:t>4B</a:t>
                      </a:r>
                      <a:endParaRPr lang="en-US" sz="2400" b="1" kern="100" dirty="0">
                        <a:solidFill>
                          <a:schemeClr val="lt1"/>
                        </a:solidFill>
                        <a:effectLst/>
                        <a:latin typeface="+mj-ea"/>
                        <a:ea typeface="+mj-ea"/>
                        <a:cs typeface="+mn-cs"/>
                      </a:endParaRPr>
                    </a:p>
                  </a:txBody>
                  <a:tcPr marL="36194" marR="36194" marT="0" marB="0" anchor="ctr"/>
                </a:tc>
                <a:tc>
                  <a:txBody>
                    <a:bodyPr/>
                    <a:lstStyle/>
                    <a:p>
                      <a:pPr algn="ctr">
                        <a:spcAft>
                          <a:spcPts val="0"/>
                        </a:spcAft>
                        <a:buClrTx/>
                        <a:buSzTx/>
                        <a:buFontTx/>
                        <a:buNone/>
                      </a:pPr>
                      <a:r>
                        <a:rPr lang="en-US" altLang="zh-CN" sz="2400" kern="100" dirty="0">
                          <a:effectLst/>
                          <a:latin typeface="+mj-ea"/>
                          <a:ea typeface="+mj-ea"/>
                        </a:rPr>
                        <a:t>1.5</a:t>
                      </a:r>
                      <a:endParaRPr lang="en-US" sz="2400" b="0" kern="100" dirty="0">
                        <a:solidFill>
                          <a:schemeClr val="dk1"/>
                        </a:solidFill>
                        <a:effectLst/>
                        <a:latin typeface="+mj-ea"/>
                        <a:ea typeface="+mj-ea"/>
                      </a:endParaRPr>
                    </a:p>
                  </a:txBody>
                  <a:tcPr marL="36194" marR="36194" marT="0" marB="0" anchor="ctr"/>
                </a:tc>
                <a:tc>
                  <a:txBody>
                    <a:bodyPr/>
                    <a:lstStyle/>
                    <a:p>
                      <a:pPr algn="ctr">
                        <a:spcAft>
                          <a:spcPts val="0"/>
                        </a:spcAft>
                        <a:buClrTx/>
                        <a:buSzTx/>
                        <a:buFontTx/>
                        <a:buNone/>
                      </a:pPr>
                      <a:r>
                        <a:rPr lang="en-US" sz="2400" kern="100" dirty="0">
                          <a:effectLst/>
                          <a:latin typeface="+mj-ea"/>
                          <a:ea typeface="+mj-ea"/>
                        </a:rPr>
                        <a:t>1024/2048/4096/8192</a:t>
                      </a:r>
                      <a:endParaRPr lang="en-US" sz="2400" b="0" kern="100" dirty="0">
                        <a:solidFill>
                          <a:schemeClr val="dk1"/>
                        </a:solidFill>
                        <a:effectLst/>
                        <a:latin typeface="+mj-ea"/>
                        <a:ea typeface="+mj-ea"/>
                      </a:endParaRPr>
                    </a:p>
                  </a:txBody>
                  <a:tcPr marL="36194" marR="36194" marT="0" marB="0" anchor="ctr"/>
                </a:tc>
                <a:extLst>
                  <a:ext uri="{0D108BD9-81ED-4DB2-BD59-A6C34878D82A}">
                    <a16:rowId xmlns:a16="http://schemas.microsoft.com/office/drawing/2014/main" val="1499154372"/>
                  </a:ext>
                </a:extLst>
              </a:tr>
            </a:tbl>
          </a:graphicData>
        </a:graphic>
      </p:graphicFrame>
      <p:sp>
        <p:nvSpPr>
          <p:cNvPr id="7" name="灯片编号占位符 4">
            <a:extLst>
              <a:ext uri="{FF2B5EF4-FFF2-40B4-BE49-F238E27FC236}">
                <a16:creationId xmlns:a16="http://schemas.microsoft.com/office/drawing/2014/main" id="{3A03A907-6DC8-47F0-BEE1-311BCFC5E31B}"/>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56</a:t>
            </a:fld>
            <a:endParaRPr lang="zh-CN" altLang="zh-CN" sz="1800" baseline="0" dirty="0">
              <a:solidFill>
                <a:schemeClr val="folHlink"/>
              </a:solidFill>
              <a:latin typeface="Monotype Corsiva" panose="03010101010201010101" pitchFamily="66" charset="0"/>
            </a:endParaRPr>
          </a:p>
        </p:txBody>
      </p:sp>
    </p:spTree>
    <p:custDataLst>
      <p:tags r:id="rId1"/>
    </p:custData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树莓派系列硬件平台</a:t>
            </a:r>
          </a:p>
        </p:txBody>
      </p:sp>
      <p:sp>
        <p:nvSpPr>
          <p:cNvPr id="3" name="内容占位符 2"/>
          <p:cNvSpPr>
            <a:spLocks noGrp="1"/>
          </p:cNvSpPr>
          <p:nvPr>
            <p:ph idx="1"/>
          </p:nvPr>
        </p:nvSpPr>
        <p:spPr/>
        <p:txBody>
          <a:bodyPr/>
          <a:lstStyle/>
          <a:p>
            <a:r>
              <a:rPr lang="zh-CN" altLang="en-US" dirty="0"/>
              <a:t>电源与能耗</a:t>
            </a:r>
            <a:endParaRPr lang="en-US" altLang="zh-CN" dirty="0"/>
          </a:p>
          <a:p>
            <a:pPr lvl="1"/>
            <a:r>
              <a:rPr lang="zh-CN" altLang="en-US" dirty="0"/>
              <a:t>树莓派</a:t>
            </a:r>
            <a:r>
              <a:rPr lang="en-US" altLang="zh-CN" dirty="0"/>
              <a:t>4B</a:t>
            </a:r>
            <a:r>
              <a:rPr lang="zh-CN" altLang="en-US" dirty="0"/>
              <a:t>的标准工作电压为</a:t>
            </a:r>
            <a:r>
              <a:rPr lang="en-US" altLang="zh-CN" dirty="0"/>
              <a:t>5V</a:t>
            </a:r>
            <a:r>
              <a:rPr lang="zh-CN" altLang="en-US" dirty="0"/>
              <a:t>（可以有一定的波动），在</a:t>
            </a:r>
            <a:r>
              <a:rPr lang="en-US" altLang="zh-CN" dirty="0"/>
              <a:t>5V</a:t>
            </a:r>
            <a:r>
              <a:rPr lang="zh-CN" altLang="en-US" dirty="0"/>
              <a:t>工作模式下，根据</a:t>
            </a:r>
            <a:r>
              <a:rPr lang="en-US" altLang="zh-CN" dirty="0"/>
              <a:t>CPU</a:t>
            </a:r>
            <a:r>
              <a:rPr lang="zh-CN" altLang="en-US" dirty="0"/>
              <a:t>核数的负载情况其能耗如表所示</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树莓派属于高功耗类型</a:t>
            </a:r>
          </a:p>
          <a:p>
            <a:endParaRPr lang="zh-CN" altLang="en-US" dirty="0"/>
          </a:p>
        </p:txBody>
      </p:sp>
      <p:graphicFrame>
        <p:nvGraphicFramePr>
          <p:cNvPr id="4" name="表格 3"/>
          <p:cNvGraphicFramePr/>
          <p:nvPr>
            <p:extLst>
              <p:ext uri="{D42A27DB-BD31-4B8C-83A1-F6EECF244321}">
                <p14:modId xmlns:p14="http://schemas.microsoft.com/office/powerpoint/2010/main" val="1190553448"/>
              </p:ext>
            </p:extLst>
          </p:nvPr>
        </p:nvGraphicFramePr>
        <p:xfrm>
          <a:off x="1341755" y="2352589"/>
          <a:ext cx="6346190" cy="3207950"/>
        </p:xfrm>
        <a:graphic>
          <a:graphicData uri="http://schemas.openxmlformats.org/drawingml/2006/table">
            <a:tbl>
              <a:tblPr firstRow="1" bandRow="1">
                <a:tableStyleId>{5940675A-B579-460E-94D1-54222C63F5DA}</a:tableStyleId>
              </a:tblPr>
              <a:tblGrid>
                <a:gridCol w="2668270">
                  <a:extLst>
                    <a:ext uri="{9D8B030D-6E8A-4147-A177-3AD203B41FA5}">
                      <a16:colId xmlns:a16="http://schemas.microsoft.com/office/drawing/2014/main" val="20000"/>
                    </a:ext>
                  </a:extLst>
                </a:gridCol>
                <a:gridCol w="3677920">
                  <a:extLst>
                    <a:ext uri="{9D8B030D-6E8A-4147-A177-3AD203B41FA5}">
                      <a16:colId xmlns:a16="http://schemas.microsoft.com/office/drawing/2014/main" val="20001"/>
                    </a:ext>
                  </a:extLst>
                </a:gridCol>
              </a:tblGrid>
              <a:tr h="643251">
                <a:tc>
                  <a:txBody>
                    <a:bodyPr/>
                    <a:lstStyle/>
                    <a:p>
                      <a:pPr marL="0" indent="0" algn="ctr" defTabSz="914400" rtl="0" eaLnBrk="1" latinLnBrk="0" hangingPunct="1">
                        <a:lnSpc>
                          <a:spcPct val="125000"/>
                        </a:lnSpc>
                        <a:spcAft>
                          <a:spcPts val="0"/>
                        </a:spcAft>
                        <a:buClrTx/>
                        <a:buSzTx/>
                        <a:buFontTx/>
                        <a:buNone/>
                      </a:pPr>
                      <a:r>
                        <a:rPr lang="en-US" sz="2400" kern="100" dirty="0" err="1">
                          <a:effectLst/>
                          <a:latin typeface="+mj-ea"/>
                          <a:ea typeface="+mj-ea"/>
                        </a:rPr>
                        <a:t>CPU负载</a:t>
                      </a:r>
                      <a:r>
                        <a:rPr lang="en-US" sz="2400" kern="100" dirty="0">
                          <a:effectLst/>
                          <a:latin typeface="+mj-ea"/>
                          <a:ea typeface="+mj-ea"/>
                        </a:rPr>
                        <a:t>/%</a:t>
                      </a:r>
                      <a:endParaRPr lang="en-US" altLang="en-US" sz="24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25000"/>
                        </a:lnSpc>
                        <a:spcAft>
                          <a:spcPts val="0"/>
                        </a:spcAft>
                        <a:buClrTx/>
                        <a:buSzTx/>
                        <a:buFontTx/>
                        <a:buNone/>
                      </a:pPr>
                      <a:r>
                        <a:rPr lang="en-US" sz="2400" kern="100" dirty="0" err="1">
                          <a:effectLst/>
                          <a:latin typeface="+mj-ea"/>
                          <a:ea typeface="+mj-ea"/>
                        </a:rPr>
                        <a:t>平均能耗</a:t>
                      </a:r>
                      <a:r>
                        <a:rPr lang="en-US" sz="2400" kern="100" dirty="0">
                          <a:effectLst/>
                          <a:latin typeface="+mj-ea"/>
                          <a:ea typeface="+mj-ea"/>
                        </a:rPr>
                        <a:t>/mA</a:t>
                      </a:r>
                      <a:endParaRPr lang="en-US" altLang="en-US" sz="2400" b="1" kern="100" dirty="0">
                        <a:solidFill>
                          <a:schemeClr val="lt1"/>
                        </a:solidFill>
                        <a:effectLst/>
                        <a:latin typeface="+mj-ea"/>
                        <a:ea typeface="+mj-ea"/>
                        <a:cs typeface="+mn-cs"/>
                      </a:endParaRPr>
                    </a:p>
                  </a:txBody>
                  <a:tcPr marL="36194" marR="36194" marT="0" marB="0" anchor="ctr"/>
                </a:tc>
                <a:extLst>
                  <a:ext uri="{0D108BD9-81ED-4DB2-BD59-A6C34878D82A}">
                    <a16:rowId xmlns:a16="http://schemas.microsoft.com/office/drawing/2014/main" val="10000"/>
                  </a:ext>
                </a:extLst>
              </a:tr>
              <a:tr h="455036">
                <a:tc>
                  <a:txBody>
                    <a:bodyPr/>
                    <a:lstStyle/>
                    <a:p>
                      <a:pPr marL="0" indent="0" algn="ctr" defTabSz="914400" rtl="0" eaLnBrk="1" latinLnBrk="0" hangingPunct="1">
                        <a:lnSpc>
                          <a:spcPct val="125000"/>
                        </a:lnSpc>
                        <a:spcAft>
                          <a:spcPts val="0"/>
                        </a:spcAft>
                        <a:buClrTx/>
                        <a:buSzTx/>
                        <a:buFontTx/>
                        <a:buNone/>
                      </a:pPr>
                      <a:r>
                        <a:rPr lang="en-US" sz="2400" kern="100" dirty="0">
                          <a:effectLst/>
                          <a:latin typeface="+mj-ea"/>
                          <a:ea typeface="+mj-ea"/>
                        </a:rPr>
                        <a:t>0</a:t>
                      </a:r>
                      <a:endParaRPr lang="en-US" altLang="en-US" sz="24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760</a:t>
                      </a:r>
                    </a:p>
                  </a:txBody>
                  <a:tcPr marL="36194" marR="36194" marT="0" marB="0" anchor="ctr"/>
                </a:tc>
                <a:extLst>
                  <a:ext uri="{0D108BD9-81ED-4DB2-BD59-A6C34878D82A}">
                    <a16:rowId xmlns:a16="http://schemas.microsoft.com/office/drawing/2014/main" val="10001"/>
                  </a:ext>
                </a:extLst>
              </a:tr>
              <a:tr h="446733">
                <a:tc>
                  <a:txBody>
                    <a:bodyPr/>
                    <a:lstStyle/>
                    <a:p>
                      <a:pPr marL="0" indent="0" algn="ctr" defTabSz="914400" rtl="0" eaLnBrk="1" latinLnBrk="0" hangingPunct="1">
                        <a:lnSpc>
                          <a:spcPct val="125000"/>
                        </a:lnSpc>
                        <a:spcAft>
                          <a:spcPts val="0"/>
                        </a:spcAft>
                        <a:buClrTx/>
                        <a:buSzTx/>
                        <a:buFontTx/>
                        <a:buNone/>
                      </a:pPr>
                      <a:r>
                        <a:rPr lang="en-US" sz="2400" kern="100" dirty="0">
                          <a:effectLst/>
                          <a:latin typeface="+mj-ea"/>
                          <a:ea typeface="+mj-ea"/>
                        </a:rPr>
                        <a:t>单核100</a:t>
                      </a:r>
                      <a:endParaRPr lang="en-US" altLang="en-US" sz="24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900</a:t>
                      </a:r>
                    </a:p>
                  </a:txBody>
                  <a:tcPr marL="36194" marR="36194" marT="0" marB="0" anchor="ctr"/>
                </a:tc>
                <a:extLst>
                  <a:ext uri="{0D108BD9-81ED-4DB2-BD59-A6C34878D82A}">
                    <a16:rowId xmlns:a16="http://schemas.microsoft.com/office/drawing/2014/main" val="10002"/>
                  </a:ext>
                </a:extLst>
              </a:tr>
              <a:tr h="541947">
                <a:tc>
                  <a:txBody>
                    <a:bodyPr/>
                    <a:lstStyle/>
                    <a:p>
                      <a:pPr marL="0" indent="0" algn="ctr" defTabSz="914400" rtl="0" eaLnBrk="1" latinLnBrk="0" hangingPunct="1">
                        <a:lnSpc>
                          <a:spcPct val="125000"/>
                        </a:lnSpc>
                        <a:spcAft>
                          <a:spcPts val="0"/>
                        </a:spcAft>
                        <a:buClrTx/>
                        <a:buSzTx/>
                        <a:buFontTx/>
                        <a:buNone/>
                      </a:pPr>
                      <a:r>
                        <a:rPr lang="en-US" sz="2400" kern="100" dirty="0">
                          <a:effectLst/>
                          <a:latin typeface="+mj-ea"/>
                          <a:ea typeface="+mj-ea"/>
                        </a:rPr>
                        <a:t>双核100</a:t>
                      </a:r>
                      <a:endParaRPr lang="en-US" altLang="en-US" sz="24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1000</a:t>
                      </a:r>
                    </a:p>
                  </a:txBody>
                  <a:tcPr marL="36194" marR="36194" marT="0" marB="0" anchor="ctr"/>
                </a:tc>
                <a:extLst>
                  <a:ext uri="{0D108BD9-81ED-4DB2-BD59-A6C34878D82A}">
                    <a16:rowId xmlns:a16="http://schemas.microsoft.com/office/drawing/2014/main" val="10003"/>
                  </a:ext>
                </a:extLst>
              </a:tr>
              <a:tr h="603947">
                <a:tc>
                  <a:txBody>
                    <a:bodyPr/>
                    <a:lstStyle/>
                    <a:p>
                      <a:pPr marL="0" indent="0" algn="ctr" defTabSz="914400" rtl="0" eaLnBrk="1" latinLnBrk="0" hangingPunct="1">
                        <a:lnSpc>
                          <a:spcPct val="125000"/>
                        </a:lnSpc>
                        <a:spcAft>
                          <a:spcPts val="0"/>
                        </a:spcAft>
                        <a:buClrTx/>
                        <a:buSzTx/>
                        <a:buFontTx/>
                        <a:buNone/>
                      </a:pPr>
                      <a:r>
                        <a:rPr lang="en-US" sz="2400" kern="100" dirty="0">
                          <a:effectLst/>
                          <a:latin typeface="+mj-ea"/>
                          <a:ea typeface="+mj-ea"/>
                        </a:rPr>
                        <a:t>三核100</a:t>
                      </a:r>
                      <a:endParaRPr lang="en-US" altLang="en-US" sz="24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1100</a:t>
                      </a:r>
                    </a:p>
                  </a:txBody>
                  <a:tcPr marL="36194" marR="36194" marT="0" marB="0" anchor="ctr"/>
                </a:tc>
                <a:extLst>
                  <a:ext uri="{0D108BD9-81ED-4DB2-BD59-A6C34878D82A}">
                    <a16:rowId xmlns:a16="http://schemas.microsoft.com/office/drawing/2014/main" val="10004"/>
                  </a:ext>
                </a:extLst>
              </a:tr>
              <a:tr h="517036">
                <a:tc>
                  <a:txBody>
                    <a:bodyPr/>
                    <a:lstStyle/>
                    <a:p>
                      <a:pPr marL="0" indent="0" algn="ctr" defTabSz="914400" rtl="0" eaLnBrk="1" latinLnBrk="0" hangingPunct="1">
                        <a:lnSpc>
                          <a:spcPct val="125000"/>
                        </a:lnSpc>
                        <a:spcAft>
                          <a:spcPts val="0"/>
                        </a:spcAft>
                        <a:buClrTx/>
                        <a:buSzTx/>
                        <a:buFontTx/>
                        <a:buNone/>
                      </a:pPr>
                      <a:r>
                        <a:rPr lang="en-US" sz="2400" kern="100" dirty="0">
                          <a:effectLst/>
                          <a:latin typeface="+mj-ea"/>
                          <a:ea typeface="+mj-ea"/>
                        </a:rPr>
                        <a:t>四核100</a:t>
                      </a:r>
                      <a:endParaRPr lang="en-US" altLang="en-US" sz="24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1200</a:t>
                      </a:r>
                    </a:p>
                  </a:txBody>
                  <a:tcPr marL="36194" marR="36194" marT="0" marB="0" anchor="ctr"/>
                </a:tc>
                <a:extLst>
                  <a:ext uri="{0D108BD9-81ED-4DB2-BD59-A6C34878D82A}">
                    <a16:rowId xmlns:a16="http://schemas.microsoft.com/office/drawing/2014/main" val="10005"/>
                  </a:ext>
                </a:extLst>
              </a:tr>
            </a:tbl>
          </a:graphicData>
        </a:graphic>
      </p:graphicFrame>
      <p:sp>
        <p:nvSpPr>
          <p:cNvPr id="7" name="灯片编号占位符 4">
            <a:extLst>
              <a:ext uri="{FF2B5EF4-FFF2-40B4-BE49-F238E27FC236}">
                <a16:creationId xmlns:a16="http://schemas.microsoft.com/office/drawing/2014/main" id="{CC7E7146-1A81-4316-B335-37E428E6AB0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57</a:t>
            </a:fld>
            <a:endParaRPr lang="zh-CN" altLang="zh-CN" sz="1800" baseline="0" dirty="0">
              <a:solidFill>
                <a:schemeClr val="folHlink"/>
              </a:solidFill>
              <a:latin typeface="Monotype Corsiva" panose="03010101010201010101" pitchFamily="66" charset="0"/>
            </a:endParaRPr>
          </a:p>
        </p:txBody>
      </p:sp>
    </p:spTree>
    <p:custDataLst>
      <p:tags r:id="rId1"/>
    </p:custData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树莓派系列硬件平台</a:t>
            </a:r>
            <a:endParaRPr lang="zh-CN" altLang="en-US" dirty="0"/>
          </a:p>
        </p:txBody>
      </p:sp>
      <p:sp>
        <p:nvSpPr>
          <p:cNvPr id="3" name="内容占位符 2"/>
          <p:cNvSpPr>
            <a:spLocks noGrp="1"/>
          </p:cNvSpPr>
          <p:nvPr>
            <p:ph idx="1"/>
          </p:nvPr>
        </p:nvSpPr>
        <p:spPr/>
        <p:txBody>
          <a:bodyPr/>
          <a:lstStyle/>
          <a:p>
            <a:r>
              <a:rPr lang="zh-CN" altLang="en-US" dirty="0"/>
              <a:t>扩展接口</a:t>
            </a:r>
            <a:endParaRPr lang="en-US" altLang="zh-CN" dirty="0"/>
          </a:p>
          <a:p>
            <a:pPr lvl="1"/>
            <a:r>
              <a:rPr lang="zh-CN" altLang="en-US" dirty="0"/>
              <a:t>和</a:t>
            </a:r>
            <a:r>
              <a:rPr lang="en-US" altLang="zh-CN" dirty="0"/>
              <a:t>Arduino</a:t>
            </a:r>
            <a:r>
              <a:rPr lang="zh-CN" altLang="en-US" dirty="0"/>
              <a:t>类似，树莓派也有扩展接口，可以用来连接外设或者盾板</a:t>
            </a:r>
          </a:p>
        </p:txBody>
      </p:sp>
      <p:graphicFrame>
        <p:nvGraphicFramePr>
          <p:cNvPr id="5" name="表格 4"/>
          <p:cNvGraphicFramePr/>
          <p:nvPr>
            <p:extLst>
              <p:ext uri="{D42A27DB-BD31-4B8C-83A1-F6EECF244321}">
                <p14:modId xmlns:p14="http://schemas.microsoft.com/office/powerpoint/2010/main" val="3040631058"/>
              </p:ext>
            </p:extLst>
          </p:nvPr>
        </p:nvGraphicFramePr>
        <p:xfrm>
          <a:off x="551935" y="2761735"/>
          <a:ext cx="8058665" cy="2328538"/>
        </p:xfrm>
        <a:graphic>
          <a:graphicData uri="http://schemas.openxmlformats.org/drawingml/2006/table">
            <a:tbl>
              <a:tblPr firstRow="1" bandRow="1">
                <a:tableStyleId>{5940675A-B579-460E-94D1-54222C63F5DA}</a:tableStyleId>
              </a:tblPr>
              <a:tblGrid>
                <a:gridCol w="1286279">
                  <a:extLst>
                    <a:ext uri="{9D8B030D-6E8A-4147-A177-3AD203B41FA5}">
                      <a16:colId xmlns:a16="http://schemas.microsoft.com/office/drawing/2014/main" val="20000"/>
                    </a:ext>
                  </a:extLst>
                </a:gridCol>
                <a:gridCol w="1128731">
                  <a:extLst>
                    <a:ext uri="{9D8B030D-6E8A-4147-A177-3AD203B41FA5}">
                      <a16:colId xmlns:a16="http://schemas.microsoft.com/office/drawing/2014/main" val="20001"/>
                    </a:ext>
                  </a:extLst>
                </a:gridCol>
                <a:gridCol w="1128731">
                  <a:extLst>
                    <a:ext uri="{9D8B030D-6E8A-4147-A177-3AD203B41FA5}">
                      <a16:colId xmlns:a16="http://schemas.microsoft.com/office/drawing/2014/main" val="20002"/>
                    </a:ext>
                  </a:extLst>
                </a:gridCol>
                <a:gridCol w="1128731">
                  <a:extLst>
                    <a:ext uri="{9D8B030D-6E8A-4147-A177-3AD203B41FA5}">
                      <a16:colId xmlns:a16="http://schemas.microsoft.com/office/drawing/2014/main" val="20003"/>
                    </a:ext>
                  </a:extLst>
                </a:gridCol>
                <a:gridCol w="1128731">
                  <a:extLst>
                    <a:ext uri="{9D8B030D-6E8A-4147-A177-3AD203B41FA5}">
                      <a16:colId xmlns:a16="http://schemas.microsoft.com/office/drawing/2014/main" val="20004"/>
                    </a:ext>
                  </a:extLst>
                </a:gridCol>
                <a:gridCol w="1128731">
                  <a:extLst>
                    <a:ext uri="{9D8B030D-6E8A-4147-A177-3AD203B41FA5}">
                      <a16:colId xmlns:a16="http://schemas.microsoft.com/office/drawing/2014/main" val="20005"/>
                    </a:ext>
                  </a:extLst>
                </a:gridCol>
                <a:gridCol w="1128731">
                  <a:extLst>
                    <a:ext uri="{9D8B030D-6E8A-4147-A177-3AD203B41FA5}">
                      <a16:colId xmlns:a16="http://schemas.microsoft.com/office/drawing/2014/main" val="20006"/>
                    </a:ext>
                  </a:extLst>
                </a:gridCol>
              </a:tblGrid>
              <a:tr h="435335">
                <a:tc rowSpan="2">
                  <a:txBody>
                    <a:bodyPr/>
                    <a:lstStyle/>
                    <a:p>
                      <a:pPr marL="0" indent="0" algn="ctr" defTabSz="914400" rtl="0" eaLnBrk="1" latinLnBrk="0" hangingPunct="1">
                        <a:lnSpc>
                          <a:spcPct val="125000"/>
                        </a:lnSpc>
                        <a:spcAft>
                          <a:spcPts val="0"/>
                        </a:spcAft>
                        <a:buClrTx/>
                        <a:buSzTx/>
                        <a:buFontTx/>
                        <a:buNone/>
                      </a:pPr>
                      <a:r>
                        <a:rPr lang="en-US" sz="2400" kern="100" dirty="0" err="1">
                          <a:effectLst/>
                          <a:latin typeface="+mj-ea"/>
                          <a:ea typeface="+mj-ea"/>
                        </a:rPr>
                        <a:t>开发板型号</a:t>
                      </a:r>
                      <a:endParaRPr lang="en-US" altLang="en-US" sz="2400" b="1" kern="100" dirty="0">
                        <a:solidFill>
                          <a:schemeClr val="lt1"/>
                        </a:solidFill>
                        <a:effectLst/>
                        <a:latin typeface="+mj-ea"/>
                        <a:ea typeface="+mj-ea"/>
                        <a:cs typeface="+mn-cs"/>
                      </a:endParaRPr>
                    </a:p>
                  </a:txBody>
                  <a:tcPr marL="36194" marR="36194" marT="0" marB="0" anchor="ctr"/>
                </a:tc>
                <a:tc gridSpan="6">
                  <a:txBody>
                    <a:bodyPr/>
                    <a:lstStyle/>
                    <a:p>
                      <a:pPr marL="0" indent="0" algn="ctr" defTabSz="914400" rtl="0" eaLnBrk="1" latinLnBrk="0" hangingPunct="1">
                        <a:lnSpc>
                          <a:spcPct val="125000"/>
                        </a:lnSpc>
                        <a:spcAft>
                          <a:spcPts val="0"/>
                        </a:spcAft>
                        <a:buClrTx/>
                        <a:buSzTx/>
                        <a:buFontTx/>
                        <a:buNone/>
                      </a:pPr>
                      <a:r>
                        <a:rPr lang="en-US" sz="2400" kern="100" dirty="0" err="1">
                          <a:effectLst/>
                          <a:latin typeface="+mj-ea"/>
                          <a:ea typeface="+mj-ea"/>
                        </a:rPr>
                        <a:t>接口</a:t>
                      </a:r>
                      <a:endParaRPr lang="en-US" altLang="en-US" sz="2400" b="1" kern="100" dirty="0">
                        <a:solidFill>
                          <a:schemeClr val="lt1"/>
                        </a:solidFill>
                        <a:effectLst/>
                        <a:latin typeface="+mj-ea"/>
                        <a:ea typeface="+mj-ea"/>
                        <a:cs typeface="+mn-cs"/>
                      </a:endParaRPr>
                    </a:p>
                  </a:txBody>
                  <a:tcPr marL="36194" marR="36194" marT="0" marB="0" anchor="ct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971912">
                <a:tc vMerge="1">
                  <a:txBody>
                    <a:bodyPr/>
                    <a:lstStyle/>
                    <a:p>
                      <a:endParaRPr lang="zh-CN"/>
                    </a:p>
                  </a:txBody>
                  <a:tcPr>
                    <a:lnB w="12700" cap="flat" cmpd="sng">
                      <a:solidFill>
                        <a:srgbClr val="080000"/>
                      </a:solidFill>
                      <a:prstDash val="solid"/>
                      <a:headEnd type="none" w="med" len="med"/>
                      <a:tailEnd type="none" w="med" len="med"/>
                    </a:lnB>
                  </a:tcP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Digital</a:t>
                      </a:r>
                      <a:endParaRPr lang="en-US" altLang="en-US" sz="24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Analog</a:t>
                      </a:r>
                      <a:endParaRPr lang="en-US" altLang="en-US" sz="24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PWM</a:t>
                      </a:r>
                      <a:endParaRPr lang="en-US" altLang="en-US" sz="24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UART</a:t>
                      </a:r>
                      <a:endParaRPr lang="en-US" altLang="en-US" sz="24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I2C</a:t>
                      </a:r>
                      <a:endParaRPr lang="en-US" altLang="en-US" sz="24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SPI</a:t>
                      </a:r>
                      <a:endParaRPr lang="en-US" altLang="en-US" sz="2400" b="0" kern="100" dirty="0">
                        <a:solidFill>
                          <a:schemeClr val="dk1"/>
                        </a:solidFill>
                        <a:effectLst/>
                        <a:latin typeface="+mj-ea"/>
                        <a:ea typeface="+mj-ea"/>
                        <a:cs typeface="+mn-cs"/>
                      </a:endParaRPr>
                    </a:p>
                  </a:txBody>
                  <a:tcPr marL="36194" marR="36194" marT="0" marB="0" anchor="ctr"/>
                </a:tc>
                <a:extLst>
                  <a:ext uri="{0D108BD9-81ED-4DB2-BD59-A6C34878D82A}">
                    <a16:rowId xmlns:a16="http://schemas.microsoft.com/office/drawing/2014/main" val="10001"/>
                  </a:ext>
                </a:extLst>
              </a:tr>
              <a:tr h="921291">
                <a:tc>
                  <a:txBody>
                    <a:bodyPr/>
                    <a:lstStyle/>
                    <a:p>
                      <a:pPr marL="0" indent="0" algn="ctr" defTabSz="914400" rtl="0" eaLnBrk="1" latinLnBrk="0" hangingPunct="1">
                        <a:lnSpc>
                          <a:spcPct val="125000"/>
                        </a:lnSpc>
                        <a:spcAft>
                          <a:spcPts val="0"/>
                        </a:spcAft>
                        <a:buClrTx/>
                        <a:buSzTx/>
                        <a:buFontTx/>
                        <a:buNone/>
                      </a:pPr>
                      <a:r>
                        <a:rPr lang="en-US" sz="2400" kern="100" dirty="0">
                          <a:effectLst/>
                          <a:latin typeface="+mj-ea"/>
                          <a:ea typeface="+mj-ea"/>
                        </a:rPr>
                        <a:t>树莓派4B</a:t>
                      </a:r>
                      <a:endParaRPr lang="en-US" altLang="en-US" sz="24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28</a:t>
                      </a:r>
                      <a:endParaRPr lang="en-US" altLang="en-US" sz="24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sz="2400" kern="100" dirty="0">
                          <a:effectLst/>
                          <a:latin typeface="+mj-ea"/>
                          <a:ea typeface="+mj-ea"/>
                        </a:rPr>
                        <a:t>0</a:t>
                      </a:r>
                      <a:endParaRPr lang="en-US" altLang="en-US" sz="24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2</a:t>
                      </a: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6</a:t>
                      </a: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6</a:t>
                      </a:r>
                    </a:p>
                  </a:txBody>
                  <a:tcPr marL="36194" marR="36194" marT="0" marB="0" anchor="ctr"/>
                </a:tc>
                <a:tc>
                  <a:txBody>
                    <a:bodyPr/>
                    <a:lstStyle/>
                    <a:p>
                      <a:pPr marL="0" indent="0" algn="ctr" defTabSz="914400" rtl="0" eaLnBrk="1" latinLnBrk="0" hangingPunct="1">
                        <a:spcAft>
                          <a:spcPts val="0"/>
                        </a:spcAft>
                        <a:buClrTx/>
                        <a:buSzTx/>
                        <a:buFontTx/>
                        <a:buNone/>
                      </a:pPr>
                      <a:r>
                        <a:rPr lang="en-US" altLang="en-US" sz="2400" b="0" kern="100" dirty="0">
                          <a:solidFill>
                            <a:schemeClr val="dk1"/>
                          </a:solidFill>
                          <a:effectLst/>
                          <a:latin typeface="+mj-ea"/>
                          <a:ea typeface="+mj-ea"/>
                          <a:cs typeface="+mn-cs"/>
                        </a:rPr>
                        <a:t>5</a:t>
                      </a:r>
                    </a:p>
                  </a:txBody>
                  <a:tcPr marL="36194" marR="36194" marT="0" marB="0" anchor="ctr"/>
                </a:tc>
                <a:extLst>
                  <a:ext uri="{0D108BD9-81ED-4DB2-BD59-A6C34878D82A}">
                    <a16:rowId xmlns:a16="http://schemas.microsoft.com/office/drawing/2014/main" val="10002"/>
                  </a:ext>
                </a:extLst>
              </a:tr>
            </a:tbl>
          </a:graphicData>
        </a:graphic>
      </p:graphicFrame>
      <p:sp>
        <p:nvSpPr>
          <p:cNvPr id="10" name="灯片编号占位符 4">
            <a:extLst>
              <a:ext uri="{FF2B5EF4-FFF2-40B4-BE49-F238E27FC236}">
                <a16:creationId xmlns:a16="http://schemas.microsoft.com/office/drawing/2014/main" id="{594A2272-A828-49D7-BD60-6779E8C8B31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58</a:t>
            </a:fld>
            <a:endParaRPr lang="zh-CN" altLang="zh-CN" sz="1800" baseline="0" dirty="0">
              <a:solidFill>
                <a:schemeClr val="folHlink"/>
              </a:solidFill>
              <a:latin typeface="Monotype Corsiva" panose="03010101010201010101" pitchFamily="66" charset="0"/>
            </a:endParaRPr>
          </a:p>
        </p:txBody>
      </p:sp>
    </p:spTree>
    <p:custDataLst>
      <p:tags r:id="rId1"/>
    </p:custData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ECB12C-4CB7-41B9-A785-6B1EFCF67402}"/>
              </a:ext>
            </a:extLst>
          </p:cNvPr>
          <p:cNvSpPr>
            <a:spLocks noGrp="1"/>
          </p:cNvSpPr>
          <p:nvPr>
            <p:ph type="title"/>
          </p:nvPr>
        </p:nvSpPr>
        <p:spPr/>
        <p:txBody>
          <a:bodyPr/>
          <a:lstStyle/>
          <a:p>
            <a:r>
              <a:rPr lang="zh-CN" altLang="en-US" dirty="0"/>
              <a:t>树莓派系列硬件平台</a:t>
            </a:r>
          </a:p>
        </p:txBody>
      </p:sp>
      <p:sp>
        <p:nvSpPr>
          <p:cNvPr id="3" name="内容占位符 2">
            <a:extLst>
              <a:ext uri="{FF2B5EF4-FFF2-40B4-BE49-F238E27FC236}">
                <a16:creationId xmlns:a16="http://schemas.microsoft.com/office/drawing/2014/main" id="{058A98B1-1E8B-463C-A1B3-7FAB97BA68EF}"/>
              </a:ext>
            </a:extLst>
          </p:cNvPr>
          <p:cNvSpPr>
            <a:spLocks noGrp="1"/>
          </p:cNvSpPr>
          <p:nvPr>
            <p:ph idx="1"/>
          </p:nvPr>
        </p:nvSpPr>
        <p:spPr/>
        <p:txBody>
          <a:bodyPr/>
          <a:lstStyle/>
          <a:p>
            <a:r>
              <a:rPr lang="zh-CN" altLang="en-US" dirty="0"/>
              <a:t>盾板</a:t>
            </a:r>
            <a:endParaRPr lang="en-US" altLang="zh-CN" dirty="0"/>
          </a:p>
          <a:p>
            <a:pPr lvl="1"/>
            <a:r>
              <a:rPr lang="en-US" altLang="zh-CN" dirty="0"/>
              <a:t>Grove Pi+</a:t>
            </a:r>
            <a:r>
              <a:rPr lang="zh-CN" altLang="en-US" dirty="0"/>
              <a:t>让原本不支持</a:t>
            </a:r>
            <a:r>
              <a:rPr lang="en-US" altLang="zh-CN" dirty="0"/>
              <a:t>Analog</a:t>
            </a:r>
            <a:r>
              <a:rPr lang="zh-CN" altLang="en-US" dirty="0"/>
              <a:t>外设的树莓派可以接入</a:t>
            </a:r>
            <a:r>
              <a:rPr lang="en-US" altLang="zh-CN" dirty="0"/>
              <a:t>Analog</a:t>
            </a:r>
            <a:r>
              <a:rPr lang="zh-CN" altLang="en-US" dirty="0"/>
              <a:t>外设</a:t>
            </a:r>
            <a:endParaRPr lang="en-US" altLang="zh-CN" dirty="0"/>
          </a:p>
          <a:p>
            <a:pPr lvl="1"/>
            <a:r>
              <a:rPr lang="en-US" altLang="zh-CN" dirty="0" err="1"/>
              <a:t>GrovePi</a:t>
            </a:r>
            <a:r>
              <a:rPr lang="en-US" altLang="zh-CN" dirty="0"/>
              <a:t>+</a:t>
            </a:r>
            <a:r>
              <a:rPr lang="zh-CN" altLang="zh-CN" dirty="0"/>
              <a:t>通过</a:t>
            </a:r>
            <a:r>
              <a:rPr lang="en-US" altLang="zh-CN" dirty="0"/>
              <a:t>I</a:t>
            </a:r>
            <a:r>
              <a:rPr lang="en-US" altLang="zh-CN" baseline="30000" dirty="0"/>
              <a:t>2</a:t>
            </a:r>
            <a:r>
              <a:rPr lang="en-US" altLang="zh-CN" dirty="0"/>
              <a:t>C</a:t>
            </a:r>
            <a:r>
              <a:rPr lang="zh-CN" altLang="zh-CN" dirty="0"/>
              <a:t>和树莓派通信，</a:t>
            </a:r>
            <a:r>
              <a:rPr lang="en-US" altLang="zh-CN" dirty="0" err="1"/>
              <a:t>GrovePi</a:t>
            </a:r>
            <a:r>
              <a:rPr lang="en-US" altLang="zh-CN" dirty="0"/>
              <a:t>+</a:t>
            </a:r>
            <a:r>
              <a:rPr lang="zh-CN" altLang="zh-CN" dirty="0"/>
              <a:t>上</a:t>
            </a:r>
            <a:r>
              <a:rPr lang="en-US" altLang="zh-CN" dirty="0"/>
              <a:t>Analog</a:t>
            </a:r>
            <a:r>
              <a:rPr lang="zh-CN" altLang="zh-CN" dirty="0"/>
              <a:t>类型的</a:t>
            </a:r>
            <a:r>
              <a:rPr lang="en-US" altLang="zh-CN" dirty="0"/>
              <a:t>Grove port</a:t>
            </a:r>
            <a:r>
              <a:rPr lang="zh-CN" altLang="zh-CN" dirty="0"/>
              <a:t>将外设发送的传感数据通过</a:t>
            </a:r>
            <a:r>
              <a:rPr lang="en-US" altLang="zh-CN" dirty="0"/>
              <a:t>I</a:t>
            </a:r>
            <a:r>
              <a:rPr lang="en-US" altLang="zh-CN" baseline="30000" dirty="0"/>
              <a:t>2</a:t>
            </a:r>
            <a:r>
              <a:rPr lang="en-US" altLang="zh-CN" dirty="0"/>
              <a:t>C</a:t>
            </a:r>
            <a:r>
              <a:rPr lang="zh-CN" altLang="zh-CN" dirty="0"/>
              <a:t>再转发给树莓派</a:t>
            </a:r>
            <a:endParaRPr lang="zh-CN" altLang="en-US" dirty="0"/>
          </a:p>
          <a:p>
            <a:pPr lvl="1"/>
            <a:endParaRPr lang="zh-CN" altLang="en-US" dirty="0"/>
          </a:p>
        </p:txBody>
      </p:sp>
      <p:graphicFrame>
        <p:nvGraphicFramePr>
          <p:cNvPr id="4" name="表格 3">
            <a:extLst>
              <a:ext uri="{FF2B5EF4-FFF2-40B4-BE49-F238E27FC236}">
                <a16:creationId xmlns:a16="http://schemas.microsoft.com/office/drawing/2014/main" id="{9D5E2EB7-258E-4AA7-9DB3-BDB5E123F44F}"/>
              </a:ext>
            </a:extLst>
          </p:cNvPr>
          <p:cNvGraphicFramePr>
            <a:graphicFrameLocks noGrp="1"/>
          </p:cNvGraphicFramePr>
          <p:nvPr>
            <p:extLst>
              <p:ext uri="{D42A27DB-BD31-4B8C-83A1-F6EECF244321}">
                <p14:modId xmlns:p14="http://schemas.microsoft.com/office/powerpoint/2010/main" val="1462096698"/>
              </p:ext>
            </p:extLst>
          </p:nvPr>
        </p:nvGraphicFramePr>
        <p:xfrm>
          <a:off x="440592" y="3423851"/>
          <a:ext cx="5578675" cy="2560320"/>
        </p:xfrm>
        <a:graphic>
          <a:graphicData uri="http://schemas.openxmlformats.org/drawingml/2006/table">
            <a:tbl>
              <a:tblPr firstRow="1" firstCol="1" bandRow="1">
                <a:tableStyleId>{5940675A-B579-460E-94D1-54222C63F5DA}</a:tableStyleId>
              </a:tblPr>
              <a:tblGrid>
                <a:gridCol w="2348733">
                  <a:extLst>
                    <a:ext uri="{9D8B030D-6E8A-4147-A177-3AD203B41FA5}">
                      <a16:colId xmlns:a16="http://schemas.microsoft.com/office/drawing/2014/main" val="2925589213"/>
                    </a:ext>
                  </a:extLst>
                </a:gridCol>
                <a:gridCol w="3229942">
                  <a:extLst>
                    <a:ext uri="{9D8B030D-6E8A-4147-A177-3AD203B41FA5}">
                      <a16:colId xmlns:a16="http://schemas.microsoft.com/office/drawing/2014/main" val="119334939"/>
                    </a:ext>
                  </a:extLst>
                </a:gridCol>
              </a:tblGrid>
              <a:tr h="0">
                <a:tc>
                  <a:txBody>
                    <a:bodyPr/>
                    <a:lstStyle/>
                    <a:p>
                      <a:pPr algn="ctr">
                        <a:spcAft>
                          <a:spcPts val="0"/>
                        </a:spcAft>
                      </a:pPr>
                      <a:r>
                        <a:rPr lang="zh-CN" sz="2400" kern="500">
                          <a:effectLst/>
                        </a:rPr>
                        <a:t>盾板</a:t>
                      </a:r>
                      <a:endParaRPr lang="zh-CN" sz="2400" kern="750">
                        <a:effectLst/>
                        <a:latin typeface="Times New Roman" panose="02020603050405020304" pitchFamily="18" charset="0"/>
                        <a:ea typeface="宋体" panose="02010600030101010101" pitchFamily="2" charset="-122"/>
                        <a:cs typeface="Courier New" panose="02070309020205020404" pitchFamily="49" charset="0"/>
                      </a:endParaRPr>
                    </a:p>
                  </a:txBody>
                  <a:tcPr marL="36195" marR="36195" marT="0" marB="0" anchor="ctr"/>
                </a:tc>
                <a:tc>
                  <a:txBody>
                    <a:bodyPr/>
                    <a:lstStyle/>
                    <a:p>
                      <a:pPr algn="ctr">
                        <a:spcAft>
                          <a:spcPts val="0"/>
                        </a:spcAft>
                      </a:pPr>
                      <a:r>
                        <a:rPr lang="zh-CN" sz="2400" kern="500">
                          <a:effectLst/>
                        </a:rPr>
                        <a:t>功能</a:t>
                      </a:r>
                      <a:endParaRPr lang="zh-CN" sz="2400" kern="750">
                        <a:effectLst/>
                        <a:latin typeface="Times New Roman" panose="02020603050405020304" pitchFamily="18" charset="0"/>
                        <a:ea typeface="宋体" panose="02010600030101010101" pitchFamily="2" charset="-122"/>
                        <a:cs typeface="Courier New" panose="02070309020205020404" pitchFamily="49" charset="0"/>
                      </a:endParaRPr>
                    </a:p>
                  </a:txBody>
                  <a:tcPr marL="36195" marR="36195" marT="0" marB="0" anchor="ctr"/>
                </a:tc>
                <a:extLst>
                  <a:ext uri="{0D108BD9-81ED-4DB2-BD59-A6C34878D82A}">
                    <a16:rowId xmlns:a16="http://schemas.microsoft.com/office/drawing/2014/main" val="1505899291"/>
                  </a:ext>
                </a:extLst>
              </a:tr>
              <a:tr h="310515">
                <a:tc>
                  <a:txBody>
                    <a:bodyPr/>
                    <a:lstStyle/>
                    <a:p>
                      <a:pPr algn="ctr">
                        <a:spcAft>
                          <a:spcPts val="0"/>
                        </a:spcAft>
                      </a:pPr>
                      <a:endParaRPr lang="en-US" sz="2400" kern="500" dirty="0">
                        <a:effectLst/>
                      </a:endParaRPr>
                    </a:p>
                    <a:p>
                      <a:pPr algn="ctr">
                        <a:spcAft>
                          <a:spcPts val="0"/>
                        </a:spcAft>
                      </a:pPr>
                      <a:r>
                        <a:rPr lang="en-US" sz="2400" kern="500" dirty="0" err="1">
                          <a:effectLst/>
                        </a:rPr>
                        <a:t>GrovePi</a:t>
                      </a:r>
                      <a:r>
                        <a:rPr lang="en-US" sz="2400" kern="500" dirty="0">
                          <a:effectLst/>
                        </a:rPr>
                        <a:t>+</a:t>
                      </a:r>
                      <a:endParaRPr lang="zh-CN" sz="2400" kern="750" dirty="0">
                        <a:effectLst/>
                        <a:latin typeface="Times New Roman" panose="02020603050405020304" pitchFamily="18" charset="0"/>
                        <a:ea typeface="宋体" panose="02010600030101010101" pitchFamily="2" charset="-122"/>
                        <a:cs typeface="Courier New" panose="02070309020205020404" pitchFamily="49" charset="0"/>
                      </a:endParaRPr>
                    </a:p>
                  </a:txBody>
                  <a:tcPr marL="36195" marR="36195" marT="0" marB="0" anchor="b"/>
                </a:tc>
                <a:tc>
                  <a:txBody>
                    <a:bodyPr/>
                    <a:lstStyle/>
                    <a:p>
                      <a:pPr algn="ctr">
                        <a:spcAft>
                          <a:spcPts val="0"/>
                        </a:spcAft>
                      </a:pPr>
                      <a:r>
                        <a:rPr lang="zh-CN" sz="2400" kern="500">
                          <a:effectLst/>
                        </a:rPr>
                        <a:t>为树莓派开发板扩展</a:t>
                      </a:r>
                      <a:r>
                        <a:rPr lang="en-US" sz="2400" kern="500">
                          <a:effectLst/>
                        </a:rPr>
                        <a:t>Grove port</a:t>
                      </a:r>
                      <a:r>
                        <a:rPr lang="zh-CN" sz="2400" kern="500">
                          <a:effectLst/>
                        </a:rPr>
                        <a:t>，兼容树莓派</a:t>
                      </a:r>
                      <a:r>
                        <a:rPr lang="en-US" sz="2400" kern="500">
                          <a:effectLst/>
                        </a:rPr>
                        <a:t>2/3/4/Zero</a:t>
                      </a:r>
                      <a:endParaRPr lang="zh-CN" sz="2400" kern="750">
                        <a:effectLst/>
                        <a:latin typeface="Times New Roman" panose="02020603050405020304" pitchFamily="18" charset="0"/>
                        <a:ea typeface="宋体" panose="02010600030101010101" pitchFamily="2" charset="-122"/>
                        <a:cs typeface="Courier New" panose="02070309020205020404" pitchFamily="49" charset="0"/>
                      </a:endParaRPr>
                    </a:p>
                  </a:txBody>
                  <a:tcPr marL="36195" marR="36195" marT="0" marB="0" anchor="ctr"/>
                </a:tc>
                <a:extLst>
                  <a:ext uri="{0D108BD9-81ED-4DB2-BD59-A6C34878D82A}">
                    <a16:rowId xmlns:a16="http://schemas.microsoft.com/office/drawing/2014/main" val="974892585"/>
                  </a:ext>
                </a:extLst>
              </a:tr>
              <a:tr h="57150">
                <a:tc>
                  <a:txBody>
                    <a:bodyPr/>
                    <a:lstStyle/>
                    <a:p>
                      <a:pPr algn="ctr">
                        <a:spcBef>
                          <a:spcPts val="600"/>
                        </a:spcBef>
                        <a:spcAft>
                          <a:spcPts val="0"/>
                        </a:spcAft>
                      </a:pPr>
                      <a:endParaRPr lang="en-US" sz="2400" kern="500" dirty="0">
                        <a:effectLst/>
                      </a:endParaRPr>
                    </a:p>
                    <a:p>
                      <a:pPr algn="ctr">
                        <a:spcAft>
                          <a:spcPts val="0"/>
                        </a:spcAft>
                      </a:pPr>
                      <a:r>
                        <a:rPr lang="en-US" sz="2400" kern="500" dirty="0">
                          <a:effectLst/>
                        </a:rPr>
                        <a:t>Grove Base HAT</a:t>
                      </a:r>
                      <a:endParaRPr lang="zh-CN" sz="2400" kern="750" dirty="0">
                        <a:effectLst/>
                        <a:latin typeface="Times New Roman" panose="02020603050405020304" pitchFamily="18" charset="0"/>
                        <a:ea typeface="宋体" panose="02010600030101010101" pitchFamily="2" charset="-122"/>
                        <a:cs typeface="Courier New" panose="02070309020205020404" pitchFamily="49" charset="0"/>
                      </a:endParaRPr>
                    </a:p>
                  </a:txBody>
                  <a:tcPr marL="36195" marR="36195" marT="0" marB="0" anchor="b"/>
                </a:tc>
                <a:tc>
                  <a:txBody>
                    <a:bodyPr/>
                    <a:lstStyle/>
                    <a:p>
                      <a:pPr algn="ctr">
                        <a:spcAft>
                          <a:spcPts val="0"/>
                        </a:spcAft>
                      </a:pPr>
                      <a:r>
                        <a:rPr lang="zh-CN" sz="2400" kern="500" dirty="0">
                          <a:effectLst/>
                        </a:rPr>
                        <a:t>为树莓派开发板扩展</a:t>
                      </a:r>
                      <a:r>
                        <a:rPr lang="en-US" sz="2400" kern="500" dirty="0">
                          <a:effectLst/>
                        </a:rPr>
                        <a:t>Grove port</a:t>
                      </a:r>
                      <a:r>
                        <a:rPr lang="zh-CN" sz="2400" kern="500" dirty="0">
                          <a:effectLst/>
                        </a:rPr>
                        <a:t>，兼容树莓派</a:t>
                      </a:r>
                      <a:r>
                        <a:rPr lang="en-US" sz="2400" kern="500" dirty="0">
                          <a:effectLst/>
                        </a:rPr>
                        <a:t>2/3/4</a:t>
                      </a:r>
                      <a:endParaRPr lang="zh-CN" sz="2400" kern="750" dirty="0">
                        <a:effectLst/>
                        <a:latin typeface="Times New Roman" panose="02020603050405020304" pitchFamily="18" charset="0"/>
                        <a:ea typeface="宋体" panose="02010600030101010101" pitchFamily="2" charset="-122"/>
                        <a:cs typeface="Courier New" panose="02070309020205020404" pitchFamily="49" charset="0"/>
                      </a:endParaRPr>
                    </a:p>
                  </a:txBody>
                  <a:tcPr marL="36195" marR="36195" marT="0" marB="0" anchor="ctr"/>
                </a:tc>
                <a:extLst>
                  <a:ext uri="{0D108BD9-81ED-4DB2-BD59-A6C34878D82A}">
                    <a16:rowId xmlns:a16="http://schemas.microsoft.com/office/drawing/2014/main" val="1659014508"/>
                  </a:ext>
                </a:extLst>
              </a:tr>
            </a:tbl>
          </a:graphicData>
        </a:graphic>
      </p:graphicFrame>
      <p:pic>
        <p:nvPicPr>
          <p:cNvPr id="54274" name="图片 5268" descr="110060049 10_02">
            <a:extLst>
              <a:ext uri="{FF2B5EF4-FFF2-40B4-BE49-F238E27FC236}">
                <a16:creationId xmlns:a16="http://schemas.microsoft.com/office/drawing/2014/main" id="{5E28F16B-425D-45BA-9972-D6A5EABF0924}"/>
              </a:ext>
            </a:extLst>
          </p:cNvPr>
          <p:cNvPicPr>
            <a:picLocks noChangeAspect="1" noChangeArrowheads="1"/>
          </p:cNvPicPr>
          <p:nvPr/>
        </p:nvPicPr>
        <p:blipFill>
          <a:blip r:embed="rId2">
            <a:grayscl/>
            <a:extLst>
              <a:ext uri="{28A0092B-C50C-407E-A947-70E740481C1C}">
                <a14:useLocalDpi xmlns:a14="http://schemas.microsoft.com/office/drawing/2010/main" val="0"/>
              </a:ext>
            </a:extLst>
          </a:blip>
          <a:srcRect l="10484" t="11993" r="16129" b="10605"/>
          <a:stretch>
            <a:fillRect/>
          </a:stretch>
        </p:blipFill>
        <p:spPr bwMode="auto">
          <a:xfrm>
            <a:off x="1156256" y="4000247"/>
            <a:ext cx="704850" cy="552450"/>
          </a:xfrm>
          <a:prstGeom prst="rect">
            <a:avLst/>
          </a:prstGeom>
          <a:noFill/>
          <a:extLst>
            <a:ext uri="{909E8E84-426E-40DD-AFC4-6F175D3DCCD1}">
              <a14:hiddenFill xmlns:a14="http://schemas.microsoft.com/office/drawing/2010/main">
                <a:solidFill>
                  <a:srgbClr val="FFFFFF"/>
                </a:solidFill>
              </a14:hiddenFill>
            </a:ext>
          </a:extLst>
        </p:spPr>
      </p:pic>
      <p:pic>
        <p:nvPicPr>
          <p:cNvPr id="54273" name="图片 5267" descr="Grove Base HAT_s">
            <a:extLst>
              <a:ext uri="{FF2B5EF4-FFF2-40B4-BE49-F238E27FC236}">
                <a16:creationId xmlns:a16="http://schemas.microsoft.com/office/drawing/2014/main" id="{91A6802E-DA5E-457C-A5F3-93B0F76E14A9}"/>
              </a:ext>
            </a:extLst>
          </p:cNvPr>
          <p:cNvPicPr>
            <a:picLocks noChangeAspect="1" noChangeArrowheads="1"/>
          </p:cNvPicPr>
          <p:nvPr/>
        </p:nvPicPr>
        <p:blipFill>
          <a:blip r:embed="rId3">
            <a:grayscl/>
            <a:extLst>
              <a:ext uri="{28A0092B-C50C-407E-A947-70E740481C1C}">
                <a14:useLocalDpi xmlns:a14="http://schemas.microsoft.com/office/drawing/2010/main" val="0"/>
              </a:ext>
            </a:extLst>
          </a:blip>
          <a:srcRect l="15601" t="8000" r="25896" b="11000"/>
          <a:stretch>
            <a:fillRect/>
          </a:stretch>
        </p:blipFill>
        <p:spPr bwMode="auto">
          <a:xfrm>
            <a:off x="1194356" y="5051150"/>
            <a:ext cx="666750" cy="600075"/>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descr="2-36">
            <a:extLst>
              <a:ext uri="{FF2B5EF4-FFF2-40B4-BE49-F238E27FC236}">
                <a16:creationId xmlns:a16="http://schemas.microsoft.com/office/drawing/2014/main" id="{CD649CE2-77B8-4D2C-A9E6-10DAA1945E82}"/>
              </a:ext>
            </a:extLst>
          </p:cNvPr>
          <p:cNvPicPr/>
          <p:nvPr/>
        </p:nvPicPr>
        <p:blipFill>
          <a:blip r:embed="rId4"/>
          <a:stretch>
            <a:fillRect/>
          </a:stretch>
        </p:blipFill>
        <p:spPr>
          <a:xfrm>
            <a:off x="6234389" y="3387205"/>
            <a:ext cx="2313488" cy="2633612"/>
          </a:xfrm>
          <a:prstGeom prst="rect">
            <a:avLst/>
          </a:prstGeom>
        </p:spPr>
      </p:pic>
    </p:spTree>
    <p:extLst>
      <p:ext uri="{BB962C8B-B14F-4D97-AF65-F5344CB8AC3E}">
        <p14:creationId xmlns:p14="http://schemas.microsoft.com/office/powerpoint/2010/main" val="386084820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700" y="38100"/>
            <a:ext cx="8242300" cy="914400"/>
          </a:xfrm>
        </p:spPr>
        <p:txBody>
          <a:bodyPr/>
          <a:lstStyle/>
          <a:p>
            <a:r>
              <a:rPr dirty="0"/>
              <a:t>其他树莓派开发板</a:t>
            </a:r>
          </a:p>
        </p:txBody>
      </p:sp>
      <p:graphicFrame>
        <p:nvGraphicFramePr>
          <p:cNvPr id="10" name="表格 9"/>
          <p:cNvGraphicFramePr/>
          <p:nvPr>
            <p:extLst>
              <p:ext uri="{D42A27DB-BD31-4B8C-83A1-F6EECF244321}">
                <p14:modId xmlns:p14="http://schemas.microsoft.com/office/powerpoint/2010/main" val="2417334082"/>
              </p:ext>
            </p:extLst>
          </p:nvPr>
        </p:nvGraphicFramePr>
        <p:xfrm>
          <a:off x="105221" y="1253302"/>
          <a:ext cx="8958272" cy="5200143"/>
        </p:xfrm>
        <a:graphic>
          <a:graphicData uri="http://schemas.openxmlformats.org/drawingml/2006/table">
            <a:tbl>
              <a:tblPr firstRow="1" bandRow="1">
                <a:tableStyleId>{5940675A-B579-460E-94D1-54222C63F5DA}</a:tableStyleId>
              </a:tblPr>
              <a:tblGrid>
                <a:gridCol w="1970806">
                  <a:extLst>
                    <a:ext uri="{9D8B030D-6E8A-4147-A177-3AD203B41FA5}">
                      <a16:colId xmlns:a16="http://schemas.microsoft.com/office/drawing/2014/main" val="20000"/>
                    </a:ext>
                  </a:extLst>
                </a:gridCol>
                <a:gridCol w="1215978">
                  <a:extLst>
                    <a:ext uri="{9D8B030D-6E8A-4147-A177-3AD203B41FA5}">
                      <a16:colId xmlns:a16="http://schemas.microsoft.com/office/drawing/2014/main" val="20001"/>
                    </a:ext>
                  </a:extLst>
                </a:gridCol>
                <a:gridCol w="670560">
                  <a:extLst>
                    <a:ext uri="{9D8B030D-6E8A-4147-A177-3AD203B41FA5}">
                      <a16:colId xmlns:a16="http://schemas.microsoft.com/office/drawing/2014/main" val="20002"/>
                    </a:ext>
                  </a:extLst>
                </a:gridCol>
                <a:gridCol w="1731264">
                  <a:extLst>
                    <a:ext uri="{9D8B030D-6E8A-4147-A177-3AD203B41FA5}">
                      <a16:colId xmlns:a16="http://schemas.microsoft.com/office/drawing/2014/main" val="20003"/>
                    </a:ext>
                  </a:extLst>
                </a:gridCol>
                <a:gridCol w="1371081">
                  <a:extLst>
                    <a:ext uri="{9D8B030D-6E8A-4147-A177-3AD203B41FA5}">
                      <a16:colId xmlns:a16="http://schemas.microsoft.com/office/drawing/2014/main" val="20004"/>
                    </a:ext>
                  </a:extLst>
                </a:gridCol>
                <a:gridCol w="1196502">
                  <a:extLst>
                    <a:ext uri="{9D8B030D-6E8A-4147-A177-3AD203B41FA5}">
                      <a16:colId xmlns:a16="http://schemas.microsoft.com/office/drawing/2014/main" val="20005"/>
                    </a:ext>
                  </a:extLst>
                </a:gridCol>
                <a:gridCol w="802081">
                  <a:extLst>
                    <a:ext uri="{9D8B030D-6E8A-4147-A177-3AD203B41FA5}">
                      <a16:colId xmlns:a16="http://schemas.microsoft.com/office/drawing/2014/main" val="20006"/>
                    </a:ext>
                  </a:extLst>
                </a:gridCol>
              </a:tblGrid>
              <a:tr h="737998">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开发板型号</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MCU时钟频率</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RAM/GB</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数字引脚数量</a:t>
                      </a:r>
                      <a:r>
                        <a:rPr lang="en-US" sz="2000" kern="100" dirty="0">
                          <a:effectLst/>
                          <a:latin typeface="+mj-ea"/>
                          <a:ea typeface="+mj-ea"/>
                        </a:rPr>
                        <a:t>/</a:t>
                      </a:r>
                      <a:r>
                        <a:rPr lang="en-US" sz="2000" kern="100" dirty="0" err="1">
                          <a:effectLst/>
                          <a:latin typeface="+mj-ea"/>
                          <a:ea typeface="+mj-ea"/>
                        </a:rPr>
                        <a:t>模拟引脚数量</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集成功能</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尺寸</a:t>
                      </a:r>
                      <a:r>
                        <a:rPr lang="en-US" sz="2000" kern="100" dirty="0">
                          <a:effectLst/>
                          <a:latin typeface="+mj-ea"/>
                          <a:ea typeface="+mj-ea"/>
                        </a:rPr>
                        <a:t>/</a:t>
                      </a:r>
                      <a:r>
                        <a:rPr lang="en-US" sz="2000" kern="100" dirty="0" err="1">
                          <a:effectLst/>
                          <a:latin typeface="+mj-ea"/>
                          <a:ea typeface="+mj-ea"/>
                        </a:rPr>
                        <a:t>mm长×宽</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应用场景</a:t>
                      </a:r>
                      <a:endParaRPr lang="en-US" altLang="en-US" sz="2000" b="1" kern="100" dirty="0">
                        <a:solidFill>
                          <a:schemeClr val="lt1"/>
                        </a:solidFill>
                        <a:effectLst/>
                        <a:latin typeface="+mj-ea"/>
                        <a:ea typeface="+mj-ea"/>
                        <a:cs typeface="+mn-cs"/>
                      </a:endParaRPr>
                    </a:p>
                  </a:txBody>
                  <a:tcPr marL="36194" marR="36194" marT="0" marB="0" anchor="ctr"/>
                </a:tc>
                <a:extLst>
                  <a:ext uri="{0D108BD9-81ED-4DB2-BD59-A6C34878D82A}">
                    <a16:rowId xmlns:a16="http://schemas.microsoft.com/office/drawing/2014/main" val="10000"/>
                  </a:ext>
                </a:extLst>
              </a:tr>
              <a:tr h="714883">
                <a:tc>
                  <a:txBody>
                    <a:bodyPr/>
                    <a:lstStyle/>
                    <a:p>
                      <a:pPr indent="0" algn="ctr">
                        <a:lnSpc>
                          <a:spcPct val="100000"/>
                        </a:lnSpc>
                        <a:buNone/>
                      </a:pPr>
                      <a:r>
                        <a:rPr lang="en-US" sz="2000" dirty="0">
                          <a:latin typeface="+mj-ea"/>
                          <a:ea typeface="+mj-ea"/>
                        </a:rPr>
                        <a:t> </a:t>
                      </a:r>
                    </a:p>
                    <a:p>
                      <a:pPr indent="0" algn="ctr">
                        <a:lnSpc>
                          <a:spcPct val="100000"/>
                        </a:lnSpc>
                        <a:buNone/>
                      </a:pPr>
                      <a:endParaRPr lang="en-US" sz="2000" dirty="0">
                        <a:latin typeface="+mj-ea"/>
                        <a:ea typeface="+mj-ea"/>
                      </a:endParaRPr>
                    </a:p>
                    <a:p>
                      <a:pPr indent="0" algn="ctr">
                        <a:lnSpc>
                          <a:spcPct val="100000"/>
                        </a:lnSpc>
                        <a:buNone/>
                      </a:pPr>
                      <a:endParaRPr lang="en-US" sz="2000" dirty="0">
                        <a:latin typeface="+mj-ea"/>
                        <a:ea typeface="+mj-ea"/>
                      </a:endParaRPr>
                    </a:p>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树莓派2B</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BCM28360.9GHz</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1</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altLang="zh-CN" sz="2000" kern="100" dirty="0">
                          <a:effectLst/>
                          <a:latin typeface="+mj-ea"/>
                          <a:ea typeface="+mj-ea"/>
                        </a:rPr>
                        <a:t>40</a:t>
                      </a:r>
                      <a:r>
                        <a:rPr lang="en-US" sz="2000" kern="100" dirty="0">
                          <a:effectLst/>
                          <a:latin typeface="+mj-ea"/>
                          <a:ea typeface="+mj-ea"/>
                        </a:rPr>
                        <a:t>/0</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1800" kern="100" dirty="0" err="1">
                          <a:effectLst/>
                          <a:latin typeface="+mj-ea"/>
                          <a:ea typeface="+mj-ea"/>
                        </a:rPr>
                        <a:t>以太网、HDMI</a:t>
                      </a:r>
                      <a:endParaRPr lang="en-US" altLang="en-US" sz="18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a:effectLst/>
                          <a:latin typeface="+mj-ea"/>
                          <a:ea typeface="+mj-ea"/>
                        </a:rPr>
                        <a:t>85×56</a:t>
                      </a:r>
                      <a:endParaRPr lang="en-US" altLang="en-US" sz="2000" b="0" kern="10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a:effectLst/>
                          <a:latin typeface="+mj-ea"/>
                          <a:ea typeface="+mj-ea"/>
                        </a:rPr>
                        <a:t>教育</a:t>
                      </a:r>
                      <a:endParaRPr lang="en-US" altLang="en-US" sz="2000" b="0" kern="100">
                        <a:solidFill>
                          <a:schemeClr val="dk1"/>
                        </a:solidFill>
                        <a:effectLst/>
                        <a:latin typeface="+mj-ea"/>
                        <a:ea typeface="+mj-ea"/>
                        <a:cs typeface="+mn-cs"/>
                      </a:endParaRPr>
                    </a:p>
                  </a:txBody>
                  <a:tcPr marL="36194" marR="36194" marT="0" marB="0" anchor="ctr"/>
                </a:tc>
                <a:extLst>
                  <a:ext uri="{0D108BD9-81ED-4DB2-BD59-A6C34878D82A}">
                    <a16:rowId xmlns:a16="http://schemas.microsoft.com/office/drawing/2014/main" val="10001"/>
                  </a:ext>
                </a:extLst>
              </a:tr>
              <a:tr h="1231265">
                <a:tc>
                  <a:txBody>
                    <a:bodyPr/>
                    <a:lstStyle/>
                    <a:p>
                      <a:pPr indent="0" algn="ctr">
                        <a:lnSpc>
                          <a:spcPct val="100000"/>
                        </a:lnSpc>
                        <a:buNone/>
                      </a:pPr>
                      <a:r>
                        <a:rPr lang="en-US" sz="2000" dirty="0">
                          <a:latin typeface="+mj-ea"/>
                          <a:ea typeface="+mj-ea"/>
                        </a:rPr>
                        <a:t> </a:t>
                      </a:r>
                    </a:p>
                    <a:p>
                      <a:pPr indent="0" algn="ctr">
                        <a:lnSpc>
                          <a:spcPct val="100000"/>
                        </a:lnSpc>
                        <a:buNone/>
                      </a:pPr>
                      <a:endParaRPr lang="en-US" sz="2400" dirty="0">
                        <a:latin typeface="+mj-ea"/>
                        <a:ea typeface="+mj-ea"/>
                      </a:endParaRPr>
                    </a:p>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树莓派3B+</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BCM2837B01.4GHz</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1</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altLang="zh-CN" sz="2000" kern="100" dirty="0">
                          <a:effectLst/>
                          <a:latin typeface="+mj-ea"/>
                          <a:ea typeface="+mj-ea"/>
                        </a:rPr>
                        <a:t>40</a:t>
                      </a:r>
                      <a:r>
                        <a:rPr lang="en-US" sz="2000" kern="100" dirty="0">
                          <a:effectLst/>
                          <a:latin typeface="+mj-ea"/>
                          <a:ea typeface="+mj-ea"/>
                        </a:rPr>
                        <a:t>/0</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1800" kern="100" dirty="0" err="1">
                          <a:effectLst/>
                          <a:latin typeface="+mj-ea"/>
                          <a:ea typeface="+mj-ea"/>
                        </a:rPr>
                        <a:t>以太网、WiFi、BLE、HDMI</a:t>
                      </a:r>
                      <a:endParaRPr lang="en-US" altLang="en-US" sz="18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85×56</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教育</a:t>
                      </a:r>
                      <a:endParaRPr lang="en-US" altLang="en-US" sz="2000" b="0" kern="100" dirty="0">
                        <a:solidFill>
                          <a:schemeClr val="dk1"/>
                        </a:solidFill>
                        <a:effectLst/>
                        <a:latin typeface="+mj-ea"/>
                        <a:ea typeface="+mj-ea"/>
                        <a:cs typeface="+mn-cs"/>
                      </a:endParaRPr>
                    </a:p>
                  </a:txBody>
                  <a:tcPr marL="36194" marR="36194" marT="0" marB="0" anchor="ctr"/>
                </a:tc>
                <a:extLst>
                  <a:ext uri="{0D108BD9-81ED-4DB2-BD59-A6C34878D82A}">
                    <a16:rowId xmlns:a16="http://schemas.microsoft.com/office/drawing/2014/main" val="10002"/>
                  </a:ext>
                </a:extLst>
              </a:tr>
              <a:tr h="1017428">
                <a:tc>
                  <a:txBody>
                    <a:bodyPr/>
                    <a:lstStyle/>
                    <a:p>
                      <a:pPr marL="0" indent="0" algn="ctr" defTabSz="914400" rtl="0" eaLnBrk="1" latinLnBrk="0" hangingPunct="1">
                        <a:lnSpc>
                          <a:spcPct val="100000"/>
                        </a:lnSpc>
                        <a:spcAft>
                          <a:spcPts val="0"/>
                        </a:spcAft>
                        <a:buClrTx/>
                        <a:buSzTx/>
                        <a:buFontTx/>
                        <a:buNone/>
                      </a:pPr>
                      <a:endParaRPr lang="en-US" altLang="en-US" sz="2000" kern="100" dirty="0">
                        <a:effectLst/>
                        <a:latin typeface="+mj-ea"/>
                        <a:ea typeface="+mj-ea"/>
                      </a:endParaRPr>
                    </a:p>
                    <a:p>
                      <a:pPr marL="0" indent="0" algn="ctr" defTabSz="914400" rtl="0" eaLnBrk="1" latinLnBrk="0" hangingPunct="1">
                        <a:lnSpc>
                          <a:spcPct val="100000"/>
                        </a:lnSpc>
                        <a:spcAft>
                          <a:spcPts val="0"/>
                        </a:spcAft>
                        <a:buClrTx/>
                        <a:buSzTx/>
                        <a:buFontTx/>
                        <a:buNone/>
                      </a:pPr>
                      <a:r>
                        <a:rPr lang="zh-CN" altLang="en-US" sz="2000" kern="100" dirty="0">
                          <a:effectLst/>
                          <a:latin typeface="+mj-ea"/>
                          <a:ea typeface="+mj-ea"/>
                        </a:rPr>
                        <a:t>树莓派</a:t>
                      </a:r>
                      <a:r>
                        <a:rPr lang="en-US" altLang="zh-CN" sz="2000" kern="100" dirty="0">
                          <a:effectLst/>
                          <a:latin typeface="+mj-ea"/>
                          <a:ea typeface="+mj-ea"/>
                        </a:rPr>
                        <a:t>4B</a:t>
                      </a:r>
                      <a:endParaRPr lang="en-US" altLang="en-US" sz="2000" b="1" kern="100" dirty="0">
                        <a:solidFill>
                          <a:schemeClr val="lt1"/>
                        </a:solidFill>
                        <a:effectLst/>
                        <a:latin typeface="+mj-ea"/>
                        <a:ea typeface="+mj-ea"/>
                        <a:cs typeface="+mn-cs"/>
                      </a:endParaRPr>
                    </a:p>
                  </a:txBody>
                  <a:tcPr marL="36194" marR="36194" marT="0" marB="0" anchor="b"/>
                </a:tc>
                <a:tc>
                  <a:txBody>
                    <a:bodyPr/>
                    <a:lstStyle/>
                    <a:p>
                      <a:pPr algn="ctr">
                        <a:lnSpc>
                          <a:spcPct val="100000"/>
                        </a:lnSpc>
                        <a:spcAft>
                          <a:spcPts val="0"/>
                        </a:spcAft>
                      </a:pPr>
                      <a:r>
                        <a:rPr lang="en-US" sz="2000" kern="100" dirty="0">
                          <a:effectLst/>
                          <a:latin typeface="+mj-ea"/>
                          <a:ea typeface="+mj-ea"/>
                        </a:rPr>
                        <a:t>BCM2711</a:t>
                      </a:r>
                      <a:endParaRPr lang="zh-CN" altLang="en-US" sz="2000" kern="100" dirty="0">
                        <a:effectLst/>
                        <a:latin typeface="+mj-ea"/>
                        <a:ea typeface="+mj-ea"/>
                      </a:endParaRPr>
                    </a:p>
                    <a:p>
                      <a:pPr algn="ctr">
                        <a:lnSpc>
                          <a:spcPct val="100000"/>
                        </a:lnSpc>
                        <a:spcAft>
                          <a:spcPts val="0"/>
                        </a:spcAft>
                      </a:pPr>
                      <a:r>
                        <a:rPr lang="en-US" sz="2000" kern="100" dirty="0">
                          <a:effectLst/>
                          <a:latin typeface="+mj-ea"/>
                          <a:ea typeface="+mj-ea"/>
                        </a:rPr>
                        <a:t>1.5GHz</a:t>
                      </a:r>
                      <a:endParaRPr lang="zh-CN" altLang="en-US" sz="2000" b="0" kern="100" dirty="0">
                        <a:solidFill>
                          <a:schemeClr val="dk1"/>
                        </a:solidFill>
                        <a:effectLst/>
                        <a:latin typeface="+mj-ea"/>
                        <a:ea typeface="+mj-ea"/>
                        <a:cs typeface="+mn-cs"/>
                      </a:endParaRPr>
                    </a:p>
                  </a:txBody>
                  <a:tcPr marL="36195" marR="36195" marT="0" marB="0" anchor="ctr"/>
                </a:tc>
                <a:tc>
                  <a:txBody>
                    <a:bodyPr/>
                    <a:lstStyle/>
                    <a:p>
                      <a:pPr algn="ctr">
                        <a:lnSpc>
                          <a:spcPct val="100000"/>
                        </a:lnSpc>
                        <a:spcAft>
                          <a:spcPts val="0"/>
                        </a:spcAft>
                      </a:pPr>
                      <a:r>
                        <a:rPr lang="en-US" sz="2000" kern="100" dirty="0">
                          <a:effectLst/>
                          <a:latin typeface="+mj-ea"/>
                          <a:ea typeface="+mj-ea"/>
                        </a:rPr>
                        <a:t>1/2/4/8</a:t>
                      </a:r>
                      <a:endParaRPr lang="zh-CN" altLang="en-US" sz="2000" b="0" kern="100" dirty="0">
                        <a:solidFill>
                          <a:schemeClr val="dk1"/>
                        </a:solidFill>
                        <a:effectLst/>
                        <a:latin typeface="+mj-ea"/>
                        <a:ea typeface="+mj-ea"/>
                        <a:cs typeface="+mn-cs"/>
                      </a:endParaRPr>
                    </a:p>
                  </a:txBody>
                  <a:tcPr marL="36195" marR="36195" marT="0" marB="0" anchor="ctr"/>
                </a:tc>
                <a:tc>
                  <a:txBody>
                    <a:bodyPr/>
                    <a:lstStyle/>
                    <a:p>
                      <a:pPr algn="ctr">
                        <a:lnSpc>
                          <a:spcPct val="100000"/>
                        </a:lnSpc>
                        <a:spcAft>
                          <a:spcPts val="0"/>
                        </a:spcAft>
                      </a:pPr>
                      <a:r>
                        <a:rPr lang="en-US" sz="2000" kern="100" dirty="0">
                          <a:effectLst/>
                          <a:latin typeface="+mj-ea"/>
                          <a:ea typeface="+mj-ea"/>
                        </a:rPr>
                        <a:t>40/0</a:t>
                      </a:r>
                      <a:endParaRPr lang="zh-CN" altLang="en-US" sz="2000" b="0" kern="100" dirty="0">
                        <a:solidFill>
                          <a:schemeClr val="dk1"/>
                        </a:solidFill>
                        <a:effectLst/>
                        <a:latin typeface="+mj-ea"/>
                        <a:ea typeface="+mj-ea"/>
                        <a:cs typeface="+mn-cs"/>
                      </a:endParaRPr>
                    </a:p>
                  </a:txBody>
                  <a:tcPr marL="36195" marR="36195" marT="0" marB="0" anchor="ctr"/>
                </a:tc>
                <a:tc>
                  <a:txBody>
                    <a:bodyPr/>
                    <a:lstStyle/>
                    <a:p>
                      <a:pPr algn="ctr">
                        <a:lnSpc>
                          <a:spcPct val="100000"/>
                        </a:lnSpc>
                        <a:spcAft>
                          <a:spcPts val="0"/>
                        </a:spcAft>
                      </a:pPr>
                      <a:r>
                        <a:rPr lang="zh-CN" altLang="en-US" sz="1800" kern="100" dirty="0">
                          <a:effectLst/>
                          <a:latin typeface="+mj-ea"/>
                          <a:ea typeface="+mj-ea"/>
                        </a:rPr>
                        <a:t>以太网、</a:t>
                      </a:r>
                      <a:r>
                        <a:rPr lang="en-US" sz="1800" kern="100" dirty="0" err="1">
                          <a:effectLst/>
                          <a:latin typeface="+mj-ea"/>
                          <a:ea typeface="+mj-ea"/>
                        </a:rPr>
                        <a:t>WiFi</a:t>
                      </a:r>
                      <a:r>
                        <a:rPr lang="zh-CN" altLang="en-US" sz="1800" kern="100" dirty="0">
                          <a:effectLst/>
                          <a:latin typeface="+mj-ea"/>
                          <a:ea typeface="+mj-ea"/>
                        </a:rPr>
                        <a:t>、</a:t>
                      </a:r>
                      <a:r>
                        <a:rPr lang="en-US" sz="1800" kern="100" dirty="0">
                          <a:effectLst/>
                          <a:latin typeface="+mj-ea"/>
                          <a:ea typeface="+mj-ea"/>
                        </a:rPr>
                        <a:t>BLE</a:t>
                      </a:r>
                      <a:r>
                        <a:rPr lang="zh-CN" altLang="en-US" sz="1800" kern="100" dirty="0">
                          <a:effectLst/>
                          <a:latin typeface="+mj-ea"/>
                          <a:ea typeface="+mj-ea"/>
                        </a:rPr>
                        <a:t>、</a:t>
                      </a:r>
                      <a:r>
                        <a:rPr lang="en-US" sz="1800" kern="100" dirty="0">
                          <a:effectLst/>
                          <a:latin typeface="+mj-ea"/>
                          <a:ea typeface="+mj-ea"/>
                        </a:rPr>
                        <a:t>BLE5.0</a:t>
                      </a:r>
                      <a:r>
                        <a:rPr lang="zh-CN" altLang="en-US" sz="1800" kern="100" dirty="0">
                          <a:effectLst/>
                          <a:latin typeface="+mj-ea"/>
                          <a:ea typeface="+mj-ea"/>
                        </a:rPr>
                        <a:t>、</a:t>
                      </a:r>
                      <a:r>
                        <a:rPr lang="en-US" sz="1800" kern="100" dirty="0">
                          <a:effectLst/>
                          <a:latin typeface="+mj-ea"/>
                          <a:ea typeface="+mj-ea"/>
                        </a:rPr>
                        <a:t>HDMI</a:t>
                      </a:r>
                      <a:endParaRPr lang="zh-CN" altLang="en-US" sz="1800" b="0" kern="100" dirty="0">
                        <a:solidFill>
                          <a:schemeClr val="dk1"/>
                        </a:solidFill>
                        <a:effectLst/>
                        <a:latin typeface="+mj-ea"/>
                        <a:ea typeface="+mj-ea"/>
                        <a:cs typeface="+mn-cs"/>
                      </a:endParaRPr>
                    </a:p>
                  </a:txBody>
                  <a:tcPr marL="36195" marR="36195" marT="0" marB="0" anchor="ctr"/>
                </a:tc>
                <a:tc>
                  <a:txBody>
                    <a:bodyPr/>
                    <a:lstStyle/>
                    <a:p>
                      <a:pPr algn="ctr">
                        <a:lnSpc>
                          <a:spcPct val="100000"/>
                        </a:lnSpc>
                        <a:spcAft>
                          <a:spcPts val="0"/>
                        </a:spcAft>
                      </a:pPr>
                      <a:r>
                        <a:rPr lang="en-US" sz="2000" kern="100" dirty="0">
                          <a:effectLst/>
                          <a:latin typeface="+mj-ea"/>
                          <a:ea typeface="+mj-ea"/>
                        </a:rPr>
                        <a:t>88×58</a:t>
                      </a:r>
                      <a:endParaRPr lang="zh-CN" altLang="en-US" sz="2000" b="0" kern="100" dirty="0">
                        <a:solidFill>
                          <a:schemeClr val="dk1"/>
                        </a:solidFill>
                        <a:effectLst/>
                        <a:latin typeface="+mj-ea"/>
                        <a:ea typeface="+mj-ea"/>
                        <a:cs typeface="+mn-cs"/>
                      </a:endParaRPr>
                    </a:p>
                  </a:txBody>
                  <a:tcPr marL="36195" marR="36195" marT="0" marB="0" anchor="ctr"/>
                </a:tc>
                <a:tc>
                  <a:txBody>
                    <a:bodyPr/>
                    <a:lstStyle/>
                    <a:p>
                      <a:pPr algn="ctr">
                        <a:lnSpc>
                          <a:spcPct val="100000"/>
                        </a:lnSpc>
                        <a:spcAft>
                          <a:spcPts val="0"/>
                        </a:spcAft>
                      </a:pPr>
                      <a:r>
                        <a:rPr lang="zh-CN" altLang="en-US" sz="2000" kern="100" dirty="0">
                          <a:effectLst/>
                          <a:latin typeface="+mj-ea"/>
                          <a:ea typeface="+mj-ea"/>
                        </a:rPr>
                        <a:t>教育</a:t>
                      </a:r>
                      <a:endParaRPr lang="zh-CN" altLang="en-US" sz="2000" b="0" kern="100" dirty="0">
                        <a:solidFill>
                          <a:schemeClr val="dk1"/>
                        </a:solidFill>
                        <a:effectLst/>
                        <a:latin typeface="+mj-ea"/>
                        <a:ea typeface="+mj-ea"/>
                        <a:cs typeface="+mn-cs"/>
                      </a:endParaRPr>
                    </a:p>
                  </a:txBody>
                  <a:tcPr marL="36195" marR="36195" marT="0" marB="0" anchor="ctr"/>
                </a:tc>
                <a:extLst>
                  <a:ext uri="{0D108BD9-81ED-4DB2-BD59-A6C34878D82A}">
                    <a16:rowId xmlns:a16="http://schemas.microsoft.com/office/drawing/2014/main" val="1590358626"/>
                  </a:ext>
                </a:extLst>
              </a:tr>
              <a:tr h="645160">
                <a:tc>
                  <a:txBody>
                    <a:bodyPr/>
                    <a:lstStyle/>
                    <a:p>
                      <a:pPr indent="0" algn="ctr">
                        <a:lnSpc>
                          <a:spcPct val="100000"/>
                        </a:lnSpc>
                        <a:buNone/>
                      </a:pPr>
                      <a:r>
                        <a:rPr lang="en-US" sz="2000" dirty="0">
                          <a:latin typeface="+mj-ea"/>
                          <a:ea typeface="+mj-ea"/>
                        </a:rPr>
                        <a:t> </a:t>
                      </a:r>
                    </a:p>
                    <a:p>
                      <a:pPr indent="0" algn="ctr">
                        <a:lnSpc>
                          <a:spcPct val="100000"/>
                        </a:lnSpc>
                        <a:buNone/>
                      </a:pPr>
                      <a:endParaRPr lang="en-US" sz="2000" dirty="0">
                        <a:latin typeface="+mj-ea"/>
                        <a:ea typeface="+mj-ea"/>
                      </a:endParaRPr>
                    </a:p>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树莓派Zero</a:t>
                      </a:r>
                      <a:r>
                        <a:rPr lang="en-US" sz="2000" kern="100" dirty="0">
                          <a:effectLst/>
                          <a:latin typeface="+mj-ea"/>
                          <a:ea typeface="+mj-ea"/>
                        </a:rPr>
                        <a:t> W</a:t>
                      </a:r>
                      <a:endParaRPr lang="en-US" altLang="en-US" sz="2000" b="1" kern="100" dirty="0">
                        <a:solidFill>
                          <a:schemeClr val="lt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BCM28351GHz</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a:effectLst/>
                          <a:latin typeface="+mj-ea"/>
                          <a:ea typeface="+mj-ea"/>
                        </a:rPr>
                        <a:t>0.5</a:t>
                      </a:r>
                      <a:endParaRPr lang="en-US" altLang="en-US" sz="2000" b="0" kern="10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a:effectLst/>
                          <a:latin typeface="+mj-ea"/>
                          <a:ea typeface="+mj-ea"/>
                        </a:rPr>
                        <a:t>24/0</a:t>
                      </a:r>
                      <a:endParaRPr lang="en-US" altLang="en-US" sz="2000" b="0" kern="10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1800" kern="100" dirty="0" err="1">
                          <a:effectLst/>
                          <a:latin typeface="+mj-ea"/>
                          <a:ea typeface="+mj-ea"/>
                        </a:rPr>
                        <a:t>WiFi、BLE</a:t>
                      </a:r>
                      <a:r>
                        <a:rPr lang="en-US" sz="1800" kern="100" dirty="0">
                          <a:effectLst/>
                          <a:latin typeface="+mj-ea"/>
                          <a:ea typeface="+mj-ea"/>
                        </a:rPr>
                        <a:t>、 Mini HDMI</a:t>
                      </a:r>
                      <a:endParaRPr lang="en-US" altLang="en-US" sz="18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a:effectLst/>
                          <a:latin typeface="+mj-ea"/>
                          <a:ea typeface="+mj-ea"/>
                        </a:rPr>
                        <a:t>65×30</a:t>
                      </a:r>
                      <a:endParaRPr lang="en-US" altLang="en-US" sz="2000" b="0" kern="100" dirty="0">
                        <a:solidFill>
                          <a:schemeClr val="dk1"/>
                        </a:solidFill>
                        <a:effectLst/>
                        <a:latin typeface="+mj-ea"/>
                        <a:ea typeface="+mj-ea"/>
                        <a:cs typeface="+mn-cs"/>
                      </a:endParaRPr>
                    </a:p>
                  </a:txBody>
                  <a:tcPr marL="36194" marR="36194" marT="0" marB="0" anchor="ctr"/>
                </a:tc>
                <a:tc>
                  <a:txBody>
                    <a:bodyPr/>
                    <a:lstStyle/>
                    <a:p>
                      <a:pPr marL="0" indent="0" algn="ctr" defTabSz="914400" rtl="0" eaLnBrk="1" latinLnBrk="0" hangingPunct="1">
                        <a:lnSpc>
                          <a:spcPct val="100000"/>
                        </a:lnSpc>
                        <a:spcAft>
                          <a:spcPts val="0"/>
                        </a:spcAft>
                        <a:buClrTx/>
                        <a:buSzTx/>
                        <a:buFontTx/>
                        <a:buNone/>
                      </a:pPr>
                      <a:r>
                        <a:rPr lang="en-US" sz="2000" kern="100" dirty="0" err="1">
                          <a:effectLst/>
                          <a:latin typeface="+mj-ea"/>
                          <a:ea typeface="+mj-ea"/>
                        </a:rPr>
                        <a:t>可穿戴</a:t>
                      </a:r>
                      <a:endParaRPr lang="en-US" altLang="en-US" sz="2000" b="0" kern="100" dirty="0">
                        <a:solidFill>
                          <a:schemeClr val="dk1"/>
                        </a:solidFill>
                        <a:effectLst/>
                        <a:latin typeface="+mj-ea"/>
                        <a:ea typeface="+mj-ea"/>
                        <a:cs typeface="+mn-cs"/>
                      </a:endParaRPr>
                    </a:p>
                  </a:txBody>
                  <a:tcPr marL="36194" marR="36194" marT="0" marB="0" anchor="ctr"/>
                </a:tc>
                <a:extLst>
                  <a:ext uri="{0D108BD9-81ED-4DB2-BD59-A6C34878D82A}">
                    <a16:rowId xmlns:a16="http://schemas.microsoft.com/office/drawing/2014/main" val="10003"/>
                  </a:ext>
                </a:extLst>
              </a:tr>
            </a:tbl>
          </a:graphicData>
        </a:graphic>
      </p:graphicFrame>
      <p:pic>
        <p:nvPicPr>
          <p:cNvPr id="11" name="图片 10"/>
          <p:cNvPicPr/>
          <p:nvPr/>
        </p:nvPicPr>
        <p:blipFill>
          <a:blip r:embed="rId4"/>
          <a:stretch>
            <a:fillRect/>
          </a:stretch>
        </p:blipFill>
        <p:spPr>
          <a:xfrm>
            <a:off x="546676" y="2029234"/>
            <a:ext cx="1250950" cy="866140"/>
          </a:xfrm>
          <a:prstGeom prst="rect">
            <a:avLst/>
          </a:prstGeom>
          <a:noFill/>
          <a:ln w="9525">
            <a:noFill/>
          </a:ln>
        </p:spPr>
      </p:pic>
      <p:pic>
        <p:nvPicPr>
          <p:cNvPr id="12" name="图片 11"/>
          <p:cNvPicPr/>
          <p:nvPr/>
        </p:nvPicPr>
        <p:blipFill>
          <a:blip r:embed="rId5"/>
          <a:stretch>
            <a:fillRect/>
          </a:stretch>
        </p:blipFill>
        <p:spPr>
          <a:xfrm>
            <a:off x="600651" y="3300518"/>
            <a:ext cx="997585" cy="632460"/>
          </a:xfrm>
          <a:prstGeom prst="rect">
            <a:avLst/>
          </a:prstGeom>
          <a:noFill/>
          <a:ln w="9525">
            <a:noFill/>
          </a:ln>
        </p:spPr>
      </p:pic>
      <p:pic>
        <p:nvPicPr>
          <p:cNvPr id="13" name="图片 12"/>
          <p:cNvPicPr/>
          <p:nvPr/>
        </p:nvPicPr>
        <p:blipFill>
          <a:blip r:embed="rId6"/>
          <a:stretch>
            <a:fillRect/>
          </a:stretch>
        </p:blipFill>
        <p:spPr>
          <a:xfrm>
            <a:off x="573662" y="5572433"/>
            <a:ext cx="1051560" cy="533400"/>
          </a:xfrm>
          <a:prstGeom prst="rect">
            <a:avLst/>
          </a:prstGeom>
          <a:noFill/>
          <a:ln w="9525">
            <a:noFill/>
          </a:ln>
        </p:spPr>
      </p:pic>
      <p:grpSp>
        <p:nvGrpSpPr>
          <p:cNvPr id="4" name="组合 3">
            <a:extLst>
              <a:ext uri="{FF2B5EF4-FFF2-40B4-BE49-F238E27FC236}">
                <a16:creationId xmlns:a16="http://schemas.microsoft.com/office/drawing/2014/main" id="{2344393D-DFF5-49EF-88F6-C1267119492D}"/>
              </a:ext>
            </a:extLst>
          </p:cNvPr>
          <p:cNvGrpSpPr/>
          <p:nvPr/>
        </p:nvGrpSpPr>
        <p:grpSpPr>
          <a:xfrm>
            <a:off x="600650" y="4526572"/>
            <a:ext cx="997585" cy="632460"/>
            <a:chOff x="588293" y="4916835"/>
            <a:chExt cx="997585" cy="632460"/>
          </a:xfrm>
        </p:grpSpPr>
        <p:sp>
          <p:nvSpPr>
            <p:cNvPr id="3" name="矩形 2">
              <a:extLst>
                <a:ext uri="{FF2B5EF4-FFF2-40B4-BE49-F238E27FC236}">
                  <a16:creationId xmlns:a16="http://schemas.microsoft.com/office/drawing/2014/main" id="{01082FA6-946F-433E-9642-519BBD6CAB79}"/>
                </a:ext>
              </a:extLst>
            </p:cNvPr>
            <p:cNvSpPr/>
            <p:nvPr/>
          </p:nvSpPr>
          <p:spPr bwMode="auto">
            <a:xfrm>
              <a:off x="588293" y="4916835"/>
              <a:ext cx="997585" cy="63246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50000"/>
                </a:spcBef>
                <a:spcAft>
                  <a:spcPct val="0"/>
                </a:spcAft>
                <a:buClr>
                  <a:schemeClr val="bg1"/>
                </a:buClr>
                <a:buSzPct val="100000"/>
                <a:buFontTx/>
                <a:buNone/>
              </a:pPr>
              <a:endParaRPr kumimoji="0" lang="zh-CN" altLang="en-US" sz="2400" b="0" i="0" u="none" strike="noStrike" cap="none" normalizeH="0" baseline="-2500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pic>
          <p:nvPicPr>
            <p:cNvPr id="7" name="图片 6">
              <a:extLst>
                <a:ext uri="{FF2B5EF4-FFF2-40B4-BE49-F238E27FC236}">
                  <a16:creationId xmlns:a16="http://schemas.microsoft.com/office/drawing/2014/main" id="{9AFC58B8-EBA8-4FA3-9174-2FEF11E4D66D}"/>
                </a:ext>
              </a:extLst>
            </p:cNvPr>
            <p:cNvPicPr/>
            <p:nvPr/>
          </p:nvPicPr>
          <p:blipFill>
            <a:blip r:embed="rId7">
              <a:clrChange>
                <a:clrFrom>
                  <a:srgbClr val="FFFFFF"/>
                </a:clrFrom>
                <a:clrTo>
                  <a:srgbClr val="FFFFFF">
                    <a:alpha val="0"/>
                  </a:srgbClr>
                </a:clrTo>
              </a:clrChange>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856264" y="4916835"/>
              <a:ext cx="407670" cy="615315"/>
            </a:xfrm>
            <a:prstGeom prst="rect">
              <a:avLst/>
            </a:prstGeom>
          </p:spPr>
        </p:pic>
      </p:grpSp>
      <p:sp>
        <p:nvSpPr>
          <p:cNvPr id="14" name="灯片编号占位符 4">
            <a:extLst>
              <a:ext uri="{FF2B5EF4-FFF2-40B4-BE49-F238E27FC236}">
                <a16:creationId xmlns:a16="http://schemas.microsoft.com/office/drawing/2014/main" id="{6E11BDE0-4574-4535-A15B-317882570B6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60</a:t>
            </a:fld>
            <a:endParaRPr lang="zh-CN" altLang="zh-CN" sz="1800" baseline="0" dirty="0">
              <a:solidFill>
                <a:schemeClr val="folHlink"/>
              </a:solidFill>
              <a:latin typeface="Monotype Corsiva" panose="03010101010201010101" pitchFamily="66" charset="0"/>
            </a:endParaRPr>
          </a:p>
        </p:txBody>
      </p:sp>
    </p:spTree>
    <p:custDataLst>
      <p:tags r:id="rId1"/>
    </p:custData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其他树莓派开发板</a:t>
            </a:r>
          </a:p>
        </p:txBody>
      </p:sp>
      <p:sp>
        <p:nvSpPr>
          <p:cNvPr id="3" name="内容占位符 2"/>
          <p:cNvSpPr>
            <a:spLocks noGrp="1"/>
          </p:cNvSpPr>
          <p:nvPr>
            <p:ph idx="1"/>
          </p:nvPr>
        </p:nvSpPr>
        <p:spPr/>
        <p:txBody>
          <a:bodyPr/>
          <a:lstStyle/>
          <a:p>
            <a:r>
              <a:rPr lang="zh-CN" altLang="en-US" dirty="0"/>
              <a:t>主要特点</a:t>
            </a:r>
            <a:endParaRPr lang="en-US" altLang="zh-CN" dirty="0"/>
          </a:p>
          <a:p>
            <a:pPr lvl="1"/>
            <a:r>
              <a:rPr lang="zh-CN" altLang="en-US" b="1" dirty="0"/>
              <a:t>开发简单</a:t>
            </a:r>
            <a:r>
              <a:rPr lang="zh-CN" altLang="en-US" dirty="0"/>
              <a:t>：树莓派软件开发库支持</a:t>
            </a:r>
            <a:r>
              <a:rPr lang="en-US" altLang="zh-CN" dirty="0"/>
              <a:t>C</a:t>
            </a:r>
            <a:r>
              <a:rPr lang="zh-CN" altLang="en-US" dirty="0"/>
              <a:t>、</a:t>
            </a:r>
            <a:r>
              <a:rPr lang="en-US" altLang="zh-CN" dirty="0"/>
              <a:t>Python</a:t>
            </a:r>
            <a:r>
              <a:rPr lang="zh-CN" altLang="en-US" dirty="0"/>
              <a:t>开发语言，除此之外还支持</a:t>
            </a:r>
            <a:r>
              <a:rPr lang="en-US" altLang="zh-CN" dirty="0"/>
              <a:t>JavaScript</a:t>
            </a:r>
            <a:r>
              <a:rPr lang="zh-CN" altLang="en-US" dirty="0"/>
              <a:t>。这些语言都是跨平台的高级编程语言，所以在开发方面树莓派也具有快速、易上手的特点</a:t>
            </a:r>
          </a:p>
          <a:p>
            <a:pPr lvl="1"/>
            <a:r>
              <a:rPr lang="zh-CN" altLang="en-US" b="1" dirty="0"/>
              <a:t>上手容易</a:t>
            </a:r>
            <a:r>
              <a:rPr lang="zh-CN" altLang="en-US" dirty="0"/>
              <a:t>：树莓派就是一台微型计算机，可以接入键盘、鼠标、显示器等外设，装好系统后就可以像普通计算机一样使用</a:t>
            </a:r>
          </a:p>
          <a:p>
            <a:pPr lvl="1"/>
            <a:r>
              <a:rPr lang="zh-CN" altLang="en-US" b="1" dirty="0"/>
              <a:t>功能强大</a:t>
            </a:r>
            <a:r>
              <a:rPr lang="zh-CN" altLang="en-US" dirty="0"/>
              <a:t>：树莓派采用基于</a:t>
            </a:r>
            <a:r>
              <a:rPr lang="en-US" altLang="zh-CN" dirty="0"/>
              <a:t>Cortex-A</a:t>
            </a:r>
            <a:r>
              <a:rPr lang="zh-CN" altLang="en-US" dirty="0"/>
              <a:t>系列的高频微控制器，主频可达</a:t>
            </a:r>
            <a:r>
              <a:rPr lang="en-US" altLang="zh-CN" dirty="0"/>
              <a:t>1.5GHz</a:t>
            </a:r>
            <a:r>
              <a:rPr lang="zh-CN" altLang="en-US" dirty="0"/>
              <a:t>，配有高达</a:t>
            </a:r>
            <a:r>
              <a:rPr lang="en-US" altLang="zh-CN" dirty="0"/>
              <a:t>8GB</a:t>
            </a:r>
            <a:r>
              <a:rPr lang="zh-CN" altLang="en-US" dirty="0"/>
              <a:t>内存，还有</a:t>
            </a:r>
            <a:r>
              <a:rPr lang="en-US" altLang="zh-CN" dirty="0"/>
              <a:t>HDMI</a:t>
            </a:r>
            <a:r>
              <a:rPr lang="zh-CN" altLang="en-US" dirty="0"/>
              <a:t>、</a:t>
            </a:r>
            <a:r>
              <a:rPr lang="en-US" altLang="zh-CN" dirty="0"/>
              <a:t>USB</a:t>
            </a:r>
            <a:r>
              <a:rPr lang="zh-CN" altLang="en-US" dirty="0"/>
              <a:t>、</a:t>
            </a:r>
            <a:r>
              <a:rPr lang="en-US" altLang="zh-CN" dirty="0"/>
              <a:t>AV</a:t>
            </a:r>
            <a:r>
              <a:rPr lang="zh-CN" altLang="en-US" dirty="0"/>
              <a:t>、以太网等接口，硬件配置方面堪比普通计算机</a:t>
            </a:r>
          </a:p>
        </p:txBody>
      </p:sp>
      <p:sp>
        <p:nvSpPr>
          <p:cNvPr id="6" name="灯片编号占位符 4">
            <a:extLst>
              <a:ext uri="{FF2B5EF4-FFF2-40B4-BE49-F238E27FC236}">
                <a16:creationId xmlns:a16="http://schemas.microsoft.com/office/drawing/2014/main" id="{5000A21E-D0EE-44CA-A999-10E161F8904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61</a:t>
            </a:fld>
            <a:endParaRPr lang="zh-CN" altLang="zh-CN" sz="1800" baseline="0" dirty="0">
              <a:solidFill>
                <a:schemeClr val="folHlink"/>
              </a:solidFill>
              <a:latin typeface="Monotype Corsiva" panose="03010101010201010101" pitchFamily="66" charset="0"/>
            </a:endParaRPr>
          </a:p>
        </p:txBody>
      </p:sp>
    </p:spTree>
    <p:custDataLst>
      <p:tags r:id="rId1"/>
    </p:custData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A107CE-25C6-4AAC-9F1B-1F529BBEA0C3}"/>
              </a:ext>
            </a:extLst>
          </p:cNvPr>
          <p:cNvSpPr>
            <a:spLocks noGrp="1"/>
          </p:cNvSpPr>
          <p:nvPr>
            <p:ph type="title"/>
          </p:nvPr>
        </p:nvSpPr>
        <p:spPr/>
        <p:txBody>
          <a:bodyPr/>
          <a:lstStyle/>
          <a:p>
            <a:r>
              <a:rPr lang="zh-CN" altLang="en-US"/>
              <a:t>思考题</a:t>
            </a:r>
            <a:endParaRPr lang="zh-CN" altLang="en-US" dirty="0"/>
          </a:p>
        </p:txBody>
      </p:sp>
      <p:sp>
        <p:nvSpPr>
          <p:cNvPr id="3" name="内容占位符 2">
            <a:extLst>
              <a:ext uri="{FF2B5EF4-FFF2-40B4-BE49-F238E27FC236}">
                <a16:creationId xmlns:a16="http://schemas.microsoft.com/office/drawing/2014/main" id="{66447D13-5471-4863-B714-288C5DE10C54}"/>
              </a:ext>
            </a:extLst>
          </p:cNvPr>
          <p:cNvSpPr>
            <a:spLocks noGrp="1"/>
          </p:cNvSpPr>
          <p:nvPr>
            <p:ph idx="1"/>
          </p:nvPr>
        </p:nvSpPr>
        <p:spPr/>
        <p:txBody>
          <a:bodyPr/>
          <a:lstStyle/>
          <a:p>
            <a:r>
              <a:rPr lang="zh-CN" altLang="zh-CN" dirty="0"/>
              <a:t>列举</a:t>
            </a:r>
            <a:r>
              <a:rPr lang="en-US" altLang="zh-CN" dirty="0"/>
              <a:t>Arduino</a:t>
            </a:r>
            <a:r>
              <a:rPr lang="zh-CN" altLang="zh-CN" dirty="0"/>
              <a:t>、</a:t>
            </a:r>
            <a:r>
              <a:rPr lang="en-US" altLang="zh-CN" dirty="0"/>
              <a:t>STM32</a:t>
            </a:r>
            <a:r>
              <a:rPr lang="zh-CN" altLang="zh-CN" dirty="0"/>
              <a:t>、传感器节点、树莓派四个硬件平台的常见开发板，对比四个平台各自的特点，并简述各自平台的使用场景</a:t>
            </a:r>
            <a:endParaRPr lang="zh-CN" altLang="en-US" dirty="0"/>
          </a:p>
        </p:txBody>
      </p:sp>
      <p:sp>
        <p:nvSpPr>
          <p:cNvPr id="4" name="灯片编号占位符 4">
            <a:extLst>
              <a:ext uri="{FF2B5EF4-FFF2-40B4-BE49-F238E27FC236}">
                <a16:creationId xmlns:a16="http://schemas.microsoft.com/office/drawing/2014/main" id="{F6950C77-F279-4B16-BB91-0E8EC90EA14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62</a:t>
            </a:fld>
            <a:endParaRPr lang="zh-CN" altLang="zh-CN" sz="1800" baseline="0" dirty="0">
              <a:solidFill>
                <a:schemeClr val="folHlink"/>
              </a:solidFill>
              <a:latin typeface="Monotype Corsiva" panose="03010101010201010101" pitchFamily="66" charset="0"/>
            </a:endParaRPr>
          </a:p>
        </p:txBody>
      </p:sp>
    </p:spTree>
    <p:extLst>
      <p:ext uri="{BB962C8B-B14F-4D97-AF65-F5344CB8AC3E}">
        <p14:creationId xmlns:p14="http://schemas.microsoft.com/office/powerpoint/2010/main" val="410988925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目录</a:t>
            </a:r>
            <a:endParaRPr lang="zh-CN" altLang="en-US" dirty="0"/>
          </a:p>
        </p:txBody>
      </p:sp>
      <p:sp>
        <p:nvSpPr>
          <p:cNvPr id="5" name="内容占位符 2"/>
          <p:cNvSpPr>
            <a:spLocks noGrp="1"/>
          </p:cNvSpPr>
          <p:nvPr>
            <p:ph idx="4294967295"/>
          </p:nvPr>
        </p:nvSpPr>
        <p:spPr>
          <a:xfrm>
            <a:off x="457200" y="990600"/>
            <a:ext cx="8305800" cy="5410200"/>
          </a:xfrm>
        </p:spPr>
        <p:txBody>
          <a:bodyPr/>
          <a:lstStyle/>
          <a:p>
            <a:endParaRPr lang="zh-CN" altLang="en-US" sz="2800" dirty="0"/>
          </a:p>
          <a:p>
            <a:r>
              <a:rPr lang="zh-CN" altLang="en-US" sz="2800" dirty="0">
                <a:sym typeface="+mn-ea"/>
              </a:rPr>
              <a:t>概述</a:t>
            </a:r>
            <a:endParaRPr lang="zh-CN" altLang="en-US" sz="2800" dirty="0"/>
          </a:p>
          <a:p>
            <a:r>
              <a:rPr lang="zh-CN" altLang="en-US" sz="2800" dirty="0">
                <a:sym typeface="+mn-ea"/>
              </a:rPr>
              <a:t>关键特性</a:t>
            </a:r>
            <a:endParaRPr lang="zh-CN" altLang="en-US" sz="2800" dirty="0"/>
          </a:p>
          <a:p>
            <a:r>
              <a:rPr lang="zh-CN" altLang="en-US" sz="2800" dirty="0">
                <a:sym typeface="+mn-ea"/>
              </a:rPr>
              <a:t>常见的硬件平台</a:t>
            </a:r>
            <a:endParaRPr lang="zh-CN" altLang="en-US" sz="2800" dirty="0"/>
          </a:p>
          <a:p>
            <a:r>
              <a:rPr lang="zh-CN" altLang="en-US" sz="2800" dirty="0">
                <a:solidFill>
                  <a:srgbClr val="C00000"/>
                </a:solidFill>
                <a:sym typeface="+mn-ea"/>
              </a:rPr>
              <a:t>案例开发</a:t>
            </a:r>
            <a:endParaRPr lang="zh-CN" altLang="en-US" sz="2800" dirty="0">
              <a:solidFill>
                <a:srgbClr val="C00000"/>
              </a:solidFill>
            </a:endParaRPr>
          </a:p>
          <a:p>
            <a:r>
              <a:rPr lang="zh-CN" altLang="en-US" sz="2800" dirty="0">
                <a:sym typeface="+mn-ea"/>
              </a:rPr>
              <a:t>学术研究进展</a:t>
            </a:r>
            <a:endParaRPr lang="zh-CN" altLang="en-US" sz="2800" dirty="0"/>
          </a:p>
        </p:txBody>
      </p:sp>
    </p:spTree>
    <p:extLst>
      <p:ext uri="{BB962C8B-B14F-4D97-AF65-F5344CB8AC3E}">
        <p14:creationId xmlns:p14="http://schemas.microsoft.com/office/powerpoint/2010/main" val="24867050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平台编程</a:t>
            </a:r>
            <a:endParaRPr lang="zh-CN" altLang="en-US" dirty="0"/>
          </a:p>
        </p:txBody>
      </p:sp>
      <p:sp>
        <p:nvSpPr>
          <p:cNvPr id="3" name="内容占位符 2"/>
          <p:cNvSpPr>
            <a:spLocks noGrp="1"/>
          </p:cNvSpPr>
          <p:nvPr>
            <p:ph idx="1"/>
          </p:nvPr>
        </p:nvSpPr>
        <p:spPr/>
        <p:txBody>
          <a:bodyPr/>
          <a:lstStyle/>
          <a:p>
            <a:r>
              <a:rPr lang="zh-CN"/>
              <a:t>统一编程接口</a:t>
            </a:r>
            <a:endParaRPr lang="en-US" altLang="zh-CN"/>
          </a:p>
          <a:p>
            <a:pPr lvl="1"/>
            <a:r>
              <a:rPr lang="en-US" altLang="zh-CN"/>
              <a:t>开发语言基于C++，在此之上封装了很多编程接口</a:t>
            </a:r>
          </a:p>
          <a:p>
            <a:pPr lvl="1"/>
            <a:r>
              <a:rPr lang="en-US" altLang="zh-CN"/>
              <a:t>使用setup-loop的代码结构</a:t>
            </a:r>
          </a:p>
          <a:p>
            <a:pPr lvl="2"/>
            <a:r>
              <a:rPr lang="en-US" altLang="zh-CN"/>
              <a:t>setup是程序入口函数，仅执行一次，往往用于程序的初始化</a:t>
            </a:r>
          </a:p>
          <a:p>
            <a:pPr lvl="2"/>
            <a:r>
              <a:rPr lang="en-US" altLang="zh-CN"/>
              <a:t>loop是setup执行完后紧接着执行的循环体</a:t>
            </a:r>
            <a:endParaRPr lang="en-US" altLang="zh-CN" dirty="0"/>
          </a:p>
        </p:txBody>
      </p:sp>
      <p:sp>
        <p:nvSpPr>
          <p:cNvPr id="4" name="矩形 3"/>
          <p:cNvSpPr/>
          <p:nvPr/>
        </p:nvSpPr>
        <p:spPr bwMode="auto">
          <a:xfrm>
            <a:off x="647700" y="3200399"/>
            <a:ext cx="7848600" cy="3238501"/>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void setup(){</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 put your setup code here, to run once:</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err="1">
                <a:ln>
                  <a:noFill/>
                </a:ln>
                <a:solidFill>
                  <a:prstClr val="black"/>
                </a:solidFill>
                <a:effectLst/>
                <a:uLnTx/>
                <a:uFillTx/>
                <a:latin typeface="Courier New" panose="02070309020205020404" pitchFamily="49" charset="0"/>
                <a:cs typeface="Courier New" panose="02070309020205020404" pitchFamily="49" charset="0"/>
              </a:rPr>
              <a:t>Serial.begin</a:t>
            </a: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(9600);</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a:t>
            </a: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void loop(){</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 put your main code here, to run repeatedly:</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err="1">
                <a:ln>
                  <a:noFill/>
                </a:ln>
                <a:solidFill>
                  <a:prstClr val="black"/>
                </a:solidFill>
                <a:effectLst/>
                <a:uLnTx/>
                <a:uFillTx/>
                <a:latin typeface="Courier New" panose="02070309020205020404" pitchFamily="49" charset="0"/>
                <a:cs typeface="Courier New" panose="02070309020205020404" pitchFamily="49" charset="0"/>
              </a:rPr>
              <a:t>Serial.println</a:t>
            </a: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(“Hello Arduino”);</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delay(1000);</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25000" noProof="0" dirty="0">
                <a:ln>
                  <a:noFill/>
                </a:ln>
                <a:solidFill>
                  <a:prstClr val="black"/>
                </a:solidFill>
                <a:effectLst/>
                <a:uLnTx/>
                <a:uFillTx/>
                <a:latin typeface="Courier New" panose="02070309020205020404" pitchFamily="49" charset="0"/>
                <a:cs typeface="Courier New" panose="02070309020205020404" pitchFamily="49" charset="0"/>
              </a:rPr>
              <a:t>}</a:t>
            </a:r>
          </a:p>
        </p:txBody>
      </p:sp>
      <p:sp>
        <p:nvSpPr>
          <p:cNvPr id="7" name="灯片编号占位符 4">
            <a:extLst>
              <a:ext uri="{FF2B5EF4-FFF2-40B4-BE49-F238E27FC236}">
                <a16:creationId xmlns:a16="http://schemas.microsoft.com/office/drawing/2014/main" id="{2723BFCD-6750-4926-B90F-18C874605C4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平台编程</a:t>
            </a:r>
            <a:endParaRPr lang="zh-CN" altLang="en-US" dirty="0"/>
          </a:p>
        </p:txBody>
      </p:sp>
      <p:sp>
        <p:nvSpPr>
          <p:cNvPr id="3" name="内容占位符 2"/>
          <p:cNvSpPr>
            <a:spLocks noGrp="1"/>
          </p:cNvSpPr>
          <p:nvPr>
            <p:ph idx="1"/>
          </p:nvPr>
        </p:nvSpPr>
        <p:spPr/>
        <p:txBody>
          <a:bodyPr/>
          <a:lstStyle/>
          <a:p>
            <a:r>
              <a:rPr lang="en-US" altLang="zh-CN"/>
              <a:t>集成开发环境-Arduino IDE</a:t>
            </a:r>
          </a:p>
          <a:p>
            <a:pPr lvl="1"/>
            <a:r>
              <a:rPr lang="en-US" altLang="zh-CN"/>
              <a:t>支持部分Arduino开发板的交叉编译、程序烧写和串口调试</a:t>
            </a:r>
          </a:p>
          <a:p>
            <a:pPr lvl="1"/>
            <a:r>
              <a:rPr lang="en-US" altLang="zh-CN"/>
              <a:t>支持Windows、Mac OS、Linux三种操作系统</a:t>
            </a:r>
            <a:endParaRPr lang="en-US" altLang="zh-CN" dirty="0"/>
          </a:p>
        </p:txBody>
      </p:sp>
      <p:pic>
        <p:nvPicPr>
          <p:cNvPr id="4" name="图片 3">
            <a:extLst>
              <a:ext uri="{FF2B5EF4-FFF2-40B4-BE49-F238E27FC236}">
                <a16:creationId xmlns:a16="http://schemas.microsoft.com/office/drawing/2014/main" id="{64800D7F-6E30-401B-B2F8-B7295FAE2BF5}"/>
              </a:ext>
            </a:extLst>
          </p:cNvPr>
          <p:cNvPicPr>
            <a:picLocks noChangeAspect="1"/>
          </p:cNvPicPr>
          <p:nvPr/>
        </p:nvPicPr>
        <p:blipFill>
          <a:blip r:embed="rId3"/>
          <a:stretch>
            <a:fillRect/>
          </a:stretch>
        </p:blipFill>
        <p:spPr>
          <a:xfrm>
            <a:off x="2125773" y="2552363"/>
            <a:ext cx="4778154" cy="3886537"/>
          </a:xfrm>
          <a:prstGeom prst="rect">
            <a:avLst/>
          </a:prstGeom>
        </p:spPr>
      </p:pic>
      <p:sp>
        <p:nvSpPr>
          <p:cNvPr id="7" name="灯片编号占位符 4">
            <a:extLst>
              <a:ext uri="{FF2B5EF4-FFF2-40B4-BE49-F238E27FC236}">
                <a16:creationId xmlns:a16="http://schemas.microsoft.com/office/drawing/2014/main" id="{8AF68BF9-3408-4FB1-B032-8D35F38321E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平台使用案例</a:t>
            </a:r>
            <a:r>
              <a:rPr lang="en-US" altLang="zh-CN"/>
              <a:t>-</a:t>
            </a:r>
            <a:r>
              <a:rPr lang="zh-CN" altLang="en-US"/>
              <a:t>室内环境检测</a:t>
            </a:r>
            <a:endParaRPr lang="zh-CN" altLang="en-US" dirty="0"/>
          </a:p>
        </p:txBody>
      </p:sp>
      <p:sp>
        <p:nvSpPr>
          <p:cNvPr id="3" name="内容占位符 2"/>
          <p:cNvSpPr>
            <a:spLocks noGrp="1"/>
          </p:cNvSpPr>
          <p:nvPr>
            <p:ph idx="1"/>
          </p:nvPr>
        </p:nvSpPr>
        <p:spPr/>
        <p:txBody>
          <a:bodyPr/>
          <a:lstStyle/>
          <a:p>
            <a:r>
              <a:rPr lang="zh-CN" altLang="en-US"/>
              <a:t>步骤</a:t>
            </a:r>
            <a:r>
              <a:rPr lang="en-US" altLang="zh-CN"/>
              <a:t>1</a:t>
            </a:r>
            <a:r>
              <a:rPr lang="zh-CN" altLang="en-US"/>
              <a:t>：确定硬件解决方案</a:t>
            </a:r>
            <a:endParaRPr lang="en-US" altLang="zh-CN"/>
          </a:p>
          <a:p>
            <a:pPr lvl="1"/>
            <a:r>
              <a:rPr lang="en-US" altLang="zh-CN"/>
              <a:t>Arduino UNO</a:t>
            </a:r>
            <a:r>
              <a:rPr lang="zh-CN" altLang="en-US"/>
              <a:t>开发板只包含</a:t>
            </a:r>
            <a:r>
              <a:rPr lang="en-US" altLang="zh-CN"/>
              <a:t>MCU</a:t>
            </a:r>
            <a:r>
              <a:rPr lang="zh-CN" altLang="en-US"/>
              <a:t>和执行模块</a:t>
            </a:r>
            <a:r>
              <a:rPr lang="en-US" altLang="zh-CN"/>
              <a:t>LED</a:t>
            </a:r>
            <a:r>
              <a:rPr lang="zh-CN" altLang="en-US"/>
              <a:t>，没有集成任何的传感模块。需要外接温度传感模块和湿度传感模块，这里选择温湿度传感模块</a:t>
            </a:r>
            <a:r>
              <a:rPr lang="en-US" altLang="zh-CN"/>
              <a:t>DHT11</a:t>
            </a:r>
          </a:p>
          <a:p>
            <a:pPr lvl="1"/>
            <a:r>
              <a:rPr lang="zh-CN" altLang="en-US"/>
              <a:t>实物连接关系如图所示</a:t>
            </a:r>
            <a:endParaRPr lang="en-US" altLang="zh-CN"/>
          </a:p>
          <a:p>
            <a:endParaRPr lang="zh-CN" altLang="en-US" dirty="0"/>
          </a:p>
        </p:txBody>
      </p:sp>
      <p:pic>
        <p:nvPicPr>
          <p:cNvPr id="5" name="图片 4" descr="2-37"/>
          <p:cNvPicPr/>
          <p:nvPr/>
        </p:nvPicPr>
        <p:blipFill>
          <a:blip r:embed="rId3"/>
          <a:stretch>
            <a:fillRect/>
          </a:stretch>
        </p:blipFill>
        <p:spPr>
          <a:xfrm>
            <a:off x="534560" y="3153746"/>
            <a:ext cx="4037440" cy="2770659"/>
          </a:xfrm>
          <a:prstGeom prst="rect">
            <a:avLst/>
          </a:prstGeom>
        </p:spPr>
      </p:pic>
      <p:pic>
        <p:nvPicPr>
          <p:cNvPr id="6" name="图片 5" descr="微信图片_20181130105832"/>
          <p:cNvPicPr/>
          <p:nvPr/>
        </p:nvPicPr>
        <p:blipFill>
          <a:blip r:embed="rId4" cstate="print">
            <a:grayscl/>
            <a:lum bright="12000"/>
            <a:extLst>
              <a:ext uri="{28A0092B-C50C-407E-A947-70E740481C1C}">
                <a14:useLocalDpi xmlns:a14="http://schemas.microsoft.com/office/drawing/2010/main" val="0"/>
              </a:ext>
            </a:extLst>
          </a:blip>
          <a:srcRect b="7618"/>
          <a:stretch>
            <a:fillRect/>
          </a:stretch>
        </p:blipFill>
        <p:spPr>
          <a:xfrm>
            <a:off x="5211750" y="3096741"/>
            <a:ext cx="3397690" cy="2770659"/>
          </a:xfrm>
          <a:prstGeom prst="rect">
            <a:avLst/>
          </a:prstGeom>
          <a:noFill/>
          <a:ln>
            <a:noFill/>
          </a:ln>
        </p:spPr>
      </p:pic>
      <p:sp>
        <p:nvSpPr>
          <p:cNvPr id="8" name="灯片编号占位符 4">
            <a:extLst>
              <a:ext uri="{FF2B5EF4-FFF2-40B4-BE49-F238E27FC236}">
                <a16:creationId xmlns:a16="http://schemas.microsoft.com/office/drawing/2014/main" id="{0FD3595F-B618-410C-9F94-36A0115EF7E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平台使用案例</a:t>
            </a:r>
            <a:r>
              <a:rPr lang="en-US" altLang="zh-CN"/>
              <a:t>-</a:t>
            </a:r>
            <a:r>
              <a:rPr lang="zh-CN" altLang="en-US"/>
              <a:t>室内环境检测</a:t>
            </a:r>
            <a:endParaRPr lang="zh-CN" altLang="en-US" dirty="0"/>
          </a:p>
        </p:txBody>
      </p:sp>
      <p:sp>
        <p:nvSpPr>
          <p:cNvPr id="3" name="内容占位符 2"/>
          <p:cNvSpPr>
            <a:spLocks noGrp="1"/>
          </p:cNvSpPr>
          <p:nvPr>
            <p:ph idx="1"/>
          </p:nvPr>
        </p:nvSpPr>
        <p:spPr/>
        <p:txBody>
          <a:bodyPr/>
          <a:lstStyle/>
          <a:p>
            <a:r>
              <a:rPr lang="zh-CN" altLang="en-US"/>
              <a:t>步骤</a:t>
            </a:r>
            <a:r>
              <a:rPr lang="en-US" altLang="zh-CN"/>
              <a:t>2</a:t>
            </a:r>
            <a:r>
              <a:rPr lang="zh-CN" altLang="en-US"/>
              <a:t>：确定软件解决方案</a:t>
            </a:r>
            <a:endParaRPr lang="en-US" altLang="zh-CN"/>
          </a:p>
          <a:p>
            <a:pPr lvl="1"/>
            <a:r>
              <a:rPr lang="en-US" altLang="zh-CN"/>
              <a:t>Arduino IDE</a:t>
            </a:r>
            <a:r>
              <a:rPr lang="zh-CN" altLang="en-US"/>
              <a:t>是为</a:t>
            </a:r>
            <a:r>
              <a:rPr lang="en-US" altLang="zh-CN"/>
              <a:t>Arduino</a:t>
            </a:r>
            <a:r>
              <a:rPr lang="zh-CN" altLang="en-US"/>
              <a:t>系列硬件平台旗下开发板定制的集成开发环境，包括软件库支持、交叉编译、程序烧写和串口通信等功能</a:t>
            </a:r>
            <a:endParaRPr lang="en-US" altLang="zh-CN"/>
          </a:p>
          <a:p>
            <a:r>
              <a:rPr lang="zh-CN" altLang="en-US"/>
              <a:t>打开</a:t>
            </a:r>
            <a:r>
              <a:rPr lang="en-US" altLang="zh-CN"/>
              <a:t>Arduino IDE</a:t>
            </a:r>
            <a:r>
              <a:rPr lang="zh-CN" altLang="en-US"/>
              <a:t>，编写应用程序代码</a:t>
            </a:r>
            <a:endParaRPr lang="en-US" altLang="zh-CN" dirty="0"/>
          </a:p>
        </p:txBody>
      </p:sp>
      <p:pic>
        <p:nvPicPr>
          <p:cNvPr id="4" name="图片 3"/>
          <p:cNvPicPr>
            <a:picLocks noChangeAspect="1"/>
          </p:cNvPicPr>
          <p:nvPr/>
        </p:nvPicPr>
        <p:blipFill>
          <a:blip r:embed="rId3"/>
          <a:stretch>
            <a:fillRect/>
          </a:stretch>
        </p:blipFill>
        <p:spPr>
          <a:xfrm>
            <a:off x="3079102" y="2817403"/>
            <a:ext cx="3359020" cy="3887519"/>
          </a:xfrm>
          <a:prstGeom prst="rect">
            <a:avLst/>
          </a:prstGeom>
        </p:spPr>
      </p:pic>
      <p:sp>
        <p:nvSpPr>
          <p:cNvPr id="7" name="灯片编号占位符 4">
            <a:extLst>
              <a:ext uri="{FF2B5EF4-FFF2-40B4-BE49-F238E27FC236}">
                <a16:creationId xmlns:a16="http://schemas.microsoft.com/office/drawing/2014/main" id="{1734C271-5DE0-47FB-AA5F-B29DE4D2ADDC}"/>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平台使用案例</a:t>
            </a:r>
            <a:r>
              <a:rPr lang="en-US" altLang="zh-CN"/>
              <a:t>-</a:t>
            </a:r>
            <a:r>
              <a:rPr lang="zh-CN" altLang="en-US"/>
              <a:t>室内环境检测</a:t>
            </a:r>
            <a:endParaRPr lang="zh-CN" altLang="en-US" dirty="0"/>
          </a:p>
        </p:txBody>
      </p:sp>
      <p:sp>
        <p:nvSpPr>
          <p:cNvPr id="3" name="内容占位符 2"/>
          <p:cNvSpPr>
            <a:spLocks noGrp="1"/>
          </p:cNvSpPr>
          <p:nvPr>
            <p:ph idx="1"/>
          </p:nvPr>
        </p:nvSpPr>
        <p:spPr/>
        <p:txBody>
          <a:bodyPr/>
          <a:lstStyle/>
          <a:p>
            <a:r>
              <a:rPr lang="en-US" altLang="zh-CN"/>
              <a:t>Arduino</a:t>
            </a:r>
            <a:r>
              <a:rPr lang="zh-CN" altLang="en-US"/>
              <a:t>使用</a:t>
            </a:r>
            <a:r>
              <a:rPr lang="en-US" altLang="zh-CN"/>
              <a:t>setup-loop</a:t>
            </a:r>
            <a:r>
              <a:rPr lang="zh-CN" altLang="en-US"/>
              <a:t>的代码结构，如图所示。</a:t>
            </a:r>
            <a:r>
              <a:rPr lang="en-US" altLang="zh-CN"/>
              <a:t>setup</a:t>
            </a:r>
            <a:r>
              <a:rPr lang="zh-CN" altLang="en-US"/>
              <a:t>是程序入口函数，仅执行一次，往往用于程序的初始化；</a:t>
            </a:r>
            <a:r>
              <a:rPr lang="en-US" altLang="zh-CN"/>
              <a:t>loop</a:t>
            </a:r>
            <a:r>
              <a:rPr lang="zh-CN" altLang="en-US"/>
              <a:t>是循环体，</a:t>
            </a:r>
            <a:r>
              <a:rPr lang="en-US" altLang="zh-CN"/>
              <a:t>setup</a:t>
            </a:r>
            <a:r>
              <a:rPr lang="zh-CN" altLang="en-US"/>
              <a:t>返回之后会被重复执行。</a:t>
            </a:r>
            <a:endParaRPr lang="en-US" altLang="zh-CN" dirty="0"/>
          </a:p>
        </p:txBody>
      </p:sp>
      <p:sp>
        <p:nvSpPr>
          <p:cNvPr id="7" name="文本框 6"/>
          <p:cNvSpPr txBox="1"/>
          <p:nvPr/>
        </p:nvSpPr>
        <p:spPr>
          <a:xfrm>
            <a:off x="1434177" y="3054273"/>
            <a:ext cx="6351845" cy="20313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setup(){</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初始化，仅执行一次</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loop(){</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循环体，重复执行</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defRPr/>
            </a:pPr>
            <a:endParaRPr kumimoji="0" lang="en-US" altLang="zh-CN" sz="1800" b="0" i="0" u="none" strike="noStrike" kern="1200" cap="none" spc="0" normalizeH="0" baseline="0" noProof="0" dirty="0">
              <a:ln>
                <a:noFill/>
              </a:ln>
              <a:solidFill>
                <a:prstClr val="black"/>
              </a:solidFill>
              <a:effectLst/>
              <a:uLnTx/>
              <a:uFillTx/>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8" name="灯片编号占位符 4">
            <a:extLst>
              <a:ext uri="{FF2B5EF4-FFF2-40B4-BE49-F238E27FC236}">
                <a16:creationId xmlns:a16="http://schemas.microsoft.com/office/drawing/2014/main" id="{C29E7FB4-E06C-4C28-A6F2-44C5E5D5419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平台使用案例</a:t>
            </a:r>
            <a:r>
              <a:rPr lang="en-US" altLang="zh-CN"/>
              <a:t>-</a:t>
            </a:r>
            <a:r>
              <a:rPr lang="zh-CN" altLang="en-US"/>
              <a:t>室内环境检测</a:t>
            </a:r>
            <a:endParaRPr lang="zh-CN" altLang="en-US" dirty="0"/>
          </a:p>
        </p:txBody>
      </p:sp>
      <p:sp>
        <p:nvSpPr>
          <p:cNvPr id="3" name="内容占位符 2"/>
          <p:cNvSpPr>
            <a:spLocks noGrp="1"/>
          </p:cNvSpPr>
          <p:nvPr>
            <p:ph idx="1"/>
          </p:nvPr>
        </p:nvSpPr>
        <p:spPr/>
        <p:txBody>
          <a:bodyPr/>
          <a:lstStyle/>
          <a:p>
            <a:r>
              <a:rPr lang="zh-CN" altLang="en-US"/>
              <a:t>案例程序如下：</a:t>
            </a:r>
            <a:endParaRPr lang="en-US" altLang="zh-CN" dirty="0"/>
          </a:p>
        </p:txBody>
      </p:sp>
      <p:sp>
        <p:nvSpPr>
          <p:cNvPr id="6" name="文本框 5"/>
          <p:cNvSpPr txBox="1"/>
          <p:nvPr/>
        </p:nvSpPr>
        <p:spPr>
          <a:xfrm>
            <a:off x="155642" y="6042511"/>
            <a:ext cx="8832716" cy="338554"/>
          </a:xfrm>
          <a:prstGeom prst="rect">
            <a:avLst/>
          </a:prstGeom>
          <a:noFill/>
        </p:spPr>
        <p:txBody>
          <a:bodyPr wrap="square" rtlCol="0">
            <a:spAutoFit/>
          </a:bodyPr>
          <a:lstStyle/>
          <a:p>
            <a:r>
              <a:rPr lang="en-US" altLang="zh-CN" dirty="0">
                <a:latin typeface="+mj-ea"/>
                <a:ea typeface="+mj-ea"/>
              </a:rPr>
              <a:t>DHT11</a:t>
            </a:r>
            <a:r>
              <a:rPr lang="zh-CN" altLang="en-US" dirty="0">
                <a:latin typeface="+mj-ea"/>
                <a:ea typeface="+mj-ea"/>
              </a:rPr>
              <a:t>库：</a:t>
            </a:r>
            <a:r>
              <a:rPr lang="en-US" altLang="zh-CN" dirty="0">
                <a:latin typeface="+mj-ea"/>
                <a:ea typeface="+mj-ea"/>
              </a:rPr>
              <a:t>https://github.com/Seeed-Studio/Grove_Temperature_And_Humidity_Sensor</a:t>
            </a:r>
            <a:endParaRPr lang="zh-CN" altLang="en-US" dirty="0">
              <a:latin typeface="+mj-ea"/>
              <a:ea typeface="+mj-ea"/>
            </a:endParaRPr>
          </a:p>
        </p:txBody>
      </p:sp>
      <p:sp>
        <p:nvSpPr>
          <p:cNvPr id="7" name="文本框 6"/>
          <p:cNvSpPr txBox="1"/>
          <p:nvPr/>
        </p:nvSpPr>
        <p:spPr>
          <a:xfrm>
            <a:off x="725805" y="1775460"/>
            <a:ext cx="7578090" cy="424731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#include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DHT.h</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DHT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dht</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(2, DHT11); //DHT11的数据引脚连接开发板2号引脚</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setup(){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程序初始化代码，执行一次</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Serial.begin</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(9600); 	//串口打印波特率为9600 Bd/s</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dht.begin</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//初始化DHT11模块</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void loop() {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float h =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dht.readHumidity</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读湿度数据</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float t =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dht.readTemperature</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读温度数据</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Serial.print</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("Humidity: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Serial.println</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打印湿度</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Serial.print</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("Temperature: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Serial.println</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打印温度</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delay(3000);        //每间隔3s打印一次环境数据</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p:txBody>
      </p:sp>
      <p:sp>
        <p:nvSpPr>
          <p:cNvPr id="8" name="灯片编号占位符 4">
            <a:extLst>
              <a:ext uri="{FF2B5EF4-FFF2-40B4-BE49-F238E27FC236}">
                <a16:creationId xmlns:a16="http://schemas.microsoft.com/office/drawing/2014/main" id="{370C5927-A9FD-4EB7-BDE4-A4FE965B7B5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69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平台使用案例</a:t>
            </a:r>
            <a:r>
              <a:rPr lang="en-US" altLang="zh-CN"/>
              <a:t>-</a:t>
            </a:r>
            <a:r>
              <a:rPr lang="zh-CN" altLang="en-US"/>
              <a:t>室内环境检测</a:t>
            </a:r>
            <a:endParaRPr lang="zh-CN" altLang="en-US" dirty="0"/>
          </a:p>
        </p:txBody>
      </p:sp>
      <p:sp>
        <p:nvSpPr>
          <p:cNvPr id="3" name="内容占位符 2"/>
          <p:cNvSpPr>
            <a:spLocks noGrp="1"/>
          </p:cNvSpPr>
          <p:nvPr>
            <p:ph idx="1"/>
          </p:nvPr>
        </p:nvSpPr>
        <p:spPr/>
        <p:txBody>
          <a:bodyPr/>
          <a:lstStyle/>
          <a:p>
            <a:r>
              <a:rPr lang="zh-CN" altLang="en-US"/>
              <a:t>步骤</a:t>
            </a:r>
            <a:r>
              <a:rPr lang="en-US" altLang="zh-CN"/>
              <a:t>3</a:t>
            </a:r>
            <a:r>
              <a:rPr lang="zh-CN" altLang="en-US"/>
              <a:t>：交叉编译</a:t>
            </a:r>
            <a:endParaRPr lang="en-US" altLang="zh-CN"/>
          </a:p>
          <a:p>
            <a:pPr lvl="1"/>
            <a:r>
              <a:rPr lang="zh-CN" altLang="en-US"/>
              <a:t>如图所示，在</a:t>
            </a:r>
            <a:r>
              <a:rPr lang="en-US" altLang="zh-CN"/>
              <a:t>Arduino IDE</a:t>
            </a:r>
            <a:r>
              <a:rPr lang="zh-CN" altLang="en-US"/>
              <a:t>下，选择“工具”→“开发板”→“</a:t>
            </a:r>
            <a:r>
              <a:rPr lang="en-US" altLang="zh-CN"/>
              <a:t>Arduino UNO”</a:t>
            </a:r>
            <a:r>
              <a:rPr lang="zh-CN" altLang="en-US"/>
              <a:t>。单击“验证”，开始交叉编译程序。</a:t>
            </a:r>
            <a:endParaRPr lang="zh-CN" altLang="en-US" dirty="0"/>
          </a:p>
        </p:txBody>
      </p:sp>
      <p:pic>
        <p:nvPicPr>
          <p:cNvPr id="46082"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599" y="2315183"/>
            <a:ext cx="4412554" cy="441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400178999"/>
              </p:ext>
            </p:extLst>
          </p:nvPr>
        </p:nvGraphicFramePr>
        <p:xfrm>
          <a:off x="5627450" y="2315183"/>
          <a:ext cx="2653366" cy="4419290"/>
        </p:xfrm>
        <a:graphic>
          <a:graphicData uri="http://schemas.openxmlformats.org/presentationml/2006/ole">
            <mc:AlternateContent xmlns:mc="http://schemas.openxmlformats.org/markup-compatibility/2006">
              <mc:Choice xmlns:v="urn:schemas-microsoft-com:vml" Requires="v">
                <p:oleObj spid="_x0000_s46375" name="Visio" r:id="rId5" imgW="4121150" imgH="6884035" progId="Visio.Drawing.11">
                  <p:embed/>
                </p:oleObj>
              </mc:Choice>
              <mc:Fallback>
                <p:oleObj name="Visio" r:id="rId5" imgW="4121150" imgH="6884035"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27450" y="2315183"/>
                        <a:ext cx="2653366" cy="4419290"/>
                      </a:xfrm>
                      <a:prstGeom prst="rect">
                        <a:avLst/>
                      </a:prstGeom>
                      <a:noFill/>
                    </p:spPr>
                  </p:pic>
                </p:oleObj>
              </mc:Fallback>
            </mc:AlternateContent>
          </a:graphicData>
        </a:graphic>
      </p:graphicFrame>
      <p:sp>
        <p:nvSpPr>
          <p:cNvPr id="9" name="灯片编号占位符 4">
            <a:extLst>
              <a:ext uri="{FF2B5EF4-FFF2-40B4-BE49-F238E27FC236}">
                <a16:creationId xmlns:a16="http://schemas.microsoft.com/office/drawing/2014/main" id="{D33EACE6-66A3-4A4B-8701-207541B592F4}"/>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70</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平台使用案例</a:t>
            </a:r>
            <a:r>
              <a:rPr lang="en-US" altLang="zh-CN"/>
              <a:t>-</a:t>
            </a:r>
            <a:r>
              <a:rPr lang="zh-CN" altLang="en-US"/>
              <a:t>室内环境检测</a:t>
            </a:r>
            <a:endParaRPr lang="zh-CN" altLang="en-US" dirty="0"/>
          </a:p>
        </p:txBody>
      </p:sp>
      <p:sp>
        <p:nvSpPr>
          <p:cNvPr id="3" name="内容占位符 2"/>
          <p:cNvSpPr>
            <a:spLocks noGrp="1"/>
          </p:cNvSpPr>
          <p:nvPr>
            <p:ph idx="1"/>
          </p:nvPr>
        </p:nvSpPr>
        <p:spPr/>
        <p:txBody>
          <a:bodyPr/>
          <a:lstStyle/>
          <a:p>
            <a:r>
              <a:rPr lang="zh-CN" altLang="en-US"/>
              <a:t>步骤</a:t>
            </a:r>
            <a:r>
              <a:rPr lang="en-US" altLang="zh-CN"/>
              <a:t>4</a:t>
            </a:r>
            <a:r>
              <a:rPr lang="zh-CN" altLang="en-US"/>
              <a:t>：</a:t>
            </a:r>
            <a:r>
              <a:rPr lang="zh-CN" altLang="zh-CN"/>
              <a:t>烧写程序</a:t>
            </a:r>
            <a:endParaRPr lang="en-US" altLang="zh-CN"/>
          </a:p>
          <a:p>
            <a:pPr lvl="1"/>
            <a:r>
              <a:rPr lang="zh-CN" altLang="en-US"/>
              <a:t>通过</a:t>
            </a:r>
            <a:r>
              <a:rPr lang="en-US" altLang="zh-CN"/>
              <a:t>USB</a:t>
            </a:r>
            <a:r>
              <a:rPr lang="zh-CN" altLang="en-US"/>
              <a:t>把开发板接至计算机</a:t>
            </a:r>
            <a:endParaRPr lang="zh-CN" altLang="en-US" dirty="0"/>
          </a:p>
        </p:txBody>
      </p:sp>
      <p:pic>
        <p:nvPicPr>
          <p:cNvPr id="47106" name="Picture 2" desc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278" y="2273619"/>
            <a:ext cx="5104583" cy="324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7" name="Picture 3" descr="微信图片_201811201444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1861" y="1606076"/>
            <a:ext cx="3190875"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4">
            <a:extLst>
              <a:ext uri="{FF2B5EF4-FFF2-40B4-BE49-F238E27FC236}">
                <a16:creationId xmlns:a16="http://schemas.microsoft.com/office/drawing/2014/main" id="{3BE04272-9DA3-470B-AE7D-A5D94B9A987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Arduino</a:t>
            </a:r>
            <a:r>
              <a:rPr lang="zh-CN" altLang="en-US"/>
              <a:t>平台使用案例</a:t>
            </a:r>
            <a:r>
              <a:rPr lang="en-US" altLang="zh-CN"/>
              <a:t>-</a:t>
            </a:r>
            <a:r>
              <a:rPr lang="zh-CN" altLang="en-US"/>
              <a:t>室内环境检测</a:t>
            </a:r>
            <a:endParaRPr lang="zh-CN" altLang="en-US" dirty="0"/>
          </a:p>
        </p:txBody>
      </p:sp>
      <p:sp>
        <p:nvSpPr>
          <p:cNvPr id="3" name="内容占位符 2"/>
          <p:cNvSpPr>
            <a:spLocks noGrp="1"/>
          </p:cNvSpPr>
          <p:nvPr>
            <p:ph idx="1"/>
          </p:nvPr>
        </p:nvSpPr>
        <p:spPr/>
        <p:txBody>
          <a:bodyPr/>
          <a:lstStyle/>
          <a:p>
            <a:r>
              <a:rPr lang="zh-CN" altLang="en-US"/>
              <a:t>步骤</a:t>
            </a:r>
            <a:r>
              <a:rPr lang="en-US" altLang="zh-CN"/>
              <a:t>5</a:t>
            </a:r>
            <a:r>
              <a:rPr lang="zh-CN" altLang="en-US"/>
              <a:t>：案例测试</a:t>
            </a:r>
            <a:endParaRPr lang="en-US" altLang="zh-CN"/>
          </a:p>
          <a:p>
            <a:pPr lvl="1"/>
            <a:r>
              <a:rPr lang="zh-CN" altLang="zh-CN"/>
              <a:t>打开串口，设置波特率为</a:t>
            </a:r>
            <a:r>
              <a:rPr lang="en-US" altLang="zh-CN"/>
              <a:t>9600</a:t>
            </a:r>
            <a:r>
              <a:rPr lang="zh-CN" altLang="zh-CN"/>
              <a:t>，查看实时监测的室内环境数据</a:t>
            </a:r>
            <a:endParaRPr lang="zh-CN" altLang="en-US" dirty="0"/>
          </a:p>
        </p:txBody>
      </p:sp>
      <p:pic>
        <p:nvPicPr>
          <p:cNvPr id="48130"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752" y="1967275"/>
            <a:ext cx="6994496" cy="4643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4">
            <a:extLst>
              <a:ext uri="{FF2B5EF4-FFF2-40B4-BE49-F238E27FC236}">
                <a16:creationId xmlns:a16="http://schemas.microsoft.com/office/drawing/2014/main" id="{3E83C435-FC97-4105-B08E-DD2A87180DB9}"/>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基于树莓派</a:t>
            </a:r>
            <a:r>
              <a:rPr lang="en-US" altLang="zh-CN" dirty="0"/>
              <a:t>4B</a:t>
            </a:r>
            <a:r>
              <a:rPr lang="zh-CN" altLang="en-US" dirty="0"/>
              <a:t>的开发</a:t>
            </a:r>
            <a:r>
              <a:rPr lang="en-US" altLang="zh-CN" dirty="0"/>
              <a:t>-</a:t>
            </a:r>
            <a:r>
              <a:rPr lang="zh-CN" altLang="en-US" dirty="0"/>
              <a:t>室内环境监测</a:t>
            </a:r>
          </a:p>
        </p:txBody>
      </p:sp>
      <p:sp>
        <p:nvSpPr>
          <p:cNvPr id="3" name="内容占位符 2"/>
          <p:cNvSpPr>
            <a:spLocks noGrp="1"/>
          </p:cNvSpPr>
          <p:nvPr>
            <p:ph idx="1"/>
          </p:nvPr>
        </p:nvSpPr>
        <p:spPr/>
        <p:txBody>
          <a:bodyPr/>
          <a:lstStyle/>
          <a:p>
            <a:r>
              <a:rPr lang="zh-CN" altLang="en-US" dirty="0"/>
              <a:t>步骤</a:t>
            </a:r>
            <a:r>
              <a:rPr lang="en-US" altLang="zh-CN" dirty="0"/>
              <a:t>1</a:t>
            </a:r>
            <a:r>
              <a:rPr lang="zh-CN" altLang="en-US" dirty="0"/>
              <a:t>：确定硬件解决方案</a:t>
            </a:r>
            <a:endParaRPr lang="en-US" altLang="zh-CN" dirty="0"/>
          </a:p>
          <a:p>
            <a:pPr lvl="1"/>
            <a:r>
              <a:rPr lang="zh-CN" altLang="en-US" dirty="0"/>
              <a:t>树莓派</a:t>
            </a:r>
            <a:r>
              <a:rPr lang="en-US" altLang="zh-CN" dirty="0"/>
              <a:t>4B</a:t>
            </a:r>
            <a:r>
              <a:rPr lang="zh-CN" altLang="en-US" dirty="0"/>
              <a:t>开发板只包含</a:t>
            </a:r>
            <a:r>
              <a:rPr lang="en-US" altLang="zh-CN" dirty="0"/>
              <a:t>MCU</a:t>
            </a:r>
            <a:r>
              <a:rPr lang="zh-CN" altLang="en-US" dirty="0"/>
              <a:t>和通信模块</a:t>
            </a:r>
            <a:r>
              <a:rPr lang="en-US" altLang="zh-CN" dirty="0" err="1"/>
              <a:t>WiFi</a:t>
            </a:r>
            <a:r>
              <a:rPr lang="en-US" altLang="zh-CN" dirty="0"/>
              <a:t>/BLE/</a:t>
            </a:r>
            <a:r>
              <a:rPr lang="zh-CN" altLang="en-US" dirty="0"/>
              <a:t>以太网，没有集成任何的传感模块。需要外接温度传感模块和湿度传感模块</a:t>
            </a:r>
            <a:r>
              <a:rPr lang="en-US" altLang="zh-CN" dirty="0"/>
              <a:t>DHT11</a:t>
            </a:r>
          </a:p>
        </p:txBody>
      </p:sp>
      <p:pic>
        <p:nvPicPr>
          <p:cNvPr id="7" name="图片 6"/>
          <p:cNvPicPr/>
          <p:nvPr/>
        </p:nvPicPr>
        <p:blipFill>
          <a:blip r:embed="rId3" cstate="print">
            <a:extLst>
              <a:ext uri="{28A0092B-C50C-407E-A947-70E740481C1C}">
                <a14:useLocalDpi xmlns:a14="http://schemas.microsoft.com/office/drawing/2010/main" val="0"/>
              </a:ext>
            </a:extLst>
          </a:blip>
          <a:stretch>
            <a:fillRect/>
          </a:stretch>
        </p:blipFill>
        <p:spPr bwMode="auto">
          <a:xfrm>
            <a:off x="457200" y="2668555"/>
            <a:ext cx="3928188" cy="3454998"/>
          </a:xfrm>
          <a:prstGeom prst="rect">
            <a:avLst/>
          </a:prstGeom>
          <a:noFill/>
          <a:ln>
            <a:noFill/>
          </a:ln>
        </p:spPr>
      </p:pic>
      <p:pic>
        <p:nvPicPr>
          <p:cNvPr id="8" name="图片 7" descr="IMG_20180927_150206_[B@4e3c4da"/>
          <p:cNvPicPr/>
          <p:nvPr/>
        </p:nvPicPr>
        <p:blipFill>
          <a:blip r:embed="rId4" cstate="print">
            <a:grayscl/>
            <a:extLst>
              <a:ext uri="{28A0092B-C50C-407E-A947-70E740481C1C}">
                <a14:useLocalDpi xmlns:a14="http://schemas.microsoft.com/office/drawing/2010/main" val="0"/>
              </a:ext>
            </a:extLst>
          </a:blip>
          <a:srcRect t="3431" b="18886"/>
          <a:stretch>
            <a:fillRect/>
          </a:stretch>
        </p:blipFill>
        <p:spPr>
          <a:xfrm>
            <a:off x="4990750" y="3209730"/>
            <a:ext cx="3645250" cy="2372647"/>
          </a:xfrm>
          <a:prstGeom prst="rect">
            <a:avLst/>
          </a:prstGeom>
          <a:noFill/>
          <a:ln>
            <a:noFill/>
          </a:ln>
        </p:spPr>
      </p:pic>
      <p:sp>
        <p:nvSpPr>
          <p:cNvPr id="9" name="灯片编号占位符 4">
            <a:extLst>
              <a:ext uri="{FF2B5EF4-FFF2-40B4-BE49-F238E27FC236}">
                <a16:creationId xmlns:a16="http://schemas.microsoft.com/office/drawing/2014/main" id="{02661BF4-4808-46B1-994F-3AEF23BFF51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基于树莓派</a:t>
            </a:r>
            <a:r>
              <a:rPr lang="en-US" altLang="zh-CN"/>
              <a:t>4B</a:t>
            </a:r>
            <a:r>
              <a:rPr lang="zh-CN" altLang="en-US"/>
              <a:t>的开发</a:t>
            </a:r>
            <a:r>
              <a:rPr lang="en-US" altLang="zh-CN"/>
              <a:t>-</a:t>
            </a:r>
            <a:r>
              <a:rPr lang="zh-CN" altLang="en-US"/>
              <a:t>室内环境监测</a:t>
            </a:r>
            <a:endParaRPr lang="zh-CN" altLang="en-US" dirty="0"/>
          </a:p>
        </p:txBody>
      </p:sp>
      <p:sp>
        <p:nvSpPr>
          <p:cNvPr id="3" name="内容占位符 2"/>
          <p:cNvSpPr>
            <a:spLocks noGrp="1"/>
          </p:cNvSpPr>
          <p:nvPr>
            <p:ph idx="1"/>
          </p:nvPr>
        </p:nvSpPr>
        <p:spPr/>
        <p:txBody>
          <a:bodyPr/>
          <a:lstStyle/>
          <a:p>
            <a:r>
              <a:rPr lang="zh-CN" altLang="en-US"/>
              <a:t>步骤</a:t>
            </a:r>
            <a:r>
              <a:rPr lang="en-US" altLang="zh-CN"/>
              <a:t>2</a:t>
            </a:r>
            <a:r>
              <a:rPr lang="zh-CN" altLang="en-US"/>
              <a:t>：确定软件解决方案</a:t>
            </a:r>
            <a:endParaRPr lang="en-US" altLang="zh-CN"/>
          </a:p>
          <a:p>
            <a:pPr lvl="1"/>
            <a:r>
              <a:rPr lang="zh-CN" altLang="en-US"/>
              <a:t>为了进行树莓派</a:t>
            </a:r>
            <a:r>
              <a:rPr lang="en-US" altLang="zh-CN"/>
              <a:t>4B</a:t>
            </a:r>
            <a:r>
              <a:rPr lang="zh-CN" altLang="en-US"/>
              <a:t>的软件开发，需要操作系统的支持。目前树莓派</a:t>
            </a:r>
            <a:r>
              <a:rPr lang="en-US" altLang="zh-CN"/>
              <a:t>4B</a:t>
            </a:r>
            <a:r>
              <a:rPr lang="zh-CN" altLang="en-US"/>
              <a:t>支持</a:t>
            </a:r>
            <a:r>
              <a:rPr lang="en-US" altLang="zh-CN"/>
              <a:t>Linux</a:t>
            </a:r>
            <a:r>
              <a:rPr lang="zh-CN" altLang="en-US"/>
              <a:t>（</a:t>
            </a:r>
            <a:r>
              <a:rPr lang="en-US" altLang="zh-CN"/>
              <a:t>Raspbian</a:t>
            </a:r>
            <a:r>
              <a:rPr lang="zh-CN" altLang="en-US"/>
              <a:t>、</a:t>
            </a:r>
            <a:r>
              <a:rPr lang="en-US" altLang="zh-CN"/>
              <a:t>Ubuntu</a:t>
            </a:r>
            <a:r>
              <a:rPr lang="zh-CN" altLang="en-US"/>
              <a:t>等）、</a:t>
            </a:r>
            <a:r>
              <a:rPr lang="en-US" altLang="zh-CN"/>
              <a:t>Windows 10 IoT Core</a:t>
            </a:r>
            <a:r>
              <a:rPr lang="zh-CN" altLang="en-US"/>
              <a:t>、</a:t>
            </a:r>
            <a:r>
              <a:rPr lang="en-US" altLang="zh-CN"/>
              <a:t>RISC OS</a:t>
            </a:r>
            <a:r>
              <a:rPr lang="zh-CN" altLang="en-US"/>
              <a:t>等操作系统，这里选择</a:t>
            </a:r>
            <a:r>
              <a:rPr lang="en-US" altLang="zh-CN"/>
              <a:t>Raspbian Stretch with desktop</a:t>
            </a:r>
            <a:r>
              <a:rPr lang="zh-CN" altLang="en-US"/>
              <a:t>系统进行应用开发</a:t>
            </a:r>
            <a:endParaRPr lang="en-US" altLang="zh-CN"/>
          </a:p>
          <a:p>
            <a:pPr lvl="1"/>
            <a:r>
              <a:rPr lang="zh-CN" altLang="en-US"/>
              <a:t>在</a:t>
            </a:r>
            <a:r>
              <a:rPr lang="en-US" altLang="zh-CN"/>
              <a:t>Linux</a:t>
            </a:r>
            <a:r>
              <a:rPr lang="zh-CN" altLang="en-US"/>
              <a:t>系统下，有两个常用的树莓派开源开发库，分别是</a:t>
            </a:r>
            <a:r>
              <a:rPr lang="en-US" altLang="zh-CN"/>
              <a:t>WiringPi</a:t>
            </a:r>
            <a:r>
              <a:rPr lang="zh-CN" altLang="en-US"/>
              <a:t>和</a:t>
            </a:r>
            <a:r>
              <a:rPr lang="en-US" altLang="zh-CN"/>
              <a:t>GrovePi</a:t>
            </a:r>
            <a:r>
              <a:rPr lang="zh-CN" altLang="en-US"/>
              <a:t>。类似于</a:t>
            </a:r>
            <a:r>
              <a:rPr lang="en-US" altLang="zh-CN"/>
              <a:t>Arduino IDE</a:t>
            </a:r>
            <a:r>
              <a:rPr lang="zh-CN" altLang="en-US"/>
              <a:t>，</a:t>
            </a:r>
            <a:r>
              <a:rPr lang="en-US" altLang="zh-CN"/>
              <a:t>WiringPi</a:t>
            </a:r>
            <a:r>
              <a:rPr lang="zh-CN" altLang="en-US"/>
              <a:t>和</a:t>
            </a:r>
            <a:r>
              <a:rPr lang="en-US" altLang="zh-CN"/>
              <a:t>GrovePi</a:t>
            </a:r>
            <a:r>
              <a:rPr lang="zh-CN" altLang="en-US"/>
              <a:t>也为树莓派开发提供了统一的编程接口</a:t>
            </a:r>
            <a:endParaRPr lang="en-US" altLang="zh-CN" dirty="0"/>
          </a:p>
        </p:txBody>
      </p:sp>
      <p:sp>
        <p:nvSpPr>
          <p:cNvPr id="6" name="灯片编号占位符 4">
            <a:extLst>
              <a:ext uri="{FF2B5EF4-FFF2-40B4-BE49-F238E27FC236}">
                <a16:creationId xmlns:a16="http://schemas.microsoft.com/office/drawing/2014/main" id="{4F603BAC-59B1-4B81-80F7-90D2A5509B57}"/>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74</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基于树莓派</a:t>
            </a:r>
            <a:r>
              <a:rPr lang="en-US" altLang="zh-CN" dirty="0"/>
              <a:t>4B</a:t>
            </a:r>
            <a:r>
              <a:rPr lang="zh-CN" altLang="en-US" dirty="0"/>
              <a:t>的开发</a:t>
            </a:r>
            <a:r>
              <a:rPr lang="en-US" altLang="zh-CN" dirty="0"/>
              <a:t>-</a:t>
            </a:r>
            <a:r>
              <a:rPr lang="zh-CN" altLang="en-US" dirty="0"/>
              <a:t>室内环境监测</a:t>
            </a:r>
          </a:p>
        </p:txBody>
      </p:sp>
      <p:sp>
        <p:nvSpPr>
          <p:cNvPr id="3" name="内容占位符 2"/>
          <p:cNvSpPr>
            <a:spLocks noGrp="1"/>
          </p:cNvSpPr>
          <p:nvPr>
            <p:ph idx="1"/>
          </p:nvPr>
        </p:nvSpPr>
        <p:spPr/>
        <p:txBody>
          <a:bodyPr/>
          <a:lstStyle/>
          <a:p>
            <a:pPr lvl="1"/>
            <a:r>
              <a:rPr lang="en-US" altLang="zh-CN"/>
              <a:t>WiringPi</a:t>
            </a:r>
            <a:r>
              <a:rPr lang="zh-CN" altLang="en-US"/>
              <a:t>是一个专门为树莓派应用开发提供通用输入</a:t>
            </a:r>
            <a:r>
              <a:rPr lang="en-US" altLang="zh-CN"/>
              <a:t>/</a:t>
            </a:r>
            <a:r>
              <a:rPr lang="zh-CN" altLang="en-US"/>
              <a:t>输出（</a:t>
            </a:r>
            <a:r>
              <a:rPr lang="en-US" altLang="zh-CN"/>
              <a:t>general purpose input output</a:t>
            </a:r>
            <a:r>
              <a:rPr lang="zh-CN" altLang="en-US"/>
              <a:t>，</a:t>
            </a:r>
            <a:r>
              <a:rPr lang="en-US" altLang="zh-CN"/>
              <a:t>GPIO</a:t>
            </a:r>
            <a:r>
              <a:rPr lang="zh-CN" altLang="en-US"/>
              <a:t>）操作的</a:t>
            </a:r>
            <a:r>
              <a:rPr lang="en-US" altLang="zh-CN"/>
              <a:t>C++</a:t>
            </a:r>
            <a:r>
              <a:rPr lang="zh-CN" altLang="en-US"/>
              <a:t>库</a:t>
            </a:r>
            <a:endParaRPr lang="en-US" altLang="zh-CN"/>
          </a:p>
          <a:p>
            <a:endParaRPr lang="en-US" altLang="zh-CN" dirty="0"/>
          </a:p>
        </p:txBody>
      </p:sp>
      <p:sp>
        <p:nvSpPr>
          <p:cNvPr id="7" name="文本框 6"/>
          <p:cNvSpPr txBox="1"/>
          <p:nvPr/>
        </p:nvSpPr>
        <p:spPr>
          <a:xfrm>
            <a:off x="1153485" y="2112526"/>
            <a:ext cx="6837031" cy="375487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unsigned int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millis</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unsigned int micros(void);</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delay(unsigned int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howLong</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delayMicroseconds</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(unsigned int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howLong</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GPIO Module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pinMode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pin, int mode);</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digitalWrite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pin, int value);</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pwmWrite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pin, int value);</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digitalRead</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pin);</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analogRead</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pin);</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analogWrite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pin, int value);</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serialOpen</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(char *device, int baud);</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serialClose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fd</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void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serialPutchar</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(int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fd</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unsigned char c);</a:t>
            </a:r>
          </a:p>
        </p:txBody>
      </p:sp>
      <p:sp>
        <p:nvSpPr>
          <p:cNvPr id="8" name="灯片编号占位符 4">
            <a:extLst>
              <a:ext uri="{FF2B5EF4-FFF2-40B4-BE49-F238E27FC236}">
                <a16:creationId xmlns:a16="http://schemas.microsoft.com/office/drawing/2014/main" id="{49105031-AFD6-4006-B50C-C95BE5014971}"/>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75</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基于树莓派</a:t>
            </a:r>
            <a:r>
              <a:rPr lang="en-US" altLang="zh-CN" dirty="0"/>
              <a:t>4B</a:t>
            </a:r>
            <a:r>
              <a:rPr lang="zh-CN" altLang="en-US" dirty="0"/>
              <a:t>的开发</a:t>
            </a:r>
            <a:r>
              <a:rPr lang="en-US" altLang="zh-CN" dirty="0"/>
              <a:t>-</a:t>
            </a:r>
            <a:r>
              <a:rPr lang="zh-CN" altLang="en-US" dirty="0"/>
              <a:t>室内环境监测</a:t>
            </a:r>
          </a:p>
        </p:txBody>
      </p:sp>
      <p:sp>
        <p:nvSpPr>
          <p:cNvPr id="3" name="内容占位符 2"/>
          <p:cNvSpPr>
            <a:spLocks noGrp="1"/>
          </p:cNvSpPr>
          <p:nvPr>
            <p:ph idx="1"/>
          </p:nvPr>
        </p:nvSpPr>
        <p:spPr/>
        <p:txBody>
          <a:bodyPr/>
          <a:lstStyle/>
          <a:p>
            <a:pPr lvl="1"/>
            <a:r>
              <a:rPr lang="en-US" altLang="zh-CN"/>
              <a:t>GrovePi</a:t>
            </a:r>
            <a:r>
              <a:rPr lang="zh-CN" altLang="en-US"/>
              <a:t>是针对树莓派扩展板</a:t>
            </a:r>
            <a:r>
              <a:rPr lang="en-US" altLang="zh-CN"/>
              <a:t>GrovePi</a:t>
            </a:r>
            <a:r>
              <a:rPr lang="zh-CN" altLang="en-US"/>
              <a:t>和</a:t>
            </a:r>
            <a:r>
              <a:rPr lang="en-US" altLang="zh-CN"/>
              <a:t>GrovePi+</a:t>
            </a:r>
            <a:r>
              <a:rPr lang="zh-CN" altLang="en-US"/>
              <a:t>的软件库，它提供了扩展板的驱动程序，并在此之上为开发者封装了较完整的编程接口，目前支持</a:t>
            </a:r>
            <a:r>
              <a:rPr lang="en-US" altLang="zh-CN"/>
              <a:t>C++</a:t>
            </a:r>
            <a:r>
              <a:rPr lang="zh-CN" altLang="en-US"/>
              <a:t>、</a:t>
            </a:r>
            <a:r>
              <a:rPr lang="en-US" altLang="zh-CN"/>
              <a:t>Java</a:t>
            </a:r>
            <a:r>
              <a:rPr lang="zh-CN" altLang="en-US"/>
              <a:t>、</a:t>
            </a:r>
            <a:r>
              <a:rPr lang="en-US" altLang="zh-CN"/>
              <a:t>C#</a:t>
            </a:r>
            <a:r>
              <a:rPr lang="zh-CN" altLang="en-US"/>
              <a:t>、</a:t>
            </a:r>
            <a:r>
              <a:rPr lang="en-US" altLang="zh-CN"/>
              <a:t>Go</a:t>
            </a:r>
            <a:r>
              <a:rPr lang="zh-CN" altLang="en-US"/>
              <a:t>、</a:t>
            </a:r>
            <a:r>
              <a:rPr lang="en-US" altLang="zh-CN"/>
              <a:t>Java</a:t>
            </a:r>
            <a:r>
              <a:rPr lang="zh-CN" altLang="en-US"/>
              <a:t>、</a:t>
            </a:r>
            <a:r>
              <a:rPr lang="en-US" altLang="zh-CN"/>
              <a:t>Node.js</a:t>
            </a:r>
            <a:r>
              <a:rPr lang="zh-CN" altLang="en-US"/>
              <a:t>、</a:t>
            </a:r>
            <a:r>
              <a:rPr lang="en-US" altLang="zh-CN"/>
              <a:t>Python</a:t>
            </a:r>
            <a:r>
              <a:rPr lang="zh-CN" altLang="en-US"/>
              <a:t>等主流开发语言</a:t>
            </a:r>
            <a:endParaRPr lang="en-US" altLang="zh-CN" dirty="0"/>
          </a:p>
        </p:txBody>
      </p:sp>
      <p:sp>
        <p:nvSpPr>
          <p:cNvPr id="7" name="文本框 6"/>
          <p:cNvSpPr txBox="1"/>
          <p:nvPr/>
        </p:nvSpPr>
        <p:spPr>
          <a:xfrm>
            <a:off x="1118870" y="2628188"/>
            <a:ext cx="6351845" cy="34918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 typeface="+mj-lt"/>
              <a:buNone/>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 I2C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write_i2c_block(address, block)</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read_i2c_block(address)</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 Digital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mj-ea"/>
                <a:cs typeface="Courier New" panose="02070309020205020404" pitchFamily="49" charset="0"/>
              </a:rPr>
              <a:t>digitalRead</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(pin)</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mj-ea"/>
                <a:cs typeface="Courier New" panose="02070309020205020404" pitchFamily="49" charset="0"/>
              </a:rPr>
              <a:t>digitalWrite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(pin, value)</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 Analog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mj-ea"/>
                <a:cs typeface="Courier New" panose="02070309020205020404" pitchFamily="49" charset="0"/>
              </a:rPr>
              <a:t>analogRead</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(pin)</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mj-ea"/>
                <a:cs typeface="Courier New" panose="02070309020205020404" pitchFamily="49" charset="0"/>
              </a:rPr>
              <a:t>analogWrite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(pin, value)</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 DHT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mj-ea"/>
                <a:cs typeface="Courier New" panose="02070309020205020404" pitchFamily="49" charset="0"/>
              </a:rPr>
              <a:t>dht</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(pin,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mj-ea"/>
                <a:cs typeface="Courier New" panose="02070309020205020404" pitchFamily="49" charset="0"/>
              </a:rPr>
              <a:t>module_type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 Accelerometer */</a:t>
            </a:r>
          </a:p>
          <a:p>
            <a:pPr marL="3429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def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mj-ea"/>
                <a:cs typeface="Courier New" panose="02070309020205020404" pitchFamily="49" charset="0"/>
              </a:rPr>
              <a:t>acc_xyz</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mj-ea"/>
                <a:cs typeface="Courier New" panose="02070309020205020404" pitchFamily="49" charset="0"/>
              </a:rPr>
              <a:t>()</a:t>
            </a:r>
          </a:p>
        </p:txBody>
      </p:sp>
      <p:sp>
        <p:nvSpPr>
          <p:cNvPr id="8" name="灯片编号占位符 4">
            <a:extLst>
              <a:ext uri="{FF2B5EF4-FFF2-40B4-BE49-F238E27FC236}">
                <a16:creationId xmlns:a16="http://schemas.microsoft.com/office/drawing/2014/main" id="{532CCF0B-E2B5-4063-AE98-F356DA485ADE}"/>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76</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基于树莓派</a:t>
            </a:r>
            <a:r>
              <a:rPr lang="en-US" altLang="zh-CN" dirty="0"/>
              <a:t>4B</a:t>
            </a:r>
            <a:r>
              <a:rPr lang="zh-CN" altLang="en-US" dirty="0"/>
              <a:t>的开发</a:t>
            </a:r>
            <a:r>
              <a:rPr lang="en-US" altLang="zh-CN" dirty="0"/>
              <a:t>-</a:t>
            </a:r>
            <a:r>
              <a:rPr lang="zh-CN" altLang="en-US" dirty="0"/>
              <a:t>室内环境监测</a:t>
            </a:r>
          </a:p>
        </p:txBody>
      </p:sp>
      <p:sp>
        <p:nvSpPr>
          <p:cNvPr id="3" name="内容占位符 2"/>
          <p:cNvSpPr>
            <a:spLocks noGrp="1"/>
          </p:cNvSpPr>
          <p:nvPr>
            <p:ph idx="1"/>
          </p:nvPr>
        </p:nvSpPr>
        <p:spPr/>
        <p:txBody>
          <a:bodyPr/>
          <a:lstStyle/>
          <a:p>
            <a:pPr lvl="1"/>
            <a:r>
              <a:rPr lang="zh-CN" altLang="en-US"/>
              <a:t>这里选择</a:t>
            </a:r>
            <a:r>
              <a:rPr lang="en-US" altLang="zh-CN"/>
              <a:t>GrovePi</a:t>
            </a:r>
            <a:r>
              <a:rPr lang="zh-CN" altLang="en-US"/>
              <a:t>作为树莓派开发的软件库，选择</a:t>
            </a:r>
            <a:r>
              <a:rPr lang="en-US" altLang="zh-CN"/>
              <a:t>Python</a:t>
            </a:r>
            <a:r>
              <a:rPr lang="zh-CN" altLang="en-US"/>
              <a:t>作为程序开发语言，选择树莓派搭载的</a:t>
            </a:r>
            <a:r>
              <a:rPr lang="en-US" altLang="zh-CN"/>
              <a:t>Linux</a:t>
            </a:r>
            <a:r>
              <a:rPr lang="zh-CN" altLang="en-US"/>
              <a:t>系统作为应用开发环境。通过</a:t>
            </a:r>
            <a:r>
              <a:rPr lang="en-US" altLang="zh-CN"/>
              <a:t>SSH</a:t>
            </a:r>
            <a:r>
              <a:rPr lang="zh-CN" altLang="en-US"/>
              <a:t>远程登录到树莓派搭载的</a:t>
            </a:r>
            <a:r>
              <a:rPr lang="en-US" altLang="zh-CN"/>
              <a:t>Linux</a:t>
            </a:r>
            <a:r>
              <a:rPr lang="zh-CN" altLang="en-US"/>
              <a:t>系统，这里假设已经完成树莓派网络配置和</a:t>
            </a:r>
            <a:r>
              <a:rPr lang="en-US" altLang="zh-CN"/>
              <a:t>GrovePi</a:t>
            </a:r>
            <a:r>
              <a:rPr lang="zh-CN" altLang="en-US"/>
              <a:t>配置工作，远程</a:t>
            </a:r>
            <a:r>
              <a:rPr lang="en-US" altLang="zh-CN"/>
              <a:t>SSH</a:t>
            </a:r>
            <a:r>
              <a:rPr lang="zh-CN" altLang="en-US"/>
              <a:t>连接后树莓派控制界面如图所示</a:t>
            </a:r>
            <a:endParaRPr lang="en-US" altLang="zh-CN"/>
          </a:p>
          <a:p>
            <a:endParaRPr lang="en-US" altLang="zh-CN" dirty="0"/>
          </a:p>
        </p:txBody>
      </p:sp>
      <p:sp>
        <p:nvSpPr>
          <p:cNvPr id="7" name="文本框 6"/>
          <p:cNvSpPr txBox="1"/>
          <p:nvPr/>
        </p:nvSpPr>
        <p:spPr>
          <a:xfrm>
            <a:off x="511810" y="2849582"/>
            <a:ext cx="8120380" cy="39703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login as: pi</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pi@10.214.149.121's password:</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Linux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raspberrypi</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4.14.34-v7+ #1110 SMP Mon Apr 16 15:18:51 BST 2018 armv71</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The programs included with the Debian GNU/Linux system are free software; </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Debian GNU/Linux comes with ABSOLUTELY NO WARRANTY, to the extent </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permitted by applicable law.</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Last login: Wed Sep 26 19:28:53 2018 from 10.214.149.130</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pi@raspberrypi</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:~$ls</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Desktop Documents Music Public sketch Videos</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Dexter Downloads Pictures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Python_games</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Templates </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tmp</a:t>
            </a:r>
            <a:endPar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endParaRPr>
          </a:p>
        </p:txBody>
      </p:sp>
      <p:sp>
        <p:nvSpPr>
          <p:cNvPr id="5" name="灯片编号占位符 4">
            <a:extLst>
              <a:ext uri="{FF2B5EF4-FFF2-40B4-BE49-F238E27FC236}">
                <a16:creationId xmlns:a16="http://schemas.microsoft.com/office/drawing/2014/main" id="{79BECE64-58B7-4776-8614-D18B482860E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77</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基于树莓派</a:t>
            </a:r>
            <a:r>
              <a:rPr lang="en-US" altLang="zh-CN" dirty="0"/>
              <a:t>4B</a:t>
            </a:r>
            <a:r>
              <a:rPr lang="zh-CN" altLang="en-US" dirty="0"/>
              <a:t>的开发</a:t>
            </a:r>
            <a:r>
              <a:rPr lang="en-US" altLang="zh-CN" dirty="0"/>
              <a:t>-</a:t>
            </a:r>
            <a:r>
              <a:rPr lang="zh-CN" altLang="en-US" dirty="0"/>
              <a:t>室内环境监测</a:t>
            </a:r>
          </a:p>
        </p:txBody>
      </p:sp>
      <p:sp>
        <p:nvSpPr>
          <p:cNvPr id="3" name="内容占位符 2"/>
          <p:cNvSpPr>
            <a:spLocks noGrp="1"/>
          </p:cNvSpPr>
          <p:nvPr>
            <p:ph idx="1"/>
          </p:nvPr>
        </p:nvSpPr>
        <p:spPr/>
        <p:txBody>
          <a:bodyPr/>
          <a:lstStyle/>
          <a:p>
            <a:r>
              <a:rPr lang="zh-CN" altLang="en-US"/>
              <a:t>基于</a:t>
            </a:r>
            <a:r>
              <a:rPr lang="en-US" altLang="zh-CN"/>
              <a:t>GrovePi</a:t>
            </a:r>
            <a:r>
              <a:rPr lang="zh-CN" altLang="en-US"/>
              <a:t>的编程接口编写出如下所示的代码</a:t>
            </a:r>
            <a:endParaRPr lang="en-US" altLang="zh-CN" dirty="0"/>
          </a:p>
        </p:txBody>
      </p:sp>
      <p:sp>
        <p:nvSpPr>
          <p:cNvPr id="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6" name="文本框 5"/>
          <p:cNvSpPr txBox="1"/>
          <p:nvPr/>
        </p:nvSpPr>
        <p:spPr>
          <a:xfrm>
            <a:off x="1122963" y="1637586"/>
            <a:ext cx="6783773" cy="480131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720000" marR="0" lvl="0" indent="-720000" algn="l" defTabSz="914400" rtl="0" eaLnBrk="1" fontAlgn="base" latinLnBrk="0" hangingPunct="1">
              <a:lnSpc>
                <a:spcPct val="100000"/>
              </a:lnSpc>
              <a:spcBef>
                <a:spcPct val="0"/>
              </a:spcBef>
              <a:spcAft>
                <a:spcPct val="0"/>
              </a:spcAft>
              <a:buClrTx/>
              <a:buSzTx/>
              <a:buFont typeface="+mj-lt"/>
              <a:buNone/>
              <a:defRPr/>
            </a:pPr>
            <a:endPar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import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grovepi</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import math </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import time</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sensor = 2    # DHT11数据接口和开发板2号引脚连接</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blue = 0</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while True: </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try:</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temp,humidity</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grovepi.dht</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sensor,blue</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读取温湿度</a:t>
            </a:r>
            <a:endPar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endParaRP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if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math.isnan</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(temp)==False and</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math.isnan</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(humidity)==False: </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print("temperature = %.02f C\</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nhumidity</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=%.02f%%"%</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           (temp, humidity)) </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time.sleep</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(3)   # 每间隔3s打印一次环境数据</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except </a:t>
            </a:r>
            <a:r>
              <a:rPr kumimoji="0" lang="en-US" altLang="zh-CN" sz="1700" b="0" i="0" u="none" strike="noStrike" kern="1200" cap="none" spc="0" normalizeH="0" baseline="0" noProof="0" dirty="0" err="1">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IOError</a:t>
            </a: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700" b="0" i="0" u="none" strike="noStrike" kern="1200" cap="none" spc="0" normalizeH="0" baseline="0" noProof="0" dirty="0">
                <a:ln>
                  <a:noFill/>
                </a:ln>
                <a:solidFill>
                  <a:prstClr val="black"/>
                </a:solidFill>
                <a:effectLst/>
                <a:uLnTx/>
                <a:uFillTx/>
                <a:latin typeface="Courier New" panose="02070309020205020404" pitchFamily="49" charset="0"/>
                <a:ea typeface="宋体" panose="02010600030101010101" pitchFamily="2" charset="-122"/>
                <a:cs typeface="Courier New" panose="02070309020205020404" pitchFamily="49" charset="0"/>
              </a:rPr>
              <a:t>print ("Error")</a:t>
            </a:r>
          </a:p>
        </p:txBody>
      </p:sp>
      <p:sp>
        <p:nvSpPr>
          <p:cNvPr id="7" name="灯片编号占位符 4">
            <a:extLst>
              <a:ext uri="{FF2B5EF4-FFF2-40B4-BE49-F238E27FC236}">
                <a16:creationId xmlns:a16="http://schemas.microsoft.com/office/drawing/2014/main" id="{ACE335D1-61C8-4E6D-9FA3-5835470914C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78</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基于树莓派</a:t>
            </a:r>
            <a:r>
              <a:rPr lang="en-US" altLang="zh-CN" dirty="0"/>
              <a:t>4B</a:t>
            </a:r>
            <a:r>
              <a:rPr lang="zh-CN" altLang="en-US" dirty="0"/>
              <a:t>的开发</a:t>
            </a:r>
            <a:r>
              <a:rPr lang="en-US" altLang="zh-CN" dirty="0"/>
              <a:t>-</a:t>
            </a:r>
            <a:r>
              <a:rPr lang="zh-CN" altLang="en-US" dirty="0"/>
              <a:t>室内环境监测</a:t>
            </a:r>
          </a:p>
        </p:txBody>
      </p:sp>
      <p:sp>
        <p:nvSpPr>
          <p:cNvPr id="3" name="内容占位符 2"/>
          <p:cNvSpPr>
            <a:spLocks noGrp="1"/>
          </p:cNvSpPr>
          <p:nvPr>
            <p:ph idx="1"/>
          </p:nvPr>
        </p:nvSpPr>
        <p:spPr/>
        <p:txBody>
          <a:bodyPr/>
          <a:lstStyle/>
          <a:p>
            <a:r>
              <a:rPr lang="zh-CN" altLang="en-US"/>
              <a:t>步骤</a:t>
            </a:r>
            <a:r>
              <a:rPr lang="en-US" altLang="zh-CN"/>
              <a:t>3</a:t>
            </a:r>
            <a:r>
              <a:rPr lang="zh-CN" altLang="en-US"/>
              <a:t>：案例测试</a:t>
            </a:r>
            <a:endParaRPr lang="en-US" altLang="zh-CN"/>
          </a:p>
          <a:p>
            <a:pPr lvl="1"/>
            <a:r>
              <a:rPr lang="zh-CN" altLang="en-US"/>
              <a:t>如图所示，在树莓派系统下，运行“</a:t>
            </a:r>
            <a:r>
              <a:rPr lang="en-US" altLang="zh-CN"/>
              <a:t>Python indoorEnv.py”</a:t>
            </a:r>
            <a:r>
              <a:rPr lang="zh-CN" altLang="en-US"/>
              <a:t>命令，观察控制台打印的环境数据。</a:t>
            </a:r>
            <a:endParaRPr lang="en-US" altLang="zh-CN"/>
          </a:p>
          <a:p>
            <a:endParaRPr lang="en-US" altLang="zh-CN" dirty="0"/>
          </a:p>
        </p:txBody>
      </p:sp>
      <p:sp>
        <p:nvSpPr>
          <p:cNvPr id="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2500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7" name="文本框 6"/>
          <p:cNvSpPr txBox="1"/>
          <p:nvPr/>
        </p:nvSpPr>
        <p:spPr>
          <a:xfrm>
            <a:off x="1339215" y="2638983"/>
            <a:ext cx="6351845"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pi@raspberrypi</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a:t>
            </a:r>
            <a:r>
              <a:rPr kumimoji="0" lang="en-US" altLang="zh-CN" sz="1800" b="0" i="0" u="none" strike="noStrike" kern="1200" cap="none" spc="0" normalizeH="0" baseline="0" noProof="0" dirty="0" err="1">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GrovePi</a:t>
            </a: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 $ Python indoorEnv.py</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temperature = 27.00 C</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humidity =95.00%</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temperature = 27.00 C</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humidity =95.00%</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temperature = 29.00 C</a:t>
            </a:r>
          </a:p>
          <a:p>
            <a:pPr marL="720000" marR="0" lvl="0" indent="-720000" algn="l" defTabSz="914400" rtl="0" eaLnBrk="1" fontAlgn="base" latinLnBrk="0" hangingPunct="1">
              <a:lnSpc>
                <a:spcPct val="100000"/>
              </a:lnSpc>
              <a:spcBef>
                <a:spcPct val="0"/>
              </a:spcBef>
              <a:spcAft>
                <a:spcPct val="0"/>
              </a:spcAft>
              <a:buClrTx/>
              <a:buSzTx/>
              <a:buFont typeface="+mj-lt"/>
              <a:buAutoNum type="arabicPeriod"/>
              <a:defRPr/>
            </a:pPr>
            <a:r>
              <a:rPr kumimoji="0" lang="en-US" altLang="zh-CN" sz="1800" b="0" i="0" u="none" strike="noStrike" kern="1200" cap="none" spc="0" normalizeH="0" baseline="0" noProof="0" dirty="0">
                <a:ln>
                  <a:noFill/>
                </a:ln>
                <a:solidFill>
                  <a:prstClr val="black"/>
                </a:solidFill>
                <a:effectLst/>
                <a:uLnTx/>
                <a:uFillTx/>
                <a:latin typeface="Courier New" panose="02070309020205020404" pitchFamily="49" charset="0"/>
                <a:ea typeface="Arial Unicode MS" panose="020B0604020202020204" pitchFamily="34" charset="-122"/>
                <a:cs typeface="Courier New" panose="02070309020205020404" pitchFamily="49" charset="0"/>
              </a:rPr>
              <a:t>humidity =93.00%</a:t>
            </a:r>
          </a:p>
        </p:txBody>
      </p:sp>
      <p:sp>
        <p:nvSpPr>
          <p:cNvPr id="6" name="灯片编号占位符 4">
            <a:extLst>
              <a:ext uri="{FF2B5EF4-FFF2-40B4-BE49-F238E27FC236}">
                <a16:creationId xmlns:a16="http://schemas.microsoft.com/office/drawing/2014/main" id="{9DEFD2A6-CDA9-484E-BBC5-C63CBAB9E206}"/>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79</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3700" y="38100"/>
            <a:ext cx="8242300" cy="914400"/>
          </a:xfrm>
        </p:spPr>
        <p:txBody>
          <a:bodyPr/>
          <a:lstStyle/>
          <a:p>
            <a:r>
              <a:rPr lang="zh-CN" altLang="en-US"/>
              <a:t>目录</a:t>
            </a:r>
            <a:endParaRPr lang="zh-CN" altLang="en-US" dirty="0"/>
          </a:p>
        </p:txBody>
      </p:sp>
      <p:sp>
        <p:nvSpPr>
          <p:cNvPr id="5" name="内容占位符 2"/>
          <p:cNvSpPr>
            <a:spLocks noGrp="1"/>
          </p:cNvSpPr>
          <p:nvPr>
            <p:ph idx="4294967295"/>
          </p:nvPr>
        </p:nvSpPr>
        <p:spPr>
          <a:xfrm>
            <a:off x="457200" y="990600"/>
            <a:ext cx="8305800" cy="5410200"/>
          </a:xfrm>
        </p:spPr>
        <p:txBody>
          <a:bodyPr/>
          <a:lstStyle/>
          <a:p>
            <a:endParaRPr lang="zh-CN" altLang="en-US" sz="2800" dirty="0"/>
          </a:p>
          <a:p>
            <a:r>
              <a:rPr lang="zh-CN" altLang="en-US" sz="2800" dirty="0">
                <a:sym typeface="+mn-ea"/>
              </a:rPr>
              <a:t>概述</a:t>
            </a:r>
            <a:endParaRPr lang="zh-CN" altLang="en-US" sz="2800" dirty="0"/>
          </a:p>
          <a:p>
            <a:r>
              <a:rPr lang="zh-CN" altLang="en-US" sz="2800" dirty="0">
                <a:sym typeface="+mn-ea"/>
              </a:rPr>
              <a:t>关键特性</a:t>
            </a:r>
            <a:endParaRPr lang="zh-CN" altLang="en-US" sz="2800" dirty="0"/>
          </a:p>
          <a:p>
            <a:r>
              <a:rPr lang="zh-CN" altLang="en-US" sz="2800" dirty="0">
                <a:sym typeface="+mn-ea"/>
              </a:rPr>
              <a:t>常见的硬件平台</a:t>
            </a:r>
            <a:endParaRPr lang="zh-CN" altLang="en-US" sz="2800" dirty="0"/>
          </a:p>
          <a:p>
            <a:r>
              <a:rPr lang="zh-CN" altLang="en-US" sz="2800" dirty="0">
                <a:sym typeface="+mn-ea"/>
              </a:rPr>
              <a:t>案例开发</a:t>
            </a:r>
            <a:endParaRPr lang="zh-CN" altLang="en-US" sz="2800" dirty="0"/>
          </a:p>
          <a:p>
            <a:r>
              <a:rPr lang="zh-CN" altLang="en-US" sz="2800" dirty="0">
                <a:solidFill>
                  <a:srgbClr val="C00000"/>
                </a:solidFill>
                <a:sym typeface="+mn-ea"/>
              </a:rPr>
              <a:t>学术研究进展</a:t>
            </a:r>
            <a:endParaRPr lang="zh-CN" altLang="en-US" sz="2800" dirty="0">
              <a:solidFill>
                <a:srgbClr val="C00000"/>
              </a:solidFill>
            </a:endParaRPr>
          </a:p>
        </p:txBody>
      </p:sp>
    </p:spTree>
    <p:extLst>
      <p:ext uri="{BB962C8B-B14F-4D97-AF65-F5344CB8AC3E}">
        <p14:creationId xmlns:p14="http://schemas.microsoft.com/office/powerpoint/2010/main" val="2073938406"/>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研究进展</a:t>
            </a:r>
            <a:endParaRPr lang="zh-CN" altLang="en-US" dirty="0"/>
          </a:p>
        </p:txBody>
      </p:sp>
      <p:sp>
        <p:nvSpPr>
          <p:cNvPr id="3" name="内容占位符 2"/>
          <p:cNvSpPr>
            <a:spLocks noGrp="1"/>
          </p:cNvSpPr>
          <p:nvPr>
            <p:ph idx="1"/>
          </p:nvPr>
        </p:nvSpPr>
        <p:spPr/>
        <p:txBody>
          <a:bodyPr/>
          <a:lstStyle/>
          <a:p>
            <a:r>
              <a:rPr lang="zh-CN" altLang="en-US"/>
              <a:t>高性能</a:t>
            </a:r>
            <a:endParaRPr lang="en-US" altLang="zh-CN"/>
          </a:p>
          <a:p>
            <a:pPr lvl="1"/>
            <a:r>
              <a:rPr lang="zh-CN" altLang="en-US"/>
              <a:t>智能硬件、边缘计算的发展对硬件处理能力提出了更高的要求</a:t>
            </a:r>
          </a:p>
          <a:p>
            <a:pPr lvl="1"/>
            <a:r>
              <a:rPr lang="zh-CN" altLang="en-US"/>
              <a:t>随着处理器工艺的进步，芯片计算能力增强，功耗降低</a:t>
            </a:r>
          </a:p>
          <a:p>
            <a:pPr lvl="1"/>
            <a:r>
              <a:rPr lang="zh-CN" altLang="en-US"/>
              <a:t>目前最新发布用于边缘计算的芯片有谷歌的 </a:t>
            </a:r>
            <a:r>
              <a:rPr lang="en-US" altLang="zh-CN"/>
              <a:t>Edge TPU</a:t>
            </a:r>
            <a:r>
              <a:rPr lang="zh-CN" altLang="en-US"/>
              <a:t>，华为的昇腾</a:t>
            </a:r>
            <a:r>
              <a:rPr lang="en-US" altLang="zh-CN"/>
              <a:t>310</a:t>
            </a:r>
            <a:r>
              <a:rPr lang="zh-CN" altLang="en-US"/>
              <a:t>等</a:t>
            </a:r>
          </a:p>
          <a:p>
            <a:pPr lvl="1"/>
            <a:endParaRPr lang="zh-CN" altLang="en-US" dirty="0"/>
          </a:p>
        </p:txBody>
      </p:sp>
      <p:pic>
        <p:nvPicPr>
          <p:cNvPr id="6" name="Picture 2" descr="google_edge_tpu"/>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6907" y="3403514"/>
            <a:ext cx="3953401" cy="251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572000" y="4288793"/>
            <a:ext cx="3389069" cy="369332"/>
          </a:xfrm>
          <a:prstGeom prst="rect">
            <a:avLst/>
          </a:prstGeom>
        </p:spPr>
        <p:txBody>
          <a:bodyPr wrap="none">
            <a:spAutoFit/>
          </a:bodyPr>
          <a:lstStyle/>
          <a:p>
            <a:pPr marL="742950" lvl="1" indent="-285750" algn="l" eaLnBrk="0" hangingPunct="0">
              <a:spcBef>
                <a:spcPct val="20000"/>
              </a:spcBef>
              <a:buClrTx/>
              <a:buSzTx/>
              <a:buFont typeface="Wingdings" panose="05000000000000000000" pitchFamily="2" charset="2"/>
              <a:buChar char="l"/>
            </a:pPr>
            <a:r>
              <a:rPr lang="zh-CN" altLang="en-US" sz="1800" kern="0" baseline="0" dirty="0">
                <a:effectLst/>
                <a:latin typeface="+mj-ea"/>
                <a:ea typeface="+mj-ea"/>
                <a:cs typeface="Times New Roman" panose="02020603050405020304" pitchFamily="18" charset="0"/>
              </a:rPr>
              <a:t>谷歌的Edge TPU开发板</a:t>
            </a:r>
          </a:p>
        </p:txBody>
      </p:sp>
      <p:sp>
        <p:nvSpPr>
          <p:cNvPr id="12" name="灯片编号占位符 4">
            <a:extLst>
              <a:ext uri="{FF2B5EF4-FFF2-40B4-BE49-F238E27FC236}">
                <a16:creationId xmlns:a16="http://schemas.microsoft.com/office/drawing/2014/main" id="{BD1CB8FF-962C-4B6E-A6F5-FD58C72F4498}"/>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81</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研究进展</a:t>
            </a:r>
            <a:endParaRPr lang="zh-CN" altLang="en-US" dirty="0"/>
          </a:p>
        </p:txBody>
      </p:sp>
      <p:sp>
        <p:nvSpPr>
          <p:cNvPr id="3" name="内容占位符 2"/>
          <p:cNvSpPr>
            <a:spLocks noGrp="1"/>
          </p:cNvSpPr>
          <p:nvPr>
            <p:ph idx="1"/>
          </p:nvPr>
        </p:nvSpPr>
        <p:spPr/>
        <p:txBody>
          <a:bodyPr/>
          <a:lstStyle/>
          <a:p>
            <a:r>
              <a:rPr lang="zh-CN" altLang="en-US"/>
              <a:t>模块化</a:t>
            </a:r>
            <a:endParaRPr lang="en-US" altLang="zh-CN"/>
          </a:p>
          <a:p>
            <a:pPr lvl="1"/>
            <a:r>
              <a:rPr lang="zh-CN" altLang="en-US"/>
              <a:t>提高硬件可定制性。开发者可选择不同的模块搭建适合应用的硬件平台</a:t>
            </a:r>
            <a:endParaRPr lang="en-US" altLang="zh-CN"/>
          </a:p>
          <a:p>
            <a:pPr lvl="1"/>
            <a:r>
              <a:rPr lang="zh-CN" altLang="en-US"/>
              <a:t>提高模块可重用性。避免重复设计相同功能的电路模块</a:t>
            </a:r>
          </a:p>
          <a:p>
            <a:pPr lvl="1"/>
            <a:endParaRPr lang="zh-CN" altLang="en-US"/>
          </a:p>
          <a:p>
            <a:pPr lvl="1"/>
            <a:endParaRPr lang="zh-CN" altLang="en-US" dirty="0"/>
          </a:p>
        </p:txBody>
      </p:sp>
      <p:sp>
        <p:nvSpPr>
          <p:cNvPr id="10" name="灯片编号占位符 4">
            <a:extLst>
              <a:ext uri="{FF2B5EF4-FFF2-40B4-BE49-F238E27FC236}">
                <a16:creationId xmlns:a16="http://schemas.microsoft.com/office/drawing/2014/main" id="{58035A34-8B32-4B19-B8CF-0D32F4F3C690}"/>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82</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研究进展</a:t>
            </a:r>
            <a:endParaRPr lang="zh-CN" altLang="en-US" dirty="0"/>
          </a:p>
        </p:txBody>
      </p:sp>
      <p:sp>
        <p:nvSpPr>
          <p:cNvPr id="4" name="内容占位符 3">
            <a:extLst>
              <a:ext uri="{FF2B5EF4-FFF2-40B4-BE49-F238E27FC236}">
                <a16:creationId xmlns:a16="http://schemas.microsoft.com/office/drawing/2014/main" id="{93C010DA-B8B4-4EC9-BD60-B97AD5412C1A}"/>
              </a:ext>
            </a:extLst>
          </p:cNvPr>
          <p:cNvSpPr>
            <a:spLocks noGrp="1"/>
          </p:cNvSpPr>
          <p:nvPr>
            <p:ph idx="1"/>
          </p:nvPr>
        </p:nvSpPr>
        <p:spPr/>
        <p:txBody>
          <a:bodyPr/>
          <a:lstStyle/>
          <a:p>
            <a:r>
              <a:rPr lang="en-US" altLang="zh-CN" dirty="0"/>
              <a:t>[IPSN’18]The Signpost Platform for City-Scale Sensing</a:t>
            </a:r>
          </a:p>
          <a:p>
            <a:endParaRPr lang="zh-CN" altLang="en-US" dirty="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8916" y="3243589"/>
            <a:ext cx="1928876" cy="1947633"/>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172" y="5711241"/>
            <a:ext cx="1200000" cy="1080000"/>
          </a:xfrm>
          <a:prstGeom prst="rect">
            <a:avLst/>
          </a:prstGeom>
        </p:spPr>
      </p:pic>
      <p:sp>
        <p:nvSpPr>
          <p:cNvPr id="10" name="文本框 9"/>
          <p:cNvSpPr txBox="1"/>
          <p:nvPr/>
        </p:nvSpPr>
        <p:spPr>
          <a:xfrm>
            <a:off x="6287366" y="6004158"/>
            <a:ext cx="1569660" cy="369332"/>
          </a:xfrm>
          <a:prstGeom prst="rect">
            <a:avLst/>
          </a:prstGeom>
          <a:noFill/>
        </p:spPr>
        <p:txBody>
          <a:bodyPr wrap="none" rtlCol="0">
            <a:spAutoFit/>
          </a:bodyPr>
          <a:lstStyle/>
          <a:p>
            <a:r>
              <a:rPr lang="zh-CN" altLang="en-US" sz="1800" kern="0" baseline="0" dirty="0">
                <a:effectLst/>
                <a:latin typeface="+mj-ea"/>
                <a:ea typeface="+mj-ea"/>
                <a:cs typeface="Times New Roman" panose="02020603050405020304" pitchFamily="18" charset="0"/>
              </a:rPr>
              <a:t>环境感知模块</a:t>
            </a:r>
            <a:endParaRPr lang="zh-CN" altLang="en-US" sz="3200" dirty="0">
              <a:latin typeface="+mj-ea"/>
              <a:ea typeface="+mj-ea"/>
            </a:endParaRPr>
          </a:p>
        </p:txBody>
      </p:sp>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1172" y="3146750"/>
            <a:ext cx="1188000" cy="1083177"/>
          </a:xfrm>
          <a:prstGeom prst="rect">
            <a:avLst/>
          </a:prstGeom>
        </p:spPr>
      </p:pic>
      <p:sp>
        <p:nvSpPr>
          <p:cNvPr id="13" name="文本框 12"/>
          <p:cNvSpPr txBox="1"/>
          <p:nvPr/>
        </p:nvSpPr>
        <p:spPr>
          <a:xfrm>
            <a:off x="6287368" y="3360297"/>
            <a:ext cx="1107996" cy="369332"/>
          </a:xfrm>
          <a:prstGeom prst="rect">
            <a:avLst/>
          </a:prstGeom>
          <a:noFill/>
        </p:spPr>
        <p:txBody>
          <a:bodyPr wrap="none" rtlCol="0">
            <a:spAutoFit/>
          </a:bodyPr>
          <a:lstStyle/>
          <a:p>
            <a:r>
              <a:rPr lang="zh-CN" altLang="en-US" sz="1800" kern="0" baseline="0" dirty="0">
                <a:effectLst/>
                <a:latin typeface="+mj-ea"/>
                <a:ea typeface="+mj-ea"/>
                <a:cs typeface="Times New Roman" panose="02020603050405020304" pitchFamily="18" charset="0"/>
              </a:rPr>
              <a:t>电源模块</a:t>
            </a:r>
            <a:endParaRPr lang="zh-CN" altLang="en-US" sz="3200" dirty="0">
              <a:latin typeface="+mj-ea"/>
              <a:ea typeface="+mj-ea"/>
            </a:endParaRPr>
          </a:p>
        </p:txBody>
      </p:sp>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4298" y="1688196"/>
            <a:ext cx="1188000" cy="1251417"/>
          </a:xfrm>
          <a:prstGeom prst="rect">
            <a:avLst/>
          </a:prstGeom>
        </p:spPr>
      </p:pic>
      <p:sp>
        <p:nvSpPr>
          <p:cNvPr id="15" name="文本框 14"/>
          <p:cNvSpPr txBox="1"/>
          <p:nvPr/>
        </p:nvSpPr>
        <p:spPr>
          <a:xfrm>
            <a:off x="6287367" y="1983502"/>
            <a:ext cx="1107996" cy="369332"/>
          </a:xfrm>
          <a:prstGeom prst="rect">
            <a:avLst/>
          </a:prstGeom>
          <a:noFill/>
        </p:spPr>
        <p:txBody>
          <a:bodyPr wrap="none" rtlCol="0">
            <a:spAutoFit/>
          </a:bodyPr>
          <a:lstStyle/>
          <a:p>
            <a:r>
              <a:rPr lang="en-US" altLang="zh-CN" sz="1800" kern="0" baseline="0" dirty="0">
                <a:effectLst/>
                <a:latin typeface="+mj-ea"/>
                <a:ea typeface="+mj-ea"/>
                <a:cs typeface="Times New Roman" panose="02020603050405020304" pitchFamily="18" charset="0"/>
              </a:rPr>
              <a:t>控制模块</a:t>
            </a:r>
            <a:endParaRPr lang="zh-CN" altLang="en-US" sz="3200" dirty="0">
              <a:latin typeface="+mj-ea"/>
              <a:ea typeface="+mj-ea"/>
            </a:endParaRPr>
          </a:p>
        </p:txBody>
      </p:sp>
      <p:pic>
        <p:nvPicPr>
          <p:cNvPr id="14" name="图片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71172" y="4437064"/>
            <a:ext cx="1188000" cy="1067040"/>
          </a:xfrm>
          <a:prstGeom prst="rect">
            <a:avLst/>
          </a:prstGeom>
        </p:spPr>
      </p:pic>
      <p:sp>
        <p:nvSpPr>
          <p:cNvPr id="17" name="文本框 16"/>
          <p:cNvSpPr txBox="1"/>
          <p:nvPr/>
        </p:nvSpPr>
        <p:spPr>
          <a:xfrm>
            <a:off x="6287367" y="4737092"/>
            <a:ext cx="1107996" cy="369332"/>
          </a:xfrm>
          <a:prstGeom prst="rect">
            <a:avLst/>
          </a:prstGeom>
          <a:noFill/>
        </p:spPr>
        <p:txBody>
          <a:bodyPr wrap="none" rtlCol="0">
            <a:spAutoFit/>
          </a:bodyPr>
          <a:lstStyle/>
          <a:p>
            <a:r>
              <a:rPr lang="zh-CN" altLang="en-US" sz="1800" kern="0" baseline="0" dirty="0">
                <a:effectLst/>
                <a:latin typeface="+mj-ea"/>
                <a:ea typeface="+mj-ea"/>
                <a:cs typeface="Times New Roman" panose="02020603050405020304" pitchFamily="18" charset="0"/>
              </a:rPr>
              <a:t>通信模块</a:t>
            </a:r>
            <a:endParaRPr lang="zh-CN" altLang="en-US" sz="3200" dirty="0">
              <a:latin typeface="+mj-ea"/>
              <a:ea typeface="+mj-ea"/>
            </a:endParaRPr>
          </a:p>
        </p:txBody>
      </p:sp>
      <p:cxnSp>
        <p:nvCxnSpPr>
          <p:cNvPr id="18" name="直接箭头连接符 17"/>
          <p:cNvCxnSpPr>
            <a:endCxn id="12" idx="1"/>
          </p:cNvCxnSpPr>
          <p:nvPr/>
        </p:nvCxnSpPr>
        <p:spPr bwMode="auto">
          <a:xfrm flipV="1">
            <a:off x="3108960" y="2313905"/>
            <a:ext cx="1655338" cy="1046392"/>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0" name="直接箭头连接符 19"/>
          <p:cNvCxnSpPr>
            <a:endCxn id="11" idx="1"/>
          </p:cNvCxnSpPr>
          <p:nvPr/>
        </p:nvCxnSpPr>
        <p:spPr bwMode="auto">
          <a:xfrm flipV="1">
            <a:off x="3174231" y="3688339"/>
            <a:ext cx="1596941" cy="418136"/>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2" name="直接箭头连接符 21"/>
          <p:cNvCxnSpPr>
            <a:endCxn id="14" idx="1"/>
          </p:cNvCxnSpPr>
          <p:nvPr/>
        </p:nvCxnSpPr>
        <p:spPr bwMode="auto">
          <a:xfrm>
            <a:off x="3177943" y="4510217"/>
            <a:ext cx="1593229" cy="460367"/>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4" name="直接箭头连接符 23"/>
          <p:cNvCxnSpPr/>
          <p:nvPr/>
        </p:nvCxnSpPr>
        <p:spPr bwMode="auto">
          <a:xfrm>
            <a:off x="3183510" y="5020689"/>
            <a:ext cx="1575662" cy="129376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9" name="灯片编号占位符 4">
            <a:extLst>
              <a:ext uri="{FF2B5EF4-FFF2-40B4-BE49-F238E27FC236}">
                <a16:creationId xmlns:a16="http://schemas.microsoft.com/office/drawing/2014/main" id="{ACA55651-B266-4D93-9040-F5C6389AE3B5}"/>
              </a:ext>
            </a:extLst>
          </p:cNvPr>
          <p:cNvSpPr txBox="1">
            <a:spLocks noChangeArrowheads="1"/>
          </p:cNvSpPr>
          <p:nvPr/>
        </p:nvSpPr>
        <p:spPr bwMode="auto">
          <a:xfrm>
            <a:off x="8229600" y="6553200"/>
            <a:ext cx="762000" cy="228600"/>
          </a:xfrm>
          <a:prstGeom prst="rect">
            <a:avLst/>
          </a:prstGeom>
          <a:noFill/>
          <a:ln w="9525">
            <a:noFill/>
            <a:miter lim="800000"/>
          </a:ln>
        </p:spPr>
        <p:txBody>
          <a:bodyPr lIns="92075" tIns="46038" rIns="92075" bIns="46038" anchor="ctr"/>
          <a:lstStyle/>
          <a:p>
            <a:pPr algn="r"/>
            <a:fld id="{5C42246B-9AD6-4994-8CF2-B420465BEF68}" type="slidenum">
              <a:rPr lang="en-US" altLang="zh-CN" sz="1800" baseline="0">
                <a:solidFill>
                  <a:schemeClr val="folHlink"/>
                </a:solidFill>
                <a:latin typeface="Monotype Corsiva" panose="03010101010201010101" pitchFamily="66" charset="0"/>
              </a:rPr>
              <a:t>83</a:t>
            </a:fld>
            <a:endParaRPr lang="zh-CN" altLang="zh-CN" sz="1800" baseline="0" dirty="0">
              <a:solidFill>
                <a:schemeClr val="folHlink"/>
              </a:solidFill>
              <a:latin typeface="Monotype Corsiva" panose="03010101010201010101" pitchFamily="66" charset="0"/>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403225" y="2598420"/>
            <a:ext cx="8532813" cy="923330"/>
          </a:xfrm>
          <a:prstGeom prst="rect">
            <a:avLst/>
          </a:prstGeom>
          <a:solidFill>
            <a:schemeClr val="bg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baseline="-25000">
                <a:solidFill>
                  <a:schemeClr val="tx1"/>
                </a:solidFill>
                <a:latin typeface="Arial" panose="020B0604020202020204" pitchFamily="34" charset="0"/>
                <a:ea typeface="宋体" panose="02010600030101010101" pitchFamily="2" charset="-122"/>
              </a:defRPr>
            </a:lvl1pPr>
            <a:lvl2pPr marL="742950" indent="-285750" eaLnBrk="0" hangingPunct="0">
              <a:defRPr sz="2400" baseline="-25000">
                <a:solidFill>
                  <a:schemeClr val="tx1"/>
                </a:solidFill>
                <a:latin typeface="Arial" panose="020B0604020202020204" pitchFamily="34" charset="0"/>
                <a:ea typeface="宋体" panose="02010600030101010101" pitchFamily="2" charset="-122"/>
              </a:defRPr>
            </a:lvl2pPr>
            <a:lvl3pPr marL="1143000" indent="-228600" eaLnBrk="0" hangingPunct="0">
              <a:defRPr sz="2400" baseline="-25000">
                <a:solidFill>
                  <a:schemeClr val="tx1"/>
                </a:solidFill>
                <a:latin typeface="Arial" panose="020B0604020202020204" pitchFamily="34" charset="0"/>
                <a:ea typeface="宋体" panose="02010600030101010101" pitchFamily="2" charset="-122"/>
              </a:defRPr>
            </a:lvl3pPr>
            <a:lvl4pPr marL="1600200" indent="-228600" eaLnBrk="0" hangingPunct="0">
              <a:defRPr sz="2400" baseline="-25000">
                <a:solidFill>
                  <a:schemeClr val="tx1"/>
                </a:solidFill>
                <a:latin typeface="Arial" panose="020B0604020202020204" pitchFamily="34" charset="0"/>
                <a:ea typeface="宋体" panose="02010600030101010101" pitchFamily="2" charset="-122"/>
              </a:defRPr>
            </a:lvl4pPr>
            <a:lvl5pPr marL="2057400" indent="-228600" eaLnBrk="0" hangingPunct="0">
              <a:defRPr sz="2400"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宋体" panose="02010600030101010101" pitchFamily="2" charset="-122"/>
              </a:defRPr>
            </a:lvl9pPr>
          </a:lstStyle>
          <a:p>
            <a:pPr algn="ctr" eaLnBrk="1" hangingPunct="1">
              <a:spcBef>
                <a:spcPts val="600"/>
              </a:spcBef>
            </a:pPr>
            <a:r>
              <a:rPr lang="zh-CN" altLang="en-US" sz="5400" b="1" baseline="0" dirty="0">
                <a:solidFill>
                  <a:srgbClr val="C00000"/>
                </a:solidFill>
                <a:latin typeface="黑体" panose="02010609060101010101" pitchFamily="49" charset="-122"/>
                <a:ea typeface="黑体" panose="02010609060101010101" pitchFamily="49" charset="-122"/>
              </a:rPr>
              <a:t>谢谢！</a:t>
            </a:r>
            <a:endParaRPr lang="en-US" altLang="zh-CN" sz="5400" b="1" baseline="0" dirty="0">
              <a:solidFill>
                <a:srgbClr val="C00000"/>
              </a:solidFill>
              <a:latin typeface="黑体" panose="02010609060101010101" pitchFamily="49" charset="-122"/>
              <a:ea typeface="黑体" panose="02010609060101010101" pitchFamily="49"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54"/>
  <p:tag name="DEFAULTHEIGHT" val="200"/>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4868f504-f458-4836-a75a-5724a08c3f24}"/>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b1b90c5a-1203-489f-85d1-3c9f6fa8b0ce}"/>
</p:tagLst>
</file>

<file path=ppt/tags/tag4.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ags/tag5.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ags/tag6.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ags/tag7.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ags/tag8.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ags/tag9.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ags/tag10.xml><?xml version="1.0" encoding="utf-8"?>
<p:tagLst xmlns:a="http://schemas.openxmlformats.org/drawingml/2006/main" xmlns:r="http://schemas.openxmlformats.org/officeDocument/2006/relationships" xmlns:p="http://schemas.openxmlformats.org/presentationml/2006/main">
  <p:tag name="KSO_WM_SLIDE_MODEL_TYPE" val="timeline"/>
</p:tagLst>
</file>

<file path=ppt/theme/theme1.xml><?xml version="1.0" encoding="utf-8"?>
<a:theme xmlns:a="http://schemas.openxmlformats.org/drawingml/2006/main" name="NCSU-CS">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000000"/>
      </a:folHlink>
    </a:clrScheme>
    <a:fontScheme name="自定义 1">
      <a:majorFont>
        <a:latin typeface="Franklin Gothic Medium"/>
        <a:ea typeface="微软雅黑"/>
        <a:cs typeface=""/>
      </a:majorFont>
      <a:minorFont>
        <a:latin typeface="Franklin Gothic 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
            <a:schemeClr val="bg1"/>
          </a:buClr>
          <a:buSzPct val="100000"/>
          <a:buFontTx/>
          <a:buNone/>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
            <a:schemeClr val="bg1"/>
          </a:buClr>
          <a:buSzPct val="100000"/>
          <a:buFontTx/>
          <a:buNone/>
          <a:defRPr kumimoji="0" lang="en-US" sz="2400" b="0" i="0" u="none" strike="noStrike" cap="none" normalizeH="0" baseline="-25000" smtClean="0">
            <a:ln>
              <a:noFill/>
            </a:ln>
            <a:solidFill>
              <a:schemeClr val="tx1"/>
            </a:solidFill>
            <a:effectLst>
              <a:outerShdw blurRad="38100" dist="38100" dir="2700000" algn="tl">
                <a:srgbClr val="000000">
                  <a:alpha val="43137"/>
                </a:srgbClr>
              </a:outerShdw>
            </a:effectLst>
            <a:latin typeface="Arial" panose="020B0604020202020204" pitchFamily="34" charset="0"/>
          </a:defRPr>
        </a:defPPr>
      </a:lstStyle>
    </a:lnDef>
  </a:objectDefaults>
  <a:extraClrSchemeLst>
    <a:extraClrScheme>
      <a:clrScheme name="NCSU-CS 1">
        <a:dk1>
          <a:srgbClr val="000000"/>
        </a:dk1>
        <a:lt1>
          <a:srgbClr val="FFFFFF"/>
        </a:lt1>
        <a:dk2>
          <a:srgbClr val="3333FF"/>
        </a:dk2>
        <a:lt2>
          <a:srgbClr val="00FFFF"/>
        </a:lt2>
        <a:accent1>
          <a:srgbClr val="00CCCC"/>
        </a:accent1>
        <a:accent2>
          <a:srgbClr val="6666FF"/>
        </a:accent2>
        <a:accent3>
          <a:srgbClr val="ADADFF"/>
        </a:accent3>
        <a:accent4>
          <a:srgbClr val="DADADA"/>
        </a:accent4>
        <a:accent5>
          <a:srgbClr val="AAE2E2"/>
        </a:accent5>
        <a:accent6>
          <a:srgbClr val="5C5CE7"/>
        </a:accent6>
        <a:hlink>
          <a:srgbClr val="CCCCFF"/>
        </a:hlink>
        <a:folHlink>
          <a:srgbClr val="CC99FF"/>
        </a:folHlink>
      </a:clrScheme>
      <a:clrMap bg1="dk2" tx1="lt1" bg2="dk1" tx2="lt2" accent1="accent1" accent2="accent2" accent3="accent3" accent4="accent4" accent5="accent5" accent6="accent6" hlink="hlink" folHlink="folHlink"/>
    </a:extraClrScheme>
    <a:extraClrScheme>
      <a:clrScheme name="NCSU-CS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NCSU-CS 3">
        <a:dk1>
          <a:srgbClr val="000000"/>
        </a:dk1>
        <a:lt1>
          <a:srgbClr val="FFFFFF"/>
        </a:lt1>
        <a:dk2>
          <a:srgbClr val="000000"/>
        </a:dk2>
        <a:lt2>
          <a:srgbClr val="CBCBCB"/>
        </a:lt2>
        <a:accent1>
          <a:srgbClr val="B2B2B2"/>
        </a:accent1>
        <a:accent2>
          <a:srgbClr val="DDDDDD"/>
        </a:accent2>
        <a:accent3>
          <a:srgbClr val="FFFFFF"/>
        </a:accent3>
        <a:accent4>
          <a:srgbClr val="000000"/>
        </a:accent4>
        <a:accent5>
          <a:srgbClr val="D5D5D5"/>
        </a:accent5>
        <a:accent6>
          <a:srgbClr val="C8C8C8"/>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NCSU-CS 4">
        <a:dk1>
          <a:srgbClr val="000000"/>
        </a:dk1>
        <a:lt1>
          <a:srgbClr val="FFFFFF"/>
        </a:lt1>
        <a:dk2>
          <a:srgbClr val="000000"/>
        </a:dk2>
        <a:lt2>
          <a:srgbClr val="777777"/>
        </a:lt2>
        <a:accent1>
          <a:srgbClr val="00CCCC"/>
        </a:accent1>
        <a:accent2>
          <a:srgbClr val="6666FF"/>
        </a:accent2>
        <a:accent3>
          <a:srgbClr val="FFFFFF"/>
        </a:accent3>
        <a:accent4>
          <a:srgbClr val="000000"/>
        </a:accent4>
        <a:accent5>
          <a:srgbClr val="AAE2E2"/>
        </a:accent5>
        <a:accent6>
          <a:srgbClr val="5C5CE7"/>
        </a:accent6>
        <a:hlink>
          <a:srgbClr val="CCCCFF"/>
        </a:hlink>
        <a:folHlink>
          <a:srgbClr val="CC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11466</TotalTime>
  <Words>7658</Words>
  <Application>Microsoft Office PowerPoint</Application>
  <PresentationFormat>全屏显示(4:3)</PresentationFormat>
  <Paragraphs>1130</Paragraphs>
  <Slides>84</Slides>
  <Notes>57</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84</vt:i4>
      </vt:variant>
    </vt:vector>
  </HeadingPairs>
  <TitlesOfParts>
    <vt:vector size="100" baseType="lpstr">
      <vt:lpstr>Arial Unicode MS</vt:lpstr>
      <vt:lpstr>黑体</vt:lpstr>
      <vt:lpstr>宋体</vt:lpstr>
      <vt:lpstr>微软雅黑</vt:lpstr>
      <vt:lpstr>Arial</vt:lpstr>
      <vt:lpstr>Cambria Math</vt:lpstr>
      <vt:lpstr>Courier New</vt:lpstr>
      <vt:lpstr>Franklin Gothic Book</vt:lpstr>
      <vt:lpstr>Garamond</vt:lpstr>
      <vt:lpstr>Monotype Corsiva</vt:lpstr>
      <vt:lpstr>Times New Roman</vt:lpstr>
      <vt:lpstr>Wingdings</vt:lpstr>
      <vt:lpstr>NCSU-CS</vt:lpstr>
      <vt:lpstr>Equation.DSMT4</vt:lpstr>
      <vt:lpstr>Visio.Drawing.15</vt:lpstr>
      <vt:lpstr>Visio</vt:lpstr>
      <vt:lpstr>第二章：物联网硬件平台</vt:lpstr>
      <vt:lpstr>学习目标</vt:lpstr>
      <vt:lpstr>目录</vt:lpstr>
      <vt:lpstr>生活中的物联网硬件</vt:lpstr>
      <vt:lpstr>物联网硬件发展历程</vt:lpstr>
      <vt:lpstr>物联网硬件平台类型</vt:lpstr>
      <vt:lpstr>硬件平台的组成</vt:lpstr>
      <vt:lpstr>目录</vt:lpstr>
      <vt:lpstr>关键特性</vt:lpstr>
      <vt:lpstr>低成本与微型化</vt:lpstr>
      <vt:lpstr>能耗</vt:lpstr>
      <vt:lpstr>能耗</vt:lpstr>
      <vt:lpstr>思考题</vt:lpstr>
      <vt:lpstr>运算速度和内存大小</vt:lpstr>
      <vt:lpstr>关键特性</vt:lpstr>
      <vt:lpstr>接口类型</vt:lpstr>
      <vt:lpstr>接口类型</vt:lpstr>
      <vt:lpstr>通信协议</vt:lpstr>
      <vt:lpstr>通信协议</vt:lpstr>
      <vt:lpstr>通信协议</vt:lpstr>
      <vt:lpstr>通信协议</vt:lpstr>
      <vt:lpstr>通信协议</vt:lpstr>
      <vt:lpstr>通信协议</vt:lpstr>
      <vt:lpstr>通信协议</vt:lpstr>
      <vt:lpstr>通信协议</vt:lpstr>
      <vt:lpstr>通信协议</vt:lpstr>
      <vt:lpstr>思考题</vt:lpstr>
      <vt:lpstr>接口类型</vt:lpstr>
      <vt:lpstr>目录</vt:lpstr>
      <vt:lpstr>常见的硬件平台</vt:lpstr>
      <vt:lpstr>传感器节点平台</vt:lpstr>
      <vt:lpstr>传感器节点平台</vt:lpstr>
      <vt:lpstr>传感器节点平台</vt:lpstr>
      <vt:lpstr>传感器节点平台</vt:lpstr>
      <vt:lpstr>STM32系列硬件平台</vt:lpstr>
      <vt:lpstr>STM32系列硬件平台</vt:lpstr>
      <vt:lpstr>STM32系列硬件平台</vt:lpstr>
      <vt:lpstr>STM32系列硬件平台</vt:lpstr>
      <vt:lpstr>STM32系列硬件平台</vt:lpstr>
      <vt:lpstr>STM32系列硬件平台</vt:lpstr>
      <vt:lpstr>STM32系列硬件平台</vt:lpstr>
      <vt:lpstr>STM32系列硬件平台</vt:lpstr>
      <vt:lpstr>Arduino系列硬件平台</vt:lpstr>
      <vt:lpstr>Arduino处理器的演变</vt:lpstr>
      <vt:lpstr>Arduino系列硬件平台</vt:lpstr>
      <vt:lpstr>Arduino系列硬件平台</vt:lpstr>
      <vt:lpstr>Arduino系列硬件平台</vt:lpstr>
      <vt:lpstr>Arduino系列硬件平台</vt:lpstr>
      <vt:lpstr>Arduino系列硬件平台</vt:lpstr>
      <vt:lpstr>Arduino系列硬件平台</vt:lpstr>
      <vt:lpstr>Arduino系列硬件平台</vt:lpstr>
      <vt:lpstr>Arduino系列硬件平台</vt:lpstr>
      <vt:lpstr>Arduino系列硬件平台</vt:lpstr>
      <vt:lpstr>树莓派系列硬件平台</vt:lpstr>
      <vt:lpstr>树莓派系列硬件平台</vt:lpstr>
      <vt:lpstr>树莓派系列硬件平台</vt:lpstr>
      <vt:lpstr>树莓派系列硬件平台</vt:lpstr>
      <vt:lpstr>树莓派系列硬件平台</vt:lpstr>
      <vt:lpstr>树莓派系列硬件平台</vt:lpstr>
      <vt:lpstr>其他树莓派开发板</vt:lpstr>
      <vt:lpstr>其他树莓派开发板</vt:lpstr>
      <vt:lpstr>思考题</vt:lpstr>
      <vt:lpstr>目录</vt:lpstr>
      <vt:lpstr>Arduino平台编程</vt:lpstr>
      <vt:lpstr>Arduino平台编程</vt:lpstr>
      <vt:lpstr>Arduino平台使用案例-室内环境检测</vt:lpstr>
      <vt:lpstr>Arduino平台使用案例-室内环境检测</vt:lpstr>
      <vt:lpstr>Arduino平台使用案例-室内环境检测</vt:lpstr>
      <vt:lpstr>Arduino平台使用案例-室内环境检测</vt:lpstr>
      <vt:lpstr>Arduino平台使用案例-室内环境检测</vt:lpstr>
      <vt:lpstr>Arduino平台使用案例-室内环境检测</vt:lpstr>
      <vt:lpstr>Arduino平台使用案例-室内环境检测</vt:lpstr>
      <vt:lpstr>基于树莓派4B的开发-室内环境监测</vt:lpstr>
      <vt:lpstr>基于树莓派4B的开发-室内环境监测</vt:lpstr>
      <vt:lpstr>基于树莓派4B的开发-室内环境监测</vt:lpstr>
      <vt:lpstr>基于树莓派4B的开发-室内环境监测</vt:lpstr>
      <vt:lpstr>基于树莓派4B的开发-室内环境监测</vt:lpstr>
      <vt:lpstr>基于树莓派4B的开发-室内环境监测</vt:lpstr>
      <vt:lpstr>基于树莓派4B的开发-室内环境监测</vt:lpstr>
      <vt:lpstr>目录</vt:lpstr>
      <vt:lpstr>研究进展</vt:lpstr>
      <vt:lpstr>研究进展</vt:lpstr>
      <vt:lpstr>研究进展</vt:lpstr>
      <vt:lpstr>PowerPoint 演示文稿</vt:lpstr>
    </vt:vector>
  </TitlesOfParts>
  <Company>NCSU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Centric Storage</dc:title>
  <dc:creator>Jayush R Luniya</dc:creator>
  <cp:lastModifiedBy>野 蔓</cp:lastModifiedBy>
  <cp:revision>2396</cp:revision>
  <cp:lastPrinted>2009-04-22T19:24:00Z</cp:lastPrinted>
  <dcterms:created xsi:type="dcterms:W3CDTF">2005-04-16T16:23:00Z</dcterms:created>
  <dcterms:modified xsi:type="dcterms:W3CDTF">2022-05-09T15:26:07Z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2052-11.1.0.8731</vt:lpwstr>
  </property>
</Properties>
</file>