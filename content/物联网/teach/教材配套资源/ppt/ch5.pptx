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36"/>
  </p:notesMasterIdLst>
  <p:handoutMasterIdLst>
    <p:handoutMasterId r:id="rId137"/>
  </p:handoutMasterIdLst>
  <p:sldIdLst>
    <p:sldId id="778" r:id="rId2"/>
    <p:sldId id="1941" r:id="rId3"/>
    <p:sldId id="1293" r:id="rId4"/>
    <p:sldId id="1322" r:id="rId5"/>
    <p:sldId id="1326" r:id="rId6"/>
    <p:sldId id="1323" r:id="rId7"/>
    <p:sldId id="1935" r:id="rId8"/>
    <p:sldId id="1297" r:id="rId9"/>
    <p:sldId id="1298" r:id="rId10"/>
    <p:sldId id="1299" r:id="rId11"/>
    <p:sldId id="1933" r:id="rId12"/>
    <p:sldId id="1444" r:id="rId13"/>
    <p:sldId id="1909" r:id="rId14"/>
    <p:sldId id="1942" r:id="rId15"/>
    <p:sldId id="1329" r:id="rId16"/>
    <p:sldId id="1303" r:id="rId17"/>
    <p:sldId id="1304" r:id="rId18"/>
    <p:sldId id="1305" r:id="rId19"/>
    <p:sldId id="1306" r:id="rId20"/>
    <p:sldId id="1308" r:id="rId21"/>
    <p:sldId id="1442" r:id="rId22"/>
    <p:sldId id="1309" r:id="rId23"/>
    <p:sldId id="1310" r:id="rId24"/>
    <p:sldId id="1311" r:id="rId25"/>
    <p:sldId id="1312" r:id="rId26"/>
    <p:sldId id="1313" r:id="rId27"/>
    <p:sldId id="1314" r:id="rId28"/>
    <p:sldId id="1315" r:id="rId29"/>
    <p:sldId id="1316" r:id="rId30"/>
    <p:sldId id="1443" r:id="rId31"/>
    <p:sldId id="1317" r:id="rId32"/>
    <p:sldId id="1943" r:id="rId33"/>
    <p:sldId id="1911" r:id="rId34"/>
    <p:sldId id="1944" r:id="rId35"/>
    <p:sldId id="1840" r:id="rId36"/>
    <p:sldId id="1841" r:id="rId37"/>
    <p:sldId id="1842" r:id="rId38"/>
    <p:sldId id="1945" r:id="rId39"/>
    <p:sldId id="1843" r:id="rId40"/>
    <p:sldId id="1844" r:id="rId41"/>
    <p:sldId id="1845" r:id="rId42"/>
    <p:sldId id="1846" r:id="rId43"/>
    <p:sldId id="1847" r:id="rId44"/>
    <p:sldId id="1850" r:id="rId45"/>
    <p:sldId id="1853" r:id="rId46"/>
    <p:sldId id="1854" r:id="rId47"/>
    <p:sldId id="1860" r:id="rId48"/>
    <p:sldId id="1861" r:id="rId49"/>
    <p:sldId id="1863" r:id="rId50"/>
    <p:sldId id="1878" r:id="rId51"/>
    <p:sldId id="1946" r:id="rId52"/>
    <p:sldId id="1880" r:id="rId53"/>
    <p:sldId id="1940" r:id="rId54"/>
    <p:sldId id="1956" r:id="rId55"/>
    <p:sldId id="1882" r:id="rId56"/>
    <p:sldId id="1883" r:id="rId57"/>
    <p:sldId id="1885" r:id="rId58"/>
    <p:sldId id="1886" r:id="rId59"/>
    <p:sldId id="1887" r:id="rId60"/>
    <p:sldId id="1889" r:id="rId61"/>
    <p:sldId id="1890" r:id="rId62"/>
    <p:sldId id="1891" r:id="rId63"/>
    <p:sldId id="1892" r:id="rId64"/>
    <p:sldId id="1893" r:id="rId65"/>
    <p:sldId id="1895" r:id="rId66"/>
    <p:sldId id="1896" r:id="rId67"/>
    <p:sldId id="1897" r:id="rId68"/>
    <p:sldId id="1913" r:id="rId69"/>
    <p:sldId id="1947" r:id="rId70"/>
    <p:sldId id="1948" r:id="rId71"/>
    <p:sldId id="1773" r:id="rId72"/>
    <p:sldId id="1775" r:id="rId73"/>
    <p:sldId id="1776" r:id="rId74"/>
    <p:sldId id="1777" r:id="rId75"/>
    <p:sldId id="1779" r:id="rId76"/>
    <p:sldId id="1782" r:id="rId77"/>
    <p:sldId id="1785" r:id="rId78"/>
    <p:sldId id="1788" r:id="rId79"/>
    <p:sldId id="1791" r:id="rId80"/>
    <p:sldId id="1792" r:id="rId81"/>
    <p:sldId id="1949" r:id="rId82"/>
    <p:sldId id="1793" r:id="rId83"/>
    <p:sldId id="1796" r:id="rId84"/>
    <p:sldId id="1797" r:id="rId85"/>
    <p:sldId id="1798" r:id="rId86"/>
    <p:sldId id="1950" r:id="rId87"/>
    <p:sldId id="1800" r:id="rId88"/>
    <p:sldId id="1801" r:id="rId89"/>
    <p:sldId id="1803" r:id="rId90"/>
    <p:sldId id="1804" r:id="rId91"/>
    <p:sldId id="1806" r:id="rId92"/>
    <p:sldId id="1808" r:id="rId93"/>
    <p:sldId id="1809" r:id="rId94"/>
    <p:sldId id="1810" r:id="rId95"/>
    <p:sldId id="1811" r:id="rId96"/>
    <p:sldId id="1812" r:id="rId97"/>
    <p:sldId id="1813" r:id="rId98"/>
    <p:sldId id="1814" r:id="rId99"/>
    <p:sldId id="1815" r:id="rId100"/>
    <p:sldId id="1816" r:id="rId101"/>
    <p:sldId id="1817" r:id="rId102"/>
    <p:sldId id="1818" r:id="rId103"/>
    <p:sldId id="1820" r:id="rId104"/>
    <p:sldId id="1821" r:id="rId105"/>
    <p:sldId id="1822" r:id="rId106"/>
    <p:sldId id="1951" r:id="rId107"/>
    <p:sldId id="1952" r:id="rId108"/>
    <p:sldId id="1953" r:id="rId109"/>
    <p:sldId id="1954" r:id="rId110"/>
    <p:sldId id="1958" r:id="rId111"/>
    <p:sldId id="1955" r:id="rId112"/>
    <p:sldId id="1835" r:id="rId113"/>
    <p:sldId id="1836" r:id="rId114"/>
    <p:sldId id="1837" r:id="rId115"/>
    <p:sldId id="1915" r:id="rId116"/>
    <p:sldId id="1934" r:id="rId117"/>
    <p:sldId id="1917" r:id="rId118"/>
    <p:sldId id="1918" r:id="rId119"/>
    <p:sldId id="1928" r:id="rId120"/>
    <p:sldId id="1929" r:id="rId121"/>
    <p:sldId id="1930" r:id="rId122"/>
    <p:sldId id="1931" r:id="rId123"/>
    <p:sldId id="1932" r:id="rId124"/>
    <p:sldId id="1923" r:id="rId125"/>
    <p:sldId id="1924" r:id="rId126"/>
    <p:sldId id="1900" r:id="rId127"/>
    <p:sldId id="1901" r:id="rId128"/>
    <p:sldId id="1902" r:id="rId129"/>
    <p:sldId id="1903" r:id="rId130"/>
    <p:sldId id="1904" r:id="rId131"/>
    <p:sldId id="1925" r:id="rId132"/>
    <p:sldId id="1926" r:id="rId133"/>
    <p:sldId id="1907" r:id="rId134"/>
    <p:sldId id="1908" r:id="rId135"/>
  </p:sldIdLst>
  <p:sldSz cx="9144000" cy="6858000" type="screen4x3"/>
  <p:notesSz cx="6858000" cy="9144000"/>
  <p:custDataLst>
    <p:tags r:id="rId13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野蔓" initials="野蔓" lastIdx="2" clrIdx="0">
    <p:extLst>
      <p:ext uri="{19B8F6BF-5375-455C-9EA6-DF929625EA0E}">
        <p15:presenceInfo xmlns:p15="http://schemas.microsoft.com/office/powerpoint/2012/main" userId="ab74d94a1b034a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8D8D8"/>
    <a:srgbClr val="C00000"/>
    <a:srgbClr val="5F5F5F"/>
    <a:srgbClr val="111F65"/>
    <a:srgbClr val="0033CC"/>
    <a:srgbClr val="E9EDF4"/>
    <a:srgbClr val="333333"/>
    <a:srgbClr val="808080"/>
    <a:srgbClr val="FF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1" autoAdjust="0"/>
    <p:restoredTop sz="86957" autoAdjust="0"/>
  </p:normalViewPr>
  <p:slideViewPr>
    <p:cSldViewPr snapToGrid="0">
      <p:cViewPr varScale="1">
        <p:scale>
          <a:sx n="80" d="100"/>
          <a:sy n="80" d="100"/>
        </p:scale>
        <p:origin x="108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66" d="100"/>
          <a:sy n="66" d="100"/>
        </p:scale>
        <p:origin x="-2382" y="-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tags" Target="tags/tag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5093341687034881E-2"/>
          <c:y val="5.2758362585709637E-2"/>
          <c:w val="0.85597769270277457"/>
          <c:h val="0.92334764678196213"/>
        </c:manualLayout>
      </c:layout>
      <c:scatterChart>
        <c:scatterStyle val="lineMarker"/>
        <c:varyColors val="0"/>
        <c:ser>
          <c:idx val="0"/>
          <c:order val="0"/>
          <c:tx>
            <c:strRef>
              <c:f>Zadoff!$C$6</c:f>
              <c:strCache>
                <c:ptCount val="1"/>
                <c:pt idx="0">
                  <c:v>Zadoff (Q)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8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xVal>
            <c:numRef>
              <c:f>Zadoff!$B$7:$B$13</c:f>
              <c:numCache>
                <c:formatCode>0.00_ </c:formatCode>
                <c:ptCount val="7"/>
                <c:pt idx="0">
                  <c:v>1</c:v>
                </c:pt>
                <c:pt idx="1">
                  <c:v>-0.22252093395631459</c:v>
                </c:pt>
                <c:pt idx="2">
                  <c:v>0.62348980185873537</c:v>
                </c:pt>
                <c:pt idx="3">
                  <c:v>-0.22252093395630992</c:v>
                </c:pt>
                <c:pt idx="4">
                  <c:v>0.62348980185873493</c:v>
                </c:pt>
                <c:pt idx="5">
                  <c:v>-0.22252093395632389</c:v>
                </c:pt>
                <c:pt idx="6">
                  <c:v>1</c:v>
                </c:pt>
              </c:numCache>
            </c:numRef>
          </c:xVal>
          <c:yVal>
            <c:numRef>
              <c:f>Zadoff!$C$7:$C$13</c:f>
              <c:numCache>
                <c:formatCode>0.00_ </c:formatCode>
                <c:ptCount val="7"/>
                <c:pt idx="0">
                  <c:v>0</c:v>
                </c:pt>
                <c:pt idx="1">
                  <c:v>0.97492791218182362</c:v>
                </c:pt>
                <c:pt idx="2">
                  <c:v>-0.78183148246802836</c:v>
                </c:pt>
                <c:pt idx="3">
                  <c:v>-0.97492791218182462</c:v>
                </c:pt>
                <c:pt idx="4">
                  <c:v>-0.78183148246802869</c:v>
                </c:pt>
                <c:pt idx="5">
                  <c:v>0.9749279121818214</c:v>
                </c:pt>
                <c:pt idx="6">
                  <c:v>1.0780872722326862E-14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B74-4AA2-93E0-DDD3731E1367}"/>
            </c:ext>
          </c:extLst>
        </c:ser>
        <c:ser>
          <c:idx val="1"/>
          <c:order val="1"/>
          <c:tx>
            <c:v>Zadoff(Shift)</c:v>
          </c:tx>
          <c:spPr>
            <a:ln w="28575">
              <a:noFill/>
            </a:ln>
          </c:spPr>
          <c:marker>
            <c:symbol val="circle"/>
            <c:size val="7"/>
            <c:spPr>
              <a:solidFill>
                <a:srgbClr val="0000FF"/>
              </a:solidFill>
              <a:ln>
                <a:solidFill>
                  <a:srgbClr val="0000FF"/>
                </a:solidFill>
                <a:prstDash val="solid"/>
              </a:ln>
            </c:spPr>
          </c:marker>
          <c:xVal>
            <c:numRef>
              <c:f>Zadoff!$D$7:$D$13</c:f>
              <c:numCache>
                <c:formatCode>0.00_ </c:formatCode>
                <c:ptCount val="7"/>
                <c:pt idx="0">
                  <c:v>1</c:v>
                </c:pt>
                <c:pt idx="1">
                  <c:v>1</c:v>
                </c:pt>
                <c:pt idx="2">
                  <c:v>-0.22252093395631459</c:v>
                </c:pt>
                <c:pt idx="3">
                  <c:v>0.62348980185873537</c:v>
                </c:pt>
                <c:pt idx="4">
                  <c:v>-0.22252093395630992</c:v>
                </c:pt>
                <c:pt idx="5">
                  <c:v>0.62348980185873493</c:v>
                </c:pt>
                <c:pt idx="6">
                  <c:v>-0.22252093395632389</c:v>
                </c:pt>
              </c:numCache>
            </c:numRef>
          </c:xVal>
          <c:yVal>
            <c:numRef>
              <c:f>Zadoff!$E$7:$E$13</c:f>
              <c:numCache>
                <c:formatCode>0.00_ </c:formatCode>
                <c:ptCount val="7"/>
                <c:pt idx="0">
                  <c:v>1.0780872722326862E-14</c:v>
                </c:pt>
                <c:pt idx="1">
                  <c:v>0</c:v>
                </c:pt>
                <c:pt idx="2">
                  <c:v>0.97492791218182362</c:v>
                </c:pt>
                <c:pt idx="3">
                  <c:v>-0.78183148246802836</c:v>
                </c:pt>
                <c:pt idx="4">
                  <c:v>-0.97492791218182462</c:v>
                </c:pt>
                <c:pt idx="5">
                  <c:v>-0.78183148246802869</c:v>
                </c:pt>
                <c:pt idx="6">
                  <c:v>0.9749279121818214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B74-4AA2-93E0-DDD3731E13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633161424"/>
        <c:axId val="-633167408"/>
      </c:scatterChart>
      <c:valAx>
        <c:axId val="-633161424"/>
        <c:scaling>
          <c:orientation val="minMax"/>
          <c:max val="1.2"/>
          <c:min val="-1.2"/>
        </c:scaling>
        <c:delete val="0"/>
        <c:axPos val="b"/>
        <c:numFmt formatCode="0.00_ 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-633167408"/>
        <c:crosses val="autoZero"/>
        <c:crossBetween val="midCat"/>
      </c:valAx>
      <c:valAx>
        <c:axId val="-633167408"/>
        <c:scaling>
          <c:orientation val="minMax"/>
          <c:max val="1.2"/>
          <c:min val="-1.2"/>
        </c:scaling>
        <c:delete val="0"/>
        <c:axPos val="l"/>
        <c:numFmt formatCode="0.00_ 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-633161424"/>
        <c:crosses val="autoZero"/>
        <c:crossBetween val="midCat"/>
      </c:valAx>
      <c:spPr>
        <a:noFill/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8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zh-CN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defRPr sz="1200" baseline="0">
                <a:effectLst/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defRPr sz="1200" baseline="0">
                <a:effectLst/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7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defRPr sz="1200" baseline="0">
                <a:effectLst/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7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defRPr sz="1200" baseline="0">
                <a:effectLst/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B6987093-2FA2-4B3E-A303-E109B2C659C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076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defRPr sz="1200" baseline="0">
                <a:effectLst/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defRPr sz="1200" baseline="0">
                <a:effectLst/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9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defRPr sz="1200" baseline="0">
                <a:effectLst/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defRPr sz="1200" baseline="0">
                <a:effectLst/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C163974F-E2FC-4919-A1F7-1DAB2B1EEB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33081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defRPr/>
            </a:pPr>
            <a:fld id="{7ED47AB2-00CE-41E6-9820-72042BB36AE6}" type="slidenum">
              <a:rPr lang="zh-CN" altLang="en-US" sz="1200" baseline="0" smtClean="0">
                <a:latin typeface="Times New Roman" panose="02020603050405020304" pitchFamily="18" charset="0"/>
              </a:rPr>
              <a:t>1</a:t>
            </a:fld>
            <a:endParaRPr lang="en-US" altLang="zh-CN" sz="1200" baseline="0" dirty="0">
              <a:latin typeface="Times New Roman" panose="02020603050405020304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062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8045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现有短距离技术的问题。</a:t>
            </a:r>
            <a:endParaRPr lang="en-US" altLang="zh-CN" dirty="0"/>
          </a:p>
          <a:p>
            <a:r>
              <a:rPr lang="zh-CN" altLang="en-US"/>
              <a:t>概述标题整理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5261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受到广泛关注，一些重要案例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现有短距离技术的问题。</a:t>
            </a:r>
            <a:endParaRPr lang="en-US" altLang="zh-CN" dirty="0"/>
          </a:p>
          <a:p>
            <a:r>
              <a:rPr lang="zh-CN" altLang="en-US" dirty="0"/>
              <a:t>概述标题整理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5261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短距离</a:t>
            </a:r>
            <a:r>
              <a:rPr lang="en-US" altLang="zh-CN" dirty="0"/>
              <a:t>!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1702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受到广泛关注，一些重要案例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现有短距离技术的问题。</a:t>
            </a:r>
            <a:endParaRPr lang="en-US" altLang="zh-CN" dirty="0"/>
          </a:p>
          <a:p>
            <a:r>
              <a:rPr lang="zh-CN" altLang="en-US" dirty="0"/>
              <a:t>概述标题整理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9960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4284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增加</a:t>
            </a:r>
            <a:r>
              <a:rPr lang="en-US" altLang="zh-CN" dirty="0"/>
              <a:t>Lora</a:t>
            </a:r>
            <a:r>
              <a:rPr lang="zh-CN" altLang="en-US" dirty="0"/>
              <a:t>功率谱密度增益</a:t>
            </a:r>
            <a:endParaRPr lang="en-US" altLang="zh-CN" dirty="0"/>
          </a:p>
          <a:p>
            <a:r>
              <a:rPr lang="en-US" altLang="zh-CN" dirty="0"/>
              <a:t>PSD</a:t>
            </a:r>
            <a:r>
              <a:rPr lang="zh-CN" altLang="en-US" dirty="0"/>
              <a:t>的定义，</a:t>
            </a:r>
            <a:r>
              <a:rPr lang="en-US" altLang="zh-CN" dirty="0" err="1"/>
              <a:t>LoRa</a:t>
            </a:r>
            <a:r>
              <a:rPr lang="zh-CN" altLang="en-US" dirty="0"/>
              <a:t>的功率谱密度就是低？那么长距离如何实现？</a:t>
            </a:r>
            <a:r>
              <a:rPr lang="en-US" altLang="zh-CN" dirty="0" err="1"/>
              <a:t>Css</a:t>
            </a:r>
            <a:r>
              <a:rPr lang="zh-CN" altLang="en-US" dirty="0"/>
              <a:t>的容错？</a:t>
            </a:r>
            <a:endParaRPr lang="en-US" altLang="zh-CN" dirty="0"/>
          </a:p>
          <a:p>
            <a:r>
              <a:rPr lang="en-US" altLang="zh-CN" dirty="0" err="1"/>
              <a:t>dBm</a:t>
            </a:r>
            <a:r>
              <a:rPr lang="zh-CN" altLang="en-US" dirty="0"/>
              <a:t>换算，</a:t>
            </a:r>
            <a:endParaRPr lang="en-US" altLang="zh-CN" dirty="0"/>
          </a:p>
          <a:p>
            <a:r>
              <a:rPr lang="en-US" altLang="zh-CN" dirty="0"/>
              <a:t>https://www.rapidtables.com/electric/dBm.html</a:t>
            </a:r>
          </a:p>
          <a:p>
            <a:r>
              <a:rPr lang="zh-CN" altLang="en-US" dirty="0"/>
              <a:t>参考的最大的功率限制，以及对于每个信道的使用带宽。</a:t>
            </a:r>
            <a:endParaRPr lang="en-US" altLang="zh-CN" dirty="0"/>
          </a:p>
          <a:p>
            <a:r>
              <a:rPr lang="en-US" altLang="zh-CN" dirty="0"/>
              <a:t>https://www.semtech.com/uploads/documents/an1200.25.pdf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7187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增加</a:t>
            </a:r>
            <a:r>
              <a:rPr lang="en-US" altLang="zh-CN" dirty="0"/>
              <a:t>m</a:t>
            </a:r>
            <a:r>
              <a:rPr lang="zh-CN" altLang="en-US" dirty="0"/>
              <a:t>此重传，重传</a:t>
            </a:r>
            <a:r>
              <a:rPr lang="en-US" altLang="zh-CN" dirty="0"/>
              <a:t>100</a:t>
            </a:r>
            <a:r>
              <a:rPr lang="zh-CN" altLang="en-US" dirty="0"/>
              <a:t>次，距离是</a:t>
            </a:r>
            <a:r>
              <a:rPr lang="en-US" altLang="zh-CN" dirty="0"/>
              <a:t>10</a:t>
            </a:r>
            <a:r>
              <a:rPr lang="zh-CN" altLang="en-US" dirty="0"/>
              <a:t>倍（第一章）；相当于传输一次，功率增加</a:t>
            </a:r>
            <a:r>
              <a:rPr lang="en-US" altLang="zh-CN" dirty="0"/>
              <a:t>100</a:t>
            </a:r>
            <a:r>
              <a:rPr lang="zh-CN" altLang="en-US" dirty="0"/>
              <a:t>倍。在星座图里面是等效的。</a:t>
            </a:r>
            <a:endParaRPr lang="en-US" altLang="zh-CN" dirty="0"/>
          </a:p>
          <a:p>
            <a:r>
              <a:rPr lang="zh-CN" altLang="en-US" dirty="0"/>
              <a:t>加两个图，</a:t>
            </a:r>
            <a:r>
              <a:rPr lang="en-US" altLang="zh-CN" dirty="0" err="1"/>
              <a:t>bpsk</a:t>
            </a:r>
            <a:r>
              <a:rPr lang="en-US" altLang="zh-CN" dirty="0"/>
              <a:t>, </a:t>
            </a:r>
            <a:r>
              <a:rPr lang="zh-CN" altLang="en-US" dirty="0"/>
              <a:t>距离变化。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1643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介绍下</a:t>
            </a:r>
            <a:r>
              <a:rPr lang="en-US" altLang="zh-CN" dirty="0"/>
              <a:t>CSS</a:t>
            </a:r>
            <a:r>
              <a:rPr lang="zh-CN" altLang="en-US" dirty="0"/>
              <a:t>扩频方式，及其结果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https://en.wikipedia.org/wiki/Spread_spectrum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4012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整合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682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TAU</a:t>
            </a:r>
            <a:r>
              <a:rPr lang="zh-CN" altLang="en-US" dirty="0"/>
              <a:t>补充。解释，为什么切换。</a:t>
            </a:r>
            <a:endParaRPr lang="en-US" altLang="zh-CN" dirty="0"/>
          </a:p>
          <a:p>
            <a:r>
              <a:rPr lang="en-US" altLang="zh-CN" dirty="0"/>
              <a:t>https://blog.csdn.net/wangzhiyu1980/article/details/26444763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8632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全中文。</a:t>
            </a:r>
            <a:r>
              <a:rPr lang="en-US" altLang="zh-CN" dirty="0"/>
              <a:t>-- delay </a:t>
            </a:r>
            <a:r>
              <a:rPr lang="zh-CN" altLang="en-US" dirty="0"/>
              <a:t>（标注</a:t>
            </a:r>
            <a:r>
              <a:rPr lang="en-US" altLang="zh-CN" dirty="0" err="1"/>
              <a:t>RX_delay</a:t>
            </a:r>
            <a:r>
              <a:rPr lang="zh-CN" altLang="en-US" dirty="0"/>
              <a:t>），假设</a:t>
            </a:r>
            <a:r>
              <a:rPr lang="en-US" altLang="zh-CN" dirty="0"/>
              <a:t>xx,</a:t>
            </a:r>
            <a:r>
              <a:rPr lang="zh-CN" altLang="en-US" dirty="0"/>
              <a:t>比如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479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Lora </a:t>
            </a:r>
            <a:r>
              <a:rPr lang="zh-CN" altLang="en-US" dirty="0"/>
              <a:t>数据率计算表。</a:t>
            </a:r>
            <a:endParaRPr lang="en-US" altLang="zh-CN" dirty="0"/>
          </a:p>
          <a:p>
            <a:r>
              <a:rPr lang="en-US" altLang="zh-CN" dirty="0"/>
              <a:t>http://www.rfwireless-world.com/calculators/LoRa-Data-Rate-Calculator.html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97477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Lora regional </a:t>
            </a:r>
            <a:r>
              <a:rPr lang="en-US" altLang="zh-CN" dirty="0" err="1"/>
              <a:t>paramters</a:t>
            </a:r>
            <a:r>
              <a:rPr lang="en-US" altLang="zh-CN" dirty="0"/>
              <a:t> v1.1. ——</a:t>
            </a:r>
            <a:r>
              <a:rPr lang="zh-CN" altLang="en-US" dirty="0"/>
              <a:t>对称放置。</a:t>
            </a:r>
            <a:endParaRPr lang="en-US" altLang="zh-CN" dirty="0"/>
          </a:p>
          <a:p>
            <a:r>
              <a:rPr lang="en-US" altLang="zh-CN" dirty="0"/>
              <a:t>43 / 72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8306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060091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RE= resource element</a:t>
            </a:r>
          </a:p>
          <a:p>
            <a:r>
              <a:rPr lang="en-US" altLang="zh-CN" dirty="0"/>
              <a:t>transparent</a:t>
            </a:r>
          </a:p>
        </p:txBody>
      </p:sp>
    </p:spTree>
    <p:extLst>
      <p:ext uri="{BB962C8B-B14F-4D97-AF65-F5344CB8AC3E}">
        <p14:creationId xmlns:p14="http://schemas.microsoft.com/office/powerpoint/2010/main" val="2035303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14752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420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增加和其他短距离通信技术的对比，图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短距离，多跳实现长距离，不可靠传输</a:t>
            </a:r>
            <a:endParaRPr lang="en-US" altLang="zh-CN" dirty="0"/>
          </a:p>
          <a:p>
            <a:r>
              <a:rPr lang="zh-CN" altLang="en-US" dirty="0"/>
              <a:t>近几年，低功耗广域网受到重视与关注</a:t>
            </a:r>
            <a:endParaRPr lang="en-US" altLang="zh-CN" dirty="0"/>
          </a:p>
          <a:p>
            <a:r>
              <a:rPr lang="zh-CN" altLang="en-US" dirty="0"/>
              <a:t>长距离解决问题。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20153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210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就是一个</a:t>
            </a:r>
            <a:r>
              <a:rPr lang="en-US" altLang="zh-CN" dirty="0"/>
              <a:t>PRB</a:t>
            </a:r>
          </a:p>
        </p:txBody>
      </p:sp>
    </p:spTree>
    <p:extLst>
      <p:ext uri="{BB962C8B-B14F-4D97-AF65-F5344CB8AC3E}">
        <p14:creationId xmlns:p14="http://schemas.microsoft.com/office/powerpoint/2010/main" val="11720083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0779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 1. </a:t>
            </a:r>
            <a:r>
              <a:rPr lang="zh-CN" altLang="en-US" dirty="0"/>
              <a:t>计算</a:t>
            </a:r>
            <a:r>
              <a:rPr lang="en-US" altLang="zh-CN" dirty="0"/>
              <a:t>NB-</a:t>
            </a:r>
            <a:r>
              <a:rPr lang="en-US" altLang="zh-CN" dirty="0" err="1"/>
              <a:t>IoT</a:t>
            </a:r>
            <a:r>
              <a:rPr lang="zh-CN" altLang="en-US" dirty="0"/>
              <a:t>中同步信号</a:t>
            </a:r>
            <a:r>
              <a:rPr lang="en-US" altLang="zh-CN" dirty="0"/>
              <a:t>NPSS</a:t>
            </a:r>
            <a:r>
              <a:rPr lang="zh-CN" altLang="en-US" dirty="0"/>
              <a:t>（</a:t>
            </a:r>
            <a:r>
              <a:rPr lang="en-US" altLang="zh-CN" dirty="0"/>
              <a:t>11</a:t>
            </a:r>
            <a:r>
              <a:rPr lang="zh-CN" altLang="en-US" dirty="0"/>
              <a:t>位）的</a:t>
            </a:r>
            <a:r>
              <a:rPr lang="en-US" altLang="zh-CN" dirty="0"/>
              <a:t>ZC</a:t>
            </a:r>
            <a:r>
              <a:rPr lang="zh-CN" altLang="en-US" dirty="0"/>
              <a:t>序列在各个位置上的值。</a:t>
            </a:r>
            <a:endParaRPr lang="en-US" altLang="zh-CN" dirty="0"/>
          </a:p>
          <a:p>
            <a:r>
              <a:rPr lang="zh-CN" altLang="en-US" dirty="0"/>
              <a:t>习题、计算</a:t>
            </a:r>
            <a:r>
              <a:rPr lang="en-US" altLang="zh-CN" dirty="0"/>
              <a:t>ZC</a:t>
            </a:r>
            <a:r>
              <a:rPr lang="zh-CN" altLang="en-US" dirty="0"/>
              <a:t>数值，计算相关性。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8574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96544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NSSS</a:t>
            </a:r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用于获取</a:t>
            </a:r>
            <a:r>
              <a:rPr kumimoji="1" lang="en-US" altLang="zh-CN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NB-PCID</a:t>
            </a:r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，时长为</a:t>
            </a:r>
            <a:r>
              <a:rPr kumimoji="1" lang="en-US" altLang="zh-CN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80ms</a:t>
            </a:r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块。对于超低</a:t>
            </a:r>
            <a:r>
              <a:rPr kumimoji="1" lang="en-US" altLang="zh-CN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SNR</a:t>
            </a:r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环境下的终端，要完成检测，单个</a:t>
            </a:r>
            <a:r>
              <a:rPr kumimoji="1" lang="en-US" altLang="zh-CN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10ms</a:t>
            </a:r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时间是不够的，需要一个累计的过程，多个</a:t>
            </a:r>
            <a:r>
              <a:rPr kumimoji="1" lang="en-US" altLang="zh-CN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10ms</a:t>
            </a:r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才行。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07480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46930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就是一个</a:t>
            </a:r>
            <a:r>
              <a:rPr lang="en-US" altLang="zh-CN" dirty="0"/>
              <a:t>PRB</a:t>
            </a:r>
          </a:p>
        </p:txBody>
      </p:sp>
    </p:spTree>
    <p:extLst>
      <p:ext uri="{BB962C8B-B14F-4D97-AF65-F5344CB8AC3E}">
        <p14:creationId xmlns:p14="http://schemas.microsoft.com/office/powerpoint/2010/main" val="41399784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绘图。 第</a:t>
            </a:r>
            <a:r>
              <a:rPr lang="en-US" altLang="zh-CN" dirty="0"/>
              <a:t>4</a:t>
            </a:r>
            <a:r>
              <a:rPr lang="zh-CN" altLang="en-US" dirty="0"/>
              <a:t>中确认，时域</a:t>
            </a:r>
            <a:endParaRPr lang="en-US" altLang="zh-CN" dirty="0"/>
          </a:p>
          <a:p>
            <a:r>
              <a:rPr lang="zh-CN" altLang="en-US" dirty="0"/>
              <a:t>就是一个</a:t>
            </a:r>
            <a:r>
              <a:rPr lang="en-US" altLang="zh-CN" dirty="0"/>
              <a:t>PRB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0636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就是一个</a:t>
            </a:r>
            <a:r>
              <a:rPr lang="en-US" altLang="zh-CN"/>
              <a:t>PRB</a:t>
            </a:r>
          </a:p>
        </p:txBody>
      </p:sp>
    </p:spTree>
    <p:extLst>
      <p:ext uri="{BB962C8B-B14F-4D97-AF65-F5344CB8AC3E}">
        <p14:creationId xmlns:p14="http://schemas.microsoft.com/office/powerpoint/2010/main" val="2164270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类似于这段解释，</a:t>
            </a:r>
            <a:r>
              <a:rPr lang="en-US" altLang="zh-CN" dirty="0"/>
              <a:t>DCI </a:t>
            </a:r>
            <a:r>
              <a:rPr lang="zh-CN" altLang="en-US" dirty="0"/>
              <a:t>三种类型作用细化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9233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1517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https://blog.csdn.net/zhouxuanyuye/article/details/78278292</a:t>
            </a:r>
          </a:p>
          <a:p>
            <a:r>
              <a:rPr lang="zh-CN" altLang="en-US" dirty="0"/>
              <a:t>参考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9802EA-7E53-461A-B9B6-88443023849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8654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</a:t>
            </a:r>
            <a:r>
              <a:rPr lang="en-US" altLang="zh-CN" dirty="0"/>
              <a:t>TBCC</a:t>
            </a:r>
            <a:r>
              <a:rPr lang="zh-CN" altLang="en-US" dirty="0"/>
              <a:t>对比，解码能力等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15691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11926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43705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27963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3801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55541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为了满足不同的覆盖范围，系统可以在小区内配置最多三个NPRACH资源配置，每个配置指定随机接入前导码的重复值。终端会根据其测量的下行信号强度来估计覆盖水平（CE Level），并使用根据覆盖水平配置的NPRACH资源来发送发送随机接入前导码。</a:t>
            </a:r>
          </a:p>
          <a:p>
            <a:r>
              <a:rPr lang="zh-CN" altLang="en-US" dirty="0"/>
              <a:t>总之，终端通过测量下行信号强度来决定CE Level，并使用该CE Level指定的NPRACH资源，发送随机接入前导码。一旦随机接入前导码传送失败，NB-IoT终端会在升级CE Level重新尝试，直到尝试完所有CE Level的NPRACH资源为止</a:t>
            </a:r>
          </a:p>
        </p:txBody>
      </p:sp>
    </p:spTree>
    <p:extLst>
      <p:ext uri="{BB962C8B-B14F-4D97-AF65-F5344CB8AC3E}">
        <p14:creationId xmlns:p14="http://schemas.microsoft.com/office/powerpoint/2010/main" val="20705089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97428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b="1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544767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b="1" i="0" kern="120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72433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b="1" i="0" kern="120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66742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23611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1375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9086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65182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数学证明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75121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039054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74418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206145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625484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536333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496698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07497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33956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56279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30178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+-20ms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中基站不能主动联系设备（下一页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016110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+-20ms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中基站不能主动联系设备（下一页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715483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碰撞避免  网关碰撞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706989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碰撞避免  网关碰撞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721876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碰撞避免  网关碰撞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390310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碰撞避免  网关碰撞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58518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碰撞避免  网关碰撞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30037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碰撞避免  网关碰撞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691242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52266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 device which internal clock is defined with a +/-2005 10ppm precision may drift by +/-1.3mSec every beacon period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40666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003603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908665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对比表格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99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703211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100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92892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103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177924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104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283424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105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11198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106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825846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107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266306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108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230182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109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96974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339879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194674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209002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505831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517950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不同设备使用相同</a:t>
            </a:r>
            <a:r>
              <a:rPr lang="en-US" altLang="zh-CN"/>
              <a:t>SF</a:t>
            </a:r>
            <a:r>
              <a:rPr lang="zh-CN" altLang="en-US"/>
              <a:t>，同时发送相同的数据，在接受端碰撞，频域可区分</a:t>
            </a:r>
            <a:endParaRPr lang="en-US" altLang="zh-CN"/>
          </a:p>
          <a:p>
            <a:r>
              <a:rPr lang="zh-CN" altLang="en-US"/>
              <a:t>廉价硬件生成频率时产生的偏移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195262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不同设备使用相同</a:t>
            </a:r>
            <a:r>
              <a:rPr lang="en-US" altLang="zh-CN"/>
              <a:t>SF</a:t>
            </a:r>
            <a:r>
              <a:rPr lang="zh-CN" altLang="en-US"/>
              <a:t>，同时发送相同的数据，在接受端碰撞，频域可区分</a:t>
            </a:r>
            <a:endParaRPr lang="en-US" altLang="zh-CN"/>
          </a:p>
          <a:p>
            <a:r>
              <a:rPr lang="zh-CN" altLang="en-US"/>
              <a:t>廉价硬件生成频率时产生的偏移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015541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051478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\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87025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不同设备使用相同</a:t>
            </a:r>
            <a:r>
              <a:rPr lang="en-US" altLang="zh-CN"/>
              <a:t>SF</a:t>
            </a:r>
            <a:r>
              <a:rPr lang="zh-CN" altLang="en-US"/>
              <a:t>，同时发送相同的数据，在接受端碰撞，频域可区分</a:t>
            </a:r>
            <a:endParaRPr lang="en-US" altLang="zh-CN"/>
          </a:p>
          <a:p>
            <a:r>
              <a:rPr lang="zh-CN" altLang="en-US"/>
              <a:t>廉价硬件生成频率时产生的偏移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2580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 eaLnBrk="0" hangingPunct="0">
              <a:spcBef>
                <a:spcPct val="50000"/>
              </a:spcBef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defRPr sz="2400" baseline="-25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23777-CEBB-41C8-8BE8-AF66406041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09425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290052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328101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460892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08187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190383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594260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485834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2894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509904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163974F-E2FC-4919-A1F7-1DAB2B1EEBC0}" type="slidenum">
              <a:rPr lang="zh-CN" altLang="en-US" smtClean="0"/>
              <a:pPr>
                <a:defRPr/>
              </a:pPr>
              <a:t>134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038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0"/>
          <p:cNvSpPr>
            <a:spLocks noChangeShapeType="1"/>
          </p:cNvSpPr>
          <p:nvPr/>
        </p:nvSpPr>
        <p:spPr bwMode="auto">
          <a:xfrm>
            <a:off x="0" y="1524000"/>
            <a:ext cx="9144000" cy="0"/>
          </a:xfrm>
          <a:prstGeom prst="line">
            <a:avLst/>
          </a:prstGeom>
          <a:noFill/>
          <a:ln w="3175">
            <a:solidFill>
              <a:srgbClr val="CC33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buClr>
                <a:schemeClr val="bg1"/>
              </a:buClr>
              <a:buSzPct val="100000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+mn-ea"/>
            </a:endParaRPr>
          </a:p>
        </p:txBody>
      </p:sp>
      <p:sp>
        <p:nvSpPr>
          <p:cNvPr id="5" name="Line 41"/>
          <p:cNvSpPr>
            <a:spLocks noChangeShapeType="1"/>
          </p:cNvSpPr>
          <p:nvPr/>
        </p:nvSpPr>
        <p:spPr bwMode="auto"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CC33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buClr>
                <a:schemeClr val="bg1"/>
              </a:buClr>
              <a:buSzPct val="100000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+mn-ea"/>
            </a:endParaRPr>
          </a:p>
        </p:txBody>
      </p: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0" y="2209800"/>
            <a:ext cx="9144000" cy="1143000"/>
          </a:xfrm>
        </p:spPr>
        <p:txBody>
          <a:bodyPr/>
          <a:lstStyle>
            <a:lvl1pPr algn="ctr">
              <a:defRPr sz="4000" i="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638300" y="4648200"/>
            <a:ext cx="5867400" cy="1447800"/>
          </a:xfrm>
        </p:spPr>
        <p:txBody>
          <a:bodyPr lIns="92075" tIns="46038" rIns="92075" bIns="46038"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2" name="AutoShape 2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4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/>
          <p:cNvSpPr>
            <a:spLocks noChangeAspect="1" noChangeArrowheads="1"/>
          </p:cNvSpPr>
          <p:nvPr userDrawn="1"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6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/>
          <p:cNvSpPr>
            <a:spLocks noChangeAspect="1" noChangeArrowheads="1"/>
          </p:cNvSpPr>
          <p:nvPr userDrawn="1"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8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/>
          <p:cNvSpPr>
            <a:spLocks noChangeAspect="1" noChangeArrowheads="1"/>
          </p:cNvSpPr>
          <p:nvPr userDrawn="1"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10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/>
          <p:cNvSpPr>
            <a:spLocks noChangeAspect="1" noChangeArrowheads="1"/>
          </p:cNvSpPr>
          <p:nvPr userDrawn="1"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12" descr="data:image/jpeg;base64,/9j/4AAQSkZJRgABAQAAAQABAAD/2wBDABkbGxsbGxsbGxsbGxsbGxsbGxsbGxsbGxsbGxsbGxsbGxsbGxsbGxsbGxsbGxsbGxsbGxsbGxsbGxsbGxsbGxv/wQARCAEsAcUDACIAAREAAhEA/8QAqwABAAIDAQEAAAAAAAAAAAAAAAQFAQMGAgcBAQEBAQEAAAAAAAAAAAAAAAABAgMEEAACAgECAgUHBQ0FBgYDAAAAAgEDBBESEyEFIjEyUhQjQUJRYWIzcXKCkkNTY3OBkaKxssLS4vAVNIOhwSR0k8PR8iVEVKOz4dPj8REBAQACAQQABAMHBQEAAAAAAAECESESMUFRQmFxgQMicmKCoaLB4vAyUpGSsdL/2gAMAwAAARECEQA/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/UpUTrLqqo85Yqflghzno3yNV130Ek2V4WPX1ts2v47Z3m6i6q+vfTOq66dmm2fmBz9EXyjMbuYe38ZZEGeJn/wDpqv8AilgAK7ynLXv4bf4bqZjpCmJ0tWymfwiTEfa7CwPLKrRoyw3zj7HPt5SxLI3I6vHtWdTYQHwapnfVLY9niqnSJn3r2Sa+Nk43LJTi1ff6o5rHtdP3lGvVNrMGuuxLVh62h1nslecGwigAAAAAAAAAAAAAAAAAAAAAAAAAAAAAAAAAAAAAAAAAAAAAAAAAAAAAAAAAAEPIyeHMVVLxL37qeH4n9wysiaoVK43328q0/fn4DONjxTEs3Xuf5Szxf9pUeKcTa3GyG418+tPdT4UUnAEVpuuSiubLJmEjSJmI7N0wsf5yRqMZMWq1sbV5s84u6e91eqbsqKZos8o+S01b37Zjly9LTy2+sFizyaISFqs4cbI01iudOqv1exioq8DIzb8mzjfJpG1+XdcvSrwsa+tnuybN1r6xCrPUWNec6Ry1bQtBl3J2ACts6TxK2ZGZ96Nt2wk9pFeukMlsXH3p32aFX/UmI29FaY7yxM/lgobLbOkrq+BV5uidzcbqrxPi+j+kdAu7au7TdpGunZ2fqNWcJLu/JAsxXqabsPqP69P3Kz+FyRj5KZCzylLE5WVt3kn5vZ4SSQMnHbd5Rj9XIT/3V+9uQTwR8e9ciuHWNJjVXSe1HjtWSQRQAAAAABqa2pHVHdVd+4szES3zQbQAAAAAAAAAAAAEbIyacaEm1tsO22OWs++Z9ygSQYiYaImJ1ief5J9JkAAAAAAAAAAAAMFWnSlDZDUNEpo21bJmNrTE6frLJb4S3S1ABFAAAAAAA025FNGnFsVANx4V0fWUZWiJ0nbMTpPsnQqukOkK66NtLq9lsTCykxO2PS06dk+hSs6G4k5L6TOzhzv9kzMxt/L2/wCZrp4tZ6uZHVgAy0Guyxakax50VImZ+aDYVmT/ALRkVYsdxdL7/or3E+s5UesStnlsu75S75NfvdXqr9aObFieZmFjnMRH5oKDIzMii67dsSzYvAXrNXYm79v6Q11G9OhBCw8tcqvw2r8on9eIk2WJUkvY21f6/wAyKqduRl5rLcmzGxX6q/fPAxPfMpVpRN11kfc6FmyY+lp1F+symqEty+tbvox/RSuq22R+FbtWG+9L1viJldaVLsrRUWPVWNINVEbi5jdzFRPx13/4t43Z33vF/wCJbH/LYmggheUXJ8riWaeKllu/R7/6JrhcbJlrMdqlu9ezZ51Ptd1yxI12NVd1tNlnq219WxfrA/ih5H/h+Jux45xYsvLRul9Z6276Xi9Usan4lddmk9dNxFW6yloqyutunbXf6r/jPwhNFIyDEzERznkaHyaUrizfDLLbV2dfc3hUiol8eSXRlJHmrJhMlf2bSyiYmNfROmn5Ty6LYjI0dV40IWCzLFmM/fx22/4fqF/oiwABFADw7pWjO7QqrEzLTyiIA47pKxmzbdZnzcqqe6IWJ1j8vM6bo+9sjFrdubRqjT7ZX0/mIGTgr0hNeVj2KsPHX3Q3W/nXwltj0pj1JUnYsdvpaZ7Wn6RvKzpk8xjGXd9VvByfSWTcubOyx14W3bG7l/TfEdBi5SZNMWLPWiPOL6Vklxut+1mW7Z6SYsRmZFdZdNNy7uamWZV5s0L9KdP1nC+UW13vdU8o8u3ONJ1iZ7Jid0TBvWrIzZV7rlWHbYjXvpumZ7ta+n6q7d3VNdHz4Z6/ly7UHhF2oi667VhdfbpEHs5ugAABzfTkTrQ3o0ePdrrB0L2JWsvYyoses06EXIxcfOWuXltsayjVuaxurL4TKblnlU9C32NNlDTLIqQya89vPSYj3Nr3fcdGRsfFpxllaU2695tdWbT2zJ4zMtMOuHeJbdO1FX1pF/NeJ3ScTmpgOSu6XyrNYr20rz7sbm0+k37qlf5Tkb4sm62XiddZdp5/Nrpp8Jqfh32lzjvQR8a2bqKrfGkEg5tgAAAADxZrseY8M/qPn09sz6dZ/PqfQX7j/Rn9R8+nnM6R2zOnv1nkdfw/Ln+J4dr0fa1uJUzc5iNsz7ds6ak8h4dXk+LUjT6urfOSzne9bnaMgAihrssSpZex1RY7WadIg2FT0usthzMeq6TPzalk3YlupVorK6wyNDLPrLzOc6Zx7N0ZMTE1xEJMa6Ss+6PTuI/ReW1Vk0zPUs12RPYtmnV+aGIeVkZNrymQ8zNbTGzSIhZ+aIXX6R0xxsy7sXKXFDPaO9c7kdknlzWZif8AIlYLY65CzkrE17W70axE6cpmPz/nNFso9z8FJVGfzadvb7P4Tp8tOfz26vozKfJonic7Km2s3i5cmn3+IHro3FnFo6/ylkw7x4fCvzrHe+KQefLu7ztz3WMzpEzPoKeqq7IqvyKreDbfb1G0+5VztVecN3vhJ2ZZw8W947eHMR87dWP85NmPXwqKq/BWonEEOKeJjeTZli2W8/T1vgkqa6Z4yYubOzzf+ztr1lnd1etE/ol9bh0W2pcy+cTsYqasazKzL/KPuPm/j+BjUvfn/P2WbO3H+ftLJMTa9V7PC3pGlrL3bl+P+IxXHldnHePMVt5hPF+Gb/lnrKmYrrx0md1zRXr6YriNXbX26Rp+U1ZOLkNC+S5DVbV28Pls7Pm7Sfdfsshy9px+RX0lTEva92yO1lsnSNeXoIK33LOq3WxP02/6mujbPXp35HtysemdttqJPvKjA6S3V2JkNG+tZZWnSN8R6J95z1tjXWPY86s7TPzR6I+ZYJMObvwtz4mvLvVdXiGRoZZ9KzExJ7OfxuD0bRxXvmxrFiYqWY0nWNeUe34iDb0vlO3U21r4dP8AUdNu9djqk793VWVpajI67lbtiSLju1bzi2zLSsbqbJ+6VfP407GKOnN6Tt+TXif4f/aW1iZHky3W7fKaG43U8Pr1f8P9Ia0u9tV2YuRVdTWscdWlGot1jiJu62zu96O6VctNbRbt4bUr5rGuVlrr+g33R/3iZkVZGXbw0rr4Vmy6vK29Za29Xd8JOr6NqipqrGe3dPe16xeInNVM9I5T8Nlvpr3zFcrtnqz4+zXrfD1SeiXY1+PbfZxGu1qsb9gmV9H4taqvCVpWddzc27Rnr/szNHbXK2fZYm54hq+anA8I25FaPWWJ/PB7MNhUdMLY2J1OxbFazTwafqWdsluab1Z6bUTvOjKWXmJZuVyXR2XZRciRMzVY0KydsRLTpuX2T+0dHm51eHHOJaxo6qf16CFhdFcGyLbmVnTSVRecLPomZ9J66VuxVrlHRbL9Op7U+L+U3dZZTjbE3MbzpzNtjXWNY89Z2mZ/6QTYy1opmrFhomyPO2vpu+ii9mhXxEtMKsTMzpERHOZmS2yMJcXDV7Jjj2Ov1Y8P8R0uuIxN81VLMQ0Myw0RMTKzrENz7JmPEbbrnus36QumkVondSPCn9d4U0tdxNvZVXNjTPw/6sZxf7zj/jq/2y/0T183WdGpeuNE5DMzu0ssPMyypMRERMzz9Ezt95YgHmt29E4AABzvTe/SiI14fPX2S3o1/IeOhr7N70TOtezevwc/1MXmVjrk0tU06a6aNprKzHpgq2WromieH5zItmIXdylvyR2Qv7UnSXePTrlizWW/C9IuVjplUtU3b2o3hckLM7V3dukfqMM6JzdlWPik5tuQu6Nsx6XtusRdNIRV1mXmZ5R7iPiYz5VsVryXlLt6FX0/lLbpS2i9q/8AaV2JrqqRL9YmdFPjzXYlCPG2Y3u/a2vZ2dkfCdeq9O/Ll0zq14WqItaKix1UiIPYBydQArLuk8ei5qXh9U01mF1jWY1LJtLdLMFRPTGJEcuJPu2TGpCt6bbnwav+JJenL0nVj7XGdbFOLc+uk7JiPfLcoOJrbY6vpu2zE6Ty1058zdflX5E+dslo9C9ix+QndH9H+Va2W6xVHKNOUvPun2HSTpl2529Vmml78vpCyK9Z5z8mnJF+l7lOvprmqquvXXYkL/keKcenHXbUkL7/AEkg55XfaakdMZrvd0ABlp4d4rRnbsRZafmiNSlrz689bsZ04cujcPnrujT0+x/SXNqcSt6/Gkqcpg4ty5qqyT5lp3tpJvGTV9xjK3c9VWrDw8QmvEhurt5zrE+g3W4+SkTbdW6w082ftmZ+fmW9r4WBa71a3ZE66RrEpXLdvMpr8i3Ibfa8t7F9VfdEHWW3xw52SeeUcsujHqTLTirru6tc+Gz3/u+Er1VmmFWJZp5REc5mS/wei7UsrvvmF2Tuiv1tfeMrNXkxl3OHSAA87urukf7uq+O6n/5CxK7pD5On/eaP2yxL4ieaFTdXlVZvlFCb67FVbOZbACDzfN/FUR/7jEuxIsRk1mN0aarOkkWv++ZH4uomgcpkYPSCblV3vqnX151mPeslOyssyrRKzHbExpMSdjn4t2QqtRZKOnq7p65ymRTfU+l6tDT60zrDR7m9J1xu/wDa5ZTSOADbDPP0z/8ARtqpsumYrSWmNNdNI01+c0kyjEyrtJqRtPH3VF+qxcYuJn9XiZDU1+FdC/05bZ5xpp8/zkTCxpxatjPLu06u2szGunZGvoUmnnt27yaQsH5Dh/ebLafsWdX9AmkLE/8AM/73f+smj2eg0ZC7qLvxb/sm81XfJWfi3/ZIrVhtuxaPxcEoh4P90o/FwTCoGjIvTHqa157v6U+H6xsd1rRndoVV5zJxudmNmW9XXhJPm1/e+sXHHqTLLX1eJzsniWWrayTZrrHo0/l8RH22Or2zDNETG95582nSOftOpxujMeMdFur3WT1nb5/VNGfiXMtePi1LwO83s3fEdJlN8Ri43XNV3RFe/LhpjWESZ9sRM8oLzPwZzOHpZslNe2ORswcOMSrTtsfSXb9WnuUnmMsvzbjWOP5dVTxhJh4WT67vU+9vqnOYas2Vj7e3ip+jO47XIRrKba19etlK7A6NjFni2TDW6ctOxNe3T3t4izLjL2XHnH1FuADm2AETJy6sVN1jc/VSO80/N7PiA95GRXjVzZZPzR6Wn2HPYkWdI5vHtjzdWjbfRGncSP1sV9+Rdm3RrzmZ211x2Lr2f9x1uHjLi0LXHe7bJ9rHTXTP2q576r8omHNdL417W8dd1lW2F2xr1NO38jdu46UwYl1dt2bjga6LrWhK62aZ90xEfPPoOwwMTySna3yjzuf+EmxER2REfNEQejWWXV9GccekABhsOf6R6NstsbIo60tpvr9PZ2r/AAnQAsuks24RcPKZtsUWax7Y0iPylnX0WtSTdm2QirHcWf65/RLrNybMauGrpa1mnTl2J7205nOunSGe8b0fb6IaNla+/STpLcvOo56k8bqvVOLbsqWdHeYRe2YiZ5a/kO6pqWilK/AsEDB6OXF67zD3THb6Fj2L/EWhnPLf0jWOOvrVJ/bNUWsjVtshtu/WP60LlHWxYdJhlaImJjsmDjekMecfJaPUs1dPmmecfVku+hmZsZ1nXRLNF/r5y5YzUsMcruyroAHNsOa6SzMriPTWj11xy3Qs6v7+XoOheyuv5R1T6UlZd0riJ3dbp+GP9TWPf/TtnL66c5Th5N7aLW0RPazRMRHvmZM5VVVErUj8SxY860d3dPqr9Ek5HSmRdEomlKfD/EVX9fOdpvzw5XXjlc9D2VLkbGTWx4nY/bt0jWfteI6w5zovAbWvLdo001rWPfHe/lOjOWfd0w7AAMNq/pGJ8ldo+5tXZ9h4n9ROWYaIaOyYifzxqeLq+LVZX40b9UlWuZZViYzcOH63As3P3H7hUXEzERMz2GFZXWGRty+Ig8bM7GwoaPhyE/1hTVg8SprKra+DWzS1CPYkvGvNliInnC9o13Nt7ebzU/DVfsE4iZdbNXDp8pS0Wp9XvL9ZDfXYtta2L2PESPR7bDl87o61Xl6nhqmmW2O8RKa8527p00OoImXipl1cNplZ11RvDJcbyZTccKCZl4j4jQrvW8trptnnER6WX0biGd5dvPZp7RGsaERdzT2R7fznSdH9H21zFl7zERzSpXnT62nL6pAwejfKVW6bYhN3WRY6/wCv1jq1WFWFXlCxEHPPLxHXDHzXo8tMLEtPZEaz+SOZ6IOY0vCYqd7I6rfDR91f9z6xydHrBj/Zkf77Nl3/ABX3m+62KU3srSuvW2x3Y8RsiIiIiOyI/V2EKy617mx8fh9RN1rWKzd6Solq6usOjQyzGsNHOJg0ZbbMa9vwckWvEyqZZq8itd/3PheZ/b6pjKm1qqaLNnEuuVfN7u4s7pGuZyb47J2Muyilfwam8xEcvzGSKoem3aKqUjuu8y31Y/qSq6Loi7LTWNVqibG9kzHJY+3MfmOi6QxJy6YVJiLEbcmvKJ5aSs/SNXRuC+ItjWzHEs0jRfVVf4pOkykwvtzuO856WwAOboAAAAAAAAr+kb7cfGZ6o62sRLaa7Yn1tDjXsexpexpdp9LTrJ9AZVdZVohlmJiYnnExJUL0PjrdxNzymuvC5afn7dDpjlJv2xljbrnhp6JwtsRk2x1p+TXwx4vnL8xERERERpEejsiIMmLd1qTUAARQAAAAAAAGDIAAAAQcjBoynWy2G1WNOTTHLUk1VV0pFdawqx6I/XPtNoLv5mgAEFX0lhtlVrNenFr7vxRPqnPJ0bmO+2apT2s0xCxHt5TzO1BuZ2TTNxlUtXRWJQu7Ibf9OdqHPZfB8os8n04XLbp2f/w6XN6O8qbetzI2ndbrV/8A0VEdDZW7SWqhfFumeXt26GsbO9y5Yyl7THh0GB/c8f8AFwTTVTVFNVdUeou38xtOboAAihURUvHycOz5PJ89V9L19v0e+W5BzK2ZFur+Vx24ifFHrJ9YqNKpntXwt60qi7OK3Xus/cr3fWI+Ldi1LvsVmzN0o/euv3fD3p2G/Juh8evIW2zgt3kp+UZvDxPuZE4dlTUq6rjY987W4Lbrt3q8W41GV8rblhtJ5+ie0gTPkdkz/wCVtbn+Asaf8qnn1vVYYtb411tG1ponztT852+JJafTqT2WGiVaI0kz2+jX/rPKecdn6zJByXXFxtleu75KhVmd3Ebu7SRQrpSnFfiWeuwFV0rh8VPKK485XHW+NP8Aqpy6qztCLEyzTEREdszJ21eZVa0Jo8Q8utbsvUs2d7bJDjFx8PIm7a1j2zPBqVe74zeOWpq/usZY7u/+yXg4i4lML22N8oxONFd6W1TbXq2mvV0625fVIlWRlNfXXbTXUliO/el7OqY55b44TLrkoTe/1VjvO3hX2yxpx6n1bIu+Wt9X71X6tX8XxHpceOLN1rTa/Ph6x1aln0Kvj8T9422W10rutdUj2tOgGbLIrRnbdovhXdP2Ssx8ZWVr6cueNY7M9ifJv8D1NuHlL2W3P5VXRTTt2rtV+KnJuIeN+NfZD1xdi2WT5u/ZsS79yz65U2mpbkK8V307tZ5X0daufppPXr/SU1J5/Od/ueMvD/xD1Zddj0NxZSy2W2U8PWN8t8Pt8RvxaeBSqev3rG8Tt3pCpIAMqAr71ybMlEqtamrhbnZVWdW3d00ZC2YtU22Z93wrsq68+EqLcwUHRtmdkWcSy1uAnuXr/D/Ma8nenSdCcWxkZ0fazztXWZ9EctC9POk6uNukBjl2amTLQDHL2lfnY9+RFfBv4O2Z3dZl1100nq8+r4RProqxBXZePfdRXXVfKMum9tZXiaL7V59vMl0I1dNaO/EZVjc/iKn2bgY195kigMax26xp/kAMgxrHtMgACl6Ue/HSLqr3XV4XZokrHLtjVNf0iybS3S6BBweI1CW23Pa1ixPWhdF5+jSFn7Ro6Q49cJZVkOm6yuvZokr1p9HU11+sBag1Vo1aQrWNZPifb/pCwbNY7dSKyDVarPW6o+xmSYV+3bMxykiYOPdjo63XcXrcuszbftF+6fZYAwCKyDHzgDIMax7QBkGNfeViYuQubN7ZOtU6+b1bs8O3s0XxFRaAj3ZFdHD3T1rHhFU38iKyDAAyAAAAAp7q/J3et/7nla/4NpvhlrjHxbtt76d71dqeuTnRbElHjcrcpgpnpSl0qyol6dfMX66Sn4KyY9Bqcs9m+7I42/Y/Dxk+Vv8A+XUe0yuFW12R5qrlwUbnbt07zenVu3b6pptqs4ibK1dI/u9a/Ir+Ftn2+EjTXY10U5K+d3cSy7Xzfk6eAuom6tmortupydzdTmq69XrL4CQ8zCNtjc22dF9slPVY1udXdrtp4N/C/Fpt859c3pnO+uylrJaZatV+8/fH8O/1SWXhrcRMKuVya203bq7HsWVaIxrNfU9HWLHMrWYru4vCemZlW03ROvKVlfTuN1N63VcWFle9uVu1WXvKeIyFbG8p29XbLbfT2i277JrhqwKnrqZrNd1tjWfk/mNs1v5XxNOpwdv6R4ozFvm5IXbZXzhZ9aNNYkr1uyGsi1WnXZxYq16rL3ba/q+qNX6G4ssjKimJhF4lkSi7dYiFl+5LzPZDeIi3IyNVl3ItnDrnjVd/Z+FrU9LNd+TP3vJxY/bNVbV4b3eUNZZd6nr8Wr1Nn73xFGumadzNlY8V13WRZj7182m5fF8ff2Em2q99ONZSuNW8W9TvdU311JVVZFkx5N30Sz7mrd5PqkZVbOaOrw8Kvur9/wD/ANYHuhWyrvK7NeGn92T/AJv8JZmIiIiIiOUdkf6GTLQACDVbalNbWWNCqsazP+ke2WOZWLulsndOqUV/mRfZ+McndI42blWba1XgJ3evpubT93sU3URlY9a1V4aaR6eNzafF2G5xO/N/lYvN7cT+ZZItdKJWuiLHVWCgzomek8eFbbOlfW9k7pJ7LmX3Y/EpSuqqyLG85uI+RjZVubXkLV1K9vrr1tsicX90vM7fEj59b4t1Ftd1vXeN29/6+yTOk8p6aqkraUa7vNHaq+73mOkcfJypp4dXyejdZ1/rqmzNw3y6K+Wy6uO7Ml3Py7OfzIF0PU1FuGuT+F3cTrnrpiW2U2RZavF11r10Xu+EnUR0hNa1W8OuF0ji67rJj6PZr8RE6c+Sx47eu/zz1YEv5sUvavfSkMuJTYtli/JptVur3SUkW/2dTwrFrfhV+cb5jXn0X5GNVTVX97bdu+HumHxsi3o+Mbbw7EhF73J9mnpjs3E8Tn4l83j4VdlMlVNb0W2PcjRFl6s+xyfmtY/R6XcR0bYk9Se9uNFmJmW4VePwq04Ux63f+b0faJF1GU+CuPw136RHfjq7S8cc/Envj4UarHa3o6LOPb1a3ZVVur/MSOirbGw7Ocu1bPs1mZmeruhdZ957pqya8Fsfg+c2yi9dfWPPR9GTjU3Vuiq06uj7omN20W8ZfqXzP0o2FC5a5D5Vj8SGmIibGSK401iViJWI56/mPPRiXZDS9l10pQ6cPrTKPznVZ9vKI/ORq7HVrGvw5yLN8rNi67eXaui8v2i1xM9GsTGbHbH3a7PYLvnj+1J45/uXBSdNf3ZPxsF2RcrGXKpapp0mdJVvDMdkmJeY3eZXnB/umP8AizV0j8lV/vFP7RGx16QxE4PCS+uO42/mSFpyMiyuzJ21pVO5KVnd1viYqeOzR0vDcCLFssTrQu1W6pGfHZujVu49u5KEZV3eb7P66xO6SpuyKoqqTd1oaW3RGh4mrJ/s/wAm4PnNnC76/b/lLLxj+pLOf3WrEay7oxvO2K1fE6+vgPHREcbHyIslm32RrO5t3dj1tdTdi05NGHbQ1Or9fZ11085BnozHyMVbK7a4iGmG3Q2ovxfqJ8P6ULG3Y3SM0XPY6z8lusf6vuLHHpVsi66Gs4attrXiPK7o77aa9mvLaeekcJ8iarKflUaOeunV/lksaq4qrSuPVj88+mZ+lIt7eyT/AIihjIjKy7lu4vBr14dde/2+twzd0fOQtt1DxdwZ14TvHd+1+8eWwsrHymyMXa6vM6q06d71f5i1rjI52Xaa7erSk8vn3T6W+yL8ibc/VVfbm5NHlD92xJsaets3r3fpfDtJWVTk4mCqJa9nnZm19W+T8PuQ90UZdWbbk8Hq27/ui+sWeRx/NzSkP1vO1+JNpbefhJOPiV2C2PdbxKHeueHK2Y7O08+XXXmxGp3r0tw+JZZ3u+34Mk0YTrmzk8LgV6T5vdHWbaeFx8qM+cuaY2TPd4i6xErt1/1HHPPwpzxx8SNn1x/aFC7nmLNuvWnq6z2L4SzycKPJ34L28RdWTzr8zTnYl9mRTkUwrcP1ZktKuLK63bYafVXsX3a+klvGPPZZOcuO6iwr0bDvWyX4iTz84+9pb5Pbz5Try6pcYlE0VLDMzWTEb2Zmbn/KVtWGn9o2us+ar60x6OLPPb79vb8Jekyv/wBLjP4AAMtAAAHh0WxZR1hlk9gCr2ZGHPmtb8f7390r+gY2VZk2PXdzs4aWJp10rXvV/XLUiXYdV07/AJOz75XPWKiDkUvbmpSi7afJttjafc+J8n9cVWNVjX5NfD38ezibvvdXU4f2Dfpn0eDKT7FpElsPicTIxr6X3bm6rcLd4ur1DTK1rWIpnqbJsWbGX43jcxXrP/hU/i2X9MmLm4jRyvr/ACzpP+e0iTT0fv38de9v4fG839kk+i/doWpt9z1/LU8OyI8aNXG9PrGcfdZTTdUs7qch42/g3brE3yrBrdrOKm9tIbbq3dNa5ac/JcW190z6nCTX6xd30nHttjElMuL0bSva+6v2M+mu33N2sviPWRkY9TLujiXc+GiRus/lNXDzb/lbFx6/BV8p9sk04tNHcXrel26zt9YjSKuPdktFmX1a4nqYyzy/xPFP6JZREREREGQRQAEAAAAAAAAAAAarkd6nSt+G7LO1/DJWJg328Dyu1bFoaWXl35+MuAVAAEUAAA12pxK3r1ld6ypsAFVj42XiLwkeqyvdPe3bv8iQmNM3xk3ND2Iu2tVjRE/11+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/9k="/>
          <p:cNvSpPr>
            <a:spLocks noChangeAspect="1" noChangeArrowheads="1"/>
          </p:cNvSpPr>
          <p:nvPr userDrawn="1"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99484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89E6346-4980-40CD-A14E-7B10BB2B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36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44A06C4A-B97B-4A04-B6C3-36EF74D86A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990600"/>
            <a:ext cx="8305800" cy="5410200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q"/>
              <a:defRPr lang="zh-CN" altLang="en-US" sz="2400" b="1" baseline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742950" indent="-28575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Ø"/>
              <a:defRPr sz="2000" b="0" i="0" strike="noStrike" baseline="0">
                <a:solidFill>
                  <a:schemeClr val="tx1"/>
                </a:solidFill>
                <a:effectLst/>
                <a:latin typeface="+mj-ea"/>
                <a:ea typeface="+mj-ea"/>
              </a:defRPr>
            </a:lvl2pPr>
            <a:lvl3pPr marL="1143000" indent="-22860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l"/>
              <a:defRPr sz="1800" b="0" i="0" baseline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ü"/>
              <a:defRPr sz="1600" b="0" baseline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>
              <a:buClr>
                <a:srgbClr val="111F65"/>
              </a:buClr>
              <a:buFont typeface="Wingdings" panose="05000000000000000000" pitchFamily="2" charset="2"/>
              <a:buChar char="l"/>
              <a:defRPr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7" name="Line 40">
            <a:extLst>
              <a:ext uri="{FF2B5EF4-FFF2-40B4-BE49-F238E27FC236}">
                <a16:creationId xmlns:a16="http://schemas.microsoft.com/office/drawing/2014/main" id="{278E9AD4-D0E1-4908-871C-BBEEB58106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853440"/>
            <a:ext cx="9144000" cy="0"/>
          </a:xfrm>
          <a:prstGeom prst="line">
            <a:avLst/>
          </a:prstGeom>
          <a:noFill/>
          <a:ln w="3175">
            <a:solidFill>
              <a:srgbClr val="CC3300"/>
            </a:solidFill>
            <a:rou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buClr>
                <a:schemeClr val="bg1"/>
              </a:buClr>
              <a:buSzPct val="100000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462084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393700" y="38100"/>
            <a:ext cx="82423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2087" name="Rectangle 3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3058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4" r:id="rId1"/>
    <p:sldLayoutId id="2147484502" r:id="rId2"/>
  </p:sldLayoutIdLst>
  <p:transition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altLang="zh-CN" sz="3600" b="1" i="0" dirty="0" smtClean="0">
          <a:solidFill>
            <a:srgbClr val="C00000"/>
          </a:solidFill>
          <a:effectLst/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i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q"/>
        <a:defRPr lang="en-US" altLang="zh-CN" sz="2400" b="1" baseline="0" dirty="0" smtClean="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Ø"/>
        <a:defRPr lang="en-US" altLang="zh-CN" sz="2400" b="0" dirty="0">
          <a:solidFill>
            <a:schemeClr val="tx1"/>
          </a:solidFill>
          <a:effectLst/>
          <a:latin typeface="Garamond" pitchFamily="18" charset="0"/>
          <a:ea typeface="+mj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Times New Roman" pitchFamily="18" charset="0"/>
        <a:buChar char="–"/>
        <a:defRPr sz="2000" b="1" i="1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00000"/>
        <a:buChar char="o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00000"/>
        <a:buFont typeface="Wingdings" pitchFamily="2" charset="2"/>
        <a:buChar char="ü"/>
        <a:defRPr sz="1600" b="1" i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00000"/>
        <a:buFont typeface="Wingdings" pitchFamily="2" charset="2"/>
        <a:buChar char="ü"/>
        <a:defRPr sz="1600" b="1" i="1">
          <a:solidFill>
            <a:srgbClr val="660066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00000"/>
        <a:buFont typeface="Wingdings" pitchFamily="2" charset="2"/>
        <a:buChar char="ü"/>
        <a:defRPr sz="1600" b="1" i="1">
          <a:solidFill>
            <a:srgbClr val="660066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00000"/>
        <a:buFont typeface="Wingdings" pitchFamily="2" charset="2"/>
        <a:buChar char="ü"/>
        <a:defRPr sz="1600" b="1" i="1">
          <a:solidFill>
            <a:srgbClr val="660066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00000"/>
        <a:buFont typeface="Wingdings" pitchFamily="2" charset="2"/>
        <a:buChar char="ü"/>
        <a:defRPr sz="1600" b="1" i="1">
          <a:solidFill>
            <a:srgbClr val="660066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iff"/><Relationship Id="rId2" Type="http://schemas.openxmlformats.org/officeDocument/2006/relationships/image" Target="../media/image42.tif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emf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if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tif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tif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9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5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5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823" y="2227875"/>
            <a:ext cx="7900987" cy="1524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4800" dirty="0">
                <a:solidFill>
                  <a:srgbClr val="C00000"/>
                </a:solidFill>
              </a:rPr>
              <a:t>第五章 低功耗广域网</a:t>
            </a:r>
            <a:endParaRPr lang="en-US" altLang="zh-CN" sz="3000" b="1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3382433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66A66-EFEF-43B6-9C63-18423008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学习目标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E83DAF-2CC6-4221-9AB0-181013AE4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zh-CN" altLang="en-US"/>
              <a:t>了解低功耗广域网技术与低功耗短距离通信技术的区别</a:t>
            </a:r>
          </a:p>
          <a:p>
            <a:r>
              <a:rPr lang="zh-CN" altLang="en-US"/>
              <a:t>了解低功耗广域网的关键特性</a:t>
            </a:r>
          </a:p>
          <a:p>
            <a:r>
              <a:rPr lang="zh-CN" altLang="en-US">
                <a:solidFill>
                  <a:srgbClr val="C00000"/>
                </a:solidFill>
              </a:rPr>
              <a:t>掌握</a:t>
            </a:r>
            <a:r>
              <a:rPr lang="en-US" altLang="zh-CN"/>
              <a:t>NB-IoT</a:t>
            </a:r>
            <a:r>
              <a:rPr lang="zh-CN" altLang="en-US"/>
              <a:t>小区容量的计算方式</a:t>
            </a:r>
          </a:p>
          <a:p>
            <a:r>
              <a:rPr lang="zh-CN" altLang="en-US">
                <a:solidFill>
                  <a:srgbClr val="C00000"/>
                </a:solidFill>
              </a:rPr>
              <a:t>掌握</a:t>
            </a:r>
            <a:r>
              <a:rPr lang="zh-CN" altLang="en-US"/>
              <a:t>卷积码的编码与解码算法</a:t>
            </a:r>
          </a:p>
          <a:p>
            <a:r>
              <a:rPr lang="zh-CN" altLang="en-US">
                <a:solidFill>
                  <a:srgbClr val="C00000"/>
                </a:solidFill>
              </a:rPr>
              <a:t>掌握</a:t>
            </a:r>
            <a:r>
              <a:rPr lang="en-US" altLang="zh-CN"/>
              <a:t>LoRaWAN</a:t>
            </a:r>
            <a:r>
              <a:rPr lang="zh-CN" altLang="en-US"/>
              <a:t>的覆盖增强计算方式</a:t>
            </a:r>
          </a:p>
          <a:p>
            <a:r>
              <a:rPr lang="zh-CN" altLang="en-US"/>
              <a:t>理解</a:t>
            </a:r>
            <a:r>
              <a:rPr lang="en-US" altLang="zh-CN"/>
              <a:t>LoRaWAN</a:t>
            </a:r>
            <a:r>
              <a:rPr lang="zh-CN" altLang="en-US"/>
              <a:t>的调制方式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915709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sz="2800"/>
          </a:p>
          <a:p>
            <a:r>
              <a:rPr lang="zh-CN" altLang="en-US" sz="2800">
                <a:solidFill>
                  <a:srgbClr val="C00000"/>
                </a:solidFill>
              </a:rPr>
              <a:t>概述</a:t>
            </a:r>
            <a:endParaRPr lang="en-US" altLang="zh-CN" sz="2800">
              <a:solidFill>
                <a:srgbClr val="C00000"/>
              </a:solidFill>
            </a:endParaRPr>
          </a:p>
          <a:p>
            <a:r>
              <a:rPr lang="zh-CN" altLang="en-US" sz="2800"/>
              <a:t>关键特性</a:t>
            </a:r>
            <a:endParaRPr lang="en-US" altLang="zh-CN" sz="2800"/>
          </a:p>
          <a:p>
            <a:r>
              <a:rPr lang="zh-CN" altLang="en-US" sz="2800"/>
              <a:t>代表性协议</a:t>
            </a:r>
            <a:endParaRPr lang="en-US" altLang="zh-CN" sz="2800"/>
          </a:p>
          <a:p>
            <a:r>
              <a:rPr lang="zh-CN" altLang="en-US" sz="2800"/>
              <a:t>学术研究进展</a:t>
            </a:r>
            <a:endParaRPr lang="en-US" altLang="zh-CN" sz="2800"/>
          </a:p>
          <a:p>
            <a:r>
              <a:rPr lang="zh-CN" altLang="en-US" sz="2800"/>
              <a:t>案例开发</a:t>
            </a:r>
            <a:endParaRPr lang="en-US" altLang="zh-CN" sz="2800"/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53640833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低功耗短距离通信：多跳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长距离传输</a:t>
            </a:r>
            <a:endParaRPr lang="en-US" altLang="zh-CN"/>
          </a:p>
          <a:p>
            <a:pPr lvl="1"/>
            <a:r>
              <a:rPr lang="zh-CN" altLang="en-US"/>
              <a:t>问题：通信不可靠、能量黑洞（</a:t>
            </a:r>
            <a:r>
              <a:rPr lang="en-US" altLang="zh-CN"/>
              <a:t>energy hole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en-US" altLang="zh-CN"/>
              <a:t>Ex</a:t>
            </a:r>
            <a:r>
              <a:rPr lang="zh-CN" altLang="en-US"/>
              <a:t>：</a:t>
            </a:r>
            <a:r>
              <a:rPr lang="en-US" altLang="zh-CN"/>
              <a:t>GreenOrbs</a:t>
            </a:r>
            <a:r>
              <a:rPr lang="zh-CN" altLang="en-US"/>
              <a:t>、</a:t>
            </a:r>
            <a:r>
              <a:rPr lang="en-US" altLang="zh-CN"/>
              <a:t>CitySee</a:t>
            </a:r>
          </a:p>
          <a:p>
            <a:endParaRPr lang="en-US" altLang="zh-CN"/>
          </a:p>
          <a:p>
            <a:pPr lvl="1"/>
            <a:endParaRPr lang="en-US" altLang="zh-CN"/>
          </a:p>
          <a:p>
            <a:endParaRPr lang="zh-CN" altLang="en-US" dirty="0"/>
          </a:p>
        </p:txBody>
      </p:sp>
      <p:pic>
        <p:nvPicPr>
          <p:cNvPr id="7" name="内容占位符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064" y="2558426"/>
            <a:ext cx="8999443" cy="3831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B264DE-72C1-4CED-B4A3-004366C96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31902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低功耗广域网技术</a:t>
            </a:r>
            <a:r>
              <a:rPr lang="en-US" altLang="zh-CN"/>
              <a:t>LPWAN</a:t>
            </a:r>
            <a:r>
              <a:rPr lang="zh-CN" altLang="en-US"/>
              <a:t>：可以实现低功耗长距离通信</a:t>
            </a:r>
            <a:endParaRPr lang="en-US" altLang="zh-CN"/>
          </a:p>
          <a:p>
            <a:pPr lvl="1"/>
            <a:r>
              <a:rPr lang="en-US" altLang="zh-CN"/>
              <a:t>low-power wide-area networks</a:t>
            </a:r>
            <a:r>
              <a:rPr lang="zh-CN" altLang="en-US"/>
              <a:t>，包括</a:t>
            </a:r>
            <a:r>
              <a:rPr lang="en-US" altLang="zh-CN"/>
              <a:t>NB-IoT</a:t>
            </a:r>
            <a:r>
              <a:rPr lang="zh-CN" altLang="en-US"/>
              <a:t>、</a:t>
            </a:r>
            <a:r>
              <a:rPr lang="en-US" altLang="zh-CN"/>
              <a:t>LoRaWAN</a:t>
            </a:r>
            <a:r>
              <a:rPr lang="zh-CN" altLang="en-US"/>
              <a:t>等技术</a:t>
            </a:r>
            <a:endParaRPr lang="en-US" altLang="zh-CN"/>
          </a:p>
          <a:p>
            <a:pPr lvl="1"/>
            <a:r>
              <a:rPr lang="en-US" altLang="zh-CN"/>
              <a:t>e.g. NB-IoT</a:t>
            </a:r>
            <a:r>
              <a:rPr lang="zh-CN" altLang="en-US"/>
              <a:t>单跳通信距离可以达到</a:t>
            </a:r>
            <a:r>
              <a:rPr lang="en-US" altLang="zh-CN"/>
              <a:t>10km~30km</a:t>
            </a:r>
          </a:p>
          <a:p>
            <a:r>
              <a:rPr lang="en-US" altLang="zh-CN"/>
              <a:t>LPWAN</a:t>
            </a:r>
            <a:r>
              <a:rPr lang="zh-CN" altLang="en-US"/>
              <a:t>近年来受到广泛关注</a:t>
            </a:r>
            <a:endParaRPr lang="en-US" altLang="zh-CN"/>
          </a:p>
          <a:p>
            <a:pPr lvl="1"/>
            <a:r>
              <a:rPr lang="en-US" altLang="zh-CN"/>
              <a:t>2017</a:t>
            </a:r>
            <a:r>
              <a:rPr lang="zh-CN" altLang="en-US"/>
              <a:t>年</a:t>
            </a:r>
            <a:r>
              <a:rPr lang="en-US" altLang="zh-CN"/>
              <a:t>6</a:t>
            </a:r>
            <a:r>
              <a:rPr lang="zh-CN" altLang="en-US"/>
              <a:t>月</a:t>
            </a:r>
            <a:r>
              <a:rPr lang="en-US" altLang="zh-CN"/>
              <a:t>19</a:t>
            </a:r>
            <a:r>
              <a:rPr lang="zh-CN" altLang="en-US"/>
              <a:t>日工信部发布了</a:t>
            </a:r>
            <a:r>
              <a:rPr lang="en-US" altLang="zh-CN"/>
              <a:t>《</a:t>
            </a:r>
            <a:r>
              <a:rPr lang="zh-CN" altLang="en-US"/>
              <a:t>工业和信息化部办公厅关于全面推进移动物联网（</a:t>
            </a:r>
            <a:r>
              <a:rPr lang="en-US" altLang="zh-CN"/>
              <a:t>NB-IoT</a:t>
            </a:r>
            <a:r>
              <a:rPr lang="zh-CN" altLang="en-US"/>
              <a:t>）建设发展的通知</a:t>
            </a:r>
            <a:r>
              <a:rPr lang="en-US" altLang="zh-CN"/>
              <a:t>》</a:t>
            </a:r>
          </a:p>
          <a:p>
            <a:pPr lvl="1"/>
            <a:r>
              <a:rPr lang="zh-CN" altLang="en-US"/>
              <a:t>中国移动、电信、华为大力推进</a:t>
            </a:r>
            <a:r>
              <a:rPr lang="en-US" altLang="zh-CN"/>
              <a:t>NB-IoT</a:t>
            </a:r>
          </a:p>
          <a:p>
            <a:pPr lvl="1"/>
            <a:r>
              <a:rPr lang="en-US" altLang="zh-CN"/>
              <a:t>2021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月，</a:t>
            </a:r>
            <a:r>
              <a:rPr lang="en-US" altLang="zh-CN"/>
              <a:t>LoRaWAN</a:t>
            </a:r>
            <a:r>
              <a:rPr lang="zh-CN" altLang="en-US"/>
              <a:t>获批</a:t>
            </a:r>
            <a:r>
              <a:rPr lang="en-US" altLang="zh-CN"/>
              <a:t>ITU</a:t>
            </a:r>
            <a:r>
              <a:rPr lang="zh-CN" altLang="en-US"/>
              <a:t>国际标准，</a:t>
            </a:r>
            <a:r>
              <a:rPr lang="en-US" altLang="zh-CN"/>
              <a:t>LoRaWAN </a:t>
            </a:r>
            <a:r>
              <a:rPr lang="zh-CN" altLang="en-US"/>
              <a:t>成为真正的 </a:t>
            </a:r>
            <a:r>
              <a:rPr lang="en-US" altLang="zh-CN"/>
              <a:t>LPWAN </a:t>
            </a:r>
            <a:r>
              <a:rPr lang="zh-CN" altLang="en-US"/>
              <a:t>全球标准</a:t>
            </a:r>
            <a:endParaRPr lang="en-US" altLang="zh-CN"/>
          </a:p>
          <a:p>
            <a:pPr lvl="1"/>
            <a:endParaRPr lang="en-US" altLang="zh-CN"/>
          </a:p>
          <a:p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050275D2-39EE-4170-8869-9AFDD60EC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2014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概述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物联网传输技术</a:t>
            </a:r>
            <a:endParaRPr lang="en-US" altLang="zh-CN"/>
          </a:p>
          <a:p>
            <a:pPr lvl="1"/>
            <a:endParaRPr lang="en-US" altLang="zh-CN"/>
          </a:p>
          <a:p>
            <a:endParaRPr lang="zh-CN" altLang="en-US" dirty="0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FC1F78F6-C6A3-4EEE-AB31-C9573F4EC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6210C47-F928-4BDC-A931-27F56F0D3AB0}"/>
              </a:ext>
            </a:extLst>
          </p:cNvPr>
          <p:cNvGrpSpPr/>
          <p:nvPr/>
        </p:nvGrpSpPr>
        <p:grpSpPr>
          <a:xfrm>
            <a:off x="1112318" y="1593727"/>
            <a:ext cx="6919363" cy="4506283"/>
            <a:chOff x="1574932" y="1665917"/>
            <a:chExt cx="6423580" cy="4122887"/>
          </a:xfrm>
        </p:grpSpPr>
        <p:pic>
          <p:nvPicPr>
            <p:cNvPr id="6146" name="Picture 2" descr="http://img.mp.itc.cn/upload/20170112/1a94c8b45673417fa242a9b19d84a2e8_th.jpe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378"/>
            <a:stretch/>
          </p:blipFill>
          <p:spPr bwMode="auto">
            <a:xfrm>
              <a:off x="1574932" y="1665917"/>
              <a:ext cx="6423580" cy="40370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317D655C-C23A-436A-89EC-C3B9816BC298}"/>
                </a:ext>
              </a:extLst>
            </p:cNvPr>
            <p:cNvSpPr/>
            <p:nvPr/>
          </p:nvSpPr>
          <p:spPr bwMode="auto">
            <a:xfrm>
              <a:off x="2129589" y="5601704"/>
              <a:ext cx="1708485" cy="164431"/>
            </a:xfrm>
            <a:prstGeom prst="roundRect">
              <a:avLst/>
            </a:prstGeom>
            <a:solidFill>
              <a:srgbClr val="D8D8D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EA4DB2A7-AE40-4ECF-A241-BAD5F3F7FA40}"/>
                </a:ext>
              </a:extLst>
            </p:cNvPr>
            <p:cNvSpPr/>
            <p:nvPr/>
          </p:nvSpPr>
          <p:spPr bwMode="auto">
            <a:xfrm>
              <a:off x="3932479" y="5601704"/>
              <a:ext cx="3394753" cy="164431"/>
            </a:xfrm>
            <a:prstGeom prst="roundRect">
              <a:avLst/>
            </a:prstGeom>
            <a:solidFill>
              <a:srgbClr val="D8D8D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8FDADDD-314B-410C-B12D-4AAE9310D946}"/>
                </a:ext>
              </a:extLst>
            </p:cNvPr>
            <p:cNvSpPr txBox="1"/>
            <p:nvPr/>
          </p:nvSpPr>
          <p:spPr>
            <a:xfrm>
              <a:off x="2660666" y="551180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短距离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79A8AD6-4F8B-4CD2-AF3F-468691AB4A97}"/>
                </a:ext>
              </a:extLst>
            </p:cNvPr>
            <p:cNvSpPr txBox="1"/>
            <p:nvPr/>
          </p:nvSpPr>
          <p:spPr>
            <a:xfrm>
              <a:off x="5306690" y="5511805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长距离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97A4E7D-E582-49E9-9D52-A0AF57C0E1BB}"/>
                </a:ext>
              </a:extLst>
            </p:cNvPr>
            <p:cNvCxnSpPr/>
            <p:nvPr/>
          </p:nvCxnSpPr>
          <p:spPr bwMode="auto">
            <a:xfrm>
              <a:off x="3272590" y="5678905"/>
              <a:ext cx="55345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AB41B5C-E78F-47C1-9F47-8EB3D8EF76B3}"/>
                </a:ext>
              </a:extLst>
            </p:cNvPr>
            <p:cNvCxnSpPr/>
            <p:nvPr/>
          </p:nvCxnSpPr>
          <p:spPr bwMode="auto">
            <a:xfrm>
              <a:off x="2129589" y="5678905"/>
              <a:ext cx="55345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8B451D8-84F3-44A9-ACFA-8E347D17687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05756" y="5678905"/>
              <a:ext cx="1410307" cy="50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54C8A3F-FCD1-4FDC-943C-0AC91CD8094B}"/>
                </a:ext>
              </a:extLst>
            </p:cNvPr>
            <p:cNvCxnSpPr>
              <a:cxnSpLocks/>
              <a:stCxn id="7" idx="1"/>
            </p:cNvCxnSpPr>
            <p:nvPr/>
          </p:nvCxnSpPr>
          <p:spPr bwMode="auto">
            <a:xfrm flipV="1">
              <a:off x="3932479" y="5678906"/>
              <a:ext cx="1394897" cy="5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80118975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en-US" altLang="zh-CN"/>
              <a:t>LPWAN</a:t>
            </a:r>
            <a:r>
              <a:rPr lang="zh-CN" altLang="en-US"/>
              <a:t>的典型协议</a:t>
            </a:r>
            <a:endParaRPr lang="en-US" altLang="zh-CN"/>
          </a:p>
          <a:p>
            <a:pPr lvl="1"/>
            <a:r>
              <a:rPr lang="en-US" altLang="zh-CN"/>
              <a:t>NB-IoT</a:t>
            </a:r>
            <a:r>
              <a:rPr lang="zh-CN" altLang="en-US"/>
              <a:t>：</a:t>
            </a:r>
            <a:r>
              <a:rPr lang="en-US" altLang="zh-CN"/>
              <a:t>Narrow Band Internet of Things</a:t>
            </a:r>
            <a:r>
              <a:rPr lang="zh-CN" altLang="en-US"/>
              <a:t>，窄带物联网技术</a:t>
            </a:r>
            <a:endParaRPr lang="en-US" altLang="zh-CN"/>
          </a:p>
          <a:p>
            <a:pPr lvl="1"/>
            <a:r>
              <a:rPr lang="en-US" altLang="zh-CN"/>
              <a:t>LoRaWAN</a:t>
            </a:r>
            <a:r>
              <a:rPr lang="zh-CN" altLang="en-US"/>
              <a:t>：</a:t>
            </a:r>
            <a:r>
              <a:rPr lang="en-US" altLang="zh-CN"/>
              <a:t>Long Range (LoRa), </a:t>
            </a:r>
            <a:r>
              <a:rPr lang="zh-CN" altLang="en-US"/>
              <a:t>长距离广域网技术</a:t>
            </a:r>
            <a:endParaRPr lang="en-US" altLang="zh-CN"/>
          </a:p>
          <a:p>
            <a:pPr lvl="1"/>
            <a:r>
              <a:rPr lang="en-US" altLang="zh-CN"/>
              <a:t>Sigfox</a:t>
            </a:r>
            <a:r>
              <a:rPr lang="zh-CN" altLang="en-US"/>
              <a:t>：法国的一家全球网络运行商建立的广域网通信公司</a:t>
            </a:r>
            <a:endParaRPr lang="en-US" altLang="zh-CN"/>
          </a:p>
          <a:p>
            <a:pPr lvl="1"/>
            <a:r>
              <a:rPr lang="en-US" altLang="zh-CN"/>
              <a:t>eMTC (LTE enhanced MTC)</a:t>
            </a:r>
            <a:r>
              <a:rPr lang="zh-CN" altLang="en-US"/>
              <a:t>：</a:t>
            </a:r>
            <a:r>
              <a:rPr lang="en-US" altLang="zh-CN"/>
              <a:t>3GPP</a:t>
            </a:r>
            <a:r>
              <a:rPr lang="zh-CN" altLang="en-US"/>
              <a:t>对</a:t>
            </a:r>
            <a:r>
              <a:rPr lang="en-US" altLang="zh-CN"/>
              <a:t>LTE</a:t>
            </a:r>
            <a:r>
              <a:rPr lang="zh-CN" altLang="en-US"/>
              <a:t>裁剪后的低功耗广域网技术</a:t>
            </a:r>
            <a:endParaRPr lang="en-US" altLang="zh-CN"/>
          </a:p>
          <a:p>
            <a:pPr lvl="1"/>
            <a:r>
              <a:rPr lang="en-US" altLang="zh-CN"/>
              <a:t>EC-GSM</a:t>
            </a:r>
            <a:r>
              <a:rPr lang="zh-CN" altLang="en-US"/>
              <a:t>：重用了</a:t>
            </a:r>
            <a:r>
              <a:rPr lang="en-US" altLang="zh-CN"/>
              <a:t>GSM</a:t>
            </a:r>
            <a:r>
              <a:rPr lang="zh-CN" altLang="en-US"/>
              <a:t>的广域网技术</a:t>
            </a:r>
            <a:endParaRPr lang="en-US" altLang="zh-CN"/>
          </a:p>
          <a:p>
            <a:pPr lvl="1"/>
            <a:r>
              <a:rPr lang="en-US" altLang="zh-CN"/>
              <a:t>LTE Cat 1</a:t>
            </a:r>
            <a:r>
              <a:rPr lang="zh-CN" altLang="en-US"/>
              <a:t>：</a:t>
            </a:r>
            <a:r>
              <a:rPr lang="zh-CN" altLang="zh-CN"/>
              <a:t>专为机器对机器</a:t>
            </a:r>
            <a:r>
              <a:rPr lang="en-US" altLang="zh-CN"/>
              <a:t>(M2M)</a:t>
            </a:r>
            <a:r>
              <a:rPr lang="zh-CN" altLang="zh-CN"/>
              <a:t>物联网应用设计的一种通信</a:t>
            </a:r>
            <a:r>
              <a:rPr lang="zh-CN" altLang="en-US"/>
              <a:t>技术</a:t>
            </a:r>
            <a:endParaRPr lang="en-US" altLang="zh-CN"/>
          </a:p>
          <a:p>
            <a:pPr lvl="1"/>
            <a:endParaRPr lang="en-US" altLang="zh-CN"/>
          </a:p>
          <a:p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9E6153C0-D1EC-49C9-92CF-918772905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4880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典型协议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791200"/>
          </a:xfrm>
        </p:spPr>
        <p:txBody>
          <a:bodyPr>
            <a:normAutofit/>
          </a:bodyPr>
          <a:lstStyle/>
          <a:p>
            <a:r>
              <a:rPr lang="en-US" altLang="zh-CN"/>
              <a:t>NB-IoT </a:t>
            </a:r>
          </a:p>
          <a:p>
            <a:pPr lvl="1"/>
            <a:r>
              <a:rPr lang="en-US" altLang="zh-CN"/>
              <a:t>NB-IoT (Narrowband Internet-of-Things)</a:t>
            </a:r>
            <a:r>
              <a:rPr lang="zh-CN" altLang="en-US"/>
              <a:t>是由通信行业联盟和标准化组织</a:t>
            </a:r>
            <a:r>
              <a:rPr lang="en-US" altLang="zh-CN"/>
              <a:t>3GPP </a:t>
            </a:r>
            <a:r>
              <a:rPr lang="zh-CN" altLang="en-US"/>
              <a:t>提出并标准化的低功耗广域网技术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sz="2800"/>
          </a:p>
          <a:p>
            <a:pPr lvl="1"/>
            <a:r>
              <a:rPr lang="en-US" altLang="zh-CN"/>
              <a:t>2014</a:t>
            </a:r>
            <a:r>
              <a:rPr lang="zh-CN" altLang="en-US"/>
              <a:t>年，英国的沃达丰和华为一起提出了</a:t>
            </a:r>
            <a:r>
              <a:rPr lang="en-US" altLang="zh-CN"/>
              <a:t>NB-M2M</a:t>
            </a:r>
            <a:r>
              <a:rPr lang="zh-CN" altLang="en-US"/>
              <a:t>解决方案</a:t>
            </a:r>
            <a:endParaRPr lang="en-US" altLang="zh-CN"/>
          </a:p>
          <a:p>
            <a:pPr lvl="1"/>
            <a:r>
              <a:rPr lang="en-US" altLang="zh-CN"/>
              <a:t>2014</a:t>
            </a:r>
            <a:r>
              <a:rPr lang="zh-CN" altLang="en-US"/>
              <a:t>年</a:t>
            </a:r>
            <a:r>
              <a:rPr lang="en-US" altLang="zh-CN"/>
              <a:t>7</a:t>
            </a:r>
            <a:r>
              <a:rPr lang="zh-CN" altLang="en-US"/>
              <a:t>月，美国的高通提出了</a:t>
            </a:r>
            <a:r>
              <a:rPr lang="en-US" altLang="zh-CN"/>
              <a:t>NB-OFDMA</a:t>
            </a:r>
            <a:r>
              <a:rPr lang="zh-CN" altLang="en-US"/>
              <a:t>，最终融合成第一个满足低功耗、提升室内覆盖性能、支持大规模设备连接的统一方案：</a:t>
            </a:r>
            <a:r>
              <a:rPr lang="en-US" altLang="zh-CN">
                <a:solidFill>
                  <a:srgbClr val="C00000"/>
                </a:solidFill>
              </a:rPr>
              <a:t>NB-CIoT</a:t>
            </a:r>
          </a:p>
          <a:p>
            <a:pPr lvl="1"/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7</a:t>
            </a:r>
            <a:r>
              <a:rPr lang="zh-CN" altLang="en-US"/>
              <a:t>月，以爱立信等公司为首的阵营提出了</a:t>
            </a:r>
            <a:r>
              <a:rPr lang="en-US" altLang="zh-CN"/>
              <a:t>NB-LTE</a:t>
            </a:r>
          </a:p>
          <a:p>
            <a:pPr lvl="1"/>
            <a:r>
              <a:rPr lang="zh-CN" altLang="en-US"/>
              <a:t>接着，</a:t>
            </a:r>
            <a:r>
              <a:rPr lang="en-US" altLang="zh-CN"/>
              <a:t>NB-CIoT</a:t>
            </a:r>
            <a:r>
              <a:rPr lang="zh-CN" altLang="en-US"/>
              <a:t>和</a:t>
            </a:r>
            <a:r>
              <a:rPr lang="en-US" altLang="zh-CN"/>
              <a:t>NB-LTE</a:t>
            </a:r>
            <a:r>
              <a:rPr lang="zh-CN" altLang="en-US"/>
              <a:t>被融合起来，最终在</a:t>
            </a:r>
            <a:r>
              <a:rPr lang="en-US" altLang="zh-CN"/>
              <a:t>2016</a:t>
            </a:r>
            <a:r>
              <a:rPr lang="zh-CN" altLang="en-US"/>
              <a:t>年</a:t>
            </a:r>
            <a:r>
              <a:rPr lang="en-US" altLang="zh-CN"/>
              <a:t>6</a:t>
            </a:r>
            <a:r>
              <a:rPr lang="zh-CN" altLang="en-US"/>
              <a:t>月形成了现在的</a:t>
            </a:r>
            <a:r>
              <a:rPr lang="en-US" altLang="zh-CN"/>
              <a:t>NB-IoT</a:t>
            </a:r>
            <a:r>
              <a:rPr lang="zh-CN" altLang="en-US"/>
              <a:t>技术标准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982" y="2268017"/>
            <a:ext cx="3728035" cy="1713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CDA557-6D1D-4A56-B598-6C39865B4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80023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典型协议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LoRaWAN</a:t>
            </a:r>
          </a:p>
          <a:p>
            <a:pPr lvl="1"/>
            <a:r>
              <a:rPr lang="en-US" altLang="zh-CN"/>
              <a:t>2013</a:t>
            </a:r>
            <a:r>
              <a:rPr lang="zh-CN" altLang="en-US"/>
              <a:t>年</a:t>
            </a:r>
            <a:r>
              <a:rPr lang="en-US" altLang="zh-CN"/>
              <a:t>8</a:t>
            </a:r>
            <a:r>
              <a:rPr lang="zh-CN" altLang="en-US"/>
              <a:t>月，</a:t>
            </a:r>
            <a:r>
              <a:rPr lang="en-US" altLang="zh-CN"/>
              <a:t>Semtech</a:t>
            </a:r>
            <a:r>
              <a:rPr lang="zh-CN" altLang="en-US"/>
              <a:t>公司发布一款新型的基于</a:t>
            </a:r>
            <a:r>
              <a:rPr lang="en-US" altLang="zh-CN"/>
              <a:t>chirp</a:t>
            </a:r>
            <a:r>
              <a:rPr lang="zh-CN" altLang="en-US"/>
              <a:t>扩频调制的、用于进行超长距低功耗通信的芯片</a:t>
            </a:r>
            <a:r>
              <a:rPr lang="en-US" altLang="zh-CN"/>
              <a:t>——LoRa</a:t>
            </a:r>
            <a:r>
              <a:rPr lang="zh-CN" altLang="en-US"/>
              <a:t>（</a:t>
            </a:r>
            <a:r>
              <a:rPr lang="en-US" altLang="zh-CN"/>
              <a:t>Long Range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3</a:t>
            </a:r>
            <a:r>
              <a:rPr lang="zh-CN" altLang="en-US"/>
              <a:t>月，</a:t>
            </a:r>
            <a:r>
              <a:rPr lang="en-US" altLang="zh-CN"/>
              <a:t> Semtech</a:t>
            </a:r>
            <a:r>
              <a:rPr lang="zh-CN" altLang="en-US"/>
              <a:t>公司牵头成立了</a:t>
            </a:r>
            <a:r>
              <a:rPr lang="en-US" altLang="zh-CN"/>
              <a:t>LoRa</a:t>
            </a:r>
            <a:r>
              <a:rPr lang="zh-CN" altLang="en-US"/>
              <a:t>联盟，目前拥有超过</a:t>
            </a:r>
            <a:r>
              <a:rPr lang="en-US" altLang="zh-CN"/>
              <a:t>290</a:t>
            </a:r>
            <a:r>
              <a:rPr lang="zh-CN" altLang="en-US"/>
              <a:t>多家成员，中国有</a:t>
            </a:r>
            <a:r>
              <a:rPr lang="en-US" altLang="zh-CN"/>
              <a:t>35</a:t>
            </a:r>
            <a:r>
              <a:rPr lang="zh-CN" altLang="en-US"/>
              <a:t>名成员，如阿里巴巴和腾讯等。其他还包括各类运营商、系统、软件、芯片、模组、云服务和应用厂商等。</a:t>
            </a:r>
            <a:endParaRPr lang="en-US" altLang="zh-CN"/>
          </a:p>
          <a:p>
            <a:pPr lvl="1"/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6</a:t>
            </a:r>
            <a:r>
              <a:rPr lang="zh-CN" altLang="en-US"/>
              <a:t>月，</a:t>
            </a:r>
            <a:r>
              <a:rPr lang="en-US" altLang="zh-CN"/>
              <a:t>LoRa</a:t>
            </a:r>
            <a:r>
              <a:rPr lang="zh-CN" altLang="en-US"/>
              <a:t>联盟提出了基于</a:t>
            </a:r>
            <a:r>
              <a:rPr lang="en-US" altLang="zh-CN"/>
              <a:t>LoRa</a:t>
            </a:r>
            <a:r>
              <a:rPr lang="zh-CN" altLang="en-US"/>
              <a:t>的</a:t>
            </a:r>
            <a:r>
              <a:rPr lang="en-US" altLang="zh-CN"/>
              <a:t>MAC</a:t>
            </a:r>
            <a:r>
              <a:rPr lang="zh-CN" altLang="en-US"/>
              <a:t>协议</a:t>
            </a:r>
            <a:r>
              <a:rPr lang="en-US" altLang="zh-CN"/>
              <a:t>LoRaWAN v1.0</a:t>
            </a:r>
            <a:r>
              <a:rPr lang="zh-CN" altLang="en-US"/>
              <a:t>。</a:t>
            </a:r>
            <a:r>
              <a:rPr lang="en-US" altLang="zh-CN"/>
              <a:t>LoRaWAN</a:t>
            </a:r>
            <a:r>
              <a:rPr lang="zh-CN" altLang="en-US"/>
              <a:t>定义了</a:t>
            </a:r>
            <a:r>
              <a:rPr lang="en-US" altLang="zh-CN"/>
              <a:t>LoRa</a:t>
            </a:r>
            <a:r>
              <a:rPr lang="zh-CN" altLang="en-US"/>
              <a:t>通信的网络架构，</a:t>
            </a:r>
            <a:r>
              <a:rPr lang="en-US" altLang="zh-CN"/>
              <a:t>LoRa</a:t>
            </a:r>
            <a:r>
              <a:rPr lang="zh-CN" altLang="en-US"/>
              <a:t>设备与基站之间通信的模式等。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868" y="5118276"/>
            <a:ext cx="3011062" cy="9416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t="16759" b="12717"/>
          <a:stretch/>
        </p:blipFill>
        <p:spPr>
          <a:xfrm>
            <a:off x="268572" y="5359513"/>
            <a:ext cx="3237873" cy="700391"/>
          </a:xfrm>
          <a:prstGeom prst="rect">
            <a:avLst/>
          </a:prstGeom>
        </p:spPr>
      </p:pic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988E90AC-7C74-473D-9FA4-49C562A3A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79762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典型协议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Sigfox</a:t>
            </a:r>
          </a:p>
          <a:p>
            <a:pPr lvl="1"/>
            <a:r>
              <a:rPr lang="en-US" altLang="zh-CN" dirty="0"/>
              <a:t>Sigfox</a:t>
            </a:r>
            <a:r>
              <a:rPr lang="zh-CN" altLang="en-US" dirty="0"/>
              <a:t>是由法国的一家全球网络运行商与</a:t>
            </a:r>
            <a:r>
              <a:rPr lang="en-US" altLang="zh-CN" dirty="0"/>
              <a:t>2009</a:t>
            </a:r>
            <a:r>
              <a:rPr lang="zh-CN" altLang="en-US" dirty="0"/>
              <a:t>年投资成立的一家公司。</a:t>
            </a:r>
            <a:r>
              <a:rPr lang="en-US" altLang="zh-CN" dirty="0"/>
              <a:t> Sigfox</a:t>
            </a:r>
            <a:r>
              <a:rPr lang="zh-CN" altLang="en-US" dirty="0"/>
              <a:t>采用</a:t>
            </a:r>
            <a:r>
              <a:rPr lang="zh-CN" altLang="en-US" dirty="0">
                <a:solidFill>
                  <a:srgbClr val="C00000"/>
                </a:solidFill>
              </a:rPr>
              <a:t>超窄带技术</a:t>
            </a:r>
            <a:r>
              <a:rPr lang="en-US" altLang="zh-CN" dirty="0"/>
              <a:t>(100Hz)</a:t>
            </a:r>
            <a:r>
              <a:rPr lang="zh-CN" altLang="en-US" dirty="0"/>
              <a:t>实现极低功率覆盖大范围区域的目的</a:t>
            </a:r>
            <a:endParaRPr lang="en-US" altLang="zh-CN" dirty="0"/>
          </a:p>
          <a:p>
            <a:pPr lvl="1"/>
            <a:r>
              <a:rPr lang="zh-CN" altLang="en-US" dirty="0"/>
              <a:t>目前，</a:t>
            </a:r>
            <a:r>
              <a:rPr lang="en-US" altLang="zh-CN" dirty="0"/>
              <a:t>Sigfox </a:t>
            </a:r>
            <a:r>
              <a:rPr lang="zh-CN" altLang="en-US" dirty="0"/>
              <a:t>已经实现了全球</a:t>
            </a:r>
            <a:r>
              <a:rPr lang="en-US" altLang="zh-CN" dirty="0"/>
              <a:t>30 </a:t>
            </a:r>
            <a:r>
              <a:rPr lang="zh-CN" altLang="en-US" dirty="0"/>
              <a:t>多个国家的网络覆盖</a:t>
            </a:r>
            <a:endParaRPr lang="en-US" altLang="zh-CN" dirty="0"/>
          </a:p>
          <a:p>
            <a:r>
              <a:rPr lang="en-US" altLang="zh-CN" dirty="0" err="1"/>
              <a:t>eMTC</a:t>
            </a:r>
            <a:endParaRPr lang="en-US" altLang="zh-CN" dirty="0"/>
          </a:p>
          <a:p>
            <a:pPr lvl="1"/>
            <a:r>
              <a:rPr lang="en-US" altLang="zh-CN" dirty="0" err="1"/>
              <a:t>eMTC</a:t>
            </a:r>
            <a:r>
              <a:rPr lang="en-US" altLang="zh-CN" dirty="0"/>
              <a:t> (enhanced Machine-Type Communication)</a:t>
            </a:r>
            <a:r>
              <a:rPr lang="zh-CN" altLang="en-US" dirty="0"/>
              <a:t>由</a:t>
            </a:r>
            <a:r>
              <a:rPr lang="en-US" altLang="zh-CN" dirty="0"/>
              <a:t>3GPP</a:t>
            </a:r>
            <a:r>
              <a:rPr lang="zh-CN" altLang="en-US" dirty="0"/>
              <a:t>组织于</a:t>
            </a:r>
            <a:r>
              <a:rPr lang="en-US" altLang="zh-CN" dirty="0"/>
              <a:t>2016</a:t>
            </a:r>
            <a:r>
              <a:rPr lang="zh-CN" altLang="en-US" dirty="0"/>
              <a:t>年</a:t>
            </a:r>
            <a:r>
              <a:rPr lang="en-US" altLang="zh-CN" dirty="0"/>
              <a:t>6</a:t>
            </a:r>
            <a:r>
              <a:rPr lang="zh-CN" altLang="en-US" dirty="0"/>
              <a:t>月标准化。</a:t>
            </a:r>
            <a:r>
              <a:rPr lang="en-US" altLang="zh-CN" dirty="0">
                <a:solidFill>
                  <a:srgbClr val="C00000"/>
                </a:solidFill>
              </a:rPr>
              <a:t>3GPP</a:t>
            </a:r>
            <a:r>
              <a:rPr lang="zh-CN" altLang="en-US" dirty="0">
                <a:solidFill>
                  <a:srgbClr val="C00000"/>
                </a:solidFill>
              </a:rPr>
              <a:t>对</a:t>
            </a:r>
            <a:r>
              <a:rPr lang="en-US" altLang="zh-CN" dirty="0">
                <a:solidFill>
                  <a:srgbClr val="C00000"/>
                </a:solidFill>
              </a:rPr>
              <a:t>LTE</a:t>
            </a:r>
            <a:r>
              <a:rPr lang="zh-CN" altLang="en-US" dirty="0">
                <a:solidFill>
                  <a:srgbClr val="C00000"/>
                </a:solidFill>
              </a:rPr>
              <a:t>协议进行裁剪</a:t>
            </a:r>
            <a:r>
              <a:rPr lang="zh-CN" altLang="en-US" dirty="0"/>
              <a:t>，舍弃大部分复杂功能，形成适用于低功耗、低成本设备联网的新的</a:t>
            </a:r>
            <a:r>
              <a:rPr lang="en-US" altLang="zh-CN" dirty="0" err="1"/>
              <a:t>eMTC</a:t>
            </a:r>
            <a:r>
              <a:rPr lang="zh-CN" altLang="en-US" dirty="0"/>
              <a:t>协议</a:t>
            </a:r>
            <a:endParaRPr lang="en-US" altLang="zh-CN" dirty="0"/>
          </a:p>
          <a:p>
            <a:pPr lvl="1"/>
            <a:r>
              <a:rPr lang="zh-CN" altLang="en-US" dirty="0"/>
              <a:t>与</a:t>
            </a:r>
            <a:r>
              <a:rPr lang="en-US" altLang="zh-CN" dirty="0"/>
              <a:t>NB-IoT/LoRa/Sigfox</a:t>
            </a:r>
            <a:r>
              <a:rPr lang="zh-CN" altLang="en-US" dirty="0"/>
              <a:t>不同的是，</a:t>
            </a:r>
            <a:r>
              <a:rPr lang="en-US" altLang="zh-CN" dirty="0" err="1"/>
              <a:t>eMTC</a:t>
            </a:r>
            <a:r>
              <a:rPr lang="en-US" altLang="zh-CN" dirty="0"/>
              <a:t> </a:t>
            </a:r>
            <a:r>
              <a:rPr lang="zh-CN" altLang="en-US" dirty="0"/>
              <a:t>支持移动性和基站定位，可实现漫游和无缝切换，并且支持语音业务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FA1FAEC0-AF65-4854-B382-4A3CCC000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38729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典型协议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7912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EC-GSM</a:t>
            </a:r>
          </a:p>
          <a:p>
            <a:pPr lvl="1"/>
            <a:r>
              <a:rPr lang="zh-CN" altLang="en-US" dirty="0"/>
              <a:t>扩展覆盖</a:t>
            </a:r>
            <a:r>
              <a:rPr lang="en-US" altLang="zh-CN" dirty="0"/>
              <a:t>GSM</a:t>
            </a:r>
            <a:r>
              <a:rPr lang="zh-CN" altLang="en-US" dirty="0"/>
              <a:t>技术（</a:t>
            </a:r>
            <a:r>
              <a:rPr lang="en-US" altLang="zh-CN" dirty="0"/>
              <a:t>Extended Coverage-GSM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是</a:t>
            </a:r>
            <a:r>
              <a:rPr lang="en-US" altLang="zh-CN" dirty="0"/>
              <a:t>GSM</a:t>
            </a:r>
            <a:r>
              <a:rPr lang="zh-CN" altLang="en-US" dirty="0"/>
              <a:t>向物联网演进的技术，</a:t>
            </a:r>
            <a:r>
              <a:rPr lang="zh-CN" altLang="en-US" dirty="0">
                <a:solidFill>
                  <a:srgbClr val="C00000"/>
                </a:solidFill>
              </a:rPr>
              <a:t>重用了</a:t>
            </a:r>
            <a:r>
              <a:rPr lang="en-US" altLang="zh-CN" dirty="0">
                <a:solidFill>
                  <a:srgbClr val="C00000"/>
                </a:solidFill>
              </a:rPr>
              <a:t>GSM</a:t>
            </a:r>
            <a:r>
              <a:rPr lang="zh-CN" altLang="en-US" dirty="0">
                <a:solidFill>
                  <a:srgbClr val="C00000"/>
                </a:solidFill>
              </a:rPr>
              <a:t>物理层设计</a:t>
            </a:r>
            <a:r>
              <a:rPr lang="zh-CN" altLang="en-US" dirty="0"/>
              <a:t>，与传统的</a:t>
            </a:r>
            <a:r>
              <a:rPr lang="en-US" altLang="zh-CN" dirty="0"/>
              <a:t>GSM</a:t>
            </a:r>
            <a:r>
              <a:rPr lang="zh-CN" altLang="en-US" dirty="0"/>
              <a:t>终端可以共载波部署。运用此技术，现有已布建的</a:t>
            </a:r>
            <a:r>
              <a:rPr lang="en-US" altLang="zh-CN" dirty="0"/>
              <a:t>GSM</a:t>
            </a:r>
            <a:r>
              <a:rPr lang="zh-CN" altLang="en-US" dirty="0"/>
              <a:t>（</a:t>
            </a:r>
            <a:r>
              <a:rPr lang="en-US" altLang="zh-CN" dirty="0"/>
              <a:t>2G</a:t>
            </a:r>
            <a:r>
              <a:rPr lang="zh-CN" altLang="en-US" dirty="0"/>
              <a:t>）基地台也能更适合用于物联网应用，相同的</a:t>
            </a:r>
            <a:r>
              <a:rPr lang="en-US" altLang="zh-CN" dirty="0"/>
              <a:t>GSM</a:t>
            </a:r>
            <a:r>
              <a:rPr lang="zh-CN" altLang="en-US" dirty="0"/>
              <a:t>基地台，可以拥有更大的通讯覆盖面积，支援更多</a:t>
            </a:r>
            <a:r>
              <a:rPr lang="en-US" altLang="zh-CN" dirty="0"/>
              <a:t>GSM</a:t>
            </a:r>
            <a:r>
              <a:rPr lang="zh-CN" altLang="en-US" dirty="0"/>
              <a:t>终端节点的通讯</a:t>
            </a:r>
            <a:endParaRPr lang="en-US" altLang="zh-CN" dirty="0"/>
          </a:p>
          <a:p>
            <a:r>
              <a:rPr lang="en-US" altLang="zh-CN" dirty="0"/>
              <a:t>LTE Cat 1</a:t>
            </a:r>
          </a:p>
          <a:p>
            <a:pPr lvl="1"/>
            <a:r>
              <a:rPr lang="en-US" altLang="zh-CN" dirty="0"/>
              <a:t>LTE Cat 1</a:t>
            </a:r>
            <a:r>
              <a:rPr lang="zh-CN" altLang="en-US" dirty="0"/>
              <a:t>是</a:t>
            </a:r>
            <a:r>
              <a:rPr lang="zh-CN" altLang="zh-CN" dirty="0"/>
              <a:t>专为机器对机器</a:t>
            </a:r>
            <a:r>
              <a:rPr lang="en-US" altLang="zh-CN" dirty="0"/>
              <a:t>(M2M)</a:t>
            </a:r>
            <a:r>
              <a:rPr lang="zh-CN" altLang="zh-CN" dirty="0"/>
              <a:t>物联网应用设计的一种通信规范，由</a:t>
            </a:r>
            <a:r>
              <a:rPr lang="en-US" altLang="zh-CN" dirty="0"/>
              <a:t>3GPP</a:t>
            </a:r>
            <a:r>
              <a:rPr lang="zh-CN" altLang="zh-CN" dirty="0"/>
              <a:t>组织于</a:t>
            </a:r>
            <a:r>
              <a:rPr lang="en-US" altLang="zh-CN" dirty="0"/>
              <a:t>2009</a:t>
            </a:r>
            <a:r>
              <a:rPr lang="zh-CN" altLang="zh-CN" dirty="0"/>
              <a:t>年引入</a:t>
            </a:r>
            <a:r>
              <a:rPr lang="en-US" altLang="zh-CN" dirty="0"/>
              <a:t>3GPP</a:t>
            </a:r>
            <a:r>
              <a:rPr lang="zh-CN" altLang="zh-CN" dirty="0"/>
              <a:t>第</a:t>
            </a:r>
            <a:r>
              <a:rPr lang="en-US" altLang="zh-CN" dirty="0"/>
              <a:t>8</a:t>
            </a:r>
            <a:r>
              <a:rPr lang="zh-CN" altLang="zh-CN" dirty="0"/>
              <a:t>版中，成为标准化的</a:t>
            </a:r>
            <a:r>
              <a:rPr lang="en-US" altLang="zh-CN" dirty="0"/>
              <a:t>LTE</a:t>
            </a:r>
            <a:r>
              <a:rPr lang="zh-CN" altLang="zh-CN" dirty="0"/>
              <a:t>物联网通信技术</a:t>
            </a:r>
            <a:endParaRPr lang="en-US" altLang="zh-CN" dirty="0"/>
          </a:p>
          <a:p>
            <a:pPr lvl="1"/>
            <a:r>
              <a:rPr lang="en-US" altLang="zh-CN" dirty="0"/>
              <a:t>Cat 1</a:t>
            </a:r>
            <a:r>
              <a:rPr lang="zh-CN" altLang="zh-CN" dirty="0"/>
              <a:t>可</a:t>
            </a:r>
            <a:r>
              <a:rPr lang="zh-CN" altLang="zh-CN" dirty="0">
                <a:solidFill>
                  <a:srgbClr val="C00000"/>
                </a:solidFill>
              </a:rPr>
              <a:t>无缝接入现有</a:t>
            </a:r>
            <a:r>
              <a:rPr lang="en-US" altLang="zh-CN" dirty="0">
                <a:solidFill>
                  <a:srgbClr val="C00000"/>
                </a:solidFill>
              </a:rPr>
              <a:t>LTE</a:t>
            </a:r>
            <a:r>
              <a:rPr lang="zh-CN" altLang="zh-CN" dirty="0">
                <a:solidFill>
                  <a:srgbClr val="C00000"/>
                </a:solidFill>
              </a:rPr>
              <a:t>网络当中</a:t>
            </a:r>
            <a:r>
              <a:rPr lang="zh-CN" altLang="zh-CN" dirty="0"/>
              <a:t>，无需针对基站进行软硬件升级，网络覆盖成本低</a:t>
            </a:r>
            <a:endParaRPr lang="en-US" altLang="zh-CN" dirty="0"/>
          </a:p>
          <a:p>
            <a:pPr lvl="1"/>
            <a:r>
              <a:rPr lang="zh-CN" altLang="zh-CN" dirty="0"/>
              <a:t>支持</a:t>
            </a:r>
            <a:r>
              <a:rPr lang="en-US" altLang="zh-CN" dirty="0">
                <a:solidFill>
                  <a:srgbClr val="C00000"/>
                </a:solidFill>
              </a:rPr>
              <a:t>10mbit /s</a:t>
            </a:r>
            <a:r>
              <a:rPr lang="zh-CN" altLang="zh-CN" dirty="0"/>
              <a:t>下行和</a:t>
            </a:r>
            <a:r>
              <a:rPr lang="en-US" altLang="zh-CN" dirty="0">
                <a:solidFill>
                  <a:srgbClr val="C00000"/>
                </a:solidFill>
              </a:rPr>
              <a:t>5Mbit/s</a:t>
            </a:r>
            <a:r>
              <a:rPr lang="zh-CN" altLang="zh-CN" dirty="0"/>
              <a:t>上行速度，拥有比</a:t>
            </a:r>
            <a:r>
              <a:rPr lang="en-US" altLang="zh-CN" dirty="0"/>
              <a:t>NB-IoT</a:t>
            </a:r>
            <a:r>
              <a:rPr lang="zh-CN" altLang="zh-CN" dirty="0"/>
              <a:t>技术更高的数据速率，更广的网络覆盖范围等优势，因此常用于智能穿戴设备等对性价比、时延性、覆盖范围、通信速度有需求的应用场景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FC19ECEB-892C-4C93-86D3-0B45D8BA8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89571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内容占位符 3">
            <a:extLst>
              <a:ext uri="{FF2B5EF4-FFF2-40B4-BE49-F238E27FC236}">
                <a16:creationId xmlns:a16="http://schemas.microsoft.com/office/drawing/2014/main" id="{9D43C66F-13B1-4C82-B516-C991BB3C19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1149549"/>
              </p:ext>
            </p:extLst>
          </p:nvPr>
        </p:nvGraphicFramePr>
        <p:xfrm>
          <a:off x="152398" y="1520790"/>
          <a:ext cx="8839199" cy="462645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463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0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6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06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06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06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06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80375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 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+mj-ea"/>
                          <a:ea typeface="+mj-ea"/>
                        </a:rPr>
                        <a:t>WiFi</a:t>
                      </a:r>
                      <a:endParaRPr lang="en-US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BLE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+mj-ea"/>
                          <a:ea typeface="+mj-ea"/>
                        </a:rPr>
                        <a:t>ZigBee</a:t>
                      </a: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 Pro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SIGFOX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 err="1">
                          <a:effectLst/>
                          <a:latin typeface="+mj-ea"/>
                          <a:ea typeface="+mj-ea"/>
                        </a:rPr>
                        <a:t>LoRa</a:t>
                      </a:r>
                      <a:endParaRPr lang="en-US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LTE-M/(</a:t>
                      </a:r>
                      <a:r>
                        <a:rPr lang="en-US" sz="1200" kern="100" dirty="0" err="1">
                          <a:effectLst/>
                          <a:latin typeface="+mj-ea"/>
                          <a:ea typeface="+mj-ea"/>
                        </a:rPr>
                        <a:t>eMTC</a:t>
                      </a: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EC-GSM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NB-IOT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5G 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78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覆盖范围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17-30+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米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1-10+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米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1-100+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米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&lt;12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千米</a:t>
                      </a: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 160 dB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&lt;10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千米 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157 dB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&lt;10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千米</a:t>
                      </a: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156 dB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&lt;15</a:t>
                      </a:r>
                      <a:r>
                        <a:rPr lang="zh-CN" sz="1200" kern="100">
                          <a:effectLst/>
                          <a:latin typeface="+mj-ea"/>
                          <a:ea typeface="+mj-ea"/>
                        </a:rPr>
                        <a:t>千米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164 dB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&lt;15</a:t>
                      </a:r>
                      <a:r>
                        <a:rPr lang="zh-CN" sz="1200" kern="100">
                          <a:effectLst/>
                          <a:latin typeface="+mj-ea"/>
                          <a:ea typeface="+mj-ea"/>
                        </a:rPr>
                        <a:t>千米</a:t>
                      </a: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 164 dB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&lt;12</a:t>
                      </a:r>
                      <a:r>
                        <a:rPr lang="zh-CN" sz="1200" kern="100">
                          <a:effectLst/>
                          <a:latin typeface="+mj-ea"/>
                          <a:ea typeface="+mj-ea"/>
                        </a:rPr>
                        <a:t>千米</a:t>
                      </a: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 160 dB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148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频谱带宽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2.4G 802.11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2.4G 802.15.1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2.4G 802.15.4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未授权</a:t>
                      </a: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900MHz 100Hz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未授权</a:t>
                      </a: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900MHz &lt;500kHz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授权的</a:t>
                      </a:r>
                      <a:endParaRPr lang="en-US" alt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7-900MHz 1.4MHz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共享频段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授权的</a:t>
                      </a:r>
                      <a:endParaRPr lang="en-US" alt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8-900MHz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共享频段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授权的</a:t>
                      </a:r>
                      <a:endParaRPr lang="en-US" alt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7-900MHz 200kHz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共享频段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授权的</a:t>
                      </a:r>
                      <a:endParaRPr lang="en-US" alt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7-900MHz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共享频段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8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速率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150Mbps+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1Mbps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250kbps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&lt;100bps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&lt;10bps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&lt;1Mbps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10kbps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&lt;50kbps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&lt;1Mpbs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739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终端价格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4$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(2016)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4$ 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(2016)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3$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(2016)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4$ 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(2016)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2.64$ 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(2020)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4$ 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(2016)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 2.64$ 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+mj-ea"/>
                          <a:ea typeface="+mj-ea"/>
                        </a:rPr>
                        <a:t>(2020)</a:t>
                      </a:r>
                      <a:endParaRPr lang="zh-CN" sz="12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5$ 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(2015) 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3.3$ 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(2020)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4.5$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 (2015)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2.97$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 (2020)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4$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 (2015) 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2-3$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 (2020)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&lt;2$</a:t>
                      </a:r>
                      <a:endParaRPr lang="zh-CN" sz="12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60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网络重构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+mj-ea"/>
                          <a:ea typeface="+mj-ea"/>
                        </a:rPr>
                        <a:t>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+mj-ea"/>
                          <a:ea typeface="+mj-ea"/>
                        </a:rPr>
                        <a:t>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+mj-ea"/>
                          <a:ea typeface="+mj-ea"/>
                        </a:rPr>
                        <a:t>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+mj-ea"/>
                          <a:ea typeface="+mj-ea"/>
                        </a:rPr>
                        <a:t>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+mj-ea"/>
                          <a:ea typeface="+mj-ea"/>
                        </a:rPr>
                        <a:t>大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+mj-ea"/>
                          <a:ea typeface="+mj-ea"/>
                        </a:rPr>
                        <a:t>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中（</a:t>
                      </a: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LTE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复用）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小</a:t>
                      </a: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中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需</a:t>
                      </a:r>
                      <a:r>
                        <a:rPr lang="en-US" sz="1200" kern="100" dirty="0">
                          <a:effectLst/>
                          <a:latin typeface="+mj-ea"/>
                          <a:ea typeface="+mj-ea"/>
                        </a:rPr>
                        <a:t>5G</a:t>
                      </a:r>
                      <a:r>
                        <a:rPr lang="zh-CN" sz="1200" kern="100" dirty="0">
                          <a:effectLst/>
                          <a:latin typeface="+mj-ea"/>
                          <a:ea typeface="+mj-ea"/>
                        </a:rPr>
                        <a:t>网络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概述</a:t>
            </a:r>
            <a:endParaRPr lang="zh-CN" altLang="en-US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F6F6BEAA-705F-49D8-A57E-9C0CA2852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不同无线通信技术的比较</a:t>
            </a:r>
            <a:endParaRPr lang="zh-CN" altLang="en-US" dirty="0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99460CF6-497B-4FB2-9A2C-B55F32265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pic>
        <p:nvPicPr>
          <p:cNvPr id="21" name="图片 22" descr="https://timgsa.baidu.com/timg?image&amp;quality=80&amp;size=b9999_10000&amp;sec=1542100599698&amp;di=713725f3451ce198ed8c30d26fa066d6&amp;imgtype=0&amp;src=http%3A%2F%2Fpic1.16pic.com%2F00%2F24%2F47%2F16pic_2447460_b.jpg">
            <a:extLst>
              <a:ext uri="{FF2B5EF4-FFF2-40B4-BE49-F238E27FC236}">
                <a16:creationId xmlns:a16="http://schemas.microsoft.com/office/drawing/2014/main" id="{1ECA4534-56EB-4931-9611-5565E8733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3" t="30309" b="31906"/>
          <a:stretch>
            <a:fillRect/>
          </a:stretch>
        </p:blipFill>
        <p:spPr bwMode="auto">
          <a:xfrm>
            <a:off x="641692" y="2017967"/>
            <a:ext cx="871442" cy="265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3" descr="https://timgsa.baidu.com/timg?image&amp;quality=80&amp;size=b9999_10000&amp;sec=1542100686753&amp;di=2932b32d51ebf9ae7b84573e5c44b40b&amp;imgtype=0&amp;src=http%3A%2F%2Fpic4.zhimg.com%2Fv2-2e3e80d0b0f4090e943f8d181cbb86a8_1200x500.jpg">
            <a:extLst>
              <a:ext uri="{FF2B5EF4-FFF2-40B4-BE49-F238E27FC236}">
                <a16:creationId xmlns:a16="http://schemas.microsoft.com/office/drawing/2014/main" id="{21B8ECD6-FE65-4C39-B11D-786AE9FEF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2" t="32326" r="5334" b="36124"/>
          <a:stretch>
            <a:fillRect/>
          </a:stretch>
        </p:blipFill>
        <p:spPr bwMode="auto">
          <a:xfrm>
            <a:off x="1633675" y="2053381"/>
            <a:ext cx="717437" cy="2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图片 24" descr="https://timgsa.baidu.com/timg?image&amp;quality=80&amp;size=b9999_10000&amp;sec=1542100747776&amp;di=fddef3dbd5bda21cbd738252f83ae7a4&amp;imgtype=0&amp;src=http%3A%2F%2Fhimg2.huanqiu.com%2Fattachment2010%2F2015%2F0511%2F20150511045552289.jpg">
            <a:extLst>
              <a:ext uri="{FF2B5EF4-FFF2-40B4-BE49-F238E27FC236}">
                <a16:creationId xmlns:a16="http://schemas.microsoft.com/office/drawing/2014/main" id="{3BCE19E5-1CD9-4066-A1AB-2643D14AF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123" y="2058116"/>
            <a:ext cx="751029" cy="223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图片 25" descr="https://ss1.bdstatic.com/70cFuXSh_Q1YnxGkpoWK1HF6hhy/it/u=2739366386,2147584351&amp;fm=15&amp;gp=0.jpg">
            <a:extLst>
              <a:ext uri="{FF2B5EF4-FFF2-40B4-BE49-F238E27FC236}">
                <a16:creationId xmlns:a16="http://schemas.microsoft.com/office/drawing/2014/main" id="{DC02FD25-2C05-4C87-B4D8-B6A67DE31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10" b="31364"/>
          <a:stretch>
            <a:fillRect/>
          </a:stretch>
        </p:blipFill>
        <p:spPr bwMode="auto">
          <a:xfrm>
            <a:off x="3427334" y="2112812"/>
            <a:ext cx="884660" cy="15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图片 26" descr="https://timgsa.baidu.com/timg?image&amp;quality=80&amp;size=b9999_10000&amp;sec=1542100861517&amp;di=2bf06d105895e595b1b24c9bb9af1f23&amp;imgtype=0&amp;src=http%3A%2F%2Fimages.rfidworld.com.cn%2FFileUpLoadSavePath%2F2017-08%2F71d712c4a58be5b1.jpg">
            <a:extLst>
              <a:ext uri="{FF2B5EF4-FFF2-40B4-BE49-F238E27FC236}">
                <a16:creationId xmlns:a16="http://schemas.microsoft.com/office/drawing/2014/main" id="{ADBE30B2-D1E9-49E7-826A-85B4263AF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7" t="13171" r="8078" b="10245"/>
          <a:stretch>
            <a:fillRect/>
          </a:stretch>
        </p:blipFill>
        <p:spPr bwMode="auto">
          <a:xfrm>
            <a:off x="4502895" y="2001036"/>
            <a:ext cx="602182" cy="282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图片 27" descr="https://timgsa.baidu.com/timg?image&amp;quality=80&amp;size=b9999_10000&amp;sec=1542100906712&amp;di=1aafcb676d2a4c2218eac95127fba24c&amp;imgtype=0&amp;src=http%3A%2F%2Fs1.51cto.com%2Fwyfs02%2FM00%2F75%2F2B%2FwKioL1YzQqWhxGwcAAASzYJrcg4335.jpg">
            <a:extLst>
              <a:ext uri="{FF2B5EF4-FFF2-40B4-BE49-F238E27FC236}">
                <a16:creationId xmlns:a16="http://schemas.microsoft.com/office/drawing/2014/main" id="{05DC17C4-AA3B-410A-8A0E-1C4845462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3" r="23788"/>
          <a:stretch>
            <a:fillRect/>
          </a:stretch>
        </p:blipFill>
        <p:spPr bwMode="auto">
          <a:xfrm>
            <a:off x="5602209" y="2041697"/>
            <a:ext cx="276225" cy="24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图片 28" descr="https://timgsa.baidu.com/timg?image&amp;quality=80&amp;size=b9999_10000&amp;sec=1542100975120&amp;di=92aee9998aa92d177d647bd80530f3f7&amp;imgtype=0&amp;src=http%3A%2F%2Fimg.hexun.com%2F2011-07-04%2F131140767.jpg">
            <a:extLst>
              <a:ext uri="{FF2B5EF4-FFF2-40B4-BE49-F238E27FC236}">
                <a16:creationId xmlns:a16="http://schemas.microsoft.com/office/drawing/2014/main" id="{71EB8920-D452-462C-863A-4AB123C6F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0" t="16800" r="10400" b="16266"/>
          <a:stretch>
            <a:fillRect/>
          </a:stretch>
        </p:blipFill>
        <p:spPr bwMode="auto">
          <a:xfrm>
            <a:off x="6489960" y="2077462"/>
            <a:ext cx="409575" cy="20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图片 30" descr="https://timgsa.baidu.com/timg?image&amp;quality=80&amp;size=b9999_10000&amp;sec=1542101020658&amp;di=c53375618e759c4bcbba381a7ab7f8af&amp;imgtype=0&amp;src=http%3A%2F%2Fi.bs.boiots.com%2F201707%2F06%2F11-10-47-38-66.jpg">
            <a:extLst>
              <a:ext uri="{FF2B5EF4-FFF2-40B4-BE49-F238E27FC236}">
                <a16:creationId xmlns:a16="http://schemas.microsoft.com/office/drawing/2014/main" id="{92897790-232D-4AB6-8857-FA758CAEC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0" t="30296" r="10927" b="29657"/>
          <a:stretch>
            <a:fillRect/>
          </a:stretch>
        </p:blipFill>
        <p:spPr bwMode="auto">
          <a:xfrm>
            <a:off x="7148309" y="2103568"/>
            <a:ext cx="888779" cy="17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图片 32" descr="https://timgsa.baidu.com/timg?image&amp;quality=80&amp;size=b9999_10000&amp;sec=1542101062191&amp;di=b10afc8b2a3737a4ab1a3d8c18706e98&amp;imgtype=0&amp;src=http%3A%2F%2Fwww.qianjia.com%2FUpload%2FNews%2F20170306%2Fimages%2F201703061326253822.jpg">
            <a:extLst>
              <a:ext uri="{FF2B5EF4-FFF2-40B4-BE49-F238E27FC236}">
                <a16:creationId xmlns:a16="http://schemas.microsoft.com/office/drawing/2014/main" id="{3B75EE18-DA1C-4E88-81AF-9B69097EF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3" t="24562" r="15280" b="24615"/>
          <a:stretch>
            <a:fillRect/>
          </a:stretch>
        </p:blipFill>
        <p:spPr bwMode="auto">
          <a:xfrm>
            <a:off x="8316877" y="2036964"/>
            <a:ext cx="447675" cy="24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06608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62195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endParaRPr lang="en-US" altLang="zh-CN"/>
          </a:p>
          <a:p>
            <a:pPr>
              <a:lnSpc>
                <a:spcPct val="130000"/>
              </a:lnSpc>
            </a:pPr>
            <a:r>
              <a:rPr lang="zh-CN" altLang="en-US" sz="2800"/>
              <a:t>概述</a:t>
            </a:r>
            <a:endParaRPr lang="en-US" altLang="zh-CN" sz="2800"/>
          </a:p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rgbClr val="C00000"/>
                </a:solidFill>
              </a:rPr>
              <a:t>关键特性</a:t>
            </a:r>
            <a:endParaRPr lang="en-US" altLang="zh-CN" sz="2800">
              <a:solidFill>
                <a:srgbClr val="C0000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2800"/>
              <a:t>代表性协议</a:t>
            </a:r>
            <a:endParaRPr lang="en-US" altLang="zh-CN" sz="2800"/>
          </a:p>
          <a:p>
            <a:pPr>
              <a:lnSpc>
                <a:spcPct val="130000"/>
              </a:lnSpc>
            </a:pPr>
            <a:r>
              <a:rPr lang="zh-CN" altLang="en-US" sz="2800"/>
              <a:t>学术研究进展</a:t>
            </a:r>
            <a:endParaRPr lang="en-US" altLang="zh-CN" sz="2800"/>
          </a:p>
          <a:p>
            <a:pPr>
              <a:lnSpc>
                <a:spcPct val="130000"/>
              </a:lnSpc>
            </a:pPr>
            <a:r>
              <a:rPr lang="zh-CN" altLang="en-US" sz="2800"/>
              <a:t>案例开发</a:t>
            </a:r>
            <a:endParaRPr lang="en-US" altLang="zh-CN" sz="2800"/>
          </a:p>
          <a:p>
            <a:pPr>
              <a:lnSpc>
                <a:spcPct val="130000"/>
              </a:lnSpc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01902611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0A56D-A890-4992-B3F2-98161495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关键特性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BB2EBB-92AE-4745-8F5C-6233233EC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通信距离</a:t>
            </a:r>
            <a:endParaRPr lang="en-US" altLang="zh-CN" dirty="0"/>
          </a:p>
          <a:p>
            <a:r>
              <a:rPr lang="zh-CN" altLang="en-US" dirty="0"/>
              <a:t>功耗</a:t>
            </a:r>
            <a:endParaRPr lang="en-US" altLang="zh-CN" dirty="0"/>
          </a:p>
          <a:p>
            <a:r>
              <a:rPr lang="zh-CN" altLang="en-US" dirty="0"/>
              <a:t>数据率</a:t>
            </a:r>
            <a:endParaRPr lang="en-US" altLang="zh-CN" dirty="0"/>
          </a:p>
          <a:p>
            <a:r>
              <a:rPr lang="zh-CN" altLang="en-US" dirty="0"/>
              <a:t>频段的分配与使用</a:t>
            </a:r>
            <a:endParaRPr lang="en-US" altLang="zh-CN" dirty="0"/>
          </a:p>
          <a:p>
            <a:r>
              <a:rPr lang="zh-CN" altLang="en-US" dirty="0"/>
              <a:t>基站部署</a:t>
            </a:r>
            <a:endParaRPr lang="en-US" altLang="zh-CN" dirty="0"/>
          </a:p>
          <a:p>
            <a:r>
              <a:rPr lang="zh-CN" altLang="en-US" dirty="0"/>
              <a:t>非技术特性</a:t>
            </a:r>
          </a:p>
        </p:txBody>
      </p:sp>
    </p:spTree>
    <p:extLst>
      <p:ext uri="{BB962C8B-B14F-4D97-AF65-F5344CB8AC3E}">
        <p14:creationId xmlns:p14="http://schemas.microsoft.com/office/powerpoint/2010/main" val="65896838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通信距离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增加距离的关键技术</a:t>
            </a:r>
            <a:endParaRPr lang="en-US" altLang="zh-CN"/>
          </a:p>
          <a:p>
            <a:pPr lvl="1"/>
            <a:r>
              <a:rPr lang="zh-CN" altLang="en-US">
                <a:solidFill>
                  <a:srgbClr val="C00000"/>
                </a:solidFill>
              </a:rPr>
              <a:t>增加功率谱密度</a:t>
            </a:r>
            <a:r>
              <a:rPr lang="en-US" altLang="zh-CN"/>
              <a:t>(Power Spectrum Density)</a:t>
            </a:r>
            <a:r>
              <a:rPr lang="zh-CN" altLang="en-US"/>
              <a:t>：单位频谱内的发送能量强度。密度越高，传输距离越远。</a:t>
            </a:r>
            <a:endParaRPr lang="en-US" altLang="zh-CN"/>
          </a:p>
          <a:p>
            <a:pPr lvl="1"/>
            <a:r>
              <a:rPr lang="zh-CN" altLang="en-US">
                <a:solidFill>
                  <a:srgbClr val="C00000"/>
                </a:solidFill>
              </a:rPr>
              <a:t>重传</a:t>
            </a:r>
            <a:r>
              <a:rPr lang="zh-CN" altLang="en-US"/>
              <a:t>：连续重传，融合多次接收的数据进行解码，提升解码率</a:t>
            </a:r>
            <a:endParaRPr lang="en-US" altLang="zh-CN"/>
          </a:p>
          <a:p>
            <a:pPr lvl="1"/>
            <a:r>
              <a:rPr lang="zh-CN" altLang="en-US">
                <a:solidFill>
                  <a:srgbClr val="C00000"/>
                </a:solidFill>
              </a:rPr>
              <a:t>多接收天线</a:t>
            </a:r>
            <a:r>
              <a:rPr lang="zh-CN" altLang="en-US"/>
              <a:t>：多根天线接收的信号融合，提升解码概率</a:t>
            </a:r>
            <a:endParaRPr lang="en-US" altLang="zh-CN"/>
          </a:p>
          <a:p>
            <a:pPr lvl="1"/>
            <a:r>
              <a:rPr lang="zh-CN" altLang="en-US">
                <a:solidFill>
                  <a:srgbClr val="C00000"/>
                </a:solidFill>
              </a:rPr>
              <a:t>扩频</a:t>
            </a:r>
            <a:r>
              <a:rPr lang="zh-CN" altLang="en-US"/>
              <a:t>：通过增加发送数据的冗余，提高数据解调的成功率</a:t>
            </a:r>
            <a:endParaRPr lang="en-US" altLang="zh-CN"/>
          </a:p>
          <a:p>
            <a:r>
              <a:rPr lang="en-US" altLang="zh-CN"/>
              <a:t>NB-IoT</a:t>
            </a:r>
            <a:r>
              <a:rPr lang="zh-CN" altLang="en-US"/>
              <a:t>使用的技术</a:t>
            </a:r>
            <a:endParaRPr lang="en-US" altLang="zh-CN"/>
          </a:p>
          <a:p>
            <a:pPr lvl="1"/>
            <a:r>
              <a:rPr lang="zh-CN" altLang="en-US"/>
              <a:t>增加功率谱密度、重传、多接收天线</a:t>
            </a:r>
            <a:endParaRPr lang="en-US" altLang="zh-CN"/>
          </a:p>
          <a:p>
            <a:r>
              <a:rPr lang="en-US" altLang="zh-CN"/>
              <a:t>LoRa</a:t>
            </a:r>
            <a:r>
              <a:rPr lang="zh-CN" altLang="en-US"/>
              <a:t>使用的技术</a:t>
            </a:r>
            <a:endParaRPr lang="en-US" altLang="zh-CN"/>
          </a:p>
          <a:p>
            <a:pPr lvl="1"/>
            <a:r>
              <a:rPr lang="zh-CN" altLang="en-US"/>
              <a:t>扩频</a:t>
            </a:r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7376BFC8-3AC5-4681-84F2-726B1E0FA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08330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通信距离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/>
              <a:t>增加功率谱密度</a:t>
            </a:r>
            <a:r>
              <a:rPr lang="en-US" altLang="zh-CN"/>
              <a:t>(7dB)——NB-IoT</a:t>
            </a:r>
            <a:r>
              <a:rPr lang="zh-CN" altLang="en-US"/>
              <a:t>提升距离的技术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en-US" altLang="zh-CN"/>
              <a:t>PSD (Power Spectral Density) = </a:t>
            </a:r>
            <a:r>
              <a:rPr lang="zh-CN" altLang="en-US"/>
              <a:t>功率</a:t>
            </a:r>
            <a:r>
              <a:rPr lang="en-US" altLang="zh-CN"/>
              <a:t>/</a:t>
            </a:r>
            <a:r>
              <a:rPr lang="zh-CN" altLang="en-US"/>
              <a:t>带宽</a:t>
            </a:r>
            <a:r>
              <a:rPr lang="en-US" altLang="zh-CN"/>
              <a:t>, PSD</a:t>
            </a:r>
            <a:r>
              <a:rPr lang="zh-CN" altLang="en-US"/>
              <a:t>越大意味着单位频谱上发送信号强度增强</a:t>
            </a:r>
            <a:endParaRPr lang="en-US" altLang="zh-CN"/>
          </a:p>
          <a:p>
            <a:pPr lvl="1"/>
            <a:r>
              <a:rPr lang="zh-CN" altLang="en-US"/>
              <a:t>因此，相比</a:t>
            </a:r>
            <a:r>
              <a:rPr lang="en-US" altLang="zh-CN"/>
              <a:t>GSM, NB-IoT</a:t>
            </a:r>
            <a:r>
              <a:rPr lang="zh-CN" altLang="en-US"/>
              <a:t>的</a:t>
            </a:r>
            <a:r>
              <a:rPr lang="en-US" altLang="zh-CN"/>
              <a:t>PSD</a:t>
            </a:r>
            <a:r>
              <a:rPr lang="zh-CN" altLang="en-US"/>
              <a:t>提升</a:t>
            </a:r>
            <a:r>
              <a:rPr lang="en-US" altLang="zh-CN"/>
              <a:t>10*log(5.3)=7dB</a:t>
            </a:r>
          </a:p>
          <a:p>
            <a:pPr lvl="1"/>
            <a:r>
              <a:rPr lang="en-US" altLang="zh-CN" b="1"/>
              <a:t>NB-IoT</a:t>
            </a:r>
            <a:r>
              <a:rPr lang="zh-CN" altLang="en-US"/>
              <a:t>上行传输有两种带宽</a:t>
            </a:r>
            <a:r>
              <a:rPr lang="en-US" altLang="zh-CN">
                <a:solidFill>
                  <a:srgbClr val="C00000"/>
                </a:solidFill>
              </a:rPr>
              <a:t>3.75KHz</a:t>
            </a:r>
            <a:r>
              <a:rPr lang="zh-CN" altLang="en-US"/>
              <a:t>和</a:t>
            </a:r>
            <a:r>
              <a:rPr lang="en-US" altLang="zh-CN">
                <a:solidFill>
                  <a:srgbClr val="C00000"/>
                </a:solidFill>
              </a:rPr>
              <a:t>15KHz</a:t>
            </a:r>
            <a:r>
              <a:rPr lang="zh-CN" altLang="en-US"/>
              <a:t>可供选择，带宽越小，功率谱密度越大，覆盖增益越大</a:t>
            </a:r>
            <a:endParaRPr lang="en-US" altLang="zh-CN"/>
          </a:p>
          <a:p>
            <a:pPr lvl="1"/>
            <a:r>
              <a:rPr lang="zh-CN" altLang="en-US"/>
              <a:t>相比</a:t>
            </a:r>
            <a:r>
              <a:rPr lang="en-US" altLang="zh-CN"/>
              <a:t>GSM</a:t>
            </a:r>
            <a:r>
              <a:rPr lang="zh-CN" altLang="en-US"/>
              <a:t>，</a:t>
            </a:r>
            <a:r>
              <a:rPr lang="en-US" altLang="zh-CN" b="1"/>
              <a:t>LoRaWAN</a:t>
            </a:r>
            <a:r>
              <a:rPr lang="zh-CN" altLang="en-US"/>
              <a:t>并没有在</a:t>
            </a:r>
            <a:r>
              <a:rPr lang="en-US" altLang="zh-CN"/>
              <a:t>PSD</a:t>
            </a:r>
            <a:r>
              <a:rPr lang="zh-CN" altLang="en-US"/>
              <a:t>上有增益，相反，有所下降  </a:t>
            </a:r>
            <a:r>
              <a:rPr lang="en-US" altLang="zh-CN"/>
              <a:t>——</a:t>
            </a:r>
            <a:r>
              <a:rPr lang="en-US" altLang="zh-CN">
                <a:solidFill>
                  <a:srgbClr val="C00000"/>
                </a:solidFill>
              </a:rPr>
              <a:t>0.96dB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076337"/>
              </p:ext>
            </p:extLst>
          </p:nvPr>
        </p:nvGraphicFramePr>
        <p:xfrm>
          <a:off x="468883" y="1698688"/>
          <a:ext cx="8206235" cy="1381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66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3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12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技术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功率</a:t>
                      </a:r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mW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使用带宽</a:t>
                      </a:r>
                      <a:r>
                        <a:rPr lang="en-US" altLang="zh-CN" dirty="0"/>
                        <a:t>(KHz)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功率谱密度</a:t>
                      </a:r>
                      <a:r>
                        <a:rPr lang="en-US" altLang="zh-CN" dirty="0"/>
                        <a:t>=</a:t>
                      </a:r>
                      <a:r>
                        <a:rPr lang="zh-CN" altLang="en-US" dirty="0"/>
                        <a:t>功率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带宽</a:t>
                      </a:r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mW</a:t>
                      </a:r>
                      <a:r>
                        <a:rPr lang="en-US" altLang="zh-CN" dirty="0"/>
                        <a:t>/KHz)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比值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与</a:t>
                      </a:r>
                      <a:r>
                        <a:rPr lang="en-US" altLang="zh-CN" dirty="0"/>
                        <a:t>GSM</a:t>
                      </a:r>
                      <a:r>
                        <a:rPr lang="zh-CN" altLang="en-US" dirty="0"/>
                        <a:t>相比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NB-</a:t>
                      </a:r>
                      <a:r>
                        <a:rPr lang="en-US" altLang="zh-CN" dirty="0" err="1"/>
                        <a:t>IoT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3.75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53.33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5.33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LoRaWAN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B3172272-9917-402F-B7BD-53484C4A9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39712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通信距离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重传（</a:t>
                </a:r>
                <a:r>
                  <a:rPr lang="en-US" altLang="zh-CN" dirty="0"/>
                  <a:t>12dB</a:t>
                </a:r>
                <a:r>
                  <a:rPr lang="zh-CN" altLang="en-US" dirty="0"/>
                  <a:t>）</a:t>
                </a:r>
                <a:r>
                  <a:rPr lang="en-US" altLang="zh-CN" dirty="0"/>
                  <a:t>——NB-IoT</a:t>
                </a:r>
                <a:r>
                  <a:rPr lang="zh-CN" altLang="en-US" dirty="0"/>
                  <a:t>提升距离的技术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NB-</a:t>
                </a:r>
                <a:r>
                  <a:rPr lang="en-US" altLang="zh-CN" dirty="0" err="1"/>
                  <a:t>IoT</a:t>
                </a:r>
                <a:r>
                  <a:rPr lang="zh-CN" altLang="en-US" dirty="0"/>
                  <a:t>无论什么信道都可以重传，且上行最大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128</a:t>
                </a:r>
                <a:r>
                  <a:rPr lang="zh-CN" altLang="en-US" dirty="0"/>
                  <a:t>次，下行最大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2048</a:t>
                </a:r>
                <a:r>
                  <a:rPr lang="zh-CN" altLang="en-US" dirty="0"/>
                  <a:t>次。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信号强度增益</a:t>
                </a:r>
                <a:r>
                  <a:rPr lang="en-US" altLang="zh-CN" dirty="0"/>
                  <a:t>)</a:t>
                </a:r>
                <a:endParaRPr lang="zh-CN" altLang="en-US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  <a:p>
                <a:pPr lvl="1"/>
                <a:endParaRPr lang="zh-CN" altLang="en-US" dirty="0"/>
              </a:p>
              <a:p>
                <a:pPr lvl="1"/>
                <a:endParaRPr lang="zh-CN" altLang="en-US" dirty="0"/>
              </a:p>
              <a:p>
                <a:pPr lvl="1"/>
                <a:endParaRPr lang="zh-CN" altLang="en-US" dirty="0"/>
              </a:p>
              <a:p>
                <a:pPr lvl="1"/>
                <a:r>
                  <a:rPr lang="zh-CN" altLang="en-US" dirty="0"/>
                  <a:t>重传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次，与传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次相比，数据的欧式距离为</a:t>
                </a:r>
                <a14:m>
                  <m:oMath xmlns:m="http://schemas.openxmlformats.org/officeDocument/2006/math">
                    <m:r>
                      <a:rPr lang="zh-CN" altLang="en-US" smtClean="0">
                        <a:latin typeface="Cambria Math" panose="02040503050406030204" pitchFamily="18" charset="0"/>
                      </a:rPr>
                      <m:t>√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dirty="0"/>
                  <a:t>倍；相当于传输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次，功率增加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倍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重传次数越多，速率降低，误码率降低。上行最大重复传输</a:t>
                </a:r>
                <a:r>
                  <a:rPr lang="en-US" altLang="zh-CN" dirty="0"/>
                  <a:t>128</a:t>
                </a:r>
                <a:r>
                  <a:rPr lang="zh-CN" altLang="en-US" dirty="0"/>
                  <a:t>次，理论上增益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20dB</a:t>
                </a:r>
                <a:r>
                  <a:rPr lang="zh-CN" altLang="en-US" dirty="0"/>
                  <a:t>，即</a:t>
                </a:r>
                <a:r>
                  <a:rPr lang="en-US" altLang="zh-CN" dirty="0"/>
                  <a:t>10*lg(N)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是次数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而考虑到传输效率，系统不会无限制重传，一般取重传增益为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12dB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  <a:blipFill>
                <a:blip r:embed="rId3"/>
                <a:stretch>
                  <a:fillRect l="-954" t="-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996" y="2038679"/>
            <a:ext cx="4292735" cy="212883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9287" y="2301783"/>
            <a:ext cx="1557622" cy="1963575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04B87E7A-721E-49C2-A77E-1D4E3FC1C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01259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通信距离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多天线增益（</a:t>
            </a:r>
            <a:r>
              <a:rPr lang="en-US" altLang="zh-CN" dirty="0"/>
              <a:t>0~3dB</a:t>
            </a:r>
            <a:r>
              <a:rPr lang="zh-CN" altLang="en-US" dirty="0"/>
              <a:t>）</a:t>
            </a:r>
            <a:r>
              <a:rPr lang="en-US" altLang="zh-CN" dirty="0"/>
              <a:t>——NB-IoT</a:t>
            </a:r>
            <a:r>
              <a:rPr lang="zh-CN" altLang="en-US" dirty="0"/>
              <a:t>提升距离的技术</a:t>
            </a:r>
            <a:endParaRPr lang="en-US" altLang="zh-CN" dirty="0"/>
          </a:p>
          <a:p>
            <a:pPr lvl="1"/>
            <a:r>
              <a:rPr lang="zh-CN" altLang="en-US" dirty="0"/>
              <a:t>多根接收天线会融合接收到的信号，增强</a:t>
            </a:r>
            <a:r>
              <a:rPr lang="en-US" altLang="zh-CN" dirty="0"/>
              <a:t>SINR</a:t>
            </a:r>
          </a:p>
          <a:p>
            <a:pPr lvl="1"/>
            <a:r>
              <a:rPr lang="zh-CN" altLang="en-US" dirty="0"/>
              <a:t>理论来说，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T</a:t>
            </a:r>
            <a:r>
              <a:rPr lang="en-US" altLang="zh-CN" dirty="0">
                <a:solidFill>
                  <a:srgbClr val="C00000"/>
                </a:solidFill>
              </a:rPr>
              <a:t>m</a:t>
            </a:r>
            <a:r>
              <a:rPr lang="en-US" altLang="zh-CN" dirty="0"/>
              <a:t>R</a:t>
            </a:r>
            <a:r>
              <a:rPr lang="zh-CN" altLang="en-US" dirty="0"/>
              <a:t>的系统比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T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R</a:t>
            </a:r>
            <a:r>
              <a:rPr lang="zh-CN" altLang="en-US" dirty="0"/>
              <a:t>有</a:t>
            </a:r>
            <a:r>
              <a:rPr lang="en-US" altLang="zh-CN" dirty="0">
                <a:solidFill>
                  <a:srgbClr val="C00000"/>
                </a:solidFill>
              </a:rPr>
              <a:t>10lg(m)</a:t>
            </a:r>
            <a:r>
              <a:rPr lang="zh-CN" altLang="en-US" dirty="0"/>
              <a:t>的增益</a:t>
            </a:r>
            <a:endParaRPr lang="en-US" altLang="zh-CN" dirty="0"/>
          </a:p>
          <a:p>
            <a:pPr lvl="2"/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T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 </a:t>
            </a:r>
            <a:r>
              <a:rPr lang="zh-CN" altLang="en-US" dirty="0"/>
              <a:t>根发送天线</a:t>
            </a:r>
            <a:endParaRPr lang="en-US" altLang="zh-CN" dirty="0"/>
          </a:p>
          <a:p>
            <a:pPr lvl="2"/>
            <a:r>
              <a:rPr lang="en-US" altLang="zh-CN" dirty="0" err="1">
                <a:solidFill>
                  <a:srgbClr val="C00000"/>
                </a:solidFill>
              </a:rPr>
              <a:t>m</a:t>
            </a:r>
            <a:r>
              <a:rPr lang="en-US" altLang="zh-CN" dirty="0" err="1"/>
              <a:t>R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rgbClr val="C00000"/>
                </a:solidFill>
              </a:rPr>
              <a:t>m</a:t>
            </a:r>
            <a:r>
              <a:rPr lang="en-US" altLang="zh-CN" dirty="0"/>
              <a:t> </a:t>
            </a:r>
            <a:r>
              <a:rPr lang="zh-CN" altLang="en-US" dirty="0"/>
              <a:t>根接收天线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对于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T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en-US" altLang="zh-CN" dirty="0"/>
              <a:t>R</a:t>
            </a:r>
            <a:r>
              <a:rPr lang="zh-CN" altLang="en-US" dirty="0"/>
              <a:t>来说，比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T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en-US" altLang="zh-CN" dirty="0"/>
              <a:t>R</a:t>
            </a:r>
            <a:r>
              <a:rPr lang="zh-CN" altLang="en-US" dirty="0"/>
              <a:t>会有</a:t>
            </a:r>
            <a:r>
              <a:rPr lang="en-US" altLang="zh-CN" dirty="0">
                <a:solidFill>
                  <a:srgbClr val="C00000"/>
                </a:solidFill>
              </a:rPr>
              <a:t>3dB</a:t>
            </a:r>
            <a:r>
              <a:rPr lang="zh-CN" altLang="en-US" dirty="0"/>
              <a:t>的增益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3429000"/>
            <a:ext cx="8467725" cy="170497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66B856-3028-4D77-83B9-03B14E195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42247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通信距离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CSS</a:t>
            </a:r>
            <a:r>
              <a:rPr lang="zh-CN" altLang="en-US" dirty="0"/>
              <a:t>扩频</a:t>
            </a:r>
            <a:r>
              <a:rPr lang="en-US" altLang="zh-CN" dirty="0"/>
              <a:t>——LoRa</a:t>
            </a:r>
            <a:r>
              <a:rPr lang="zh-CN" altLang="en-US" dirty="0"/>
              <a:t>提升距离的技术</a:t>
            </a:r>
            <a:endParaRPr lang="en-US" altLang="zh-CN" dirty="0"/>
          </a:p>
          <a:p>
            <a:pPr lvl="1"/>
            <a:r>
              <a:rPr lang="zh-CN" altLang="en-US" dirty="0"/>
              <a:t>常见的扩频技术：</a:t>
            </a:r>
            <a:r>
              <a:rPr lang="en-US" altLang="zh-CN" dirty="0"/>
              <a:t>DSSS(</a:t>
            </a:r>
            <a:r>
              <a:rPr lang="zh-CN" altLang="en-US" dirty="0"/>
              <a:t>直接序列扩频</a:t>
            </a:r>
            <a:r>
              <a:rPr lang="en-US" altLang="zh-CN" dirty="0"/>
              <a:t>), CSS (</a:t>
            </a:r>
            <a:r>
              <a:rPr lang="zh-CN" altLang="en-US" dirty="0"/>
              <a:t>线性频变扩频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 FHSS (</a:t>
            </a:r>
            <a:r>
              <a:rPr lang="zh-CN" altLang="en-US" dirty="0"/>
              <a:t>跳频扩频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扩频技术本质上是通过增加数据</a:t>
            </a:r>
            <a:r>
              <a:rPr lang="en-US" altLang="zh-CN" dirty="0"/>
              <a:t>/</a:t>
            </a:r>
            <a:r>
              <a:rPr lang="zh-CN" altLang="en-US" dirty="0"/>
              <a:t>带宽冗余性来提升抗干扰的能力，增加解码成功率</a:t>
            </a:r>
            <a:endParaRPr lang="en-US" altLang="zh-CN" dirty="0"/>
          </a:p>
          <a:p>
            <a:pPr lvl="2"/>
            <a:r>
              <a:rPr lang="zh-CN" altLang="en-US" dirty="0"/>
              <a:t>比如，下述的</a:t>
            </a:r>
            <a:r>
              <a:rPr lang="en-US" altLang="zh-CN" dirty="0"/>
              <a:t>DSSS</a:t>
            </a:r>
            <a:r>
              <a:rPr lang="zh-CN" altLang="en-US" dirty="0"/>
              <a:t>扩频技术中，</a:t>
            </a:r>
            <a:r>
              <a:rPr lang="en-US" altLang="zh-CN" dirty="0">
                <a:solidFill>
                  <a:srgbClr val="C00000"/>
                </a:solidFill>
              </a:rPr>
              <a:t>4 bit</a:t>
            </a:r>
            <a:r>
              <a:rPr lang="zh-CN" altLang="en-US" dirty="0"/>
              <a:t>数据扩频成了</a:t>
            </a:r>
            <a:r>
              <a:rPr lang="en-US" altLang="zh-CN" dirty="0">
                <a:solidFill>
                  <a:srgbClr val="C00000"/>
                </a:solidFill>
              </a:rPr>
              <a:t>32 bit</a:t>
            </a:r>
            <a:r>
              <a:rPr lang="zh-CN" altLang="en-US" dirty="0"/>
              <a:t>的码元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3144128" y="4021511"/>
            <a:ext cx="1441938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r>
              <a:rPr kumimoji="0" lang="en-US" altLang="zh-CN" sz="24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latin typeface="Arial" charset="0"/>
              </a:rPr>
              <a:t>Byte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144128" y="4739870"/>
            <a:ext cx="696351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r>
              <a:rPr kumimoji="0" lang="en-US" altLang="zh-CN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latin typeface="Arial" charset="0"/>
              </a:rPr>
              <a:t>4 bits</a:t>
            </a: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572000" y="4021511"/>
            <a:ext cx="1441938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r>
              <a:rPr kumimoji="0" lang="en-US" altLang="zh-CN" sz="24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latin typeface="Arial" charset="0"/>
              </a:rPr>
              <a:t>Byte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856559" y="4739870"/>
            <a:ext cx="696351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r>
              <a:rPr kumimoji="0" lang="en-US" altLang="zh-CN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latin typeface="Arial" charset="0"/>
              </a:rPr>
              <a:t>4 bits</a:t>
            </a: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596618" y="4739870"/>
            <a:ext cx="696351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r>
              <a:rPr kumimoji="0" lang="en-US" altLang="zh-CN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latin typeface="Arial" charset="0"/>
              </a:rPr>
              <a:t>4 bits</a:t>
            </a: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321104" y="4739870"/>
            <a:ext cx="696351" cy="4501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r>
              <a:rPr kumimoji="0" lang="en-US" altLang="zh-CN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latin typeface="Arial" charset="0"/>
              </a:rPr>
              <a:t>4 bits</a:t>
            </a: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32607" y="5103117"/>
            <a:ext cx="609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1110</a:t>
            </a:r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 bwMode="auto">
          <a:xfrm flipH="1">
            <a:off x="3176172" y="5178312"/>
            <a:ext cx="712370" cy="5542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接箭头连接符 11"/>
          <p:cNvCxnSpPr/>
          <p:nvPr/>
        </p:nvCxnSpPr>
        <p:spPr bwMode="auto">
          <a:xfrm>
            <a:off x="4570140" y="5190036"/>
            <a:ext cx="2090231" cy="5425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文本框 12"/>
          <p:cNvSpPr txBox="1"/>
          <p:nvPr/>
        </p:nvSpPr>
        <p:spPr>
          <a:xfrm>
            <a:off x="6175295" y="4021511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baseline="0" dirty="0">
                <a:latin typeface="+mj-ea"/>
                <a:ea typeface="+mj-ea"/>
              </a:rPr>
              <a:t>二进制数据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613558" y="5438667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/>
              <a:t>32</a:t>
            </a:r>
            <a:r>
              <a:rPr lang="zh-CN" altLang="en-US" baseline="0" dirty="0"/>
              <a:t>位码元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997438" y="5773998"/>
            <a:ext cx="3766222" cy="408710"/>
            <a:chOff x="1677964" y="2944932"/>
            <a:chExt cx="3766222" cy="408710"/>
          </a:xfrm>
        </p:grpSpPr>
        <p:sp>
          <p:nvSpPr>
            <p:cNvPr id="16" name="矩形 15"/>
            <p:cNvSpPr/>
            <p:nvPr/>
          </p:nvSpPr>
          <p:spPr bwMode="auto">
            <a:xfrm>
              <a:off x="1740460" y="2973534"/>
              <a:ext cx="3619331" cy="38010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spcBef>
                  <a:spcPct val="50000"/>
                </a:spcBef>
                <a:buClr>
                  <a:schemeClr val="bg1"/>
                </a:buClr>
                <a:buSzPct val="100000"/>
              </a:pPr>
              <a:endParaRPr lang="zh-CN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1677964" y="2944932"/>
              <a:ext cx="376622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bg1"/>
                </a:buClr>
                <a:buSzPct val="100000"/>
              </a:pPr>
              <a:r>
                <a:rPr lang="en-US" altLang="zh-CN" dirty="0"/>
                <a:t>10011100001101010010001011101101</a:t>
              </a:r>
              <a:endParaRPr lang="zh-CN" altLang="en-US" dirty="0"/>
            </a:p>
          </p:txBody>
        </p:sp>
      </p:grpSp>
      <p:sp>
        <p:nvSpPr>
          <p:cNvPr id="18" name="矩形 17"/>
          <p:cNvSpPr/>
          <p:nvPr/>
        </p:nvSpPr>
        <p:spPr>
          <a:xfrm>
            <a:off x="1527637" y="5259830"/>
            <a:ext cx="19048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C0504D"/>
              </a:buClr>
            </a:pPr>
            <a:r>
              <a:rPr lang="en-US" altLang="zh-CN" b="1" dirty="0">
                <a:latin typeface="微软雅黑"/>
                <a:ea typeface="微软雅黑"/>
              </a:rPr>
              <a:t>DSSS</a:t>
            </a:r>
            <a:r>
              <a:rPr lang="zh-CN" altLang="en-US" b="1" dirty="0">
                <a:latin typeface="微软雅黑"/>
                <a:ea typeface="微软雅黑"/>
              </a:rPr>
              <a:t>扩频</a:t>
            </a:r>
            <a:endParaRPr lang="en-US" altLang="zh-CN" b="1" dirty="0">
              <a:latin typeface="微软雅黑"/>
              <a:ea typeface="微软雅黑"/>
            </a:endParaRPr>
          </a:p>
        </p:txBody>
      </p:sp>
      <p:sp>
        <p:nvSpPr>
          <p:cNvPr id="19" name="下箭头 18"/>
          <p:cNvSpPr/>
          <p:nvPr/>
        </p:nvSpPr>
        <p:spPr bwMode="auto">
          <a:xfrm>
            <a:off x="3840479" y="4518911"/>
            <a:ext cx="207280" cy="15911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0" name="下箭头 19"/>
          <p:cNvSpPr/>
          <p:nvPr/>
        </p:nvSpPr>
        <p:spPr bwMode="auto">
          <a:xfrm>
            <a:off x="5189329" y="4518911"/>
            <a:ext cx="207280" cy="15911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2029927" y="4687495"/>
            <a:ext cx="4911577" cy="154425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2" name="灯片编号占位符 4">
            <a:extLst>
              <a:ext uri="{FF2B5EF4-FFF2-40B4-BE49-F238E27FC236}">
                <a16:creationId xmlns:a16="http://schemas.microsoft.com/office/drawing/2014/main" id="{65E63106-23B2-48B3-AF2B-7FFD897A3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37273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功耗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/>
              <a:t>常见的状态：发送、接收、空闲、睡眠</a:t>
            </a:r>
            <a:endParaRPr lang="en-US" altLang="zh-CN"/>
          </a:p>
          <a:p>
            <a:r>
              <a:rPr lang="zh-CN" altLang="en-US"/>
              <a:t>较低的芯片功耗状态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r>
              <a:rPr lang="en-US" altLang="zh-CN"/>
              <a:t>NB-IoT</a:t>
            </a:r>
            <a:r>
              <a:rPr lang="zh-CN" altLang="en-US"/>
              <a:t>低功耗技术</a:t>
            </a:r>
            <a:endParaRPr lang="en-US" altLang="zh-CN"/>
          </a:p>
          <a:p>
            <a:pPr lvl="1"/>
            <a:r>
              <a:rPr lang="en-US" altLang="zh-CN"/>
              <a:t>PSM(Power Saving Mode)</a:t>
            </a:r>
            <a:r>
              <a:rPr lang="zh-CN" altLang="en-US"/>
              <a:t>机制</a:t>
            </a:r>
            <a:endParaRPr lang="en-US" altLang="zh-CN"/>
          </a:p>
          <a:p>
            <a:pPr lvl="1"/>
            <a:r>
              <a:rPr lang="en-US" altLang="zh-CN"/>
              <a:t>eDRX(extended Discontinuous Reception)</a:t>
            </a:r>
            <a:r>
              <a:rPr lang="zh-CN" altLang="en-US"/>
              <a:t>增长的休眠时间</a:t>
            </a:r>
            <a:endParaRPr lang="en-US" altLang="zh-CN"/>
          </a:p>
          <a:p>
            <a:r>
              <a:rPr lang="en-US" altLang="zh-CN"/>
              <a:t>LoRaWAN</a:t>
            </a:r>
            <a:r>
              <a:rPr lang="zh-CN" altLang="en-US"/>
              <a:t>低功耗技术</a:t>
            </a:r>
            <a:endParaRPr lang="en-US" altLang="zh-CN"/>
          </a:p>
          <a:p>
            <a:pPr lvl="1"/>
            <a:r>
              <a:rPr lang="zh-CN" altLang="en-US"/>
              <a:t>低功耗</a:t>
            </a:r>
            <a:r>
              <a:rPr lang="en-US" altLang="zh-CN"/>
              <a:t>MAC</a:t>
            </a:r>
            <a:r>
              <a:rPr lang="zh-CN" altLang="en-US"/>
              <a:t>协议</a:t>
            </a:r>
            <a:r>
              <a:rPr lang="en-US" altLang="zh-CN"/>
              <a:t>(Class A, Class B)</a:t>
            </a:r>
          </a:p>
          <a:p>
            <a:endParaRPr lang="en-US" altLang="zh-CN"/>
          </a:p>
          <a:p>
            <a:pPr lvl="2"/>
            <a:endParaRPr lang="en-US" altLang="zh-CN"/>
          </a:p>
          <a:p>
            <a:endParaRPr lang="en-US" altLang="zh-CN"/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45324"/>
              </p:ext>
            </p:extLst>
          </p:nvPr>
        </p:nvGraphicFramePr>
        <p:xfrm>
          <a:off x="387350" y="2061010"/>
          <a:ext cx="8369300" cy="1188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30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1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7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发送状态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空闲状态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接收状态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睡眠状态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NB-IoT(3.6V)</a:t>
                      </a:r>
                      <a:endParaRPr lang="zh-CN" altLang="en-US" sz="20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+26dBm,120mA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1mA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50mA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5uA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/>
                        <a:t>LoRa</a:t>
                      </a:r>
                      <a:r>
                        <a:rPr lang="en-US" altLang="zh-CN" sz="2000" dirty="0"/>
                        <a:t>(3.3V)</a:t>
                      </a:r>
                      <a:endParaRPr lang="zh-CN" altLang="en-US" sz="20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+20dBm, 120mA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1.5uA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12mA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0.2uA</a:t>
                      </a:r>
                      <a:endParaRPr lang="zh-CN" altLang="en-US" sz="20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6049B7-0330-4D4F-AF27-5950A81CD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1555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功耗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en-US" altLang="zh-CN" dirty="0"/>
              <a:t>NB-IoT</a:t>
            </a:r>
            <a:r>
              <a:rPr lang="zh-CN" altLang="en-US" dirty="0"/>
              <a:t>的</a:t>
            </a:r>
            <a:r>
              <a:rPr lang="en-US" altLang="zh-CN" dirty="0">
                <a:solidFill>
                  <a:srgbClr val="C00000"/>
                </a:solidFill>
              </a:rPr>
              <a:t>PSM</a:t>
            </a:r>
            <a:r>
              <a:rPr lang="zh-CN" altLang="en-US" dirty="0"/>
              <a:t>机制下，不同的功耗状态</a:t>
            </a:r>
            <a:endParaRPr lang="en-US" altLang="zh-CN" dirty="0"/>
          </a:p>
          <a:p>
            <a:pPr lvl="1"/>
            <a:r>
              <a:rPr lang="en-US" altLang="zh-CN" dirty="0"/>
              <a:t>PSM: </a:t>
            </a:r>
            <a:r>
              <a:rPr lang="zh-CN" altLang="en-US" dirty="0"/>
              <a:t>深度睡眠状态，</a:t>
            </a:r>
            <a:r>
              <a:rPr lang="en-US" altLang="zh-CN" dirty="0"/>
              <a:t>UE </a:t>
            </a:r>
            <a:r>
              <a:rPr lang="zh-CN" altLang="en-US" dirty="0"/>
              <a:t>不能被访问</a:t>
            </a:r>
            <a:endParaRPr lang="en-US" altLang="zh-CN" dirty="0"/>
          </a:p>
          <a:p>
            <a:pPr lvl="1"/>
            <a:r>
              <a:rPr lang="en-US" altLang="zh-CN" dirty="0"/>
              <a:t>Idle: </a:t>
            </a:r>
            <a:r>
              <a:rPr lang="zh-CN" altLang="en-US" dirty="0"/>
              <a:t>做周期性寻呼，</a:t>
            </a:r>
            <a:r>
              <a:rPr lang="en-US" altLang="zh-CN" dirty="0"/>
              <a:t>UE </a:t>
            </a:r>
            <a:r>
              <a:rPr lang="zh-CN" altLang="en-US" dirty="0"/>
              <a:t>可以被访问，因为</a:t>
            </a:r>
            <a:r>
              <a:rPr lang="en-US" altLang="zh-CN" dirty="0"/>
              <a:t>UE</a:t>
            </a:r>
            <a:r>
              <a:rPr lang="zh-CN" altLang="en-US" dirty="0"/>
              <a:t>会周期性醒来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红色：发送状态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120mA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黑色：空闲状态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1mA</a:t>
            </a:r>
            <a:r>
              <a:rPr lang="en-US" altLang="zh-CN" dirty="0"/>
              <a:t>) </a:t>
            </a:r>
          </a:p>
          <a:p>
            <a:pPr lvl="1"/>
            <a:r>
              <a:rPr lang="zh-CN" altLang="en-US" dirty="0"/>
              <a:t>灰色：</a:t>
            </a:r>
            <a:r>
              <a:rPr lang="en-US" altLang="zh-CN" dirty="0"/>
              <a:t>PSM</a:t>
            </a:r>
            <a:r>
              <a:rPr lang="zh-CN" altLang="en-US" dirty="0"/>
              <a:t>状态 </a:t>
            </a:r>
            <a:r>
              <a:rPr lang="en-US" altLang="zh-CN" dirty="0"/>
              <a:t>(</a:t>
            </a:r>
            <a:r>
              <a:rPr lang="zh-CN" altLang="en-US" dirty="0"/>
              <a:t>睡眠状态</a:t>
            </a:r>
            <a:r>
              <a:rPr lang="en-US" altLang="zh-CN" dirty="0"/>
              <a:t>)(</a:t>
            </a:r>
            <a:r>
              <a:rPr lang="en-US" altLang="zh-CN" dirty="0">
                <a:solidFill>
                  <a:srgbClr val="C00000"/>
                </a:solidFill>
              </a:rPr>
              <a:t>5</a:t>
            </a:r>
            <a:r>
              <a:rPr lang="el-GR" altLang="zh-CN" dirty="0">
                <a:solidFill>
                  <a:srgbClr val="C00000"/>
                </a:solidFill>
              </a:rPr>
              <a:t>μ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蓝色：接收状态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50mA</a:t>
            </a:r>
            <a:r>
              <a:rPr lang="en-US" altLang="zh-CN" dirty="0"/>
              <a:t>)</a:t>
            </a:r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775" y="2364662"/>
            <a:ext cx="6306451" cy="2128676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1C3D287-D90C-4E4A-A026-A57249C48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00455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功耗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en-US" altLang="zh-CN" dirty="0"/>
              <a:t>NB-IoT</a:t>
            </a:r>
            <a:r>
              <a:rPr lang="zh-CN" altLang="en-US" dirty="0"/>
              <a:t>低功耗技术：</a:t>
            </a:r>
            <a:r>
              <a:rPr lang="en-US" altLang="zh-CN" dirty="0"/>
              <a:t>PSM </a:t>
            </a:r>
            <a:r>
              <a:rPr lang="zh-CN" altLang="en-US" dirty="0"/>
              <a:t>机制状态转换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pPr lvl="1"/>
            <a:r>
              <a:rPr lang="en-US" altLang="zh-CN" dirty="0"/>
              <a:t>TAU</a:t>
            </a:r>
            <a:r>
              <a:rPr lang="zh-CN" altLang="en-US" dirty="0"/>
              <a:t>：</a:t>
            </a:r>
            <a:r>
              <a:rPr lang="en-US" altLang="zh-CN" dirty="0"/>
              <a:t>(Tracking Area Update)</a:t>
            </a:r>
            <a:r>
              <a:rPr lang="zh-CN" altLang="en-US" dirty="0"/>
              <a:t>，当终端在空闲状态的寻呼监听中发现自己所处的</a:t>
            </a:r>
            <a:r>
              <a:rPr lang="en-US" altLang="zh-CN" dirty="0"/>
              <a:t>tracking area id </a:t>
            </a:r>
            <a:r>
              <a:rPr lang="zh-CN" altLang="en-US" dirty="0"/>
              <a:t>变化时，需要向基站发起</a:t>
            </a:r>
            <a:r>
              <a:rPr lang="en-US" altLang="zh-CN" dirty="0"/>
              <a:t>TAU</a:t>
            </a:r>
            <a:r>
              <a:rPr lang="zh-CN" altLang="en-US" dirty="0"/>
              <a:t>请求，更新自己的相关参数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953986"/>
            <a:ext cx="8610600" cy="2514600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845944-E844-4BD1-AEA4-C6E362A75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74292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功耗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低功耗技术：</a:t>
            </a:r>
            <a:r>
              <a:rPr lang="en-US" altLang="zh-CN" dirty="0" err="1">
                <a:solidFill>
                  <a:srgbClr val="C00000"/>
                </a:solidFill>
              </a:rPr>
              <a:t>eDRX</a:t>
            </a:r>
            <a:r>
              <a:rPr lang="zh-CN" altLang="en-US" dirty="0"/>
              <a:t>机制</a:t>
            </a:r>
            <a:endParaRPr lang="en-US" altLang="zh-CN" dirty="0"/>
          </a:p>
          <a:p>
            <a:pPr lvl="1"/>
            <a:r>
              <a:rPr lang="en-US" altLang="zh-CN" dirty="0"/>
              <a:t>DRX = Discontinuous Reception</a:t>
            </a:r>
            <a:r>
              <a:rPr lang="zh-CN" altLang="en-US" dirty="0"/>
              <a:t>，非连续接收</a:t>
            </a:r>
            <a:endParaRPr lang="en-US" altLang="zh-CN" dirty="0"/>
          </a:p>
          <a:p>
            <a:pPr lvl="1"/>
            <a:r>
              <a:rPr lang="en-US" altLang="zh-CN" dirty="0" err="1"/>
              <a:t>eDRX</a:t>
            </a:r>
            <a:r>
              <a:rPr lang="en-US" altLang="zh-CN" dirty="0"/>
              <a:t> = extended Discontinuous Reception</a:t>
            </a:r>
            <a:r>
              <a:rPr lang="zh-CN" altLang="en-US" dirty="0"/>
              <a:t>，增长的非连续接收</a:t>
            </a:r>
            <a:endParaRPr lang="en-US" altLang="zh-CN" dirty="0"/>
          </a:p>
          <a:p>
            <a:pPr lvl="1"/>
            <a:r>
              <a:rPr lang="en-US" altLang="zh-CN" dirty="0"/>
              <a:t>DRX</a:t>
            </a:r>
            <a:r>
              <a:rPr lang="zh-CN" altLang="en-US" dirty="0"/>
              <a:t>默认寻呼周期为</a:t>
            </a:r>
            <a:r>
              <a:rPr lang="en-US" altLang="zh-CN" dirty="0">
                <a:solidFill>
                  <a:srgbClr val="C00000"/>
                </a:solidFill>
              </a:rPr>
              <a:t>1.28s</a:t>
            </a:r>
            <a:r>
              <a:rPr lang="en-US" altLang="zh-CN" dirty="0"/>
              <a:t>, </a:t>
            </a:r>
            <a:r>
              <a:rPr lang="en-US" altLang="zh-CN" dirty="0" err="1"/>
              <a:t>eDRX</a:t>
            </a:r>
            <a:r>
              <a:rPr lang="zh-CN" altLang="en-US" dirty="0"/>
              <a:t>最长可达</a:t>
            </a:r>
            <a:r>
              <a:rPr lang="en-US" altLang="zh-CN" dirty="0">
                <a:solidFill>
                  <a:srgbClr val="C00000"/>
                </a:solidFill>
              </a:rPr>
              <a:t>2.92h</a:t>
            </a:r>
          </a:p>
          <a:p>
            <a:pPr lvl="2"/>
            <a:r>
              <a:rPr lang="zh-CN" altLang="en-US" dirty="0"/>
              <a:t>在下行数据发送频率小时，通过核心网和终端的协商配合，终端跳过大部分的寻呼监听，从而达到省电的目的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76" y="4079536"/>
            <a:ext cx="6466448" cy="2437533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927B93-E256-4EE9-B931-A11D242AD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72328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功耗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低功耗技术总结</a:t>
            </a:r>
            <a:endParaRPr lang="en-US" altLang="zh-CN"/>
          </a:p>
          <a:p>
            <a:pPr lvl="1"/>
            <a:r>
              <a:rPr lang="en-US" altLang="zh-CN"/>
              <a:t>PSM</a:t>
            </a:r>
            <a:r>
              <a:rPr lang="zh-CN" altLang="en-US"/>
              <a:t>和</a:t>
            </a:r>
            <a:r>
              <a:rPr lang="en-US" altLang="zh-CN"/>
              <a:t>eDRX</a:t>
            </a:r>
            <a:r>
              <a:rPr lang="zh-CN" altLang="en-US"/>
              <a:t>都是属于</a:t>
            </a:r>
            <a:r>
              <a:rPr lang="en-US" altLang="zh-CN"/>
              <a:t>3GPP</a:t>
            </a:r>
            <a:r>
              <a:rPr lang="zh-CN" altLang="en-US"/>
              <a:t>协议中的技术，且对</a:t>
            </a:r>
            <a:r>
              <a:rPr lang="en-US" altLang="zh-CN"/>
              <a:t>NB-IoT</a:t>
            </a:r>
            <a:r>
              <a:rPr lang="zh-CN" altLang="en-US"/>
              <a:t>和</a:t>
            </a:r>
            <a:r>
              <a:rPr lang="en-US" altLang="zh-CN"/>
              <a:t>eMTC</a:t>
            </a:r>
            <a:r>
              <a:rPr lang="zh-CN" altLang="en-US"/>
              <a:t>都是适用的</a:t>
            </a:r>
          </a:p>
          <a:p>
            <a:pPr lvl="1"/>
            <a:r>
              <a:rPr lang="zh-CN" altLang="en-US"/>
              <a:t>相比较而言，</a:t>
            </a:r>
            <a:r>
              <a:rPr lang="en-US" altLang="zh-CN"/>
              <a:t>eDRX</a:t>
            </a:r>
            <a:r>
              <a:rPr lang="zh-CN" altLang="en-US"/>
              <a:t>（</a:t>
            </a:r>
            <a:r>
              <a:rPr lang="en-US" altLang="zh-CN"/>
              <a:t>idle</a:t>
            </a:r>
            <a:r>
              <a:rPr lang="zh-CN" altLang="en-US"/>
              <a:t>，</a:t>
            </a:r>
            <a:r>
              <a:rPr lang="en-US" altLang="zh-CN">
                <a:solidFill>
                  <a:srgbClr val="C00000"/>
                </a:solidFill>
              </a:rPr>
              <a:t>1mA</a:t>
            </a:r>
            <a:r>
              <a:rPr lang="zh-CN" altLang="en-US"/>
              <a:t>）的省电效果差些，但是实时性好些</a:t>
            </a:r>
            <a:r>
              <a:rPr lang="en-US" altLang="zh-CN"/>
              <a:t>(PSM, </a:t>
            </a:r>
            <a:r>
              <a:rPr lang="en-US" altLang="zh-CN">
                <a:solidFill>
                  <a:srgbClr val="C00000"/>
                </a:solidFill>
              </a:rPr>
              <a:t>5</a:t>
            </a:r>
            <a:r>
              <a:rPr lang="el-GR" altLang="zh-CN">
                <a:solidFill>
                  <a:srgbClr val="C00000"/>
                </a:solidFill>
              </a:rPr>
              <a:t>μ</a:t>
            </a:r>
            <a:r>
              <a:rPr lang="en-US" altLang="zh-CN">
                <a:solidFill>
                  <a:srgbClr val="C00000"/>
                </a:solidFill>
              </a:rPr>
              <a:t>A</a:t>
            </a:r>
            <a:r>
              <a:rPr lang="en-US" altLang="zh-CN"/>
              <a:t>)</a:t>
            </a:r>
          </a:p>
          <a:p>
            <a:pPr lvl="1"/>
            <a:r>
              <a:rPr lang="zh-CN" altLang="en-US"/>
              <a:t>如果终端每天发送一次</a:t>
            </a:r>
            <a:r>
              <a:rPr lang="en-US" altLang="zh-CN">
                <a:solidFill>
                  <a:srgbClr val="C00000"/>
                </a:solidFill>
              </a:rPr>
              <a:t>200byte</a:t>
            </a:r>
            <a:r>
              <a:rPr lang="zh-CN" altLang="en-US"/>
              <a:t>报文，</a:t>
            </a:r>
            <a:r>
              <a:rPr lang="en-US" altLang="zh-CN"/>
              <a:t>5</a:t>
            </a:r>
            <a:r>
              <a:rPr lang="zh-CN" altLang="en-US"/>
              <a:t>瓦时电池寿命可达</a:t>
            </a:r>
            <a:r>
              <a:rPr lang="en-US" altLang="zh-CN">
                <a:solidFill>
                  <a:srgbClr val="C00000"/>
                </a:solidFill>
              </a:rPr>
              <a:t>12.8</a:t>
            </a:r>
            <a:r>
              <a:rPr lang="zh-CN" altLang="en-US"/>
              <a:t>年</a:t>
            </a:r>
          </a:p>
          <a:p>
            <a:pPr lvl="1"/>
            <a:r>
              <a:rPr lang="zh-CN" altLang="en-US"/>
              <a:t>中国移动目前的策略是</a:t>
            </a:r>
            <a:r>
              <a:rPr lang="en-US" altLang="zh-CN"/>
              <a:t>PSM</a:t>
            </a:r>
            <a:r>
              <a:rPr lang="zh-CN" altLang="en-US"/>
              <a:t>为必选项，目前现网试点中主要开的也是</a:t>
            </a:r>
            <a:r>
              <a:rPr lang="en-US" altLang="zh-CN"/>
              <a:t>PSM</a:t>
            </a:r>
            <a:r>
              <a:rPr lang="zh-CN" altLang="en-US"/>
              <a:t>技术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AA39B90E-231F-4AA0-9C3C-280416FD1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92856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功耗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低功耗技术：低功耗</a:t>
            </a:r>
            <a:r>
              <a:rPr lang="en-US" altLang="zh-CN" dirty="0">
                <a:solidFill>
                  <a:srgbClr val="C00000"/>
                </a:solidFill>
              </a:rPr>
              <a:t>MAC</a:t>
            </a:r>
            <a:r>
              <a:rPr lang="zh-CN" altLang="en-US" dirty="0"/>
              <a:t>技术</a:t>
            </a:r>
            <a:endParaRPr lang="en-US" altLang="zh-CN" dirty="0"/>
          </a:p>
          <a:p>
            <a:pPr lvl="1"/>
            <a:r>
              <a:rPr lang="en-US" altLang="zh-CN" dirty="0" err="1"/>
              <a:t>LoRaWAN</a:t>
            </a:r>
            <a:r>
              <a:rPr lang="zh-CN" altLang="en-US" dirty="0"/>
              <a:t>定义了三种</a:t>
            </a:r>
            <a:r>
              <a:rPr lang="en-US" altLang="zh-CN" dirty="0"/>
              <a:t>MAC</a:t>
            </a:r>
            <a:r>
              <a:rPr lang="zh-CN" altLang="en-US" dirty="0"/>
              <a:t>类型（</a:t>
            </a:r>
            <a:r>
              <a:rPr lang="en-US" altLang="zh-CN" dirty="0"/>
              <a:t>A,B,C</a:t>
            </a:r>
            <a:r>
              <a:rPr lang="zh-CN" altLang="en-US" dirty="0"/>
              <a:t>），其中两种是低功耗的</a:t>
            </a:r>
            <a:r>
              <a:rPr lang="en-US" altLang="zh-CN" dirty="0"/>
              <a:t>MAC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</a:p>
          <a:p>
            <a:pPr lvl="1"/>
            <a:r>
              <a:rPr lang="en-US" altLang="zh-CN" dirty="0"/>
              <a:t>Class A,</a:t>
            </a:r>
            <a:r>
              <a:rPr lang="zh-CN" altLang="en-US" dirty="0"/>
              <a:t>设备初始化</a:t>
            </a:r>
            <a:r>
              <a:rPr lang="en-US" altLang="zh-CN" dirty="0"/>
              <a:t>. (RxDelay1&gt;= 1s, RxDelay2=1s)</a:t>
            </a:r>
          </a:p>
          <a:p>
            <a:pPr lvl="1"/>
            <a:r>
              <a:rPr lang="en-US" altLang="zh-CN" dirty="0"/>
              <a:t>Class B,</a:t>
            </a:r>
            <a:r>
              <a:rPr lang="zh-CN" altLang="en-US" dirty="0"/>
              <a:t>设备初始化</a:t>
            </a:r>
            <a:r>
              <a:rPr lang="en-US" altLang="zh-CN" dirty="0"/>
              <a:t> + </a:t>
            </a:r>
            <a:r>
              <a:rPr lang="zh-CN" altLang="en-US" dirty="0"/>
              <a:t>监听窗口</a:t>
            </a:r>
            <a:endParaRPr lang="en-US" altLang="zh-CN" dirty="0"/>
          </a:p>
          <a:p>
            <a:pPr lvl="1"/>
            <a:r>
              <a:rPr lang="zh-CN" altLang="en-US" dirty="0"/>
              <a:t>严格的</a:t>
            </a:r>
            <a:r>
              <a:rPr lang="en-US" altLang="zh-CN" dirty="0"/>
              <a:t>duty cycle</a:t>
            </a:r>
            <a:r>
              <a:rPr lang="zh-CN" altLang="en-US" dirty="0"/>
              <a:t>控制</a:t>
            </a:r>
            <a:endParaRPr lang="en-US" altLang="zh-CN" dirty="0"/>
          </a:p>
          <a:p>
            <a:pPr lvl="2"/>
            <a:r>
              <a:rPr lang="zh-CN" altLang="en-US" dirty="0"/>
              <a:t>比如，</a:t>
            </a:r>
            <a:r>
              <a:rPr lang="en-US" altLang="zh-CN" dirty="0"/>
              <a:t>LoRa</a:t>
            </a:r>
            <a:r>
              <a:rPr lang="zh-CN" altLang="en-US" dirty="0"/>
              <a:t>设备在某个信道上发送了</a:t>
            </a:r>
            <a:r>
              <a:rPr lang="en-US" altLang="zh-CN" dirty="0">
                <a:solidFill>
                  <a:srgbClr val="C00000"/>
                </a:solidFill>
              </a:rPr>
              <a:t>0.5s </a:t>
            </a:r>
            <a:r>
              <a:rPr lang="zh-CN" altLang="en-US" dirty="0"/>
              <a:t>长的数据后，由于该信道</a:t>
            </a:r>
            <a:r>
              <a:rPr lang="en-US" altLang="zh-CN" dirty="0">
                <a:solidFill>
                  <a:srgbClr val="C00000"/>
                </a:solidFill>
              </a:rPr>
              <a:t>1% </a:t>
            </a:r>
            <a:r>
              <a:rPr lang="en-US" altLang="zh-CN" dirty="0"/>
              <a:t>duty cycle</a:t>
            </a:r>
            <a:r>
              <a:rPr lang="zh-CN" altLang="en-US" dirty="0"/>
              <a:t>的限制，该设备需等待</a:t>
            </a:r>
            <a:r>
              <a:rPr lang="en-US" altLang="zh-CN" dirty="0">
                <a:solidFill>
                  <a:srgbClr val="C00000"/>
                </a:solidFill>
              </a:rPr>
              <a:t>49.5s</a:t>
            </a:r>
            <a:r>
              <a:rPr lang="zh-CN" altLang="en-US" dirty="0"/>
              <a:t>之后才能再次在同一个信道上发送数据。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848054" y="6159875"/>
            <a:ext cx="1228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/>
              <a:t>Class A</a:t>
            </a:r>
            <a:endParaRPr lang="zh-CN" altLang="en-US" baseline="0" dirty="0"/>
          </a:p>
        </p:txBody>
      </p:sp>
      <p:sp>
        <p:nvSpPr>
          <p:cNvPr id="9" name="文本框 8"/>
          <p:cNvSpPr txBox="1"/>
          <p:nvPr/>
        </p:nvSpPr>
        <p:spPr>
          <a:xfrm>
            <a:off x="6092186" y="6159875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/>
              <a:t>Class B</a:t>
            </a:r>
            <a:endParaRPr lang="zh-CN" altLang="en-US" baseline="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l="19468" t="1517" b="4340"/>
          <a:stretch/>
        </p:blipFill>
        <p:spPr>
          <a:xfrm>
            <a:off x="394597" y="4996535"/>
            <a:ext cx="4214738" cy="1020296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743426" y="4959057"/>
            <a:ext cx="3943374" cy="1051764"/>
            <a:chOff x="4397018" y="4750731"/>
            <a:chExt cx="4746982" cy="126610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4"/>
            <a:srcRect l="24471" b="4997"/>
            <a:stretch/>
          </p:blipFill>
          <p:spPr>
            <a:xfrm>
              <a:off x="4397018" y="4750731"/>
              <a:ext cx="4746982" cy="126610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 bwMode="auto">
            <a:xfrm>
              <a:off x="4582522" y="4891253"/>
              <a:ext cx="553209" cy="4808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8409118" y="4891252"/>
              <a:ext cx="578410" cy="48084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7C95D62A-EBDB-4E05-86F8-6C244FD78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08725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数据率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LPWAN</a:t>
            </a:r>
            <a:r>
              <a:rPr lang="zh-CN" altLang="en-US"/>
              <a:t>适用于数据传输延迟不敏感的场景，比如远程抄表，因此，其数据率相对较低。</a:t>
            </a:r>
            <a:endParaRPr lang="en-US" altLang="zh-CN"/>
          </a:p>
          <a:p>
            <a:r>
              <a:rPr lang="zh-CN" altLang="en-US"/>
              <a:t>最大的物理层数据率</a:t>
            </a:r>
            <a:endParaRPr lang="en-US" altLang="zh-CN"/>
          </a:p>
          <a:p>
            <a:pPr lvl="1"/>
            <a:r>
              <a:rPr lang="en-US" altLang="zh-CN"/>
              <a:t>NB-IoT</a:t>
            </a:r>
            <a:r>
              <a:rPr lang="zh-CN" altLang="en-US"/>
              <a:t>上行为</a:t>
            </a:r>
            <a:r>
              <a:rPr lang="en-US" altLang="zh-CN">
                <a:solidFill>
                  <a:srgbClr val="C00000"/>
                </a:solidFill>
              </a:rPr>
              <a:t>250kbps</a:t>
            </a:r>
            <a:r>
              <a:rPr lang="en-US" altLang="zh-CN"/>
              <a:t>, </a:t>
            </a:r>
            <a:r>
              <a:rPr lang="zh-CN" altLang="en-US"/>
              <a:t>下行为 </a:t>
            </a:r>
            <a:r>
              <a:rPr lang="en-US" altLang="zh-CN">
                <a:solidFill>
                  <a:srgbClr val="C00000"/>
                </a:solidFill>
              </a:rPr>
              <a:t>226.7kbps</a:t>
            </a:r>
            <a:endParaRPr lang="en-US" altLang="zh-CN"/>
          </a:p>
          <a:p>
            <a:pPr lvl="1"/>
            <a:r>
              <a:rPr lang="en-US" altLang="zh-CN"/>
              <a:t>LoRaWAN</a:t>
            </a:r>
            <a:r>
              <a:rPr lang="zh-CN" altLang="en-US"/>
              <a:t>上行和下行一样，最高为</a:t>
            </a:r>
            <a:r>
              <a:rPr lang="en-US" altLang="zh-CN">
                <a:solidFill>
                  <a:srgbClr val="C00000"/>
                </a:solidFill>
              </a:rPr>
              <a:t>5.470kbps</a:t>
            </a:r>
            <a:endParaRPr lang="en-US" altLang="zh-CN"/>
          </a:p>
          <a:p>
            <a:r>
              <a:rPr lang="zh-CN" altLang="en-US"/>
              <a:t>实际的数据率将会更低</a:t>
            </a:r>
            <a:endParaRPr lang="en-US" altLang="zh-CN"/>
          </a:p>
          <a:p>
            <a:pPr lvl="1"/>
            <a:r>
              <a:rPr lang="en-US" altLang="zh-CN"/>
              <a:t>NB-IoT</a:t>
            </a:r>
            <a:r>
              <a:rPr lang="zh-CN" altLang="en-US"/>
              <a:t>规定了上行和下行的不同类型数据包的传输间隔，比如，基站发完下行数据后，</a:t>
            </a:r>
            <a:r>
              <a:rPr lang="en-US" altLang="zh-CN"/>
              <a:t> UE</a:t>
            </a:r>
            <a:r>
              <a:rPr lang="zh-CN" altLang="en-US"/>
              <a:t>至少间隔</a:t>
            </a:r>
            <a:r>
              <a:rPr lang="en-US" altLang="zh-CN">
                <a:solidFill>
                  <a:srgbClr val="C00000"/>
                </a:solidFill>
              </a:rPr>
              <a:t>12ms</a:t>
            </a:r>
            <a:r>
              <a:rPr lang="zh-CN" altLang="en-US"/>
              <a:t>才能反馈</a:t>
            </a:r>
            <a:r>
              <a:rPr lang="en-US" altLang="zh-CN"/>
              <a:t>ACK/NACK</a:t>
            </a:r>
            <a:r>
              <a:rPr lang="zh-CN" altLang="en-US"/>
              <a:t>数据包。因此，实际使用中，</a:t>
            </a:r>
            <a:r>
              <a:rPr lang="en-US" altLang="zh-CN"/>
              <a:t>NB-IoT</a:t>
            </a:r>
            <a:r>
              <a:rPr lang="zh-CN" altLang="en-US"/>
              <a:t>的下行一般为</a:t>
            </a:r>
            <a:r>
              <a:rPr lang="en-US" altLang="zh-CN">
                <a:solidFill>
                  <a:srgbClr val="C00000"/>
                </a:solidFill>
              </a:rPr>
              <a:t>27.2kbps</a:t>
            </a:r>
            <a:r>
              <a:rPr lang="zh-CN" altLang="en-US"/>
              <a:t>，而上行一般为</a:t>
            </a:r>
            <a:r>
              <a:rPr lang="en-US" altLang="zh-CN">
                <a:solidFill>
                  <a:srgbClr val="C00000"/>
                </a:solidFill>
              </a:rPr>
              <a:t>62.5kbps</a:t>
            </a:r>
            <a:endParaRPr lang="en-US" altLang="zh-CN"/>
          </a:p>
          <a:p>
            <a:pPr lvl="1"/>
            <a:r>
              <a:rPr lang="en-US" altLang="zh-CN"/>
              <a:t>LoRaWAN </a:t>
            </a:r>
            <a:r>
              <a:rPr lang="zh-CN" altLang="en-US"/>
              <a:t>对信道使用有严格的</a:t>
            </a:r>
            <a:r>
              <a:rPr lang="en-US" altLang="zh-CN"/>
              <a:t>duty cycle</a:t>
            </a:r>
            <a:r>
              <a:rPr lang="zh-CN" altLang="en-US"/>
              <a:t>限制。比如</a:t>
            </a:r>
            <a:r>
              <a:rPr lang="en-US" altLang="zh-CN"/>
              <a:t>, </a:t>
            </a:r>
            <a:r>
              <a:rPr lang="en-US" altLang="zh-CN">
                <a:solidFill>
                  <a:srgbClr val="C00000"/>
                </a:solidFill>
              </a:rPr>
              <a:t>1%</a:t>
            </a:r>
            <a:r>
              <a:rPr lang="zh-CN" altLang="en-US"/>
              <a:t>的信道使用限制，数据率则只能达到</a:t>
            </a:r>
            <a:r>
              <a:rPr lang="en-US" altLang="zh-CN">
                <a:solidFill>
                  <a:srgbClr val="C00000"/>
                </a:solidFill>
              </a:rPr>
              <a:t>54.7bps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88808FE6-94A4-4751-8F31-B442C9D0E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02172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频段分配与使用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LPWAN</a:t>
            </a:r>
            <a:r>
              <a:rPr lang="zh-CN" altLang="en-US" dirty="0"/>
              <a:t>中使用了不同的频段类型 </a:t>
            </a:r>
            <a:r>
              <a:rPr lang="en-US" altLang="zh-CN" dirty="0"/>
              <a:t>(</a:t>
            </a:r>
            <a:r>
              <a:rPr lang="zh-CN" altLang="en-US" dirty="0"/>
              <a:t>授权与非授权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 err="1"/>
              <a:t>LoRaWAN</a:t>
            </a:r>
            <a:r>
              <a:rPr lang="zh-CN" altLang="en-US" dirty="0"/>
              <a:t>使用了非授权频段</a:t>
            </a:r>
            <a:r>
              <a:rPr lang="en-US" altLang="zh-CN" dirty="0"/>
              <a:t>, </a:t>
            </a:r>
            <a:r>
              <a:rPr lang="zh-CN" altLang="en-US" dirty="0"/>
              <a:t>分配给中国的是上行</a:t>
            </a:r>
            <a:r>
              <a:rPr lang="en-US" altLang="zh-CN" dirty="0">
                <a:solidFill>
                  <a:srgbClr val="C00000"/>
                </a:solidFill>
              </a:rPr>
              <a:t>470.3 ~ 489.3MHz</a:t>
            </a:r>
            <a:r>
              <a:rPr lang="en-US" altLang="zh-CN" dirty="0"/>
              <a:t> (</a:t>
            </a:r>
            <a:r>
              <a:rPr lang="zh-CN" altLang="en-US" dirty="0"/>
              <a:t>共</a:t>
            </a:r>
            <a:r>
              <a:rPr lang="en-US" altLang="zh-CN" dirty="0"/>
              <a:t>30</a:t>
            </a:r>
            <a:r>
              <a:rPr lang="zh-CN" altLang="en-US" dirty="0"/>
              <a:t>个</a:t>
            </a:r>
            <a:r>
              <a:rPr lang="en-US" altLang="zh-CN" dirty="0"/>
              <a:t>)</a:t>
            </a:r>
            <a:r>
              <a:rPr lang="zh-CN" altLang="en-US" dirty="0"/>
              <a:t>，下行</a:t>
            </a:r>
            <a:r>
              <a:rPr lang="en-US" altLang="zh-CN" dirty="0">
                <a:solidFill>
                  <a:srgbClr val="C00000"/>
                </a:solidFill>
              </a:rPr>
              <a:t>500.3~509.7MHz</a:t>
            </a:r>
            <a:r>
              <a:rPr lang="en-US" altLang="zh-CN" dirty="0"/>
              <a:t>(48</a:t>
            </a:r>
            <a:r>
              <a:rPr lang="zh-CN" altLang="en-US" dirty="0"/>
              <a:t>个信道</a:t>
            </a:r>
            <a:r>
              <a:rPr lang="en-US" altLang="zh-CN" dirty="0"/>
              <a:t>), </a:t>
            </a:r>
            <a:r>
              <a:rPr lang="zh-CN" altLang="en-US" dirty="0"/>
              <a:t>带宽都是</a:t>
            </a:r>
            <a:r>
              <a:rPr lang="en-US" altLang="zh-CN" dirty="0">
                <a:solidFill>
                  <a:srgbClr val="C00000"/>
                </a:solidFill>
              </a:rPr>
              <a:t>200kHz</a:t>
            </a:r>
            <a:r>
              <a:rPr lang="zh-CN" altLang="en-US" dirty="0"/>
              <a:t>。实际上</a:t>
            </a:r>
            <a:r>
              <a:rPr lang="en-US" altLang="zh-CN" dirty="0"/>
              <a:t>LoRa</a:t>
            </a:r>
            <a:r>
              <a:rPr lang="zh-CN" altLang="en-US" dirty="0"/>
              <a:t>调制使用的带宽为</a:t>
            </a:r>
            <a:r>
              <a:rPr lang="en-US" altLang="zh-CN" dirty="0">
                <a:solidFill>
                  <a:srgbClr val="C00000"/>
                </a:solidFill>
              </a:rPr>
              <a:t>125kHz</a:t>
            </a:r>
            <a:r>
              <a:rPr lang="zh-CN" altLang="en-US" dirty="0"/>
              <a:t>，存在保护带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NB-IoT</a:t>
            </a:r>
            <a:r>
              <a:rPr lang="zh-CN" altLang="en-US" dirty="0"/>
              <a:t>使用了授权频段</a:t>
            </a:r>
            <a:endParaRPr lang="en-US" altLang="zh-CN" dirty="0"/>
          </a:p>
          <a:p>
            <a:pPr lvl="2"/>
            <a:r>
              <a:rPr lang="zh-CN" altLang="en-US" dirty="0"/>
              <a:t>系统带宽为</a:t>
            </a:r>
            <a:r>
              <a:rPr lang="en-US" altLang="zh-CN" dirty="0"/>
              <a:t>200kHz, </a:t>
            </a:r>
            <a:r>
              <a:rPr lang="zh-CN" altLang="en-US" dirty="0"/>
              <a:t>传输带宽为</a:t>
            </a:r>
            <a:r>
              <a:rPr lang="en-US" altLang="zh-CN" dirty="0"/>
              <a:t>180kHz</a:t>
            </a:r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519697"/>
              </p:ext>
            </p:extLst>
          </p:nvPr>
        </p:nvGraphicFramePr>
        <p:xfrm>
          <a:off x="1045976" y="5227320"/>
          <a:ext cx="6060348" cy="1280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57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3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800" dirty="0">
                          <a:effectLst/>
                          <a:latin typeface="+mj-ea"/>
                          <a:ea typeface="+mj-ea"/>
                        </a:rPr>
                        <a:t>上行频率</a:t>
                      </a:r>
                      <a:endParaRPr lang="zh-CN" altLang="en-US" sz="1800" b="1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800" dirty="0">
                          <a:effectLst/>
                          <a:latin typeface="+mj-ea"/>
                          <a:ea typeface="+mj-ea"/>
                        </a:rPr>
                        <a:t>下行频率</a:t>
                      </a:r>
                      <a:endParaRPr lang="zh-CN" altLang="en-US" sz="1800" b="1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800" dirty="0">
                          <a:effectLst/>
                          <a:latin typeface="+mj-ea"/>
                          <a:ea typeface="+mj-ea"/>
                        </a:rPr>
                        <a:t>运营商</a:t>
                      </a:r>
                      <a:endParaRPr lang="zh-CN" altLang="en-US" sz="1800" b="1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800" dirty="0">
                          <a:effectLst/>
                          <a:latin typeface="+mj-ea"/>
                          <a:ea typeface="+mj-ea"/>
                        </a:rPr>
                        <a:t>824~849MHz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800" dirty="0">
                          <a:effectLst/>
                          <a:latin typeface="+mj-ea"/>
                          <a:ea typeface="+mj-ea"/>
                        </a:rPr>
                        <a:t>869~894MHz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800">
                          <a:effectLst/>
                          <a:latin typeface="+mj-ea"/>
                          <a:ea typeface="+mj-ea"/>
                        </a:rPr>
                        <a:t>中国电信</a:t>
                      </a:r>
                      <a:endParaRPr lang="zh-CN" altLang="en-US" sz="1800" b="0">
                        <a:solidFill>
                          <a:srgbClr val="4F4F4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800" dirty="0">
                          <a:effectLst/>
                          <a:latin typeface="+mj-ea"/>
                          <a:ea typeface="+mj-ea"/>
                        </a:rPr>
                        <a:t>880~915MHz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800" dirty="0">
                          <a:effectLst/>
                          <a:latin typeface="+mj-ea"/>
                          <a:ea typeface="+mj-ea"/>
                        </a:rPr>
                        <a:t>925~960MHz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800" dirty="0">
                          <a:effectLst/>
                          <a:latin typeface="+mj-ea"/>
                          <a:ea typeface="+mj-ea"/>
                        </a:rPr>
                        <a:t>中国移动、中国联通</a:t>
                      </a:r>
                      <a:endParaRPr lang="zh-CN" altLang="en-US" sz="1800" b="0" dirty="0">
                        <a:solidFill>
                          <a:srgbClr val="4F4F4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916" y="5227320"/>
            <a:ext cx="1345491" cy="91535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6" y="2634629"/>
            <a:ext cx="7052048" cy="1738861"/>
          </a:xfrm>
          <a:prstGeom prst="rect">
            <a:avLst/>
          </a:prstGeom>
        </p:spPr>
      </p:pic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63EA6B38-5C4A-401C-8570-249DAB132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01402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频段分配与使用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的带宽部署方式</a:t>
            </a:r>
          </a:p>
          <a:p>
            <a:pPr lvl="1"/>
            <a:r>
              <a:rPr lang="zh-CN" altLang="en-US" dirty="0"/>
              <a:t>独立部署：利用</a:t>
            </a:r>
            <a:r>
              <a:rPr lang="en-US" altLang="zh-CN" dirty="0"/>
              <a:t>LTE</a:t>
            </a:r>
            <a:r>
              <a:rPr lang="zh-CN" altLang="en-US" dirty="0"/>
              <a:t>系统未使用的</a:t>
            </a:r>
            <a:r>
              <a:rPr lang="en-US" altLang="zh-CN" dirty="0">
                <a:solidFill>
                  <a:srgbClr val="C00000"/>
                </a:solidFill>
              </a:rPr>
              <a:t>200kHz</a:t>
            </a:r>
            <a:r>
              <a:rPr lang="zh-CN" altLang="en-US" dirty="0"/>
              <a:t>带宽。通常使用</a:t>
            </a:r>
            <a:r>
              <a:rPr lang="en-US" altLang="zh-CN" dirty="0"/>
              <a:t>GSM</a:t>
            </a:r>
            <a:r>
              <a:rPr lang="zh-CN" altLang="en-US" dirty="0"/>
              <a:t>的一个信道（一个</a:t>
            </a:r>
            <a:r>
              <a:rPr lang="en-US" altLang="zh-CN" dirty="0"/>
              <a:t>GSM </a:t>
            </a:r>
            <a:r>
              <a:rPr lang="en-US" altLang="zh-CN" dirty="0">
                <a:solidFill>
                  <a:srgbClr val="C00000"/>
                </a:solidFill>
              </a:rPr>
              <a:t>200KHz</a:t>
            </a:r>
            <a:r>
              <a:rPr lang="zh-CN" altLang="en-US" dirty="0"/>
              <a:t>带宽</a:t>
            </a:r>
            <a:r>
              <a:rPr lang="en-US" altLang="zh-CN" dirty="0"/>
              <a:t>&gt;NB-IoT </a:t>
            </a:r>
            <a:r>
              <a:rPr lang="en-US" altLang="zh-CN" dirty="0">
                <a:solidFill>
                  <a:srgbClr val="C00000"/>
                </a:solidFill>
              </a:rPr>
              <a:t>180KHz</a:t>
            </a:r>
            <a:r>
              <a:rPr lang="zh-CN" altLang="en-US" dirty="0"/>
              <a:t>带宽</a:t>
            </a:r>
            <a:r>
              <a:rPr lang="en-US" altLang="zh-CN" dirty="0"/>
              <a:t>)</a:t>
            </a:r>
            <a:endParaRPr lang="zh-CN" altLang="en-US" dirty="0"/>
          </a:p>
          <a:p>
            <a:pPr lvl="1"/>
            <a:r>
              <a:rPr lang="zh-CN" altLang="en-US" dirty="0"/>
              <a:t>保护带部署：利用</a:t>
            </a:r>
            <a:r>
              <a:rPr lang="en-US" altLang="zh-CN" dirty="0"/>
              <a:t>LTE</a:t>
            </a:r>
            <a:r>
              <a:rPr lang="zh-CN" altLang="en-US" dirty="0"/>
              <a:t>边缘保护频带中未使用的</a:t>
            </a:r>
            <a:r>
              <a:rPr lang="en-US" altLang="zh-CN" dirty="0">
                <a:solidFill>
                  <a:srgbClr val="C00000"/>
                </a:solidFill>
              </a:rPr>
              <a:t>180KHz</a:t>
            </a:r>
            <a:r>
              <a:rPr lang="zh-CN" altLang="en-US" dirty="0"/>
              <a:t>带宽的资源块</a:t>
            </a:r>
          </a:p>
          <a:p>
            <a:pPr lvl="1"/>
            <a:r>
              <a:rPr lang="zh-CN" altLang="en-US" dirty="0"/>
              <a:t>带内部署：占用</a:t>
            </a:r>
            <a:r>
              <a:rPr lang="en-US" altLang="zh-CN" dirty="0"/>
              <a:t>LTE</a:t>
            </a:r>
            <a:r>
              <a:rPr lang="zh-CN" altLang="en-US" dirty="0"/>
              <a:t>的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PRB</a:t>
            </a:r>
            <a:r>
              <a:rPr lang="zh-CN" altLang="en-US" dirty="0"/>
              <a:t>资源（下一页）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366" y="3554789"/>
            <a:ext cx="6187268" cy="2846011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E4CF6BCE-BCF6-471B-891D-93CF2D196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69030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频段分配与使用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带内部署：占用</a:t>
            </a:r>
            <a:r>
              <a:rPr lang="en-US" altLang="zh-CN" dirty="0"/>
              <a:t>LTE</a:t>
            </a:r>
            <a:r>
              <a:rPr lang="zh-CN" altLang="en-US" dirty="0"/>
              <a:t>的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PRB</a:t>
            </a:r>
            <a:r>
              <a:rPr lang="zh-CN" altLang="en-US" dirty="0"/>
              <a:t>，但不是任意</a:t>
            </a:r>
            <a:r>
              <a:rPr lang="en-US" altLang="zh-CN" dirty="0"/>
              <a:t>PRB 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LTE 1.4MHz</a:t>
            </a:r>
            <a:r>
              <a:rPr lang="zh-CN" altLang="en-US" dirty="0"/>
              <a:t>的带宽下是不支持带内部署方案的</a:t>
            </a:r>
            <a:r>
              <a:rPr lang="en-US" altLang="zh-CN" dirty="0"/>
              <a:t>NB-IoT</a:t>
            </a:r>
          </a:p>
          <a:p>
            <a:pPr lvl="1"/>
            <a:r>
              <a:rPr lang="zh-CN" altLang="en-US" dirty="0"/>
              <a:t>无论哪种带宽采用</a:t>
            </a:r>
            <a:r>
              <a:rPr lang="en-US" altLang="zh-CN" dirty="0"/>
              <a:t>IB</a:t>
            </a:r>
            <a:r>
              <a:rPr lang="zh-CN" altLang="en-US" dirty="0"/>
              <a:t>部署方式，都避开了中间的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  <a:r>
              <a:rPr lang="en-US" altLang="zh-CN" dirty="0"/>
              <a:t>PRB</a:t>
            </a:r>
            <a:r>
              <a:rPr lang="zh-CN" altLang="en-US" dirty="0"/>
              <a:t>，因为这里是要用来传</a:t>
            </a:r>
            <a:r>
              <a:rPr lang="en-US" altLang="zh-CN" dirty="0"/>
              <a:t>LTE</a:t>
            </a:r>
            <a:r>
              <a:rPr lang="zh-CN" altLang="en-US" dirty="0"/>
              <a:t>的同步信号和</a:t>
            </a:r>
            <a:r>
              <a:rPr lang="en-US" altLang="zh-CN" dirty="0"/>
              <a:t>MIB</a:t>
            </a:r>
            <a:r>
              <a:rPr lang="zh-CN" altLang="en-US" dirty="0"/>
              <a:t>消息的</a:t>
            </a:r>
          </a:p>
          <a:p>
            <a:pPr lvl="1"/>
            <a:r>
              <a:rPr lang="zh-CN" altLang="en-US" dirty="0"/>
              <a:t>除了中间的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  <a:r>
              <a:rPr lang="en-US" altLang="zh-CN" dirty="0"/>
              <a:t>PRB</a:t>
            </a:r>
            <a:r>
              <a:rPr lang="zh-CN" altLang="en-US" dirty="0"/>
              <a:t>不能部署</a:t>
            </a:r>
            <a:r>
              <a:rPr lang="en-US" altLang="zh-CN" dirty="0"/>
              <a:t>NB-IoT</a:t>
            </a:r>
            <a:r>
              <a:rPr lang="zh-CN" altLang="en-US" dirty="0"/>
              <a:t>外，还有一些</a:t>
            </a:r>
            <a:r>
              <a:rPr lang="en-US" altLang="zh-CN" dirty="0"/>
              <a:t>PRB</a:t>
            </a:r>
            <a:r>
              <a:rPr lang="zh-CN" altLang="en-US" dirty="0"/>
              <a:t>也是不能用来部署</a:t>
            </a:r>
            <a:r>
              <a:rPr lang="en-US" altLang="zh-CN" dirty="0"/>
              <a:t>NB-IoT</a:t>
            </a:r>
            <a:r>
              <a:rPr lang="zh-CN" altLang="en-US" dirty="0"/>
              <a:t>的，</a:t>
            </a:r>
            <a:r>
              <a:rPr lang="en-US" altLang="zh-CN" dirty="0"/>
              <a:t>e.g. NB</a:t>
            </a:r>
            <a:r>
              <a:rPr lang="zh-CN" altLang="en-US" dirty="0"/>
              <a:t>的中心频点要满足</a:t>
            </a:r>
            <a:r>
              <a:rPr lang="en-US" altLang="zh-CN" dirty="0"/>
              <a:t>100kHz </a:t>
            </a:r>
            <a:r>
              <a:rPr lang="zh-CN" altLang="en-US" dirty="0"/>
              <a:t>的栅格。因为</a:t>
            </a:r>
            <a:r>
              <a:rPr lang="en-US" altLang="zh-CN" dirty="0"/>
              <a:t>UE</a:t>
            </a:r>
            <a:r>
              <a:rPr lang="zh-CN" altLang="en-US" dirty="0"/>
              <a:t>仅在</a:t>
            </a:r>
            <a:r>
              <a:rPr lang="en-US" altLang="zh-CN" dirty="0"/>
              <a:t>100kHz</a:t>
            </a:r>
            <a:r>
              <a:rPr lang="zh-CN" altLang="en-US" dirty="0"/>
              <a:t>的倍数点上搜索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" y="4115536"/>
            <a:ext cx="9065895" cy="1896243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665C92-77CC-4966-B5AF-15D522DD8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29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08858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基站部署</a:t>
            </a:r>
            <a:r>
              <a:rPr lang="en-US" altLang="zh-CN"/>
              <a:t>/</a:t>
            </a:r>
            <a:r>
              <a:rPr lang="zh-CN" altLang="en-US"/>
              <a:t>公私网的使用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低功耗广域网的网络架构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sz="2800" dirty="0"/>
          </a:p>
          <a:p>
            <a:r>
              <a:rPr lang="zh-CN" altLang="en-US" dirty="0"/>
              <a:t>基站</a:t>
            </a:r>
            <a:endParaRPr lang="en-US" altLang="zh-CN" dirty="0"/>
          </a:p>
          <a:p>
            <a:pPr lvl="1"/>
            <a:r>
              <a:rPr lang="zh-CN" altLang="en-US" dirty="0"/>
              <a:t>是</a:t>
            </a:r>
            <a:r>
              <a:rPr lang="en-US" altLang="zh-CN" dirty="0"/>
              <a:t>LPWAN</a:t>
            </a:r>
            <a:r>
              <a:rPr lang="zh-CN" altLang="en-US" dirty="0"/>
              <a:t>终端实现互通互联的关键</a:t>
            </a:r>
            <a:endParaRPr lang="en-US" altLang="zh-CN" dirty="0"/>
          </a:p>
          <a:p>
            <a:pPr lvl="1"/>
            <a:r>
              <a:rPr lang="zh-CN" altLang="en-US" dirty="0"/>
              <a:t>应用层服务访问、控制</a:t>
            </a:r>
            <a:r>
              <a:rPr lang="en-US" altLang="zh-CN" dirty="0"/>
              <a:t>LPWAN</a:t>
            </a:r>
            <a:r>
              <a:rPr lang="zh-CN" altLang="en-US" dirty="0"/>
              <a:t>终端的关键</a:t>
            </a:r>
            <a:endParaRPr lang="en-US" altLang="zh-CN" dirty="0"/>
          </a:p>
          <a:p>
            <a:r>
              <a:rPr lang="zh-CN" altLang="en-US" dirty="0"/>
              <a:t>两种基站部署方式</a:t>
            </a:r>
            <a:endParaRPr lang="en-US" altLang="zh-CN" dirty="0"/>
          </a:p>
          <a:p>
            <a:pPr lvl="1"/>
            <a:r>
              <a:rPr lang="zh-CN" altLang="en-US" dirty="0"/>
              <a:t>复用现有的基站，比如</a:t>
            </a:r>
            <a:r>
              <a:rPr lang="en-US" altLang="zh-CN" dirty="0"/>
              <a:t>LTE</a:t>
            </a:r>
            <a:r>
              <a:rPr lang="zh-CN" altLang="en-US" dirty="0"/>
              <a:t>基站：部署效率高；但覆盖深度存在盲区，公网传输数据面临数据暴露给第三方的危险</a:t>
            </a:r>
            <a:endParaRPr lang="en-US" altLang="zh-CN" dirty="0"/>
          </a:p>
          <a:p>
            <a:pPr lvl="1"/>
            <a:r>
              <a:rPr lang="zh-CN" altLang="en-US" dirty="0"/>
              <a:t>自行搭建基站：部署成本高效率低，可以根据需求做到深度覆盖</a:t>
            </a:r>
          </a:p>
          <a:p>
            <a:pPr lvl="1"/>
            <a:r>
              <a:rPr lang="en-US" altLang="zh-CN" b="1" dirty="0"/>
              <a:t>NB-IoT</a:t>
            </a:r>
            <a:r>
              <a:rPr lang="zh-CN" altLang="en-US" b="1" dirty="0"/>
              <a:t>的部署方式：</a:t>
            </a:r>
            <a:r>
              <a:rPr lang="zh-CN" altLang="en-US" dirty="0"/>
              <a:t>复用</a:t>
            </a:r>
            <a:r>
              <a:rPr lang="en-US" altLang="zh-CN" dirty="0"/>
              <a:t>LTE</a:t>
            </a:r>
            <a:r>
              <a:rPr lang="zh-CN" altLang="en-US" dirty="0"/>
              <a:t>基站，使用公网</a:t>
            </a:r>
            <a:endParaRPr lang="en-US" altLang="zh-CN" dirty="0"/>
          </a:p>
          <a:p>
            <a:pPr lvl="1"/>
            <a:r>
              <a:rPr lang="en-US" altLang="zh-CN" b="1" dirty="0" err="1"/>
              <a:t>LoRaWAN</a:t>
            </a:r>
            <a:r>
              <a:rPr lang="zh-CN" altLang="en-US" b="1" dirty="0"/>
              <a:t>的部署方式：</a:t>
            </a:r>
            <a:r>
              <a:rPr lang="zh-CN" altLang="en-US" dirty="0"/>
              <a:t>自行搭建基站，使用私网</a:t>
            </a:r>
            <a:endParaRPr lang="en-US" altLang="zh-CN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B37B38C-ED94-4A36-95E4-084CFAE098BD}"/>
              </a:ext>
            </a:extLst>
          </p:cNvPr>
          <p:cNvGrpSpPr/>
          <p:nvPr/>
        </p:nvGrpSpPr>
        <p:grpSpPr>
          <a:xfrm>
            <a:off x="820151" y="1514315"/>
            <a:ext cx="7656897" cy="1144661"/>
            <a:chOff x="577515" y="1543189"/>
            <a:chExt cx="7656897" cy="1144661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886"/>
            <a:stretch/>
          </p:blipFill>
          <p:spPr bwMode="auto">
            <a:xfrm>
              <a:off x="1132404" y="1543189"/>
              <a:ext cx="6692935" cy="7024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7"/>
            <p:cNvSpPr txBox="1"/>
            <p:nvPr/>
          </p:nvSpPr>
          <p:spPr>
            <a:xfrm>
              <a:off x="577515" y="2266582"/>
              <a:ext cx="1804836" cy="4212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l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800" baseline="0" dirty="0">
                  <a:latin typeface="+mj-ea"/>
                  <a:ea typeface="+mj-ea"/>
                </a:rPr>
                <a:t>LPWAN</a:t>
              </a:r>
              <a:r>
                <a:rPr lang="zh-CN" altLang="en-US" sz="1800" baseline="0" dirty="0">
                  <a:latin typeface="+mj-ea"/>
                  <a:ea typeface="+mj-ea"/>
                </a:rPr>
                <a:t>终端</a:t>
              </a:r>
              <a:endParaRPr kumimoji="0" lang="zh-CN" altLang="en-US" sz="1800" b="0" i="0" u="none" strike="noStrike" cap="all" spc="0" normalizeH="0" baseline="0" dirty="0">
                <a:ln>
                  <a:noFill/>
                </a:ln>
                <a:effectLst/>
                <a:uFillTx/>
                <a:latin typeface="+mj-ea"/>
                <a:ea typeface="+mj-ea"/>
                <a:sym typeface="Helvetica"/>
              </a:endParaRPr>
            </a:p>
          </p:txBody>
        </p:sp>
        <p:sp>
          <p:nvSpPr>
            <p:cNvPr id="6" name="TextBox 8"/>
            <p:cNvSpPr txBox="1"/>
            <p:nvPr/>
          </p:nvSpPr>
          <p:spPr>
            <a:xfrm>
              <a:off x="2327402" y="2266582"/>
              <a:ext cx="1826297" cy="4212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l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all" spc="0" normalizeH="0" baseline="0" dirty="0">
                  <a:ln>
                    <a:noFill/>
                  </a:ln>
                  <a:effectLst/>
                  <a:uFillTx/>
                  <a:latin typeface="+mj-ea"/>
                  <a:ea typeface="+mj-ea"/>
                  <a:sym typeface="Helvetica"/>
                </a:rPr>
                <a:t>基站</a:t>
              </a:r>
              <a:r>
                <a:rPr kumimoji="0" lang="en-US" altLang="zh-CN" sz="1800" b="0" i="0" u="none" strike="noStrike" cap="all" spc="0" normalizeH="0" baseline="0" dirty="0">
                  <a:ln>
                    <a:noFill/>
                  </a:ln>
                  <a:effectLst/>
                  <a:uFillTx/>
                  <a:latin typeface="+mj-ea"/>
                  <a:ea typeface="+mj-ea"/>
                  <a:sym typeface="Helvetica"/>
                </a:rPr>
                <a:t>/</a:t>
              </a:r>
              <a:r>
                <a:rPr kumimoji="0" lang="zh-CN" altLang="en-US" sz="1800" b="0" i="0" u="none" strike="noStrike" cap="all" spc="0" normalizeH="0" baseline="0" dirty="0">
                  <a:ln>
                    <a:noFill/>
                  </a:ln>
                  <a:effectLst/>
                  <a:uFillTx/>
                  <a:latin typeface="+mj-ea"/>
                  <a:ea typeface="+mj-ea"/>
                  <a:sym typeface="Helvetica"/>
                </a:rPr>
                <a:t>网关</a:t>
              </a:r>
            </a:p>
          </p:txBody>
        </p:sp>
        <p:sp>
          <p:nvSpPr>
            <p:cNvPr id="7" name="TextBox 9"/>
            <p:cNvSpPr txBox="1"/>
            <p:nvPr/>
          </p:nvSpPr>
          <p:spPr>
            <a:xfrm>
              <a:off x="3912045" y="2266582"/>
              <a:ext cx="2161326" cy="4212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l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800" b="0" i="0" u="none" strike="noStrike" cap="all" spc="0" normalizeH="0" baseline="0" dirty="0">
                  <a:ln>
                    <a:noFill/>
                  </a:ln>
                  <a:effectLst/>
                  <a:uFillTx/>
                  <a:latin typeface="+mj-ea"/>
                  <a:ea typeface="+mj-ea"/>
                  <a:sym typeface="Helvetica"/>
                </a:rPr>
                <a:t>网络服务器</a:t>
              </a:r>
            </a:p>
          </p:txBody>
        </p:sp>
        <p:sp>
          <p:nvSpPr>
            <p:cNvPr id="8" name="TextBox 10"/>
            <p:cNvSpPr txBox="1"/>
            <p:nvPr/>
          </p:nvSpPr>
          <p:spPr>
            <a:xfrm>
              <a:off x="6787192" y="2266582"/>
              <a:ext cx="1447220" cy="4212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lstStyle/>
            <a:p>
              <a:pPr marL="0" marR="0" indent="0" algn="l" defTabSz="821531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800" baseline="0" dirty="0">
                  <a:latin typeface="+mj-ea"/>
                  <a:ea typeface="+mj-ea"/>
                </a:rPr>
                <a:t>应用</a:t>
              </a:r>
              <a:r>
                <a:rPr kumimoji="0" lang="zh-CN" altLang="en-US" sz="1800" b="0" i="0" u="none" strike="noStrike" cap="all" spc="0" normalizeH="0" baseline="0" dirty="0">
                  <a:ln>
                    <a:noFill/>
                  </a:ln>
                  <a:effectLst/>
                  <a:uFillTx/>
                  <a:latin typeface="+mj-ea"/>
                  <a:ea typeface="+mj-ea"/>
                  <a:sym typeface="Helvetica"/>
                </a:rPr>
                <a:t>服务器</a:t>
              </a: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3418707" y="1810488"/>
              <a:ext cx="594030" cy="16788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8DD14718-7CC2-4E95-ABD8-94F52FF33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91858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非技术特性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791200"/>
          </a:xfrm>
        </p:spPr>
        <p:txBody>
          <a:bodyPr>
            <a:normAutofit/>
          </a:bodyPr>
          <a:lstStyle/>
          <a:p>
            <a:r>
              <a:rPr lang="zh-CN" altLang="en-US" dirty="0"/>
              <a:t>协议开放性</a:t>
            </a:r>
            <a:endParaRPr lang="en-US" altLang="zh-CN" dirty="0"/>
          </a:p>
          <a:p>
            <a:pPr lvl="1"/>
            <a:r>
              <a:rPr lang="en-US" altLang="zh-CN" dirty="0"/>
              <a:t>NB-IoT</a:t>
            </a:r>
            <a:r>
              <a:rPr lang="zh-CN" altLang="en-US" dirty="0"/>
              <a:t>闭源，</a:t>
            </a:r>
            <a:r>
              <a:rPr lang="en-US" altLang="zh-CN" dirty="0" err="1"/>
              <a:t>LoRaWAN</a:t>
            </a:r>
            <a:r>
              <a:rPr lang="zh-CN" altLang="en-US" dirty="0"/>
              <a:t>开源</a:t>
            </a:r>
            <a:endParaRPr lang="en-US" altLang="zh-CN" dirty="0"/>
          </a:p>
          <a:p>
            <a:pPr lvl="2"/>
            <a:r>
              <a:rPr lang="en-US" altLang="zh-CN" dirty="0" err="1"/>
              <a:t>LoRaWAN</a:t>
            </a:r>
            <a:r>
              <a:rPr lang="en-US" altLang="zh-CN" dirty="0"/>
              <a:t> </a:t>
            </a:r>
            <a:r>
              <a:rPr lang="zh-CN" altLang="en-US" dirty="0"/>
              <a:t>代码</a:t>
            </a:r>
            <a:r>
              <a:rPr lang="en-US" altLang="zh-CN" dirty="0"/>
              <a:t>: https://github.com/Lora-net</a:t>
            </a:r>
          </a:p>
          <a:p>
            <a:pPr lvl="1"/>
            <a:r>
              <a:rPr lang="en-US" altLang="zh-CN" dirty="0" err="1"/>
              <a:t>LoRaWAN</a:t>
            </a:r>
            <a:r>
              <a:rPr lang="zh-CN" altLang="en-US" dirty="0"/>
              <a:t>比</a:t>
            </a:r>
            <a:r>
              <a:rPr lang="en-US" altLang="zh-CN" dirty="0"/>
              <a:t>NB-IoT</a:t>
            </a:r>
            <a:r>
              <a:rPr lang="zh-CN" altLang="en-US" dirty="0"/>
              <a:t>更受到研究界的喜爱，</a:t>
            </a:r>
            <a:r>
              <a:rPr lang="en-US" altLang="zh-CN" dirty="0"/>
              <a:t>LoRa</a:t>
            </a:r>
            <a:r>
              <a:rPr lang="zh-CN" altLang="en-US" dirty="0"/>
              <a:t>相关的论文频现计算机网络顶级会议</a:t>
            </a:r>
            <a:endParaRPr lang="en-US" altLang="zh-CN" dirty="0"/>
          </a:p>
          <a:p>
            <a:pPr lvl="1"/>
            <a:r>
              <a:rPr lang="en-US" altLang="zh-CN" dirty="0"/>
              <a:t>[</a:t>
            </a:r>
            <a:r>
              <a:rPr lang="en-US" altLang="zh-CN" dirty="0" err="1"/>
              <a:t>sigcomm</a:t>
            </a:r>
            <a:r>
              <a:rPr lang="en-US" altLang="zh-CN" dirty="0"/>
              <a:t> 18] </a:t>
            </a:r>
            <a:r>
              <a:rPr lang="en-US" altLang="zh-CN" dirty="0" err="1"/>
              <a:t>PLoRa</a:t>
            </a:r>
            <a:r>
              <a:rPr lang="en-US" altLang="zh-CN" dirty="0"/>
              <a:t>, [</a:t>
            </a:r>
            <a:r>
              <a:rPr lang="en-US" altLang="zh-CN" dirty="0" err="1"/>
              <a:t>sigcomm</a:t>
            </a:r>
            <a:r>
              <a:rPr lang="en-US" altLang="zh-CN" dirty="0"/>
              <a:t> 17] </a:t>
            </a:r>
            <a:r>
              <a:rPr lang="en-US" altLang="zh-CN" dirty="0" err="1"/>
              <a:t>Chior</a:t>
            </a:r>
            <a:r>
              <a:rPr lang="en-US" altLang="zh-CN" dirty="0"/>
              <a:t>, …</a:t>
            </a:r>
          </a:p>
          <a:p>
            <a:r>
              <a:rPr lang="zh-CN" altLang="en-US" dirty="0"/>
              <a:t>低成本特性</a:t>
            </a:r>
            <a:endParaRPr lang="en-US" altLang="zh-CN" dirty="0"/>
          </a:p>
          <a:p>
            <a:pPr lvl="1"/>
            <a:r>
              <a:rPr lang="en-US" altLang="zh-CN" dirty="0"/>
              <a:t>NB-IoT</a:t>
            </a:r>
            <a:r>
              <a:rPr lang="zh-CN" altLang="en-US" dirty="0"/>
              <a:t>在产业链上尽量前向兼容、无须重新建网，射频和天线基本上都是复用的</a:t>
            </a:r>
            <a:endParaRPr lang="en-US" altLang="zh-CN" dirty="0"/>
          </a:p>
          <a:p>
            <a:pPr lvl="1"/>
            <a:r>
              <a:rPr lang="en-US" altLang="zh-CN" dirty="0"/>
              <a:t>NB-IoT</a:t>
            </a:r>
            <a:r>
              <a:rPr lang="zh-CN" altLang="en-US" dirty="0"/>
              <a:t>将</a:t>
            </a:r>
            <a:r>
              <a:rPr lang="en-US" altLang="zh-CN" dirty="0"/>
              <a:t>LTE</a:t>
            </a:r>
            <a:r>
              <a:rPr lang="zh-CN" altLang="en-US" dirty="0"/>
              <a:t>的全双工收发器裁剪为半双工收发器，因此，收发器的器件从</a:t>
            </a:r>
            <a:r>
              <a:rPr lang="en-US" altLang="zh-CN" dirty="0"/>
              <a:t>LTE</a:t>
            </a:r>
            <a:r>
              <a:rPr lang="zh-CN" altLang="en-US" dirty="0"/>
              <a:t>的两套减少到一套</a:t>
            </a:r>
            <a:endParaRPr lang="en-US" altLang="zh-CN" dirty="0"/>
          </a:p>
          <a:p>
            <a:pPr lvl="1"/>
            <a:r>
              <a:rPr lang="en-US" altLang="zh-CN" dirty="0" err="1"/>
              <a:t>LoRaWAN</a:t>
            </a:r>
            <a:r>
              <a:rPr lang="zh-CN" altLang="en-US" dirty="0"/>
              <a:t>主要通过技术的开源来吸引企业的合作，利用企业的资金打开</a:t>
            </a:r>
            <a:r>
              <a:rPr lang="en-US" altLang="zh-CN" dirty="0" err="1"/>
              <a:t>LoRaWAN</a:t>
            </a:r>
            <a:r>
              <a:rPr lang="zh-CN" altLang="en-US" dirty="0"/>
              <a:t>的产业链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21734B-A0AF-44D7-BB4F-22929C9CA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85513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EFE8C-E53D-4F6A-9BE2-1E1287E7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7CF6EC-5545-4D27-9D7A-DF6251B80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增强通信距离的技术有哪几种？</a:t>
            </a:r>
            <a:r>
              <a:rPr lang="en-US" altLang="zh-CN"/>
              <a:t>NB-IoT</a:t>
            </a:r>
            <a:r>
              <a:rPr lang="zh-CN" altLang="en-US"/>
              <a:t>和</a:t>
            </a:r>
            <a:r>
              <a:rPr lang="en-US" altLang="zh-CN"/>
              <a:t>LoRaWAN</a:t>
            </a:r>
            <a:r>
              <a:rPr lang="zh-CN" altLang="en-US"/>
              <a:t>分别使用了哪些技术提升通信距离？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700657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sz="2800"/>
          </a:p>
          <a:p>
            <a:r>
              <a:rPr lang="zh-CN" altLang="en-US" sz="2800"/>
              <a:t>概述</a:t>
            </a:r>
            <a:endParaRPr lang="en-US" altLang="zh-CN" sz="2800"/>
          </a:p>
          <a:p>
            <a:r>
              <a:rPr lang="zh-CN" altLang="en-US" sz="2800"/>
              <a:t>关键特性</a:t>
            </a:r>
            <a:endParaRPr lang="en-US" altLang="zh-CN" sz="2800"/>
          </a:p>
          <a:p>
            <a:r>
              <a:rPr lang="zh-CN" altLang="en-US" sz="2800"/>
              <a:t>代表性协议</a:t>
            </a:r>
            <a:endParaRPr lang="en-US" altLang="zh-CN" sz="2800"/>
          </a:p>
          <a:p>
            <a:pPr lvl="1"/>
            <a:r>
              <a:rPr lang="en-US" altLang="zh-CN" sz="2400">
                <a:solidFill>
                  <a:srgbClr val="C00000"/>
                </a:solidFill>
              </a:rPr>
              <a:t>NB-IoT </a:t>
            </a:r>
          </a:p>
          <a:p>
            <a:pPr lvl="1"/>
            <a:r>
              <a:rPr lang="en-US" altLang="zh-CN" sz="2400"/>
              <a:t>LoRaWAN</a:t>
            </a:r>
          </a:p>
          <a:p>
            <a:r>
              <a:rPr lang="zh-CN" altLang="en-US" sz="2800"/>
              <a:t>学术研究进展</a:t>
            </a:r>
            <a:endParaRPr lang="en-US" altLang="zh-CN" sz="2800"/>
          </a:p>
          <a:p>
            <a:r>
              <a:rPr lang="zh-CN" altLang="en-US" sz="2800"/>
              <a:t>案例开发</a:t>
            </a:r>
            <a:endParaRPr lang="en-US" altLang="zh-CN" sz="2800"/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67225551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460D4-71A7-498C-A6D0-78525FAD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NB-IoT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1C4E06-BD6C-4803-9711-2DCDA923A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zh-CN" altLang="en-US"/>
              <a:t>简介</a:t>
            </a:r>
            <a:endParaRPr lang="en-US" altLang="zh-CN"/>
          </a:p>
          <a:p>
            <a:r>
              <a:rPr lang="zh-CN" altLang="en-US"/>
              <a:t>物理层</a:t>
            </a:r>
            <a:endParaRPr lang="en-US" altLang="zh-CN"/>
          </a:p>
          <a:p>
            <a:r>
              <a:rPr lang="zh-CN" altLang="en-US"/>
              <a:t>链路层</a:t>
            </a:r>
            <a:endParaRPr lang="en-US" altLang="zh-CN"/>
          </a:p>
          <a:p>
            <a:r>
              <a:rPr lang="zh-CN" altLang="en-US"/>
              <a:t>网络层</a:t>
            </a:r>
            <a:endParaRPr lang="en-US" altLang="zh-CN"/>
          </a:p>
          <a:p>
            <a:r>
              <a:rPr lang="zh-CN" altLang="en-US"/>
              <a:t>实例分析</a:t>
            </a:r>
            <a:endParaRPr lang="en-US" altLang="zh-CN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313315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广域物联网通信的典型场景</a:t>
            </a:r>
            <a:endParaRPr lang="en-US" altLang="zh-CN"/>
          </a:p>
          <a:p>
            <a:pPr lvl="1"/>
            <a:r>
              <a:rPr lang="zh-CN" altLang="en-US"/>
              <a:t>城市范围的垃圾桶使用状态检测</a:t>
            </a:r>
            <a:endParaRPr lang="en-US" altLang="zh-CN"/>
          </a:p>
          <a:p>
            <a:pPr lvl="1"/>
            <a:r>
              <a:rPr lang="zh-CN" altLang="en-US"/>
              <a:t>城市范围的家庭水箱泄露检测</a:t>
            </a:r>
            <a:endParaRPr lang="en-US" altLang="zh-CN"/>
          </a:p>
          <a:p>
            <a:pPr lvl="1"/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8782869-B1F2-4864-B4CE-E691D1D5759C}"/>
              </a:ext>
            </a:extLst>
          </p:cNvPr>
          <p:cNvGrpSpPr/>
          <p:nvPr/>
        </p:nvGrpSpPr>
        <p:grpSpPr>
          <a:xfrm>
            <a:off x="51866" y="2461588"/>
            <a:ext cx="9044007" cy="3303945"/>
            <a:chOff x="22991" y="2490463"/>
            <a:chExt cx="9141513" cy="328305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/>
            <a:srcRect l="11724" t="14303"/>
            <a:stretch/>
          </p:blipFill>
          <p:spPr>
            <a:xfrm>
              <a:off x="22991" y="2490463"/>
              <a:ext cx="4659086" cy="328305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2077" y="2490463"/>
              <a:ext cx="4482427" cy="328305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10" name="文本框 9"/>
          <p:cNvSpPr txBox="1"/>
          <p:nvPr/>
        </p:nvSpPr>
        <p:spPr>
          <a:xfrm>
            <a:off x="873987" y="5956358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aseline="0" dirty="0">
                <a:latin typeface="+mj-ea"/>
                <a:ea typeface="+mj-ea"/>
              </a:rPr>
              <a:t>城市范围智能垃圾桶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749543" y="5956357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aseline="0" dirty="0">
                <a:latin typeface="+mj-ea"/>
                <a:ea typeface="+mj-ea"/>
              </a:rPr>
              <a:t>城市范围智能水箱</a:t>
            </a:r>
          </a:p>
        </p:txBody>
      </p:sp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29FDE634-E771-47EA-B8A9-B33B9E847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76729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整体网络架构</a:t>
            </a:r>
            <a:endParaRPr lang="en-US" altLang="zh-CN" dirty="0"/>
          </a:p>
          <a:p>
            <a:pPr lvl="1"/>
            <a:r>
              <a:rPr lang="en-US" altLang="zh-CN" dirty="0"/>
              <a:t>NB-IoT UE</a:t>
            </a:r>
            <a:r>
              <a:rPr lang="zh-CN" altLang="en-US" dirty="0"/>
              <a:t>：用户终端设备（</a:t>
            </a:r>
            <a:r>
              <a:rPr lang="en-US" altLang="zh-CN" dirty="0"/>
              <a:t>User Equipment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BS</a:t>
            </a:r>
            <a:r>
              <a:rPr lang="zh-CN" altLang="en-US" dirty="0"/>
              <a:t>：基站（</a:t>
            </a:r>
            <a:r>
              <a:rPr lang="en-US" altLang="zh-CN" dirty="0"/>
              <a:t>Base Station</a:t>
            </a:r>
            <a:r>
              <a:rPr lang="zh-CN" altLang="en-US" dirty="0"/>
              <a:t>），主要承担</a:t>
            </a:r>
            <a:r>
              <a:rPr lang="en-US" altLang="zh-CN" dirty="0"/>
              <a:t>UE</a:t>
            </a:r>
            <a:r>
              <a:rPr lang="zh-CN" altLang="en-US" dirty="0"/>
              <a:t>接入处理，小区管理等功能</a:t>
            </a:r>
            <a:endParaRPr lang="en-US" altLang="zh-CN" dirty="0"/>
          </a:p>
          <a:p>
            <a:pPr lvl="1"/>
            <a:r>
              <a:rPr lang="en-US" altLang="zh-CN" dirty="0"/>
              <a:t>IoT</a:t>
            </a:r>
            <a:r>
              <a:rPr lang="zh-CN" altLang="en-US" dirty="0"/>
              <a:t>核心网：承担</a:t>
            </a:r>
            <a:r>
              <a:rPr lang="en-US" altLang="zh-CN" dirty="0"/>
              <a:t>UE</a:t>
            </a:r>
            <a:r>
              <a:rPr lang="zh-CN" altLang="en-US" dirty="0"/>
              <a:t>移动性、安全性等管理功能，并将</a:t>
            </a:r>
            <a:r>
              <a:rPr lang="en-US" altLang="zh-CN" dirty="0"/>
              <a:t>IoT</a:t>
            </a:r>
            <a:r>
              <a:rPr lang="zh-CN" altLang="en-US" dirty="0"/>
              <a:t>业务相关数据转发到</a:t>
            </a:r>
            <a:r>
              <a:rPr lang="en-US" altLang="zh-CN" dirty="0"/>
              <a:t>IoT</a:t>
            </a:r>
            <a:r>
              <a:rPr lang="zh-CN" altLang="en-US" dirty="0"/>
              <a:t>平台进行处理。</a:t>
            </a:r>
            <a:endParaRPr lang="en-US" altLang="zh-CN" dirty="0"/>
          </a:p>
          <a:p>
            <a:pPr lvl="2"/>
            <a:r>
              <a:rPr lang="zh-CN" altLang="en-US" dirty="0"/>
              <a:t>移动性管理实体 </a:t>
            </a:r>
            <a:r>
              <a:rPr lang="en-US" altLang="zh-CN" dirty="0"/>
              <a:t>(MME):NB-IoT</a:t>
            </a:r>
            <a:r>
              <a:rPr lang="zh-CN" altLang="en-US" dirty="0"/>
              <a:t>协议参数设置（如协商包头压缩算法）和连接切换管理</a:t>
            </a:r>
            <a:endParaRPr lang="en-US" altLang="zh-CN" dirty="0"/>
          </a:p>
          <a:p>
            <a:pPr lvl="2"/>
            <a:r>
              <a:rPr lang="zh-CN" altLang="en-US" dirty="0"/>
              <a:t>服务网关</a:t>
            </a:r>
            <a:r>
              <a:rPr lang="en-US" altLang="zh-CN" dirty="0"/>
              <a:t>SGW</a:t>
            </a:r>
            <a:r>
              <a:rPr lang="zh-CN" altLang="en-US" dirty="0"/>
              <a:t>：转发速率控制</a:t>
            </a:r>
            <a:endParaRPr lang="en-US" altLang="zh-CN" dirty="0"/>
          </a:p>
          <a:p>
            <a:pPr lvl="2"/>
            <a:r>
              <a:rPr lang="zh-CN" altLang="en-US" dirty="0"/>
              <a:t>分组数据网关</a:t>
            </a:r>
            <a:r>
              <a:rPr lang="en-US" altLang="zh-CN" dirty="0"/>
              <a:t>PGW</a:t>
            </a:r>
            <a:r>
              <a:rPr lang="zh-CN" altLang="en-US" dirty="0"/>
              <a:t>：数据转发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矩形 5"/>
          <p:cNvSpPr/>
          <p:nvPr/>
        </p:nvSpPr>
        <p:spPr bwMode="auto">
          <a:xfrm>
            <a:off x="110557" y="5685837"/>
            <a:ext cx="986808" cy="29925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581196" y="6201220"/>
            <a:ext cx="1496300" cy="3158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60" y="4985481"/>
            <a:ext cx="5961536" cy="1699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33F5422D-D1DF-4C80-BC12-28EDAC911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78211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整体网络架构</a:t>
            </a:r>
            <a:endParaRPr lang="en-US" altLang="zh-CN" dirty="0"/>
          </a:p>
          <a:p>
            <a:pPr lvl="1"/>
            <a:r>
              <a:rPr lang="en-US" altLang="zh-CN" dirty="0"/>
              <a:t>IoT</a:t>
            </a:r>
            <a:r>
              <a:rPr lang="zh-CN" altLang="en-US" dirty="0"/>
              <a:t>平台：汇聚从各种接入网得到的</a:t>
            </a:r>
            <a:r>
              <a:rPr lang="en-US" altLang="zh-CN" dirty="0"/>
              <a:t>IoT</a:t>
            </a:r>
            <a:r>
              <a:rPr lang="zh-CN" altLang="en-US" dirty="0"/>
              <a:t>数据，并根据不同类型转发至相应的业务应用器进行处理</a:t>
            </a:r>
            <a:endParaRPr lang="en-US" altLang="zh-CN" dirty="0"/>
          </a:p>
          <a:p>
            <a:pPr lvl="1"/>
            <a:r>
              <a:rPr lang="zh-CN" altLang="en-US" dirty="0"/>
              <a:t>应用服务器：是</a:t>
            </a:r>
            <a:r>
              <a:rPr lang="en-US" altLang="zh-CN" dirty="0"/>
              <a:t>IoT</a:t>
            </a:r>
            <a:r>
              <a:rPr lang="zh-CN" altLang="en-US" dirty="0"/>
              <a:t>数据的最终汇聚点，根据客户的需求进行数据处理等操作</a:t>
            </a:r>
            <a:endParaRPr lang="en-US" altLang="zh-CN" dirty="0"/>
          </a:p>
          <a:p>
            <a:pPr lvl="1"/>
            <a:r>
              <a:rPr lang="zh-CN" altLang="en-US" dirty="0"/>
              <a:t>说明：</a:t>
            </a:r>
          </a:p>
          <a:p>
            <a:pPr lvl="2"/>
            <a:r>
              <a:rPr lang="en-US" altLang="zh-CN" dirty="0"/>
              <a:t>NB-IoT UE</a:t>
            </a:r>
            <a:r>
              <a:rPr lang="zh-CN" altLang="en-US" dirty="0"/>
              <a:t>通过无线空口连接到</a:t>
            </a:r>
            <a:r>
              <a:rPr lang="en-US" altLang="zh-CN" dirty="0"/>
              <a:t>BS</a:t>
            </a:r>
            <a:r>
              <a:rPr lang="zh-CN" altLang="en-US" dirty="0"/>
              <a:t>，而</a:t>
            </a:r>
            <a:r>
              <a:rPr lang="en-US" altLang="zh-CN" dirty="0"/>
              <a:t>BS</a:t>
            </a:r>
            <a:r>
              <a:rPr lang="zh-CN" altLang="en-US" dirty="0"/>
              <a:t>通常可以通过有线方式连接到核心网。当前很多工作主要分析和优化</a:t>
            </a:r>
            <a:r>
              <a:rPr lang="en-US" altLang="zh-CN" dirty="0"/>
              <a:t>NB-IoT</a:t>
            </a:r>
            <a:r>
              <a:rPr lang="zh-CN" altLang="en-US" dirty="0"/>
              <a:t>无线空口协议（如：空口承载、空口数据交互及空口加密等）的性能</a:t>
            </a:r>
          </a:p>
          <a:p>
            <a:pPr lvl="2"/>
            <a:r>
              <a:rPr lang="en-US" altLang="zh-CN" dirty="0"/>
              <a:t>NB-IoT</a:t>
            </a:r>
            <a:r>
              <a:rPr lang="zh-CN" altLang="en-US" dirty="0"/>
              <a:t>基站可以依赖现有移动运营商的基站（</a:t>
            </a:r>
            <a:r>
              <a:rPr lang="en-US" altLang="zh-CN" dirty="0"/>
              <a:t>GSM</a:t>
            </a:r>
            <a:r>
              <a:rPr lang="zh-CN" altLang="en-US" dirty="0"/>
              <a:t>或</a:t>
            </a:r>
            <a:r>
              <a:rPr lang="en-US" altLang="zh-CN" dirty="0"/>
              <a:t>LTE</a:t>
            </a:r>
            <a:r>
              <a:rPr lang="zh-CN" altLang="en-US" dirty="0"/>
              <a:t>）进行部署（节省建网成本），也可以独立建站部署</a:t>
            </a:r>
            <a:endParaRPr lang="en-US" altLang="zh-CN" dirty="0"/>
          </a:p>
          <a:p>
            <a:pPr lvl="2"/>
            <a:r>
              <a:rPr lang="zh-CN" altLang="en-US" dirty="0"/>
              <a:t>用户</a:t>
            </a:r>
            <a:r>
              <a:rPr lang="en-US" altLang="zh-CN" dirty="0"/>
              <a:t>NB-IoT</a:t>
            </a:r>
            <a:r>
              <a:rPr lang="zh-CN" altLang="en-US" dirty="0"/>
              <a:t>应用服务器主要由移动通信运营商及相关协议制定方提供（如华为）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6" name="矩形 5"/>
          <p:cNvSpPr/>
          <p:nvPr/>
        </p:nvSpPr>
        <p:spPr bwMode="auto">
          <a:xfrm>
            <a:off x="110557" y="5685837"/>
            <a:ext cx="986808" cy="29925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581196" y="6201220"/>
            <a:ext cx="1496300" cy="31588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C399358B-86D2-4651-99CD-7B8CE029C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15994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460D4-71A7-498C-A6D0-78525FAD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NB-IoT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1C4E06-BD6C-4803-9711-2DCDA923A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zh-CN" altLang="en-US"/>
              <a:t>简介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物理层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链路层</a:t>
            </a:r>
            <a:endParaRPr lang="en-US" altLang="zh-CN"/>
          </a:p>
          <a:p>
            <a:r>
              <a:rPr lang="zh-CN" altLang="en-US"/>
              <a:t>网络层</a:t>
            </a:r>
            <a:endParaRPr lang="en-US" altLang="zh-CN"/>
          </a:p>
          <a:p>
            <a:r>
              <a:rPr lang="zh-CN" altLang="en-US"/>
              <a:t>实例分析</a:t>
            </a:r>
            <a:endParaRPr lang="en-US" altLang="zh-CN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329719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下行</a:t>
            </a:r>
            <a:endParaRPr lang="en-US" altLang="zh-CN"/>
          </a:p>
          <a:p>
            <a:pPr lvl="1"/>
            <a:r>
              <a:rPr lang="zh-CN" altLang="en-US"/>
              <a:t>带宽</a:t>
            </a:r>
            <a:r>
              <a:rPr lang="en-US" altLang="zh-CN">
                <a:solidFill>
                  <a:srgbClr val="C00000"/>
                </a:solidFill>
              </a:rPr>
              <a:t>180kHz</a:t>
            </a:r>
            <a:r>
              <a:rPr lang="en-US" altLang="zh-CN"/>
              <a:t>, </a:t>
            </a:r>
            <a:r>
              <a:rPr lang="zh-CN" altLang="en-US"/>
              <a:t>分为</a:t>
            </a:r>
            <a:r>
              <a:rPr lang="en-US" altLang="zh-CN"/>
              <a:t>12</a:t>
            </a:r>
            <a:r>
              <a:rPr lang="zh-CN" altLang="en-US"/>
              <a:t>个子载波（</a:t>
            </a:r>
            <a:r>
              <a:rPr lang="en-US" altLang="zh-CN"/>
              <a:t>subcarrier</a:t>
            </a:r>
            <a:r>
              <a:rPr lang="zh-CN" altLang="en-US"/>
              <a:t>），子载波间隔（</a:t>
            </a:r>
            <a:r>
              <a:rPr lang="en-US" altLang="zh-CN"/>
              <a:t>subcarrier spacing</a:t>
            </a:r>
            <a:r>
              <a:rPr lang="zh-CN" altLang="en-US"/>
              <a:t>）为</a:t>
            </a:r>
            <a:r>
              <a:rPr lang="en-US" altLang="zh-CN">
                <a:solidFill>
                  <a:srgbClr val="C00000"/>
                </a:solidFill>
              </a:rPr>
              <a:t>15kHz</a:t>
            </a:r>
          </a:p>
          <a:p>
            <a:pPr lvl="1"/>
            <a:r>
              <a:rPr lang="en-US" altLang="zh-CN"/>
              <a:t>OFDM</a:t>
            </a:r>
            <a:r>
              <a:rPr lang="zh-CN" altLang="en-US"/>
              <a:t>技术</a:t>
            </a:r>
            <a:endParaRPr lang="en-US" altLang="zh-CN"/>
          </a:p>
          <a:p>
            <a:r>
              <a:rPr lang="zh-CN" altLang="en-US"/>
              <a:t>上行</a:t>
            </a:r>
            <a:endParaRPr lang="en-US" altLang="zh-CN"/>
          </a:p>
          <a:p>
            <a:pPr lvl="1"/>
            <a:r>
              <a:rPr lang="zh-CN" altLang="en-US"/>
              <a:t>带宽</a:t>
            </a:r>
            <a:r>
              <a:rPr lang="en-US" altLang="zh-CN">
                <a:solidFill>
                  <a:srgbClr val="C00000"/>
                </a:solidFill>
              </a:rPr>
              <a:t>180kHz</a:t>
            </a:r>
            <a:r>
              <a:rPr lang="en-US" altLang="zh-CN"/>
              <a:t>, </a:t>
            </a:r>
            <a:r>
              <a:rPr lang="zh-CN" altLang="en-US"/>
              <a:t>子载波间隔有</a:t>
            </a:r>
            <a:r>
              <a:rPr lang="en-US" altLang="zh-CN">
                <a:solidFill>
                  <a:srgbClr val="C00000"/>
                </a:solidFill>
              </a:rPr>
              <a:t>15kHz</a:t>
            </a:r>
            <a:r>
              <a:rPr lang="en-US" altLang="zh-CN"/>
              <a:t>, </a:t>
            </a:r>
            <a:r>
              <a:rPr lang="en-US" altLang="zh-CN">
                <a:solidFill>
                  <a:srgbClr val="C00000"/>
                </a:solidFill>
              </a:rPr>
              <a:t>3.75kHz</a:t>
            </a:r>
            <a:r>
              <a:rPr lang="zh-CN" altLang="en-US"/>
              <a:t>两种</a:t>
            </a:r>
            <a:endParaRPr lang="en-US" altLang="zh-CN"/>
          </a:p>
          <a:p>
            <a:pPr lvl="1"/>
            <a:r>
              <a:rPr lang="en-US" altLang="zh-CN"/>
              <a:t>SC-FDMA</a:t>
            </a:r>
            <a:r>
              <a:rPr lang="zh-CN" altLang="en-US"/>
              <a:t>技术</a:t>
            </a:r>
            <a:endParaRPr lang="en-US" altLang="zh-CN"/>
          </a:p>
          <a:p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01C8274-AE23-46F2-BEA5-B4A969AF9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39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69146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4740442" cy="5410200"/>
          </a:xfrm>
        </p:spPr>
        <p:txBody>
          <a:bodyPr>
            <a:normAutofit/>
          </a:bodyPr>
          <a:lstStyle/>
          <a:p>
            <a:r>
              <a:rPr lang="zh-CN" altLang="en-US"/>
              <a:t>下行资源分配</a:t>
            </a:r>
            <a:endParaRPr lang="en-US" altLang="zh-CN"/>
          </a:p>
          <a:p>
            <a:pPr lvl="1"/>
            <a:r>
              <a:rPr lang="zh-CN" altLang="en-US"/>
              <a:t>频域上：下行带宽</a:t>
            </a:r>
            <a:r>
              <a:rPr lang="en-US" altLang="zh-CN">
                <a:solidFill>
                  <a:srgbClr val="C00000"/>
                </a:solidFill>
              </a:rPr>
              <a:t>180kHz</a:t>
            </a:r>
            <a:r>
              <a:rPr lang="en-US" altLang="zh-CN"/>
              <a:t>, </a:t>
            </a:r>
            <a:r>
              <a:rPr lang="zh-CN" altLang="en-US"/>
              <a:t>分为</a:t>
            </a:r>
            <a:r>
              <a:rPr lang="en-US" altLang="zh-CN"/>
              <a:t>12</a:t>
            </a:r>
            <a:r>
              <a:rPr lang="zh-CN" altLang="en-US"/>
              <a:t>个子载波（</a:t>
            </a:r>
            <a:r>
              <a:rPr lang="en-US" altLang="zh-CN"/>
              <a:t>subcarrier</a:t>
            </a:r>
            <a:r>
              <a:rPr lang="zh-CN" altLang="en-US"/>
              <a:t>），子载波间隔（</a:t>
            </a:r>
            <a:r>
              <a:rPr lang="en-US" altLang="zh-CN"/>
              <a:t>subcarrier spacing</a:t>
            </a:r>
            <a:r>
              <a:rPr lang="zh-CN" altLang="en-US"/>
              <a:t>）为</a:t>
            </a:r>
            <a:r>
              <a:rPr lang="en-US" altLang="zh-CN">
                <a:solidFill>
                  <a:srgbClr val="C00000"/>
                </a:solidFill>
              </a:rPr>
              <a:t>15kHz</a:t>
            </a:r>
          </a:p>
          <a:p>
            <a:pPr lvl="1"/>
            <a:r>
              <a:rPr lang="zh-CN" altLang="en-US"/>
              <a:t>时域上：一个时隙（</a:t>
            </a:r>
            <a:r>
              <a:rPr lang="en-US" altLang="zh-CN"/>
              <a:t>slot</a:t>
            </a:r>
            <a:r>
              <a:rPr lang="zh-CN" altLang="en-US"/>
              <a:t>）长度为</a:t>
            </a:r>
            <a:r>
              <a:rPr lang="en-US" altLang="zh-CN">
                <a:solidFill>
                  <a:srgbClr val="C00000"/>
                </a:solidFill>
              </a:rPr>
              <a:t>0.5ms</a:t>
            </a:r>
            <a:r>
              <a:rPr lang="zh-CN" altLang="en-US"/>
              <a:t>，每个时隙中有</a:t>
            </a:r>
            <a:r>
              <a:rPr lang="en-US" altLang="zh-CN"/>
              <a:t>7</a:t>
            </a:r>
            <a:r>
              <a:rPr lang="zh-CN" altLang="en-US"/>
              <a:t>个符号（</a:t>
            </a:r>
            <a:r>
              <a:rPr lang="en-US" altLang="zh-CN"/>
              <a:t>symbol</a:t>
            </a:r>
            <a:r>
              <a:rPr lang="zh-CN" altLang="en-US"/>
              <a:t>）</a:t>
            </a:r>
          </a:p>
          <a:p>
            <a:pPr lvl="1"/>
            <a:r>
              <a:rPr lang="zh-CN" altLang="en-US"/>
              <a:t>子帧</a:t>
            </a:r>
            <a:r>
              <a:rPr lang="en-US" altLang="zh-CN"/>
              <a:t>(subframe)</a:t>
            </a:r>
            <a:r>
              <a:rPr lang="zh-CN" altLang="en-US"/>
              <a:t>：基本调度单元</a:t>
            </a:r>
            <a:r>
              <a:rPr lang="en-US" altLang="zh-CN"/>
              <a:t>, = </a:t>
            </a:r>
            <a:r>
              <a:rPr lang="en-US" altLang="zh-CN">
                <a:solidFill>
                  <a:srgbClr val="C00000"/>
                </a:solidFill>
              </a:rPr>
              <a:t>1 ms/2 slots </a:t>
            </a:r>
            <a:r>
              <a:rPr lang="en-US" altLang="zh-CN"/>
              <a:t>(</a:t>
            </a:r>
            <a:r>
              <a:rPr lang="zh-CN" altLang="en-US"/>
              <a:t>每个</a:t>
            </a:r>
            <a:r>
              <a:rPr lang="en-US" altLang="zh-CN"/>
              <a:t>slot</a:t>
            </a:r>
            <a:r>
              <a:rPr lang="zh-CN" altLang="en-US"/>
              <a:t>上有</a:t>
            </a:r>
            <a:r>
              <a:rPr lang="en-US" altLang="zh-CN"/>
              <a:t>7</a:t>
            </a:r>
            <a:r>
              <a:rPr lang="zh-CN" altLang="en-US"/>
              <a:t>个</a:t>
            </a:r>
            <a:r>
              <a:rPr lang="en-US" altLang="zh-CN"/>
              <a:t>symbol)</a:t>
            </a:r>
          </a:p>
          <a:p>
            <a:pPr lvl="1"/>
            <a:r>
              <a:rPr lang="zh-CN" altLang="en-US"/>
              <a:t>无线帧</a:t>
            </a:r>
            <a:r>
              <a:rPr lang="en-US" altLang="zh-CN"/>
              <a:t>(frame)</a:t>
            </a:r>
            <a:r>
              <a:rPr lang="zh-CN" altLang="en-US"/>
              <a:t>：包含 </a:t>
            </a:r>
            <a:r>
              <a:rPr lang="en-US" altLang="zh-CN"/>
              <a:t>10</a:t>
            </a:r>
            <a:r>
              <a:rPr lang="zh-CN" altLang="en-US"/>
              <a:t>个子帧 </a:t>
            </a:r>
            <a:r>
              <a:rPr lang="en-US" altLang="zh-CN"/>
              <a:t>= </a:t>
            </a:r>
            <a:r>
              <a:rPr lang="en-US" altLang="zh-CN">
                <a:solidFill>
                  <a:srgbClr val="C00000"/>
                </a:solidFill>
              </a:rPr>
              <a:t>10ms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555" y="1092835"/>
            <a:ext cx="3654425" cy="520509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6E71F1-2571-4F43-BB8D-35BDC213B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99699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下行</a:t>
            </a:r>
            <a:endParaRPr lang="en-US" altLang="zh-CN"/>
          </a:p>
          <a:p>
            <a:pPr lvl="1"/>
            <a:r>
              <a:rPr lang="zh-CN" altLang="en-US"/>
              <a:t>下行物理信号：</a:t>
            </a:r>
          </a:p>
          <a:p>
            <a:pPr lvl="2"/>
            <a:r>
              <a:rPr lang="en-US" altLang="zh-CN"/>
              <a:t>NPSS: Narrowband Primary Sync Signal</a:t>
            </a:r>
          </a:p>
          <a:p>
            <a:pPr lvl="2"/>
            <a:r>
              <a:rPr lang="en-US" altLang="zh-CN"/>
              <a:t>NSSS: Narrowband Secondary Sync Signal</a:t>
            </a:r>
          </a:p>
          <a:p>
            <a:pPr lvl="2"/>
            <a:r>
              <a:rPr lang="en-US" altLang="zh-CN"/>
              <a:t>NRS: Narrowband Reference Signal</a:t>
            </a:r>
          </a:p>
          <a:p>
            <a:pPr lvl="1"/>
            <a:r>
              <a:rPr lang="zh-CN" altLang="en-US"/>
              <a:t>下行物理信道：</a:t>
            </a:r>
          </a:p>
          <a:p>
            <a:pPr lvl="2"/>
            <a:r>
              <a:rPr lang="en-US"/>
              <a:t>NPBCH: Narrowband PHY Broadcast Channel</a:t>
            </a:r>
            <a:endParaRPr lang="en-US" altLang="en-US"/>
          </a:p>
          <a:p>
            <a:pPr lvl="2"/>
            <a:r>
              <a:rPr lang="en-US"/>
              <a:t>NPDCCH: Narrowband PHY DL Control Channel</a:t>
            </a:r>
          </a:p>
          <a:p>
            <a:pPr lvl="2"/>
            <a:r>
              <a:rPr lang="en-US"/>
              <a:t>NPDSCH: Narrowband PHY DL Shared Channel</a:t>
            </a:r>
            <a:endParaRPr lang="en-US" dirty="0"/>
          </a:p>
        </p:txBody>
      </p:sp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74" y="4639378"/>
            <a:ext cx="7060652" cy="2102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7D42E7A2-41D9-4D66-B7BB-CDA7292922C6}"/>
              </a:ext>
            </a:extLst>
          </p:cNvPr>
          <p:cNvSpPr/>
          <p:nvPr/>
        </p:nvSpPr>
        <p:spPr bwMode="auto">
          <a:xfrm>
            <a:off x="6793298" y="2002054"/>
            <a:ext cx="1969702" cy="1058779"/>
          </a:xfrm>
          <a:prstGeom prst="wedgeRoundRectCallout">
            <a:avLst>
              <a:gd name="adj1" fmla="val -40857"/>
              <a:gd name="adj2" fmla="val 64478"/>
              <a:gd name="adj3" fmla="val 16667"/>
            </a:avLst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50000"/>
              </a:spcBef>
              <a:buClr>
                <a:schemeClr val="bg1"/>
              </a:buClr>
              <a:buSzPct val="100000"/>
            </a:pPr>
            <a:r>
              <a:rPr lang="zh-CN" altLang="en-US" dirty="0">
                <a:latin typeface="+mj-ea"/>
                <a:ea typeface="+mj-ea"/>
              </a:rPr>
              <a:t>注：信号不承载具体的信息</a:t>
            </a:r>
            <a:r>
              <a:rPr lang="en-US" altLang="zh-CN" dirty="0">
                <a:latin typeface="+mj-ea"/>
                <a:ea typeface="+mj-ea"/>
              </a:rPr>
              <a:t>bit，</a:t>
            </a:r>
            <a:r>
              <a:rPr lang="zh-CN" altLang="en-US" dirty="0">
                <a:latin typeface="+mj-ea"/>
                <a:ea typeface="+mj-ea"/>
              </a:rPr>
              <a:t>而信道是要传</a:t>
            </a:r>
            <a:r>
              <a:rPr lang="en-US" altLang="zh-CN" dirty="0">
                <a:latin typeface="+mj-ea"/>
                <a:ea typeface="+mj-ea"/>
              </a:rPr>
              <a:t>data</a:t>
            </a:r>
            <a:r>
              <a:rPr lang="zh-CN" altLang="en-US" dirty="0">
                <a:latin typeface="+mj-ea"/>
                <a:ea typeface="+mj-ea"/>
              </a:rPr>
              <a:t>的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434EFDC9-79FD-4662-8E8B-0201C6B69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15867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5555386" cy="5410200"/>
          </a:xfrm>
        </p:spPr>
        <p:txBody>
          <a:bodyPr>
            <a:normAutofit/>
          </a:bodyPr>
          <a:lstStyle/>
          <a:p>
            <a:r>
              <a:rPr lang="zh-CN" altLang="en-US"/>
              <a:t>下行同步信号 </a:t>
            </a:r>
            <a:r>
              <a:rPr lang="en-US" altLang="zh-CN"/>
              <a:t>(NPSS &amp; NSSS)</a:t>
            </a:r>
          </a:p>
          <a:p>
            <a:pPr lvl="1"/>
            <a:r>
              <a:rPr lang="zh-CN" altLang="en-US"/>
              <a:t>用于</a:t>
            </a:r>
            <a:r>
              <a:rPr lang="en-US" altLang="zh-CN"/>
              <a:t>NB-IoT UE</a:t>
            </a:r>
            <a:r>
              <a:rPr lang="zh-CN" altLang="en-US"/>
              <a:t>进行小区搜索 </a:t>
            </a:r>
            <a:r>
              <a:rPr lang="en-US" altLang="zh-CN"/>
              <a:t>(cell search)</a:t>
            </a:r>
          </a:p>
          <a:p>
            <a:pPr lvl="2"/>
            <a:r>
              <a:rPr lang="en-US" altLang="zh-CN"/>
              <a:t>Time and Frequency Synchronization</a:t>
            </a:r>
          </a:p>
          <a:p>
            <a:pPr lvl="2"/>
            <a:r>
              <a:rPr lang="en-US" altLang="zh-CN"/>
              <a:t>Cell ID detection</a:t>
            </a:r>
          </a:p>
          <a:p>
            <a:r>
              <a:rPr lang="en-US" altLang="zh-CN"/>
              <a:t>NPSS</a:t>
            </a:r>
          </a:p>
          <a:p>
            <a:pPr lvl="1"/>
            <a:r>
              <a:rPr lang="zh-CN" altLang="en-US"/>
              <a:t>用于完成时间和频域的同步</a:t>
            </a:r>
            <a:endParaRPr lang="en-US" altLang="zh-CN"/>
          </a:p>
          <a:p>
            <a:pPr lvl="1"/>
            <a:r>
              <a:rPr lang="zh-CN" altLang="en-US"/>
              <a:t>在每个无线帧的子帧</a:t>
            </a:r>
            <a:r>
              <a:rPr lang="en-US" altLang="zh-CN"/>
              <a:t>#5</a:t>
            </a:r>
            <a:r>
              <a:rPr lang="zh-CN" altLang="en-US"/>
              <a:t>上发送，发送周期</a:t>
            </a:r>
            <a:r>
              <a:rPr lang="en-US" altLang="zh-CN">
                <a:solidFill>
                  <a:srgbClr val="C00000"/>
                </a:solidFill>
              </a:rPr>
              <a:t>10ms</a:t>
            </a:r>
          </a:p>
          <a:p>
            <a:pPr lvl="1"/>
            <a:r>
              <a:rPr lang="zh-CN" altLang="en-US"/>
              <a:t>具体而言，</a:t>
            </a:r>
            <a:r>
              <a:rPr lang="en-US" altLang="zh-CN"/>
              <a:t>NPSS</a:t>
            </a:r>
            <a:r>
              <a:rPr lang="zh-CN" altLang="en-US"/>
              <a:t>使用最后</a:t>
            </a:r>
            <a:r>
              <a:rPr lang="en-US" altLang="zh-CN"/>
              <a:t>11</a:t>
            </a:r>
            <a:r>
              <a:rPr lang="zh-CN" altLang="en-US"/>
              <a:t>个</a:t>
            </a:r>
            <a:r>
              <a:rPr lang="en-US" altLang="zh-CN"/>
              <a:t>OFDM</a:t>
            </a:r>
            <a:r>
              <a:rPr lang="zh-CN" altLang="en-US"/>
              <a:t>符号，每个符号占据</a:t>
            </a:r>
            <a:r>
              <a:rPr lang="en-US" altLang="zh-CN"/>
              <a:t>(lowest)11</a:t>
            </a:r>
            <a:r>
              <a:rPr lang="zh-CN" altLang="en-US"/>
              <a:t>个</a:t>
            </a:r>
            <a:r>
              <a:rPr lang="en-US" altLang="zh-CN"/>
              <a:t>subcarrier; </a:t>
            </a:r>
            <a:r>
              <a:rPr lang="zh-CN" altLang="en-US"/>
              <a:t>在</a:t>
            </a:r>
            <a:r>
              <a:rPr lang="en-US" altLang="zh-CN"/>
              <a:t>IB</a:t>
            </a:r>
            <a:r>
              <a:rPr lang="zh-CN" altLang="en-US"/>
              <a:t>部署下，避免与</a:t>
            </a:r>
            <a:r>
              <a:rPr lang="en-US" altLang="zh-CN"/>
              <a:t>LTE CRS</a:t>
            </a:r>
            <a:r>
              <a:rPr lang="zh-CN" altLang="en-US"/>
              <a:t>碰撞，避开相应</a:t>
            </a:r>
            <a:r>
              <a:rPr lang="en-US" altLang="zh-CN"/>
              <a:t>RE</a:t>
            </a:r>
            <a:endParaRPr lang="en-US" altLang="zh-CN" dirty="0"/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586" y="1019475"/>
            <a:ext cx="2623414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ECE581-CBF9-49C4-9DC3-8B415B4AF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657969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936" y="1104348"/>
            <a:ext cx="4503064" cy="798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/>
              <a:t>下行</a:t>
            </a:r>
            <a:r>
              <a:rPr lang="en-US" altLang="zh-CN"/>
              <a:t> ZC</a:t>
            </a:r>
            <a:r>
              <a:rPr lang="zh-CN" altLang="en-US"/>
              <a:t>序列</a:t>
            </a:r>
            <a:endParaRPr lang="en-US" altLang="zh-CN"/>
          </a:p>
          <a:p>
            <a:pPr lvl="1"/>
            <a:r>
              <a:rPr lang="en-US" altLang="zh-CN"/>
              <a:t>Zadoff-Chu Sequence: </a:t>
            </a:r>
          </a:p>
          <a:p>
            <a:pPr lvl="2"/>
            <a:r>
              <a:rPr lang="zh-CN" altLang="en-US"/>
              <a:t>      ：代表需要生成的序列的长度，</a:t>
            </a:r>
            <a:r>
              <a:rPr lang="en-US" altLang="zh-CN"/>
              <a:t>=11 in NB-IoT</a:t>
            </a:r>
            <a:r>
              <a:rPr lang="zh-CN" altLang="en-US"/>
              <a:t>。因为是复数，所以有</a:t>
            </a:r>
            <a:r>
              <a:rPr lang="en-US" altLang="zh-CN"/>
              <a:t>I</a:t>
            </a:r>
            <a:r>
              <a:rPr lang="zh-CN" altLang="en-US"/>
              <a:t>、</a:t>
            </a:r>
            <a:r>
              <a:rPr lang="en-US" altLang="zh-CN"/>
              <a:t>Q</a:t>
            </a:r>
            <a:r>
              <a:rPr lang="zh-CN" altLang="en-US"/>
              <a:t>两个支路。</a:t>
            </a:r>
          </a:p>
          <a:p>
            <a:pPr lvl="2"/>
            <a:r>
              <a:rPr lang="en-US" altLang="zh-CN"/>
              <a:t>q</a:t>
            </a:r>
            <a:r>
              <a:rPr lang="zh-CN" altLang="en-US"/>
              <a:t>：代表是根序列的索引，生成任何一个</a:t>
            </a:r>
            <a:r>
              <a:rPr lang="en-US" altLang="zh-CN"/>
              <a:t>ZC</a:t>
            </a:r>
            <a:r>
              <a:rPr lang="zh-CN" altLang="en-US"/>
              <a:t>序列都需要赋一个根索引值</a:t>
            </a:r>
            <a:r>
              <a:rPr lang="en-US" altLang="zh-CN"/>
              <a:t>, =5 in NB-IoT</a:t>
            </a:r>
            <a:endParaRPr lang="zh-CN" altLang="en-US"/>
          </a:p>
          <a:p>
            <a:pPr lvl="2"/>
            <a:r>
              <a:rPr lang="en-US" altLang="zh-CN"/>
              <a:t>m</a:t>
            </a:r>
            <a:r>
              <a:rPr lang="zh-CN" altLang="en-US"/>
              <a:t>：代表这个序列的第</a:t>
            </a:r>
            <a:r>
              <a:rPr lang="en-US" altLang="zh-CN"/>
              <a:t>m+1</a:t>
            </a:r>
            <a:r>
              <a:rPr lang="zh-CN" altLang="en-US"/>
              <a:t>个</a:t>
            </a:r>
            <a:r>
              <a:rPr lang="en-US" altLang="zh-CN"/>
              <a:t>(m</a:t>
            </a:r>
            <a:r>
              <a:rPr lang="zh-CN" altLang="en-US"/>
              <a:t>从</a:t>
            </a:r>
            <a:r>
              <a:rPr lang="en-US" altLang="zh-CN"/>
              <a:t>0</a:t>
            </a:r>
            <a:r>
              <a:rPr lang="zh-CN" altLang="en-US"/>
              <a:t>开始</a:t>
            </a:r>
            <a:r>
              <a:rPr lang="en-US" altLang="zh-CN"/>
              <a:t>)</a:t>
            </a:r>
            <a:r>
              <a:rPr lang="zh-CN" altLang="en-US"/>
              <a:t>序列点的值</a:t>
            </a:r>
            <a:endParaRPr lang="en-US" altLang="zh-CN"/>
          </a:p>
          <a:p>
            <a:pPr lvl="1"/>
            <a:r>
              <a:rPr lang="en-US" altLang="zh-CN"/>
              <a:t>ZC</a:t>
            </a:r>
            <a:r>
              <a:rPr lang="zh-CN" altLang="en-US"/>
              <a:t>序列好的特性：</a:t>
            </a:r>
          </a:p>
          <a:p>
            <a:pPr lvl="2"/>
            <a:r>
              <a:rPr lang="en-US" altLang="zh-CN"/>
              <a:t>This sequence has a constant amplitude.  </a:t>
            </a:r>
          </a:p>
          <a:p>
            <a:pPr lvl="3"/>
            <a:r>
              <a:rPr lang="zh-CN" altLang="en-US"/>
              <a:t>如果在坐标轴上表示就是分布在一个圆上，幅度就是圆的半径，是恒定不变的（这里即为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en-US" altLang="zh-CN"/>
          </a:p>
          <a:p>
            <a:pPr lvl="2"/>
            <a:r>
              <a:rPr lang="en-US" altLang="zh-CN"/>
              <a:t>Zero Autocorrelation. </a:t>
            </a:r>
          </a:p>
          <a:p>
            <a:pPr lvl="3"/>
            <a:r>
              <a:rPr lang="zh-CN" altLang="en-US"/>
              <a:t>序列的自相关性很好</a:t>
            </a:r>
            <a:endParaRPr lang="en-US" altLang="zh-CN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042537"/>
              </p:ext>
            </p:extLst>
          </p:nvPr>
        </p:nvGraphicFramePr>
        <p:xfrm>
          <a:off x="1684338" y="1903413"/>
          <a:ext cx="4651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8" name="Equation" r:id="rId5" imgW="342720" imgH="291960" progId="Equation.DSMT4">
                  <p:embed/>
                </p:oleObj>
              </mc:Choice>
              <mc:Fallback>
                <p:oleObj name="Equation" r:id="rId5" imgW="3427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84338" y="1903413"/>
                        <a:ext cx="465137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666E87DF-169B-4A6C-B676-AB7D3DA19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423649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zh-CN" altLang="en-US"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59E4FA1B-EEA3-4F3B-854A-397307B70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ZC</a:t>
            </a:r>
            <a:r>
              <a:rPr lang="zh-CN" altLang="en-US"/>
              <a:t>序列</a:t>
            </a:r>
            <a:endParaRPr lang="zh-CN" altLang="en-US" dirty="0"/>
          </a:p>
        </p:txBody>
      </p:sp>
      <p:sp>
        <p:nvSpPr>
          <p:cNvPr id="46" name="流程图: 过程 45"/>
          <p:cNvSpPr/>
          <p:nvPr/>
        </p:nvSpPr>
        <p:spPr bwMode="auto">
          <a:xfrm>
            <a:off x="4796456" y="4457083"/>
            <a:ext cx="1582588" cy="221882"/>
          </a:xfrm>
          <a:prstGeom prst="flowChartProcess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noFill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9747" y="2091568"/>
            <a:ext cx="8145517" cy="4588930"/>
            <a:chOff x="332739" y="2605961"/>
            <a:chExt cx="6456591" cy="3401776"/>
          </a:xfrm>
        </p:grpSpPr>
        <p:grpSp>
          <p:nvGrpSpPr>
            <p:cNvPr id="5" name="组合 4"/>
            <p:cNvGrpSpPr/>
            <p:nvPr/>
          </p:nvGrpSpPr>
          <p:grpSpPr>
            <a:xfrm>
              <a:off x="332739" y="2605961"/>
              <a:ext cx="6456591" cy="3401776"/>
              <a:chOff x="-1" y="1418292"/>
              <a:chExt cx="6456591" cy="3401776"/>
            </a:xfrm>
          </p:grpSpPr>
          <p:pic>
            <p:nvPicPr>
              <p:cNvPr id="14339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1" y="1418292"/>
                <a:ext cx="6456591" cy="32918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2" name="TextBox 41"/>
              <p:cNvSpPr txBox="1"/>
              <p:nvPr/>
            </p:nvSpPr>
            <p:spPr>
              <a:xfrm>
                <a:off x="850135" y="4614729"/>
                <a:ext cx="1829672" cy="2053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b="1">
                    <a:solidFill>
                      <a:srgbClr val="C00000"/>
                    </a:solidFill>
                    <a:latin typeface="+mj-ea"/>
                    <a:ea typeface="+mj-ea"/>
                  </a:rPr>
                  <a:t>生成的</a:t>
                </a:r>
                <a:r>
                  <a:rPr lang="en-US" altLang="zh-CN" sz="1800" b="1">
                    <a:solidFill>
                      <a:srgbClr val="C00000"/>
                    </a:solidFill>
                    <a:latin typeface="+mj-ea"/>
                    <a:ea typeface="+mj-ea"/>
                  </a:rPr>
                  <a:t>I</a:t>
                </a:r>
                <a:r>
                  <a:rPr lang="zh-CN" altLang="en-US" sz="1800" b="1">
                    <a:solidFill>
                      <a:srgbClr val="C00000"/>
                    </a:solidFill>
                    <a:latin typeface="+mj-ea"/>
                    <a:ea typeface="+mj-ea"/>
                  </a:rPr>
                  <a:t>、</a:t>
                </a:r>
                <a:r>
                  <a:rPr lang="en-US" altLang="zh-CN" sz="1800" b="1">
                    <a:solidFill>
                      <a:srgbClr val="C00000"/>
                    </a:solidFill>
                    <a:latin typeface="+mj-ea"/>
                    <a:ea typeface="+mj-ea"/>
                  </a:rPr>
                  <a:t>Q</a:t>
                </a:r>
                <a:r>
                  <a:rPr lang="zh-CN" altLang="en-US" sz="1800" b="1">
                    <a:solidFill>
                      <a:srgbClr val="C00000"/>
                    </a:solidFill>
                    <a:latin typeface="+mj-ea"/>
                    <a:ea typeface="+mj-ea"/>
                  </a:rPr>
                  <a:t>支路序列值</a:t>
                </a:r>
              </a:p>
            </p:txBody>
          </p:sp>
          <p:cxnSp>
            <p:nvCxnSpPr>
              <p:cNvPr id="43" name="直接箭头连接符 42"/>
              <p:cNvCxnSpPr/>
              <p:nvPr/>
            </p:nvCxnSpPr>
            <p:spPr bwMode="auto">
              <a:xfrm flipH="1">
                <a:off x="819369" y="1664466"/>
                <a:ext cx="418911" cy="531826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44" name="TextBox 43"/>
              <p:cNvSpPr txBox="1"/>
              <p:nvPr/>
            </p:nvSpPr>
            <p:spPr>
              <a:xfrm>
                <a:off x="342848" y="2170587"/>
                <a:ext cx="512318" cy="2053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800" b="1">
                    <a:solidFill>
                      <a:srgbClr val="C00000"/>
                    </a:solidFill>
                    <a:latin typeface="+mj-ea"/>
                    <a:ea typeface="+mj-ea"/>
                  </a:rPr>
                  <a:t>根序列</a:t>
                </a:r>
              </a:p>
            </p:txBody>
          </p:sp>
          <p:cxnSp>
            <p:nvCxnSpPr>
              <p:cNvPr id="47" name="直接箭头连接符 46"/>
              <p:cNvCxnSpPr>
                <a:endCxn id="48" idx="1"/>
              </p:cNvCxnSpPr>
              <p:nvPr/>
            </p:nvCxnSpPr>
            <p:spPr bwMode="auto">
              <a:xfrm flipV="1">
                <a:off x="2261160" y="1544335"/>
                <a:ext cx="409040" cy="26753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48" name="TextBox 47"/>
              <p:cNvSpPr txBox="1"/>
              <p:nvPr/>
            </p:nvSpPr>
            <p:spPr>
              <a:xfrm>
                <a:off x="2670200" y="1441665"/>
                <a:ext cx="634298" cy="2053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800" b="1" dirty="0">
                    <a:solidFill>
                      <a:srgbClr val="C00000"/>
                    </a:solidFill>
                    <a:latin typeface="+mj-ea"/>
                    <a:ea typeface="+mj-ea"/>
                  </a:rPr>
                  <a:t>序列长度</a:t>
                </a:r>
              </a:p>
            </p:txBody>
          </p:sp>
          <p:cxnSp>
            <p:nvCxnSpPr>
              <p:cNvPr id="49" name="直接箭头连接符 48"/>
              <p:cNvCxnSpPr/>
              <p:nvPr/>
            </p:nvCxnSpPr>
            <p:spPr bwMode="auto">
              <a:xfrm>
                <a:off x="3561035" y="1930379"/>
                <a:ext cx="868126" cy="309457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50" name="TextBox 49"/>
              <p:cNvSpPr txBox="1"/>
              <p:nvPr/>
            </p:nvSpPr>
            <p:spPr>
              <a:xfrm>
                <a:off x="4403346" y="2160854"/>
                <a:ext cx="634298" cy="2053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800" b="1">
                    <a:solidFill>
                      <a:srgbClr val="C00000"/>
                    </a:solidFill>
                    <a:latin typeface="+mj-ea"/>
                    <a:ea typeface="+mj-ea"/>
                  </a:rPr>
                  <a:t>生成公式</a:t>
                </a:r>
              </a:p>
            </p:txBody>
          </p:sp>
          <p:cxnSp>
            <p:nvCxnSpPr>
              <p:cNvPr id="51" name="直接箭头连接符 50"/>
              <p:cNvCxnSpPr/>
              <p:nvPr/>
            </p:nvCxnSpPr>
            <p:spPr bwMode="auto">
              <a:xfrm>
                <a:off x="1583810" y="2170587"/>
                <a:ext cx="1075765" cy="138499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52" name="TextBox 51"/>
              <p:cNvSpPr txBox="1"/>
              <p:nvPr/>
            </p:nvSpPr>
            <p:spPr>
              <a:xfrm>
                <a:off x="2623590" y="2183812"/>
                <a:ext cx="756278" cy="2053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800" b="1">
                    <a:solidFill>
                      <a:srgbClr val="C00000"/>
                    </a:solidFill>
                    <a:latin typeface="+mj-ea"/>
                    <a:ea typeface="+mj-ea"/>
                  </a:rPr>
                  <a:t>循环移位数</a:t>
                </a:r>
              </a:p>
            </p:txBody>
          </p:sp>
          <p:cxnSp>
            <p:nvCxnSpPr>
              <p:cNvPr id="53" name="直接箭头连接符 52"/>
              <p:cNvCxnSpPr/>
              <p:nvPr/>
            </p:nvCxnSpPr>
            <p:spPr bwMode="auto">
              <a:xfrm>
                <a:off x="1238280" y="2768120"/>
                <a:ext cx="0" cy="180388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54" name="直接箭头连接符 53"/>
              <p:cNvCxnSpPr/>
              <p:nvPr/>
            </p:nvCxnSpPr>
            <p:spPr bwMode="auto">
              <a:xfrm flipH="1">
                <a:off x="2015975" y="2768120"/>
                <a:ext cx="1" cy="180388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</p:grpSp>
        <p:sp>
          <p:nvSpPr>
            <p:cNvPr id="7" name="流程图: 过程 6"/>
            <p:cNvSpPr/>
            <p:nvPr/>
          </p:nvSpPr>
          <p:spPr bwMode="auto">
            <a:xfrm>
              <a:off x="5174505" y="5627708"/>
              <a:ext cx="1584303" cy="221882"/>
            </a:xfrm>
            <a:prstGeom prst="flowChartProcess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  <p:graphicFrame>
        <p:nvGraphicFramePr>
          <p:cNvPr id="58" name="图表 5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2380880"/>
              </p:ext>
            </p:extLst>
          </p:nvPr>
        </p:nvGraphicFramePr>
        <p:xfrm>
          <a:off x="6246310" y="835572"/>
          <a:ext cx="2570124" cy="2257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灯片编号占位符 4">
            <a:extLst>
              <a:ext uri="{FF2B5EF4-FFF2-40B4-BE49-F238E27FC236}">
                <a16:creationId xmlns:a16="http://schemas.microsoft.com/office/drawing/2014/main" id="{639541E4-68D8-45D1-B850-F2772596E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524491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5197642" cy="5410200"/>
          </a:xfrm>
        </p:spPr>
        <p:txBody>
          <a:bodyPr/>
          <a:lstStyle/>
          <a:p>
            <a:r>
              <a:rPr lang="zh-CN" altLang="en-US"/>
              <a:t>下行</a:t>
            </a:r>
            <a:r>
              <a:rPr lang="en-US" altLang="zh-CN"/>
              <a:t>-NSSS</a:t>
            </a:r>
          </a:p>
          <a:p>
            <a:pPr lvl="1"/>
            <a:r>
              <a:rPr lang="zh-CN" altLang="en-US"/>
              <a:t>携带小区</a:t>
            </a:r>
            <a:r>
              <a:rPr lang="en-US" altLang="zh-CN"/>
              <a:t>ID(PCI)</a:t>
            </a:r>
            <a:r>
              <a:rPr lang="zh-CN" altLang="en-US"/>
              <a:t>信息，范围</a:t>
            </a:r>
            <a:r>
              <a:rPr lang="en-US" altLang="zh-CN">
                <a:solidFill>
                  <a:srgbClr val="C00000"/>
                </a:solidFill>
              </a:rPr>
              <a:t>0-503</a:t>
            </a:r>
            <a:r>
              <a:rPr lang="en-US" altLang="zh-CN"/>
              <a:t>; </a:t>
            </a:r>
            <a:r>
              <a:rPr lang="en-US" altLang="zh-CN">
                <a:solidFill>
                  <a:srgbClr val="C00000"/>
                </a:solidFill>
              </a:rPr>
              <a:t>80ms</a:t>
            </a:r>
            <a:r>
              <a:rPr lang="zh-CN" altLang="en-US"/>
              <a:t>内帧定时信息</a:t>
            </a:r>
            <a:endParaRPr lang="en-US" altLang="zh-CN"/>
          </a:p>
          <a:p>
            <a:pPr lvl="1"/>
            <a:r>
              <a:rPr lang="zh-CN" altLang="en-US"/>
              <a:t>在偶数无线帧的子帧</a:t>
            </a:r>
            <a:r>
              <a:rPr lang="en-US" altLang="zh-CN"/>
              <a:t>#9</a:t>
            </a:r>
            <a:r>
              <a:rPr lang="zh-CN" altLang="en-US"/>
              <a:t>上发送，发送周期</a:t>
            </a:r>
            <a:r>
              <a:rPr lang="en-US" altLang="zh-CN">
                <a:solidFill>
                  <a:srgbClr val="C00000"/>
                </a:solidFill>
              </a:rPr>
              <a:t>20ms</a:t>
            </a:r>
          </a:p>
          <a:p>
            <a:pPr lvl="1"/>
            <a:r>
              <a:rPr lang="en-US" altLang="zh-CN"/>
              <a:t>NSSS</a:t>
            </a:r>
            <a:r>
              <a:rPr lang="zh-CN" altLang="en-US"/>
              <a:t>占用</a:t>
            </a:r>
            <a:r>
              <a:rPr lang="en-US" altLang="zh-CN"/>
              <a:t>11(symbol)* 12(subcarrier)=</a:t>
            </a:r>
            <a:r>
              <a:rPr lang="en-US" altLang="zh-CN">
                <a:solidFill>
                  <a:srgbClr val="C00000"/>
                </a:solidFill>
              </a:rPr>
              <a:t>132 RE</a:t>
            </a:r>
          </a:p>
          <a:p>
            <a:pPr lvl="1"/>
            <a:r>
              <a:rPr lang="zh-CN" altLang="en-US"/>
              <a:t>先生成</a:t>
            </a:r>
            <a:r>
              <a:rPr lang="en-US" altLang="zh-CN"/>
              <a:t>131</a:t>
            </a:r>
            <a:r>
              <a:rPr lang="zh-CN" altLang="en-US"/>
              <a:t>的根底序列</a:t>
            </a:r>
            <a:r>
              <a:rPr lang="en-US" altLang="zh-CN"/>
              <a:t>, </a:t>
            </a:r>
            <a:r>
              <a:rPr lang="zh-CN" altLang="en-US"/>
              <a:t>再循坏拓展成</a:t>
            </a:r>
            <a:r>
              <a:rPr lang="en-US" altLang="zh-CN"/>
              <a:t>132</a:t>
            </a:r>
            <a:r>
              <a:rPr lang="zh-CN" altLang="en-US"/>
              <a:t>长</a:t>
            </a:r>
            <a:r>
              <a:rPr lang="en-US" altLang="zh-CN"/>
              <a:t>ZC</a:t>
            </a:r>
            <a:r>
              <a:rPr lang="zh-CN" altLang="en-US"/>
              <a:t>序列，正好填充</a:t>
            </a:r>
            <a:r>
              <a:rPr lang="en-US" altLang="zh-CN">
                <a:solidFill>
                  <a:srgbClr val="C00000"/>
                </a:solidFill>
              </a:rPr>
              <a:t>132 RE</a:t>
            </a:r>
            <a:endParaRPr lang="zh-CN" altLang="en-US" dirty="0">
              <a:solidFill>
                <a:srgbClr val="C00000"/>
              </a:solidFill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904" y="990600"/>
            <a:ext cx="2807780" cy="5651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C0A8C4-5A75-4018-8A1B-C3CBC2C3D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944305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下行参考信号</a:t>
            </a:r>
            <a:r>
              <a:rPr lang="en-US" altLang="zh-CN" dirty="0"/>
              <a:t>NRS</a:t>
            </a:r>
          </a:p>
          <a:p>
            <a:pPr lvl="1"/>
            <a:r>
              <a:rPr lang="zh-CN" altLang="en-US" dirty="0"/>
              <a:t>主要作用是下行信道质量测量的估计</a:t>
            </a:r>
          </a:p>
          <a:p>
            <a:pPr lvl="1"/>
            <a:r>
              <a:rPr lang="zh-CN" altLang="en-US" dirty="0"/>
              <a:t>下行</a:t>
            </a:r>
            <a:r>
              <a:rPr lang="en-US" altLang="zh-CN" dirty="0"/>
              <a:t>NPBCH, NPDCCH, NPDSCH</a:t>
            </a:r>
            <a:r>
              <a:rPr lang="zh-CN" altLang="en-US" dirty="0"/>
              <a:t>信道无论有无数据传输，所有下行子帧</a:t>
            </a:r>
            <a:r>
              <a:rPr lang="en-US" altLang="zh-CN" dirty="0"/>
              <a:t>(</a:t>
            </a:r>
            <a:r>
              <a:rPr lang="zh-CN" altLang="en-US" dirty="0"/>
              <a:t>除了</a:t>
            </a:r>
            <a:r>
              <a:rPr lang="en-US" altLang="zh-CN" dirty="0"/>
              <a:t>NPSS, NSSS)</a:t>
            </a:r>
            <a:r>
              <a:rPr lang="zh-CN" altLang="en-US" dirty="0"/>
              <a:t>都要传输</a:t>
            </a:r>
            <a:r>
              <a:rPr lang="en-US" altLang="zh-CN" dirty="0"/>
              <a:t>NRS</a:t>
            </a:r>
          </a:p>
          <a:p>
            <a:pPr lvl="1"/>
            <a:r>
              <a:rPr lang="zh-CN" altLang="en-US" dirty="0"/>
              <a:t>每个子帧每个天线端口使用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RE, </a:t>
            </a:r>
            <a:r>
              <a:rPr lang="zh-CN" altLang="en-US" dirty="0"/>
              <a:t>最多支持两个天线端口</a:t>
            </a:r>
          </a:p>
          <a:p>
            <a:pPr lvl="0"/>
            <a:endParaRPr lang="zh-CN" altLang="en-US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527" y="3485795"/>
            <a:ext cx="4562965" cy="254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292277" y="3033652"/>
            <a:ext cx="1436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NRS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资源映射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F915211D-DFDD-4C64-8420-10AF104DA4B4}"/>
              </a:ext>
            </a:extLst>
          </p:cNvPr>
          <p:cNvSpPr txBox="1">
            <a:spLocks/>
          </p:cNvSpPr>
          <p:nvPr/>
        </p:nvSpPr>
        <p:spPr bwMode="auto">
          <a:xfrm>
            <a:off x="457200" y="3202929"/>
            <a:ext cx="3669977" cy="3014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l"/>
              <a:defRPr lang="zh-CN" altLang="en-US" sz="2400" b="1" baseline="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l"/>
              <a:defRPr lang="en-US" altLang="zh-CN" sz="2000" b="0" baseline="0">
                <a:solidFill>
                  <a:schemeClr val="tx1"/>
                </a:solidFill>
                <a:effectLst/>
                <a:latin typeface="+mj-ea"/>
                <a:ea typeface="+mj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l"/>
              <a:defRPr sz="1800" b="0" i="0" baseline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l"/>
              <a:defRPr sz="1600" baseline="0">
                <a:solidFill>
                  <a:schemeClr val="tx1"/>
                </a:solidFill>
                <a:latin typeface="+mj-ea"/>
                <a:ea typeface="+mj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l"/>
              <a:defRPr sz="1600" b="1" i="1" baseline="0">
                <a:solidFill>
                  <a:schemeClr val="tx1"/>
                </a:solidFill>
                <a:latin typeface="+mj-ea"/>
                <a:ea typeface="+mj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itchFamily="2" charset="2"/>
              <a:buChar char="ü"/>
              <a:defRPr sz="1600" b="1" i="1">
                <a:solidFill>
                  <a:srgbClr val="660066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itchFamily="2" charset="2"/>
              <a:buChar char="ü"/>
              <a:defRPr sz="1600" b="1" i="1">
                <a:solidFill>
                  <a:srgbClr val="660066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itchFamily="2" charset="2"/>
              <a:buChar char="ü"/>
              <a:defRPr sz="1600" b="1" i="1">
                <a:solidFill>
                  <a:srgbClr val="660066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buFont typeface="Wingdings" pitchFamily="2" charset="2"/>
              <a:buChar char="ü"/>
              <a:defRPr sz="1600" b="1" i="1">
                <a:solidFill>
                  <a:srgbClr val="660066"/>
                </a:solidFill>
                <a:latin typeface="+mn-lt"/>
              </a:defRPr>
            </a:lvl9pPr>
          </a:lstStyle>
          <a:p>
            <a:pPr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zh-CN" dirty="0"/>
              <a:t>NRS</a:t>
            </a:r>
            <a:r>
              <a:rPr lang="zh-CN" altLang="en-US" dirty="0"/>
              <a:t>作用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上行功率控制，通过测量结果计算路损，</a:t>
            </a:r>
            <a:br>
              <a:rPr lang="zh-CN" altLang="en-US" dirty="0"/>
            </a:br>
            <a:r>
              <a:rPr lang="zh-CN" altLang="en-US" dirty="0"/>
              <a:t>从而设置终端发射功率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终端判断所处覆盖等级，从而确定</a:t>
            </a:r>
            <a:r>
              <a:rPr lang="en-US" altLang="zh-CN" dirty="0"/>
              <a:t>NPRACH</a:t>
            </a:r>
            <a:r>
              <a:rPr lang="zh-CN" altLang="en-US" dirty="0"/>
              <a:t>的发送格式等</a:t>
            </a: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1BC42398-685A-4736-A2D7-1F70B7F13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964063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上行资源分配</a:t>
            </a:r>
            <a:endParaRPr lang="en-US" altLang="zh-CN" dirty="0"/>
          </a:p>
          <a:p>
            <a:pPr lvl="1"/>
            <a:r>
              <a:rPr lang="zh-CN" altLang="en-US" b="1" dirty="0"/>
              <a:t>频域上</a:t>
            </a:r>
            <a:r>
              <a:rPr lang="zh-CN" altLang="en-US" dirty="0"/>
              <a:t>：上行带宽</a:t>
            </a:r>
            <a:r>
              <a:rPr lang="en-US" altLang="zh-CN" dirty="0">
                <a:solidFill>
                  <a:srgbClr val="C00000"/>
                </a:solidFill>
              </a:rPr>
              <a:t>180kHz</a:t>
            </a:r>
            <a:r>
              <a:rPr lang="en-US" altLang="zh-CN" dirty="0"/>
              <a:t>, </a:t>
            </a:r>
            <a:r>
              <a:rPr lang="zh-CN" altLang="en-US" dirty="0"/>
              <a:t>支持两种子载波间隔：</a:t>
            </a:r>
          </a:p>
          <a:p>
            <a:pPr lvl="2"/>
            <a:r>
              <a:rPr lang="en-US" altLang="zh-CN" dirty="0"/>
              <a:t>12</a:t>
            </a:r>
            <a:r>
              <a:rPr lang="zh-CN" altLang="en-US" dirty="0"/>
              <a:t>个</a:t>
            </a:r>
            <a:r>
              <a:rPr lang="en-US" altLang="zh-CN" dirty="0"/>
              <a:t>subcarrier, </a:t>
            </a:r>
            <a:r>
              <a:rPr lang="zh-CN" altLang="en-US" dirty="0"/>
              <a:t>每个宽</a:t>
            </a:r>
            <a:r>
              <a:rPr lang="en-US" altLang="zh-CN" dirty="0"/>
              <a:t>15kHz</a:t>
            </a:r>
          </a:p>
          <a:p>
            <a:pPr lvl="2"/>
            <a:r>
              <a:rPr lang="en-US" altLang="zh-CN" dirty="0"/>
              <a:t>48</a:t>
            </a:r>
            <a:r>
              <a:rPr lang="zh-CN" altLang="en-US" dirty="0"/>
              <a:t>个</a:t>
            </a:r>
            <a:r>
              <a:rPr lang="en-US" altLang="zh-CN" dirty="0"/>
              <a:t>subcarrier, </a:t>
            </a:r>
            <a:r>
              <a:rPr lang="zh-CN" altLang="en-US" dirty="0"/>
              <a:t>每个宽</a:t>
            </a:r>
            <a:r>
              <a:rPr lang="en-US" altLang="zh-CN" dirty="0"/>
              <a:t>3.75kHz</a:t>
            </a:r>
          </a:p>
          <a:p>
            <a:pPr lvl="1"/>
            <a:r>
              <a:rPr lang="zh-CN" altLang="en-US" dirty="0"/>
              <a:t>两种模式：</a:t>
            </a:r>
          </a:p>
          <a:p>
            <a:pPr lvl="2"/>
            <a:r>
              <a:rPr lang="en-US" dirty="0"/>
              <a:t>single tone: 1 user</a:t>
            </a:r>
            <a:r>
              <a:rPr lang="zh-CN" altLang="en-US" dirty="0"/>
              <a:t>用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carrier; </a:t>
            </a:r>
            <a:r>
              <a:rPr lang="zh-CN" altLang="en-US" dirty="0"/>
              <a:t>支持</a:t>
            </a:r>
            <a:r>
              <a:rPr lang="en-US" altLang="zh-CN" dirty="0">
                <a:solidFill>
                  <a:srgbClr val="C00000"/>
                </a:solidFill>
              </a:rPr>
              <a:t>15kHz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3.75kHz</a:t>
            </a:r>
          </a:p>
          <a:p>
            <a:pPr lvl="2"/>
            <a:r>
              <a:rPr lang="en-US" dirty="0"/>
              <a:t>multi tone: 1 user</a:t>
            </a:r>
            <a:r>
              <a:rPr lang="zh-CN" altLang="en-US" dirty="0"/>
              <a:t>用多个</a:t>
            </a:r>
            <a:r>
              <a:rPr lang="en-US" altLang="zh-CN" dirty="0"/>
              <a:t>carrier; </a:t>
            </a:r>
            <a:r>
              <a:rPr lang="zh-CN" altLang="en-US" dirty="0"/>
              <a:t>支持</a:t>
            </a:r>
            <a:r>
              <a:rPr lang="en-US" altLang="zh-CN" dirty="0">
                <a:solidFill>
                  <a:srgbClr val="C00000"/>
                </a:solidFill>
              </a:rPr>
              <a:t>15kHz</a:t>
            </a:r>
          </a:p>
          <a:p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754" y="3811200"/>
            <a:ext cx="4708192" cy="2870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2035EC-0135-413E-B20A-9D8B0BD14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19041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上行资源分配</a:t>
            </a:r>
            <a:endParaRPr lang="en-US" altLang="zh-CN" dirty="0"/>
          </a:p>
          <a:p>
            <a:pPr lvl="1"/>
            <a:r>
              <a:rPr lang="zh-CN" altLang="en-US" b="1" dirty="0"/>
              <a:t>时域上：</a:t>
            </a:r>
            <a:r>
              <a:rPr lang="zh-CN" altLang="en-US" b="0" dirty="0"/>
              <a:t>基本资源单位为一个时隙（</a:t>
            </a:r>
            <a:r>
              <a:rPr lang="en-US" altLang="zh-CN" b="0" dirty="0"/>
              <a:t>slot</a:t>
            </a:r>
            <a:r>
              <a:rPr lang="zh-CN" altLang="en-US" b="0" dirty="0"/>
              <a:t>）</a:t>
            </a:r>
          </a:p>
          <a:p>
            <a:pPr lvl="2"/>
            <a:r>
              <a:rPr lang="zh-CN" altLang="en-US" dirty="0"/>
              <a:t>对于</a:t>
            </a:r>
            <a:r>
              <a:rPr lang="en-US" altLang="zh-CN" dirty="0">
                <a:solidFill>
                  <a:srgbClr val="C00000"/>
                </a:solidFill>
              </a:rPr>
              <a:t>15kHz</a:t>
            </a:r>
            <a:r>
              <a:rPr lang="zh-CN" altLang="en-US" dirty="0"/>
              <a:t>子载波间隔：</a:t>
            </a:r>
            <a:r>
              <a:rPr lang="en-US" altLang="zh-CN" dirty="0"/>
              <a:t>1 slot = </a:t>
            </a:r>
            <a:r>
              <a:rPr lang="en-US" altLang="zh-CN" dirty="0">
                <a:solidFill>
                  <a:srgbClr val="C00000"/>
                </a:solidFill>
              </a:rPr>
              <a:t>0.5ms</a:t>
            </a:r>
          </a:p>
          <a:p>
            <a:pPr lvl="2"/>
            <a:r>
              <a:rPr lang="zh-CN" altLang="en-US" dirty="0"/>
              <a:t>对于</a:t>
            </a:r>
            <a:r>
              <a:rPr lang="en-US" altLang="zh-CN" dirty="0">
                <a:solidFill>
                  <a:srgbClr val="C00000"/>
                </a:solidFill>
              </a:rPr>
              <a:t>3.75kHz</a:t>
            </a:r>
            <a:r>
              <a:rPr lang="zh-CN" altLang="en-US" dirty="0"/>
              <a:t>子载波间隔：</a:t>
            </a:r>
            <a:r>
              <a:rPr lang="en-US" altLang="zh-CN" dirty="0"/>
              <a:t>1 slot = </a:t>
            </a:r>
            <a:r>
              <a:rPr lang="en-US" altLang="zh-CN" dirty="0">
                <a:solidFill>
                  <a:srgbClr val="C00000"/>
                </a:solidFill>
              </a:rPr>
              <a:t>2ms</a:t>
            </a:r>
            <a:r>
              <a:rPr lang="zh-CN" altLang="en-US" dirty="0"/>
              <a:t>，记为</a:t>
            </a:r>
            <a:r>
              <a:rPr lang="en-US" altLang="zh-CN" dirty="0"/>
              <a:t>NB-slot</a:t>
            </a:r>
            <a:r>
              <a:rPr lang="zh-CN" altLang="en-US" dirty="0"/>
              <a:t>，以示区别</a:t>
            </a:r>
          </a:p>
          <a:p>
            <a:pPr lvl="3"/>
            <a:r>
              <a:rPr lang="zh-CN" altLang="en-US" dirty="0"/>
              <a:t>注：频域上子载波间隔</a:t>
            </a:r>
            <a:r>
              <a:rPr lang="en-US" altLang="zh-CN" dirty="0">
                <a:solidFill>
                  <a:srgbClr val="C00000"/>
                </a:solidFill>
              </a:rPr>
              <a:t>3.75K</a:t>
            </a:r>
            <a:r>
              <a:rPr lang="zh-CN" altLang="en-US" dirty="0"/>
              <a:t>是</a:t>
            </a:r>
            <a:r>
              <a:rPr lang="en-US" altLang="zh-CN" dirty="0">
                <a:solidFill>
                  <a:srgbClr val="C00000"/>
                </a:solidFill>
              </a:rPr>
              <a:t>15K</a:t>
            </a:r>
            <a:r>
              <a:rPr lang="zh-CN" altLang="en-US" dirty="0"/>
              <a:t>的</a:t>
            </a:r>
            <a:r>
              <a:rPr lang="en-US" altLang="zh-CN" dirty="0"/>
              <a:t>1/4</a:t>
            </a:r>
            <a:r>
              <a:rPr lang="zh-CN" altLang="en-US" dirty="0"/>
              <a:t>，而时域上时隙</a:t>
            </a:r>
            <a:r>
              <a:rPr lang="en-US" altLang="zh-CN" dirty="0">
                <a:solidFill>
                  <a:srgbClr val="C00000"/>
                </a:solidFill>
              </a:rPr>
              <a:t>2ms</a:t>
            </a:r>
            <a:r>
              <a:rPr lang="zh-CN" altLang="en-US" dirty="0"/>
              <a:t>正好是</a:t>
            </a:r>
            <a:r>
              <a:rPr lang="en-US" altLang="zh-CN" dirty="0">
                <a:solidFill>
                  <a:srgbClr val="C00000"/>
                </a:solidFill>
              </a:rPr>
              <a:t>0.5ms</a:t>
            </a:r>
            <a:r>
              <a:rPr lang="zh-CN" altLang="en-US" dirty="0"/>
              <a:t>的</a:t>
            </a:r>
            <a:r>
              <a:rPr lang="en-US" altLang="zh-CN" dirty="0"/>
              <a:t>4</a:t>
            </a:r>
            <a:r>
              <a:rPr lang="zh-CN" altLang="en-US" dirty="0"/>
              <a:t>倍，两者其实是等效的。</a:t>
            </a:r>
          </a:p>
          <a:p>
            <a:pPr lvl="1"/>
            <a:r>
              <a:rPr lang="zh-CN" altLang="en-US" b="1" dirty="0"/>
              <a:t>无线帧</a:t>
            </a:r>
            <a:r>
              <a:rPr lang="en-US" altLang="zh-CN" b="1" dirty="0"/>
              <a:t>(frame)</a:t>
            </a:r>
            <a:r>
              <a:rPr lang="zh-CN" altLang="en-US" b="1" dirty="0"/>
              <a:t> </a:t>
            </a:r>
            <a:r>
              <a:rPr lang="en-US" altLang="zh-CN" b="0" dirty="0"/>
              <a:t>= </a:t>
            </a:r>
            <a:r>
              <a:rPr lang="en-US" altLang="zh-CN" b="0" dirty="0">
                <a:solidFill>
                  <a:srgbClr val="C00000"/>
                </a:solidFill>
              </a:rPr>
              <a:t>10ms</a:t>
            </a:r>
            <a:r>
              <a:rPr lang="en-US" altLang="zh-CN" b="0" dirty="0"/>
              <a:t> = 5 NB-slot</a:t>
            </a:r>
          </a:p>
          <a:p>
            <a:pPr lvl="1"/>
            <a:r>
              <a:rPr lang="en-US" altLang="zh-CN" b="1" dirty="0"/>
              <a:t>RU (resource unit)</a:t>
            </a:r>
            <a:r>
              <a:rPr lang="zh-CN" altLang="en-US" b="1" dirty="0"/>
              <a:t>：</a:t>
            </a:r>
            <a:r>
              <a:rPr lang="zh-CN" altLang="en-US" b="0" dirty="0"/>
              <a:t>时域、频域两个域的资源组合，是</a:t>
            </a:r>
            <a:r>
              <a:rPr lang="zh-CN" altLang="en-US" b="0" dirty="0">
                <a:sym typeface="+mn-ea"/>
              </a:rPr>
              <a:t>资源分配的基本单位 </a:t>
            </a:r>
            <a:r>
              <a:rPr lang="en-US" altLang="zh-CN" b="0" dirty="0">
                <a:sym typeface="+mn-ea"/>
              </a:rPr>
              <a:t>(smallest unit to map a TB)</a:t>
            </a:r>
          </a:p>
          <a:p>
            <a:pPr lvl="2"/>
            <a:r>
              <a:rPr lang="zh-CN" altLang="en-US" dirty="0"/>
              <a:t>例如当子载波间隔为</a:t>
            </a:r>
            <a:r>
              <a:rPr lang="en-US" altLang="zh-CN" dirty="0">
                <a:solidFill>
                  <a:srgbClr val="C00000"/>
                </a:solidFill>
              </a:rPr>
              <a:t>15kHz</a:t>
            </a:r>
            <a:r>
              <a:rPr lang="zh-CN" altLang="en-US" dirty="0"/>
              <a:t>时，定义了以下</a:t>
            </a:r>
            <a:r>
              <a:rPr lang="en-US" altLang="zh-CN" dirty="0"/>
              <a:t>4</a:t>
            </a:r>
            <a:r>
              <a:rPr lang="zh-CN" altLang="en-US" dirty="0"/>
              <a:t>种</a:t>
            </a:r>
            <a:r>
              <a:rPr lang="en-US" altLang="zh-CN" dirty="0"/>
              <a:t>RU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zh-CN" altLang="en-US" dirty="0">
                <a:sym typeface="+mn-ea"/>
              </a:rPr>
              <a:t>①</a:t>
            </a:r>
            <a:r>
              <a:rPr lang="zh-CN" altLang="en-US" dirty="0"/>
              <a:t>频域</a:t>
            </a:r>
            <a:r>
              <a:rPr lang="en-US" altLang="zh-CN" dirty="0"/>
              <a:t>12</a:t>
            </a:r>
            <a:r>
              <a:rPr lang="zh-CN" altLang="en-US" dirty="0"/>
              <a:t>个子载波，时域</a:t>
            </a:r>
            <a:r>
              <a:rPr lang="en-US" altLang="zh-CN" dirty="0">
                <a:solidFill>
                  <a:srgbClr val="C00000"/>
                </a:solidFill>
              </a:rPr>
              <a:t>1ms</a:t>
            </a:r>
            <a:r>
              <a:rPr lang="en-US" altLang="zh-CN" dirty="0"/>
              <a:t>; </a:t>
            </a:r>
            <a:r>
              <a:rPr lang="zh-CN" altLang="en-US" dirty="0">
                <a:sym typeface="+mn-ea"/>
              </a:rPr>
              <a:t>②</a:t>
            </a:r>
            <a:r>
              <a:rPr lang="zh-CN" altLang="en-US" dirty="0"/>
              <a:t>频域</a:t>
            </a:r>
            <a:r>
              <a:rPr lang="en-US" altLang="zh-CN" dirty="0"/>
              <a:t>6</a:t>
            </a:r>
            <a:r>
              <a:rPr lang="zh-CN" altLang="en-US" dirty="0"/>
              <a:t>个，时域</a:t>
            </a:r>
            <a:r>
              <a:rPr lang="en-US" altLang="zh-CN" dirty="0">
                <a:solidFill>
                  <a:srgbClr val="C00000"/>
                </a:solidFill>
              </a:rPr>
              <a:t>2ms</a:t>
            </a:r>
            <a:r>
              <a:rPr lang="en-US" altLang="zh-CN" dirty="0"/>
              <a:t>; </a:t>
            </a:r>
            <a:br>
              <a:rPr lang="en-US" altLang="zh-CN" dirty="0"/>
            </a:br>
            <a:r>
              <a:rPr lang="zh-CN" altLang="en-US" dirty="0">
                <a:sym typeface="+mn-ea"/>
              </a:rPr>
              <a:t>③</a:t>
            </a:r>
            <a:r>
              <a:rPr lang="zh-CN" altLang="en-US" dirty="0"/>
              <a:t>频域</a:t>
            </a:r>
            <a:r>
              <a:rPr lang="en-US" altLang="zh-CN" dirty="0"/>
              <a:t>3</a:t>
            </a:r>
            <a:r>
              <a:rPr lang="zh-CN" altLang="en-US" dirty="0"/>
              <a:t>个，时域</a:t>
            </a:r>
            <a:r>
              <a:rPr lang="en-US" altLang="zh-CN" dirty="0">
                <a:solidFill>
                  <a:srgbClr val="C00000"/>
                </a:solidFill>
              </a:rPr>
              <a:t>4ms</a:t>
            </a:r>
            <a:r>
              <a:rPr lang="en-US" altLang="zh-CN" dirty="0"/>
              <a:t>; ④</a:t>
            </a:r>
            <a:r>
              <a:rPr lang="zh-CN" altLang="en-US" dirty="0"/>
              <a:t>频域</a:t>
            </a:r>
            <a:r>
              <a:rPr lang="en-US" altLang="zh-CN" dirty="0"/>
              <a:t>1</a:t>
            </a:r>
            <a:r>
              <a:rPr lang="zh-CN" altLang="en-US" dirty="0"/>
              <a:t>个，时域</a:t>
            </a:r>
            <a:r>
              <a:rPr lang="en-US" altLang="zh-CN" dirty="0">
                <a:solidFill>
                  <a:srgbClr val="C00000"/>
                </a:solidFill>
              </a:rPr>
              <a:t>8ms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9637FC07-DB21-4181-AB02-0DE47C2AC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051216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上行物理信号</a:t>
            </a:r>
          </a:p>
          <a:p>
            <a:pPr lvl="1"/>
            <a:r>
              <a:rPr lang="en-US" altLang="zh-CN" dirty="0"/>
              <a:t>DMRS: Demodulation Reference Signal</a:t>
            </a:r>
            <a:endParaRPr lang="en-US" dirty="0"/>
          </a:p>
          <a:p>
            <a:r>
              <a:rPr lang="zh-CN" altLang="en-US" dirty="0"/>
              <a:t>上行物理信道</a:t>
            </a:r>
            <a:endParaRPr lang="zh-CN" altLang="en-US" dirty="0">
              <a:sym typeface="+mn-ea"/>
            </a:endParaRPr>
          </a:p>
          <a:p>
            <a:pPr lvl="1"/>
            <a:r>
              <a:rPr lang="en-US" altLang="zh-CN" dirty="0"/>
              <a:t>NPUSCH: Narrowband PHY UL Shared Channel</a:t>
            </a:r>
          </a:p>
          <a:p>
            <a:pPr lvl="2"/>
            <a:r>
              <a:rPr lang="en-US" altLang="zh-CN" dirty="0"/>
              <a:t>Format 1</a:t>
            </a:r>
            <a:r>
              <a:rPr lang="zh-CN" altLang="en-US" dirty="0"/>
              <a:t>：用于传输上行信号的数据</a:t>
            </a:r>
          </a:p>
          <a:p>
            <a:pPr lvl="2"/>
            <a:r>
              <a:rPr lang="en-US" altLang="zh-CN" dirty="0"/>
              <a:t>Format 2</a:t>
            </a:r>
            <a:r>
              <a:rPr lang="zh-CN" altLang="en-US" dirty="0"/>
              <a:t>：用于传输上行控制信息（</a:t>
            </a:r>
            <a:r>
              <a:rPr lang="en-US" altLang="zh-CN" dirty="0"/>
              <a:t>UCI</a:t>
            </a:r>
            <a:r>
              <a:rPr lang="zh-CN" altLang="en-US" dirty="0"/>
              <a:t>）</a:t>
            </a:r>
            <a:r>
              <a:rPr lang="en-US" altLang="zh-CN" dirty="0"/>
              <a:t>, </a:t>
            </a:r>
            <a:r>
              <a:rPr lang="zh-CN" altLang="en-US" dirty="0"/>
              <a:t>目前限于</a:t>
            </a:r>
            <a:r>
              <a:rPr lang="en-US" altLang="zh-CN" dirty="0"/>
              <a:t>HARQ ACK</a:t>
            </a:r>
          </a:p>
          <a:p>
            <a:pPr lvl="1"/>
            <a:r>
              <a:rPr lang="en-US" altLang="zh-CN" dirty="0"/>
              <a:t>NPRACH: Narrowband PHY Random Access Channel</a:t>
            </a:r>
          </a:p>
          <a:p>
            <a:r>
              <a:rPr lang="zh-CN" altLang="en-US" dirty="0"/>
              <a:t>多址接入方式</a:t>
            </a:r>
            <a:endParaRPr lang="en-US" altLang="zh-CN" dirty="0"/>
          </a:p>
          <a:p>
            <a:pPr lvl="1"/>
            <a:r>
              <a:rPr lang="zh-CN" altLang="zh-CN" dirty="0"/>
              <a:t>采用单载波频分多址接入</a:t>
            </a:r>
            <a:r>
              <a:rPr lang="en-US" altLang="zh-CN" dirty="0"/>
              <a:t>SC-FDMA</a:t>
            </a:r>
          </a:p>
          <a:p>
            <a:pPr lvl="2"/>
            <a:r>
              <a:rPr lang="zh-CN" altLang="zh-CN" dirty="0"/>
              <a:t>基于传统的正交频分多址接入</a:t>
            </a:r>
            <a:r>
              <a:rPr lang="zh-CN" altLang="en-US" dirty="0"/>
              <a:t>：</a:t>
            </a:r>
            <a:r>
              <a:rPr lang="en-US" altLang="zh-CN" dirty="0"/>
              <a:t>OFDMA</a:t>
            </a:r>
          </a:p>
          <a:p>
            <a:pPr lvl="2"/>
            <a:r>
              <a:rPr lang="zh-CN" altLang="zh-CN" dirty="0"/>
              <a:t>由于</a:t>
            </a:r>
            <a:r>
              <a:rPr lang="en-US" altLang="zh-CN" dirty="0"/>
              <a:t>SC-FDMA</a:t>
            </a:r>
            <a:r>
              <a:rPr lang="zh-CN" altLang="zh-CN" dirty="0"/>
              <a:t>采用单载波的方式，与</a:t>
            </a:r>
            <a:r>
              <a:rPr lang="en-US" altLang="zh-CN" dirty="0"/>
              <a:t>OFDMA</a:t>
            </a:r>
            <a:r>
              <a:rPr lang="zh-CN" altLang="zh-CN" dirty="0"/>
              <a:t>相比具有更低的峰值平均功率比</a:t>
            </a:r>
            <a:r>
              <a:rPr lang="en-US" altLang="zh-CN" dirty="0"/>
              <a:t>PAPR</a:t>
            </a:r>
          </a:p>
          <a:p>
            <a:pPr lvl="1"/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07E4EB63-E61F-4708-93FC-31D879686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49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509577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物理层</a:t>
            </a:r>
            <a:endParaRPr lang="en-US" altLang="zh-CN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3AA60E7-C438-46A7-85A1-193C0D0F5CF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上行下行总结</a:t>
            </a:r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8ED7723-A02A-4414-8C37-2919C8111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023611"/>
              </p:ext>
            </p:extLst>
          </p:nvPr>
        </p:nvGraphicFramePr>
        <p:xfrm>
          <a:off x="274320" y="1597793"/>
          <a:ext cx="8595360" cy="4840694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769791">
                  <a:extLst>
                    <a:ext uri="{9D8B030D-6E8A-4147-A177-3AD203B41FA5}">
                      <a16:colId xmlns:a16="http://schemas.microsoft.com/office/drawing/2014/main" val="1417026363"/>
                    </a:ext>
                  </a:extLst>
                </a:gridCol>
                <a:gridCol w="1760224">
                  <a:extLst>
                    <a:ext uri="{9D8B030D-6E8A-4147-A177-3AD203B41FA5}">
                      <a16:colId xmlns:a16="http://schemas.microsoft.com/office/drawing/2014/main" val="2642873518"/>
                    </a:ext>
                  </a:extLst>
                </a:gridCol>
                <a:gridCol w="6065345">
                  <a:extLst>
                    <a:ext uri="{9D8B030D-6E8A-4147-A177-3AD203B41FA5}">
                      <a16:colId xmlns:a16="http://schemas.microsoft.com/office/drawing/2014/main" val="3842900715"/>
                    </a:ext>
                  </a:extLst>
                </a:gridCol>
              </a:tblGrid>
              <a:tr h="36601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物理信道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+mj-ea"/>
                          <a:ea typeface="+mj-ea"/>
                        </a:rPr>
                        <a:t>作用及性质</a:t>
                      </a:r>
                      <a:endParaRPr lang="zh-CN" sz="1600" kern="100"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9760464"/>
                  </a:ext>
                </a:extLst>
              </a:tr>
              <a:tr h="415137">
                <a:tc rowSpan="6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+mj-ea"/>
                          <a:ea typeface="+mj-ea"/>
                        </a:rPr>
                        <a:t>下行</a:t>
                      </a:r>
                      <a:endParaRPr lang="zh-CN" sz="16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NPSS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+mj-ea"/>
                          <a:ea typeface="+mj-ea"/>
                        </a:rPr>
                        <a:t>用于时间和频率同步，在每个无线帧的子帧</a:t>
                      </a: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#5</a:t>
                      </a:r>
                      <a:r>
                        <a:rPr lang="zh-CN" altLang="en-US" sz="1600" kern="100">
                          <a:effectLst/>
                          <a:latin typeface="+mj-ea"/>
                          <a:ea typeface="+mj-ea"/>
                        </a:rPr>
                        <a:t>上发送，发送周期</a:t>
                      </a: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10ms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1112682"/>
                  </a:ext>
                </a:extLst>
              </a:tr>
              <a:tr h="406664">
                <a:tc vMerge="1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NSSS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+mj-ea"/>
                          <a:ea typeface="+mj-ea"/>
                        </a:rPr>
                        <a:t>携带小区</a:t>
                      </a: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ID</a:t>
                      </a:r>
                      <a:r>
                        <a:rPr lang="zh-CN" altLang="en-US" sz="1600" kern="100">
                          <a:effectLst/>
                          <a:latin typeface="+mj-ea"/>
                          <a:ea typeface="+mj-ea"/>
                        </a:rPr>
                        <a:t>信息，在偶数无线帧的子帧</a:t>
                      </a: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#9</a:t>
                      </a:r>
                      <a:r>
                        <a:rPr lang="zh-CN" altLang="en-US" sz="1600" kern="100">
                          <a:effectLst/>
                          <a:latin typeface="+mj-ea"/>
                          <a:ea typeface="+mj-ea"/>
                        </a:rPr>
                        <a:t>上发送，发送周期</a:t>
                      </a: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20ms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0636591"/>
                  </a:ext>
                </a:extLst>
              </a:tr>
              <a:tr h="406664">
                <a:tc vMerge="1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NRS</a:t>
                      </a:r>
                      <a:endParaRPr lang="zh-CN" sz="16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用于下行信道质量估计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832">
                <a:tc vMerge="1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NPBCH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承载主系统消息块（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MIB-NB</a:t>
                      </a: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，包括部署方式指示等），在每个无线帧的子帧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#0</a:t>
                      </a: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上发送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1978288"/>
                  </a:ext>
                </a:extLst>
              </a:tr>
              <a:tr h="444736">
                <a:tc vMerge="1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NPDCCH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承载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DCI </a:t>
                      </a: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，包含一个或多个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UE</a:t>
                      </a: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上的资源分配和其他控制信息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82">
                <a:tc vMerge="1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NPDSCH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携带下行业务数据和系统消息，包括单播业务数据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寻呼消息和随机接入响应消息</a:t>
                      </a:r>
                      <a:endParaRPr lang="en-US" alt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832">
                <a:tc rowSpan="3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+mj-ea"/>
                          <a:ea typeface="+mj-ea"/>
                        </a:rPr>
                        <a:t>上行</a:t>
                      </a:r>
                      <a:endParaRPr lang="zh-CN" sz="16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DMRS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用于信道估计，根据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NPUSCH</a:t>
                      </a: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格式，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DMRS</a:t>
                      </a: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每时隙传输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个或者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个</a:t>
                      </a: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SC-FDMA</a:t>
                      </a: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符号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736">
                <a:tc vMerge="1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NPRACH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用于设备随机接入过程，采用跳频传输方式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736">
                <a:tc vMerge="1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NPUSCH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+mj-ea"/>
                          <a:ea typeface="+mj-ea"/>
                        </a:rPr>
                        <a:t>用于传输上行数据和上行控制信息，支持多载波传输方式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D52BD9DA-25E6-45E6-A2CC-3F9C3A41F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29736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460D4-71A7-498C-A6D0-78525FAD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NB-IoT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1C4E06-BD6C-4803-9711-2DCDA923A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zh-CN" altLang="en-US"/>
              <a:t>简介</a:t>
            </a:r>
            <a:endParaRPr lang="en-US" altLang="zh-CN"/>
          </a:p>
          <a:p>
            <a:r>
              <a:rPr lang="zh-CN" altLang="en-US"/>
              <a:t>物理层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链路层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网络层</a:t>
            </a:r>
            <a:endParaRPr lang="en-US" altLang="zh-CN"/>
          </a:p>
          <a:p>
            <a:r>
              <a:rPr lang="zh-CN" altLang="en-US"/>
              <a:t>实例分析</a:t>
            </a:r>
            <a:endParaRPr lang="en-US" altLang="zh-CN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437021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/>
              <a:t>NB-IoT</a:t>
            </a:r>
            <a:r>
              <a:rPr lang="zh-CN" altLang="en-US"/>
              <a:t>链路层</a:t>
            </a:r>
            <a:endParaRPr lang="en-US" altLang="zh-CN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卷积码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/>
              <a:t>卷积码是一种差错控制编码，由</a:t>
            </a:r>
            <a:r>
              <a:rPr lang="en-US" altLang="zh-CN" dirty="0"/>
              <a:t>P. Elias </a:t>
            </a:r>
            <a:r>
              <a:rPr lang="zh-CN" altLang="en-US" dirty="0"/>
              <a:t>于</a:t>
            </a:r>
            <a:r>
              <a:rPr lang="en-US" altLang="zh-CN" dirty="0"/>
              <a:t>1955</a:t>
            </a:r>
            <a:r>
              <a:rPr lang="zh-CN" altLang="en-US" dirty="0"/>
              <a:t>年提出</a:t>
            </a:r>
            <a:endParaRPr lang="en-US" altLang="zh-CN" dirty="0"/>
          </a:p>
          <a:p>
            <a:pPr lvl="1"/>
            <a:r>
              <a:rPr lang="zh-CN" altLang="en-US" dirty="0"/>
              <a:t>卷积码是一种有记忆的纠错码，编码规则是将</a:t>
            </a:r>
            <a:r>
              <a:rPr lang="en-US" altLang="zh-CN" dirty="0"/>
              <a:t>k </a:t>
            </a:r>
            <a:r>
              <a:rPr lang="zh-CN" altLang="en-US" dirty="0"/>
              <a:t>个信息比特编码形成</a:t>
            </a:r>
            <a:r>
              <a:rPr lang="en-US" altLang="zh-CN" dirty="0"/>
              <a:t>n </a:t>
            </a:r>
            <a:r>
              <a:rPr lang="zh-CN" altLang="en-US" dirty="0"/>
              <a:t>个比特，编码后的</a:t>
            </a:r>
            <a:r>
              <a:rPr lang="en-US" altLang="zh-CN" dirty="0"/>
              <a:t>n </a:t>
            </a:r>
            <a:r>
              <a:rPr lang="zh-CN" altLang="en-US" dirty="0"/>
              <a:t>个码元不仅与当前输入的</a:t>
            </a:r>
            <a:r>
              <a:rPr lang="en-US" altLang="zh-CN" dirty="0"/>
              <a:t>k </a:t>
            </a:r>
            <a:r>
              <a:rPr lang="zh-CN" altLang="en-US" dirty="0"/>
              <a:t>个信息有关，而且与之前的</a:t>
            </a:r>
            <a:r>
              <a:rPr lang="en-US" altLang="zh-CN" dirty="0"/>
              <a:t>L-1</a:t>
            </a:r>
            <a:r>
              <a:rPr lang="zh-CN" altLang="en-US" dirty="0"/>
              <a:t>组的信息比特有关</a:t>
            </a:r>
          </a:p>
          <a:p>
            <a:pPr lvl="1"/>
            <a:r>
              <a:rPr lang="zh-CN" altLang="en-US" dirty="0"/>
              <a:t>卷积码可用三元组 </a:t>
            </a:r>
            <a:r>
              <a:rPr lang="en-US" altLang="zh-CN" dirty="0"/>
              <a:t>(n, k, L) </a:t>
            </a:r>
            <a:r>
              <a:rPr lang="zh-CN" altLang="en-US" dirty="0"/>
              <a:t>表示，其中，</a:t>
            </a:r>
            <a:r>
              <a:rPr lang="en-US" altLang="zh-CN" dirty="0"/>
              <a:t>n </a:t>
            </a:r>
            <a:r>
              <a:rPr lang="zh-CN" altLang="en-US" dirty="0"/>
              <a:t>为输出码字，</a:t>
            </a:r>
            <a:r>
              <a:rPr lang="en-US" altLang="zh-CN" dirty="0"/>
              <a:t>k</a:t>
            </a:r>
            <a:r>
              <a:rPr lang="zh-CN" altLang="en-US" dirty="0"/>
              <a:t>为输入的比特信息，</a:t>
            </a:r>
            <a:r>
              <a:rPr lang="en-US" altLang="zh-CN" dirty="0"/>
              <a:t>L </a:t>
            </a:r>
            <a:r>
              <a:rPr lang="zh-CN" altLang="en-US" dirty="0"/>
              <a:t>为约束长度，也称为记忆深度。卷积码码率</a:t>
            </a:r>
            <a:r>
              <a:rPr lang="en-US" altLang="zh-CN" dirty="0"/>
              <a:t>R </a:t>
            </a:r>
            <a:r>
              <a:rPr lang="zh-CN" altLang="en-US" dirty="0"/>
              <a:t>可以表示为</a:t>
            </a:r>
            <a:r>
              <a:rPr lang="en-US" altLang="zh-CN" dirty="0"/>
              <a:t>R = k/n</a:t>
            </a:r>
          </a:p>
          <a:p>
            <a:endParaRPr lang="en-US" altLang="zh-CN" dirty="0"/>
          </a:p>
        </p:txBody>
      </p:sp>
      <p:pic>
        <p:nvPicPr>
          <p:cNvPr id="4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207" y="4115792"/>
            <a:ext cx="4139468" cy="2164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BF3EB9-7A0E-45D5-AABC-26C29FFEA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681614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874E4-CA35-4A50-A045-FB69EFAC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链路层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245D3C-B6E2-4F7A-9468-952F16C0E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卷积码</a:t>
            </a:r>
            <a:endParaRPr lang="en-US" altLang="zh-CN"/>
          </a:p>
          <a:p>
            <a:pPr lvl="1"/>
            <a:r>
              <a:rPr lang="zh-CN" altLang="en-US"/>
              <a:t>样例：</a:t>
            </a:r>
            <a:endParaRPr lang="en-US" altLang="zh-CN"/>
          </a:p>
          <a:p>
            <a:pPr lvl="2"/>
            <a:r>
              <a:rPr lang="zh-CN" altLang="en-US"/>
              <a:t>输出码长</a:t>
            </a:r>
            <a:r>
              <a:rPr lang="en-US" altLang="zh-CN"/>
              <a:t>n=2</a:t>
            </a:r>
            <a:r>
              <a:rPr lang="zh-CN" altLang="en-US"/>
              <a:t>，输入比特</a:t>
            </a:r>
            <a:r>
              <a:rPr lang="en-US" altLang="zh-CN"/>
              <a:t>k=1</a:t>
            </a:r>
            <a:r>
              <a:rPr lang="zh-CN" altLang="en-US"/>
              <a:t>，约束长度</a:t>
            </a:r>
            <a:r>
              <a:rPr lang="en-US" altLang="zh-CN"/>
              <a:t>L=2</a:t>
            </a:r>
            <a:r>
              <a:rPr lang="zh-CN" altLang="en-US"/>
              <a:t>的卷积码编码器</a:t>
            </a:r>
            <a:endParaRPr lang="en-US" altLang="zh-CN"/>
          </a:p>
          <a:p>
            <a:pPr lvl="2"/>
            <a:r>
              <a:rPr lang="zh-CN" altLang="en-US"/>
              <a:t>输入序列</a:t>
            </a:r>
            <a:r>
              <a:rPr lang="en-US" altLang="zh-CN"/>
              <a:t>: 0110; </a:t>
            </a:r>
            <a:r>
              <a:rPr lang="zh-CN" altLang="en-US"/>
              <a:t>移位寄存器的初始值都为</a:t>
            </a:r>
            <a:r>
              <a:rPr lang="en-US" altLang="zh-CN"/>
              <a:t>0</a:t>
            </a:r>
          </a:p>
          <a:p>
            <a:pPr lvl="2"/>
            <a:r>
              <a:rPr lang="zh-CN" altLang="en-US"/>
              <a:t>当输入第一位 </a:t>
            </a:r>
            <a:r>
              <a:rPr lang="en-US" altLang="zh-CN"/>
              <a:t>(0) </a:t>
            </a:r>
            <a:r>
              <a:rPr lang="zh-CN" altLang="en-US"/>
              <a:t>时，输出码字为 </a:t>
            </a:r>
            <a:r>
              <a:rPr lang="en-US" altLang="zh-CN"/>
              <a:t>(00)</a:t>
            </a:r>
            <a:r>
              <a:rPr lang="zh-CN" altLang="en-US"/>
              <a:t>，寄存器状态为</a:t>
            </a:r>
            <a:r>
              <a:rPr lang="en-US" altLang="zh-CN"/>
              <a:t>(00)</a:t>
            </a:r>
          </a:p>
          <a:p>
            <a:pPr lvl="2"/>
            <a:r>
              <a:rPr lang="zh-CN" altLang="en-US"/>
              <a:t>当输入第二位 </a:t>
            </a:r>
            <a:r>
              <a:rPr lang="en-US" altLang="zh-CN"/>
              <a:t>(1) </a:t>
            </a:r>
            <a:r>
              <a:rPr lang="zh-CN" altLang="en-US"/>
              <a:t>时，输出码字为 </a:t>
            </a:r>
            <a:r>
              <a:rPr lang="en-US" altLang="zh-CN"/>
              <a:t>(11)</a:t>
            </a:r>
            <a:r>
              <a:rPr lang="zh-CN" altLang="en-US"/>
              <a:t>，寄存器状态为</a:t>
            </a:r>
            <a:r>
              <a:rPr lang="en-US" altLang="zh-CN"/>
              <a:t>(10)</a:t>
            </a:r>
          </a:p>
          <a:p>
            <a:pPr lvl="2"/>
            <a:r>
              <a:rPr lang="zh-CN" altLang="en-US"/>
              <a:t>当输入第三位 </a:t>
            </a:r>
            <a:r>
              <a:rPr lang="en-US" altLang="zh-CN"/>
              <a:t>(1) </a:t>
            </a:r>
            <a:r>
              <a:rPr lang="zh-CN" altLang="en-US"/>
              <a:t>时，输出码字为 </a:t>
            </a:r>
            <a:r>
              <a:rPr lang="en-US" altLang="zh-CN"/>
              <a:t>(01)</a:t>
            </a:r>
            <a:r>
              <a:rPr lang="zh-CN" altLang="en-US"/>
              <a:t>，寄存器状态为</a:t>
            </a:r>
            <a:r>
              <a:rPr lang="en-US" altLang="zh-CN"/>
              <a:t>(11)</a:t>
            </a:r>
          </a:p>
          <a:p>
            <a:pPr lvl="2"/>
            <a:r>
              <a:rPr lang="zh-CN" altLang="en-US"/>
              <a:t>当输入第四位 </a:t>
            </a:r>
            <a:r>
              <a:rPr lang="en-US" altLang="zh-CN"/>
              <a:t>(0) </a:t>
            </a:r>
            <a:r>
              <a:rPr lang="zh-CN" altLang="en-US"/>
              <a:t>时，输出码字为 </a:t>
            </a:r>
            <a:r>
              <a:rPr lang="en-US" altLang="zh-CN"/>
              <a:t>(01)</a:t>
            </a:r>
            <a:r>
              <a:rPr lang="zh-CN" altLang="en-US"/>
              <a:t>，寄存器状态为</a:t>
            </a:r>
            <a:r>
              <a:rPr lang="en-US" altLang="zh-CN"/>
              <a:t>(01)</a:t>
            </a:r>
          </a:p>
          <a:p>
            <a:pPr lvl="2"/>
            <a:r>
              <a:rPr lang="zh-CN" altLang="en-US"/>
              <a:t>卷积码最终的输出序列为 </a:t>
            </a:r>
            <a:r>
              <a:rPr lang="en-US" altLang="zh-CN"/>
              <a:t>(00 11 01 01)</a:t>
            </a:r>
          </a:p>
          <a:p>
            <a:endParaRPr lang="zh-CN" altLang="en-US" dirty="0"/>
          </a:p>
        </p:txBody>
      </p:sp>
      <p:pic>
        <p:nvPicPr>
          <p:cNvPr id="4" name="Picture 28">
            <a:extLst>
              <a:ext uri="{FF2B5EF4-FFF2-40B4-BE49-F238E27FC236}">
                <a16:creationId xmlns:a16="http://schemas.microsoft.com/office/drawing/2014/main" id="{7580A849-1CBC-49DC-A8F1-0BF70E2A0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746247"/>
            <a:ext cx="2985771" cy="1561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5B3EBA-142C-4D3F-ADA3-7A9019797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31234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B4163-5392-4A5B-82FB-5011200D9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5B087C-3DC7-4F59-9F3F-CF7FE39F1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在卷积码中，假设编码器只含有两个移位寄存器（且初始状态为</a:t>
            </a:r>
            <a:r>
              <a:rPr lang="en-US" altLang="zh-CN" dirty="0"/>
              <a:t>00</a:t>
            </a:r>
            <a:r>
              <a:rPr lang="zh-CN" altLang="en-US" dirty="0"/>
              <a:t>），当节点收到序列为 </a:t>
            </a:r>
            <a:r>
              <a:rPr lang="en-US" altLang="zh-CN" dirty="0"/>
              <a:t>[00 10 01 01]</a:t>
            </a:r>
            <a:r>
              <a:rPr lang="zh-CN" altLang="en-US" dirty="0"/>
              <a:t>的数据时，用维特比算法需要如何解码出原始的数据？请写出译码结果及实际编码数据。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BE7D4A5-3869-4AD3-9E96-082975C9091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51" y="3128210"/>
            <a:ext cx="2229853" cy="259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E1A3526-7B39-48AF-AC55-92D1C14E6CE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355" y="3429000"/>
            <a:ext cx="5476306" cy="16453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7610672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链路层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/>
              <a:t>TBCC</a:t>
            </a:r>
          </a:p>
          <a:p>
            <a:pPr lvl="1"/>
            <a:r>
              <a:rPr lang="zh-CN" altLang="en-US" dirty="0"/>
              <a:t>输入块</a:t>
            </a:r>
            <a:r>
              <a:rPr lang="en-US" altLang="zh-CN" dirty="0"/>
              <a:t>: c0c1,...,ck-1 </a:t>
            </a:r>
            <a:r>
              <a:rPr lang="zh-CN" altLang="en-US" dirty="0"/>
              <a:t>共</a:t>
            </a:r>
            <a:r>
              <a:rPr lang="en-US" altLang="zh-CN" dirty="0"/>
              <a:t>k</a:t>
            </a:r>
            <a:r>
              <a:rPr lang="zh-CN" altLang="en-US" dirty="0"/>
              <a:t>位</a:t>
            </a:r>
          </a:p>
          <a:p>
            <a:pPr lvl="1"/>
            <a:r>
              <a:rPr lang="zh-CN" altLang="en-US" dirty="0"/>
              <a:t>初始化</a:t>
            </a:r>
            <a:r>
              <a:rPr lang="en-US" altLang="zh-CN" dirty="0"/>
              <a:t>: S0S1,...,S5=ck-1,ck-2,...,ck-6</a:t>
            </a:r>
          </a:p>
          <a:p>
            <a:pPr lvl="1"/>
            <a:r>
              <a:rPr lang="zh-CN" altLang="en-US" dirty="0"/>
              <a:t>当最后的比特</a:t>
            </a:r>
            <a:r>
              <a:rPr lang="en-US" altLang="zh-CN" dirty="0"/>
              <a:t>Ck-1</a:t>
            </a:r>
            <a:r>
              <a:rPr lang="zh-CN" altLang="en-US" dirty="0"/>
              <a:t>进行编码完成后，寄存器又回到了初始状态，这种编码称为咬尾卷积码 </a:t>
            </a:r>
            <a:r>
              <a:rPr lang="en-US" altLang="zh-CN" dirty="0"/>
              <a:t>(Tail </a:t>
            </a:r>
            <a:r>
              <a:rPr lang="en-US" altLang="zh-CN" dirty="0" err="1"/>
              <a:t>Bitting</a:t>
            </a:r>
            <a:r>
              <a:rPr lang="en-US" altLang="zh-CN" dirty="0"/>
              <a:t> Convolutional Code, TBCC)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/>
              <a:t>NB-IoT</a:t>
            </a:r>
            <a:r>
              <a:rPr lang="zh-CN" altLang="en-US" dirty="0"/>
              <a:t>下行采用</a:t>
            </a:r>
            <a:r>
              <a:rPr lang="en-US" altLang="zh-CN" dirty="0"/>
              <a:t>TBCC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44826" y="3890888"/>
            <a:ext cx="8540048" cy="2663515"/>
            <a:chOff x="-24227" y="1988840"/>
            <a:chExt cx="9168227" cy="2592288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4227" y="1988840"/>
              <a:ext cx="9168227" cy="259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794588" y="2267580"/>
              <a:ext cx="465044" cy="31317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S0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267196" y="2252511"/>
              <a:ext cx="465044" cy="31317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S5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48064" y="2249160"/>
              <a:ext cx="465044" cy="31317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67944" y="2267580"/>
              <a:ext cx="465044" cy="31317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54828" y="2267580"/>
              <a:ext cx="465044" cy="31317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69232" y="2276872"/>
              <a:ext cx="465044" cy="31317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CFEB0A56-FF5D-4472-9073-5AB3CD2DC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702395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117" y="927732"/>
            <a:ext cx="3148781" cy="15537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链路层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Trellis diagram</a:t>
            </a:r>
          </a:p>
          <a:p>
            <a:pPr lvl="1"/>
            <a:r>
              <a:rPr lang="zh-CN" altLang="en-US"/>
              <a:t>输入数据：</a:t>
            </a:r>
            <a:r>
              <a:rPr lang="pl-PL" altLang="zh-CN"/>
              <a:t>u = [1 1 0 1]</a:t>
            </a:r>
            <a:endParaRPr lang="en-US" altLang="zh-CN"/>
          </a:p>
          <a:p>
            <a:pPr lvl="2"/>
            <a:r>
              <a:rPr lang="zh-CN" altLang="en-US"/>
              <a:t>初始状态</a:t>
            </a:r>
            <a:r>
              <a:rPr lang="en-US" altLang="zh-CN"/>
              <a:t>: 00</a:t>
            </a:r>
          </a:p>
          <a:p>
            <a:pPr lvl="1"/>
            <a:r>
              <a:rPr lang="zh-CN" altLang="en-US"/>
              <a:t>编码：</a:t>
            </a:r>
            <a:r>
              <a:rPr lang="en-US" altLang="zh-CN"/>
              <a:t>V = [11 01 01 00]</a:t>
            </a:r>
          </a:p>
          <a:p>
            <a:pPr lvl="1"/>
            <a:r>
              <a:rPr lang="zh-CN" altLang="en-US"/>
              <a:t>正确接收：</a:t>
            </a:r>
            <a:r>
              <a:rPr lang="pt-BR" altLang="zh-CN"/>
              <a:t>R = [11 01 01 00] </a:t>
            </a:r>
            <a:r>
              <a:rPr lang="en-US" altLang="zh-CN"/>
              <a:t>(</a:t>
            </a:r>
            <a:r>
              <a:rPr lang="zh-CN" altLang="en-US"/>
              <a:t>上</a:t>
            </a:r>
            <a:r>
              <a:rPr lang="en-US" altLang="zh-CN"/>
              <a:t>)</a:t>
            </a:r>
          </a:p>
          <a:p>
            <a:pPr lvl="1"/>
            <a:r>
              <a:rPr lang="zh-CN" altLang="en-US"/>
              <a:t>错误接收：</a:t>
            </a:r>
            <a:r>
              <a:rPr lang="pt-BR" altLang="zh-CN"/>
              <a:t>R = [11 01 11 00] (</a:t>
            </a:r>
            <a:r>
              <a:rPr lang="zh-CN" altLang="en-US"/>
              <a:t>下</a:t>
            </a:r>
            <a:r>
              <a:rPr lang="pt-BR" altLang="zh-CN"/>
              <a:t>)</a:t>
            </a:r>
            <a:endParaRPr lang="zh-CN" altLang="en-US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18" y="3695700"/>
            <a:ext cx="5813659" cy="305698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117" y="2471926"/>
            <a:ext cx="3129835" cy="3162781"/>
          </a:xfrm>
          <a:prstGeom prst="rect">
            <a:avLst/>
          </a:prstGeom>
        </p:spPr>
      </p:pic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A7505752-484A-4127-8575-7249633F2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322970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链路层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/>
              <a:t>Turbo code</a:t>
            </a:r>
          </a:p>
          <a:p>
            <a:pPr lvl="1"/>
            <a:r>
              <a:rPr lang="zh-CN" altLang="en-US"/>
              <a:t>广泛应用于现有的</a:t>
            </a:r>
            <a:r>
              <a:rPr lang="en-US" altLang="zh-CN"/>
              <a:t>LTE</a:t>
            </a:r>
            <a:r>
              <a:rPr lang="zh-CN" altLang="en-US"/>
              <a:t>系统</a:t>
            </a:r>
            <a:endParaRPr lang="en-US" altLang="zh-CN"/>
          </a:p>
          <a:p>
            <a:pPr lvl="2"/>
            <a:r>
              <a:rPr lang="en-US" altLang="zh-CN"/>
              <a:t>Turbo code</a:t>
            </a:r>
            <a:r>
              <a:rPr lang="zh-CN" altLang="en-US"/>
              <a:t>充分利用了</a:t>
            </a:r>
            <a:r>
              <a:rPr lang="en-US" altLang="zh-CN"/>
              <a:t>Shannon</a:t>
            </a:r>
            <a:r>
              <a:rPr lang="zh-CN" altLang="en-US"/>
              <a:t>信道编码定理的基本条件，从而获得了接近</a:t>
            </a:r>
            <a:r>
              <a:rPr lang="en-US" altLang="zh-CN"/>
              <a:t>Shannon</a:t>
            </a:r>
            <a:r>
              <a:rPr lang="zh-CN" altLang="en-US"/>
              <a:t>理论极限的性能。</a:t>
            </a:r>
            <a:endParaRPr lang="en-US" altLang="zh-CN"/>
          </a:p>
          <a:p>
            <a:pPr lvl="1"/>
            <a:r>
              <a:rPr lang="zh-CN" altLang="en-US"/>
              <a:t>更好的纠错能力</a:t>
            </a:r>
            <a:endParaRPr lang="en-US" altLang="zh-CN"/>
          </a:p>
          <a:p>
            <a:pPr lvl="2"/>
            <a:r>
              <a:rPr lang="zh-CN" altLang="en-US"/>
              <a:t>通过交织处理，使码重分布合理，降低数据序列的相关性，增大输出码字的最小汉明距，实现随机编码。相比</a:t>
            </a:r>
            <a:r>
              <a:rPr lang="en-US" altLang="zh-CN"/>
              <a:t>TBCC</a:t>
            </a:r>
            <a:r>
              <a:rPr lang="zh-CN" altLang="en-US"/>
              <a:t>，有更好的纠错能力</a:t>
            </a:r>
            <a:endParaRPr lang="en-US" altLang="zh-CN"/>
          </a:p>
          <a:p>
            <a:pPr lvl="1"/>
            <a:r>
              <a:rPr lang="zh-CN" altLang="en-US"/>
              <a:t>译码较为复杂，译码时延大</a:t>
            </a:r>
            <a:endParaRPr lang="en-US" altLang="zh-CN"/>
          </a:p>
          <a:p>
            <a:pPr lvl="2"/>
            <a:r>
              <a:rPr lang="zh-CN" altLang="en-US"/>
              <a:t>需使用迭代译码方式。相比</a:t>
            </a:r>
            <a:r>
              <a:rPr lang="en-US" altLang="zh-CN"/>
              <a:t>TBCC</a:t>
            </a:r>
            <a:r>
              <a:rPr lang="zh-CN" altLang="en-US"/>
              <a:t>，对接收端的译码能力有更高的要求，更适用于长数据包的发送</a:t>
            </a:r>
            <a:endParaRPr lang="en-US" altLang="zh-CN"/>
          </a:p>
          <a:p>
            <a:pPr lvl="1"/>
            <a:endParaRPr lang="en-US" altLang="zh-CN"/>
          </a:p>
          <a:p>
            <a:endParaRPr lang="en-US" altLang="zh-CN"/>
          </a:p>
          <a:p>
            <a:pPr lvl="1"/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3A8BCC5A-ABC5-41C0-903D-43983CD8E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011274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链路层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随机接入过程</a:t>
            </a:r>
            <a:endParaRPr lang="en-US" altLang="zh-CN" dirty="0"/>
          </a:p>
          <a:p>
            <a:pPr lvl="1"/>
            <a:r>
              <a:rPr lang="zh-CN" altLang="en-US" dirty="0"/>
              <a:t>竞争随机接入过程的四个步骤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zh-CN" dirty="0"/>
              <a:t>RRC(Radio Resource Control, </a:t>
            </a:r>
            <a:r>
              <a:rPr lang="zh-CN" altLang="en-US" dirty="0"/>
              <a:t>无线资源控制</a:t>
            </a:r>
            <a:r>
              <a:rPr lang="en-US" altLang="zh-CN" dirty="0"/>
              <a:t>)</a:t>
            </a:r>
            <a:r>
              <a:rPr lang="zh-CN" altLang="en-US" dirty="0"/>
              <a:t>：包含对无线资源进行分配并发送相关控制信令，</a:t>
            </a:r>
            <a:r>
              <a:rPr lang="en-US" altLang="zh-CN" dirty="0"/>
              <a:t>RRC</a:t>
            </a:r>
            <a:r>
              <a:rPr lang="zh-CN" altLang="en-US" dirty="0"/>
              <a:t>消息承载了建立、修改和释放链路层和物理层协议实体所需的全部参数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597" y="1895431"/>
            <a:ext cx="4316805" cy="335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C293B9-E2E3-4D30-82D6-478EAB4FB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595785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链路层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/>
              <a:t>随机接入过程</a:t>
            </a:r>
            <a:endParaRPr lang="en-US" altLang="zh-CN"/>
          </a:p>
          <a:p>
            <a:pPr lvl="1"/>
            <a:r>
              <a:rPr lang="en-US" altLang="zh-CN"/>
              <a:t>Msg1</a:t>
            </a:r>
            <a:r>
              <a:rPr lang="zh-CN" altLang="en-US"/>
              <a:t>：随机接入前导发送</a:t>
            </a:r>
            <a:endParaRPr lang="en-US" altLang="zh-CN"/>
          </a:p>
          <a:p>
            <a:pPr lvl="2"/>
            <a:r>
              <a:rPr lang="en-US" altLang="zh-CN"/>
              <a:t>Preamble</a:t>
            </a:r>
            <a:r>
              <a:rPr lang="zh-CN" altLang="en-US"/>
              <a:t>采用</a:t>
            </a:r>
            <a:r>
              <a:rPr lang="en-US" altLang="zh-CN"/>
              <a:t>Single-tone</a:t>
            </a:r>
            <a:r>
              <a:rPr lang="zh-CN" altLang="en-US"/>
              <a:t>方式传输，子载波间隔为</a:t>
            </a:r>
            <a:r>
              <a:rPr lang="en-US" altLang="zh-CN"/>
              <a:t>3.75kHz</a:t>
            </a:r>
            <a:r>
              <a:rPr lang="zh-CN" altLang="en-US"/>
              <a:t>，且默认通过调频发送</a:t>
            </a:r>
            <a:endParaRPr lang="en-US" altLang="zh-CN"/>
          </a:p>
          <a:p>
            <a:pPr lvl="2"/>
            <a:r>
              <a:rPr lang="en-US" altLang="zh-CN"/>
              <a:t>NPRACH</a:t>
            </a:r>
            <a:r>
              <a:rPr lang="zh-CN" altLang="en-US"/>
              <a:t>（窄带物理随机接入信道）通过重复发送前导码获得覆盖增强，重发次数可选择为 </a:t>
            </a:r>
            <a:r>
              <a:rPr lang="en-US" altLang="zh-CN"/>
              <a:t>{1,2,4,8,16,32,64,128}</a:t>
            </a:r>
          </a:p>
          <a:p>
            <a:pPr lvl="2"/>
            <a:r>
              <a:rPr lang="zh-CN" altLang="en-US"/>
              <a:t>设置发射功率</a:t>
            </a:r>
            <a:endParaRPr lang="en-US" altLang="zh-CN"/>
          </a:p>
          <a:p>
            <a:pPr lvl="3"/>
            <a:r>
              <a:rPr lang="zh-CN" altLang="en-US"/>
              <a:t>根据基站</a:t>
            </a:r>
            <a:r>
              <a:rPr lang="en-US" altLang="zh-CN"/>
              <a:t>BS</a:t>
            </a:r>
            <a:r>
              <a:rPr lang="zh-CN" altLang="en-US"/>
              <a:t>在广播消息中指示的</a:t>
            </a:r>
            <a:r>
              <a:rPr lang="en-US" altLang="zh-CN"/>
              <a:t>NPRACH</a:t>
            </a:r>
            <a:r>
              <a:rPr lang="zh-CN" altLang="en-US"/>
              <a:t>期望接收功率和前导发送次数，进行</a:t>
            </a:r>
            <a:r>
              <a:rPr lang="en-US" altLang="zh-CN"/>
              <a:t>NPRACH</a:t>
            </a:r>
            <a:r>
              <a:rPr lang="zh-CN" altLang="en-US"/>
              <a:t>发送功率计算和功率调整过程：</a:t>
            </a:r>
            <a:endParaRPr lang="en-US" altLang="zh-CN"/>
          </a:p>
          <a:p>
            <a:pPr lvl="3"/>
            <a:r>
              <a:rPr lang="en-US" altLang="zh-CN"/>
              <a:t>TRANSMISSION_POWER =INITIAL_POWER + (TRANSMISSION_COUNTER-1) × POWER_RAMP_STEP</a:t>
            </a:r>
          </a:p>
          <a:p>
            <a:pPr lvl="3"/>
            <a:r>
              <a:rPr lang="zh-CN" altLang="en-US"/>
              <a:t>其中，</a:t>
            </a:r>
            <a:r>
              <a:rPr lang="en-US" altLang="zh-CN"/>
              <a:t>POWER_RAMP_STEP</a:t>
            </a:r>
            <a:r>
              <a:rPr lang="zh-CN" altLang="en-US"/>
              <a:t>为功率递增的步长（取值范 围与</a:t>
            </a:r>
            <a:r>
              <a:rPr lang="en-US" altLang="zh-CN"/>
              <a:t>LTE</a:t>
            </a:r>
            <a:r>
              <a:rPr lang="zh-CN" altLang="en-US"/>
              <a:t>系统相同：</a:t>
            </a:r>
            <a:r>
              <a:rPr lang="en-US" altLang="zh-CN"/>
              <a:t>{0,2,4,6} dB</a:t>
            </a:r>
            <a:r>
              <a:rPr lang="zh-CN" altLang="en-US"/>
              <a:t>）</a:t>
            </a:r>
            <a:endParaRPr lang="en-US" altLang="zh-CN"/>
          </a:p>
          <a:p>
            <a:pPr lvl="3"/>
            <a:r>
              <a:rPr lang="zh-CN" altLang="en-US"/>
              <a:t>这个过程体现了随机接入在</a:t>
            </a:r>
            <a:r>
              <a:rPr lang="en-US" altLang="zh-CN"/>
              <a:t>Msg1</a:t>
            </a:r>
            <a:r>
              <a:rPr lang="zh-CN" altLang="en-US"/>
              <a:t>发送过程中所采用的开环功控的方式确定</a:t>
            </a:r>
            <a:r>
              <a:rPr lang="en-US" altLang="zh-CN"/>
              <a:t>UE</a:t>
            </a:r>
            <a:r>
              <a:rPr lang="zh-CN" altLang="en-US"/>
              <a:t>的发射功率，从而提高接入概率。</a:t>
            </a:r>
            <a:endParaRPr lang="en-US" altLang="zh-CN"/>
          </a:p>
          <a:p>
            <a:pPr lvl="2"/>
            <a:endParaRPr lang="en-US" altLang="zh-CN"/>
          </a:p>
          <a:p>
            <a:pPr lvl="1"/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49885A08-ABE2-45C4-B1EE-B61A725AC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59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019020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链路层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随机接入过程</a:t>
            </a:r>
            <a:endParaRPr lang="en-US" altLang="zh-CN" dirty="0"/>
          </a:p>
          <a:p>
            <a:pPr lvl="1"/>
            <a:r>
              <a:rPr lang="en-US" altLang="zh-CN" dirty="0"/>
              <a:t>Msg2</a:t>
            </a:r>
            <a:r>
              <a:rPr lang="zh-CN" altLang="en-US" dirty="0"/>
              <a:t>：随机接入响应（</a:t>
            </a:r>
            <a:r>
              <a:rPr lang="en-US" altLang="zh-CN" dirty="0"/>
              <a:t>Random Access Response</a:t>
            </a:r>
            <a:r>
              <a:rPr lang="zh-CN" altLang="en-US" dirty="0"/>
              <a:t>，</a:t>
            </a:r>
            <a:r>
              <a:rPr lang="en-US" altLang="zh-CN" dirty="0"/>
              <a:t>RAR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在</a:t>
            </a:r>
            <a:r>
              <a:rPr lang="en-US" altLang="zh-CN" dirty="0"/>
              <a:t>NPDSCH (Narrowband Physical Downlink Share Channel)</a:t>
            </a:r>
            <a:r>
              <a:rPr lang="zh-CN" altLang="en-US" dirty="0"/>
              <a:t>上发送，其位置由</a:t>
            </a:r>
            <a:r>
              <a:rPr lang="en-US" altLang="zh-CN" dirty="0"/>
              <a:t>NPDCCH (Narrowband Physical Downlink Control Channel)</a:t>
            </a:r>
            <a:r>
              <a:rPr lang="zh-CN" altLang="en-US" dirty="0"/>
              <a:t>指示</a:t>
            </a:r>
            <a:endParaRPr lang="en-US" altLang="zh-CN" dirty="0"/>
          </a:p>
          <a:p>
            <a:pPr lvl="2"/>
            <a:r>
              <a:rPr lang="zh-CN" altLang="en-US" dirty="0"/>
              <a:t>携带的信息</a:t>
            </a:r>
            <a:endParaRPr lang="en-US" altLang="zh-CN" dirty="0"/>
          </a:p>
          <a:p>
            <a:pPr lvl="3"/>
            <a:r>
              <a:rPr lang="en-US" altLang="zh-CN" dirty="0"/>
              <a:t>RA-preamble identifier</a:t>
            </a:r>
          </a:p>
          <a:p>
            <a:pPr lvl="3"/>
            <a:r>
              <a:rPr lang="en-US" altLang="zh-CN" dirty="0"/>
              <a:t>Timing alignment information</a:t>
            </a:r>
            <a:r>
              <a:rPr lang="zh-CN" altLang="en-US" dirty="0"/>
              <a:t>（定时调整量）</a:t>
            </a:r>
            <a:endParaRPr lang="en-US" altLang="zh-CN" dirty="0"/>
          </a:p>
          <a:p>
            <a:pPr lvl="3"/>
            <a:r>
              <a:rPr lang="en-US" altLang="zh-CN" dirty="0"/>
              <a:t>Msg3</a:t>
            </a:r>
            <a:r>
              <a:rPr lang="zh-CN" altLang="en-US" dirty="0"/>
              <a:t>传输的</a:t>
            </a:r>
            <a:r>
              <a:rPr lang="en-US" altLang="zh-CN" dirty="0"/>
              <a:t>UL grant</a:t>
            </a:r>
          </a:p>
          <a:p>
            <a:pPr lvl="3"/>
            <a:r>
              <a:rPr lang="en-US" altLang="zh-CN" dirty="0"/>
              <a:t>Temporary C-RNTI</a:t>
            </a:r>
          </a:p>
          <a:p>
            <a:pPr lvl="2"/>
            <a:r>
              <a:rPr lang="en-US" altLang="zh-CN" dirty="0"/>
              <a:t>UE</a:t>
            </a:r>
            <a:r>
              <a:rPr lang="zh-CN" altLang="en-US" dirty="0"/>
              <a:t>：发送前导后在一个时间窗口内等待</a:t>
            </a:r>
            <a:r>
              <a:rPr lang="en-US" altLang="zh-CN" dirty="0"/>
              <a:t>RA response, </a:t>
            </a:r>
            <a:r>
              <a:rPr lang="zh-CN" altLang="en-US" dirty="0"/>
              <a:t>如果在时间窗内没有等到属于此</a:t>
            </a:r>
            <a:r>
              <a:rPr lang="en-US" altLang="zh-CN" dirty="0"/>
              <a:t>UE</a:t>
            </a:r>
            <a:r>
              <a:rPr lang="zh-CN" altLang="en-US" dirty="0"/>
              <a:t>的响应，认为本次接入失败，则重新发送</a:t>
            </a:r>
            <a:r>
              <a:rPr lang="en-US" altLang="zh-CN" dirty="0"/>
              <a:t>preamble</a:t>
            </a:r>
            <a:r>
              <a:rPr lang="zh-CN" altLang="en-US" dirty="0"/>
              <a:t>；否则，进入</a:t>
            </a:r>
            <a:r>
              <a:rPr lang="en-US" altLang="zh-CN" dirty="0"/>
              <a:t>step3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3ADE5897-5B96-4474-9B9D-63FD659DF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816171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链路层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/>
              <a:t>随机接入过程</a:t>
            </a:r>
            <a:endParaRPr lang="en-US" altLang="zh-CN"/>
          </a:p>
          <a:p>
            <a:pPr lvl="1"/>
            <a:r>
              <a:rPr lang="en-US" altLang="zh-CN"/>
              <a:t>Msg3</a:t>
            </a:r>
            <a:r>
              <a:rPr lang="zh-CN" altLang="en-US"/>
              <a:t>：上行调度传输</a:t>
            </a:r>
            <a:endParaRPr lang="en-US" altLang="zh-CN"/>
          </a:p>
          <a:p>
            <a:pPr lvl="2"/>
            <a:r>
              <a:rPr lang="zh-CN" altLang="en-US"/>
              <a:t>在</a:t>
            </a:r>
            <a:r>
              <a:rPr lang="en-US" altLang="zh-CN"/>
              <a:t>NPDSCH (Narrowband Physical Downlink Share Channel)</a:t>
            </a:r>
            <a:r>
              <a:rPr lang="zh-CN" altLang="en-US"/>
              <a:t>上发送，根据</a:t>
            </a:r>
            <a:r>
              <a:rPr lang="en-US" altLang="zh-CN"/>
              <a:t>RAR</a:t>
            </a:r>
            <a:r>
              <a:rPr lang="zh-CN" altLang="en-US"/>
              <a:t>响应授权，按指定的资源和格式在</a:t>
            </a:r>
            <a:r>
              <a:rPr lang="en-US" altLang="zh-CN"/>
              <a:t>NPUSCH (Narrowband Physical Uplink Share Channel)</a:t>
            </a:r>
            <a:r>
              <a:rPr lang="zh-CN" altLang="en-US"/>
              <a:t>上进行</a:t>
            </a:r>
            <a:r>
              <a:rPr lang="en-US" altLang="zh-CN"/>
              <a:t>Msg3</a:t>
            </a:r>
            <a:r>
              <a:rPr lang="zh-CN" altLang="en-US"/>
              <a:t>发送</a:t>
            </a:r>
            <a:endParaRPr lang="en-US" altLang="zh-CN"/>
          </a:p>
          <a:p>
            <a:pPr lvl="2"/>
            <a:r>
              <a:rPr lang="zh-CN" altLang="en-US"/>
              <a:t>根据基站</a:t>
            </a:r>
            <a:r>
              <a:rPr lang="en-US" altLang="zh-CN"/>
              <a:t>BS</a:t>
            </a:r>
            <a:r>
              <a:rPr lang="zh-CN" altLang="en-US"/>
              <a:t>指示的相关功控参数、路损估计、</a:t>
            </a:r>
            <a:r>
              <a:rPr lang="en-US" altLang="zh-CN"/>
              <a:t>NPUSCH</a:t>
            </a:r>
            <a:r>
              <a:rPr lang="zh-CN" altLang="en-US"/>
              <a:t>资源占用等，计算</a:t>
            </a:r>
            <a:r>
              <a:rPr lang="en-US" altLang="zh-CN"/>
              <a:t>Msg3</a:t>
            </a:r>
            <a:r>
              <a:rPr lang="zh-CN" altLang="en-US"/>
              <a:t>的开环发射功率（与</a:t>
            </a:r>
            <a:r>
              <a:rPr lang="en-US" altLang="zh-CN"/>
              <a:t>Msg1</a:t>
            </a:r>
            <a:r>
              <a:rPr lang="zh-CN" altLang="en-US"/>
              <a:t>类似）</a:t>
            </a:r>
            <a:endParaRPr lang="en-US" altLang="zh-CN"/>
          </a:p>
          <a:p>
            <a:pPr lvl="2"/>
            <a:r>
              <a:rPr lang="zh-CN" altLang="en-US"/>
              <a:t>携带的信息</a:t>
            </a:r>
            <a:endParaRPr lang="en-US" altLang="zh-CN"/>
          </a:p>
          <a:p>
            <a:pPr lvl="3"/>
            <a:r>
              <a:rPr lang="zh-CN" altLang="en-US"/>
              <a:t>初始接入：传输</a:t>
            </a:r>
            <a:r>
              <a:rPr lang="en-US" altLang="zh-CN"/>
              <a:t>RRC</a:t>
            </a:r>
            <a:r>
              <a:rPr lang="zh-CN" altLang="en-US"/>
              <a:t>连接请求</a:t>
            </a:r>
            <a:endParaRPr lang="en-US" altLang="zh-CN"/>
          </a:p>
          <a:p>
            <a:pPr lvl="3"/>
            <a:r>
              <a:rPr lang="en-US" altLang="zh-CN"/>
              <a:t>RRC</a:t>
            </a:r>
            <a:r>
              <a:rPr lang="zh-CN" altLang="en-US"/>
              <a:t>连接重建立：传输</a:t>
            </a:r>
            <a:r>
              <a:rPr lang="en-US" altLang="zh-CN"/>
              <a:t>RRC</a:t>
            </a:r>
            <a:r>
              <a:rPr lang="zh-CN" altLang="en-US"/>
              <a:t>连接重建请求</a:t>
            </a:r>
            <a:endParaRPr lang="en-US" altLang="zh-CN"/>
          </a:p>
          <a:p>
            <a:pPr lvl="3"/>
            <a:r>
              <a:rPr lang="zh-CN" altLang="en-US"/>
              <a:t>其他情况至少传输</a:t>
            </a:r>
            <a:r>
              <a:rPr lang="en-US" altLang="zh-CN"/>
              <a:t>UE</a:t>
            </a:r>
            <a:r>
              <a:rPr lang="zh-CN" altLang="en-US"/>
              <a:t>的</a:t>
            </a:r>
            <a:r>
              <a:rPr lang="en-US" altLang="zh-CN"/>
              <a:t>C-RNTI</a:t>
            </a:r>
          </a:p>
          <a:p>
            <a:pPr lvl="2"/>
            <a:r>
              <a:rPr lang="en-US" altLang="zh-CN"/>
              <a:t>UE</a:t>
            </a:r>
            <a:r>
              <a:rPr lang="zh-CN" altLang="en-US"/>
              <a:t>：发送</a:t>
            </a:r>
            <a:r>
              <a:rPr lang="en-US" altLang="zh-CN"/>
              <a:t>Msg3</a:t>
            </a:r>
            <a:r>
              <a:rPr lang="zh-CN" altLang="en-US"/>
              <a:t>之后，启动竞争解决定时器等待</a:t>
            </a:r>
            <a:r>
              <a:rPr lang="en-US" altLang="zh-CN"/>
              <a:t>Msg4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A6A56AB-CCCD-4F1A-835E-1BB259BA9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457765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链路层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r>
              <a:rPr lang="zh-CN" altLang="en-US"/>
              <a:t>随机接入过程</a:t>
            </a:r>
            <a:endParaRPr lang="en-US" altLang="zh-CN"/>
          </a:p>
          <a:p>
            <a:pPr lvl="1"/>
            <a:r>
              <a:rPr lang="en-US" altLang="zh-CN"/>
              <a:t>Msg4</a:t>
            </a:r>
            <a:r>
              <a:rPr lang="zh-CN" altLang="en-US"/>
              <a:t>：竞争解决</a:t>
            </a:r>
            <a:endParaRPr lang="en-US" altLang="zh-CN"/>
          </a:p>
          <a:p>
            <a:pPr lvl="2"/>
            <a:r>
              <a:rPr lang="en-US" altLang="zh-CN"/>
              <a:t>BS</a:t>
            </a:r>
            <a:r>
              <a:rPr lang="zh-CN" altLang="en-US"/>
              <a:t>在</a:t>
            </a:r>
            <a:r>
              <a:rPr lang="en-US" altLang="zh-CN"/>
              <a:t>MAC</a:t>
            </a:r>
            <a:r>
              <a:rPr lang="zh-CN" altLang="en-US"/>
              <a:t>层进行竞争检测，并通过在</a:t>
            </a:r>
            <a:r>
              <a:rPr lang="en-US" altLang="zh-CN"/>
              <a:t>NPDCCH</a:t>
            </a:r>
            <a:r>
              <a:rPr lang="zh-CN" altLang="en-US"/>
              <a:t>上发送</a:t>
            </a:r>
            <a:r>
              <a:rPr lang="en-US" altLang="zh-CN"/>
              <a:t>C-RNTI</a:t>
            </a:r>
            <a:r>
              <a:rPr lang="zh-CN" altLang="en-US"/>
              <a:t>或者在</a:t>
            </a:r>
            <a:r>
              <a:rPr lang="en-US" altLang="zh-CN"/>
              <a:t>NPDSCH</a:t>
            </a:r>
            <a:r>
              <a:rPr lang="zh-CN" altLang="en-US"/>
              <a:t>上发送竞争解决</a:t>
            </a:r>
            <a:r>
              <a:rPr lang="en-US" altLang="zh-CN"/>
              <a:t>ID</a:t>
            </a:r>
            <a:r>
              <a:rPr lang="zh-CN" altLang="en-US"/>
              <a:t>来指示</a:t>
            </a:r>
            <a:r>
              <a:rPr lang="en-US" altLang="zh-CN"/>
              <a:t>UE</a:t>
            </a:r>
          </a:p>
          <a:p>
            <a:pPr lvl="2"/>
            <a:r>
              <a:rPr lang="zh-CN" altLang="en-US"/>
              <a:t>内容包括</a:t>
            </a:r>
            <a:endParaRPr lang="en-US" altLang="zh-CN"/>
          </a:p>
          <a:p>
            <a:pPr lvl="3"/>
            <a:r>
              <a:rPr lang="en-US" altLang="zh-CN"/>
              <a:t>UE ID (C-RNTI)</a:t>
            </a:r>
          </a:p>
          <a:p>
            <a:pPr lvl="3"/>
            <a:r>
              <a:rPr lang="zh-CN" altLang="en-US"/>
              <a:t>上行信道资源分配情况等</a:t>
            </a:r>
            <a:endParaRPr lang="en-US" altLang="zh-CN"/>
          </a:p>
          <a:p>
            <a:pPr lvl="2"/>
            <a:r>
              <a:rPr lang="en-US" altLang="zh-CN"/>
              <a:t>UE</a:t>
            </a:r>
            <a:r>
              <a:rPr lang="zh-CN" altLang="en-US"/>
              <a:t>：在竞争解决定时器超时前，一直监听</a:t>
            </a:r>
            <a:r>
              <a:rPr lang="en-US" altLang="zh-CN"/>
              <a:t>NPDCCH</a:t>
            </a:r>
            <a:r>
              <a:rPr lang="zh-CN" altLang="en-US"/>
              <a:t>信道</a:t>
            </a:r>
            <a:endParaRPr lang="en-US" altLang="zh-CN"/>
          </a:p>
          <a:p>
            <a:pPr lvl="3"/>
            <a:r>
              <a:rPr lang="zh-CN" altLang="en-US"/>
              <a:t>若在定时器内，检测到自己的</a:t>
            </a:r>
            <a:r>
              <a:rPr lang="en-US" altLang="zh-CN"/>
              <a:t>C-RNTI</a:t>
            </a:r>
            <a:r>
              <a:rPr lang="zh-CN" altLang="en-US"/>
              <a:t>，则认为竞争解决成功，并通知上层，上行同步过程结束，等待基站调度，发送上行数据</a:t>
            </a:r>
            <a:endParaRPr lang="en-US" altLang="zh-CN"/>
          </a:p>
          <a:p>
            <a:pPr lvl="3"/>
            <a:r>
              <a:rPr lang="zh-CN" altLang="en-US"/>
              <a:t>若在定时器到时，还未收到自己的</a:t>
            </a:r>
            <a:r>
              <a:rPr lang="en-US" altLang="zh-CN"/>
              <a:t>C-RNTI</a:t>
            </a:r>
            <a:r>
              <a:rPr lang="zh-CN" altLang="en-US"/>
              <a:t>，</a:t>
            </a:r>
            <a:r>
              <a:rPr lang="en-US" altLang="zh-CN"/>
              <a:t>UE</a:t>
            </a:r>
            <a:r>
              <a:rPr lang="zh-CN" altLang="en-US"/>
              <a:t>将认为本次竞争解决失败。失败后，如果</a:t>
            </a:r>
            <a:r>
              <a:rPr lang="en-US" altLang="zh-CN"/>
              <a:t>UE</a:t>
            </a:r>
            <a:r>
              <a:rPr lang="zh-CN" altLang="en-US"/>
              <a:t>的随机接入尝试次数小于最大尝试次数，在随机退避一段时间后，重新进行一次随机接入尝试。否则，通知上层随机接入失败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F1681647-8859-4EF2-9839-7291C7D0E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07661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链路层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随机接入过程</a:t>
            </a:r>
          </a:p>
          <a:p>
            <a:pPr lvl="1"/>
            <a:r>
              <a:rPr lang="zh-CN" altLang="en-US"/>
              <a:t>覆盖增强等级</a:t>
            </a:r>
            <a:r>
              <a:rPr lang="en-US" altLang="zh-CN"/>
              <a:t>(</a:t>
            </a:r>
            <a:r>
              <a:rPr lang="en-US"/>
              <a:t>CE </a:t>
            </a:r>
            <a:r>
              <a:rPr lang="en-US" altLang="zh-CN"/>
              <a:t>level</a:t>
            </a:r>
            <a:r>
              <a:rPr lang="en-US"/>
              <a:t>, </a:t>
            </a:r>
            <a:r>
              <a:rPr lang="en-US" altLang="zh-CN"/>
              <a:t>coverage enhancement level</a:t>
            </a:r>
            <a:r>
              <a:rPr lang="en-US"/>
              <a:t>)</a:t>
            </a:r>
            <a:r>
              <a:rPr lang="zh-CN" altLang="en-US"/>
              <a:t>估计、传输失败</a:t>
            </a:r>
            <a:r>
              <a:rPr lang="en-US" altLang="zh-CN"/>
              <a:t>(RAR missing)</a:t>
            </a:r>
            <a:r>
              <a:rPr lang="zh-CN" altLang="en-US"/>
              <a:t>处理</a:t>
            </a:r>
            <a:endParaRPr lang="zh-CN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537" y="2418370"/>
            <a:ext cx="6713994" cy="3794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719E7A99-9B38-4EEC-BA48-DF51F3D52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563375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网络层和传输层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/>
              <a:t>NB-IoT </a:t>
            </a:r>
            <a:r>
              <a:rPr lang="zh-CN" altLang="en-US"/>
              <a:t>基于</a:t>
            </a:r>
            <a:r>
              <a:rPr lang="en-US" altLang="zh-CN"/>
              <a:t>PHY, MAC</a:t>
            </a:r>
            <a:r>
              <a:rPr lang="zh-CN" altLang="en-US"/>
              <a:t>层可以构建网络层和传输层协议</a:t>
            </a:r>
            <a:endParaRPr lang="en-US" altLang="zh-CN"/>
          </a:p>
          <a:p>
            <a:pPr lvl="1"/>
            <a:r>
              <a:rPr lang="zh-CN" altLang="en-US"/>
              <a:t>钛比科技</a:t>
            </a:r>
            <a:r>
              <a:rPr lang="en-US" altLang="zh-CN"/>
              <a:t>STM32 NB-IoT </a:t>
            </a:r>
            <a:r>
              <a:rPr lang="zh-CN" altLang="en-US"/>
              <a:t>开发板提供了</a:t>
            </a:r>
            <a:r>
              <a:rPr lang="en-US" altLang="zh-CN"/>
              <a:t>IP</a:t>
            </a:r>
            <a:r>
              <a:rPr lang="zh-CN" altLang="en-US"/>
              <a:t>和</a:t>
            </a:r>
            <a:r>
              <a:rPr lang="en-US" altLang="zh-CN"/>
              <a:t>UDP</a:t>
            </a:r>
            <a:r>
              <a:rPr lang="zh-CN" altLang="en-US"/>
              <a:t>网络服务，可以通过Ａ</a:t>
            </a:r>
            <a:r>
              <a:rPr lang="en-US" altLang="zh-CN"/>
              <a:t>T command </a:t>
            </a:r>
            <a:r>
              <a:rPr lang="zh-CN" altLang="en-US"/>
              <a:t>调用</a:t>
            </a:r>
            <a:endParaRPr lang="en-US" altLang="zh-CN"/>
          </a:p>
          <a:p>
            <a:pPr lvl="1"/>
            <a:r>
              <a:rPr lang="en-US" altLang="zh-CN"/>
              <a:t>AT command</a:t>
            </a:r>
            <a:r>
              <a:rPr lang="zh-CN" altLang="en-US"/>
              <a:t>其实是个接口标准</a:t>
            </a:r>
            <a:endParaRPr lang="en-US" altLang="zh-CN"/>
          </a:p>
          <a:p>
            <a:r>
              <a:rPr lang="en-US" altLang="zh-CN"/>
              <a:t>IP</a:t>
            </a:r>
            <a:r>
              <a:rPr lang="zh-CN" altLang="en-US"/>
              <a:t>协议相关主要的</a:t>
            </a:r>
            <a:r>
              <a:rPr lang="en-US" altLang="zh-CN"/>
              <a:t>AT command</a:t>
            </a:r>
          </a:p>
          <a:p>
            <a:pPr lvl="1"/>
            <a:r>
              <a:rPr lang="en-US" altLang="zh-CN"/>
              <a:t>AT+NBAND=n;  //</a:t>
            </a:r>
            <a:r>
              <a:rPr lang="zh-CN" altLang="en-US"/>
              <a:t>设置模块工作频段。</a:t>
            </a:r>
            <a:r>
              <a:rPr lang="en-US" altLang="zh-CN"/>
              <a:t>n=5,8,20</a:t>
            </a:r>
            <a:r>
              <a:rPr lang="zh-CN" altLang="en-US"/>
              <a:t>分别对应</a:t>
            </a:r>
            <a:r>
              <a:rPr lang="en-US" altLang="zh-CN"/>
              <a:t>850MHz</a:t>
            </a:r>
            <a:r>
              <a:rPr lang="zh-CN" altLang="en-US"/>
              <a:t>、</a:t>
            </a:r>
            <a:r>
              <a:rPr lang="en-US" altLang="zh-CN"/>
              <a:t>900MHz</a:t>
            </a:r>
            <a:r>
              <a:rPr lang="zh-CN" altLang="en-US"/>
              <a:t>、</a:t>
            </a:r>
            <a:r>
              <a:rPr lang="en-US" altLang="zh-CN"/>
              <a:t>800MHz</a:t>
            </a:r>
          </a:p>
          <a:p>
            <a:pPr lvl="1"/>
            <a:r>
              <a:rPr lang="en-US" altLang="zh-CN"/>
              <a:t>AT+CSCON=? ; //</a:t>
            </a:r>
            <a:r>
              <a:rPr lang="zh-CN" altLang="en-US"/>
              <a:t>查询模块连接状态。返回</a:t>
            </a:r>
            <a:r>
              <a:rPr lang="en-US" altLang="zh-CN"/>
              <a:t>1</a:t>
            </a:r>
            <a:r>
              <a:rPr lang="zh-CN" altLang="en-US"/>
              <a:t>代表连接状态，</a:t>
            </a:r>
            <a:r>
              <a:rPr lang="en-US" altLang="zh-CN"/>
              <a:t>0</a:t>
            </a:r>
            <a:r>
              <a:rPr lang="zh-CN" altLang="en-US"/>
              <a:t>代表</a:t>
            </a:r>
            <a:r>
              <a:rPr lang="en-US" altLang="zh-CN"/>
              <a:t>IDLE</a:t>
            </a:r>
            <a:r>
              <a:rPr lang="zh-CN" altLang="en-US"/>
              <a:t>状态</a:t>
            </a:r>
          </a:p>
          <a:p>
            <a:pPr lvl="1"/>
            <a:r>
              <a:rPr lang="en-US" altLang="zh-CN"/>
              <a:t>AT+CGPADDR=? ; //</a:t>
            </a:r>
            <a:r>
              <a:rPr lang="zh-CN" altLang="en-US"/>
              <a:t>查询模块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r>
              <a:rPr lang="en-US" altLang="zh-CN"/>
              <a:t>UDP</a:t>
            </a:r>
            <a:r>
              <a:rPr lang="zh-CN" altLang="en-US"/>
              <a:t>协议相关主要的</a:t>
            </a:r>
            <a:r>
              <a:rPr lang="en-US" altLang="zh-CN"/>
              <a:t>AT command</a:t>
            </a:r>
          </a:p>
          <a:p>
            <a:pPr lvl="1"/>
            <a:r>
              <a:rPr lang="en-US" altLang="zh-CN"/>
              <a:t>AT+NSOCR= DGRAM,17,3000,1; //DGRAM</a:t>
            </a:r>
            <a:r>
              <a:rPr lang="zh-CN" altLang="en-US"/>
              <a:t>指</a:t>
            </a:r>
            <a:r>
              <a:rPr lang="en-US" altLang="zh-CN"/>
              <a:t>socket</a:t>
            </a:r>
            <a:r>
              <a:rPr lang="zh-CN" altLang="en-US"/>
              <a:t>类型，</a:t>
            </a:r>
            <a:r>
              <a:rPr lang="en-US" altLang="zh-CN"/>
              <a:t>17</a:t>
            </a:r>
            <a:r>
              <a:rPr lang="zh-CN" altLang="en-US"/>
              <a:t>代表</a:t>
            </a:r>
            <a:r>
              <a:rPr lang="en-US" altLang="zh-CN"/>
              <a:t>UDP</a:t>
            </a:r>
            <a:r>
              <a:rPr lang="zh-CN" altLang="en-US"/>
              <a:t>协议</a:t>
            </a:r>
            <a:r>
              <a:rPr lang="en-US" altLang="zh-CN"/>
              <a:t>, 3000</a:t>
            </a:r>
            <a:r>
              <a:rPr lang="zh-CN" altLang="en-US"/>
              <a:t>为</a:t>
            </a:r>
            <a:r>
              <a:rPr lang="en-US" altLang="zh-CN"/>
              <a:t>UDP</a:t>
            </a:r>
            <a:r>
              <a:rPr lang="zh-CN" altLang="en-US"/>
              <a:t>端口号</a:t>
            </a:r>
            <a:r>
              <a:rPr lang="en-US" altLang="zh-CN"/>
              <a:t>,1</a:t>
            </a:r>
            <a:r>
              <a:rPr lang="zh-CN" altLang="en-US"/>
              <a:t>代表能接收下行数据</a:t>
            </a:r>
          </a:p>
          <a:p>
            <a:pPr lvl="1"/>
            <a:r>
              <a:rPr lang="en-US" altLang="zh-CN"/>
              <a:t>AT+NSOST=0,120.162.113.26,3000,1,40; //0</a:t>
            </a:r>
            <a:r>
              <a:rPr lang="zh-CN" altLang="en-US"/>
              <a:t>代表</a:t>
            </a:r>
            <a:r>
              <a:rPr lang="en-US" altLang="zh-CN"/>
              <a:t>UDP</a:t>
            </a:r>
            <a:r>
              <a:rPr lang="zh-CN" altLang="en-US"/>
              <a:t>协议，</a:t>
            </a:r>
            <a:r>
              <a:rPr lang="en-US" altLang="zh-CN"/>
              <a:t>120.162.113.26</a:t>
            </a:r>
            <a:r>
              <a:rPr lang="zh-CN" altLang="en-US"/>
              <a:t>代表服务器</a:t>
            </a:r>
            <a:r>
              <a:rPr lang="en-US" altLang="zh-CN"/>
              <a:t>IP, 3000</a:t>
            </a:r>
            <a:r>
              <a:rPr lang="zh-CN" altLang="en-US"/>
              <a:t>为</a:t>
            </a:r>
            <a:r>
              <a:rPr lang="en-US" altLang="zh-CN"/>
              <a:t>UDP</a:t>
            </a:r>
            <a:r>
              <a:rPr lang="zh-CN" altLang="en-US"/>
              <a:t>端口号</a:t>
            </a:r>
            <a:r>
              <a:rPr lang="en-US" altLang="zh-CN"/>
              <a:t>, 1</a:t>
            </a:r>
            <a:r>
              <a:rPr lang="zh-CN" altLang="en-US"/>
              <a:t>指明发送数据长度为</a:t>
            </a:r>
            <a:r>
              <a:rPr lang="en-US" altLang="zh-CN"/>
              <a:t>1byte</a:t>
            </a:r>
            <a:r>
              <a:rPr lang="zh-CN" altLang="en-US"/>
              <a:t>，</a:t>
            </a:r>
            <a:r>
              <a:rPr lang="en-US" altLang="zh-CN"/>
              <a:t>40</a:t>
            </a:r>
            <a:r>
              <a:rPr lang="zh-CN" altLang="en-US"/>
              <a:t>为数据内容 </a:t>
            </a:r>
            <a:r>
              <a:rPr lang="en-US" altLang="zh-CN"/>
              <a:t>(</a:t>
            </a:r>
            <a:r>
              <a:rPr lang="zh-CN" altLang="en-US"/>
              <a:t>十六进制数，代表</a:t>
            </a:r>
            <a:r>
              <a:rPr lang="en-US" altLang="zh-CN"/>
              <a:t>ASCCI</a:t>
            </a:r>
            <a:r>
              <a:rPr lang="zh-CN" altLang="en-US"/>
              <a:t>的</a:t>
            </a:r>
            <a:r>
              <a:rPr lang="en-US" altLang="zh-CN"/>
              <a:t>10</a:t>
            </a:r>
            <a:r>
              <a:rPr lang="zh-CN" altLang="en-US"/>
              <a:t>）。最大支持发送数据为</a:t>
            </a:r>
            <a:r>
              <a:rPr lang="en-US" altLang="zh-CN"/>
              <a:t>512</a:t>
            </a:r>
            <a:r>
              <a:rPr lang="zh-CN" altLang="en-US"/>
              <a:t>个字节</a:t>
            </a:r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A0E458F8-6572-47BF-B0DB-59D7396EA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848051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实例分析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上行数据传输</a:t>
            </a:r>
            <a:endParaRPr lang="en-US" altLang="zh-CN"/>
          </a:p>
          <a:p>
            <a:pPr lvl="1"/>
            <a:r>
              <a:rPr lang="en-US" altLang="zh-CN"/>
              <a:t>1. </a:t>
            </a:r>
            <a:r>
              <a:rPr lang="zh-CN" altLang="en-US"/>
              <a:t>通过</a:t>
            </a:r>
            <a:r>
              <a:rPr lang="en-US" altLang="zh-CN"/>
              <a:t>AT command</a:t>
            </a:r>
            <a:r>
              <a:rPr lang="zh-CN" altLang="en-US"/>
              <a:t>将节点模块</a:t>
            </a:r>
            <a:r>
              <a:rPr lang="en-US" altLang="zh-CN"/>
              <a:t>(BC95)</a:t>
            </a:r>
            <a:r>
              <a:rPr lang="zh-CN" altLang="en-US"/>
              <a:t>与网络服务器建立连接</a:t>
            </a:r>
            <a:endParaRPr lang="en-US" altLang="zh-CN"/>
          </a:p>
          <a:p>
            <a:pPr lvl="2"/>
            <a:r>
              <a:rPr lang="en-US" altLang="zh-CN"/>
              <a:t>AT+NBAND=5//</a:t>
            </a:r>
            <a:r>
              <a:rPr lang="zh-CN" altLang="en-US"/>
              <a:t>设置工作频段为</a:t>
            </a:r>
            <a:r>
              <a:rPr lang="en-US" altLang="zh-CN"/>
              <a:t>850MHz</a:t>
            </a:r>
            <a:r>
              <a:rPr lang="zh-CN" altLang="en-US"/>
              <a:t>，电信模组</a:t>
            </a:r>
            <a:endParaRPr lang="en-US" altLang="zh-CN"/>
          </a:p>
          <a:p>
            <a:pPr lvl="2"/>
            <a:r>
              <a:rPr lang="en-US" altLang="zh-CN"/>
              <a:t>AT+NBAND? //</a:t>
            </a:r>
            <a:r>
              <a:rPr lang="zh-CN" altLang="en-US"/>
              <a:t>查询模块频段信息，确认设置成功</a:t>
            </a:r>
            <a:endParaRPr lang="en-US" altLang="zh-CN"/>
          </a:p>
          <a:p>
            <a:pPr lvl="2"/>
            <a:r>
              <a:rPr lang="en-US" altLang="zh-CN"/>
              <a:t>AT+CGATT?=1//</a:t>
            </a:r>
            <a:r>
              <a:rPr lang="zh-CN" altLang="en-US"/>
              <a:t>小区附着</a:t>
            </a:r>
            <a:endParaRPr lang="en-US" altLang="zh-CN"/>
          </a:p>
          <a:p>
            <a:pPr lvl="2"/>
            <a:r>
              <a:rPr lang="en-US" altLang="zh-CN"/>
              <a:t>AT+CGATT? //</a:t>
            </a:r>
            <a:r>
              <a:rPr lang="zh-CN" altLang="en-US"/>
              <a:t>查询是否模块附着成功</a:t>
            </a:r>
            <a:r>
              <a:rPr lang="en-US" altLang="zh-CN"/>
              <a:t>,</a:t>
            </a:r>
            <a:r>
              <a:rPr lang="zh-CN" altLang="en-US"/>
              <a:t>返回</a:t>
            </a:r>
            <a:r>
              <a:rPr lang="en-US" altLang="zh-CN"/>
              <a:t>1</a:t>
            </a:r>
            <a:r>
              <a:rPr lang="zh-CN" altLang="en-US"/>
              <a:t>代表成功</a:t>
            </a:r>
            <a:endParaRPr lang="en-US" altLang="zh-CN"/>
          </a:p>
          <a:p>
            <a:pPr lvl="1"/>
            <a:r>
              <a:rPr lang="en-US" altLang="zh-CN"/>
              <a:t>2. </a:t>
            </a:r>
            <a:r>
              <a:rPr lang="zh-CN" altLang="en-US"/>
              <a:t>通过</a:t>
            </a:r>
            <a:r>
              <a:rPr lang="en-US" altLang="zh-CN"/>
              <a:t>AT command</a:t>
            </a:r>
            <a:r>
              <a:rPr lang="zh-CN" altLang="en-US"/>
              <a:t>将</a:t>
            </a:r>
            <a:r>
              <a:rPr lang="en-US" altLang="zh-CN"/>
              <a:t>20bytes</a:t>
            </a:r>
            <a:r>
              <a:rPr lang="zh-CN" altLang="en-US"/>
              <a:t>的数据发送给服务器</a:t>
            </a:r>
            <a:endParaRPr lang="en-US" altLang="zh-CN"/>
          </a:p>
          <a:p>
            <a:pPr lvl="2"/>
            <a:r>
              <a:rPr lang="en-US" altLang="zh-CN"/>
              <a:t>AT+NSOCR=DGRAM,17, 3000,1//</a:t>
            </a:r>
            <a:r>
              <a:rPr lang="zh-CN" altLang="en-US"/>
              <a:t>创建</a:t>
            </a:r>
            <a:r>
              <a:rPr lang="en-US" altLang="zh-CN"/>
              <a:t>UDP</a:t>
            </a:r>
            <a:r>
              <a:rPr lang="zh-CN" altLang="en-US"/>
              <a:t>端口</a:t>
            </a:r>
            <a:r>
              <a:rPr lang="en-US" altLang="zh-CN"/>
              <a:t>3000</a:t>
            </a:r>
          </a:p>
          <a:p>
            <a:pPr lvl="2"/>
            <a:r>
              <a:rPr lang="en-US" altLang="zh-CN"/>
              <a:t>AT+NSOST=0,120.162.113.26,3000,20,40, 6162632C3017A05C161948D317A02FD5C0000000//</a:t>
            </a:r>
            <a:r>
              <a:rPr lang="zh-CN" altLang="en-US"/>
              <a:t>发送</a:t>
            </a:r>
            <a:r>
              <a:rPr lang="en-US" altLang="zh-CN"/>
              <a:t>20bytes</a:t>
            </a:r>
            <a:r>
              <a:rPr lang="zh-CN" altLang="en-US"/>
              <a:t>数据</a:t>
            </a:r>
            <a:endParaRPr lang="en-US" altLang="zh-CN"/>
          </a:p>
          <a:p>
            <a:pPr lvl="2"/>
            <a:r>
              <a:rPr lang="en-US" altLang="zh-CN"/>
              <a:t>AT+NUESTATS=ALL//</a:t>
            </a:r>
            <a:r>
              <a:rPr lang="zh-CN" altLang="en-US"/>
              <a:t>返回模块状态信息，包括收发发功率、收发时间、收发数据大小、收发数据块数量等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D312BDA-FEFE-4B5D-A0F2-6A082A8BD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318503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实例分析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上行数据传输</a:t>
            </a:r>
            <a:endParaRPr lang="en-US" altLang="zh-CN"/>
          </a:p>
          <a:p>
            <a:pPr lvl="1"/>
            <a:r>
              <a:rPr lang="en-US" altLang="zh-CN"/>
              <a:t>3. </a:t>
            </a:r>
            <a:r>
              <a:rPr lang="zh-CN" altLang="en-US"/>
              <a:t>协议层包头转换</a:t>
            </a:r>
            <a:endParaRPr lang="en-US" altLang="zh-CN"/>
          </a:p>
          <a:p>
            <a:pPr lvl="2"/>
            <a:r>
              <a:rPr lang="zh-CN" altLang="en-US"/>
              <a:t>① </a:t>
            </a:r>
            <a:r>
              <a:rPr lang="en-US" altLang="zh-CN"/>
              <a:t>UDP</a:t>
            </a:r>
            <a:r>
              <a:rPr lang="zh-CN" altLang="en-US"/>
              <a:t>层添加</a:t>
            </a:r>
            <a:r>
              <a:rPr lang="en-US" altLang="zh-CN"/>
              <a:t>8bytes</a:t>
            </a:r>
            <a:r>
              <a:rPr lang="zh-CN" altLang="en-US"/>
              <a:t>的首部字段（包括端口号、校验和等）</a:t>
            </a:r>
            <a:endParaRPr lang="zh-CN" altLang="zh-CN"/>
          </a:p>
          <a:p>
            <a:pPr lvl="2"/>
            <a:r>
              <a:rPr lang="zh-CN" altLang="en-US"/>
              <a:t>② </a:t>
            </a:r>
            <a:r>
              <a:rPr lang="en-US" altLang="zh-CN"/>
              <a:t>IP</a:t>
            </a:r>
            <a:r>
              <a:rPr lang="zh-CN" altLang="en-US"/>
              <a:t>层添加</a:t>
            </a:r>
            <a:r>
              <a:rPr lang="en-US" altLang="zh-CN"/>
              <a:t>20bytes~40bytes</a:t>
            </a:r>
            <a:r>
              <a:rPr lang="zh-CN" altLang="en-US"/>
              <a:t>的首部字段（包括源</a:t>
            </a:r>
            <a:r>
              <a:rPr lang="en-US" altLang="zh-CN"/>
              <a:t>IP</a:t>
            </a:r>
            <a:r>
              <a:rPr lang="zh-CN" altLang="en-US"/>
              <a:t>地址、目的</a:t>
            </a:r>
            <a:r>
              <a:rPr lang="en-US" altLang="zh-CN"/>
              <a:t>IP</a:t>
            </a:r>
            <a:r>
              <a:rPr lang="zh-CN" altLang="en-US"/>
              <a:t>地址等）</a:t>
            </a:r>
            <a:endParaRPr lang="en-US" altLang="zh-CN"/>
          </a:p>
          <a:p>
            <a:pPr lvl="2"/>
            <a:r>
              <a:rPr lang="zh-CN" altLang="en-US"/>
              <a:t>③ 数据链路层首先将压缩数据包头（减小到</a:t>
            </a:r>
            <a:r>
              <a:rPr lang="en-US" altLang="zh-CN"/>
              <a:t>1~2</a:t>
            </a:r>
            <a:r>
              <a:rPr lang="zh-CN" altLang="en-US"/>
              <a:t>字节）并添加</a:t>
            </a:r>
            <a:r>
              <a:rPr lang="en-US" altLang="zh-CN"/>
              <a:t>1~4</a:t>
            </a:r>
            <a:r>
              <a:rPr lang="zh-CN" altLang="en-US"/>
              <a:t>字节的首部字段（包括数据类型等）</a:t>
            </a:r>
            <a:endParaRPr lang="en-US" altLang="zh-CN"/>
          </a:p>
          <a:p>
            <a:pPr lvl="2"/>
            <a:r>
              <a:rPr lang="zh-CN" altLang="en-US"/>
              <a:t>假设</a:t>
            </a:r>
            <a:r>
              <a:rPr lang="en-US" altLang="zh-CN"/>
              <a:t>: 20bytes</a:t>
            </a:r>
            <a:r>
              <a:rPr lang="zh-CN" altLang="en-US"/>
              <a:t>的</a:t>
            </a:r>
            <a:r>
              <a:rPr lang="en-US" altLang="zh-CN"/>
              <a:t>payload</a:t>
            </a:r>
            <a:r>
              <a:rPr lang="zh-CN" altLang="en-US"/>
              <a:t>数据经过各协议层包头转换后，其长度变为</a:t>
            </a:r>
            <a:r>
              <a:rPr lang="en-US" altLang="zh-CN"/>
              <a:t>25bytes</a:t>
            </a:r>
          </a:p>
          <a:p>
            <a:pPr lvl="1"/>
            <a:r>
              <a:rPr lang="en-US" altLang="zh-CN"/>
              <a:t>4. </a:t>
            </a:r>
            <a:r>
              <a:rPr lang="zh-CN" altLang="en-US"/>
              <a:t>信道编码</a:t>
            </a:r>
            <a:endParaRPr lang="en-US" altLang="zh-CN"/>
          </a:p>
          <a:p>
            <a:pPr lvl="2"/>
            <a:r>
              <a:rPr lang="zh-CN" altLang="en-US"/>
              <a:t>首先添加冗余字段（</a:t>
            </a:r>
            <a:r>
              <a:rPr lang="en-US" altLang="zh-CN"/>
              <a:t>3bytes CRC</a:t>
            </a:r>
            <a:r>
              <a:rPr lang="zh-CN" altLang="en-US"/>
              <a:t>），再使用</a:t>
            </a:r>
            <a:r>
              <a:rPr lang="en-US" altLang="zh-CN"/>
              <a:t>1/3-turbo code</a:t>
            </a:r>
            <a:r>
              <a:rPr lang="zh-CN" altLang="en-US"/>
              <a:t>编码</a:t>
            </a:r>
            <a:endParaRPr lang="en-US" altLang="zh-CN"/>
          </a:p>
          <a:p>
            <a:pPr lvl="2"/>
            <a:r>
              <a:rPr lang="zh-CN" altLang="en-US"/>
              <a:t>问：编码后总长度变为多少</a:t>
            </a:r>
            <a:r>
              <a:rPr lang="en-US" altLang="zh-CN"/>
              <a:t>?</a:t>
            </a:r>
          </a:p>
          <a:p>
            <a:pPr lvl="1"/>
            <a:r>
              <a:rPr lang="en-US" altLang="zh-CN"/>
              <a:t>5. </a:t>
            </a:r>
            <a:r>
              <a:rPr lang="zh-CN" altLang="en-US"/>
              <a:t>速率匹配</a:t>
            </a:r>
            <a:endParaRPr lang="en-US" altLang="zh-CN"/>
          </a:p>
          <a:p>
            <a:endParaRPr lang="en-US" altLang="zh-CN"/>
          </a:p>
          <a:p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8F2FAEC9-DBE4-461F-9FC8-C640A528B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425764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NB-IoT</a:t>
            </a:r>
            <a:r>
              <a:rPr lang="zh-CN" altLang="en-US" dirty="0"/>
              <a:t>实例分析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上行数据传输</a:t>
            </a:r>
            <a:endParaRPr lang="en-US" altLang="zh-CN"/>
          </a:p>
          <a:p>
            <a:pPr lvl="1"/>
            <a:r>
              <a:rPr lang="en-US" altLang="zh-CN"/>
              <a:t>6. </a:t>
            </a:r>
            <a:r>
              <a:rPr lang="zh-CN" altLang="en-US"/>
              <a:t>分段</a:t>
            </a:r>
            <a:endParaRPr lang="en-US" altLang="zh-CN"/>
          </a:p>
          <a:p>
            <a:pPr lvl="2"/>
            <a:r>
              <a:rPr lang="zh-CN" altLang="en-US"/>
              <a:t>假设基站分配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RUs</a:t>
            </a:r>
            <a:r>
              <a:rPr lang="zh-CN" altLang="en-US"/>
              <a:t>（基站</a:t>
            </a:r>
            <a:r>
              <a:rPr lang="en-US" altLang="zh-CN"/>
              <a:t>DCI</a:t>
            </a:r>
            <a:r>
              <a:rPr lang="zh-CN" altLang="en-US"/>
              <a:t>指定），将编码块分成若</a:t>
            </a:r>
            <a:r>
              <a:rPr lang="en-US" altLang="zh-CN"/>
              <a:t>2</a:t>
            </a:r>
            <a:r>
              <a:rPr lang="zh-CN" altLang="en-US"/>
              <a:t>个相同大小的编码子块（</a:t>
            </a:r>
            <a:r>
              <a:rPr lang="en-US" altLang="zh-CN"/>
              <a:t>BL1</a:t>
            </a:r>
            <a:r>
              <a:rPr lang="zh-CN" altLang="en-US"/>
              <a:t>、</a:t>
            </a:r>
            <a:r>
              <a:rPr lang="en-US" altLang="zh-CN"/>
              <a:t>BL2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en-US" altLang="zh-CN"/>
              <a:t>7. </a:t>
            </a:r>
            <a:r>
              <a:rPr lang="zh-CN" altLang="en-US"/>
              <a:t>调制</a:t>
            </a:r>
            <a:endParaRPr lang="en-US" altLang="zh-CN"/>
          </a:p>
          <a:p>
            <a:pPr lvl="2"/>
            <a:r>
              <a:rPr lang="zh-CN" altLang="en-US"/>
              <a:t>每个编码子块使用</a:t>
            </a:r>
            <a:r>
              <a:rPr lang="en-US" altLang="zh-CN"/>
              <a:t>QPSK</a:t>
            </a:r>
            <a:r>
              <a:rPr lang="zh-CN" altLang="en-US"/>
              <a:t>调制</a:t>
            </a:r>
            <a:endParaRPr lang="zh-CN" altLang="zh-CN"/>
          </a:p>
          <a:p>
            <a:pPr lvl="1"/>
            <a:r>
              <a:rPr lang="en-US" altLang="zh-CN"/>
              <a:t>8. </a:t>
            </a:r>
            <a:r>
              <a:rPr lang="zh-CN" altLang="en-US"/>
              <a:t>资源映射</a:t>
            </a:r>
            <a:endParaRPr lang="en-US" altLang="zh-CN"/>
          </a:p>
          <a:p>
            <a:pPr lvl="2"/>
            <a:r>
              <a:rPr lang="zh-CN" altLang="en-US"/>
              <a:t>将每个编码块调制后的符号映射到</a:t>
            </a:r>
            <a:r>
              <a:rPr lang="en-US" altLang="zh-CN"/>
              <a:t>RU</a:t>
            </a:r>
            <a:r>
              <a:rPr lang="zh-CN" altLang="en-US"/>
              <a:t>上传输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假设</a:t>
            </a:r>
            <a:r>
              <a:rPr lang="en-US" altLang="zh-CN"/>
              <a:t>UE</a:t>
            </a:r>
            <a:r>
              <a:rPr lang="zh-CN" altLang="en-US"/>
              <a:t>分配到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RUs (</a:t>
            </a:r>
            <a:r>
              <a:rPr lang="zh-CN" altLang="en-US"/>
              <a:t>且每</a:t>
            </a:r>
            <a:r>
              <a:rPr lang="en-US" altLang="zh-CN"/>
              <a:t>RU</a:t>
            </a:r>
            <a:r>
              <a:rPr lang="zh-CN" altLang="en-US"/>
              <a:t>占</a:t>
            </a:r>
            <a:r>
              <a:rPr lang="en-US" altLang="zh-CN"/>
              <a:t>3</a:t>
            </a:r>
            <a:r>
              <a:rPr lang="zh-CN" altLang="en-US"/>
              <a:t>个</a:t>
            </a:r>
            <a:r>
              <a:rPr lang="en-US" altLang="zh-CN"/>
              <a:t>subcarriers</a:t>
            </a:r>
            <a:r>
              <a:rPr lang="zh-CN" altLang="en-US"/>
              <a:t>和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slots)</a:t>
            </a:r>
            <a:r>
              <a:rPr lang="zh-CN" altLang="en-US"/>
              <a:t>，同时重复传输次数 </a:t>
            </a:r>
            <a:r>
              <a:rPr lang="en-US" altLang="zh-CN"/>
              <a:t>NREP=4 (DCI</a:t>
            </a:r>
            <a:r>
              <a:rPr lang="zh-CN" altLang="en-US"/>
              <a:t>指定</a:t>
            </a:r>
            <a:r>
              <a:rPr lang="en-US" altLang="zh-CN"/>
              <a:t>)</a:t>
            </a:r>
          </a:p>
          <a:p>
            <a:pPr lvl="2"/>
            <a:r>
              <a:rPr lang="en-US" altLang="zh-CN"/>
              <a:t>Tn, Wn: </a:t>
            </a:r>
            <a:r>
              <a:rPr lang="zh-CN" altLang="en-US"/>
              <a:t>代表分配的一个</a:t>
            </a:r>
            <a:r>
              <a:rPr lang="en-US" altLang="zh-CN"/>
              <a:t>RU</a:t>
            </a:r>
          </a:p>
          <a:p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1404057" y="4328884"/>
            <a:ext cx="7543713" cy="2491015"/>
            <a:chOff x="376856" y="2966107"/>
            <a:chExt cx="8401279" cy="3086151"/>
          </a:xfrm>
        </p:grpSpPr>
        <p:sp>
          <p:nvSpPr>
            <p:cNvPr id="5" name="下箭头 4"/>
            <p:cNvSpPr/>
            <p:nvPr/>
          </p:nvSpPr>
          <p:spPr bwMode="auto">
            <a:xfrm>
              <a:off x="4500429" y="3738748"/>
              <a:ext cx="223024" cy="602166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377" y="2966107"/>
              <a:ext cx="8300758" cy="4251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856" y="4582639"/>
              <a:ext cx="8401279" cy="14696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670BA435-4F65-4BC5-80BC-C0D3F20EC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67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176891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sz="2800" dirty="0"/>
          </a:p>
          <a:p>
            <a:r>
              <a:rPr lang="zh-CN" altLang="en-US" sz="2800" dirty="0"/>
              <a:t>概述</a:t>
            </a:r>
            <a:endParaRPr lang="en-US" altLang="zh-CN" sz="2800" dirty="0"/>
          </a:p>
          <a:p>
            <a:r>
              <a:rPr lang="zh-CN" altLang="en-US" sz="2800" dirty="0"/>
              <a:t>关键特性</a:t>
            </a:r>
            <a:endParaRPr lang="en-US" altLang="zh-CN" sz="2800" dirty="0"/>
          </a:p>
          <a:p>
            <a:r>
              <a:rPr lang="zh-CN" altLang="en-US" sz="2800" dirty="0"/>
              <a:t>代表性协议</a:t>
            </a:r>
            <a:endParaRPr lang="en-US" altLang="zh-CN" sz="2800" dirty="0"/>
          </a:p>
          <a:p>
            <a:pPr lvl="1"/>
            <a:r>
              <a:rPr lang="en-US" altLang="zh-CN" sz="2400" dirty="0"/>
              <a:t>NB-IoT </a:t>
            </a:r>
          </a:p>
          <a:p>
            <a:pPr lvl="1"/>
            <a:r>
              <a:rPr lang="en-US" altLang="zh-CN" sz="2400" dirty="0" err="1">
                <a:solidFill>
                  <a:srgbClr val="C00000"/>
                </a:solidFill>
              </a:rPr>
              <a:t>LoRaWAN</a:t>
            </a:r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zh-CN" altLang="en-US" sz="2800" dirty="0"/>
              <a:t>学术研究进展</a:t>
            </a:r>
            <a:endParaRPr lang="en-US" altLang="zh-CN" sz="2800" dirty="0"/>
          </a:p>
          <a:p>
            <a:r>
              <a:rPr lang="zh-CN" altLang="en-US" sz="2800" dirty="0"/>
              <a:t>案例开发</a:t>
            </a:r>
            <a:endParaRPr lang="en-US" altLang="zh-CN" sz="2800" dirty="0"/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18721352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F70E16-5C87-4B22-87D2-976DC00FA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133A68-1185-4C25-933E-9B0435C9E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简介</a:t>
            </a:r>
            <a:endParaRPr lang="en-US" altLang="zh-CN" dirty="0"/>
          </a:p>
          <a:p>
            <a:pPr lvl="1"/>
            <a:r>
              <a:rPr lang="en-US" altLang="zh-CN" dirty="0"/>
              <a:t>2013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月，</a:t>
            </a:r>
            <a:r>
              <a:rPr lang="en-US" altLang="zh-CN" dirty="0" err="1"/>
              <a:t>Semtech</a:t>
            </a:r>
            <a:r>
              <a:rPr lang="zh-CN" altLang="en-US" dirty="0"/>
              <a:t>公司发布了一款基于</a:t>
            </a:r>
            <a:r>
              <a:rPr lang="en-US" altLang="zh-CN" dirty="0"/>
              <a:t>chirp</a:t>
            </a:r>
            <a:r>
              <a:rPr lang="zh-CN" altLang="en-US" dirty="0"/>
              <a:t>扩频调制（</a:t>
            </a:r>
            <a:r>
              <a:rPr lang="en-US" altLang="zh-CN" dirty="0"/>
              <a:t>chirp spectrum spread</a:t>
            </a:r>
            <a:r>
              <a:rPr lang="zh-CN" altLang="en-US" dirty="0"/>
              <a:t>，</a:t>
            </a:r>
            <a:r>
              <a:rPr lang="en-US" altLang="zh-CN" dirty="0"/>
              <a:t>CSS</a:t>
            </a:r>
            <a:r>
              <a:rPr lang="zh-CN" altLang="en-US" dirty="0"/>
              <a:t>）、用于超长距低功耗通信的芯片</a:t>
            </a:r>
            <a:r>
              <a:rPr lang="en-US" altLang="zh-CN" dirty="0"/>
              <a:t>——LoRa</a:t>
            </a:r>
            <a:r>
              <a:rPr lang="zh-CN" altLang="en-US" dirty="0"/>
              <a:t>（</a:t>
            </a:r>
            <a:r>
              <a:rPr lang="en-US" altLang="zh-CN" dirty="0"/>
              <a:t>Long Range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chirp</a:t>
            </a:r>
            <a:r>
              <a:rPr lang="zh-CN" altLang="en-US" dirty="0"/>
              <a:t>信号又称扫频信号，是频率随时间变化的信号</a:t>
            </a:r>
            <a:endParaRPr lang="en-US" altLang="zh-CN" dirty="0"/>
          </a:p>
          <a:p>
            <a:pPr lvl="2"/>
            <a:r>
              <a:rPr lang="zh-CN" altLang="en-US" dirty="0"/>
              <a:t>根据频率随时间变化的情况，分为线性</a:t>
            </a:r>
            <a:r>
              <a:rPr lang="en-US" altLang="zh-CN" dirty="0"/>
              <a:t>chirp</a:t>
            </a:r>
            <a:r>
              <a:rPr lang="zh-CN" altLang="en-US" dirty="0"/>
              <a:t>信号和指数</a:t>
            </a:r>
            <a:r>
              <a:rPr lang="en-US" altLang="zh-CN" dirty="0"/>
              <a:t>chirp</a:t>
            </a:r>
            <a:r>
              <a:rPr lang="zh-CN" altLang="en-US" dirty="0"/>
              <a:t>信号</a:t>
            </a:r>
            <a:endParaRPr lang="en-US" altLang="zh-CN" dirty="0"/>
          </a:p>
          <a:p>
            <a:pPr lvl="2"/>
            <a:r>
              <a:rPr lang="en-US" altLang="zh-CN" dirty="0"/>
              <a:t>CSS</a:t>
            </a:r>
            <a:r>
              <a:rPr lang="zh-CN" altLang="en-US" dirty="0"/>
              <a:t>扩频调制方案凭借具有的更优链路预算，在部分牺牲数据率的基础上，达到更远的通信距离</a:t>
            </a:r>
            <a:endParaRPr lang="en-US" altLang="zh-CN" dirty="0"/>
          </a:p>
          <a:p>
            <a:pPr lvl="1"/>
            <a:r>
              <a:rPr lang="zh-CN" altLang="zh-CN" dirty="0"/>
              <a:t>显著特性</a:t>
            </a:r>
            <a:endParaRPr lang="en-US" altLang="zh-CN" dirty="0"/>
          </a:p>
          <a:p>
            <a:pPr lvl="2"/>
            <a:r>
              <a:rPr lang="zh-CN" altLang="en-US" b="1" dirty="0"/>
              <a:t>长距离</a:t>
            </a:r>
            <a:r>
              <a:rPr lang="zh-CN" altLang="en-US" dirty="0"/>
              <a:t>：在相同的发射功率下，</a:t>
            </a:r>
            <a:r>
              <a:rPr lang="en-US" altLang="zh-CN" dirty="0"/>
              <a:t>LoRa</a:t>
            </a:r>
            <a:r>
              <a:rPr lang="zh-CN" altLang="en-US" dirty="0"/>
              <a:t>通信距离更远</a:t>
            </a:r>
            <a:endParaRPr lang="en-US" altLang="zh-CN" dirty="0"/>
          </a:p>
          <a:p>
            <a:pPr lvl="2"/>
            <a:r>
              <a:rPr lang="zh-CN" altLang="en-US" b="1" dirty="0"/>
              <a:t>低功耗</a:t>
            </a:r>
            <a:r>
              <a:rPr lang="zh-CN" altLang="en-US" dirty="0"/>
              <a:t>：</a:t>
            </a:r>
            <a:r>
              <a:rPr lang="en-US" altLang="zh-CN" dirty="0"/>
              <a:t>LoRa</a:t>
            </a:r>
            <a:r>
              <a:rPr lang="zh-CN" altLang="en-US" dirty="0"/>
              <a:t>发送端仅需要</a:t>
            </a:r>
            <a:r>
              <a:rPr lang="en-US" altLang="zh-CN" dirty="0">
                <a:solidFill>
                  <a:srgbClr val="C00000"/>
                </a:solidFill>
              </a:rPr>
              <a:t>100mW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C00000"/>
                </a:solidFill>
              </a:rPr>
              <a:t>20dBm</a:t>
            </a:r>
            <a:r>
              <a:rPr lang="zh-CN" altLang="en-US" dirty="0"/>
              <a:t>）的发送功率，即可获得</a:t>
            </a:r>
            <a:r>
              <a:rPr lang="en-US" altLang="zh-CN" dirty="0">
                <a:solidFill>
                  <a:srgbClr val="C00000"/>
                </a:solidFill>
              </a:rPr>
              <a:t>162dB</a:t>
            </a:r>
            <a:r>
              <a:rPr lang="zh-CN" altLang="en-US" dirty="0"/>
              <a:t>的链路预算</a:t>
            </a:r>
            <a:endParaRPr lang="en-US" altLang="zh-CN" dirty="0"/>
          </a:p>
          <a:p>
            <a:pPr lvl="2"/>
            <a:r>
              <a:rPr lang="zh-CN" altLang="en-US" b="1" dirty="0"/>
              <a:t>大连接</a:t>
            </a:r>
            <a:r>
              <a:rPr lang="zh-CN" altLang="en-US" dirty="0"/>
              <a:t>：在低数据率、低频次的通信场景下，网关能接入更多的设备</a:t>
            </a:r>
            <a:endParaRPr lang="en-US" altLang="zh-CN" dirty="0"/>
          </a:p>
          <a:p>
            <a:pPr lvl="2"/>
            <a:r>
              <a:rPr lang="zh-CN" altLang="en-US" b="1" dirty="0"/>
              <a:t>低成本</a:t>
            </a:r>
            <a:r>
              <a:rPr lang="zh-CN" altLang="en-US" dirty="0"/>
              <a:t>：</a:t>
            </a:r>
            <a:r>
              <a:rPr lang="en-US" altLang="zh-CN" dirty="0"/>
              <a:t>LoRa</a:t>
            </a:r>
            <a:r>
              <a:rPr lang="zh-CN" altLang="en-US" dirty="0"/>
              <a:t>工作在公用频段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9156455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BAB83-C023-42D5-BAA7-67EB310D6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LoRaWAN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D2F2DE-1444-4E53-811A-93260BAF8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采用星形拓扑，以</a:t>
            </a:r>
            <a:r>
              <a:rPr lang="en-US" altLang="zh-CN" dirty="0" err="1"/>
              <a:t>LoRaWAN</a:t>
            </a:r>
            <a:r>
              <a:rPr lang="zh-CN" altLang="en-US" dirty="0"/>
              <a:t>网关作为中继，终端设备采用</a:t>
            </a:r>
            <a:r>
              <a:rPr lang="en-US" altLang="zh-CN" dirty="0"/>
              <a:t>LoRa</a:t>
            </a:r>
            <a:r>
              <a:rPr lang="zh-CN" altLang="en-US" dirty="0"/>
              <a:t>协议与一个或多个网关进行单跳通信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LoRa</a:t>
            </a:r>
            <a:r>
              <a:rPr lang="zh-CN" altLang="en-US" dirty="0"/>
              <a:t>工作在小于</a:t>
            </a:r>
            <a:r>
              <a:rPr lang="en-US" altLang="zh-CN" dirty="0"/>
              <a:t>1GHz</a:t>
            </a:r>
            <a:r>
              <a:rPr lang="zh-CN" altLang="en-US" dirty="0"/>
              <a:t>的非授权频段，如</a:t>
            </a:r>
            <a:r>
              <a:rPr lang="en-US" altLang="zh-CN" dirty="0">
                <a:solidFill>
                  <a:srgbClr val="C00000"/>
                </a:solidFill>
              </a:rPr>
              <a:t>433MHz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C00000"/>
                </a:solidFill>
              </a:rPr>
              <a:t>868MHz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C00000"/>
                </a:solidFill>
              </a:rPr>
              <a:t>915MHz</a:t>
            </a:r>
            <a:r>
              <a:rPr lang="zh-CN" altLang="en-US" dirty="0"/>
              <a:t>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8D9845-FD95-42C1-97F0-81DE042B66B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612" y="2067977"/>
            <a:ext cx="4416776" cy="27220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4215376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12BB3-6535-4838-A010-C1837792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物理层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052F64F-A0B0-4032-BEA6-47B40A36A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信道分配（选择</a:t>
            </a:r>
            <a:r>
              <a:rPr lang="en-US" altLang="zh-CN" dirty="0"/>
              <a:t>CN470</a:t>
            </a:r>
            <a:r>
              <a:rPr lang="zh-CN" altLang="en-US" dirty="0"/>
              <a:t>～</a:t>
            </a:r>
            <a:r>
              <a:rPr lang="en-US" altLang="zh-CN" dirty="0"/>
              <a:t>510</a:t>
            </a:r>
            <a:r>
              <a:rPr lang="zh-CN" altLang="en-US" dirty="0"/>
              <a:t>频段进行说明）</a:t>
            </a:r>
            <a:endParaRPr lang="en-US" altLang="zh-CN" dirty="0"/>
          </a:p>
          <a:p>
            <a:pPr lvl="1"/>
            <a:r>
              <a:rPr lang="zh-CN" altLang="en-US" dirty="0"/>
              <a:t>上行信道：</a:t>
            </a:r>
            <a:r>
              <a:rPr lang="en-US" altLang="zh-CN" dirty="0"/>
              <a:t>96</a:t>
            </a:r>
            <a:r>
              <a:rPr lang="zh-CN" altLang="en-US" dirty="0"/>
              <a:t>个，</a:t>
            </a:r>
            <a:r>
              <a:rPr lang="en-US" altLang="zh-CN" dirty="0"/>
              <a:t>470.3</a:t>
            </a:r>
            <a:r>
              <a:rPr lang="zh-CN" altLang="en-US" dirty="0"/>
              <a:t>～</a:t>
            </a:r>
            <a:r>
              <a:rPr lang="en-US" altLang="zh-CN" dirty="0"/>
              <a:t>489.3</a:t>
            </a:r>
            <a:r>
              <a:rPr lang="zh-CN" altLang="en-US" dirty="0"/>
              <a:t>频段</a:t>
            </a:r>
            <a:endParaRPr lang="en-US" altLang="zh-CN" dirty="0"/>
          </a:p>
          <a:p>
            <a:pPr lvl="2"/>
            <a:r>
              <a:rPr lang="en-US" altLang="zh-CN" dirty="0" err="1"/>
              <a:t>LinkADRReq</a:t>
            </a:r>
            <a:r>
              <a:rPr lang="en-US" altLang="zh-CN" dirty="0"/>
              <a:t> &lt;</a:t>
            </a:r>
            <a:r>
              <a:rPr lang="en-US" altLang="zh-CN" dirty="0" err="1"/>
              <a:t>ChMaskCntl</a:t>
            </a:r>
            <a:r>
              <a:rPr lang="en-US" altLang="zh-CN" dirty="0"/>
              <a:t>&gt;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下行信道：</a:t>
            </a:r>
            <a:r>
              <a:rPr lang="en-US" altLang="zh-CN" dirty="0"/>
              <a:t>48</a:t>
            </a:r>
            <a:r>
              <a:rPr lang="zh-CN" altLang="en-US" dirty="0"/>
              <a:t>个，</a:t>
            </a:r>
            <a:r>
              <a:rPr lang="en-US" altLang="zh-CN" dirty="0"/>
              <a:t>500.3</a:t>
            </a:r>
            <a:r>
              <a:rPr lang="zh-CN" altLang="en-US" dirty="0"/>
              <a:t>～</a:t>
            </a:r>
            <a:r>
              <a:rPr lang="en-US" altLang="zh-CN" dirty="0"/>
              <a:t>509.7</a:t>
            </a:r>
            <a:r>
              <a:rPr lang="zh-CN" altLang="en-US" dirty="0"/>
              <a:t>频段，编号</a:t>
            </a:r>
            <a:r>
              <a:rPr lang="en-US" altLang="zh-CN" dirty="0"/>
              <a:t>0~47</a:t>
            </a:r>
          </a:p>
          <a:p>
            <a:pPr lvl="2"/>
            <a:r>
              <a:rPr lang="en-US" altLang="zh-CN" dirty="0" err="1"/>
              <a:t>RXParamSetupReq</a:t>
            </a:r>
            <a:r>
              <a:rPr lang="en-US" altLang="zh-CN" dirty="0"/>
              <a:t> &lt;Frequency&gt;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graphicFrame>
        <p:nvGraphicFramePr>
          <p:cNvPr id="7" name="内容占位符 3">
            <a:extLst>
              <a:ext uri="{FF2B5EF4-FFF2-40B4-BE49-F238E27FC236}">
                <a16:creationId xmlns:a16="http://schemas.microsoft.com/office/drawing/2014/main" id="{6DDF7B45-476B-4298-9238-2C3A934DA8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1555695"/>
              </p:ext>
            </p:extLst>
          </p:nvPr>
        </p:nvGraphicFramePr>
        <p:xfrm>
          <a:off x="5809532" y="1413207"/>
          <a:ext cx="3182068" cy="2694184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559959">
                  <a:extLst>
                    <a:ext uri="{9D8B030D-6E8A-4147-A177-3AD203B41FA5}">
                      <a16:colId xmlns:a16="http://schemas.microsoft.com/office/drawing/2014/main" val="3308246398"/>
                    </a:ext>
                  </a:extLst>
                </a:gridCol>
                <a:gridCol w="1622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 err="1">
                          <a:effectLst/>
                          <a:latin typeface="+mj-ea"/>
                          <a:ea typeface="+mj-ea"/>
                        </a:rPr>
                        <a:t>ChMaskCntl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</a:rPr>
                        <a:t>信道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4580665"/>
                  </a:ext>
                </a:extLst>
              </a:tr>
              <a:tr h="3024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0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>
                          <a:latin typeface="+mj-ea"/>
                          <a:ea typeface="+mj-ea"/>
                        </a:rPr>
                        <a:t>0-15</a:t>
                      </a:r>
                      <a:endParaRPr lang="zh-CN" altLang="en-US" sz="1800" kern="120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7253982"/>
                  </a:ext>
                </a:extLst>
              </a:tr>
              <a:tr h="3024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>
                          <a:latin typeface="+mj-ea"/>
                          <a:ea typeface="+mj-ea"/>
                        </a:rPr>
                        <a:t>16-31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4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>
                          <a:latin typeface="+mj-ea"/>
                          <a:ea typeface="+mj-ea"/>
                        </a:rPr>
                        <a:t>32-47</a:t>
                      </a:r>
                      <a:endParaRPr lang="zh-CN" altLang="en-US" sz="1800" kern="120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4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>
                          <a:latin typeface="+mj-ea"/>
                          <a:ea typeface="+mj-ea"/>
                        </a:rPr>
                        <a:t>48-63</a:t>
                      </a:r>
                      <a:endParaRPr lang="zh-CN" altLang="en-US" sz="1800" kern="120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4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>
                          <a:latin typeface="+mj-ea"/>
                          <a:ea typeface="+mj-ea"/>
                        </a:rPr>
                        <a:t>64-79</a:t>
                      </a:r>
                      <a:endParaRPr lang="zh-CN" altLang="en-US" sz="1800" kern="120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4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>
                          <a:latin typeface="+mj-ea"/>
                          <a:ea typeface="+mj-ea"/>
                        </a:rPr>
                        <a:t>80-95</a:t>
                      </a:r>
                      <a:endParaRPr lang="zh-CN" altLang="en-US" sz="1800" kern="120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4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6</a:t>
                      </a:r>
                      <a:endParaRPr 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latin typeface="+mj-ea"/>
                          <a:ea typeface="+mj-ea"/>
                        </a:rPr>
                        <a:t>所有信道开启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4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200" dirty="0">
                          <a:latin typeface="+mj-ea"/>
                          <a:ea typeface="+mj-ea"/>
                        </a:rPr>
                        <a:t>保留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BD384C60-A697-4118-A9B8-ED5FD5F02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C4C4CB6-9840-4EAB-A300-9E8B698A095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6570" y="2215465"/>
            <a:ext cx="5073593" cy="1739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9E7CD1E-3F8B-4658-87CD-28540A20CFA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38354" y="4849427"/>
            <a:ext cx="3190024" cy="17037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852111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12BB3-6535-4838-A010-C1837792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物理层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052F64F-A0B0-4032-BEA6-47B40A36A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</p:spPr>
            <p:txBody>
              <a:bodyPr/>
              <a:lstStyle/>
              <a:p>
                <a:r>
                  <a:rPr lang="zh-CN" altLang="en-US" dirty="0"/>
                  <a:t>扫码序列扩频（</a:t>
                </a:r>
                <a:r>
                  <a:rPr lang="en-US" altLang="zh-CN" dirty="0"/>
                  <a:t>Chirp</a:t>
                </a:r>
                <a:r>
                  <a:rPr lang="zh-CN" altLang="en-US" dirty="0"/>
                  <a:t>）调制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Chirp</a:t>
                </a:r>
                <a:r>
                  <a:rPr lang="zh-CN" altLang="en-US" dirty="0"/>
                  <a:t>信号：频率随时间线性变化的一种信号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/>
                  <a:t>Chirp</a:t>
                </a:r>
                <a:r>
                  <a:rPr lang="zh-CN" altLang="en-US" dirty="0"/>
                  <a:t>调制关键参数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BW</a:t>
                </a:r>
                <a:r>
                  <a:rPr lang="zh-CN" altLang="en-US" dirty="0"/>
                  <a:t>：带宽，中国取</a:t>
                </a:r>
                <a:r>
                  <a:rPr lang="en-US" altLang="zh-CN" dirty="0"/>
                  <a:t>125KHz</a:t>
                </a:r>
                <a:r>
                  <a:rPr lang="zh-CN" altLang="en-US" dirty="0"/>
                  <a:t>，美国可取</a:t>
                </a:r>
                <a:r>
                  <a:rPr lang="en-US" altLang="zh-CN" dirty="0"/>
                  <a:t>125KHz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500KHz</a:t>
                </a:r>
              </a:p>
              <a:p>
                <a:pPr lvl="2"/>
                <a:r>
                  <a:rPr lang="en-US" altLang="zh-CN" dirty="0"/>
                  <a:t>SF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spreading factor</a:t>
                </a:r>
                <a:r>
                  <a:rPr lang="zh-CN" altLang="en-US" dirty="0"/>
                  <a:t>，一个</a:t>
                </a:r>
                <a:r>
                  <a:rPr lang="en-US" altLang="zh-CN" dirty="0"/>
                  <a:t>chirp</a:t>
                </a:r>
                <a:r>
                  <a:rPr lang="zh-CN" altLang="en-US" dirty="0"/>
                  <a:t>表示</a:t>
                </a:r>
                <a:r>
                  <a:rPr lang="en-US" altLang="zh-CN" dirty="0"/>
                  <a:t>SF</a:t>
                </a:r>
                <a:r>
                  <a:rPr lang="zh-CN" altLang="en-US" dirty="0"/>
                  <a:t>个</a:t>
                </a:r>
                <a:r>
                  <a:rPr lang="en-US" altLang="zh-CN" dirty="0"/>
                  <a:t>bits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7-12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一个</a:t>
                </a:r>
                <a:r>
                  <a:rPr lang="en-US" altLang="zh-CN" dirty="0"/>
                  <a:t>chirp</a:t>
                </a:r>
                <a:r>
                  <a:rPr lang="zh-CN" altLang="en-US" dirty="0"/>
                  <a:t>发送时间</a:t>
                </a:r>
                <a14:m>
                  <m:oMath xmlns:m="http://schemas.openxmlformats.org/officeDocument/2006/math">
                    <m:r>
                      <a:rPr lang="zh-CN" altLang="en-US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mtClean="0">
                                <a:latin typeface="Cambria Math" panose="02040503050406030204" pitchFamily="18" charset="0"/>
                              </a:rPr>
                              <m:t>𝑆𝐹</m:t>
                            </m:r>
                          </m:sup>
                        </m:sSup>
                      </m:num>
                      <m:den>
                        <m:r>
                          <a:rPr lang="en-US" altLang="zh-CN" smtClean="0">
                            <a:latin typeface="Cambria Math" panose="02040503050406030204" pitchFamily="18" charset="0"/>
                          </a:rPr>
                          <m:t>𝐵𝑊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通过起始频率所在纵轴的</a:t>
                </a:r>
                <a:r>
                  <a:rPr lang="en-US" altLang="zh-CN" dirty="0"/>
                  <a:t>offset</a:t>
                </a:r>
                <a:r>
                  <a:rPr lang="zh-CN" altLang="en-US" dirty="0"/>
                  <a:t>调制数据</a:t>
                </a:r>
                <a:endParaRPr lang="en-US" altLang="zh-CN" dirty="0"/>
              </a:p>
              <a:p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052F64F-A0B0-4032-BEA6-47B40A36A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305800" cy="5410200"/>
              </a:xfrm>
              <a:blipFill>
                <a:blip r:embed="rId3"/>
                <a:stretch>
                  <a:fillRect l="-954" t="-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/>
          <p:cNvGrpSpPr/>
          <p:nvPr/>
        </p:nvGrpSpPr>
        <p:grpSpPr>
          <a:xfrm>
            <a:off x="4189731" y="1793172"/>
            <a:ext cx="3850903" cy="2349192"/>
            <a:chOff x="6121100" y="1573012"/>
            <a:chExt cx="3850903" cy="2349192"/>
          </a:xfrm>
        </p:grpSpPr>
        <p:grpSp>
          <p:nvGrpSpPr>
            <p:cNvPr id="23" name="组合 22"/>
            <p:cNvGrpSpPr/>
            <p:nvPr/>
          </p:nvGrpSpPr>
          <p:grpSpPr>
            <a:xfrm>
              <a:off x="6121100" y="1573012"/>
              <a:ext cx="3850903" cy="2349192"/>
              <a:chOff x="6121100" y="1573012"/>
              <a:chExt cx="3850903" cy="2349192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6121100" y="1573012"/>
                <a:ext cx="3850903" cy="2349192"/>
                <a:chOff x="6121100" y="1573012"/>
                <a:chExt cx="3850903" cy="2349192"/>
              </a:xfrm>
            </p:grpSpPr>
            <p:grpSp>
              <p:nvGrpSpPr>
                <p:cNvPr id="17" name="组合 16"/>
                <p:cNvGrpSpPr/>
                <p:nvPr/>
              </p:nvGrpSpPr>
              <p:grpSpPr>
                <a:xfrm>
                  <a:off x="6121100" y="1573012"/>
                  <a:ext cx="3850903" cy="2345754"/>
                  <a:chOff x="5443368" y="4574396"/>
                  <a:chExt cx="3850903" cy="2345754"/>
                </a:xfrm>
              </p:grpSpPr>
              <p:grpSp>
                <p:nvGrpSpPr>
                  <p:cNvPr id="15" name="组合 14"/>
                  <p:cNvGrpSpPr/>
                  <p:nvPr/>
                </p:nvGrpSpPr>
                <p:grpSpPr>
                  <a:xfrm>
                    <a:off x="5443368" y="4574396"/>
                    <a:ext cx="3700632" cy="2283604"/>
                    <a:chOff x="6667350" y="3536596"/>
                    <a:chExt cx="3700632" cy="2283604"/>
                  </a:xfrm>
                </p:grpSpPr>
                <p:grpSp>
                  <p:nvGrpSpPr>
                    <p:cNvPr id="4" name="组合 3"/>
                    <p:cNvGrpSpPr/>
                    <p:nvPr/>
                  </p:nvGrpSpPr>
                  <p:grpSpPr>
                    <a:xfrm>
                      <a:off x="6904018" y="3598746"/>
                      <a:ext cx="3463964" cy="2221454"/>
                      <a:chOff x="5486400" y="4394500"/>
                      <a:chExt cx="3463964" cy="2221454"/>
                    </a:xfrm>
                  </p:grpSpPr>
                  <p:pic>
                    <p:nvPicPr>
                      <p:cNvPr id="8" name="Picture 3"/>
                      <p:cNvPicPr>
                        <a:picLocks noChangeAspect="1" noChangeArrowheads="1"/>
                      </p:cNvPicPr>
                      <p:nvPr/>
                    </p:nvPicPr>
                    <p:blipFill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230" t="11912" r="17949" b="8655"/>
                      <a:stretch/>
                    </p:blipFill>
                    <p:spPr bwMode="auto">
                      <a:xfrm>
                        <a:off x="5486400" y="4394500"/>
                        <a:ext cx="3463964" cy="22214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  <p:sp>
                    <p:nvSpPr>
                      <p:cNvPr id="3" name="矩形 2"/>
                      <p:cNvSpPr/>
                      <p:nvPr/>
                    </p:nvSpPr>
                    <p:spPr bwMode="auto">
                      <a:xfrm>
                        <a:off x="5497159" y="4539727"/>
                        <a:ext cx="258183" cy="186107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50000"/>
                          </a:spcBef>
                          <a:spcAft>
                            <a:spcPct val="0"/>
                          </a:spcAft>
                          <a:buClr>
                            <a:schemeClr val="bg1"/>
                          </a:buClr>
                          <a:buSzPct val="100000"/>
                          <a:buFontTx/>
                          <a:buNone/>
                          <a:tabLst/>
                        </a:pPr>
                        <a:endParaRPr kumimoji="0" lang="zh-CN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endParaRPr>
                      </a:p>
                    </p:txBody>
                  </p:sp>
                </p:grpSp>
                <p:sp>
                  <p:nvSpPr>
                    <p:cNvPr id="7" name="文本框 6"/>
                    <p:cNvSpPr txBox="1"/>
                    <p:nvPr/>
                  </p:nvSpPr>
                  <p:spPr>
                    <a:xfrm>
                      <a:off x="6785850" y="5361020"/>
                      <a:ext cx="457648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/>
                        <a:t>0</a:t>
                      </a:r>
                      <a:endParaRPr lang="zh-CN" altLang="en-US"/>
                    </a:p>
                  </p:txBody>
                </p:sp>
                <p:sp>
                  <p:nvSpPr>
                    <p:cNvPr id="9" name="文本框 8"/>
                    <p:cNvSpPr txBox="1"/>
                    <p:nvPr/>
                  </p:nvSpPr>
                  <p:spPr>
                    <a:xfrm>
                      <a:off x="6667350" y="3536596"/>
                      <a:ext cx="753035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/>
                        <a:t>125</a:t>
                      </a:r>
                      <a:endParaRPr lang="zh-CN" altLang="en-US"/>
                    </a:p>
                  </p:txBody>
                </p:sp>
              </p:grpSp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8541236" y="6581596"/>
                    <a:ext cx="753035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/>
                      <a:t>(ms)</a:t>
                    </a:r>
                    <a:endParaRPr lang="zh-CN" altLang="en-US"/>
                  </a:p>
                </p:txBody>
              </p:sp>
            </p:grpSp>
            <p:sp>
              <p:nvSpPr>
                <p:cNvPr id="19" name="矩形 18"/>
                <p:cNvSpPr/>
                <p:nvPr/>
              </p:nvSpPr>
              <p:spPr bwMode="auto">
                <a:xfrm>
                  <a:off x="6764093" y="3649239"/>
                  <a:ext cx="2528273" cy="207377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SzPct val="100000"/>
                    <a:buFontTx/>
                    <a:buNone/>
                    <a:tabLst/>
                  </a:pPr>
                  <a:endParaRPr kumimoji="0" lang="zh-CN" altLang="en-US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7056119" y="3583650"/>
                  <a:ext cx="4576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/>
                    <a:t>1</a:t>
                  </a:r>
                  <a:endParaRPr lang="zh-CN" altLang="en-US"/>
                </a:p>
              </p:txBody>
            </p:sp>
          </p:grpSp>
          <p:sp>
            <p:nvSpPr>
              <p:cNvPr id="21" name="文本框 20"/>
              <p:cNvSpPr txBox="1"/>
              <p:nvPr/>
            </p:nvSpPr>
            <p:spPr>
              <a:xfrm>
                <a:off x="7814309" y="3583650"/>
                <a:ext cx="4576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2</a:t>
                </a:r>
                <a:endParaRPr lang="zh-CN" altLang="en-US"/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8567007" y="3583650"/>
                <a:ext cx="4576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/>
                  <a:t>3</a:t>
                </a:r>
                <a:endParaRPr lang="zh-CN" altLang="en-US"/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 rot="10800000">
              <a:off x="6140038" y="1652669"/>
              <a:ext cx="389850" cy="168261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000"/>
                <a:t>Frequency (KHz)</a:t>
              </a:r>
              <a:endParaRPr lang="zh-CN" altLang="en-US" sz="2000"/>
            </a:p>
          </p:txBody>
        </p:sp>
      </p:grpSp>
      <p:sp>
        <p:nvSpPr>
          <p:cNvPr id="26" name="灯片编号占位符 4">
            <a:extLst>
              <a:ext uri="{FF2B5EF4-FFF2-40B4-BE49-F238E27FC236}">
                <a16:creationId xmlns:a16="http://schemas.microsoft.com/office/drawing/2014/main" id="{EEC59055-BEDA-417E-960E-5C676DB40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579404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物理层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Chirp</a:t>
            </a:r>
            <a:r>
              <a:rPr lang="zh-CN" altLang="en-US"/>
              <a:t>扩频调制优势</a:t>
            </a:r>
            <a:endParaRPr lang="en-US" altLang="zh-CN"/>
          </a:p>
          <a:p>
            <a:pPr lvl="1"/>
            <a:r>
              <a:rPr lang="zh-CN" altLang="en-US"/>
              <a:t>提升传输并发性：同一信道中，</a:t>
            </a:r>
            <a:r>
              <a:rPr lang="en-US" altLang="zh-CN"/>
              <a:t>6</a:t>
            </a:r>
            <a:r>
              <a:rPr lang="zh-CN" altLang="en-US"/>
              <a:t>个用户选择</a:t>
            </a:r>
            <a:r>
              <a:rPr lang="en-US" altLang="zh-CN"/>
              <a:t>6</a:t>
            </a:r>
            <a:r>
              <a:rPr lang="zh-CN" altLang="en-US"/>
              <a:t>个不同的</a:t>
            </a:r>
            <a:r>
              <a:rPr lang="en-US" altLang="zh-CN"/>
              <a:t>SF</a:t>
            </a:r>
            <a:r>
              <a:rPr lang="zh-CN" altLang="en-US"/>
              <a:t>，则他们相互正交，可并发传输</a:t>
            </a:r>
            <a:endParaRPr lang="en-US" altLang="zh-CN" dirty="0"/>
          </a:p>
        </p:txBody>
      </p:sp>
      <p:grpSp>
        <p:nvGrpSpPr>
          <p:cNvPr id="14" name="组合 13"/>
          <p:cNvGrpSpPr/>
          <p:nvPr/>
        </p:nvGrpSpPr>
        <p:grpSpPr>
          <a:xfrm>
            <a:off x="758551" y="2426099"/>
            <a:ext cx="7703097" cy="4287526"/>
            <a:chOff x="626948" y="2570474"/>
            <a:chExt cx="7703097" cy="428752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/>
            <a:srcRect b="1902"/>
            <a:stretch/>
          </p:blipFill>
          <p:spPr>
            <a:xfrm>
              <a:off x="890155" y="2570474"/>
              <a:ext cx="7439890" cy="4287526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626948" y="3326368"/>
              <a:ext cx="526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baseline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SF</a:t>
              </a:r>
              <a:endParaRPr lang="zh-CN" altLang="en-US" sz="1800" b="1" baseline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271312" y="3326368"/>
              <a:ext cx="5552498" cy="369332"/>
              <a:chOff x="1249796" y="2201142"/>
              <a:chExt cx="5552498" cy="369332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1249796" y="2201142"/>
                <a:ext cx="2864716" cy="369332"/>
                <a:chOff x="1249796" y="2201142"/>
                <a:chExt cx="2864716" cy="369332"/>
              </a:xfrm>
            </p:grpSpPr>
            <p:sp>
              <p:nvSpPr>
                <p:cNvPr id="6" name="文本框 5"/>
                <p:cNvSpPr txBox="1"/>
                <p:nvPr/>
              </p:nvSpPr>
              <p:spPr>
                <a:xfrm>
                  <a:off x="1249796" y="2201142"/>
                  <a:ext cx="78047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800" b="1" baseline="0">
                      <a:solidFill>
                        <a:srgbClr val="FF0000"/>
                      </a:solidFill>
                      <a:latin typeface="微软雅黑" pitchFamily="34" charset="-122"/>
                      <a:ea typeface="微软雅黑" pitchFamily="34" charset="-122"/>
                    </a:rPr>
                    <a:t>7</a:t>
                  </a:r>
                  <a:endParaRPr lang="zh-CN" altLang="en-US" sz="1800" b="1" baseline="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" name="文本框 6"/>
                <p:cNvSpPr txBox="1"/>
                <p:nvPr/>
              </p:nvSpPr>
              <p:spPr>
                <a:xfrm>
                  <a:off x="1423555" y="2201142"/>
                  <a:ext cx="3596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800" b="1" baseline="0">
                      <a:solidFill>
                        <a:srgbClr val="FF0000"/>
                      </a:solidFill>
                      <a:latin typeface="微软雅黑" pitchFamily="34" charset="-122"/>
                      <a:ea typeface="微软雅黑" pitchFamily="34" charset="-122"/>
                    </a:rPr>
                    <a:t>8</a:t>
                  </a:r>
                  <a:endParaRPr lang="zh-CN" altLang="en-US" sz="1800" b="1" baseline="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1747983" y="2201142"/>
                  <a:ext cx="3596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800" b="1" baseline="0">
                      <a:solidFill>
                        <a:srgbClr val="FF0000"/>
                      </a:solidFill>
                      <a:latin typeface="微软雅黑" pitchFamily="34" charset="-122"/>
                      <a:ea typeface="微软雅黑" pitchFamily="34" charset="-122"/>
                    </a:rPr>
                    <a:t>9</a:t>
                  </a:r>
                  <a:endParaRPr lang="zh-CN" altLang="en-US" sz="1800" b="1" baseline="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>
                  <a:off x="2354697" y="2201142"/>
                  <a:ext cx="4909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800" b="1" baseline="0">
                      <a:solidFill>
                        <a:srgbClr val="FF0000"/>
                      </a:solidFill>
                      <a:latin typeface="微软雅黑" pitchFamily="34" charset="-122"/>
                      <a:ea typeface="微软雅黑" pitchFamily="34" charset="-122"/>
                    </a:rPr>
                    <a:t>10</a:t>
                  </a:r>
                  <a:endParaRPr lang="zh-CN" altLang="en-US" sz="1800" b="1" baseline="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0" name="文本框 9"/>
                <p:cNvSpPr txBox="1"/>
                <p:nvPr/>
              </p:nvSpPr>
              <p:spPr>
                <a:xfrm>
                  <a:off x="3623544" y="2201142"/>
                  <a:ext cx="4909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800" b="1" baseline="0">
                      <a:solidFill>
                        <a:srgbClr val="FF0000"/>
                      </a:solidFill>
                      <a:latin typeface="微软雅黑" pitchFamily="34" charset="-122"/>
                      <a:ea typeface="微软雅黑" pitchFamily="34" charset="-122"/>
                    </a:rPr>
                    <a:t>11</a:t>
                  </a:r>
                  <a:endParaRPr lang="zh-CN" altLang="en-US" sz="1800" b="1" baseline="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sp>
            <p:nvSpPr>
              <p:cNvPr id="11" name="文本框 10"/>
              <p:cNvSpPr txBox="1"/>
              <p:nvPr/>
            </p:nvSpPr>
            <p:spPr>
              <a:xfrm>
                <a:off x="6311326" y="2201142"/>
                <a:ext cx="4909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 b="1" baseline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12</a:t>
                </a:r>
                <a:endParaRPr lang="zh-CN" altLang="en-US" sz="1800" b="1" baseline="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A2123973-C402-4BC2-ACA9-72E0FFE6A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636275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12BB3-6535-4838-A010-C1837792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物理层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052F64F-A0B0-4032-BEA6-47B40A36A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调制数据案例</a:t>
            </a:r>
            <a:endParaRPr lang="en-US" altLang="zh-CN"/>
          </a:p>
          <a:p>
            <a:pPr lvl="1"/>
            <a:r>
              <a:rPr lang="en-US" altLang="zh-CN"/>
              <a:t>SF=8</a:t>
            </a:r>
            <a:r>
              <a:rPr lang="zh-CN" altLang="en-US"/>
              <a:t>，</a:t>
            </a:r>
            <a:r>
              <a:rPr lang="en-US" altLang="zh-CN"/>
              <a:t>BW=125KHz</a:t>
            </a:r>
            <a:r>
              <a:rPr lang="zh-CN" altLang="en-US"/>
              <a:t>发送数据</a:t>
            </a:r>
            <a:r>
              <a:rPr lang="en-US" altLang="zh-CN"/>
              <a:t>[0, 0, 50]</a:t>
            </a:r>
          </a:p>
          <a:p>
            <a:pPr lvl="1"/>
            <a:r>
              <a:rPr lang="en-US" altLang="zh-CN"/>
              <a:t>Chirp</a:t>
            </a:r>
            <a:r>
              <a:rPr lang="zh-CN" altLang="en-US"/>
              <a:t>频率随时间线性变化</a:t>
            </a:r>
            <a:endParaRPr lang="en-US" altLang="zh-CN"/>
          </a:p>
          <a:p>
            <a:pPr lvl="2"/>
            <a:r>
              <a:rPr lang="zh-CN" altLang="en-US"/>
              <a:t>频率偏移等价于时间偏移</a:t>
            </a:r>
            <a:endParaRPr lang="en-US" altLang="zh-CN"/>
          </a:p>
          <a:p>
            <a:pPr lvl="1"/>
            <a:endParaRPr lang="en-US" altLang="zh-CN" dirty="0"/>
          </a:p>
        </p:txBody>
      </p:sp>
      <p:grpSp>
        <p:nvGrpSpPr>
          <p:cNvPr id="30" name="组合 29"/>
          <p:cNvGrpSpPr/>
          <p:nvPr/>
        </p:nvGrpSpPr>
        <p:grpSpPr>
          <a:xfrm>
            <a:off x="1151415" y="3267245"/>
            <a:ext cx="6841171" cy="2203642"/>
            <a:chOff x="1094264" y="3777388"/>
            <a:chExt cx="6841171" cy="2203642"/>
          </a:xfrm>
        </p:grpSpPr>
        <p:grpSp>
          <p:nvGrpSpPr>
            <p:cNvPr id="3" name="组合 2"/>
            <p:cNvGrpSpPr/>
            <p:nvPr/>
          </p:nvGrpSpPr>
          <p:grpSpPr>
            <a:xfrm>
              <a:off x="1094264" y="3777388"/>
              <a:ext cx="6841171" cy="1753615"/>
              <a:chOff x="786263" y="3978112"/>
              <a:chExt cx="5799650" cy="1444906"/>
            </a:xfrm>
          </p:grpSpPr>
          <p:pic>
            <p:nvPicPr>
              <p:cNvPr id="6" name="内容占位符 3"/>
              <p:cNvPicPr>
                <a:picLocks noChangeAspect="1"/>
              </p:cNvPicPr>
              <p:nvPr/>
            </p:nvPicPr>
            <p:blipFill rotWithShape="1">
              <a:blip r:embed="rId3"/>
              <a:srcRect l="883" t="37014" r="39646" b="46464"/>
              <a:stretch/>
            </p:blipFill>
            <p:spPr bwMode="auto">
              <a:xfrm>
                <a:off x="808566" y="3978112"/>
                <a:ext cx="5777347" cy="10701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1" name="内容占位符 3"/>
              <p:cNvPicPr>
                <a:picLocks noChangeAspect="1"/>
              </p:cNvPicPr>
              <p:nvPr/>
            </p:nvPicPr>
            <p:blipFill rotWithShape="1">
              <a:blip r:embed="rId3"/>
              <a:srcRect l="883" t="55865" r="39646" b="38441"/>
              <a:stretch/>
            </p:blipFill>
            <p:spPr bwMode="auto">
              <a:xfrm>
                <a:off x="786263" y="5054226"/>
                <a:ext cx="5777347" cy="3687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12" name="文本框 11"/>
            <p:cNvSpPr txBox="1"/>
            <p:nvPr/>
          </p:nvSpPr>
          <p:spPr>
            <a:xfrm>
              <a:off x="1504840" y="5569103"/>
              <a:ext cx="1907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2000" b="1" baseline="0">
                  <a:latin typeface="微软雅黑" pitchFamily="34" charset="-122"/>
                  <a:ea typeface="微软雅黑" pitchFamily="34" charset="-122"/>
                </a:rPr>
                <a:t>偏移</a:t>
              </a:r>
              <a:r>
                <a:rPr lang="en-US" altLang="zh-CN" sz="2000" b="1" baseline="0">
                  <a:latin typeface="微软雅黑" pitchFamily="34" charset="-122"/>
                  <a:ea typeface="微软雅黑" pitchFamily="34" charset="-122"/>
                </a:rPr>
                <a:t>0/256Ts</a:t>
              </a:r>
              <a:endParaRPr lang="zh-CN" altLang="en-US" sz="20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798274" y="5580920"/>
              <a:ext cx="1907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2000" b="1" baseline="0">
                  <a:latin typeface="微软雅黑" pitchFamily="34" charset="-122"/>
                  <a:ea typeface="微软雅黑" pitchFamily="34" charset="-122"/>
                </a:rPr>
                <a:t>偏移</a:t>
              </a:r>
              <a:r>
                <a:rPr lang="en-US" altLang="zh-CN" sz="2000" b="1" baseline="0">
                  <a:latin typeface="微软雅黑" pitchFamily="34" charset="-122"/>
                  <a:ea typeface="微软雅黑" pitchFamily="34" charset="-122"/>
                </a:rPr>
                <a:t>0/256Ts</a:t>
              </a:r>
              <a:endParaRPr lang="zh-CN" altLang="en-US" sz="20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001695" y="5563262"/>
              <a:ext cx="1907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2000" b="1" baseline="0">
                  <a:latin typeface="微软雅黑" pitchFamily="34" charset="-122"/>
                  <a:ea typeface="微软雅黑" pitchFamily="34" charset="-122"/>
                </a:rPr>
                <a:t>偏移</a:t>
              </a:r>
              <a:r>
                <a:rPr lang="en-US" altLang="zh-CN" sz="2000" b="1" baseline="0">
                  <a:latin typeface="微软雅黑" pitchFamily="34" charset="-122"/>
                  <a:ea typeface="微软雅黑" pitchFamily="34" charset="-122"/>
                </a:rPr>
                <a:t>50/256Ts</a:t>
              </a:r>
              <a:endParaRPr lang="zh-CN" altLang="en-US" sz="20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 bwMode="auto">
            <a:xfrm>
              <a:off x="7460166" y="4663570"/>
              <a:ext cx="0" cy="62369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/>
          </p:nvCxnSpPr>
          <p:spPr bwMode="auto">
            <a:xfrm>
              <a:off x="7875674" y="4663570"/>
              <a:ext cx="0" cy="62369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C9772913-3336-4D7C-9D2A-11C23C5A3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461565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物理层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包结构</a:t>
            </a:r>
            <a:endParaRPr lang="en-US" altLang="zh-CN"/>
          </a:p>
          <a:p>
            <a:pPr lvl="1"/>
            <a:r>
              <a:rPr lang="en-US" altLang="zh-CN"/>
              <a:t>Preamble</a:t>
            </a:r>
            <a:r>
              <a:rPr lang="zh-CN" altLang="en-US"/>
              <a:t>：</a:t>
            </a:r>
            <a:r>
              <a:rPr lang="en-US" altLang="zh-CN"/>
              <a:t>up-chirp</a:t>
            </a:r>
            <a:r>
              <a:rPr lang="zh-CN" altLang="en-US"/>
              <a:t>信号</a:t>
            </a:r>
            <a:r>
              <a:rPr lang="en-US" altLang="zh-CN"/>
              <a:t> </a:t>
            </a:r>
          </a:p>
          <a:p>
            <a:pPr lvl="1"/>
            <a:r>
              <a:rPr lang="zh-CN" altLang="en-US"/>
              <a:t>同步字：</a:t>
            </a:r>
            <a:r>
              <a:rPr lang="en-US" altLang="zh-CN"/>
              <a:t> 2</a:t>
            </a:r>
            <a:r>
              <a:rPr lang="zh-CN" altLang="en-US"/>
              <a:t>个</a:t>
            </a:r>
            <a:r>
              <a:rPr lang="en-US" altLang="zh-CN"/>
              <a:t>up-chirp</a:t>
            </a:r>
            <a:r>
              <a:rPr lang="zh-CN" altLang="en-US"/>
              <a:t>信号</a:t>
            </a:r>
            <a:r>
              <a:rPr lang="en-US" altLang="zh-CN"/>
              <a:t> </a:t>
            </a:r>
          </a:p>
          <a:p>
            <a:pPr lvl="1"/>
            <a:r>
              <a:rPr lang="zh-CN" altLang="en-US"/>
              <a:t>帧定界符：</a:t>
            </a:r>
            <a:r>
              <a:rPr lang="en-US" altLang="zh-CN"/>
              <a:t>2.25</a:t>
            </a:r>
            <a:r>
              <a:rPr lang="zh-CN" altLang="en-US"/>
              <a:t>个</a:t>
            </a:r>
            <a:r>
              <a:rPr lang="en-US" altLang="zh-CN"/>
              <a:t>dwon-chirp</a:t>
            </a:r>
            <a:r>
              <a:rPr lang="zh-CN" altLang="en-US"/>
              <a:t>信号</a:t>
            </a:r>
            <a:endParaRPr lang="en-US" altLang="zh-CN"/>
          </a:p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46421" y="3796762"/>
            <a:ext cx="8778422" cy="1815159"/>
            <a:chOff x="220889" y="3848176"/>
            <a:chExt cx="8778422" cy="181515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/>
            <a:srcRect l="954" r="3442"/>
            <a:stretch/>
          </p:blipFill>
          <p:spPr>
            <a:xfrm>
              <a:off x="220889" y="3848176"/>
              <a:ext cx="8778422" cy="1815159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 bwMode="auto">
            <a:xfrm>
              <a:off x="758536" y="4062845"/>
              <a:ext cx="2296390" cy="1246909"/>
            </a:xfrm>
            <a:prstGeom prst="rect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3054926" y="4062845"/>
              <a:ext cx="581892" cy="1246909"/>
            </a:xfrm>
            <a:prstGeom prst="rect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3636817" y="4062844"/>
              <a:ext cx="654627" cy="1246909"/>
            </a:xfrm>
            <a:prstGeom prst="rect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4291444" y="4062843"/>
              <a:ext cx="4613565" cy="1246909"/>
            </a:xfrm>
            <a:prstGeom prst="rect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144269" y="3512523"/>
            <a:ext cx="128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Preamble</a:t>
            </a:r>
            <a:endParaRPr lang="zh-CN" altLang="en-US" sz="18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100810" y="2958525"/>
            <a:ext cx="341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2"/>
              </a:buClr>
            </a:pPr>
            <a:r>
              <a:rPr lang="zh-CN" altLang="en-US" sz="18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同</a:t>
            </a:r>
            <a:endParaRPr lang="en-US" altLang="zh-CN" sz="18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ts val="0"/>
              </a:spcBef>
              <a:buClr>
                <a:schemeClr val="accent2"/>
              </a:buClr>
            </a:pPr>
            <a:r>
              <a:rPr lang="zh-CN" altLang="en-US" sz="18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步</a:t>
            </a:r>
            <a:endParaRPr lang="en-US" altLang="zh-CN" sz="18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ts val="0"/>
              </a:spcBef>
              <a:buClr>
                <a:schemeClr val="accent2"/>
              </a:buClr>
            </a:pPr>
            <a:r>
              <a:rPr lang="zh-CN" altLang="en-US" sz="18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字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713354" y="2681526"/>
            <a:ext cx="396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2"/>
              </a:buClr>
            </a:pPr>
            <a:r>
              <a:rPr lang="zh-CN" altLang="en-US" sz="18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帧</a:t>
            </a:r>
            <a:endParaRPr lang="en-US" altLang="zh-CN" sz="18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ts val="0"/>
              </a:spcBef>
              <a:buClr>
                <a:schemeClr val="accent2"/>
              </a:buClr>
            </a:pPr>
            <a:r>
              <a:rPr lang="zh-CN" altLang="en-US" sz="18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定</a:t>
            </a:r>
            <a:endParaRPr lang="en-US" altLang="zh-CN" sz="18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ts val="0"/>
              </a:spcBef>
              <a:buClr>
                <a:schemeClr val="accent2"/>
              </a:buClr>
            </a:pPr>
            <a:r>
              <a:rPr lang="zh-CN" altLang="en-US" sz="18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界</a:t>
            </a:r>
            <a:endParaRPr lang="en-US" altLang="zh-CN" sz="18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ts val="0"/>
              </a:spcBef>
              <a:buClr>
                <a:schemeClr val="accent2"/>
              </a:buClr>
            </a:pPr>
            <a:r>
              <a:rPr lang="zh-CN" altLang="en-US" sz="18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符</a:t>
            </a:r>
            <a:endParaRPr lang="zh-CN" altLang="en-US" sz="18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81243" y="3512523"/>
            <a:ext cx="108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18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endParaRPr lang="zh-CN" altLang="en-US" sz="18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9A0E8DAF-DD64-4EF2-9A81-EC8B1DCEA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F2AFF2E-93EA-4ADA-808A-7008B3D108DB}"/>
              </a:ext>
            </a:extLst>
          </p:cNvPr>
          <p:cNvCxnSpPr/>
          <p:nvPr/>
        </p:nvCxnSpPr>
        <p:spPr bwMode="auto">
          <a:xfrm>
            <a:off x="2432741" y="5227896"/>
            <a:ext cx="0" cy="63950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DAD5053-F3B7-4FA7-B6B2-5B0D32284B35}"/>
              </a:ext>
            </a:extLst>
          </p:cNvPr>
          <p:cNvCxnSpPr/>
          <p:nvPr/>
        </p:nvCxnSpPr>
        <p:spPr bwMode="auto">
          <a:xfrm>
            <a:off x="6471341" y="5227896"/>
            <a:ext cx="0" cy="63950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A7B4815-A099-41B9-93A8-3E237A10448D}"/>
              </a:ext>
            </a:extLst>
          </p:cNvPr>
          <p:cNvGrpSpPr/>
          <p:nvPr/>
        </p:nvGrpSpPr>
        <p:grpSpPr>
          <a:xfrm>
            <a:off x="1620115" y="5829966"/>
            <a:ext cx="1518341" cy="458411"/>
            <a:chOff x="1565304" y="6144556"/>
            <a:chExt cx="1518341" cy="458411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12211202-D076-4AF0-A6BE-37AA3C1944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-1" r="79254" b="-6465"/>
            <a:stretch/>
          </p:blipFill>
          <p:spPr>
            <a:xfrm>
              <a:off x="1565304" y="6198633"/>
              <a:ext cx="1518341" cy="404334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82834686-FF24-4CB0-A54F-A2305C570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77907" y="6144556"/>
              <a:ext cx="104775" cy="457200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6925488-C0D0-41B6-8A71-D1CC913E732B}"/>
              </a:ext>
            </a:extLst>
          </p:cNvPr>
          <p:cNvGrpSpPr/>
          <p:nvPr/>
        </p:nvGrpSpPr>
        <p:grpSpPr>
          <a:xfrm>
            <a:off x="3476907" y="5862610"/>
            <a:ext cx="5367016" cy="438150"/>
            <a:chOff x="3706763" y="6170431"/>
            <a:chExt cx="5367016" cy="438150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567F8559-68EB-49D9-ACEB-01B528B729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1032" t="-1808" r="1208" b="11849"/>
            <a:stretch/>
          </p:blipFill>
          <p:spPr>
            <a:xfrm>
              <a:off x="3706763" y="6170431"/>
              <a:ext cx="5367016" cy="386257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5D85B0D1-92F9-41BE-8E9C-4092AB505F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42012"/>
            <a:stretch/>
          </p:blipFill>
          <p:spPr>
            <a:xfrm>
              <a:off x="3709421" y="6170431"/>
              <a:ext cx="154653" cy="438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6251917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入网流程</a:t>
            </a:r>
            <a:endParaRPr lang="en-US" altLang="zh-CN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990600"/>
            <a:ext cx="8386011" cy="586740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zh-CN" altLang="en-US" dirty="0"/>
              <a:t>入网激活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空中激活（</a:t>
            </a:r>
            <a:r>
              <a:rPr lang="en-US" altLang="zh-CN" dirty="0"/>
              <a:t>OTAA</a:t>
            </a:r>
            <a:r>
              <a:rPr lang="zh-CN" altLang="en-US" dirty="0"/>
              <a:t>）：需要入网流程，与服务器协商，获取设备地址和会话密钥和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个性化激活（</a:t>
            </a:r>
            <a:r>
              <a:rPr lang="en-US" altLang="zh-CN" dirty="0"/>
              <a:t>ABP</a:t>
            </a:r>
            <a:r>
              <a:rPr lang="zh-CN" altLang="en-US" dirty="0"/>
              <a:t>）：事先将必需的通信信息，烧录在设备上</a:t>
            </a: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入网前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 err="1"/>
              <a:t>JoinEUI</a:t>
            </a:r>
            <a:r>
              <a:rPr lang="zh-CN" altLang="en-US" dirty="0"/>
              <a:t>：</a:t>
            </a:r>
            <a:r>
              <a:rPr lang="en-US" altLang="zh-CN" dirty="0"/>
              <a:t>8</a:t>
            </a:r>
            <a:r>
              <a:rPr lang="zh-CN" altLang="en-US" dirty="0"/>
              <a:t>字节长地址，</a:t>
            </a:r>
            <a:r>
              <a:rPr lang="en-US" altLang="zh-CN" dirty="0"/>
              <a:t>OTAA</a:t>
            </a:r>
            <a:r>
              <a:rPr lang="zh-CN" altLang="en-US" dirty="0"/>
              <a:t>中唯一标识处理入网过程的入网服务器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 err="1"/>
              <a:t>DevEUI</a:t>
            </a:r>
            <a:r>
              <a:rPr lang="zh-CN" altLang="en-US" dirty="0"/>
              <a:t>：</a:t>
            </a:r>
            <a:r>
              <a:rPr lang="en-US" altLang="zh-CN" dirty="0"/>
              <a:t>8</a:t>
            </a:r>
            <a:r>
              <a:rPr lang="zh-CN" altLang="en-US" dirty="0"/>
              <a:t>字节长地址，唯一标识设备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 err="1"/>
              <a:t>NwkKey</a:t>
            </a:r>
            <a:r>
              <a:rPr lang="zh-CN" altLang="en-US" dirty="0"/>
              <a:t>：</a:t>
            </a:r>
            <a:r>
              <a:rPr lang="en-US" altLang="zh-CN" dirty="0"/>
              <a:t>AES-128</a:t>
            </a:r>
            <a:r>
              <a:rPr lang="zh-CN" altLang="en-US" dirty="0"/>
              <a:t>密钥，制造时分配给设备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 err="1"/>
              <a:t>AppKey</a:t>
            </a:r>
            <a:r>
              <a:rPr lang="zh-CN" altLang="en-US" dirty="0"/>
              <a:t>：</a:t>
            </a:r>
            <a:r>
              <a:rPr lang="en-US" altLang="zh-CN" dirty="0"/>
              <a:t>AES-128</a:t>
            </a:r>
            <a:r>
              <a:rPr lang="zh-CN" altLang="en-US" dirty="0"/>
              <a:t>密钥，制造时分配给设备</a:t>
            </a: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dirty="0"/>
              <a:t>入网后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 err="1"/>
              <a:t>DevAddr</a:t>
            </a:r>
            <a:r>
              <a:rPr lang="zh-CN" altLang="en-US" dirty="0"/>
              <a:t>：</a:t>
            </a:r>
            <a:r>
              <a:rPr lang="en-US" altLang="zh-CN" dirty="0"/>
              <a:t>4</a:t>
            </a:r>
            <a:r>
              <a:rPr lang="zh-CN" altLang="en-US" dirty="0"/>
              <a:t>字节设备地址，用于当前网络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 err="1"/>
              <a:t>FNwkSIntKey</a:t>
            </a:r>
            <a:r>
              <a:rPr lang="zh-CN" altLang="en-US" dirty="0"/>
              <a:t>：计算上行数据的</a:t>
            </a:r>
            <a:r>
              <a:rPr lang="en-US" altLang="zh-CN" dirty="0"/>
              <a:t>MIC</a:t>
            </a:r>
          </a:p>
          <a:p>
            <a:pPr lvl="1">
              <a:spcBef>
                <a:spcPts val="0"/>
              </a:spcBef>
            </a:pPr>
            <a:r>
              <a:rPr lang="en-US" altLang="zh-CN" dirty="0" err="1"/>
              <a:t>SNwkSIntKey</a:t>
            </a:r>
            <a:r>
              <a:rPr lang="zh-CN" altLang="en-US" dirty="0"/>
              <a:t>：计算上行数据的</a:t>
            </a:r>
            <a:r>
              <a:rPr lang="en-US" altLang="zh-CN" dirty="0"/>
              <a:t>MIC</a:t>
            </a:r>
            <a:r>
              <a:rPr lang="zh-CN" altLang="en-US" dirty="0"/>
              <a:t>；检查下行数据的</a:t>
            </a:r>
            <a:r>
              <a:rPr lang="en-US" altLang="zh-CN" dirty="0"/>
              <a:t>MIC</a:t>
            </a:r>
          </a:p>
          <a:p>
            <a:pPr lvl="1">
              <a:spcBef>
                <a:spcPts val="0"/>
              </a:spcBef>
            </a:pPr>
            <a:r>
              <a:rPr lang="en-US" altLang="zh-CN" dirty="0" err="1"/>
              <a:t>NwkSEncKey</a:t>
            </a:r>
            <a:r>
              <a:rPr lang="zh-CN" altLang="en-US" dirty="0"/>
              <a:t>：加密和解密上下行的</a:t>
            </a:r>
            <a:r>
              <a:rPr lang="en-US" altLang="zh-CN" dirty="0"/>
              <a:t>MAC</a:t>
            </a:r>
            <a:r>
              <a:rPr lang="zh-CN" altLang="en-US" dirty="0"/>
              <a:t>指令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 err="1"/>
              <a:t>AppSKey</a:t>
            </a:r>
            <a:r>
              <a:rPr lang="zh-CN" altLang="en-US" dirty="0"/>
              <a:t>：加密和解密上下行的应用数据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FA71CC98-0636-48E2-904F-F416D7234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771347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入网流程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56BE671-1316-4D82-B676-A56F02D8F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终端设备使用</a:t>
            </a:r>
            <a:r>
              <a:rPr lang="en-US" altLang="zh-CN" dirty="0" err="1"/>
              <a:t>AppKey</a:t>
            </a:r>
            <a:r>
              <a:rPr lang="zh-CN" altLang="en-US" dirty="0"/>
              <a:t>密钥，发送</a:t>
            </a:r>
            <a:r>
              <a:rPr lang="en-US" altLang="zh-CN" dirty="0"/>
              <a:t>Join-request</a:t>
            </a:r>
            <a:r>
              <a:rPr lang="zh-CN" altLang="en-US" dirty="0"/>
              <a:t>信息</a:t>
            </a:r>
            <a:endParaRPr lang="en-US" altLang="zh-CN" dirty="0"/>
          </a:p>
          <a:p>
            <a:pPr lvl="1"/>
            <a:r>
              <a:rPr lang="en-US" altLang="zh-CN" dirty="0" err="1"/>
              <a:t>JoinEUI</a:t>
            </a:r>
            <a:endParaRPr lang="en-US" altLang="zh-CN" dirty="0"/>
          </a:p>
          <a:p>
            <a:pPr lvl="1"/>
            <a:r>
              <a:rPr lang="en-US" altLang="zh-CN" dirty="0" err="1"/>
              <a:t>DevEUI</a:t>
            </a:r>
            <a:r>
              <a:rPr lang="zh-CN" altLang="en-US" dirty="0"/>
              <a:t>：</a:t>
            </a:r>
            <a:r>
              <a:rPr lang="en-US" altLang="zh-CN" dirty="0"/>
              <a:t>64</a:t>
            </a:r>
            <a:r>
              <a:rPr lang="zh-CN" altLang="zh-CN" dirty="0"/>
              <a:t>位全球唯一</a:t>
            </a:r>
            <a:r>
              <a:rPr lang="en-US" altLang="zh-CN" dirty="0"/>
              <a:t>ID</a:t>
            </a:r>
            <a:r>
              <a:rPr lang="zh-CN" altLang="zh-CN" dirty="0"/>
              <a:t>，标识唯一的应用提供商和唯一的终端设备</a:t>
            </a:r>
            <a:endParaRPr lang="en-US" altLang="zh-CN" dirty="0"/>
          </a:p>
          <a:p>
            <a:pPr lvl="1"/>
            <a:r>
              <a:rPr lang="en-US" altLang="zh-CN" dirty="0" err="1"/>
              <a:t>DevNonce</a:t>
            </a:r>
            <a:r>
              <a:rPr lang="zh-CN" altLang="zh-CN" dirty="0"/>
              <a:t>，用于设备端计数入网请求，每发送一次</a:t>
            </a:r>
            <a:r>
              <a:rPr lang="en-US" altLang="zh-CN" dirty="0"/>
              <a:t>Join-request</a:t>
            </a:r>
            <a:r>
              <a:rPr lang="zh-CN" altLang="zh-CN" dirty="0"/>
              <a:t>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07782" y="3346561"/>
            <a:ext cx="8814135" cy="3206639"/>
            <a:chOff x="105930" y="2692496"/>
            <a:chExt cx="8814135" cy="3206639"/>
          </a:xfrm>
        </p:grpSpPr>
        <p:cxnSp>
          <p:nvCxnSpPr>
            <p:cNvPr id="8" name="直接连接符 7"/>
            <p:cNvCxnSpPr/>
            <p:nvPr/>
          </p:nvCxnSpPr>
          <p:spPr bwMode="auto">
            <a:xfrm flipV="1">
              <a:off x="921363" y="5712739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文本框 9"/>
            <p:cNvSpPr txBox="1"/>
            <p:nvPr/>
          </p:nvSpPr>
          <p:spPr>
            <a:xfrm>
              <a:off x="105930" y="2692496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网关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5930" y="5529803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设备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下箭头 12"/>
            <p:cNvSpPr/>
            <p:nvPr/>
          </p:nvSpPr>
          <p:spPr bwMode="auto">
            <a:xfrm rot="10800000">
              <a:off x="1144654" y="2877161"/>
              <a:ext cx="430924" cy="2835577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1777846" y="3023572"/>
              <a:ext cx="1156996" cy="356950"/>
              <a:chOff x="2593910" y="3160257"/>
              <a:chExt cx="1156996" cy="356950"/>
            </a:xfrm>
          </p:grpSpPr>
          <p:sp>
            <p:nvSpPr>
              <p:cNvPr id="4" name="圆角矩形 3"/>
              <p:cNvSpPr/>
              <p:nvPr/>
            </p:nvSpPr>
            <p:spPr bwMode="auto">
              <a:xfrm>
                <a:off x="2593910" y="3160257"/>
                <a:ext cx="1156996" cy="35695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593910" y="3203693"/>
                <a:ext cx="11569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1200" b="1" baseline="0">
                    <a:latin typeface="微软雅黑" pitchFamily="34" charset="-122"/>
                    <a:ea typeface="微软雅黑" pitchFamily="34" charset="-122"/>
                  </a:rPr>
                  <a:t>Join-request</a:t>
                </a:r>
                <a:endParaRPr lang="zh-CN" altLang="en-US" sz="1200" b="1" baseline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1569896" y="3524070"/>
              <a:ext cx="1156996" cy="1060241"/>
              <a:chOff x="2356345" y="3620325"/>
              <a:chExt cx="1156996" cy="1060241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2356345" y="3620325"/>
                <a:ext cx="11569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1200" b="1" baseline="0" dirty="0" err="1">
                    <a:latin typeface="微软雅黑" pitchFamily="34" charset="-122"/>
                    <a:ea typeface="微软雅黑" pitchFamily="34" charset="-122"/>
                  </a:rPr>
                  <a:t>MType</a:t>
                </a:r>
                <a:r>
                  <a:rPr lang="en-US" altLang="zh-CN" sz="1200" b="1" baseline="0" dirty="0">
                    <a:latin typeface="微软雅黑" pitchFamily="34" charset="-122"/>
                    <a:ea typeface="微软雅黑" pitchFamily="34" charset="-122"/>
                  </a:rPr>
                  <a:t>=000</a:t>
                </a:r>
                <a:endParaRPr lang="zh-CN" altLang="en-US" sz="12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2356345" y="3870590"/>
                <a:ext cx="11569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1200" b="1" baseline="0">
                    <a:latin typeface="微软雅黑" pitchFamily="34" charset="-122"/>
                    <a:ea typeface="微软雅黑" pitchFamily="34" charset="-122"/>
                  </a:rPr>
                  <a:t>JoinEUI</a:t>
                </a:r>
                <a:endParaRPr lang="zh-CN" altLang="en-US" sz="1200" b="1" baseline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2356345" y="4147589"/>
                <a:ext cx="11569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1200" b="1" baseline="0">
                    <a:latin typeface="微软雅黑" pitchFamily="34" charset="-122"/>
                    <a:ea typeface="微软雅黑" pitchFamily="34" charset="-122"/>
                  </a:rPr>
                  <a:t>DevEUI</a:t>
                </a:r>
                <a:endParaRPr lang="zh-CN" altLang="en-US" sz="1200" b="1" baseline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2356345" y="4403567"/>
                <a:ext cx="11569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1200" b="1" baseline="0">
                    <a:latin typeface="微软雅黑" pitchFamily="34" charset="-122"/>
                    <a:ea typeface="微软雅黑" pitchFamily="34" charset="-122"/>
                  </a:rPr>
                  <a:t>DevNonce</a:t>
                </a:r>
                <a:endParaRPr lang="zh-CN" altLang="en-US" sz="1200" b="1" baseline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cxnSp>
          <p:nvCxnSpPr>
            <p:cNvPr id="27" name="直接连接符 26"/>
            <p:cNvCxnSpPr/>
            <p:nvPr/>
          </p:nvCxnSpPr>
          <p:spPr bwMode="auto">
            <a:xfrm flipV="1">
              <a:off x="921363" y="2851618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1" name="灯片编号占位符 4">
            <a:extLst>
              <a:ext uri="{FF2B5EF4-FFF2-40B4-BE49-F238E27FC236}">
                <a16:creationId xmlns:a16="http://schemas.microsoft.com/office/drawing/2014/main" id="{FDDB0CC7-9019-45BB-936D-740FE78F9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graphicFrame>
        <p:nvGraphicFramePr>
          <p:cNvPr id="22" name="内容占位符 3">
            <a:extLst>
              <a:ext uri="{FF2B5EF4-FFF2-40B4-BE49-F238E27FC236}">
                <a16:creationId xmlns:a16="http://schemas.microsoft.com/office/drawing/2014/main" id="{FB09D1CA-E912-4DBD-A537-93DA08AB9C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6504616"/>
              </p:ext>
            </p:extLst>
          </p:nvPr>
        </p:nvGraphicFramePr>
        <p:xfrm>
          <a:off x="5133171" y="3492186"/>
          <a:ext cx="3477429" cy="2876617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948253">
                  <a:extLst>
                    <a:ext uri="{9D8B030D-6E8A-4147-A177-3AD203B41FA5}">
                      <a16:colId xmlns:a16="http://schemas.microsoft.com/office/drawing/2014/main" val="3308246398"/>
                    </a:ext>
                  </a:extLst>
                </a:gridCol>
                <a:gridCol w="2529176">
                  <a:extLst>
                    <a:ext uri="{9D8B030D-6E8A-4147-A177-3AD203B41FA5}">
                      <a16:colId xmlns:a16="http://schemas.microsoft.com/office/drawing/2014/main" val="3823181161"/>
                    </a:ext>
                  </a:extLst>
                </a:gridCol>
              </a:tblGrid>
              <a:tr h="3982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 err="1">
                          <a:effectLst/>
                          <a:latin typeface="+mj-ea"/>
                          <a:ea typeface="+mj-ea"/>
                        </a:rPr>
                        <a:t>MType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>
                          <a:effectLst/>
                          <a:latin typeface="+mj-ea"/>
                          <a:ea typeface="+mj-ea"/>
                        </a:rPr>
                        <a:t>消息类型</a:t>
                      </a:r>
                      <a:endParaRPr 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4580665"/>
                  </a:ext>
                </a:extLst>
              </a:tr>
              <a:tr h="3978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000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</a:rPr>
                        <a:t>入网请求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8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001</a:t>
                      </a:r>
                      <a:endParaRPr 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</a:rPr>
                        <a:t>入网许可</a:t>
                      </a:r>
                      <a:endParaRPr lang="zh-CN" alt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7253982"/>
                  </a:ext>
                </a:extLst>
              </a:tr>
              <a:tr h="4578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010</a:t>
                      </a:r>
                      <a:endParaRPr 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</a:rPr>
                        <a:t>不需要确认的上行数据</a:t>
                      </a:r>
                      <a:endParaRPr lang="zh-CN" alt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2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011</a:t>
                      </a:r>
                      <a:endParaRPr 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</a:rPr>
                        <a:t>不需要确认的下行数据</a:t>
                      </a:r>
                      <a:endParaRPr lang="zh-CN" alt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8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100</a:t>
                      </a:r>
                      <a:endParaRPr 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</a:rPr>
                        <a:t>需要确认的上行数据</a:t>
                      </a:r>
                      <a:endParaRPr lang="zh-CN" alt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8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101</a:t>
                      </a:r>
                      <a:endParaRPr 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dirty="0">
                          <a:effectLst/>
                          <a:latin typeface="+mj-ea"/>
                          <a:ea typeface="+mj-ea"/>
                        </a:rPr>
                        <a:t>需要确认的下行数据</a:t>
                      </a:r>
                      <a:endParaRPr lang="zh-CN" alt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727921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入网流程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793A83A2-90DA-4983-850E-0463E040F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网关返回</a:t>
            </a:r>
            <a:r>
              <a:rPr lang="en-US" altLang="zh-CN" dirty="0" err="1"/>
              <a:t>AppKey</a:t>
            </a:r>
            <a:r>
              <a:rPr lang="zh-CN" altLang="zh-CN" dirty="0"/>
              <a:t>加密的</a:t>
            </a:r>
            <a:r>
              <a:rPr lang="en-US" altLang="zh-CN" dirty="0"/>
              <a:t>Join-accept</a:t>
            </a:r>
            <a:r>
              <a:rPr lang="zh-CN" altLang="zh-CN" dirty="0"/>
              <a:t>信息</a:t>
            </a:r>
            <a:endParaRPr lang="en-US" altLang="zh-CN" dirty="0"/>
          </a:p>
          <a:p>
            <a:pPr lvl="1"/>
            <a:r>
              <a:rPr lang="zh-CN" altLang="zh-CN" dirty="0"/>
              <a:t>用于生成</a:t>
            </a:r>
            <a:r>
              <a:rPr lang="en-US" altLang="zh-CN" dirty="0" err="1"/>
              <a:t>NwkSKey</a:t>
            </a:r>
            <a:r>
              <a:rPr lang="zh-CN" altLang="zh-CN" dirty="0"/>
              <a:t>和</a:t>
            </a:r>
            <a:r>
              <a:rPr lang="en-US" altLang="zh-CN" dirty="0" err="1"/>
              <a:t>AppSKey</a:t>
            </a:r>
            <a:r>
              <a:rPr lang="zh-CN" altLang="zh-CN" dirty="0"/>
              <a:t>的信息，以及设备短地址（</a:t>
            </a:r>
            <a:r>
              <a:rPr lang="en-US" altLang="zh-CN" dirty="0" err="1"/>
              <a:t>DevAddr</a:t>
            </a:r>
            <a:r>
              <a:rPr lang="zh-CN" altLang="zh-CN" dirty="0"/>
              <a:t>）、</a:t>
            </a:r>
            <a:r>
              <a:rPr lang="en-US" altLang="zh-CN" dirty="0" err="1"/>
              <a:t>RXDelay</a:t>
            </a:r>
            <a:r>
              <a:rPr lang="zh-CN" altLang="zh-CN" dirty="0"/>
              <a:t>信息、当前网络可用信道</a:t>
            </a:r>
            <a:r>
              <a:rPr lang="en-US" altLang="zh-CN" dirty="0" err="1"/>
              <a:t>CFList</a:t>
            </a:r>
            <a:r>
              <a:rPr lang="zh-CN" altLang="zh-CN" dirty="0"/>
              <a:t>等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07782" y="2393916"/>
            <a:ext cx="8814135" cy="3206639"/>
            <a:chOff x="107782" y="3140366"/>
            <a:chExt cx="8814135" cy="3206639"/>
          </a:xfrm>
        </p:grpSpPr>
        <p:grpSp>
          <p:nvGrpSpPr>
            <p:cNvPr id="28" name="组合 27"/>
            <p:cNvGrpSpPr/>
            <p:nvPr/>
          </p:nvGrpSpPr>
          <p:grpSpPr>
            <a:xfrm>
              <a:off x="107782" y="3140366"/>
              <a:ext cx="8814135" cy="3206639"/>
              <a:chOff x="105930" y="2692496"/>
              <a:chExt cx="8814135" cy="3206639"/>
            </a:xfrm>
          </p:grpSpPr>
          <p:cxnSp>
            <p:nvCxnSpPr>
              <p:cNvPr id="8" name="直接连接符 7"/>
              <p:cNvCxnSpPr/>
              <p:nvPr/>
            </p:nvCxnSpPr>
            <p:spPr bwMode="auto">
              <a:xfrm flipV="1">
                <a:off x="921363" y="5712739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" name="文本框 9"/>
              <p:cNvSpPr txBox="1"/>
              <p:nvPr/>
            </p:nvSpPr>
            <p:spPr>
              <a:xfrm>
                <a:off x="105930" y="2692496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网关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05930" y="5529803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设备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下箭头 12"/>
              <p:cNvSpPr/>
              <p:nvPr/>
            </p:nvSpPr>
            <p:spPr bwMode="auto">
              <a:xfrm rot="10800000">
                <a:off x="1144654" y="2877162"/>
                <a:ext cx="430924" cy="2837307"/>
              </a:xfrm>
              <a:prstGeom prst="down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1777846" y="3023572"/>
                <a:ext cx="1156996" cy="356950"/>
                <a:chOff x="2593910" y="3160257"/>
                <a:chExt cx="1156996" cy="356950"/>
              </a:xfrm>
            </p:grpSpPr>
            <p:sp>
              <p:nvSpPr>
                <p:cNvPr id="4" name="圆角矩形 3"/>
                <p:cNvSpPr/>
                <p:nvPr/>
              </p:nvSpPr>
              <p:spPr bwMode="auto">
                <a:xfrm>
                  <a:off x="2593910" y="3160257"/>
                  <a:ext cx="1156996" cy="356950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SzPct val="100000"/>
                    <a:buFontTx/>
                    <a:buNone/>
                    <a:tabLst/>
                  </a:pPr>
                  <a:endParaRPr kumimoji="0" lang="zh-CN" altLang="en-US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7" name="文本框 6"/>
                <p:cNvSpPr txBox="1"/>
                <p:nvPr/>
              </p:nvSpPr>
              <p:spPr>
                <a:xfrm>
                  <a:off x="2593910" y="3203693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Join-request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569896" y="3524070"/>
                <a:ext cx="1156996" cy="1060241"/>
                <a:chOff x="2356345" y="3620325"/>
                <a:chExt cx="1156996" cy="1060241"/>
              </a:xfrm>
            </p:grpSpPr>
            <p:sp>
              <p:nvSpPr>
                <p:cNvPr id="16" name="文本框 15"/>
                <p:cNvSpPr txBox="1"/>
                <p:nvPr/>
              </p:nvSpPr>
              <p:spPr>
                <a:xfrm>
                  <a:off x="2356345" y="3620325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MType=000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2356345" y="3870590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JoinEUI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2356345" y="414758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DevEUI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2356345" y="4403567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DevNonce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cxnSp>
            <p:nvCxnSpPr>
              <p:cNvPr id="27" name="直接连接符 26"/>
              <p:cNvCxnSpPr/>
              <p:nvPr/>
            </p:nvCxnSpPr>
            <p:spPr bwMode="auto">
              <a:xfrm flipV="1">
                <a:off x="921363" y="2851618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3" name="组合 2"/>
            <p:cNvGrpSpPr/>
            <p:nvPr/>
          </p:nvGrpSpPr>
          <p:grpSpPr>
            <a:xfrm>
              <a:off x="3153987" y="3307316"/>
              <a:ext cx="1811211" cy="2829482"/>
              <a:chOff x="3153987" y="3307316"/>
              <a:chExt cx="1811211" cy="2829482"/>
            </a:xfrm>
          </p:grpSpPr>
          <p:sp>
            <p:nvSpPr>
              <p:cNvPr id="21" name="下箭头 20"/>
              <p:cNvSpPr/>
              <p:nvPr/>
            </p:nvSpPr>
            <p:spPr bwMode="auto">
              <a:xfrm>
                <a:off x="3153987" y="3307316"/>
                <a:ext cx="430924" cy="2829482"/>
              </a:xfrm>
              <a:prstGeom prst="downArrow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3808202" y="3438082"/>
                <a:ext cx="1156996" cy="356950"/>
                <a:chOff x="2593910" y="3160257"/>
                <a:chExt cx="1156996" cy="356950"/>
              </a:xfrm>
            </p:grpSpPr>
            <p:sp>
              <p:nvSpPr>
                <p:cNvPr id="23" name="圆角矩形 22"/>
                <p:cNvSpPr/>
                <p:nvPr/>
              </p:nvSpPr>
              <p:spPr bwMode="auto">
                <a:xfrm>
                  <a:off x="2593910" y="3160257"/>
                  <a:ext cx="1156996" cy="356950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SzPct val="100000"/>
                    <a:buFontTx/>
                    <a:buNone/>
                    <a:tabLst/>
                  </a:pPr>
                  <a:endParaRPr kumimoji="0" lang="zh-CN" altLang="en-US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2593910" y="3203693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Join-accept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3573547" y="3946398"/>
                <a:ext cx="1320282" cy="1851803"/>
                <a:chOff x="4172814" y="3608045"/>
                <a:chExt cx="1320282" cy="1851803"/>
              </a:xfrm>
            </p:grpSpPr>
            <p:grpSp>
              <p:nvGrpSpPr>
                <p:cNvPr id="26" name="组合 25"/>
                <p:cNvGrpSpPr/>
                <p:nvPr/>
              </p:nvGrpSpPr>
              <p:grpSpPr>
                <a:xfrm>
                  <a:off x="4172814" y="3608045"/>
                  <a:ext cx="1320282" cy="1060517"/>
                  <a:chOff x="2344981" y="3620325"/>
                  <a:chExt cx="1320282" cy="1060517"/>
                </a:xfrm>
              </p:grpSpPr>
              <p:sp>
                <p:nvSpPr>
                  <p:cNvPr id="32" name="文本框 31"/>
                  <p:cNvSpPr txBox="1"/>
                  <p:nvPr/>
                </p:nvSpPr>
                <p:spPr>
                  <a:xfrm>
                    <a:off x="2356345" y="3620325"/>
                    <a:ext cx="115699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MType=001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33" name="文本框 32"/>
                  <p:cNvSpPr txBox="1"/>
                  <p:nvPr/>
                </p:nvSpPr>
                <p:spPr>
                  <a:xfrm>
                    <a:off x="2356345" y="3870590"/>
                    <a:ext cx="115699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DevAddr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34" name="文本框 33"/>
                  <p:cNvSpPr txBox="1"/>
                  <p:nvPr/>
                </p:nvSpPr>
                <p:spPr>
                  <a:xfrm>
                    <a:off x="2356344" y="4147589"/>
                    <a:ext cx="1308919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Home_NetID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35" name="文本框 34"/>
                  <p:cNvSpPr txBox="1"/>
                  <p:nvPr/>
                </p:nvSpPr>
                <p:spPr>
                  <a:xfrm>
                    <a:off x="2344981" y="4403843"/>
                    <a:ext cx="115699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DLSettings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29" name="文本框 28"/>
                <p:cNvSpPr txBox="1"/>
                <p:nvPr/>
              </p:nvSpPr>
              <p:spPr>
                <a:xfrm>
                  <a:off x="4184178" y="465907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RxDelay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4172814" y="491193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CFList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4184178" y="518284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JoinNonce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</p:grpSp>
      <p:sp>
        <p:nvSpPr>
          <p:cNvPr id="43" name="文本框 42"/>
          <p:cNvSpPr txBox="1"/>
          <p:nvPr/>
        </p:nvSpPr>
        <p:spPr>
          <a:xfrm>
            <a:off x="1197488" y="5826214"/>
            <a:ext cx="224234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JOIN_ACCEPT_DELAY1</a:t>
            </a:r>
            <a:endParaRPr lang="zh-CN" altLang="en-US" sz="14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4" name="直接连接符 43"/>
          <p:cNvCxnSpPr/>
          <p:nvPr/>
        </p:nvCxnSpPr>
        <p:spPr bwMode="auto">
          <a:xfrm flipV="1">
            <a:off x="1259633" y="5600555"/>
            <a:ext cx="2090057" cy="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5" name="直接连接符 44"/>
          <p:cNvCxnSpPr/>
          <p:nvPr/>
        </p:nvCxnSpPr>
        <p:spPr bwMode="auto">
          <a:xfrm>
            <a:off x="1259633" y="5414160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直接连接符 45"/>
          <p:cNvCxnSpPr/>
          <p:nvPr/>
        </p:nvCxnSpPr>
        <p:spPr bwMode="auto">
          <a:xfrm>
            <a:off x="3349690" y="5424476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灯片编号占位符 4">
            <a:extLst>
              <a:ext uri="{FF2B5EF4-FFF2-40B4-BE49-F238E27FC236}">
                <a16:creationId xmlns:a16="http://schemas.microsoft.com/office/drawing/2014/main" id="{5BCD5BD4-0552-4BAB-ACCE-CC91BB361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8267FA7-72C8-4E68-95F2-0CAC9D317BD0}"/>
              </a:ext>
            </a:extLst>
          </p:cNvPr>
          <p:cNvSpPr txBox="1"/>
          <p:nvPr/>
        </p:nvSpPr>
        <p:spPr>
          <a:xfrm>
            <a:off x="4781572" y="3690697"/>
            <a:ext cx="4198721" cy="2529923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baseline="0" dirty="0" err="1">
                <a:latin typeface="微软雅黑" pitchFamily="34" charset="-122"/>
                <a:ea typeface="微软雅黑" pitchFamily="34" charset="-122"/>
              </a:rPr>
              <a:t>Home_NetID</a:t>
            </a:r>
            <a:r>
              <a:rPr lang="zh-CN" altLang="en-US" sz="1800" baseline="0" dirty="0">
                <a:latin typeface="微软雅黑" pitchFamily="34" charset="-122"/>
                <a:ea typeface="微软雅黑" pitchFamily="34" charset="-122"/>
              </a:rPr>
              <a:t>：指明设备加入的网络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baseline="0" dirty="0" err="1">
                <a:latin typeface="微软雅黑" pitchFamily="34" charset="-122"/>
                <a:ea typeface="微软雅黑" pitchFamily="34" charset="-122"/>
              </a:rPr>
              <a:t>DLSettings</a:t>
            </a:r>
            <a:r>
              <a:rPr lang="zh-CN" altLang="en-US" sz="1800" baseline="0" dirty="0">
                <a:latin typeface="微软雅黑" pitchFamily="34" charset="-122"/>
                <a:ea typeface="微软雅黑" pitchFamily="34" charset="-122"/>
              </a:rPr>
              <a:t>：指明</a:t>
            </a:r>
            <a:r>
              <a:rPr lang="en-US" altLang="zh-CN" sz="1800" baseline="0" dirty="0">
                <a:latin typeface="微软雅黑" pitchFamily="34" charset="-122"/>
                <a:ea typeface="微软雅黑" pitchFamily="34" charset="-122"/>
              </a:rPr>
              <a:t>RX1</a:t>
            </a:r>
            <a:r>
              <a:rPr lang="zh-CN" altLang="en-US" sz="1800" baseline="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800" baseline="0" dirty="0">
                <a:latin typeface="微软雅黑" pitchFamily="34" charset="-122"/>
                <a:ea typeface="微软雅黑" pitchFamily="34" charset="-122"/>
              </a:rPr>
              <a:t>RX2</a:t>
            </a:r>
            <a:r>
              <a:rPr lang="zh-CN" altLang="en-US" sz="1800" baseline="0" dirty="0">
                <a:latin typeface="微软雅黑" pitchFamily="34" charset="-122"/>
                <a:ea typeface="微软雅黑" pitchFamily="34" charset="-122"/>
              </a:rPr>
              <a:t>的数据率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baseline="0" dirty="0" err="1">
                <a:latin typeface="微软雅黑" pitchFamily="34" charset="-122"/>
                <a:ea typeface="微软雅黑" pitchFamily="34" charset="-122"/>
              </a:rPr>
              <a:t>RXDelay</a:t>
            </a:r>
            <a:r>
              <a:rPr lang="zh-CN" altLang="en-US" sz="1800" baseline="0" dirty="0">
                <a:latin typeface="微软雅黑" pitchFamily="34" charset="-122"/>
                <a:ea typeface="微软雅黑" pitchFamily="34" charset="-122"/>
              </a:rPr>
              <a:t>：指明</a:t>
            </a:r>
            <a:r>
              <a:rPr lang="en-US" altLang="zh-CN" sz="1800" baseline="0" dirty="0">
                <a:latin typeface="微软雅黑" pitchFamily="34" charset="-122"/>
                <a:ea typeface="微软雅黑" pitchFamily="34" charset="-122"/>
              </a:rPr>
              <a:t>RECEVE_DELAY1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baseline="0" dirty="0" err="1">
                <a:latin typeface="微软雅黑" pitchFamily="34" charset="-122"/>
                <a:ea typeface="微软雅黑" pitchFamily="34" charset="-122"/>
              </a:rPr>
              <a:t>CFList</a:t>
            </a:r>
            <a:r>
              <a:rPr lang="zh-CN" altLang="en-US" sz="1800" baseline="0" dirty="0">
                <a:latin typeface="微软雅黑" pitchFamily="34" charset="-122"/>
                <a:ea typeface="微软雅黑" pitchFamily="34" charset="-122"/>
              </a:rPr>
              <a:t>：指定设备上行信道</a:t>
            </a:r>
            <a:endParaRPr lang="en-US" altLang="zh-CN" sz="1800" baseline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baseline="0" dirty="0" err="1">
                <a:latin typeface="微软雅黑" pitchFamily="34" charset="-122"/>
                <a:ea typeface="微软雅黑" pitchFamily="34" charset="-122"/>
              </a:rPr>
              <a:t>JoinNonce</a:t>
            </a:r>
            <a:r>
              <a:rPr lang="zh-CN" altLang="en-US" sz="1800" baseline="0" dirty="0">
                <a:latin typeface="微软雅黑" pitchFamily="34" charset="-122"/>
                <a:ea typeface="微软雅黑" pitchFamily="34" charset="-122"/>
              </a:rPr>
              <a:t>：随</a:t>
            </a:r>
            <a:r>
              <a:rPr lang="en-US" altLang="zh-CN" sz="1800" baseline="0" dirty="0">
                <a:latin typeface="微软雅黑" pitchFamily="34" charset="-122"/>
                <a:ea typeface="微软雅黑" pitchFamily="34" charset="-122"/>
              </a:rPr>
              <a:t>Join-accept</a:t>
            </a:r>
            <a:r>
              <a:rPr lang="zh-CN" altLang="en-US" sz="1800" baseline="0" dirty="0">
                <a:latin typeface="微软雅黑" pitchFamily="34" charset="-122"/>
                <a:ea typeface="微软雅黑" pitchFamily="34" charset="-122"/>
              </a:rPr>
              <a:t>消息数增长。分配给设备，用于生成</a:t>
            </a:r>
            <a:r>
              <a:rPr lang="en-US" altLang="zh-CN" sz="1800" baseline="0" dirty="0" err="1">
                <a:latin typeface="微软雅黑" pitchFamily="34" charset="-122"/>
                <a:ea typeface="微软雅黑" pitchFamily="34" charset="-122"/>
              </a:rPr>
              <a:t>FNwkSIntKey</a:t>
            </a:r>
            <a:r>
              <a:rPr lang="zh-CN" altLang="en-US" sz="1800" baseline="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baseline="0" dirty="0" err="1">
                <a:latin typeface="微软雅黑" pitchFamily="34" charset="-122"/>
                <a:ea typeface="微软雅黑" pitchFamily="34" charset="-122"/>
              </a:rPr>
              <a:t>SNwkSIntKey</a:t>
            </a:r>
            <a:r>
              <a:rPr lang="zh-CN" altLang="en-US" sz="1800" baseline="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800" baseline="0" dirty="0" err="1">
                <a:latin typeface="微软雅黑" pitchFamily="34" charset="-122"/>
                <a:ea typeface="微软雅黑" pitchFamily="34" charset="-122"/>
              </a:rPr>
              <a:t>NwkSEncKey</a:t>
            </a:r>
            <a:r>
              <a:rPr lang="zh-CN" altLang="en-US" sz="1800" baseline="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800" baseline="0" dirty="0" err="1">
                <a:latin typeface="微软雅黑" pitchFamily="34" charset="-122"/>
                <a:ea typeface="微软雅黑" pitchFamily="34" charset="-122"/>
              </a:rPr>
              <a:t>AppSKey</a:t>
            </a:r>
            <a:endParaRPr lang="zh-CN" altLang="en-US" sz="1800" baseline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2181436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入网流程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3CA2157B-8D8D-4504-B844-8944DE2FE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设备将发送确认信息到网关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07782" y="2393917"/>
            <a:ext cx="8814135" cy="3206639"/>
            <a:chOff x="107782" y="3140366"/>
            <a:chExt cx="8814135" cy="3206639"/>
          </a:xfrm>
        </p:grpSpPr>
        <p:grpSp>
          <p:nvGrpSpPr>
            <p:cNvPr id="28" name="组合 27"/>
            <p:cNvGrpSpPr/>
            <p:nvPr/>
          </p:nvGrpSpPr>
          <p:grpSpPr>
            <a:xfrm>
              <a:off x="107782" y="3140366"/>
              <a:ext cx="8814135" cy="3206639"/>
              <a:chOff x="105930" y="2692496"/>
              <a:chExt cx="8814135" cy="3206639"/>
            </a:xfrm>
          </p:grpSpPr>
          <p:cxnSp>
            <p:nvCxnSpPr>
              <p:cNvPr id="8" name="直接连接符 7"/>
              <p:cNvCxnSpPr/>
              <p:nvPr/>
            </p:nvCxnSpPr>
            <p:spPr bwMode="auto">
              <a:xfrm flipV="1">
                <a:off x="921363" y="5712739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" name="文本框 9"/>
              <p:cNvSpPr txBox="1"/>
              <p:nvPr/>
            </p:nvSpPr>
            <p:spPr>
              <a:xfrm>
                <a:off x="105930" y="2692496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网关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05930" y="5529803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设备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下箭头 12"/>
              <p:cNvSpPr/>
              <p:nvPr/>
            </p:nvSpPr>
            <p:spPr bwMode="auto">
              <a:xfrm rot="10800000">
                <a:off x="1144654" y="2877162"/>
                <a:ext cx="430924" cy="2837307"/>
              </a:xfrm>
              <a:prstGeom prst="down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1777846" y="3023572"/>
                <a:ext cx="1156996" cy="356950"/>
                <a:chOff x="2593910" y="3160257"/>
                <a:chExt cx="1156996" cy="356950"/>
              </a:xfrm>
            </p:grpSpPr>
            <p:sp>
              <p:nvSpPr>
                <p:cNvPr id="4" name="圆角矩形 3"/>
                <p:cNvSpPr/>
                <p:nvPr/>
              </p:nvSpPr>
              <p:spPr bwMode="auto">
                <a:xfrm>
                  <a:off x="2593910" y="3160257"/>
                  <a:ext cx="1156996" cy="356950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SzPct val="100000"/>
                    <a:buFontTx/>
                    <a:buNone/>
                    <a:tabLst/>
                  </a:pPr>
                  <a:endParaRPr kumimoji="0" lang="zh-CN" altLang="en-US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7" name="文本框 6"/>
                <p:cNvSpPr txBox="1"/>
                <p:nvPr/>
              </p:nvSpPr>
              <p:spPr>
                <a:xfrm>
                  <a:off x="2593910" y="3203693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Join-request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569896" y="3524070"/>
                <a:ext cx="1156996" cy="1060241"/>
                <a:chOff x="2356345" y="3620325"/>
                <a:chExt cx="1156996" cy="1060241"/>
              </a:xfrm>
            </p:grpSpPr>
            <p:sp>
              <p:nvSpPr>
                <p:cNvPr id="16" name="文本框 15"/>
                <p:cNvSpPr txBox="1"/>
                <p:nvPr/>
              </p:nvSpPr>
              <p:spPr>
                <a:xfrm>
                  <a:off x="2356345" y="3620325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MType=000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2356345" y="3870590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JoinEUI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2356345" y="414758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DevEUI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2356345" y="4403567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DevNonce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cxnSp>
            <p:nvCxnSpPr>
              <p:cNvPr id="27" name="直接连接符 26"/>
              <p:cNvCxnSpPr/>
              <p:nvPr/>
            </p:nvCxnSpPr>
            <p:spPr bwMode="auto">
              <a:xfrm flipV="1">
                <a:off x="921363" y="2851618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3" name="组合 2"/>
            <p:cNvGrpSpPr/>
            <p:nvPr/>
          </p:nvGrpSpPr>
          <p:grpSpPr>
            <a:xfrm>
              <a:off x="3153987" y="3307316"/>
              <a:ext cx="1811211" cy="2829482"/>
              <a:chOff x="3153987" y="3307316"/>
              <a:chExt cx="1811211" cy="2829482"/>
            </a:xfrm>
          </p:grpSpPr>
          <p:sp>
            <p:nvSpPr>
              <p:cNvPr id="21" name="下箭头 20"/>
              <p:cNvSpPr/>
              <p:nvPr/>
            </p:nvSpPr>
            <p:spPr bwMode="auto">
              <a:xfrm>
                <a:off x="3153987" y="3307316"/>
                <a:ext cx="430924" cy="2829482"/>
              </a:xfrm>
              <a:prstGeom prst="downArrow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3808202" y="3438082"/>
                <a:ext cx="1156996" cy="356950"/>
                <a:chOff x="2593910" y="3160257"/>
                <a:chExt cx="1156996" cy="356950"/>
              </a:xfrm>
            </p:grpSpPr>
            <p:sp>
              <p:nvSpPr>
                <p:cNvPr id="23" name="圆角矩形 22"/>
                <p:cNvSpPr/>
                <p:nvPr/>
              </p:nvSpPr>
              <p:spPr bwMode="auto">
                <a:xfrm>
                  <a:off x="2593910" y="3160257"/>
                  <a:ext cx="1156996" cy="356950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SzPct val="100000"/>
                    <a:buFontTx/>
                    <a:buNone/>
                    <a:tabLst/>
                  </a:pPr>
                  <a:endParaRPr kumimoji="0" lang="zh-CN" altLang="en-US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2593910" y="3203693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Join-accept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3573547" y="3946398"/>
                <a:ext cx="1320282" cy="1851803"/>
                <a:chOff x="4172814" y="3608045"/>
                <a:chExt cx="1320282" cy="1851803"/>
              </a:xfrm>
            </p:grpSpPr>
            <p:grpSp>
              <p:nvGrpSpPr>
                <p:cNvPr id="26" name="组合 25"/>
                <p:cNvGrpSpPr/>
                <p:nvPr/>
              </p:nvGrpSpPr>
              <p:grpSpPr>
                <a:xfrm>
                  <a:off x="4172814" y="3608045"/>
                  <a:ext cx="1320282" cy="1060517"/>
                  <a:chOff x="2344981" y="3620325"/>
                  <a:chExt cx="1320282" cy="1060517"/>
                </a:xfrm>
              </p:grpSpPr>
              <p:sp>
                <p:nvSpPr>
                  <p:cNvPr id="32" name="文本框 31"/>
                  <p:cNvSpPr txBox="1"/>
                  <p:nvPr/>
                </p:nvSpPr>
                <p:spPr>
                  <a:xfrm>
                    <a:off x="2356345" y="3620325"/>
                    <a:ext cx="115699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MType=001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33" name="文本框 32"/>
                  <p:cNvSpPr txBox="1"/>
                  <p:nvPr/>
                </p:nvSpPr>
                <p:spPr>
                  <a:xfrm>
                    <a:off x="2356345" y="3870590"/>
                    <a:ext cx="115699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DevAddr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34" name="文本框 33"/>
                  <p:cNvSpPr txBox="1"/>
                  <p:nvPr/>
                </p:nvSpPr>
                <p:spPr>
                  <a:xfrm>
                    <a:off x="2356344" y="4147589"/>
                    <a:ext cx="1308919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Home_NetID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35" name="文本框 34"/>
                  <p:cNvSpPr txBox="1"/>
                  <p:nvPr/>
                </p:nvSpPr>
                <p:spPr>
                  <a:xfrm>
                    <a:off x="2344981" y="4403843"/>
                    <a:ext cx="115699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DLSettings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29" name="文本框 28"/>
                <p:cNvSpPr txBox="1"/>
                <p:nvPr/>
              </p:nvSpPr>
              <p:spPr>
                <a:xfrm>
                  <a:off x="4184178" y="465907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RxDelay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4172814" y="491193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CFList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4184178" y="518284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JoinNonce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36" name="下箭头 35"/>
            <p:cNvSpPr/>
            <p:nvPr/>
          </p:nvSpPr>
          <p:spPr bwMode="auto">
            <a:xfrm rot="10800000">
              <a:off x="5199898" y="3299488"/>
              <a:ext cx="430924" cy="2837307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5719010" y="3481141"/>
              <a:ext cx="861174" cy="356950"/>
              <a:chOff x="2593910" y="3160257"/>
              <a:chExt cx="861174" cy="356950"/>
            </a:xfrm>
          </p:grpSpPr>
          <p:sp>
            <p:nvSpPr>
              <p:cNvPr id="38" name="圆角矩形 37"/>
              <p:cNvSpPr/>
              <p:nvPr/>
            </p:nvSpPr>
            <p:spPr bwMode="auto">
              <a:xfrm>
                <a:off x="2593910" y="3160257"/>
                <a:ext cx="793757" cy="35695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2593910" y="3203693"/>
                <a:ext cx="8611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1200" b="1" baseline="0">
                    <a:latin typeface="微软雅黑" pitchFamily="34" charset="-122"/>
                    <a:ea typeface="微软雅黑" pitchFamily="34" charset="-122"/>
                  </a:rPr>
                  <a:t>ReKeyId</a:t>
                </a:r>
                <a:endParaRPr lang="zh-CN" altLang="en-US" sz="1200" b="1" baseline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40" name="灯片编号占位符 4">
            <a:extLst>
              <a:ext uri="{FF2B5EF4-FFF2-40B4-BE49-F238E27FC236}">
                <a16:creationId xmlns:a16="http://schemas.microsoft.com/office/drawing/2014/main" id="{590EC761-3BFA-4F9A-8DF6-896F8BFD5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79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894575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入网流程</a:t>
            </a:r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D69C944E-6E0D-4537-939A-2E64032A9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网关回复相应的确认信息，设备的</a:t>
            </a:r>
            <a:r>
              <a:rPr lang="en-US" altLang="zh-CN" dirty="0"/>
              <a:t>OTAA</a:t>
            </a:r>
            <a:r>
              <a:rPr lang="zh-CN" altLang="en-US" dirty="0"/>
              <a:t>入网激活完成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07782" y="2393917"/>
            <a:ext cx="8814135" cy="3206639"/>
            <a:chOff x="107782" y="3140366"/>
            <a:chExt cx="8814135" cy="3206639"/>
          </a:xfrm>
        </p:grpSpPr>
        <p:grpSp>
          <p:nvGrpSpPr>
            <p:cNvPr id="28" name="组合 27"/>
            <p:cNvGrpSpPr/>
            <p:nvPr/>
          </p:nvGrpSpPr>
          <p:grpSpPr>
            <a:xfrm>
              <a:off x="107782" y="3140366"/>
              <a:ext cx="8814135" cy="3206639"/>
              <a:chOff x="105930" y="2692496"/>
              <a:chExt cx="8814135" cy="3206639"/>
            </a:xfrm>
          </p:grpSpPr>
          <p:cxnSp>
            <p:nvCxnSpPr>
              <p:cNvPr id="8" name="直接连接符 7"/>
              <p:cNvCxnSpPr/>
              <p:nvPr/>
            </p:nvCxnSpPr>
            <p:spPr bwMode="auto">
              <a:xfrm flipV="1">
                <a:off x="921363" y="5712739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" name="文本框 9"/>
              <p:cNvSpPr txBox="1"/>
              <p:nvPr/>
            </p:nvSpPr>
            <p:spPr>
              <a:xfrm>
                <a:off x="105930" y="2692496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网关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05930" y="5529803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设备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下箭头 12"/>
              <p:cNvSpPr/>
              <p:nvPr/>
            </p:nvSpPr>
            <p:spPr bwMode="auto">
              <a:xfrm rot="10800000">
                <a:off x="1144654" y="2877162"/>
                <a:ext cx="430924" cy="2837307"/>
              </a:xfrm>
              <a:prstGeom prst="down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1777846" y="3023572"/>
                <a:ext cx="1156996" cy="356950"/>
                <a:chOff x="2593910" y="3160257"/>
                <a:chExt cx="1156996" cy="356950"/>
              </a:xfrm>
            </p:grpSpPr>
            <p:sp>
              <p:nvSpPr>
                <p:cNvPr id="4" name="圆角矩形 3"/>
                <p:cNvSpPr/>
                <p:nvPr/>
              </p:nvSpPr>
              <p:spPr bwMode="auto">
                <a:xfrm>
                  <a:off x="2593910" y="3160257"/>
                  <a:ext cx="1156996" cy="356950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SzPct val="100000"/>
                    <a:buFontTx/>
                    <a:buNone/>
                    <a:tabLst/>
                  </a:pPr>
                  <a:endParaRPr kumimoji="0" lang="zh-CN" altLang="en-US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7" name="文本框 6"/>
                <p:cNvSpPr txBox="1"/>
                <p:nvPr/>
              </p:nvSpPr>
              <p:spPr>
                <a:xfrm>
                  <a:off x="2593910" y="3203693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Join-request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569896" y="3524070"/>
                <a:ext cx="1156996" cy="1060241"/>
                <a:chOff x="2356345" y="3620325"/>
                <a:chExt cx="1156996" cy="1060241"/>
              </a:xfrm>
            </p:grpSpPr>
            <p:sp>
              <p:nvSpPr>
                <p:cNvPr id="16" name="文本框 15"/>
                <p:cNvSpPr txBox="1"/>
                <p:nvPr/>
              </p:nvSpPr>
              <p:spPr>
                <a:xfrm>
                  <a:off x="2356345" y="3620325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MType=000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2356345" y="3870590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JoinEUI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2356345" y="414758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DevEUI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2356345" y="4403567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DevNonce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cxnSp>
            <p:nvCxnSpPr>
              <p:cNvPr id="27" name="直接连接符 26"/>
              <p:cNvCxnSpPr/>
              <p:nvPr/>
            </p:nvCxnSpPr>
            <p:spPr bwMode="auto">
              <a:xfrm flipV="1">
                <a:off x="921363" y="2851618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3" name="组合 2"/>
            <p:cNvGrpSpPr/>
            <p:nvPr/>
          </p:nvGrpSpPr>
          <p:grpSpPr>
            <a:xfrm>
              <a:off x="3153987" y="3307316"/>
              <a:ext cx="1811211" cy="2829482"/>
              <a:chOff x="3153987" y="3307316"/>
              <a:chExt cx="1811211" cy="2829482"/>
            </a:xfrm>
          </p:grpSpPr>
          <p:sp>
            <p:nvSpPr>
              <p:cNvPr id="21" name="下箭头 20"/>
              <p:cNvSpPr/>
              <p:nvPr/>
            </p:nvSpPr>
            <p:spPr bwMode="auto">
              <a:xfrm>
                <a:off x="3153987" y="3307316"/>
                <a:ext cx="430924" cy="2829482"/>
              </a:xfrm>
              <a:prstGeom prst="downArrow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3808202" y="3438082"/>
                <a:ext cx="1156996" cy="356950"/>
                <a:chOff x="2593910" y="3160257"/>
                <a:chExt cx="1156996" cy="356950"/>
              </a:xfrm>
            </p:grpSpPr>
            <p:sp>
              <p:nvSpPr>
                <p:cNvPr id="23" name="圆角矩形 22"/>
                <p:cNvSpPr/>
                <p:nvPr/>
              </p:nvSpPr>
              <p:spPr bwMode="auto">
                <a:xfrm>
                  <a:off x="2593910" y="3160257"/>
                  <a:ext cx="1156996" cy="356950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SzPct val="100000"/>
                    <a:buFontTx/>
                    <a:buNone/>
                    <a:tabLst/>
                  </a:pPr>
                  <a:endParaRPr kumimoji="0" lang="zh-CN" altLang="en-US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2593910" y="3203693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Join-accept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25" name="组合 24"/>
              <p:cNvGrpSpPr/>
              <p:nvPr/>
            </p:nvGrpSpPr>
            <p:grpSpPr>
              <a:xfrm>
                <a:off x="3573547" y="3946398"/>
                <a:ext cx="1320282" cy="1851803"/>
                <a:chOff x="4172814" y="3608045"/>
                <a:chExt cx="1320282" cy="1851803"/>
              </a:xfrm>
            </p:grpSpPr>
            <p:grpSp>
              <p:nvGrpSpPr>
                <p:cNvPr id="26" name="组合 25"/>
                <p:cNvGrpSpPr/>
                <p:nvPr/>
              </p:nvGrpSpPr>
              <p:grpSpPr>
                <a:xfrm>
                  <a:off x="4172814" y="3608045"/>
                  <a:ext cx="1320282" cy="1060517"/>
                  <a:chOff x="2344981" y="3620325"/>
                  <a:chExt cx="1320282" cy="1060517"/>
                </a:xfrm>
              </p:grpSpPr>
              <p:sp>
                <p:nvSpPr>
                  <p:cNvPr id="32" name="文本框 31"/>
                  <p:cNvSpPr txBox="1"/>
                  <p:nvPr/>
                </p:nvSpPr>
                <p:spPr>
                  <a:xfrm>
                    <a:off x="2356345" y="3620325"/>
                    <a:ext cx="115699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MType=001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33" name="文本框 32"/>
                  <p:cNvSpPr txBox="1"/>
                  <p:nvPr/>
                </p:nvSpPr>
                <p:spPr>
                  <a:xfrm>
                    <a:off x="2356345" y="3870590"/>
                    <a:ext cx="115699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DevAddr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34" name="文本框 33"/>
                  <p:cNvSpPr txBox="1"/>
                  <p:nvPr/>
                </p:nvSpPr>
                <p:spPr>
                  <a:xfrm>
                    <a:off x="2356344" y="4147589"/>
                    <a:ext cx="1308919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Home_NetID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35" name="文本框 34"/>
                  <p:cNvSpPr txBox="1"/>
                  <p:nvPr/>
                </p:nvSpPr>
                <p:spPr>
                  <a:xfrm>
                    <a:off x="2344981" y="4403843"/>
                    <a:ext cx="115699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accent2"/>
                      </a:buClr>
                    </a:pPr>
                    <a:r>
                      <a:rPr lang="en-US" altLang="zh-CN" sz="1200" b="1" baseline="0">
                        <a:latin typeface="微软雅黑" pitchFamily="34" charset="-122"/>
                        <a:ea typeface="微软雅黑" pitchFamily="34" charset="-122"/>
                      </a:rPr>
                      <a:t>DLSettings</a:t>
                    </a:r>
                    <a:endParaRPr lang="zh-CN" altLang="en-US" sz="1200" b="1" baseline="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</p:grpSp>
            <p:sp>
              <p:nvSpPr>
                <p:cNvPr id="29" name="文本框 28"/>
                <p:cNvSpPr txBox="1"/>
                <p:nvPr/>
              </p:nvSpPr>
              <p:spPr>
                <a:xfrm>
                  <a:off x="4184178" y="465907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RxDelay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4172814" y="491193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CFList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4184178" y="5182849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JoinNonce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36" name="下箭头 35"/>
            <p:cNvSpPr/>
            <p:nvPr/>
          </p:nvSpPr>
          <p:spPr bwMode="auto">
            <a:xfrm rot="10800000">
              <a:off x="5199898" y="3299488"/>
              <a:ext cx="430924" cy="2837307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5719010" y="3481141"/>
              <a:ext cx="861174" cy="356950"/>
              <a:chOff x="2593910" y="3160257"/>
              <a:chExt cx="861174" cy="356950"/>
            </a:xfrm>
          </p:grpSpPr>
          <p:sp>
            <p:nvSpPr>
              <p:cNvPr id="38" name="圆角矩形 37"/>
              <p:cNvSpPr/>
              <p:nvPr/>
            </p:nvSpPr>
            <p:spPr bwMode="auto">
              <a:xfrm>
                <a:off x="2593910" y="3160257"/>
                <a:ext cx="793757" cy="35695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2593910" y="3203693"/>
                <a:ext cx="8611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1200" b="1" baseline="0">
                    <a:latin typeface="微软雅黑" pitchFamily="34" charset="-122"/>
                    <a:ea typeface="微软雅黑" pitchFamily="34" charset="-122"/>
                  </a:rPr>
                  <a:t>ReKeyId</a:t>
                </a:r>
                <a:endParaRPr lang="zh-CN" altLang="en-US" sz="1200" b="1" baseline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46" name="下箭头 45"/>
          <p:cNvSpPr/>
          <p:nvPr/>
        </p:nvSpPr>
        <p:spPr bwMode="auto">
          <a:xfrm>
            <a:off x="6668372" y="2560864"/>
            <a:ext cx="430924" cy="282948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187484" y="2734692"/>
            <a:ext cx="1156996" cy="356950"/>
            <a:chOff x="7322587" y="2691630"/>
            <a:chExt cx="1156996" cy="356950"/>
          </a:xfrm>
        </p:grpSpPr>
        <p:sp>
          <p:nvSpPr>
            <p:cNvPr id="47" name="圆角矩形 46"/>
            <p:cNvSpPr/>
            <p:nvPr/>
          </p:nvSpPr>
          <p:spPr bwMode="auto">
            <a:xfrm>
              <a:off x="7322587" y="2691630"/>
              <a:ext cx="1009650" cy="35695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7322587" y="2729383"/>
              <a:ext cx="1156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200" b="1" baseline="0">
                  <a:latin typeface="微软雅黑" pitchFamily="34" charset="-122"/>
                  <a:ea typeface="微软雅黑" pitchFamily="34" charset="-122"/>
                </a:rPr>
                <a:t>RekeyConf</a:t>
              </a:r>
              <a:endParaRPr lang="zh-CN" altLang="en-US" sz="12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0" name="灯片编号占位符 4">
            <a:extLst>
              <a:ext uri="{FF2B5EF4-FFF2-40B4-BE49-F238E27FC236}">
                <a16:creationId xmlns:a16="http://schemas.microsoft.com/office/drawing/2014/main" id="{40FCD0CA-CD24-46E2-B39F-4EF60AD25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433295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7F3C6-1F22-44A5-851C-B0B609A3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入网流程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28A037-D962-4067-82E4-33419D98B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标准中，设备发送消息采用纯</a:t>
            </a:r>
            <a:r>
              <a:rPr lang="en-US" altLang="zh-CN" dirty="0"/>
              <a:t>ALOHA</a:t>
            </a:r>
            <a:r>
              <a:rPr lang="zh-CN" altLang="en-US" dirty="0"/>
              <a:t>机制</a:t>
            </a:r>
            <a:endParaRPr lang="en-US" altLang="zh-CN" dirty="0"/>
          </a:p>
          <a:p>
            <a:pPr lvl="1"/>
            <a:r>
              <a:rPr lang="zh-CN" altLang="en-US" dirty="0"/>
              <a:t>采用</a:t>
            </a:r>
            <a:r>
              <a:rPr lang="en-US" altLang="zh-CN" dirty="0"/>
              <a:t>duty-cycle</a:t>
            </a:r>
            <a:r>
              <a:rPr lang="zh-CN" altLang="en-US" dirty="0"/>
              <a:t>机制来限制设备的发送频次</a:t>
            </a:r>
            <a:endParaRPr lang="en-US" altLang="zh-CN" dirty="0"/>
          </a:p>
          <a:p>
            <a:pPr lvl="2"/>
            <a:r>
              <a:rPr lang="en-US" altLang="zh-CN" dirty="0"/>
              <a:t>1%</a:t>
            </a:r>
            <a:r>
              <a:rPr lang="zh-CN" altLang="zh-CN" dirty="0"/>
              <a:t>的</a:t>
            </a:r>
            <a:r>
              <a:rPr lang="en-US" altLang="zh-CN" dirty="0"/>
              <a:t>duty-cycle</a:t>
            </a:r>
            <a:r>
              <a:rPr lang="zh-CN" altLang="en-US" dirty="0"/>
              <a:t>：设备</a:t>
            </a:r>
            <a:r>
              <a:rPr lang="en-US" altLang="zh-CN" dirty="0"/>
              <a:t>A</a:t>
            </a:r>
            <a:r>
              <a:rPr lang="zh-CN" altLang="en-US" dirty="0"/>
              <a:t>在其信道上发送数据用了</a:t>
            </a:r>
            <a:r>
              <a:rPr lang="en-US" altLang="zh-CN" dirty="0"/>
              <a:t>10ms</a:t>
            </a:r>
            <a:r>
              <a:rPr lang="zh-CN" altLang="en-US" dirty="0"/>
              <a:t>，那么设备</a:t>
            </a:r>
            <a:r>
              <a:rPr lang="en-US" altLang="zh-CN" dirty="0"/>
              <a:t>A</a:t>
            </a:r>
            <a:r>
              <a:rPr lang="zh-CN" altLang="en-US" dirty="0"/>
              <a:t>在该信道接下来的</a:t>
            </a:r>
            <a:r>
              <a:rPr lang="en-US" altLang="zh-CN" dirty="0"/>
              <a:t>990ms</a:t>
            </a:r>
            <a:r>
              <a:rPr lang="zh-CN" altLang="en-US" dirty="0"/>
              <a:t>内都不能再收发数据</a:t>
            </a:r>
          </a:p>
        </p:txBody>
      </p:sp>
    </p:spTree>
    <p:extLst>
      <p:ext uri="{BB962C8B-B14F-4D97-AF65-F5344CB8AC3E}">
        <p14:creationId xmlns:p14="http://schemas.microsoft.com/office/powerpoint/2010/main" val="3472898720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入网流程</a:t>
            </a:r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8CADABD2-5C7B-4E88-A699-2851F84BC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 dirty="0"/>
              <a:t>未收到</a:t>
            </a:r>
            <a:r>
              <a:rPr lang="en-US" altLang="zh-CN" dirty="0"/>
              <a:t>Join-accept</a:t>
            </a:r>
          </a:p>
          <a:p>
            <a:pPr lvl="1"/>
            <a:r>
              <a:rPr lang="en-US" altLang="zh-CN" dirty="0"/>
              <a:t>Join-request</a:t>
            </a:r>
            <a:r>
              <a:rPr lang="zh-CN" altLang="en-US" dirty="0"/>
              <a:t>信息丢失或</a:t>
            </a:r>
            <a:r>
              <a:rPr lang="en-US" altLang="zh-CN" dirty="0"/>
              <a:t>Join-accept</a:t>
            </a:r>
            <a:r>
              <a:rPr lang="zh-CN" altLang="en-US" dirty="0"/>
              <a:t>信息丢失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07782" y="2393917"/>
            <a:ext cx="8814135" cy="3206639"/>
            <a:chOff x="107782" y="3140366"/>
            <a:chExt cx="8814135" cy="3206639"/>
          </a:xfrm>
        </p:grpSpPr>
        <p:grpSp>
          <p:nvGrpSpPr>
            <p:cNvPr id="28" name="组合 27"/>
            <p:cNvGrpSpPr/>
            <p:nvPr/>
          </p:nvGrpSpPr>
          <p:grpSpPr>
            <a:xfrm>
              <a:off x="107782" y="3140366"/>
              <a:ext cx="8814135" cy="3206639"/>
              <a:chOff x="105930" y="2692496"/>
              <a:chExt cx="8814135" cy="3206639"/>
            </a:xfrm>
          </p:grpSpPr>
          <p:cxnSp>
            <p:nvCxnSpPr>
              <p:cNvPr id="8" name="直接连接符 7"/>
              <p:cNvCxnSpPr/>
              <p:nvPr/>
            </p:nvCxnSpPr>
            <p:spPr bwMode="auto">
              <a:xfrm flipV="1">
                <a:off x="921363" y="5712739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" name="文本框 9"/>
              <p:cNvSpPr txBox="1"/>
              <p:nvPr/>
            </p:nvSpPr>
            <p:spPr>
              <a:xfrm>
                <a:off x="105930" y="2692496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网关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05930" y="5529803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设备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下箭头 12"/>
              <p:cNvSpPr/>
              <p:nvPr/>
            </p:nvSpPr>
            <p:spPr bwMode="auto">
              <a:xfrm rot="10800000">
                <a:off x="1144654" y="2877162"/>
                <a:ext cx="430924" cy="2837307"/>
              </a:xfrm>
              <a:prstGeom prst="down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1777846" y="3023572"/>
                <a:ext cx="1156996" cy="356950"/>
                <a:chOff x="2593910" y="3160257"/>
                <a:chExt cx="1156996" cy="356950"/>
              </a:xfrm>
            </p:grpSpPr>
            <p:sp>
              <p:nvSpPr>
                <p:cNvPr id="4" name="圆角矩形 3"/>
                <p:cNvSpPr/>
                <p:nvPr/>
              </p:nvSpPr>
              <p:spPr bwMode="auto">
                <a:xfrm>
                  <a:off x="2593910" y="3160257"/>
                  <a:ext cx="1156996" cy="356950"/>
                </a:xfrm>
                <a:prstGeom prst="round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SzPct val="100000"/>
                    <a:buFontTx/>
                    <a:buNone/>
                    <a:tabLst/>
                  </a:pPr>
                  <a:endParaRPr kumimoji="0" lang="zh-CN" altLang="en-US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7" name="文本框 6"/>
                <p:cNvSpPr txBox="1"/>
                <p:nvPr/>
              </p:nvSpPr>
              <p:spPr>
                <a:xfrm>
                  <a:off x="2593910" y="3203693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Join-request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cxnSp>
            <p:nvCxnSpPr>
              <p:cNvPr id="27" name="直接连接符 26"/>
              <p:cNvCxnSpPr/>
              <p:nvPr/>
            </p:nvCxnSpPr>
            <p:spPr bwMode="auto">
              <a:xfrm flipV="1">
                <a:off x="921363" y="2851618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3" name="组合 2"/>
            <p:cNvGrpSpPr/>
            <p:nvPr/>
          </p:nvGrpSpPr>
          <p:grpSpPr>
            <a:xfrm>
              <a:off x="3153987" y="3307316"/>
              <a:ext cx="1811211" cy="2829482"/>
              <a:chOff x="3153987" y="3307316"/>
              <a:chExt cx="1811211" cy="2829482"/>
            </a:xfrm>
          </p:grpSpPr>
          <p:sp>
            <p:nvSpPr>
              <p:cNvPr id="21" name="下箭头 20"/>
              <p:cNvSpPr/>
              <p:nvPr/>
            </p:nvSpPr>
            <p:spPr bwMode="auto">
              <a:xfrm>
                <a:off x="3153987" y="3307316"/>
                <a:ext cx="430924" cy="2829482"/>
              </a:xfrm>
              <a:prstGeom prst="downArrow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3808202" y="3438082"/>
                <a:ext cx="1156996" cy="356950"/>
                <a:chOff x="2593910" y="3160257"/>
                <a:chExt cx="1156996" cy="356950"/>
              </a:xfrm>
            </p:grpSpPr>
            <p:sp>
              <p:nvSpPr>
                <p:cNvPr id="23" name="圆角矩形 22"/>
                <p:cNvSpPr/>
                <p:nvPr/>
              </p:nvSpPr>
              <p:spPr bwMode="auto">
                <a:xfrm>
                  <a:off x="2593910" y="3160257"/>
                  <a:ext cx="1156996" cy="356950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1"/>
                    </a:buClr>
                    <a:buSzPct val="100000"/>
                    <a:buFontTx/>
                    <a:buNone/>
                    <a:tabLst/>
                  </a:pPr>
                  <a:endParaRPr kumimoji="0" lang="zh-CN" altLang="en-US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</a:endParaRP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2593910" y="3203693"/>
                  <a:ext cx="115699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accent2"/>
                    </a:buClr>
                  </a:pPr>
                  <a:r>
                    <a:rPr lang="en-US" altLang="zh-CN" sz="1200" b="1" baseline="0">
                      <a:latin typeface="微软雅黑" pitchFamily="34" charset="-122"/>
                      <a:ea typeface="微软雅黑" pitchFamily="34" charset="-122"/>
                    </a:rPr>
                    <a:t>Join-accept</a:t>
                  </a:r>
                  <a:endParaRPr lang="zh-CN" altLang="en-US" sz="1200" b="1" baseline="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</p:grpSp>
      <p:sp>
        <p:nvSpPr>
          <p:cNvPr id="9" name="十字形 8"/>
          <p:cNvSpPr/>
          <p:nvPr/>
        </p:nvSpPr>
        <p:spPr bwMode="auto">
          <a:xfrm rot="2538496">
            <a:off x="3733065" y="3739266"/>
            <a:ext cx="402529" cy="429208"/>
          </a:xfrm>
          <a:prstGeom prst="plus">
            <a:avLst>
              <a:gd name="adj" fmla="val 39157"/>
            </a:avLst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2" name="十字形 41"/>
          <p:cNvSpPr/>
          <p:nvPr/>
        </p:nvSpPr>
        <p:spPr bwMode="auto">
          <a:xfrm rot="2538496">
            <a:off x="1631032" y="3769862"/>
            <a:ext cx="402529" cy="429208"/>
          </a:xfrm>
          <a:prstGeom prst="plus">
            <a:avLst>
              <a:gd name="adj" fmla="val 39157"/>
            </a:avLst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1259633" y="5600556"/>
            <a:ext cx="467463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4" name="直接连接符 43"/>
          <p:cNvCxnSpPr/>
          <p:nvPr/>
        </p:nvCxnSpPr>
        <p:spPr bwMode="auto">
          <a:xfrm>
            <a:off x="1259633" y="5414160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直接连接符 48"/>
          <p:cNvCxnSpPr/>
          <p:nvPr/>
        </p:nvCxnSpPr>
        <p:spPr bwMode="auto">
          <a:xfrm>
            <a:off x="5934270" y="5424477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文本框 49"/>
          <p:cNvSpPr txBox="1"/>
          <p:nvPr/>
        </p:nvSpPr>
        <p:spPr>
          <a:xfrm>
            <a:off x="2774173" y="5742505"/>
            <a:ext cx="2068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Duty cycle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下箭头 50"/>
          <p:cNvSpPr/>
          <p:nvPr/>
        </p:nvSpPr>
        <p:spPr bwMode="auto">
          <a:xfrm rot="10800000">
            <a:off x="7097301" y="2564947"/>
            <a:ext cx="430924" cy="2837307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730493" y="2754793"/>
            <a:ext cx="11569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200" b="1" baseline="0">
                <a:latin typeface="微软雅黑" pitchFamily="34" charset="-122"/>
                <a:ea typeface="微软雅黑" pitchFamily="34" charset="-122"/>
              </a:rPr>
              <a:t>Join-request</a:t>
            </a:r>
            <a:endParaRPr lang="zh-CN" altLang="en-US" sz="1200" b="1" baseline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6" name="直接连接符 55"/>
          <p:cNvCxnSpPr/>
          <p:nvPr/>
        </p:nvCxnSpPr>
        <p:spPr bwMode="auto">
          <a:xfrm>
            <a:off x="7215674" y="5390347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直接连接符 56"/>
          <p:cNvCxnSpPr/>
          <p:nvPr/>
        </p:nvCxnSpPr>
        <p:spPr bwMode="auto">
          <a:xfrm flipV="1">
            <a:off x="5945330" y="5596241"/>
            <a:ext cx="1281404" cy="787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9" name="文本框 58"/>
          <p:cNvSpPr txBox="1"/>
          <p:nvPr/>
        </p:nvSpPr>
        <p:spPr>
          <a:xfrm>
            <a:off x="6145207" y="5742505"/>
            <a:ext cx="997643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Random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back off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528225" y="3266618"/>
            <a:ext cx="1743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DevNonce=6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539000" y="3266619"/>
            <a:ext cx="1743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DevNonce=5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823666" y="4728860"/>
            <a:ext cx="1100422" cy="466947"/>
            <a:chOff x="823666" y="4728860"/>
            <a:chExt cx="1100422" cy="466947"/>
          </a:xfrm>
        </p:grpSpPr>
        <p:sp>
          <p:nvSpPr>
            <p:cNvPr id="63" name="矩形 62"/>
            <p:cNvSpPr/>
            <p:nvPr/>
          </p:nvSpPr>
          <p:spPr bwMode="auto">
            <a:xfrm>
              <a:off x="847582" y="4728860"/>
              <a:ext cx="1052591" cy="4669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823666" y="4817022"/>
              <a:ext cx="1100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channel x</a:t>
              </a:r>
              <a:endParaRPr lang="zh-CN" altLang="en-US" sz="14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6845021" y="4729127"/>
            <a:ext cx="1100422" cy="466947"/>
            <a:chOff x="6845021" y="4729127"/>
            <a:chExt cx="1100422" cy="466947"/>
          </a:xfrm>
        </p:grpSpPr>
        <p:sp>
          <p:nvSpPr>
            <p:cNvPr id="66" name="矩形 65"/>
            <p:cNvSpPr/>
            <p:nvPr/>
          </p:nvSpPr>
          <p:spPr bwMode="auto">
            <a:xfrm>
              <a:off x="6868937" y="4729127"/>
              <a:ext cx="1052591" cy="4669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6845021" y="4817289"/>
              <a:ext cx="1100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channel y</a:t>
              </a:r>
              <a:endParaRPr lang="zh-CN" altLang="en-US" sz="14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8" name="灯片编号占位符 4">
            <a:extLst>
              <a:ext uri="{FF2B5EF4-FFF2-40B4-BE49-F238E27FC236}">
                <a16:creationId xmlns:a16="http://schemas.microsoft.com/office/drawing/2014/main" id="{F292D722-CC07-4706-B65A-C16901865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692570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LoRaWAN-</a:t>
            </a:r>
            <a:r>
              <a:rPr lang="zh-CN" altLang="en-US"/>
              <a:t>入网流程</a:t>
            </a:r>
            <a:endParaRPr lang="zh-CN" altLang="en-US" dirty="0"/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166A1B5B-B412-4688-ADD1-6CCE02D93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重放攻击</a:t>
            </a:r>
            <a:endParaRPr lang="en-US" altLang="zh-CN" dirty="0"/>
          </a:p>
          <a:p>
            <a:pPr lvl="1"/>
            <a:r>
              <a:rPr lang="zh-CN" altLang="en-US" dirty="0"/>
              <a:t>网关侧</a:t>
            </a:r>
          </a:p>
          <a:p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07782" y="2393917"/>
            <a:ext cx="8814135" cy="3206639"/>
            <a:chOff x="105930" y="2692496"/>
            <a:chExt cx="8814135" cy="3206639"/>
          </a:xfrm>
        </p:grpSpPr>
        <p:cxnSp>
          <p:nvCxnSpPr>
            <p:cNvPr id="8" name="直接连接符 7"/>
            <p:cNvCxnSpPr/>
            <p:nvPr/>
          </p:nvCxnSpPr>
          <p:spPr bwMode="auto">
            <a:xfrm flipV="1">
              <a:off x="921363" y="5712739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文本框 9"/>
            <p:cNvSpPr txBox="1"/>
            <p:nvPr/>
          </p:nvSpPr>
          <p:spPr>
            <a:xfrm>
              <a:off x="105930" y="2692496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网关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5930" y="5529803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设备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下箭头 12"/>
            <p:cNvSpPr/>
            <p:nvPr/>
          </p:nvSpPr>
          <p:spPr bwMode="auto">
            <a:xfrm rot="10800000">
              <a:off x="1144654" y="2877162"/>
              <a:ext cx="430924" cy="2837307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1556473" y="3164550"/>
              <a:ext cx="1156996" cy="356950"/>
              <a:chOff x="2372537" y="3301235"/>
              <a:chExt cx="1156996" cy="356950"/>
            </a:xfrm>
          </p:grpSpPr>
          <p:sp>
            <p:nvSpPr>
              <p:cNvPr id="4" name="圆角矩形 3"/>
              <p:cNvSpPr/>
              <p:nvPr/>
            </p:nvSpPr>
            <p:spPr bwMode="auto">
              <a:xfrm>
                <a:off x="2372537" y="3301235"/>
                <a:ext cx="1156996" cy="35695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372537" y="3344671"/>
                <a:ext cx="11569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1200" b="1" baseline="0">
                    <a:latin typeface="微软雅黑" pitchFamily="34" charset="-122"/>
                    <a:ea typeface="微软雅黑" pitchFamily="34" charset="-122"/>
                  </a:rPr>
                  <a:t>Join-request</a:t>
                </a:r>
                <a:endParaRPr lang="zh-CN" altLang="en-US" sz="1200" b="1" baseline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cxnSp>
          <p:nvCxnSpPr>
            <p:cNvPr id="27" name="直接连接符 26"/>
            <p:cNvCxnSpPr/>
            <p:nvPr/>
          </p:nvCxnSpPr>
          <p:spPr bwMode="auto">
            <a:xfrm flipV="1">
              <a:off x="921363" y="2851618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0" name="文本框 59"/>
          <p:cNvSpPr txBox="1"/>
          <p:nvPr/>
        </p:nvSpPr>
        <p:spPr>
          <a:xfrm>
            <a:off x="1495843" y="3396979"/>
            <a:ext cx="1743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DevNonce=5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939074" y="3396979"/>
            <a:ext cx="1743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DevNonce&lt;=5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下箭头 34"/>
          <p:cNvSpPr/>
          <p:nvPr/>
        </p:nvSpPr>
        <p:spPr bwMode="auto">
          <a:xfrm rot="10800000">
            <a:off x="3592569" y="2553042"/>
            <a:ext cx="430924" cy="2837307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7" name="圆角矩形 36"/>
          <p:cNvSpPr/>
          <p:nvPr/>
        </p:nvSpPr>
        <p:spPr bwMode="auto">
          <a:xfrm>
            <a:off x="4013941" y="2865971"/>
            <a:ext cx="1156996" cy="3569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004388" y="2909407"/>
            <a:ext cx="11569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200" b="1" baseline="0">
                <a:latin typeface="微软雅黑" pitchFamily="34" charset="-122"/>
                <a:ea typeface="微软雅黑" pitchFamily="34" charset="-122"/>
              </a:rPr>
              <a:t>Join-request</a:t>
            </a:r>
            <a:endParaRPr lang="zh-CN" altLang="en-US" sz="1200" b="1" baseline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笑脸 5"/>
          <p:cNvSpPr/>
          <p:nvPr/>
        </p:nvSpPr>
        <p:spPr bwMode="auto">
          <a:xfrm>
            <a:off x="1148031" y="2138778"/>
            <a:ext cx="378749" cy="294529"/>
          </a:xfrm>
          <a:prstGeom prst="smileyFac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9" name="笑脸 38"/>
          <p:cNvSpPr/>
          <p:nvPr/>
        </p:nvSpPr>
        <p:spPr bwMode="auto">
          <a:xfrm rot="10800000">
            <a:off x="3617449" y="2143935"/>
            <a:ext cx="378749" cy="294529"/>
          </a:xfrm>
          <a:prstGeom prst="smileyFac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259409" y="3420790"/>
            <a:ext cx="1743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DevNonce&gt;5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下箭头 41"/>
          <p:cNvSpPr/>
          <p:nvPr/>
        </p:nvSpPr>
        <p:spPr bwMode="auto">
          <a:xfrm rot="10800000">
            <a:off x="5912904" y="2576853"/>
            <a:ext cx="430924" cy="2837307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3" name="圆角矩形 42"/>
          <p:cNvSpPr/>
          <p:nvPr/>
        </p:nvSpPr>
        <p:spPr bwMode="auto">
          <a:xfrm>
            <a:off x="6334276" y="2889782"/>
            <a:ext cx="1156996" cy="3569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324723" y="2933218"/>
            <a:ext cx="11569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200" b="1" baseline="0">
                <a:latin typeface="微软雅黑" pitchFamily="34" charset="-122"/>
                <a:ea typeface="微软雅黑" pitchFamily="34" charset="-122"/>
              </a:rPr>
              <a:t>Join-request</a:t>
            </a:r>
            <a:endParaRPr lang="zh-CN" altLang="en-US" sz="1200" b="1" baseline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笑脸 45"/>
          <p:cNvSpPr/>
          <p:nvPr/>
        </p:nvSpPr>
        <p:spPr bwMode="auto">
          <a:xfrm>
            <a:off x="5938754" y="2138778"/>
            <a:ext cx="378749" cy="294529"/>
          </a:xfrm>
          <a:prstGeom prst="smileyFac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5" name="灯片编号占位符 4">
            <a:extLst>
              <a:ext uri="{FF2B5EF4-FFF2-40B4-BE49-F238E27FC236}">
                <a16:creationId xmlns:a16="http://schemas.microsoft.com/office/drawing/2014/main" id="{5AB0168A-0D17-4D6D-AC6A-7CFD3C69D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42CC888-F010-4FFE-BF40-588D204B0405}"/>
              </a:ext>
            </a:extLst>
          </p:cNvPr>
          <p:cNvSpPr txBox="1"/>
          <p:nvPr/>
        </p:nvSpPr>
        <p:spPr>
          <a:xfrm>
            <a:off x="5616722" y="4774521"/>
            <a:ext cx="3305195" cy="1323439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       </a:t>
            </a:r>
            <a:r>
              <a:rPr lang="zh-CN" altLang="en-US" dirty="0">
                <a:latin typeface="+mj-ea"/>
                <a:ea typeface="+mj-ea"/>
              </a:rPr>
              <a:t>一旦网关收到的</a:t>
            </a:r>
            <a:r>
              <a:rPr lang="en-US" altLang="zh-CN" dirty="0">
                <a:latin typeface="+mj-ea"/>
                <a:ea typeface="+mj-ea"/>
              </a:rPr>
              <a:t>Join-request</a:t>
            </a:r>
            <a:r>
              <a:rPr lang="zh-CN" altLang="en-US" dirty="0">
                <a:latin typeface="+mj-ea"/>
                <a:ea typeface="+mj-ea"/>
              </a:rPr>
              <a:t>信息中的</a:t>
            </a:r>
            <a:r>
              <a:rPr lang="en-US" altLang="zh-CN" dirty="0" err="1">
                <a:latin typeface="+mj-ea"/>
                <a:ea typeface="+mj-ea"/>
              </a:rPr>
              <a:t>DevNonce</a:t>
            </a:r>
            <a:r>
              <a:rPr lang="zh-CN" altLang="en-US" dirty="0">
                <a:latin typeface="+mj-ea"/>
                <a:ea typeface="+mj-ea"/>
              </a:rPr>
              <a:t>不比上一次收到的大，网关就认为是受到了重放攻击不予接收，同时采取相应的措施</a:t>
            </a:r>
          </a:p>
        </p:txBody>
      </p:sp>
    </p:spTree>
    <p:extLst>
      <p:ext uri="{BB962C8B-B14F-4D97-AF65-F5344CB8AC3E}">
        <p14:creationId xmlns:p14="http://schemas.microsoft.com/office/powerpoint/2010/main" val="762560421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LoRaWAN-</a:t>
            </a:r>
            <a:r>
              <a:rPr lang="zh-CN" altLang="en-US"/>
              <a:t>入网流程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36E2B2B-3FE6-45ED-9C99-8BE4184F0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重放攻击</a:t>
            </a:r>
          </a:p>
          <a:p>
            <a:pPr lvl="1"/>
            <a:r>
              <a:rPr lang="zh-CN" altLang="en-US"/>
              <a:t>设备侧</a:t>
            </a:r>
          </a:p>
          <a:p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07782" y="2393917"/>
            <a:ext cx="8814135" cy="3206639"/>
            <a:chOff x="105930" y="2692496"/>
            <a:chExt cx="8814135" cy="3206639"/>
          </a:xfrm>
        </p:grpSpPr>
        <p:cxnSp>
          <p:nvCxnSpPr>
            <p:cNvPr id="8" name="直接连接符 7"/>
            <p:cNvCxnSpPr/>
            <p:nvPr/>
          </p:nvCxnSpPr>
          <p:spPr bwMode="auto">
            <a:xfrm flipV="1">
              <a:off x="921363" y="5712739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文本框 9"/>
            <p:cNvSpPr txBox="1"/>
            <p:nvPr/>
          </p:nvSpPr>
          <p:spPr>
            <a:xfrm>
              <a:off x="105930" y="2692496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网关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5930" y="5529803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设备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 bwMode="auto">
            <a:xfrm flipV="1">
              <a:off x="921363" y="2851618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" name="笑脸 5"/>
          <p:cNvSpPr/>
          <p:nvPr/>
        </p:nvSpPr>
        <p:spPr bwMode="auto">
          <a:xfrm>
            <a:off x="1146505" y="5589948"/>
            <a:ext cx="378749" cy="294529"/>
          </a:xfrm>
          <a:prstGeom prst="smileyFac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9" name="笑脸 38"/>
          <p:cNvSpPr/>
          <p:nvPr/>
        </p:nvSpPr>
        <p:spPr bwMode="auto">
          <a:xfrm rot="10800000">
            <a:off x="3625639" y="5589948"/>
            <a:ext cx="378749" cy="294529"/>
          </a:xfrm>
          <a:prstGeom prst="smileyFac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6" name="笑脸 45"/>
          <p:cNvSpPr/>
          <p:nvPr/>
        </p:nvSpPr>
        <p:spPr bwMode="auto">
          <a:xfrm>
            <a:off x="5938990" y="5589948"/>
            <a:ext cx="378749" cy="294529"/>
          </a:xfrm>
          <a:prstGeom prst="smileyFac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161106" y="2553039"/>
            <a:ext cx="1593219" cy="2829482"/>
            <a:chOff x="1146505" y="2584678"/>
            <a:chExt cx="1593219" cy="2829482"/>
          </a:xfrm>
        </p:grpSpPr>
        <p:sp>
          <p:nvSpPr>
            <p:cNvPr id="25" name="下箭头 24"/>
            <p:cNvSpPr/>
            <p:nvPr/>
          </p:nvSpPr>
          <p:spPr bwMode="auto">
            <a:xfrm>
              <a:off x="1146505" y="2584678"/>
              <a:ext cx="430924" cy="2829482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9" name="圆角矩形 28"/>
            <p:cNvSpPr/>
            <p:nvPr/>
          </p:nvSpPr>
          <p:spPr bwMode="auto">
            <a:xfrm>
              <a:off x="1577429" y="2897609"/>
              <a:ext cx="1156996" cy="35695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582728" y="2937585"/>
              <a:ext cx="1156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200" b="1" baseline="0">
                  <a:latin typeface="微软雅黑" pitchFamily="34" charset="-122"/>
                  <a:ea typeface="微软雅黑" pitchFamily="34" charset="-122"/>
                </a:rPr>
                <a:t>Join-accept</a:t>
              </a:r>
              <a:endParaRPr lang="zh-CN" altLang="en-US" sz="12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625639" y="2569725"/>
            <a:ext cx="1593219" cy="2829482"/>
            <a:chOff x="1146505" y="2584678"/>
            <a:chExt cx="1593219" cy="2829482"/>
          </a:xfrm>
        </p:grpSpPr>
        <p:sp>
          <p:nvSpPr>
            <p:cNvPr id="31" name="下箭头 30"/>
            <p:cNvSpPr/>
            <p:nvPr/>
          </p:nvSpPr>
          <p:spPr bwMode="auto">
            <a:xfrm>
              <a:off x="1146505" y="2584678"/>
              <a:ext cx="430924" cy="2829482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2" name="圆角矩形 31"/>
            <p:cNvSpPr/>
            <p:nvPr/>
          </p:nvSpPr>
          <p:spPr bwMode="auto">
            <a:xfrm>
              <a:off x="1577429" y="2897609"/>
              <a:ext cx="1156996" cy="35695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582728" y="2937585"/>
              <a:ext cx="1156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200" b="1" baseline="0">
                  <a:latin typeface="微软雅黑" pitchFamily="34" charset="-122"/>
                  <a:ea typeface="微软雅黑" pitchFamily="34" charset="-122"/>
                </a:rPr>
                <a:t>Join-accept</a:t>
              </a:r>
              <a:endParaRPr lang="zh-CN" altLang="en-US" sz="12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901666" y="2553039"/>
            <a:ext cx="1593219" cy="2829482"/>
            <a:chOff x="1146505" y="2584678"/>
            <a:chExt cx="1593219" cy="2829482"/>
          </a:xfrm>
        </p:grpSpPr>
        <p:sp>
          <p:nvSpPr>
            <p:cNvPr id="45" name="下箭头 44"/>
            <p:cNvSpPr/>
            <p:nvPr/>
          </p:nvSpPr>
          <p:spPr bwMode="auto">
            <a:xfrm>
              <a:off x="1146505" y="2584678"/>
              <a:ext cx="430924" cy="2829482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47" name="圆角矩形 46"/>
            <p:cNvSpPr/>
            <p:nvPr/>
          </p:nvSpPr>
          <p:spPr bwMode="auto">
            <a:xfrm>
              <a:off x="1577429" y="2897609"/>
              <a:ext cx="1156996" cy="35695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82728" y="2937585"/>
              <a:ext cx="1156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200" b="1" baseline="0">
                  <a:latin typeface="微软雅黑" pitchFamily="34" charset="-122"/>
                  <a:ea typeface="微软雅黑" pitchFamily="34" charset="-122"/>
                </a:rPr>
                <a:t>Join-accept</a:t>
              </a:r>
              <a:endParaRPr lang="zh-CN" altLang="en-US" sz="12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495843" y="3396979"/>
            <a:ext cx="1743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JoinNonce=5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939074" y="3396979"/>
            <a:ext cx="1743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JoinNonce&lt;=5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259409" y="3420790"/>
            <a:ext cx="1743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JoinNonce&gt;5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灯片编号占位符 4">
            <a:extLst>
              <a:ext uri="{FF2B5EF4-FFF2-40B4-BE49-F238E27FC236}">
                <a16:creationId xmlns:a16="http://schemas.microsoft.com/office/drawing/2014/main" id="{C12BDCD3-88B9-4821-B2E5-8DBEE97E7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327501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设备类型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根据能耗和时延的不同需求，</a:t>
            </a:r>
            <a:r>
              <a:rPr lang="en-US" altLang="zh-CN" dirty="0" err="1"/>
              <a:t>LoRaWAN</a:t>
            </a:r>
            <a:r>
              <a:rPr lang="zh-CN" altLang="en-US" dirty="0"/>
              <a:t>中的设备被进一步划分为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三种类型</a:t>
            </a:r>
            <a:endParaRPr lang="en-US" altLang="zh-CN" dirty="0"/>
          </a:p>
          <a:p>
            <a:pPr lvl="1"/>
            <a:r>
              <a:rPr lang="en-US" altLang="zh-CN" dirty="0"/>
              <a:t>Class A</a:t>
            </a:r>
            <a:r>
              <a:rPr lang="zh-CN" altLang="en-US" dirty="0"/>
              <a:t>：</a:t>
            </a:r>
            <a:r>
              <a:rPr lang="en-US" altLang="zh-CN" dirty="0" err="1"/>
              <a:t>LoRaWAN</a:t>
            </a:r>
            <a:r>
              <a:rPr lang="zh-CN" altLang="en-US" dirty="0"/>
              <a:t>中的默认设备类型</a:t>
            </a:r>
            <a:endParaRPr lang="en-US" altLang="zh-CN" dirty="0"/>
          </a:p>
          <a:p>
            <a:pPr lvl="1"/>
            <a:r>
              <a:rPr lang="en-US" altLang="zh-CN" dirty="0"/>
              <a:t>Class B</a:t>
            </a:r>
            <a:r>
              <a:rPr lang="zh-CN" altLang="en-US" dirty="0"/>
              <a:t>：可以减小下行通信的时延</a:t>
            </a:r>
            <a:endParaRPr lang="en-US" altLang="zh-CN" dirty="0"/>
          </a:p>
          <a:p>
            <a:pPr lvl="1"/>
            <a:r>
              <a:rPr lang="en-US" altLang="zh-CN" dirty="0"/>
              <a:t>Class C</a:t>
            </a:r>
            <a:r>
              <a:rPr lang="zh-CN" altLang="en-US" dirty="0"/>
              <a:t>：以终端设备的能耗为代价，进一步减小下行通信的时延</a:t>
            </a:r>
            <a:endParaRPr lang="en-US" altLang="zh-CN" dirty="0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6E4BCA26-A6B9-412B-BB48-97AC56CB5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674887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A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zh-CN" altLang="en-US" dirty="0"/>
              <a:t>概述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设备</a:t>
            </a:r>
            <a:r>
              <a:rPr lang="zh-CN" altLang="en-US" dirty="0">
                <a:solidFill>
                  <a:srgbClr val="C00000"/>
                </a:solidFill>
              </a:rPr>
              <a:t>想发即发</a:t>
            </a:r>
            <a:r>
              <a:rPr lang="zh-CN" altLang="en-US" dirty="0"/>
              <a:t>，发送的信道和数据率在入网过程中，由网关指定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/>
              <a:t>RXDelay1</a:t>
            </a:r>
            <a:r>
              <a:rPr lang="zh-CN" altLang="en-US" dirty="0"/>
              <a:t>和</a:t>
            </a:r>
            <a:r>
              <a:rPr lang="en-US" altLang="zh-CN" dirty="0"/>
              <a:t>RXDelay2</a:t>
            </a:r>
            <a:r>
              <a:rPr lang="zh-CN" altLang="en-US" dirty="0"/>
              <a:t>在不同地区的频段各有不同。通常默认为上行传输完成后的</a:t>
            </a:r>
            <a:r>
              <a:rPr lang="en-US" altLang="zh-CN" dirty="0"/>
              <a:t>1s</a:t>
            </a:r>
            <a:r>
              <a:rPr lang="zh-CN" altLang="en-US" dirty="0"/>
              <a:t>和</a:t>
            </a:r>
            <a:r>
              <a:rPr lang="en-US" altLang="zh-CN" dirty="0"/>
              <a:t>2s</a:t>
            </a:r>
          </a:p>
          <a:p>
            <a:pPr lvl="1">
              <a:spcBef>
                <a:spcPts val="0"/>
              </a:spcBef>
            </a:pPr>
            <a:r>
              <a:rPr lang="en-US" altLang="zh-CN" dirty="0"/>
              <a:t>RX1</a:t>
            </a:r>
            <a:r>
              <a:rPr lang="zh-CN" altLang="en-US" dirty="0"/>
              <a:t>的信道频率和数据率与上行传输相关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/>
              <a:t>RX2</a:t>
            </a:r>
            <a:r>
              <a:rPr lang="zh-CN" altLang="en-US" dirty="0"/>
              <a:t>的信道频率和数据率由网关指定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网关在</a:t>
            </a:r>
            <a:r>
              <a:rPr lang="en-US" altLang="zh-CN" dirty="0"/>
              <a:t>RX1</a:t>
            </a:r>
            <a:r>
              <a:rPr lang="zh-CN" altLang="en-US" dirty="0"/>
              <a:t>和</a:t>
            </a:r>
            <a:r>
              <a:rPr lang="en-US" altLang="zh-CN" dirty="0"/>
              <a:t>RX2</a:t>
            </a:r>
            <a:r>
              <a:rPr lang="zh-CN" altLang="en-US" dirty="0"/>
              <a:t>的起始处发送数据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接收窗口长度至少保证设备能检测到</a:t>
            </a:r>
            <a:r>
              <a:rPr lang="en-US" altLang="zh-CN" dirty="0">
                <a:solidFill>
                  <a:srgbClr val="C00000"/>
                </a:solidFill>
              </a:rPr>
              <a:t>5</a:t>
            </a:r>
            <a:r>
              <a:rPr lang="zh-CN" altLang="en-US" dirty="0"/>
              <a:t>个</a:t>
            </a:r>
            <a:r>
              <a:rPr lang="en-US" altLang="zh-CN" dirty="0"/>
              <a:t>symbol</a:t>
            </a:r>
          </a:p>
          <a:p>
            <a:pPr lvl="2">
              <a:spcBef>
                <a:spcPts val="0"/>
              </a:spcBef>
            </a:pPr>
            <a:r>
              <a:rPr lang="zh-CN" altLang="en-US" dirty="0"/>
              <a:t>没有则休眠，有则进行数据的接收、解调、地址匹配和一致性校验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en-US" altLang="zh-CN" dirty="0"/>
              <a:t>RX1</a:t>
            </a:r>
            <a:r>
              <a:rPr lang="zh-CN" altLang="en-US" dirty="0"/>
              <a:t>成功接收数据，</a:t>
            </a:r>
            <a:r>
              <a:rPr lang="en-US" altLang="zh-CN" dirty="0"/>
              <a:t>RX2</a:t>
            </a:r>
            <a:r>
              <a:rPr lang="zh-CN" altLang="en-US" dirty="0"/>
              <a:t>不打开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当网关需要发送下行数据时，只能等到设备发来上行数据之后，在随后的</a:t>
            </a:r>
            <a:r>
              <a:rPr lang="en-US" altLang="zh-CN" dirty="0"/>
              <a:t>RX1</a:t>
            </a:r>
            <a:r>
              <a:rPr lang="zh-CN" altLang="en-US" dirty="0"/>
              <a:t>、</a:t>
            </a:r>
            <a:r>
              <a:rPr lang="en-US" altLang="zh-CN" dirty="0"/>
              <a:t>RX2</a:t>
            </a:r>
            <a:r>
              <a:rPr lang="zh-CN" altLang="en-US" dirty="0"/>
              <a:t>中发送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t="1517" b="4340"/>
          <a:stretch/>
        </p:blipFill>
        <p:spPr>
          <a:xfrm>
            <a:off x="1245158" y="5458279"/>
            <a:ext cx="6984442" cy="1361621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6E4BCA26-A6B9-412B-BB48-97AC56CB5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304299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A</a:t>
            </a:r>
            <a:endParaRPr lang="zh-CN" altLang="en-US"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5465FE43-B0F8-4B8F-8CE0-D667B9B81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数据传输</a:t>
            </a:r>
            <a:endParaRPr lang="en-US" altLang="zh-CN"/>
          </a:p>
          <a:p>
            <a:pPr lvl="1"/>
            <a:r>
              <a:rPr lang="zh-CN" altLang="en-US"/>
              <a:t>不需要确认的上行数据</a:t>
            </a:r>
            <a:endParaRPr lang="en-US" altLang="zh-CN"/>
          </a:p>
          <a:p>
            <a:pPr lvl="1"/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203032" y="2867590"/>
            <a:ext cx="8814135" cy="2561097"/>
            <a:chOff x="203032" y="2867590"/>
            <a:chExt cx="8814135" cy="2561097"/>
          </a:xfrm>
        </p:grpSpPr>
        <p:grpSp>
          <p:nvGrpSpPr>
            <p:cNvPr id="7" name="组合 6"/>
            <p:cNvGrpSpPr/>
            <p:nvPr/>
          </p:nvGrpSpPr>
          <p:grpSpPr>
            <a:xfrm>
              <a:off x="203032" y="2867590"/>
              <a:ext cx="8814135" cy="2561097"/>
              <a:chOff x="105930" y="2692496"/>
              <a:chExt cx="8814135" cy="2561097"/>
            </a:xfrm>
          </p:grpSpPr>
          <p:cxnSp>
            <p:nvCxnSpPr>
              <p:cNvPr id="14" name="直接连接符 13"/>
              <p:cNvCxnSpPr/>
              <p:nvPr/>
            </p:nvCxnSpPr>
            <p:spPr bwMode="auto">
              <a:xfrm flipV="1">
                <a:off x="921363" y="5068927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" name="文本框 14"/>
              <p:cNvSpPr txBox="1"/>
              <p:nvPr/>
            </p:nvSpPr>
            <p:spPr>
              <a:xfrm>
                <a:off x="105930" y="2692496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网关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5930" y="4884261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设备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下箭头 16"/>
              <p:cNvSpPr/>
              <p:nvPr/>
            </p:nvSpPr>
            <p:spPr bwMode="auto">
              <a:xfrm rot="10800000">
                <a:off x="1381572" y="2877162"/>
                <a:ext cx="430924" cy="2191765"/>
              </a:xfrm>
              <a:prstGeom prst="down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 bwMode="auto">
              <a:xfrm flipV="1">
                <a:off x="921363" y="2851618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2" name="文本框 21"/>
            <p:cNvSpPr txBox="1"/>
            <p:nvPr/>
          </p:nvSpPr>
          <p:spPr>
            <a:xfrm>
              <a:off x="1808516" y="3536407"/>
              <a:ext cx="1743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 dirty="0" err="1">
                  <a:latin typeface="微软雅黑" pitchFamily="34" charset="-122"/>
                  <a:ea typeface="微软雅黑" pitchFamily="34" charset="-122"/>
                </a:rPr>
                <a:t>MType</a:t>
              </a:r>
              <a:r>
                <a:rPr lang="en-US" altLang="zh-CN" sz="1400" b="1" baseline="0" dirty="0">
                  <a:latin typeface="微软雅黑" pitchFamily="34" charset="-122"/>
                  <a:ea typeface="微软雅黑" pitchFamily="34" charset="-122"/>
                </a:rPr>
                <a:t>=010</a:t>
              </a:r>
              <a:endParaRPr lang="zh-CN" altLang="en-US" sz="14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513425" y="3036043"/>
              <a:ext cx="645796" cy="2198259"/>
              <a:chOff x="3167321" y="3036043"/>
              <a:chExt cx="645796" cy="2198259"/>
            </a:xfrm>
          </p:grpSpPr>
          <p:sp>
            <p:nvSpPr>
              <p:cNvPr id="3" name="矩形 2"/>
              <p:cNvSpPr/>
              <p:nvPr/>
            </p:nvSpPr>
            <p:spPr bwMode="auto">
              <a:xfrm>
                <a:off x="3167321" y="3036043"/>
                <a:ext cx="624995" cy="219825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3231267" y="4075614"/>
                <a:ext cx="581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1400" b="1" baseline="0">
                    <a:latin typeface="微软雅黑" pitchFamily="34" charset="-122"/>
                    <a:ea typeface="微软雅黑" pitchFamily="34" charset="-122"/>
                  </a:rPr>
                  <a:t>RX1</a:t>
                </a:r>
                <a:endParaRPr lang="zh-CN" altLang="en-US" sz="14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5297811" y="3026712"/>
              <a:ext cx="645796" cy="2198259"/>
              <a:chOff x="4765966" y="3036043"/>
              <a:chExt cx="645796" cy="2198259"/>
            </a:xfrm>
          </p:grpSpPr>
          <p:sp>
            <p:nvSpPr>
              <p:cNvPr id="25" name="矩形 24"/>
              <p:cNvSpPr/>
              <p:nvPr/>
            </p:nvSpPr>
            <p:spPr bwMode="auto">
              <a:xfrm>
                <a:off x="4765966" y="3036043"/>
                <a:ext cx="624995" cy="219825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4829912" y="4075614"/>
                <a:ext cx="581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1400" b="1" baseline="0">
                    <a:latin typeface="微软雅黑" pitchFamily="34" charset="-122"/>
                    <a:ea typeface="微软雅黑" pitchFamily="34" charset="-122"/>
                  </a:rPr>
                  <a:t>RX2</a:t>
                </a:r>
                <a:endParaRPr lang="zh-CN" altLang="en-US" sz="14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cxnSp>
        <p:nvCxnSpPr>
          <p:cNvPr id="29" name="直接连接符 28"/>
          <p:cNvCxnSpPr/>
          <p:nvPr/>
        </p:nvCxnSpPr>
        <p:spPr bwMode="auto">
          <a:xfrm flipV="1">
            <a:off x="1576874" y="5721106"/>
            <a:ext cx="1936551" cy="7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30" name="直接连接符 29"/>
          <p:cNvCxnSpPr/>
          <p:nvPr/>
        </p:nvCxnSpPr>
        <p:spPr bwMode="auto">
          <a:xfrm>
            <a:off x="1576874" y="5244164"/>
            <a:ext cx="0" cy="101043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文本框 31"/>
          <p:cNvSpPr txBox="1"/>
          <p:nvPr/>
        </p:nvSpPr>
        <p:spPr>
          <a:xfrm>
            <a:off x="1777484" y="5337559"/>
            <a:ext cx="1838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RECEIVE_DELAY1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1576874" y="5871880"/>
            <a:ext cx="372093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8" name="直接连接符 47"/>
          <p:cNvCxnSpPr/>
          <p:nvPr/>
        </p:nvCxnSpPr>
        <p:spPr bwMode="auto">
          <a:xfrm>
            <a:off x="3513425" y="5252608"/>
            <a:ext cx="0" cy="55103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直接连接符 49"/>
          <p:cNvCxnSpPr/>
          <p:nvPr/>
        </p:nvCxnSpPr>
        <p:spPr bwMode="auto">
          <a:xfrm flipH="1">
            <a:off x="5296256" y="5224971"/>
            <a:ext cx="4667" cy="102962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文本框 51"/>
          <p:cNvSpPr txBox="1"/>
          <p:nvPr/>
        </p:nvSpPr>
        <p:spPr>
          <a:xfrm>
            <a:off x="2633411" y="5946817"/>
            <a:ext cx="1838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RECEIVE_DELAY2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灯片编号占位符 4">
            <a:extLst>
              <a:ext uri="{FF2B5EF4-FFF2-40B4-BE49-F238E27FC236}">
                <a16:creationId xmlns:a16="http://schemas.microsoft.com/office/drawing/2014/main" id="{467A84AB-EC7F-4384-BE37-A0701790B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7083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A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6AEF31-70C5-4192-B7E1-20BD97281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数据传输</a:t>
            </a:r>
            <a:endParaRPr lang="en-US" altLang="zh-CN" dirty="0"/>
          </a:p>
          <a:p>
            <a:pPr lvl="1"/>
            <a:r>
              <a:rPr lang="zh-CN" altLang="en-US" dirty="0"/>
              <a:t>需要确认的上行数据</a:t>
            </a:r>
            <a:endParaRPr lang="en-US" altLang="zh-CN" dirty="0"/>
          </a:p>
          <a:p>
            <a:pPr lvl="2"/>
            <a:r>
              <a:rPr lang="zh-CN" altLang="en-US" dirty="0"/>
              <a:t>网关在</a:t>
            </a:r>
            <a:r>
              <a:rPr lang="en-US" altLang="zh-CN" dirty="0"/>
              <a:t>RX1</a:t>
            </a:r>
            <a:r>
              <a:rPr lang="zh-CN" altLang="en-US" dirty="0"/>
              <a:t>或</a:t>
            </a:r>
            <a:r>
              <a:rPr lang="en-US" altLang="zh-CN" dirty="0"/>
              <a:t>RX2</a:t>
            </a:r>
            <a:r>
              <a:rPr lang="zh-CN" altLang="en-US" dirty="0"/>
              <a:t>中进行回复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203032" y="2867590"/>
            <a:ext cx="8814135" cy="2561097"/>
            <a:chOff x="203032" y="2867590"/>
            <a:chExt cx="8814135" cy="2561097"/>
          </a:xfrm>
        </p:grpSpPr>
        <p:grpSp>
          <p:nvGrpSpPr>
            <p:cNvPr id="7" name="组合 6"/>
            <p:cNvGrpSpPr/>
            <p:nvPr/>
          </p:nvGrpSpPr>
          <p:grpSpPr>
            <a:xfrm>
              <a:off x="203032" y="2867590"/>
              <a:ext cx="8814135" cy="2561097"/>
              <a:chOff x="105930" y="2692496"/>
              <a:chExt cx="8814135" cy="2561097"/>
            </a:xfrm>
          </p:grpSpPr>
          <p:cxnSp>
            <p:nvCxnSpPr>
              <p:cNvPr id="14" name="直接连接符 13"/>
              <p:cNvCxnSpPr/>
              <p:nvPr/>
            </p:nvCxnSpPr>
            <p:spPr bwMode="auto">
              <a:xfrm flipV="1">
                <a:off x="921363" y="5068927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" name="文本框 14"/>
              <p:cNvSpPr txBox="1"/>
              <p:nvPr/>
            </p:nvSpPr>
            <p:spPr>
              <a:xfrm>
                <a:off x="105930" y="2692496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网关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5930" y="4884261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设备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下箭头 16"/>
              <p:cNvSpPr/>
              <p:nvPr/>
            </p:nvSpPr>
            <p:spPr bwMode="auto">
              <a:xfrm rot="10800000">
                <a:off x="1381572" y="2877162"/>
                <a:ext cx="430924" cy="2191765"/>
              </a:xfrm>
              <a:prstGeom prst="down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 bwMode="auto">
              <a:xfrm flipV="1">
                <a:off x="921363" y="2851618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2" name="文本框 21"/>
            <p:cNvSpPr txBox="1"/>
            <p:nvPr/>
          </p:nvSpPr>
          <p:spPr>
            <a:xfrm>
              <a:off x="1808516" y="3536407"/>
              <a:ext cx="1743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MType=100</a:t>
              </a:r>
              <a:endParaRPr lang="zh-CN" altLang="en-US" sz="14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9" name="直接连接符 28"/>
          <p:cNvCxnSpPr/>
          <p:nvPr/>
        </p:nvCxnSpPr>
        <p:spPr bwMode="auto">
          <a:xfrm flipV="1">
            <a:off x="1576874" y="5434794"/>
            <a:ext cx="1936551" cy="7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2" name="文本框 31"/>
          <p:cNvSpPr txBox="1"/>
          <p:nvPr/>
        </p:nvSpPr>
        <p:spPr>
          <a:xfrm>
            <a:off x="1698276" y="5475147"/>
            <a:ext cx="1838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RECEIVE_DELAY1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 bwMode="auto">
          <a:xfrm>
            <a:off x="1576874" y="5248398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直接连接符 32"/>
          <p:cNvCxnSpPr/>
          <p:nvPr/>
        </p:nvCxnSpPr>
        <p:spPr bwMode="auto">
          <a:xfrm>
            <a:off x="3524485" y="5266313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下箭头 33"/>
          <p:cNvSpPr/>
          <p:nvPr/>
        </p:nvSpPr>
        <p:spPr bwMode="auto">
          <a:xfrm>
            <a:off x="3337014" y="3026712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38120" y="3536407"/>
            <a:ext cx="805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ACK=1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灯片编号占位符 4">
            <a:extLst>
              <a:ext uri="{FF2B5EF4-FFF2-40B4-BE49-F238E27FC236}">
                <a16:creationId xmlns:a16="http://schemas.microsoft.com/office/drawing/2014/main" id="{9B7E08AE-5CF9-4CFB-A9E7-218DA6091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CF940B8-F1F5-4263-835D-ABC9BACE03D7}"/>
              </a:ext>
            </a:extLst>
          </p:cNvPr>
          <p:cNvCxnSpPr/>
          <p:nvPr/>
        </p:nvCxnSpPr>
        <p:spPr bwMode="auto">
          <a:xfrm>
            <a:off x="1576874" y="5851464"/>
            <a:ext cx="4168296" cy="878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E09FF52-9482-4E02-A4BB-FEC9820C672B}"/>
              </a:ext>
            </a:extLst>
          </p:cNvPr>
          <p:cNvSpPr txBox="1"/>
          <p:nvPr/>
        </p:nvSpPr>
        <p:spPr>
          <a:xfrm>
            <a:off x="2771970" y="6056882"/>
            <a:ext cx="1838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RECEIVE_DELAY2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A3BEB87-2B62-4647-B337-2B1E5FF1AC76}"/>
              </a:ext>
            </a:extLst>
          </p:cNvPr>
          <p:cNvCxnSpPr>
            <a:cxnSpLocks/>
          </p:cNvCxnSpPr>
          <p:nvPr/>
        </p:nvCxnSpPr>
        <p:spPr bwMode="auto">
          <a:xfrm>
            <a:off x="1576874" y="5248398"/>
            <a:ext cx="0" cy="70723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1863E86-8E6C-4BE1-8BFE-91F1109DED4D}"/>
              </a:ext>
            </a:extLst>
          </p:cNvPr>
          <p:cNvCxnSpPr>
            <a:cxnSpLocks/>
          </p:cNvCxnSpPr>
          <p:nvPr/>
        </p:nvCxnSpPr>
        <p:spPr bwMode="auto">
          <a:xfrm>
            <a:off x="5745170" y="5252608"/>
            <a:ext cx="0" cy="70302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下箭头 33">
            <a:extLst>
              <a:ext uri="{FF2B5EF4-FFF2-40B4-BE49-F238E27FC236}">
                <a16:creationId xmlns:a16="http://schemas.microsoft.com/office/drawing/2014/main" id="{FC213EAB-AD7B-4C43-9D7E-BC59BF119AF9}"/>
              </a:ext>
            </a:extLst>
          </p:cNvPr>
          <p:cNvSpPr/>
          <p:nvPr/>
        </p:nvSpPr>
        <p:spPr bwMode="auto">
          <a:xfrm>
            <a:off x="5533093" y="3036184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9A0C7DC-60B0-4BCC-BC98-6A803D66619A}"/>
              </a:ext>
            </a:extLst>
          </p:cNvPr>
          <p:cNvSpPr txBox="1"/>
          <p:nvPr/>
        </p:nvSpPr>
        <p:spPr>
          <a:xfrm>
            <a:off x="5934199" y="3545879"/>
            <a:ext cx="805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ACK=1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512715"/>
      </p:ext>
    </p:extLst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A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E6BD51-594B-4C2A-8617-80633EDB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数据传输</a:t>
            </a:r>
            <a:endParaRPr lang="en-US" altLang="zh-CN"/>
          </a:p>
          <a:p>
            <a:pPr lvl="1"/>
            <a:r>
              <a:rPr lang="zh-CN" altLang="en-US"/>
              <a:t>需要确认的上行数据</a:t>
            </a:r>
            <a:endParaRPr lang="en-US" altLang="zh-CN"/>
          </a:p>
          <a:p>
            <a:pPr lvl="2"/>
            <a:r>
              <a:rPr lang="zh-CN" altLang="en-US"/>
              <a:t>未收到</a:t>
            </a:r>
            <a:r>
              <a:rPr lang="en-US" altLang="zh-CN"/>
              <a:t>ACK</a:t>
            </a:r>
          </a:p>
          <a:p>
            <a:pPr lvl="2"/>
            <a:r>
              <a:rPr lang="zh-CN" altLang="en-US"/>
              <a:t>传输次数</a:t>
            </a:r>
            <a:r>
              <a:rPr lang="en-US" altLang="zh-CN"/>
              <a:t>[1,15]</a:t>
            </a:r>
          </a:p>
          <a:p>
            <a:pPr lvl="1"/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203032" y="2867590"/>
            <a:ext cx="8814135" cy="2561097"/>
            <a:chOff x="203032" y="2867590"/>
            <a:chExt cx="8814135" cy="2561097"/>
          </a:xfrm>
        </p:grpSpPr>
        <p:grpSp>
          <p:nvGrpSpPr>
            <p:cNvPr id="7" name="组合 6"/>
            <p:cNvGrpSpPr/>
            <p:nvPr/>
          </p:nvGrpSpPr>
          <p:grpSpPr>
            <a:xfrm>
              <a:off x="203032" y="2867590"/>
              <a:ext cx="8814135" cy="2561097"/>
              <a:chOff x="105930" y="2692496"/>
              <a:chExt cx="8814135" cy="2561097"/>
            </a:xfrm>
          </p:grpSpPr>
          <p:cxnSp>
            <p:nvCxnSpPr>
              <p:cNvPr id="14" name="直接连接符 13"/>
              <p:cNvCxnSpPr/>
              <p:nvPr/>
            </p:nvCxnSpPr>
            <p:spPr bwMode="auto">
              <a:xfrm flipV="1">
                <a:off x="921363" y="5068927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" name="文本框 14"/>
              <p:cNvSpPr txBox="1"/>
              <p:nvPr/>
            </p:nvSpPr>
            <p:spPr>
              <a:xfrm>
                <a:off x="105930" y="2692496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网关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05930" y="4884261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设备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下箭头 16"/>
              <p:cNvSpPr/>
              <p:nvPr/>
            </p:nvSpPr>
            <p:spPr bwMode="auto">
              <a:xfrm rot="10800000">
                <a:off x="1381572" y="2877162"/>
                <a:ext cx="430924" cy="2191765"/>
              </a:xfrm>
              <a:prstGeom prst="down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cxnSp>
            <p:nvCxnSpPr>
              <p:cNvPr id="19" name="直接连接符 18"/>
              <p:cNvCxnSpPr/>
              <p:nvPr/>
            </p:nvCxnSpPr>
            <p:spPr bwMode="auto">
              <a:xfrm flipV="1">
                <a:off x="921363" y="2851618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2" name="文本框 21"/>
            <p:cNvSpPr txBox="1"/>
            <p:nvPr/>
          </p:nvSpPr>
          <p:spPr>
            <a:xfrm>
              <a:off x="1817835" y="3403252"/>
              <a:ext cx="12743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MType=100</a:t>
              </a:r>
              <a:endParaRPr lang="zh-CN" altLang="en-US" sz="14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4" name="下箭头 33"/>
          <p:cNvSpPr/>
          <p:nvPr/>
        </p:nvSpPr>
        <p:spPr bwMode="auto">
          <a:xfrm>
            <a:off x="3059871" y="3040123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27232" y="3536407"/>
            <a:ext cx="805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ACK=1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十字形 17"/>
          <p:cNvSpPr/>
          <p:nvPr/>
        </p:nvSpPr>
        <p:spPr bwMode="auto">
          <a:xfrm rot="2538496">
            <a:off x="1980382" y="4014419"/>
            <a:ext cx="402529" cy="429208"/>
          </a:xfrm>
          <a:prstGeom prst="plus">
            <a:avLst>
              <a:gd name="adj" fmla="val 39157"/>
            </a:avLst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3" name="十字形 22"/>
          <p:cNvSpPr/>
          <p:nvPr/>
        </p:nvSpPr>
        <p:spPr bwMode="auto">
          <a:xfrm rot="2538496">
            <a:off x="3559915" y="3961861"/>
            <a:ext cx="402529" cy="429208"/>
          </a:xfrm>
          <a:prstGeom prst="plus">
            <a:avLst>
              <a:gd name="adj" fmla="val 39157"/>
            </a:avLst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cxnSp>
        <p:nvCxnSpPr>
          <p:cNvPr id="25" name="直接连接符 24"/>
          <p:cNvCxnSpPr/>
          <p:nvPr/>
        </p:nvCxnSpPr>
        <p:spPr bwMode="auto">
          <a:xfrm>
            <a:off x="1576874" y="5728704"/>
            <a:ext cx="1682384" cy="29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6" name="直接连接符 25"/>
          <p:cNvCxnSpPr/>
          <p:nvPr/>
        </p:nvCxnSpPr>
        <p:spPr bwMode="auto">
          <a:xfrm>
            <a:off x="1576874" y="5244164"/>
            <a:ext cx="0" cy="101043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文本框 26"/>
          <p:cNvSpPr txBox="1"/>
          <p:nvPr/>
        </p:nvSpPr>
        <p:spPr>
          <a:xfrm>
            <a:off x="1559582" y="5337213"/>
            <a:ext cx="1699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RECEIVE_DELAY1</a:t>
            </a:r>
            <a:endParaRPr lang="zh-CN" altLang="en-US" sz="14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>
            <a:off x="1576874" y="5871880"/>
            <a:ext cx="2827990" cy="1388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36" name="直接连接符 35"/>
          <p:cNvCxnSpPr/>
          <p:nvPr/>
        </p:nvCxnSpPr>
        <p:spPr bwMode="auto">
          <a:xfrm>
            <a:off x="3259258" y="5251015"/>
            <a:ext cx="0" cy="55103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直接连接符 36"/>
          <p:cNvCxnSpPr/>
          <p:nvPr/>
        </p:nvCxnSpPr>
        <p:spPr bwMode="auto">
          <a:xfrm flipH="1">
            <a:off x="4404864" y="5245754"/>
            <a:ext cx="4667" cy="102962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文本框 37"/>
          <p:cNvSpPr txBox="1"/>
          <p:nvPr/>
        </p:nvSpPr>
        <p:spPr>
          <a:xfrm>
            <a:off x="2633411" y="5946817"/>
            <a:ext cx="1838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RECEIVE_DELAY2</a:t>
            </a:r>
            <a:endParaRPr lang="zh-CN" altLang="en-US" sz="14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1" name="直接连接符 40"/>
          <p:cNvCxnSpPr/>
          <p:nvPr/>
        </p:nvCxnSpPr>
        <p:spPr bwMode="auto">
          <a:xfrm>
            <a:off x="5794311" y="5253454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文本框 41"/>
          <p:cNvSpPr txBox="1"/>
          <p:nvPr/>
        </p:nvSpPr>
        <p:spPr>
          <a:xfrm>
            <a:off x="4387571" y="5577985"/>
            <a:ext cx="143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ACK_TimeOut</a:t>
            </a:r>
            <a:endParaRPr lang="zh-CN" altLang="en-US" sz="14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>
            <a:off x="4419129" y="5489247"/>
            <a:ext cx="1403173" cy="185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5" name="直接连接符 44"/>
          <p:cNvCxnSpPr/>
          <p:nvPr/>
        </p:nvCxnSpPr>
        <p:spPr bwMode="auto">
          <a:xfrm>
            <a:off x="6914830" y="5270189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直接连接符 45"/>
          <p:cNvCxnSpPr/>
          <p:nvPr/>
        </p:nvCxnSpPr>
        <p:spPr bwMode="auto">
          <a:xfrm>
            <a:off x="5822302" y="5493184"/>
            <a:ext cx="1091147" cy="615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47" name="文本框 46"/>
          <p:cNvSpPr txBox="1"/>
          <p:nvPr/>
        </p:nvSpPr>
        <p:spPr>
          <a:xfrm>
            <a:off x="5855750" y="5622347"/>
            <a:ext cx="997643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Random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back off</a:t>
            </a:r>
            <a:endParaRPr lang="zh-CN" altLang="en-US" sz="14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下箭头 48"/>
          <p:cNvSpPr/>
          <p:nvPr/>
        </p:nvSpPr>
        <p:spPr bwMode="auto">
          <a:xfrm rot="10800000">
            <a:off x="6805117" y="3037636"/>
            <a:ext cx="430924" cy="21917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129081" y="3413308"/>
            <a:ext cx="1274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MType=100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814561" y="3699934"/>
            <a:ext cx="1245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FCntUp=5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158102" y="3695700"/>
            <a:ext cx="1245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FCntUp=5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470367" y="4539289"/>
            <a:ext cx="1100422" cy="466947"/>
            <a:chOff x="6845021" y="4729127"/>
            <a:chExt cx="1100422" cy="466947"/>
          </a:xfrm>
        </p:grpSpPr>
        <p:sp>
          <p:nvSpPr>
            <p:cNvPr id="54" name="矩形 53"/>
            <p:cNvSpPr/>
            <p:nvPr/>
          </p:nvSpPr>
          <p:spPr bwMode="auto">
            <a:xfrm>
              <a:off x="6868937" y="4729127"/>
              <a:ext cx="1052591" cy="4669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6845021" y="4817289"/>
              <a:ext cx="1100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channel y</a:t>
              </a:r>
              <a:endParaRPr lang="zh-CN" altLang="en-US" sz="14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116774" y="4547611"/>
            <a:ext cx="1100422" cy="466947"/>
            <a:chOff x="6845021" y="4729127"/>
            <a:chExt cx="1100422" cy="466947"/>
          </a:xfrm>
        </p:grpSpPr>
        <p:sp>
          <p:nvSpPr>
            <p:cNvPr id="57" name="矩形 56"/>
            <p:cNvSpPr/>
            <p:nvPr/>
          </p:nvSpPr>
          <p:spPr bwMode="auto">
            <a:xfrm>
              <a:off x="6868937" y="4729127"/>
              <a:ext cx="1052591" cy="4669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6845021" y="4817289"/>
              <a:ext cx="1100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 dirty="0">
                  <a:latin typeface="微软雅黑" pitchFamily="34" charset="-122"/>
                  <a:ea typeface="微软雅黑" pitchFamily="34" charset="-122"/>
                </a:rPr>
                <a:t>channel x</a:t>
              </a:r>
              <a:endParaRPr lang="zh-CN" altLang="en-US" sz="14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9" name="灯片编号占位符 4">
            <a:extLst>
              <a:ext uri="{FF2B5EF4-FFF2-40B4-BE49-F238E27FC236}">
                <a16:creationId xmlns:a16="http://schemas.microsoft.com/office/drawing/2014/main" id="{D4E81ED1-5A80-4361-8D74-86390827E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89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617224"/>
      </p:ext>
    </p:extLst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A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57028E-F931-4512-80C3-90BD19324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数据传输</a:t>
            </a:r>
            <a:endParaRPr lang="en-US" altLang="zh-CN"/>
          </a:p>
          <a:p>
            <a:pPr lvl="1"/>
            <a:r>
              <a:rPr lang="zh-CN" altLang="en-US"/>
              <a:t>不需要确认的下行数据</a:t>
            </a:r>
            <a:endParaRPr lang="en-US" altLang="zh-CN"/>
          </a:p>
          <a:p>
            <a:pPr lvl="1"/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203032" y="2876921"/>
            <a:ext cx="8814135" cy="2561097"/>
            <a:chOff x="105930" y="2692496"/>
            <a:chExt cx="8814135" cy="2561097"/>
          </a:xfrm>
        </p:grpSpPr>
        <p:cxnSp>
          <p:nvCxnSpPr>
            <p:cNvPr id="14" name="直接连接符 13"/>
            <p:cNvCxnSpPr/>
            <p:nvPr/>
          </p:nvCxnSpPr>
          <p:spPr bwMode="auto">
            <a:xfrm flipV="1">
              <a:off x="921363" y="5068927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文本框 14"/>
            <p:cNvSpPr txBox="1"/>
            <p:nvPr/>
          </p:nvSpPr>
          <p:spPr>
            <a:xfrm>
              <a:off x="105930" y="2692496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网关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5930" y="4884261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设备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下箭头 16"/>
            <p:cNvSpPr/>
            <p:nvPr/>
          </p:nvSpPr>
          <p:spPr bwMode="auto">
            <a:xfrm rot="10800000">
              <a:off x="3077883" y="2871024"/>
              <a:ext cx="430924" cy="219176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 bwMode="auto">
            <a:xfrm flipV="1">
              <a:off x="921363" y="2851618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9" name="直接连接符 28"/>
          <p:cNvCxnSpPr/>
          <p:nvPr/>
        </p:nvCxnSpPr>
        <p:spPr bwMode="auto">
          <a:xfrm flipV="1">
            <a:off x="3284376" y="5438018"/>
            <a:ext cx="1936551" cy="7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2" name="文本框 31"/>
          <p:cNvSpPr txBox="1"/>
          <p:nvPr/>
        </p:nvSpPr>
        <p:spPr>
          <a:xfrm>
            <a:off x="3333586" y="5430247"/>
            <a:ext cx="1838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RECEIVE_DELAY1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 bwMode="auto">
          <a:xfrm>
            <a:off x="3284376" y="5251622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直接连接符 32"/>
          <p:cNvCxnSpPr/>
          <p:nvPr/>
        </p:nvCxnSpPr>
        <p:spPr bwMode="auto">
          <a:xfrm>
            <a:off x="5231987" y="5269537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下箭头 33"/>
          <p:cNvSpPr/>
          <p:nvPr/>
        </p:nvSpPr>
        <p:spPr bwMode="auto">
          <a:xfrm>
            <a:off x="5016525" y="3041595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295740" y="3550140"/>
            <a:ext cx="129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Mtype=011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下箭头 2"/>
          <p:cNvSpPr/>
          <p:nvPr/>
        </p:nvSpPr>
        <p:spPr bwMode="auto">
          <a:xfrm>
            <a:off x="1446244" y="2677886"/>
            <a:ext cx="179839" cy="327555"/>
          </a:xfrm>
          <a:prstGeom prst="downArrow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634209" y="2636821"/>
            <a:ext cx="1155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1800" b="1" baseline="0">
                <a:latin typeface="微软雅黑" pitchFamily="34" charset="-122"/>
                <a:ea typeface="微软雅黑" pitchFamily="34" charset="-122"/>
              </a:rPr>
              <a:t>数据待发</a:t>
            </a:r>
            <a:endParaRPr lang="zh-CN" altLang="en-US" sz="18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灯片编号占位符 4">
            <a:extLst>
              <a:ext uri="{FF2B5EF4-FFF2-40B4-BE49-F238E27FC236}">
                <a16:creationId xmlns:a16="http://schemas.microsoft.com/office/drawing/2014/main" id="{78583811-966B-41E7-BDDD-796D13237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E204219-5B6B-4665-A5DC-69ADBCFF18AF}"/>
              </a:ext>
            </a:extLst>
          </p:cNvPr>
          <p:cNvCxnSpPr/>
          <p:nvPr/>
        </p:nvCxnSpPr>
        <p:spPr bwMode="auto">
          <a:xfrm flipV="1">
            <a:off x="3284376" y="5774906"/>
            <a:ext cx="3930983" cy="7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607BE8B8-2057-4ED0-A26C-3DEE3C937173}"/>
              </a:ext>
            </a:extLst>
          </p:cNvPr>
          <p:cNvSpPr txBox="1"/>
          <p:nvPr/>
        </p:nvSpPr>
        <p:spPr>
          <a:xfrm>
            <a:off x="4397276" y="5772928"/>
            <a:ext cx="1838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RECEIVE_DELAY2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5DBD2EE-5FB5-43A5-B323-02A400BEA737}"/>
              </a:ext>
            </a:extLst>
          </p:cNvPr>
          <p:cNvCxnSpPr>
            <a:cxnSpLocks/>
          </p:cNvCxnSpPr>
          <p:nvPr/>
        </p:nvCxnSpPr>
        <p:spPr bwMode="auto">
          <a:xfrm>
            <a:off x="3284376" y="5251622"/>
            <a:ext cx="0" cy="61978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0A8422B-978D-418A-AC04-22BDF813DCE5}"/>
              </a:ext>
            </a:extLst>
          </p:cNvPr>
          <p:cNvCxnSpPr>
            <a:cxnSpLocks/>
          </p:cNvCxnSpPr>
          <p:nvPr/>
        </p:nvCxnSpPr>
        <p:spPr bwMode="auto">
          <a:xfrm>
            <a:off x="7215359" y="5251622"/>
            <a:ext cx="0" cy="61978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下箭头 33">
            <a:extLst>
              <a:ext uri="{FF2B5EF4-FFF2-40B4-BE49-F238E27FC236}">
                <a16:creationId xmlns:a16="http://schemas.microsoft.com/office/drawing/2014/main" id="{C557ABF9-5023-4CE2-9478-D530E240A272}"/>
              </a:ext>
            </a:extLst>
          </p:cNvPr>
          <p:cNvSpPr/>
          <p:nvPr/>
        </p:nvSpPr>
        <p:spPr bwMode="auto">
          <a:xfrm>
            <a:off x="6994615" y="3036043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2F4B6CC-27F8-44CF-8F5C-AC80519964DB}"/>
              </a:ext>
            </a:extLst>
          </p:cNvPr>
          <p:cNvSpPr txBox="1"/>
          <p:nvPr/>
        </p:nvSpPr>
        <p:spPr>
          <a:xfrm>
            <a:off x="7273830" y="3544588"/>
            <a:ext cx="129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Mtype=011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7111281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A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5A3851-47E1-457D-9E96-EA70DC441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数据传输</a:t>
            </a:r>
            <a:endParaRPr lang="en-US" altLang="zh-CN" dirty="0"/>
          </a:p>
          <a:p>
            <a:pPr lvl="1"/>
            <a:r>
              <a:rPr lang="zh-CN" altLang="en-US" dirty="0"/>
              <a:t>需要确认的下行数据</a:t>
            </a:r>
            <a:endParaRPr lang="en-US" altLang="zh-CN" dirty="0"/>
          </a:p>
          <a:p>
            <a:pPr lvl="2"/>
            <a:r>
              <a:rPr lang="zh-CN" altLang="en-US" dirty="0"/>
              <a:t>设备立刻回复</a:t>
            </a:r>
            <a:r>
              <a:rPr lang="en-US" altLang="zh-CN" dirty="0"/>
              <a:t>ACK</a:t>
            </a:r>
            <a:r>
              <a:rPr lang="zh-CN" altLang="en-US" dirty="0"/>
              <a:t>，负载为空</a:t>
            </a:r>
            <a:endParaRPr lang="en-US" altLang="zh-CN" dirty="0"/>
          </a:p>
          <a:p>
            <a:pPr lvl="2"/>
            <a:r>
              <a:rPr lang="zh-CN" altLang="en-US" dirty="0"/>
              <a:t>设备发送上行数据时捎带</a:t>
            </a:r>
            <a:r>
              <a:rPr lang="en-US" altLang="zh-CN" dirty="0"/>
              <a:t>ACK</a:t>
            </a:r>
          </a:p>
          <a:p>
            <a:pPr lvl="2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203032" y="2876921"/>
            <a:ext cx="8814135" cy="2561097"/>
            <a:chOff x="105930" y="2692496"/>
            <a:chExt cx="8814135" cy="2561097"/>
          </a:xfrm>
        </p:grpSpPr>
        <p:cxnSp>
          <p:nvCxnSpPr>
            <p:cNvPr id="14" name="直接连接符 13"/>
            <p:cNvCxnSpPr/>
            <p:nvPr/>
          </p:nvCxnSpPr>
          <p:spPr bwMode="auto">
            <a:xfrm flipV="1">
              <a:off x="921363" y="5068927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文本框 14"/>
            <p:cNvSpPr txBox="1"/>
            <p:nvPr/>
          </p:nvSpPr>
          <p:spPr>
            <a:xfrm>
              <a:off x="105930" y="2692496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网关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5930" y="4884261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设备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下箭头 16"/>
            <p:cNvSpPr/>
            <p:nvPr/>
          </p:nvSpPr>
          <p:spPr bwMode="auto">
            <a:xfrm rot="10800000">
              <a:off x="1972918" y="2867443"/>
              <a:ext cx="430924" cy="219176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 bwMode="auto">
            <a:xfrm flipV="1">
              <a:off x="921363" y="2851618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4" name="下箭头 33"/>
          <p:cNvSpPr/>
          <p:nvPr/>
        </p:nvSpPr>
        <p:spPr bwMode="auto">
          <a:xfrm>
            <a:off x="3573447" y="3037339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928599" y="3524835"/>
            <a:ext cx="129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Mtype=101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下箭头 2"/>
          <p:cNvSpPr/>
          <p:nvPr/>
        </p:nvSpPr>
        <p:spPr bwMode="auto">
          <a:xfrm>
            <a:off x="1446244" y="2677886"/>
            <a:ext cx="179839" cy="327555"/>
          </a:xfrm>
          <a:prstGeom prst="downArrow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634209" y="2636821"/>
            <a:ext cx="1155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1800" b="1" baseline="0">
                <a:latin typeface="微软雅黑" pitchFamily="34" charset="-122"/>
                <a:ea typeface="微软雅黑" pitchFamily="34" charset="-122"/>
              </a:rPr>
              <a:t>数据待发</a:t>
            </a:r>
            <a:endParaRPr lang="zh-CN" altLang="en-US" sz="18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735270" y="4539288"/>
            <a:ext cx="1100422" cy="466947"/>
            <a:chOff x="6845021" y="4729127"/>
            <a:chExt cx="1100422" cy="466947"/>
          </a:xfrm>
        </p:grpSpPr>
        <p:sp>
          <p:nvSpPr>
            <p:cNvPr id="28" name="矩形 27"/>
            <p:cNvSpPr/>
            <p:nvPr/>
          </p:nvSpPr>
          <p:spPr bwMode="auto">
            <a:xfrm>
              <a:off x="6868937" y="4729127"/>
              <a:ext cx="1052591" cy="4669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845021" y="4817289"/>
              <a:ext cx="1100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channel x</a:t>
              </a:r>
              <a:endParaRPr lang="zh-CN" altLang="en-US" sz="14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6" name="下箭头 35"/>
          <p:cNvSpPr/>
          <p:nvPr/>
        </p:nvSpPr>
        <p:spPr bwMode="auto">
          <a:xfrm rot="10800000">
            <a:off x="5084338" y="3053920"/>
            <a:ext cx="430924" cy="21917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756387" y="4548072"/>
            <a:ext cx="1100422" cy="466947"/>
            <a:chOff x="6845021" y="4729127"/>
            <a:chExt cx="1100422" cy="466947"/>
          </a:xfrm>
        </p:grpSpPr>
        <p:sp>
          <p:nvSpPr>
            <p:cNvPr id="25" name="矩形 24"/>
            <p:cNvSpPr/>
            <p:nvPr/>
          </p:nvSpPr>
          <p:spPr bwMode="auto">
            <a:xfrm>
              <a:off x="6868937" y="4729127"/>
              <a:ext cx="1052591" cy="4669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845021" y="4817289"/>
              <a:ext cx="1100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channel y</a:t>
              </a:r>
              <a:endParaRPr lang="zh-CN" altLang="en-US" sz="14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5464142" y="3524834"/>
            <a:ext cx="129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ACK=1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464143" y="3832611"/>
            <a:ext cx="1671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Payload=NULL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灯片编号占位符 4">
            <a:extLst>
              <a:ext uri="{FF2B5EF4-FFF2-40B4-BE49-F238E27FC236}">
                <a16:creationId xmlns:a16="http://schemas.microsoft.com/office/drawing/2014/main" id="{0FE9D058-8C74-4C43-83E7-7633B8CC7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29" name="下箭头 35">
            <a:extLst>
              <a:ext uri="{FF2B5EF4-FFF2-40B4-BE49-F238E27FC236}">
                <a16:creationId xmlns:a16="http://schemas.microsoft.com/office/drawing/2014/main" id="{B6A945D7-FAED-4668-9FBE-99D635C64879}"/>
              </a:ext>
            </a:extLst>
          </p:cNvPr>
          <p:cNvSpPr/>
          <p:nvPr/>
        </p:nvSpPr>
        <p:spPr bwMode="auto">
          <a:xfrm rot="10800000">
            <a:off x="6802201" y="3042897"/>
            <a:ext cx="430924" cy="21917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19DBBC5-3EB1-4B6D-9D28-4A8E3DE4AF65}"/>
              </a:ext>
            </a:extLst>
          </p:cNvPr>
          <p:cNvGrpSpPr/>
          <p:nvPr/>
        </p:nvGrpSpPr>
        <p:grpSpPr>
          <a:xfrm>
            <a:off x="6474250" y="4537049"/>
            <a:ext cx="1100422" cy="466947"/>
            <a:chOff x="6845021" y="4729127"/>
            <a:chExt cx="1100422" cy="466947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E7F761F-0B83-429E-BD0E-F44ADD194BE0}"/>
                </a:ext>
              </a:extLst>
            </p:cNvPr>
            <p:cNvSpPr/>
            <p:nvPr/>
          </p:nvSpPr>
          <p:spPr bwMode="auto">
            <a:xfrm>
              <a:off x="6868937" y="4729127"/>
              <a:ext cx="1052591" cy="4669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DE77026-C0BC-4B6F-9953-1009B718AE02}"/>
                </a:ext>
              </a:extLst>
            </p:cNvPr>
            <p:cNvSpPr txBox="1"/>
            <p:nvPr/>
          </p:nvSpPr>
          <p:spPr>
            <a:xfrm>
              <a:off x="6845021" y="4817289"/>
              <a:ext cx="1100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channel y</a:t>
              </a:r>
              <a:endParaRPr lang="zh-CN" altLang="en-US" sz="14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9B83E5F6-E6F2-48F5-9753-B0698742BF95}"/>
              </a:ext>
            </a:extLst>
          </p:cNvPr>
          <p:cNvSpPr txBox="1"/>
          <p:nvPr/>
        </p:nvSpPr>
        <p:spPr>
          <a:xfrm>
            <a:off x="7182005" y="3513811"/>
            <a:ext cx="129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ACK=1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99BE427-EC65-49D1-98DC-6CAD8379175A}"/>
              </a:ext>
            </a:extLst>
          </p:cNvPr>
          <p:cNvSpPr txBox="1"/>
          <p:nvPr/>
        </p:nvSpPr>
        <p:spPr>
          <a:xfrm>
            <a:off x="7182007" y="3821588"/>
            <a:ext cx="1986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Payload=data/MAC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4548169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A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215223-AEAA-443F-9985-D62512421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数据传输</a:t>
            </a:r>
            <a:endParaRPr lang="en-US" altLang="zh-CN"/>
          </a:p>
          <a:p>
            <a:pPr lvl="1"/>
            <a:r>
              <a:rPr lang="zh-CN" altLang="en-US"/>
              <a:t>需要确认的下行数据</a:t>
            </a:r>
            <a:endParaRPr lang="en-US" altLang="zh-CN"/>
          </a:p>
          <a:p>
            <a:pPr lvl="2"/>
            <a:r>
              <a:rPr lang="zh-CN" altLang="en-US"/>
              <a:t>未收到</a:t>
            </a:r>
            <a:r>
              <a:rPr lang="en-US" altLang="zh-CN"/>
              <a:t>ACK</a:t>
            </a:r>
          </a:p>
          <a:p>
            <a:pPr lvl="1"/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203032" y="2876921"/>
            <a:ext cx="8814135" cy="2561097"/>
            <a:chOff x="105930" y="2692496"/>
            <a:chExt cx="8814135" cy="2561097"/>
          </a:xfrm>
        </p:grpSpPr>
        <p:cxnSp>
          <p:nvCxnSpPr>
            <p:cNvPr id="14" name="直接连接符 13"/>
            <p:cNvCxnSpPr/>
            <p:nvPr/>
          </p:nvCxnSpPr>
          <p:spPr bwMode="auto">
            <a:xfrm flipV="1">
              <a:off x="921363" y="5068927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文本框 14"/>
            <p:cNvSpPr txBox="1"/>
            <p:nvPr/>
          </p:nvSpPr>
          <p:spPr>
            <a:xfrm>
              <a:off x="105930" y="2692496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网关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5930" y="4884261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设备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下箭头 16"/>
            <p:cNvSpPr/>
            <p:nvPr/>
          </p:nvSpPr>
          <p:spPr bwMode="auto">
            <a:xfrm rot="10800000">
              <a:off x="1236524" y="2877162"/>
              <a:ext cx="430924" cy="219176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 bwMode="auto">
            <a:xfrm flipV="1">
              <a:off x="921363" y="2851618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4" name="下箭头 33"/>
          <p:cNvSpPr/>
          <p:nvPr/>
        </p:nvSpPr>
        <p:spPr bwMode="auto">
          <a:xfrm>
            <a:off x="2915746" y="3028080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" name="下箭头 2"/>
          <p:cNvSpPr/>
          <p:nvPr/>
        </p:nvSpPr>
        <p:spPr bwMode="auto">
          <a:xfrm>
            <a:off x="1129684" y="2695451"/>
            <a:ext cx="179839" cy="327555"/>
          </a:xfrm>
          <a:prstGeom prst="downArrow">
            <a:avLst/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17649" y="2654386"/>
            <a:ext cx="1155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1800" b="1" baseline="0">
                <a:latin typeface="微软雅黑" pitchFamily="34" charset="-122"/>
                <a:ea typeface="微软雅黑" pitchFamily="34" charset="-122"/>
              </a:rPr>
              <a:t>数据待发</a:t>
            </a:r>
            <a:endParaRPr lang="zh-CN" altLang="en-US" sz="18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07538" y="4348081"/>
            <a:ext cx="1100422" cy="466947"/>
            <a:chOff x="6845021" y="4729127"/>
            <a:chExt cx="1100422" cy="466947"/>
          </a:xfrm>
        </p:grpSpPr>
        <p:sp>
          <p:nvSpPr>
            <p:cNvPr id="28" name="矩形 27"/>
            <p:cNvSpPr/>
            <p:nvPr/>
          </p:nvSpPr>
          <p:spPr bwMode="auto">
            <a:xfrm>
              <a:off x="6868937" y="4729127"/>
              <a:ext cx="1052591" cy="4669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845021" y="4817289"/>
              <a:ext cx="1100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channel x</a:t>
              </a:r>
              <a:endParaRPr lang="zh-CN" altLang="en-US" sz="14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6" name="下箭头 35"/>
          <p:cNvSpPr/>
          <p:nvPr/>
        </p:nvSpPr>
        <p:spPr bwMode="auto">
          <a:xfrm rot="10800000">
            <a:off x="3501781" y="3052062"/>
            <a:ext cx="430924" cy="21917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745199" y="3413505"/>
            <a:ext cx="875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ACK=1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十字形 22"/>
          <p:cNvSpPr/>
          <p:nvPr/>
        </p:nvSpPr>
        <p:spPr bwMode="auto">
          <a:xfrm rot="2538496">
            <a:off x="3861164" y="3716379"/>
            <a:ext cx="402529" cy="429208"/>
          </a:xfrm>
          <a:prstGeom prst="plus">
            <a:avLst>
              <a:gd name="adj" fmla="val 39157"/>
            </a:avLst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29" name="十字形 28"/>
          <p:cNvSpPr/>
          <p:nvPr/>
        </p:nvSpPr>
        <p:spPr bwMode="auto">
          <a:xfrm rot="2538496">
            <a:off x="2532931" y="3716379"/>
            <a:ext cx="402529" cy="429208"/>
          </a:xfrm>
          <a:prstGeom prst="plus">
            <a:avLst>
              <a:gd name="adj" fmla="val 39157"/>
            </a:avLst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cxnSp>
        <p:nvCxnSpPr>
          <p:cNvPr id="46" name="直接连接符 45"/>
          <p:cNvCxnSpPr/>
          <p:nvPr/>
        </p:nvCxnSpPr>
        <p:spPr bwMode="auto">
          <a:xfrm>
            <a:off x="1440860" y="5740657"/>
            <a:ext cx="1700872" cy="43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7" name="直接连接符 46"/>
          <p:cNvCxnSpPr/>
          <p:nvPr/>
        </p:nvCxnSpPr>
        <p:spPr bwMode="auto">
          <a:xfrm>
            <a:off x="1440860" y="5256117"/>
            <a:ext cx="0" cy="101043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8" name="文本框 47"/>
          <p:cNvSpPr txBox="1"/>
          <p:nvPr/>
        </p:nvSpPr>
        <p:spPr>
          <a:xfrm>
            <a:off x="1423568" y="5349166"/>
            <a:ext cx="1718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RECEIVE_DELAY1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9" name="直接连接符 48"/>
          <p:cNvCxnSpPr/>
          <p:nvPr/>
        </p:nvCxnSpPr>
        <p:spPr bwMode="auto">
          <a:xfrm>
            <a:off x="1440860" y="5883833"/>
            <a:ext cx="2859067" cy="2082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0" name="直接连接符 49"/>
          <p:cNvCxnSpPr/>
          <p:nvPr/>
        </p:nvCxnSpPr>
        <p:spPr bwMode="auto">
          <a:xfrm>
            <a:off x="3123244" y="5262968"/>
            <a:ext cx="0" cy="55103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直接连接符 50"/>
          <p:cNvCxnSpPr/>
          <p:nvPr/>
        </p:nvCxnSpPr>
        <p:spPr bwMode="auto">
          <a:xfrm flipH="1">
            <a:off x="4268851" y="5257707"/>
            <a:ext cx="4667" cy="102962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文本框 51"/>
          <p:cNvSpPr txBox="1"/>
          <p:nvPr/>
        </p:nvSpPr>
        <p:spPr>
          <a:xfrm>
            <a:off x="2497396" y="5958770"/>
            <a:ext cx="1858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RECEIVE_DELAY2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3" name="直接连接符 52"/>
          <p:cNvCxnSpPr/>
          <p:nvPr/>
        </p:nvCxnSpPr>
        <p:spPr bwMode="auto">
          <a:xfrm>
            <a:off x="5070469" y="5273369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文本框 53"/>
          <p:cNvSpPr txBox="1"/>
          <p:nvPr/>
        </p:nvSpPr>
        <p:spPr>
          <a:xfrm>
            <a:off x="4257997" y="5636609"/>
            <a:ext cx="144398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ACK_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TimeOut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5" name="直接连接符 54"/>
          <p:cNvCxnSpPr/>
          <p:nvPr/>
        </p:nvCxnSpPr>
        <p:spPr bwMode="auto">
          <a:xfrm flipV="1">
            <a:off x="4283115" y="5500574"/>
            <a:ext cx="796006" cy="62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56" name="直接连接符 55"/>
          <p:cNvCxnSpPr/>
          <p:nvPr/>
        </p:nvCxnSpPr>
        <p:spPr bwMode="auto">
          <a:xfrm>
            <a:off x="5727022" y="5262968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直接连接符 56"/>
          <p:cNvCxnSpPr/>
          <p:nvPr/>
        </p:nvCxnSpPr>
        <p:spPr bwMode="auto">
          <a:xfrm>
            <a:off x="5080067" y="5503842"/>
            <a:ext cx="646698" cy="14685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8" name="文本框 57"/>
          <p:cNvSpPr txBox="1"/>
          <p:nvPr/>
        </p:nvSpPr>
        <p:spPr>
          <a:xfrm>
            <a:off x="5091668" y="5624788"/>
            <a:ext cx="1008606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Random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back off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下箭头 58"/>
          <p:cNvSpPr/>
          <p:nvPr/>
        </p:nvSpPr>
        <p:spPr bwMode="auto">
          <a:xfrm rot="10800000">
            <a:off x="5616285" y="3065292"/>
            <a:ext cx="430924" cy="21917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0" name="下箭头 59"/>
          <p:cNvSpPr/>
          <p:nvPr/>
        </p:nvSpPr>
        <p:spPr bwMode="auto">
          <a:xfrm>
            <a:off x="6822121" y="3030865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1" name="下箭头 60"/>
          <p:cNvSpPr/>
          <p:nvPr/>
        </p:nvSpPr>
        <p:spPr bwMode="auto">
          <a:xfrm rot="10800000">
            <a:off x="7709890" y="3042954"/>
            <a:ext cx="430924" cy="21917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074256" y="3413504"/>
            <a:ext cx="875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ACK=1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550533" y="4348080"/>
            <a:ext cx="1100422" cy="466947"/>
            <a:chOff x="6845021" y="4729127"/>
            <a:chExt cx="1100422" cy="466947"/>
          </a:xfrm>
        </p:grpSpPr>
        <p:sp>
          <p:nvSpPr>
            <p:cNvPr id="25" name="矩形 24"/>
            <p:cNvSpPr/>
            <p:nvPr/>
          </p:nvSpPr>
          <p:spPr bwMode="auto">
            <a:xfrm>
              <a:off x="6868937" y="4729127"/>
              <a:ext cx="1052591" cy="4669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845021" y="4817289"/>
              <a:ext cx="1100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channel y</a:t>
              </a:r>
              <a:endParaRPr lang="zh-CN" altLang="en-US" sz="14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3236736" y="2048911"/>
            <a:ext cx="2839731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1600" b="1" baseline="0" dirty="0">
                <a:latin typeface="微软雅黑" pitchFamily="34" charset="-122"/>
                <a:ea typeface="微软雅黑" pitchFamily="34" charset="-122"/>
              </a:rPr>
              <a:t>数据：</a:t>
            </a:r>
            <a:r>
              <a:rPr lang="en-US" altLang="zh-CN" sz="1600" b="1" baseline="0" dirty="0" err="1">
                <a:latin typeface="微软雅黑" pitchFamily="34" charset="-122"/>
                <a:ea typeface="微软雅黑" pitchFamily="34" charset="-122"/>
              </a:rPr>
              <a:t>AFCntDown</a:t>
            </a:r>
            <a:r>
              <a:rPr lang="en-US" altLang="zh-CN" sz="1600" b="1" baseline="0" dirty="0">
                <a:latin typeface="微软雅黑" pitchFamily="34" charset="-122"/>
                <a:ea typeface="微软雅黑" pitchFamily="34" charset="-122"/>
              </a:rPr>
              <a:t>=5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1600" b="1" baseline="0" dirty="0">
                <a:latin typeface="微软雅黑" pitchFamily="34" charset="-122"/>
                <a:ea typeface="微软雅黑" pitchFamily="34" charset="-122"/>
              </a:rPr>
              <a:t>指令：</a:t>
            </a:r>
            <a:r>
              <a:rPr lang="en-US" altLang="zh-CN" sz="1600" b="1" baseline="0" dirty="0" err="1">
                <a:latin typeface="微软雅黑" pitchFamily="34" charset="-122"/>
                <a:ea typeface="微软雅黑" pitchFamily="34" charset="-122"/>
              </a:rPr>
              <a:t>NFCntDown</a:t>
            </a:r>
            <a:r>
              <a:rPr lang="en-US" altLang="zh-CN" sz="1600" b="1" baseline="0" dirty="0">
                <a:latin typeface="微软雅黑" pitchFamily="34" charset="-122"/>
                <a:ea typeface="微软雅黑" pitchFamily="34" charset="-122"/>
              </a:rPr>
              <a:t>=5</a:t>
            </a:r>
            <a:endParaRPr lang="zh-CN" altLang="en-US" sz="16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7" name="直接箭头连接符 66"/>
          <p:cNvCxnSpPr/>
          <p:nvPr/>
        </p:nvCxnSpPr>
        <p:spPr bwMode="auto">
          <a:xfrm flipH="1">
            <a:off x="3141732" y="2654386"/>
            <a:ext cx="360048" cy="368620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8" name="文本框 67"/>
          <p:cNvSpPr txBox="1"/>
          <p:nvPr/>
        </p:nvSpPr>
        <p:spPr>
          <a:xfrm>
            <a:off x="6488748" y="2078769"/>
            <a:ext cx="2839731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1600" b="1" baseline="0">
                <a:latin typeface="微软雅黑" pitchFamily="34" charset="-122"/>
                <a:ea typeface="微软雅黑" pitchFamily="34" charset="-122"/>
              </a:rPr>
              <a:t>数据：</a:t>
            </a:r>
            <a:r>
              <a:rPr lang="en-US" altLang="zh-CN" sz="1600" b="1" baseline="0">
                <a:latin typeface="微软雅黑" pitchFamily="34" charset="-122"/>
                <a:ea typeface="微软雅黑" pitchFamily="34" charset="-122"/>
              </a:rPr>
              <a:t>AFCntDown=6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1600" b="1" baseline="0">
                <a:latin typeface="微软雅黑" pitchFamily="34" charset="-122"/>
                <a:ea typeface="微软雅黑" pitchFamily="34" charset="-122"/>
              </a:rPr>
              <a:t>指令：</a:t>
            </a:r>
            <a:r>
              <a:rPr lang="en-US" altLang="zh-CN" sz="1600" b="1" baseline="0">
                <a:latin typeface="微软雅黑" pitchFamily="34" charset="-122"/>
                <a:ea typeface="微软雅黑" pitchFamily="34" charset="-122"/>
              </a:rPr>
              <a:t>NFCntDown=6</a:t>
            </a:r>
            <a:endParaRPr lang="zh-CN" altLang="en-US" sz="16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9" name="直接箭头连接符 68"/>
          <p:cNvCxnSpPr>
            <a:cxnSpLocks/>
          </p:cNvCxnSpPr>
          <p:nvPr/>
        </p:nvCxnSpPr>
        <p:spPr bwMode="auto">
          <a:xfrm>
            <a:off x="6822121" y="2682931"/>
            <a:ext cx="232106" cy="331449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灯片编号占位符 4">
            <a:extLst>
              <a:ext uri="{FF2B5EF4-FFF2-40B4-BE49-F238E27FC236}">
                <a16:creationId xmlns:a16="http://schemas.microsoft.com/office/drawing/2014/main" id="{54D3154F-33F7-4846-B183-B216A9D9D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859085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Class B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Class A</a:t>
            </a:r>
            <a:r>
              <a:rPr lang="zh-CN" altLang="en-US"/>
              <a:t>的</a:t>
            </a:r>
            <a:r>
              <a:rPr lang="en-US" altLang="zh-CN"/>
              <a:t>RX1</a:t>
            </a:r>
            <a:r>
              <a:rPr lang="zh-CN" altLang="en-US"/>
              <a:t>和</a:t>
            </a:r>
            <a:r>
              <a:rPr lang="en-US" altLang="zh-CN"/>
              <a:t>RX2</a:t>
            </a:r>
            <a:r>
              <a:rPr lang="zh-CN" altLang="en-US"/>
              <a:t>窗口的基础之上，给网关提供更多的下行窗口</a:t>
            </a:r>
            <a:endParaRPr lang="en-US" altLang="zh-CN"/>
          </a:p>
          <a:p>
            <a:r>
              <a:rPr lang="zh-CN" altLang="en-US"/>
              <a:t>设备通过接收网关周期性发送的</a:t>
            </a:r>
            <a:r>
              <a:rPr lang="en-US" altLang="zh-CN"/>
              <a:t>beacon</a:t>
            </a:r>
            <a:r>
              <a:rPr lang="zh-CN" altLang="en-US"/>
              <a:t>进行同步。在</a:t>
            </a:r>
            <a:r>
              <a:rPr lang="en-US" altLang="zh-CN"/>
              <a:t>beacon</a:t>
            </a:r>
            <a:r>
              <a:rPr lang="zh-CN" altLang="en-US"/>
              <a:t>周期内，设备定时开启</a:t>
            </a:r>
            <a:r>
              <a:rPr lang="en-US" altLang="zh-CN"/>
              <a:t>ping slot</a:t>
            </a:r>
            <a:r>
              <a:rPr lang="zh-CN" altLang="en-US"/>
              <a:t>进行数据的接收。设备以</a:t>
            </a:r>
            <a:r>
              <a:rPr lang="en-US" altLang="zh-CN"/>
              <a:t>beacon</a:t>
            </a:r>
            <a:r>
              <a:rPr lang="zh-CN" altLang="en-US"/>
              <a:t>中包含的时间信息，作为时间参考</a:t>
            </a:r>
            <a:endParaRPr lang="en-US" altLang="zh-CN"/>
          </a:p>
          <a:p>
            <a:r>
              <a:rPr lang="zh-CN" altLang="en-US"/>
              <a:t>设备首先处于</a:t>
            </a:r>
            <a:r>
              <a:rPr lang="en-US" altLang="zh-CN"/>
              <a:t>class A</a:t>
            </a:r>
            <a:r>
              <a:rPr lang="zh-CN" altLang="en-US"/>
              <a:t>状态，搜索到</a:t>
            </a:r>
            <a:r>
              <a:rPr lang="en-US" altLang="zh-CN"/>
              <a:t>beacon</a:t>
            </a:r>
            <a:r>
              <a:rPr lang="zh-CN" altLang="en-US"/>
              <a:t>之后，先通过在上行帧中将</a:t>
            </a:r>
            <a:r>
              <a:rPr lang="en-US" altLang="zh-CN"/>
              <a:t>class B</a:t>
            </a:r>
            <a:r>
              <a:rPr lang="zh-CN" altLang="en-US"/>
              <a:t>位置</a:t>
            </a:r>
            <a:r>
              <a:rPr lang="en-US" altLang="zh-CN"/>
              <a:t>1</a:t>
            </a:r>
            <a:r>
              <a:rPr lang="zh-CN" altLang="en-US"/>
              <a:t>通知网关，再切换到</a:t>
            </a:r>
            <a:r>
              <a:rPr lang="en-US" altLang="zh-CN"/>
              <a:t>class B</a:t>
            </a:r>
          </a:p>
          <a:p>
            <a:r>
              <a:rPr lang="zh-CN" altLang="en-US"/>
              <a:t>设备设置其</a:t>
            </a:r>
            <a:r>
              <a:rPr lang="en-US" altLang="zh-CN"/>
              <a:t>ping slot</a:t>
            </a:r>
            <a:r>
              <a:rPr lang="zh-CN" altLang="en-US"/>
              <a:t>周期，网关设置设备</a:t>
            </a:r>
            <a:r>
              <a:rPr lang="en-US" altLang="zh-CN"/>
              <a:t>ping slot</a:t>
            </a:r>
            <a:r>
              <a:rPr lang="zh-CN" altLang="en-US"/>
              <a:t>的信道和数据率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lvl="1"/>
            <a:endParaRPr lang="en-US" altLang="zh-CN"/>
          </a:p>
          <a:p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215851" y="5309514"/>
            <a:ext cx="7113186" cy="1432930"/>
            <a:chOff x="1215851" y="5309514"/>
            <a:chExt cx="7113186" cy="143293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b="4997"/>
            <a:stretch/>
          </p:blipFill>
          <p:spPr>
            <a:xfrm>
              <a:off x="1215851" y="5309514"/>
              <a:ext cx="7113186" cy="143293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 bwMode="auto">
            <a:xfrm>
              <a:off x="3024554" y="5423079"/>
              <a:ext cx="803869" cy="56270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0B85EE32-F000-48F7-9176-CFBD9C9FC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491214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所有网关同时广播</a:t>
            </a:r>
            <a:r>
              <a:rPr lang="en-US" altLang="zh-CN"/>
              <a:t>beacon</a:t>
            </a:r>
            <a:r>
              <a:rPr lang="zh-CN" altLang="en-US"/>
              <a:t>，设备能接收最强信号的</a:t>
            </a:r>
            <a:r>
              <a:rPr lang="en-US" altLang="zh-CN"/>
              <a:t>beacon</a:t>
            </a:r>
            <a:r>
              <a:rPr lang="zh-CN" altLang="en-US"/>
              <a:t>。根据接收到的</a:t>
            </a:r>
            <a:r>
              <a:rPr lang="en-US" altLang="zh-CN"/>
              <a:t>beacon</a:t>
            </a:r>
            <a:r>
              <a:rPr lang="zh-CN" altLang="en-US"/>
              <a:t>，设备能从中获取时间参考，用于周期性开启接收窗口</a:t>
            </a:r>
            <a:r>
              <a:rPr lang="en-US" altLang="zh-CN"/>
              <a:t>ping slot</a:t>
            </a:r>
          </a:p>
          <a:p>
            <a:r>
              <a:rPr lang="zh-CN" altLang="en-US"/>
              <a:t>由于多个网关能同时收到一个设备发送的上行数据，网络服务器根据接收到的信号强度，选择发送下行数据</a:t>
            </a:r>
            <a:r>
              <a:rPr lang="en-US" altLang="zh-CN"/>
              <a:t>ping</a:t>
            </a:r>
            <a:r>
              <a:rPr lang="zh-CN" altLang="en-US"/>
              <a:t>帧的网关</a:t>
            </a:r>
            <a:endParaRPr lang="en-US" altLang="zh-CN"/>
          </a:p>
          <a:p>
            <a:r>
              <a:rPr lang="zh-CN" altLang="en-US"/>
              <a:t>设备均以</a:t>
            </a:r>
            <a:r>
              <a:rPr lang="en-US" altLang="zh-CN"/>
              <a:t>class A</a:t>
            </a:r>
            <a:r>
              <a:rPr lang="zh-CN" altLang="en-US"/>
              <a:t>入网，此后按需切换成</a:t>
            </a:r>
            <a:r>
              <a:rPr lang="en-US" altLang="zh-CN"/>
              <a:t>class B</a:t>
            </a:r>
          </a:p>
          <a:p>
            <a:pPr lvl="1"/>
            <a:r>
              <a:rPr lang="zh-CN" altLang="en-US"/>
              <a:t>设备搜寻</a:t>
            </a:r>
            <a:r>
              <a:rPr lang="en-US" altLang="zh-CN"/>
              <a:t>beacon</a:t>
            </a:r>
            <a:r>
              <a:rPr lang="zh-CN" altLang="en-US"/>
              <a:t>，可通过</a:t>
            </a:r>
            <a:r>
              <a:rPr lang="en-US" altLang="zh-CN"/>
              <a:t>DeviceTimeReq</a:t>
            </a:r>
            <a:r>
              <a:rPr lang="zh-CN" altLang="en-US"/>
              <a:t>指令加快搜寻</a:t>
            </a:r>
            <a:endParaRPr lang="en-US" altLang="zh-CN"/>
          </a:p>
          <a:p>
            <a:pPr lvl="1"/>
            <a:r>
              <a:rPr lang="zh-CN" altLang="en-US"/>
              <a:t>一旦切换到</a:t>
            </a:r>
            <a:r>
              <a:rPr lang="en-US" altLang="zh-CN"/>
              <a:t>class B</a:t>
            </a:r>
            <a:r>
              <a:rPr lang="zh-CN" altLang="en-US"/>
              <a:t>，设备所有上行数据中</a:t>
            </a:r>
            <a:r>
              <a:rPr lang="en-US" altLang="zh-CN"/>
              <a:t>class B</a:t>
            </a:r>
            <a:r>
              <a:rPr lang="zh-CN" altLang="en-US"/>
              <a:t>位置</a:t>
            </a:r>
            <a:r>
              <a:rPr lang="en-US" altLang="zh-CN"/>
              <a:t>1</a:t>
            </a:r>
          </a:p>
          <a:p>
            <a:pPr lvl="1"/>
            <a:r>
              <a:rPr lang="zh-CN" altLang="en-US"/>
              <a:t>网关通过</a:t>
            </a:r>
            <a:r>
              <a:rPr lang="en-US" altLang="zh-CN"/>
              <a:t>PingSlotChannelReq</a:t>
            </a:r>
            <a:r>
              <a:rPr lang="zh-CN" altLang="en-US"/>
              <a:t>指令修改</a:t>
            </a:r>
            <a:r>
              <a:rPr lang="en-US" altLang="zh-CN"/>
              <a:t>ping slot</a:t>
            </a:r>
            <a:r>
              <a:rPr lang="zh-CN" altLang="en-US"/>
              <a:t>的频率和数据率</a:t>
            </a:r>
            <a:endParaRPr lang="en-US" altLang="zh-CN"/>
          </a:p>
          <a:p>
            <a:pPr lvl="1"/>
            <a:r>
              <a:rPr lang="zh-CN" altLang="en-US"/>
              <a:t>设备先修改自己的</a:t>
            </a:r>
            <a:r>
              <a:rPr lang="en-US" altLang="zh-CN"/>
              <a:t>ping slot</a:t>
            </a:r>
            <a:r>
              <a:rPr lang="zh-CN" altLang="en-US"/>
              <a:t>周期。设备先切到</a:t>
            </a:r>
            <a:r>
              <a:rPr lang="en-US" altLang="zh-CN"/>
              <a:t>class A</a:t>
            </a:r>
            <a:r>
              <a:rPr lang="zh-CN" altLang="en-US"/>
              <a:t>，通过</a:t>
            </a:r>
            <a:r>
              <a:rPr lang="en-US" altLang="zh-CN"/>
              <a:t>PingSlotInfoReq</a:t>
            </a:r>
            <a:r>
              <a:rPr lang="zh-CN" altLang="en-US"/>
              <a:t>通知网关后，再切换到回</a:t>
            </a:r>
            <a:r>
              <a:rPr lang="en-US" altLang="zh-CN"/>
              <a:t>class B</a:t>
            </a:r>
          </a:p>
          <a:p>
            <a:pPr lvl="1"/>
            <a:r>
              <a:rPr lang="en-US" altLang="zh-CN"/>
              <a:t>2</a:t>
            </a:r>
            <a:r>
              <a:rPr lang="zh-CN" altLang="en-US"/>
              <a:t>小时内没有再收到</a:t>
            </a:r>
            <a:r>
              <a:rPr lang="en-US" altLang="zh-CN"/>
              <a:t>beacon</a:t>
            </a:r>
            <a:r>
              <a:rPr lang="zh-CN" altLang="en-US"/>
              <a:t>，设备切回</a:t>
            </a:r>
            <a:r>
              <a:rPr lang="en-US" altLang="zh-CN"/>
              <a:t>class A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497AFAAF-F117-4979-8BCA-F29B079B8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5594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2245" t="33466" r="-2245" b="1469"/>
          <a:stretch/>
        </p:blipFill>
        <p:spPr>
          <a:xfrm>
            <a:off x="958773" y="5180141"/>
            <a:ext cx="7867670" cy="167785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支持单播、多播，多播组的设备共享多播地址和会话密钥</a:t>
            </a:r>
            <a:endParaRPr lang="en-US" altLang="zh-CN" dirty="0"/>
          </a:p>
          <a:p>
            <a:pPr lvl="1"/>
            <a:r>
              <a:rPr lang="zh-CN" altLang="en-US" dirty="0"/>
              <a:t>单播和多播</a:t>
            </a:r>
            <a:r>
              <a:rPr lang="en-US" altLang="zh-CN" dirty="0"/>
              <a:t>ping</a:t>
            </a:r>
            <a:r>
              <a:rPr lang="zh-CN" altLang="en-US" dirty="0"/>
              <a:t>帧和</a:t>
            </a:r>
            <a:r>
              <a:rPr lang="en-US" altLang="zh-CN" dirty="0"/>
              <a:t>class A</a:t>
            </a:r>
            <a:r>
              <a:rPr lang="zh-CN" altLang="en-US" dirty="0"/>
              <a:t>下行帧格式大致一样，除了</a:t>
            </a:r>
            <a:endParaRPr lang="en-US" altLang="zh-CN" dirty="0"/>
          </a:p>
          <a:p>
            <a:pPr lvl="2"/>
            <a:r>
              <a:rPr lang="zh-CN" altLang="en-US" dirty="0"/>
              <a:t>多播帧不携带</a:t>
            </a:r>
            <a:r>
              <a:rPr lang="en-US" altLang="zh-CN" dirty="0"/>
              <a:t>MAC</a:t>
            </a:r>
            <a:r>
              <a:rPr lang="zh-CN" altLang="en-US" dirty="0"/>
              <a:t>指令</a:t>
            </a:r>
            <a:endParaRPr lang="en-US" altLang="zh-CN" dirty="0"/>
          </a:p>
          <a:p>
            <a:pPr lvl="2"/>
            <a:r>
              <a:rPr lang="zh-CN" altLang="en-US" dirty="0"/>
              <a:t>不支持下行</a:t>
            </a:r>
            <a:r>
              <a:rPr lang="en-US" altLang="zh-CN" dirty="0"/>
              <a:t>ACK</a:t>
            </a:r>
          </a:p>
          <a:p>
            <a:pPr lvl="1"/>
            <a:r>
              <a:rPr lang="zh-CN" altLang="en-US" dirty="0"/>
              <a:t>多播建立和密钥分发应用层确定</a:t>
            </a:r>
            <a:endParaRPr lang="en-US" altLang="zh-CN" dirty="0"/>
          </a:p>
          <a:p>
            <a:r>
              <a:rPr lang="zh-CN" altLang="en-US" dirty="0"/>
              <a:t>周期性搜索</a:t>
            </a:r>
            <a:r>
              <a:rPr lang="en-US" altLang="zh-CN" dirty="0"/>
              <a:t>beacon</a:t>
            </a:r>
            <a:r>
              <a:rPr lang="zh-CN" altLang="en-US" dirty="0"/>
              <a:t>，校准网络时间</a:t>
            </a:r>
            <a:endParaRPr lang="en-US" altLang="zh-CN" dirty="0"/>
          </a:p>
          <a:p>
            <a:pPr lvl="1"/>
            <a:r>
              <a:rPr lang="zh-CN" altLang="en-US" dirty="0"/>
              <a:t>暂时搜不到</a:t>
            </a:r>
            <a:r>
              <a:rPr lang="en-US" altLang="zh-CN" dirty="0"/>
              <a:t>beacon</a:t>
            </a:r>
            <a:r>
              <a:rPr lang="zh-CN" altLang="en-US" dirty="0"/>
              <a:t>时，设备逐渐增大</a:t>
            </a:r>
            <a:r>
              <a:rPr lang="en-US" altLang="zh-CN" dirty="0"/>
              <a:t>beacon</a:t>
            </a:r>
            <a:r>
              <a:rPr lang="zh-CN" altLang="en-US" dirty="0"/>
              <a:t>和</a:t>
            </a:r>
            <a:r>
              <a:rPr lang="en-US" altLang="zh-CN" dirty="0"/>
              <a:t>ping</a:t>
            </a:r>
            <a:r>
              <a:rPr lang="zh-CN" altLang="en-US" dirty="0"/>
              <a:t>接收窗口，以应对可能的时钟偏差</a:t>
            </a:r>
            <a:endParaRPr lang="en-US" altLang="zh-CN" dirty="0"/>
          </a:p>
          <a:p>
            <a:pPr lvl="1"/>
            <a:r>
              <a:rPr lang="zh-CN" altLang="en-US" dirty="0"/>
              <a:t>最大能允许丢失</a:t>
            </a:r>
            <a:r>
              <a:rPr lang="en-US" altLang="zh-CN" dirty="0"/>
              <a:t>beacon 2</a:t>
            </a:r>
            <a:r>
              <a:rPr lang="zh-CN" altLang="en-US" dirty="0"/>
              <a:t>小时，在此期间，设备处于</a:t>
            </a:r>
            <a:r>
              <a:rPr lang="en-US" altLang="zh-CN" dirty="0"/>
              <a:t>beacon-less</a:t>
            </a:r>
            <a:r>
              <a:rPr lang="zh-CN" altLang="en-US" dirty="0"/>
              <a:t>状态，按本地时间开启窗口。</a:t>
            </a: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096FC1-F417-4D93-9576-3658B00DB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217165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窗口时隙</a:t>
            </a:r>
            <a:endParaRPr lang="en-US" altLang="zh-CN" dirty="0"/>
          </a:p>
          <a:p>
            <a:pPr lvl="1"/>
            <a:r>
              <a:rPr lang="en-US" altLang="zh-CN" dirty="0"/>
              <a:t>beacon</a:t>
            </a:r>
            <a:r>
              <a:rPr lang="zh-CN" altLang="en-US" dirty="0"/>
              <a:t>在</a:t>
            </a:r>
            <a:r>
              <a:rPr lang="en-US" altLang="zh-CN" dirty="0"/>
              <a:t>BEACON_RESERVED</a:t>
            </a:r>
            <a:r>
              <a:rPr lang="zh-CN" altLang="en-US" dirty="0"/>
              <a:t>起始时发送</a:t>
            </a:r>
            <a:endParaRPr lang="en-US" altLang="zh-CN" dirty="0"/>
          </a:p>
          <a:p>
            <a:pPr lvl="1"/>
            <a:r>
              <a:rPr lang="en-US" altLang="zh-CN" dirty="0"/>
              <a:t>ping slots</a:t>
            </a:r>
            <a:r>
              <a:rPr lang="zh-CN" altLang="en-US" dirty="0"/>
              <a:t>在</a:t>
            </a:r>
            <a:r>
              <a:rPr lang="en-US" altLang="zh-CN" dirty="0"/>
              <a:t>BEACON_WINDOW</a:t>
            </a:r>
            <a:r>
              <a:rPr lang="zh-CN" altLang="en-US" dirty="0"/>
              <a:t>里打开</a:t>
            </a:r>
            <a:endParaRPr lang="en-US" altLang="zh-CN" dirty="0"/>
          </a:p>
        </p:txBody>
      </p:sp>
      <p:grpSp>
        <p:nvGrpSpPr>
          <p:cNvPr id="239" name="组合 238"/>
          <p:cNvGrpSpPr/>
          <p:nvPr/>
        </p:nvGrpSpPr>
        <p:grpSpPr>
          <a:xfrm>
            <a:off x="457200" y="4039567"/>
            <a:ext cx="8393502" cy="2641155"/>
            <a:chOff x="457200" y="3759645"/>
            <a:chExt cx="8393502" cy="2641155"/>
          </a:xfrm>
        </p:grpSpPr>
        <p:sp>
          <p:nvSpPr>
            <p:cNvPr id="161" name="矩形 160"/>
            <p:cNvSpPr/>
            <p:nvPr/>
          </p:nvSpPr>
          <p:spPr>
            <a:xfrm>
              <a:off x="1421653" y="4755870"/>
              <a:ext cx="6461810" cy="78500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1574592" y="6144724"/>
              <a:ext cx="392772" cy="2277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2013239" y="6123801"/>
              <a:ext cx="19209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baseline="0" dirty="0">
                  <a:latin typeface="Times New Roman" pitchFamily="18" charset="0"/>
                </a:rPr>
                <a:t>BEACON_GUARD</a:t>
              </a:r>
              <a:endParaRPr lang="zh-CN" altLang="en-US" sz="1200" b="1" baseline="0" dirty="0">
                <a:latin typeface="Times New Roman" pitchFamily="18" charset="0"/>
              </a:endParaRPr>
            </a:p>
          </p:txBody>
        </p:sp>
        <p:sp>
          <p:nvSpPr>
            <p:cNvPr id="164" name="矩形 163"/>
            <p:cNvSpPr/>
            <p:nvPr/>
          </p:nvSpPr>
          <p:spPr>
            <a:xfrm>
              <a:off x="3934187" y="6144724"/>
              <a:ext cx="392772" cy="2277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4372834" y="6123801"/>
              <a:ext cx="19209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baseline="0" dirty="0">
                  <a:latin typeface="Times New Roman" pitchFamily="18" charset="0"/>
                </a:rPr>
                <a:t>BEACON_RESERVED</a:t>
              </a:r>
              <a:endParaRPr lang="zh-CN" altLang="en-US" sz="1200" b="1" baseline="0" dirty="0">
                <a:latin typeface="Times New Roman" pitchFamily="18" charset="0"/>
              </a:endParaRPr>
            </a:p>
          </p:txBody>
        </p:sp>
        <p:grpSp>
          <p:nvGrpSpPr>
            <p:cNvPr id="166" name="组合 165"/>
            <p:cNvGrpSpPr/>
            <p:nvPr/>
          </p:nvGrpSpPr>
          <p:grpSpPr>
            <a:xfrm>
              <a:off x="457200" y="4755870"/>
              <a:ext cx="8393502" cy="785004"/>
              <a:chOff x="1345181" y="3769743"/>
              <a:chExt cx="8393502" cy="785004"/>
            </a:xfrm>
          </p:grpSpPr>
          <p:sp>
            <p:nvSpPr>
              <p:cNvPr id="167" name="矩形 166"/>
              <p:cNvSpPr/>
              <p:nvPr/>
            </p:nvSpPr>
            <p:spPr>
              <a:xfrm>
                <a:off x="1345181" y="3769743"/>
                <a:ext cx="8393502" cy="785004"/>
              </a:xfrm>
              <a:prstGeom prst="rect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1345181" y="3769743"/>
                <a:ext cx="595763" cy="78500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1940944" y="3769743"/>
                <a:ext cx="371476" cy="78500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8771444" y="3769743"/>
                <a:ext cx="595763" cy="78500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9367207" y="3769743"/>
                <a:ext cx="371476" cy="78500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2" name="直接连接符 171"/>
              <p:cNvCxnSpPr/>
              <p:nvPr/>
            </p:nvCxnSpPr>
            <p:spPr>
              <a:xfrm>
                <a:off x="2424022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>
                <a:off x="2541916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>
                <a:off x="2668436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/>
              <p:cNvCxnSpPr/>
              <p:nvPr/>
            </p:nvCxnSpPr>
            <p:spPr>
              <a:xfrm>
                <a:off x="2792082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>
                <a:off x="2909976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>
                <a:off x="3036496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>
                <a:off x="315727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>
                <a:off x="3275165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>
                <a:off x="3401685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>
                <a:off x="352533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>
                <a:off x="3643225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3769745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>
                <a:off x="3904890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>
                <a:off x="4022784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>
                <a:off x="4149304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>
                <a:off x="4272950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/>
              <p:cNvCxnSpPr/>
              <p:nvPr/>
            </p:nvCxnSpPr>
            <p:spPr>
              <a:xfrm>
                <a:off x="4390844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>
                <a:off x="4517364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>
                <a:off x="4638139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>
                <a:off x="4756033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>
                <a:off x="4882553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 192"/>
              <p:cNvCxnSpPr/>
              <p:nvPr/>
            </p:nvCxnSpPr>
            <p:spPr>
              <a:xfrm>
                <a:off x="5006199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>
                <a:off x="5124093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>
                <a:off x="5250613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>
                <a:off x="5380007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>
                <a:off x="549790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562442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>
                <a:off x="5748067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>
                <a:off x="586596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>
                <a:off x="599248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/>
              <p:cNvCxnSpPr/>
              <p:nvPr/>
            </p:nvCxnSpPr>
            <p:spPr>
              <a:xfrm>
                <a:off x="6113256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>
                <a:off x="6231150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6357670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>
                <a:off x="6481316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>
              <a:xfrm>
                <a:off x="6599210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>
                <a:off x="6725730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>
                <a:off x="6846498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>
                <a:off x="6964392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>
                <a:off x="7090912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>
                <a:off x="7214558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/>
              <p:cNvCxnSpPr/>
              <p:nvPr/>
            </p:nvCxnSpPr>
            <p:spPr>
              <a:xfrm>
                <a:off x="7332452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/>
              <p:cNvCxnSpPr/>
              <p:nvPr/>
            </p:nvCxnSpPr>
            <p:spPr>
              <a:xfrm>
                <a:off x="7458972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/>
              <p:cNvCxnSpPr/>
              <p:nvPr/>
            </p:nvCxnSpPr>
            <p:spPr>
              <a:xfrm>
                <a:off x="7579747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 214"/>
              <p:cNvCxnSpPr/>
              <p:nvPr/>
            </p:nvCxnSpPr>
            <p:spPr>
              <a:xfrm>
                <a:off x="769764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 215"/>
              <p:cNvCxnSpPr/>
              <p:nvPr/>
            </p:nvCxnSpPr>
            <p:spPr>
              <a:xfrm>
                <a:off x="782416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/>
              <p:cNvCxnSpPr/>
              <p:nvPr/>
            </p:nvCxnSpPr>
            <p:spPr>
              <a:xfrm>
                <a:off x="7947807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>
              <a:xfrm>
                <a:off x="806570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 218"/>
              <p:cNvCxnSpPr/>
              <p:nvPr/>
            </p:nvCxnSpPr>
            <p:spPr>
              <a:xfrm>
                <a:off x="819222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/>
              <p:cNvCxnSpPr/>
              <p:nvPr/>
            </p:nvCxnSpPr>
            <p:spPr>
              <a:xfrm>
                <a:off x="8322875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>
                <a:off x="8440769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/>
              <p:cNvCxnSpPr/>
              <p:nvPr/>
            </p:nvCxnSpPr>
            <p:spPr>
              <a:xfrm>
                <a:off x="8567289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>
                <a:off x="866793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4" name="矩形 223"/>
            <p:cNvSpPr/>
            <p:nvPr/>
          </p:nvSpPr>
          <p:spPr>
            <a:xfrm>
              <a:off x="6565244" y="6144724"/>
              <a:ext cx="392772" cy="2277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文本框 224"/>
            <p:cNvSpPr txBox="1"/>
            <p:nvPr/>
          </p:nvSpPr>
          <p:spPr>
            <a:xfrm>
              <a:off x="7003891" y="6123801"/>
              <a:ext cx="769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baseline="0" dirty="0">
                  <a:latin typeface="Times New Roman" pitchFamily="18" charset="0"/>
                </a:rPr>
                <a:t>Ping slot</a:t>
              </a:r>
            </a:p>
          </p:txBody>
        </p:sp>
        <p:cxnSp>
          <p:nvCxnSpPr>
            <p:cNvPr id="226" name="直接连接符 225"/>
            <p:cNvCxnSpPr/>
            <p:nvPr/>
          </p:nvCxnSpPr>
          <p:spPr>
            <a:xfrm flipV="1">
              <a:off x="1421653" y="4297498"/>
              <a:ext cx="0" cy="45837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 flipV="1">
              <a:off x="7883065" y="4297498"/>
              <a:ext cx="0" cy="45837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箭头连接符 227"/>
            <p:cNvCxnSpPr/>
            <p:nvPr/>
          </p:nvCxnSpPr>
          <p:spPr>
            <a:xfrm>
              <a:off x="1414916" y="4566879"/>
              <a:ext cx="646141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文本框 228"/>
            <p:cNvSpPr txBox="1"/>
            <p:nvPr/>
          </p:nvSpPr>
          <p:spPr>
            <a:xfrm>
              <a:off x="3640328" y="4178592"/>
              <a:ext cx="19209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baseline="0" dirty="0">
                  <a:latin typeface="微软雅黑" pitchFamily="34" charset="-122"/>
                  <a:ea typeface="微软雅黑" pitchFamily="34" charset="-122"/>
                </a:rPr>
                <a:t>BEACON_WINDOW</a:t>
              </a:r>
              <a:endParaRPr lang="zh-CN" altLang="en-US" sz="14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30" name="直接箭头连接符 229"/>
            <p:cNvCxnSpPr/>
            <p:nvPr/>
          </p:nvCxnSpPr>
          <p:spPr>
            <a:xfrm>
              <a:off x="1052963" y="4141603"/>
              <a:ext cx="7426263" cy="0"/>
            </a:xfrm>
            <a:prstGeom prst="straightConnector1">
              <a:avLst/>
            </a:prstGeom>
            <a:noFill/>
          </p:spPr>
        </p:cxnSp>
        <p:sp>
          <p:nvSpPr>
            <p:cNvPr id="231" name="文本框 230"/>
            <p:cNvSpPr txBox="1"/>
            <p:nvPr/>
          </p:nvSpPr>
          <p:spPr>
            <a:xfrm>
              <a:off x="3743190" y="3759645"/>
              <a:ext cx="19660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baseline="0" dirty="0">
                  <a:latin typeface="微软雅黑" pitchFamily="34" charset="-122"/>
                  <a:ea typeface="微软雅黑" pitchFamily="34" charset="-122"/>
                </a:rPr>
                <a:t>BEACON_PERIOD</a:t>
              </a:r>
              <a:endParaRPr lang="zh-CN" altLang="en-US" sz="14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32" name="直接连接符 231"/>
            <p:cNvCxnSpPr/>
            <p:nvPr/>
          </p:nvCxnSpPr>
          <p:spPr>
            <a:xfrm>
              <a:off x="8479226" y="3890394"/>
              <a:ext cx="0" cy="86355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>
              <a:off x="1052963" y="3875771"/>
              <a:ext cx="0" cy="86355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34" name="内容占位符 3">
            <a:extLst>
              <a:ext uri="{FF2B5EF4-FFF2-40B4-BE49-F238E27FC236}">
                <a16:creationId xmlns:a16="http://schemas.microsoft.com/office/drawing/2014/main" id="{6DDF7B45-476B-4298-9238-2C3A934DA8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7999969"/>
              </p:ext>
            </p:extLst>
          </p:nvPr>
        </p:nvGraphicFramePr>
        <p:xfrm>
          <a:off x="5469689" y="2312782"/>
          <a:ext cx="3410725" cy="1957505"/>
        </p:xfrm>
        <a:graphic>
          <a:graphicData uri="http://schemas.openxmlformats.org/drawingml/2006/table">
            <a:tbl>
              <a:tblPr firstCol="1" bandRow="1">
                <a:tableStyleId>{93296810-A885-4BE3-A3E7-6D5BEEA58F35}</a:tableStyleId>
              </a:tblPr>
              <a:tblGrid>
                <a:gridCol w="2279929">
                  <a:extLst>
                    <a:ext uri="{9D8B030D-6E8A-4147-A177-3AD203B41FA5}">
                      <a16:colId xmlns:a16="http://schemas.microsoft.com/office/drawing/2014/main" val="3308246398"/>
                    </a:ext>
                  </a:extLst>
                </a:gridCol>
                <a:gridCol w="1130796">
                  <a:extLst>
                    <a:ext uri="{9D8B030D-6E8A-4147-A177-3AD203B41FA5}">
                      <a16:colId xmlns:a16="http://schemas.microsoft.com/office/drawing/2014/main" val="3823181161"/>
                    </a:ext>
                  </a:extLst>
                </a:gridCol>
              </a:tblGrid>
              <a:tr h="37501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BEACON_PERIOD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128s</a:t>
                      </a:r>
                      <a:endParaRPr 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4580665"/>
                  </a:ext>
                </a:extLst>
              </a:tr>
              <a:tr h="4135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BEACON_RESERVED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2.12s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22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+mj-ea"/>
                          <a:ea typeface="+mj-ea"/>
                        </a:rPr>
                        <a:t>BEACON_GUARD</a:t>
                      </a:r>
                      <a:endParaRPr lang="zh-CN" sz="16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3s</a:t>
                      </a:r>
                      <a:endParaRPr lang="zh-CN" alt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7253982"/>
                  </a:ext>
                </a:extLst>
              </a:tr>
              <a:tr h="39783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BEACON_WINDOW</a:t>
                      </a:r>
                      <a:endParaRPr lang="zh-CN" sz="16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>
                          <a:effectLst/>
                          <a:latin typeface="+mj-ea"/>
                          <a:ea typeface="+mj-ea"/>
                        </a:rPr>
                        <a:t>122.88s</a:t>
                      </a:r>
                      <a:endParaRPr lang="zh-CN" altLang="zh-CN" sz="18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83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effectLst/>
                          <a:latin typeface="+mj-ea"/>
                          <a:ea typeface="+mj-ea"/>
                        </a:rPr>
                        <a:t>Slot length</a:t>
                      </a:r>
                      <a:endParaRPr lang="zh-CN" sz="160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j-ea"/>
                          <a:ea typeface="+mj-ea"/>
                        </a:rPr>
                        <a:t>30ms</a:t>
                      </a:r>
                      <a:endParaRPr lang="zh-CN" altLang="zh-CN" sz="18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35" name="组合 234"/>
          <p:cNvGrpSpPr/>
          <p:nvPr/>
        </p:nvGrpSpPr>
        <p:grpSpPr>
          <a:xfrm>
            <a:off x="4110918" y="5227594"/>
            <a:ext cx="1100422" cy="466947"/>
            <a:chOff x="6845021" y="4729127"/>
            <a:chExt cx="1100422" cy="466947"/>
          </a:xfrm>
        </p:grpSpPr>
        <p:sp>
          <p:nvSpPr>
            <p:cNvPr id="236" name="矩形 235"/>
            <p:cNvSpPr/>
            <p:nvPr/>
          </p:nvSpPr>
          <p:spPr bwMode="auto">
            <a:xfrm>
              <a:off x="6868937" y="4729127"/>
              <a:ext cx="1052591" cy="4669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6845021" y="4817289"/>
              <a:ext cx="1100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   4096</a:t>
              </a:r>
              <a:r>
                <a:rPr lang="zh-CN" altLang="en-US" sz="1400" b="1" baseline="0">
                  <a:latin typeface="微软雅黑" pitchFamily="34" charset="-122"/>
                  <a:ea typeface="微软雅黑" pitchFamily="34" charset="-122"/>
                </a:rPr>
                <a:t>个</a:t>
              </a:r>
            </a:p>
          </p:txBody>
        </p:sp>
      </p:grpSp>
      <p:cxnSp>
        <p:nvCxnSpPr>
          <p:cNvPr id="240" name="直接箭头连接符 239"/>
          <p:cNvCxnSpPr/>
          <p:nvPr/>
        </p:nvCxnSpPr>
        <p:spPr>
          <a:xfrm>
            <a:off x="1052963" y="4421525"/>
            <a:ext cx="7426263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灯片编号占位符 4">
            <a:extLst>
              <a:ext uri="{FF2B5EF4-FFF2-40B4-BE49-F238E27FC236}">
                <a16:creationId xmlns:a16="http://schemas.microsoft.com/office/drawing/2014/main" id="{8BAFFC6A-7BDC-41B4-B78A-A1B5AEF68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32550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/>
              <a:t>Class B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3333422-C6E8-4CEB-94C9-CB66DDA54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窗口时隙</a:t>
            </a:r>
          </a:p>
        </p:txBody>
      </p:sp>
      <p:grpSp>
        <p:nvGrpSpPr>
          <p:cNvPr id="239" name="组合 238"/>
          <p:cNvGrpSpPr/>
          <p:nvPr/>
        </p:nvGrpSpPr>
        <p:grpSpPr>
          <a:xfrm>
            <a:off x="457200" y="4730991"/>
            <a:ext cx="8393502" cy="1644930"/>
            <a:chOff x="457200" y="4755870"/>
            <a:chExt cx="8393502" cy="1644930"/>
          </a:xfrm>
        </p:grpSpPr>
        <p:sp>
          <p:nvSpPr>
            <p:cNvPr id="161" name="矩形 160"/>
            <p:cNvSpPr/>
            <p:nvPr/>
          </p:nvSpPr>
          <p:spPr>
            <a:xfrm>
              <a:off x="1421653" y="4755870"/>
              <a:ext cx="6461810" cy="78500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1574592" y="6144724"/>
              <a:ext cx="392772" cy="2277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2013239" y="6123801"/>
              <a:ext cx="19209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baseline="0" dirty="0">
                  <a:latin typeface="Times New Roman" pitchFamily="18" charset="0"/>
                </a:rPr>
                <a:t>BEACON_GUARD</a:t>
              </a:r>
              <a:endParaRPr lang="zh-CN" altLang="en-US" sz="1200" b="1" baseline="0" dirty="0">
                <a:latin typeface="Times New Roman" pitchFamily="18" charset="0"/>
              </a:endParaRPr>
            </a:p>
          </p:txBody>
        </p:sp>
        <p:sp>
          <p:nvSpPr>
            <p:cNvPr id="164" name="矩形 163"/>
            <p:cNvSpPr/>
            <p:nvPr/>
          </p:nvSpPr>
          <p:spPr>
            <a:xfrm>
              <a:off x="3934187" y="6144724"/>
              <a:ext cx="392772" cy="2277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4372834" y="6123801"/>
              <a:ext cx="19209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baseline="0" dirty="0">
                  <a:latin typeface="Times New Roman" pitchFamily="18" charset="0"/>
                </a:rPr>
                <a:t>BEACON_RESERVED</a:t>
              </a:r>
              <a:endParaRPr lang="zh-CN" altLang="en-US" sz="1200" b="1" baseline="0" dirty="0">
                <a:latin typeface="Times New Roman" pitchFamily="18" charset="0"/>
              </a:endParaRPr>
            </a:p>
          </p:txBody>
        </p:sp>
        <p:grpSp>
          <p:nvGrpSpPr>
            <p:cNvPr id="166" name="组合 165"/>
            <p:cNvGrpSpPr/>
            <p:nvPr/>
          </p:nvGrpSpPr>
          <p:grpSpPr>
            <a:xfrm>
              <a:off x="457200" y="4755870"/>
              <a:ext cx="8393502" cy="785004"/>
              <a:chOff x="1345181" y="3769743"/>
              <a:chExt cx="8393502" cy="785004"/>
            </a:xfrm>
          </p:grpSpPr>
          <p:sp>
            <p:nvSpPr>
              <p:cNvPr id="167" name="矩形 166"/>
              <p:cNvSpPr/>
              <p:nvPr/>
            </p:nvSpPr>
            <p:spPr>
              <a:xfrm>
                <a:off x="1345181" y="3769743"/>
                <a:ext cx="8393502" cy="785004"/>
              </a:xfrm>
              <a:prstGeom prst="rect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1345181" y="3769743"/>
                <a:ext cx="595763" cy="78500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1940944" y="3769743"/>
                <a:ext cx="371476" cy="78500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8771444" y="3769743"/>
                <a:ext cx="595763" cy="78500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9367207" y="3769743"/>
                <a:ext cx="371476" cy="78500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2" name="直接连接符 171"/>
              <p:cNvCxnSpPr/>
              <p:nvPr/>
            </p:nvCxnSpPr>
            <p:spPr>
              <a:xfrm>
                <a:off x="2424022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>
                <a:off x="2541916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>
                <a:off x="2668436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/>
              <p:cNvCxnSpPr/>
              <p:nvPr/>
            </p:nvCxnSpPr>
            <p:spPr>
              <a:xfrm>
                <a:off x="2792082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>
                <a:off x="2909976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>
                <a:off x="3036496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>
                <a:off x="315727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>
                <a:off x="3275165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>
                <a:off x="3401685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>
                <a:off x="352533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>
                <a:off x="4149304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>
                <a:off x="4272950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/>
              <p:cNvCxnSpPr/>
              <p:nvPr/>
            </p:nvCxnSpPr>
            <p:spPr>
              <a:xfrm>
                <a:off x="4390844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>
                <a:off x="4517364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>
                <a:off x="4638139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>
                <a:off x="4756033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>
                <a:off x="5124093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 194"/>
              <p:cNvCxnSpPr/>
              <p:nvPr/>
            </p:nvCxnSpPr>
            <p:spPr>
              <a:xfrm>
                <a:off x="5250613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>
                <a:off x="5380007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>
                <a:off x="549790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562442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>
                <a:off x="5748067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/>
              <p:cNvCxnSpPr/>
              <p:nvPr/>
            </p:nvCxnSpPr>
            <p:spPr>
              <a:xfrm>
                <a:off x="586596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/>
              <p:cNvCxnSpPr/>
              <p:nvPr/>
            </p:nvCxnSpPr>
            <p:spPr>
              <a:xfrm>
                <a:off x="599248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6357670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>
                <a:off x="6481316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>
              <a:xfrm>
                <a:off x="6599210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>
                <a:off x="6725730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>
                <a:off x="6846498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>
                <a:off x="6964392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>
                <a:off x="7090912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>
                <a:off x="7214558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 213"/>
              <p:cNvCxnSpPr/>
              <p:nvPr/>
            </p:nvCxnSpPr>
            <p:spPr>
              <a:xfrm>
                <a:off x="7579747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 214"/>
              <p:cNvCxnSpPr/>
              <p:nvPr/>
            </p:nvCxnSpPr>
            <p:spPr>
              <a:xfrm>
                <a:off x="769764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 215"/>
              <p:cNvCxnSpPr/>
              <p:nvPr/>
            </p:nvCxnSpPr>
            <p:spPr>
              <a:xfrm>
                <a:off x="782416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 216"/>
              <p:cNvCxnSpPr/>
              <p:nvPr/>
            </p:nvCxnSpPr>
            <p:spPr>
              <a:xfrm>
                <a:off x="7947807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 217"/>
              <p:cNvCxnSpPr/>
              <p:nvPr/>
            </p:nvCxnSpPr>
            <p:spPr>
              <a:xfrm>
                <a:off x="806570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 218"/>
              <p:cNvCxnSpPr/>
              <p:nvPr/>
            </p:nvCxnSpPr>
            <p:spPr>
              <a:xfrm>
                <a:off x="819222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 219"/>
              <p:cNvCxnSpPr/>
              <p:nvPr/>
            </p:nvCxnSpPr>
            <p:spPr>
              <a:xfrm>
                <a:off x="8322875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 220"/>
              <p:cNvCxnSpPr/>
              <p:nvPr/>
            </p:nvCxnSpPr>
            <p:spPr>
              <a:xfrm>
                <a:off x="8440769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 221"/>
              <p:cNvCxnSpPr/>
              <p:nvPr/>
            </p:nvCxnSpPr>
            <p:spPr>
              <a:xfrm>
                <a:off x="8567289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 222"/>
              <p:cNvCxnSpPr/>
              <p:nvPr/>
            </p:nvCxnSpPr>
            <p:spPr>
              <a:xfrm>
                <a:off x="8667931" y="3769743"/>
                <a:ext cx="0" cy="78500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4" name="矩形 223"/>
            <p:cNvSpPr/>
            <p:nvPr/>
          </p:nvSpPr>
          <p:spPr>
            <a:xfrm>
              <a:off x="6565244" y="6144724"/>
              <a:ext cx="392772" cy="22770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文本框 224"/>
            <p:cNvSpPr txBox="1"/>
            <p:nvPr/>
          </p:nvSpPr>
          <p:spPr>
            <a:xfrm>
              <a:off x="7003891" y="6123801"/>
              <a:ext cx="7690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baseline="0" dirty="0">
                  <a:latin typeface="Times New Roman" pitchFamily="18" charset="0"/>
                </a:rPr>
                <a:t>Ping slot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2" name="内容占位符 3">
                <a:extLst>
                  <a:ext uri="{FF2B5EF4-FFF2-40B4-BE49-F238E27FC236}">
                    <a16:creationId xmlns:a16="http://schemas.microsoft.com/office/drawing/2014/main" id="{6DDF7B45-476B-4298-9238-2C3A934DA8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99672264"/>
                  </p:ext>
                </p:extLst>
              </p:nvPr>
            </p:nvGraphicFramePr>
            <p:xfrm>
              <a:off x="1110368" y="2261248"/>
              <a:ext cx="7084379" cy="1203483"/>
            </p:xfrm>
            <a:graphic>
              <a:graphicData uri="http://schemas.openxmlformats.org/drawingml/2006/table">
                <a:tbl>
                  <a:tblPr firstCol="1" bandRow="1">
                    <a:tableStyleId>{93296810-A885-4BE3-A3E7-6D5BEEA58F35}</a:tableStyleId>
                  </a:tblPr>
                  <a:tblGrid>
                    <a:gridCol w="1681954">
                      <a:extLst>
                        <a:ext uri="{9D8B030D-6E8A-4147-A177-3AD203B41FA5}">
                          <a16:colId xmlns:a16="http://schemas.microsoft.com/office/drawing/2014/main" val="3308246398"/>
                        </a:ext>
                      </a:extLst>
                    </a:gridCol>
                    <a:gridCol w="5402425">
                      <a:extLst>
                        <a:ext uri="{9D8B030D-6E8A-4147-A177-3AD203B41FA5}">
                          <a16:colId xmlns:a16="http://schemas.microsoft.com/office/drawing/2014/main" val="3823181161"/>
                        </a:ext>
                      </a:extLst>
                    </a:gridCol>
                  </a:tblGrid>
                  <a:tr h="40780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altLang="zh-CN" sz="1800" kern="100" dirty="0" err="1">
                              <a:effectLst/>
                              <a:latin typeface="+mj-ea"/>
                              <a:ea typeface="+mj-ea"/>
                            </a:rPr>
                            <a:t>pingNb</a:t>
                          </a:r>
                          <a:endParaRPr lang="zh-CN" sz="1800" kern="100" dirty="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zh-CN" altLang="en-US" sz="1800" kern="100">
                              <a:effectLst/>
                              <a:latin typeface="+mj-ea"/>
                              <a:ea typeface="+mj-ea"/>
                            </a:rPr>
                            <a:t>实际可用</a:t>
                          </a:r>
                          <a:r>
                            <a:rPr lang="en-US" altLang="zh-CN" sz="1800" kern="100">
                              <a:effectLst/>
                              <a:latin typeface="+mj-ea"/>
                              <a:ea typeface="+mj-ea"/>
                            </a:rPr>
                            <a:t>ping slot</a:t>
                          </a:r>
                          <a:r>
                            <a:rPr lang="zh-CN" altLang="en-US" sz="1800" kern="100">
                              <a:effectLst/>
                              <a:latin typeface="+mj-ea"/>
                              <a:ea typeface="+mj-ea"/>
                            </a:rPr>
                            <a:t>数量，为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800" i="1" kern="100" smtClean="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kern="100" smtClean="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 kern="100" smtClean="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k</m:t>
                                  </m:r>
                                </m:sup>
                              </m:sSup>
                              <m:r>
                                <a:rPr lang="zh-CN" altLang="en-US" sz="1800" kern="100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，</m:t>
                              </m:r>
                              <m:r>
                                <a:rPr lang="en-US" altLang="zh-CN" sz="1800" kern="100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0≤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kern="100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k</m:t>
                              </m:r>
                              <m:r>
                                <a:rPr lang="en-US" altLang="zh-CN" sz="1800" kern="100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≤7</m:t>
                              </m:r>
                            </m:oMath>
                          </a14:m>
                          <a:endParaRPr lang="zh-CN" sz="1800" kern="10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044580665"/>
                      </a:ext>
                    </a:extLst>
                  </a:tr>
                  <a:tr h="39783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altLang="zh-CN" sz="1800" kern="100" dirty="0" err="1">
                              <a:effectLst/>
                              <a:latin typeface="+mj-ea"/>
                              <a:ea typeface="+mj-ea"/>
                            </a:rPr>
                            <a:t>pingPeriod</a:t>
                          </a:r>
                          <a:endParaRPr lang="zh-CN" sz="1800" kern="100" dirty="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zh-CN" altLang="en-US" sz="1800" kern="100">
                              <a:effectLst/>
                              <a:latin typeface="+mj-ea"/>
                              <a:ea typeface="+mj-ea"/>
                            </a:rPr>
                            <a:t>可用</a:t>
                          </a:r>
                          <a:r>
                            <a:rPr lang="en-US" altLang="zh-CN" sz="1800" kern="100">
                              <a:effectLst/>
                              <a:latin typeface="+mj-ea"/>
                              <a:ea typeface="+mj-ea"/>
                            </a:rPr>
                            <a:t>ping slot</a:t>
                          </a:r>
                          <a:r>
                            <a:rPr lang="zh-CN" altLang="en-US" sz="1800" kern="100">
                              <a:effectLst/>
                              <a:latin typeface="+mj-ea"/>
                              <a:ea typeface="+mj-ea"/>
                            </a:rPr>
                            <a:t>间间隔，为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800" i="1" kern="100" smtClean="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kern="100" smtClean="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1800" kern="100" smtClean="0"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12</m:t>
                                  </m:r>
                                </m:sup>
                              </m:sSup>
                              <m:r>
                                <a:rPr lang="en-US" altLang="zh-CN" sz="1800" kern="100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/</m:t>
                              </m:r>
                              <m:r>
                                <a:rPr lang="en-US" altLang="zh-CN" sz="1800" kern="100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𝑝𝑖𝑛𝑔𝑁𝑏</m:t>
                              </m:r>
                            </m:oMath>
                          </a14:m>
                          <a:endParaRPr lang="zh-CN" sz="1800" kern="10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783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altLang="zh-CN" sz="1800" kern="100" dirty="0" err="1">
                              <a:effectLst/>
                              <a:latin typeface="+mj-ea"/>
                              <a:ea typeface="+mj-ea"/>
                            </a:rPr>
                            <a:t>pingOffset</a:t>
                          </a:r>
                          <a:endParaRPr lang="zh-CN" sz="1800" kern="100" dirty="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zh-CN" altLang="en-US" sz="1800" kern="100" dirty="0">
                              <a:effectLst/>
                              <a:latin typeface="+mj-ea"/>
                              <a:ea typeface="+mj-ea"/>
                            </a:rPr>
                            <a:t>第一个可用</a:t>
                          </a:r>
                          <a:r>
                            <a:rPr lang="en-US" altLang="zh-CN" sz="1800" kern="100" dirty="0">
                              <a:effectLst/>
                              <a:latin typeface="+mj-ea"/>
                              <a:ea typeface="+mj-ea"/>
                            </a:rPr>
                            <a:t>ping slot</a:t>
                          </a:r>
                          <a:r>
                            <a:rPr lang="zh-CN" altLang="en-US" sz="1800" kern="100" dirty="0">
                              <a:effectLst/>
                              <a:latin typeface="+mj-ea"/>
                              <a:ea typeface="+mj-ea"/>
                            </a:rPr>
                            <a:t>的偏移，为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kern="100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[0, </m:t>
                              </m:r>
                              <m:r>
                                <a:rPr lang="en-US" altLang="zh-CN" sz="1800" kern="100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𝑝𝑖𝑛𝑔𝑃𝑒𝑟𝑖𝑜𝑑</m:t>
                              </m:r>
                              <m:r>
                                <a:rPr lang="en-US" altLang="zh-CN" sz="1800" kern="100" smtClean="0"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  <m:t>−1]</m:t>
                              </m:r>
                            </m:oMath>
                          </a14:m>
                          <a:endParaRPr lang="zh-CN" altLang="zh-CN" sz="1800" kern="100" dirty="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772539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2" name="内容占位符 3">
                <a:extLst>
                  <a:ext uri="{FF2B5EF4-FFF2-40B4-BE49-F238E27FC236}">
                    <a16:creationId xmlns:a16="http://schemas.microsoft.com/office/drawing/2014/main" id="{6DDF7B45-476B-4298-9238-2C3A934DA8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99672264"/>
                  </p:ext>
                </p:extLst>
              </p:nvPr>
            </p:nvGraphicFramePr>
            <p:xfrm>
              <a:off x="1110368" y="2261248"/>
              <a:ext cx="7084379" cy="1203483"/>
            </p:xfrm>
            <a:graphic>
              <a:graphicData uri="http://schemas.openxmlformats.org/drawingml/2006/table">
                <a:tbl>
                  <a:tblPr firstCol="1" bandRow="1">
                    <a:tableStyleId>{93296810-A885-4BE3-A3E7-6D5BEEA58F35}</a:tableStyleId>
                  </a:tblPr>
                  <a:tblGrid>
                    <a:gridCol w="1681954">
                      <a:extLst>
                        <a:ext uri="{9D8B030D-6E8A-4147-A177-3AD203B41FA5}">
                          <a16:colId xmlns:a16="http://schemas.microsoft.com/office/drawing/2014/main" val="3308246398"/>
                        </a:ext>
                      </a:extLst>
                    </a:gridCol>
                    <a:gridCol w="5402425">
                      <a:extLst>
                        <a:ext uri="{9D8B030D-6E8A-4147-A177-3AD203B41FA5}">
                          <a16:colId xmlns:a16="http://schemas.microsoft.com/office/drawing/2014/main" val="3823181161"/>
                        </a:ext>
                      </a:extLst>
                    </a:gridCol>
                  </a:tblGrid>
                  <a:tr h="40780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altLang="zh-CN" sz="1800" kern="100" dirty="0" err="1">
                              <a:effectLst/>
                              <a:latin typeface="+mj-ea"/>
                              <a:ea typeface="+mj-ea"/>
                            </a:rPr>
                            <a:t>pingNb</a:t>
                          </a:r>
                          <a:endParaRPr lang="zh-CN" sz="1800" kern="100" dirty="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1229" t="-1493" r="-225" b="-2164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4580665"/>
                      </a:ext>
                    </a:extLst>
                  </a:tr>
                  <a:tr h="39783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altLang="zh-CN" sz="1800" kern="100" dirty="0" err="1">
                              <a:effectLst/>
                              <a:latin typeface="+mj-ea"/>
                              <a:ea typeface="+mj-ea"/>
                            </a:rPr>
                            <a:t>pingPeriod</a:t>
                          </a:r>
                          <a:endParaRPr lang="zh-CN" sz="1800" kern="100" dirty="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1229" t="-103030" r="-225" b="-1196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783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altLang="zh-CN" sz="1800" kern="100" dirty="0" err="1">
                              <a:effectLst/>
                              <a:latin typeface="+mj-ea"/>
                              <a:ea typeface="+mj-ea"/>
                            </a:rPr>
                            <a:t>pingOffset</a:t>
                          </a:r>
                          <a:endParaRPr lang="zh-CN" sz="1800" kern="100" dirty="0">
                            <a:effectLst/>
                            <a:latin typeface="+mj-ea"/>
                            <a:ea typeface="+mj-ea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1229" t="-203030" r="-225" b="-196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72539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矩形 3"/>
          <p:cNvSpPr/>
          <p:nvPr/>
        </p:nvSpPr>
        <p:spPr bwMode="auto">
          <a:xfrm>
            <a:off x="2145641" y="4728068"/>
            <a:ext cx="120240" cy="7998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84" name="矩形 83"/>
          <p:cNvSpPr/>
          <p:nvPr/>
        </p:nvSpPr>
        <p:spPr bwMode="auto">
          <a:xfrm>
            <a:off x="3382091" y="4728068"/>
            <a:ext cx="120240" cy="7998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3743190" y="3734766"/>
            <a:ext cx="1966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3016909" y="4730991"/>
            <a:ext cx="0" cy="785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3134803" y="4730991"/>
            <a:ext cx="0" cy="785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 bwMode="auto">
          <a:xfrm>
            <a:off x="4615243" y="4728068"/>
            <a:ext cx="120240" cy="7998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5839501" y="4728068"/>
            <a:ext cx="120240" cy="7998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65033" y="4723568"/>
            <a:ext cx="120240" cy="7998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2646589" y="4969604"/>
            <a:ext cx="431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882942" y="4969604"/>
            <a:ext cx="431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5107476" y="4969604"/>
            <a:ext cx="431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6333585" y="4967481"/>
            <a:ext cx="431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8" name="直接连接符 97"/>
          <p:cNvCxnSpPr/>
          <p:nvPr/>
        </p:nvCxnSpPr>
        <p:spPr>
          <a:xfrm flipV="1">
            <a:off x="4616374" y="4284575"/>
            <a:ext cx="0" cy="45837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 flipH="1" flipV="1">
            <a:off x="5837749" y="4284575"/>
            <a:ext cx="642" cy="41805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>
            <a:off x="4609637" y="4553956"/>
            <a:ext cx="1236450" cy="14127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4690486" y="3926189"/>
            <a:ext cx="1248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pingPeriod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3" name="直接连接符 102"/>
          <p:cNvCxnSpPr/>
          <p:nvPr/>
        </p:nvCxnSpPr>
        <p:spPr>
          <a:xfrm flipV="1">
            <a:off x="1427483" y="4284575"/>
            <a:ext cx="0" cy="45837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V="1">
            <a:off x="2145641" y="4284575"/>
            <a:ext cx="0" cy="41805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>
            <a:off x="1420746" y="4553956"/>
            <a:ext cx="72489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1238701" y="3926189"/>
            <a:ext cx="1248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pingOffset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灯片编号占位符 4">
            <a:extLst>
              <a:ext uri="{FF2B5EF4-FFF2-40B4-BE49-F238E27FC236}">
                <a16:creationId xmlns:a16="http://schemas.microsoft.com/office/drawing/2014/main" id="{C192E962-4471-48C9-AA32-51204CB36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156476"/>
      </p:ext>
    </p:extLst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B</a:t>
            </a:r>
            <a:endParaRPr lang="zh-CN" altLang="en-US" dirty="0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2162896E-A8D0-4268-825C-FEBE7FE10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数据传输</a:t>
            </a:r>
          </a:p>
          <a:p>
            <a:pPr lvl="1"/>
            <a:r>
              <a:rPr lang="en-US" altLang="zh-CN"/>
              <a:t>Confirmed Downlink</a:t>
            </a:r>
          </a:p>
          <a:p>
            <a:pPr lvl="2"/>
            <a:r>
              <a:rPr lang="zh-CN" altLang="en-US"/>
              <a:t>未收到</a:t>
            </a:r>
            <a:r>
              <a:rPr lang="en-US" altLang="zh-CN"/>
              <a:t>ACK</a:t>
            </a:r>
          </a:p>
          <a:p>
            <a:pPr lvl="2"/>
            <a:r>
              <a:rPr lang="zh-CN" altLang="en-US"/>
              <a:t>网关可利用</a:t>
            </a:r>
            <a:r>
              <a:rPr lang="en-US" altLang="zh-CN"/>
              <a:t>RX1</a:t>
            </a:r>
            <a:r>
              <a:rPr lang="zh-CN" altLang="en-US"/>
              <a:t>、</a:t>
            </a:r>
            <a:r>
              <a:rPr lang="en-US" altLang="zh-CN"/>
              <a:t>RX2</a:t>
            </a:r>
            <a:r>
              <a:rPr lang="zh-CN" altLang="en-US"/>
              <a:t>和</a:t>
            </a:r>
            <a:r>
              <a:rPr lang="en-US" altLang="zh-CN"/>
              <a:t>slot</a:t>
            </a:r>
            <a:r>
              <a:rPr lang="zh-CN" altLang="en-US"/>
              <a:t>重传</a:t>
            </a:r>
          </a:p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203032" y="2867590"/>
            <a:ext cx="8814135" cy="2561097"/>
            <a:chOff x="203032" y="2867590"/>
            <a:chExt cx="8814135" cy="2561097"/>
          </a:xfrm>
        </p:grpSpPr>
        <p:grpSp>
          <p:nvGrpSpPr>
            <p:cNvPr id="8" name="组合 7"/>
            <p:cNvGrpSpPr/>
            <p:nvPr/>
          </p:nvGrpSpPr>
          <p:grpSpPr>
            <a:xfrm>
              <a:off x="203032" y="2867590"/>
              <a:ext cx="8814135" cy="2561097"/>
              <a:chOff x="105930" y="2692496"/>
              <a:chExt cx="8814135" cy="2561097"/>
            </a:xfrm>
          </p:grpSpPr>
          <p:cxnSp>
            <p:nvCxnSpPr>
              <p:cNvPr id="16" name="直接连接符 15"/>
              <p:cNvCxnSpPr/>
              <p:nvPr/>
            </p:nvCxnSpPr>
            <p:spPr bwMode="auto">
              <a:xfrm flipV="1">
                <a:off x="921363" y="5068927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" name="文本框 16"/>
              <p:cNvSpPr txBox="1"/>
              <p:nvPr/>
            </p:nvSpPr>
            <p:spPr>
              <a:xfrm>
                <a:off x="105930" y="2692496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网关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05930" y="4884261"/>
                <a:ext cx="663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1800" b="1" baseline="0">
                    <a:latin typeface="微软雅黑" pitchFamily="34" charset="-122"/>
                    <a:ea typeface="微软雅黑" pitchFamily="34" charset="-122"/>
                  </a:rPr>
                  <a:t>设备</a:t>
                </a:r>
                <a:endParaRPr lang="zh-CN" altLang="en-US" sz="1800" b="1" baseline="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下箭头 18"/>
              <p:cNvSpPr/>
              <p:nvPr/>
            </p:nvSpPr>
            <p:spPr bwMode="auto">
              <a:xfrm rot="10800000">
                <a:off x="3406320" y="2877162"/>
                <a:ext cx="430924" cy="2191765"/>
              </a:xfrm>
              <a:prstGeom prst="down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bg1"/>
                  </a:buClr>
                  <a:buSzPct val="100000"/>
                  <a:buFontTx/>
                  <a:buNone/>
                  <a:tabLst/>
                </a:pPr>
                <a:endParaRPr kumimoji="0" lang="zh-CN" alt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cxnSp>
            <p:nvCxnSpPr>
              <p:cNvPr id="20" name="直接连接符 19"/>
              <p:cNvCxnSpPr/>
              <p:nvPr/>
            </p:nvCxnSpPr>
            <p:spPr bwMode="auto">
              <a:xfrm flipV="1">
                <a:off x="921363" y="2851618"/>
                <a:ext cx="7998702" cy="173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9" name="文本框 8"/>
            <p:cNvSpPr txBox="1"/>
            <p:nvPr/>
          </p:nvSpPr>
          <p:spPr>
            <a:xfrm>
              <a:off x="3790549" y="3374550"/>
              <a:ext cx="802426" cy="307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ACK=1</a:t>
              </a:r>
              <a:endParaRPr lang="zh-CN" altLang="en-US" sz="14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09884" y="3033129"/>
            <a:ext cx="1055629" cy="2210892"/>
            <a:chOff x="909884" y="3033129"/>
            <a:chExt cx="1055629" cy="2210892"/>
          </a:xfrm>
        </p:grpSpPr>
        <p:sp>
          <p:nvSpPr>
            <p:cNvPr id="28" name="下箭头 27"/>
            <p:cNvSpPr/>
            <p:nvPr/>
          </p:nvSpPr>
          <p:spPr bwMode="auto">
            <a:xfrm>
              <a:off x="1089311" y="3033129"/>
              <a:ext cx="658572" cy="2210892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09884" y="3898406"/>
              <a:ext cx="105562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800" b="1" baseline="0">
                  <a:latin typeface="微软雅黑" pitchFamily="34" charset="-122"/>
                  <a:ea typeface="微软雅黑" pitchFamily="34" charset="-122"/>
                </a:rPr>
                <a:t>Beacon</a:t>
              </a:r>
              <a:endParaRPr lang="zh-CN" altLang="en-US" sz="180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922833" y="3023911"/>
            <a:ext cx="1055629" cy="2210892"/>
            <a:chOff x="909884" y="3033129"/>
            <a:chExt cx="1055629" cy="2210892"/>
          </a:xfrm>
        </p:grpSpPr>
        <p:sp>
          <p:nvSpPr>
            <p:cNvPr id="30" name="下箭头 29"/>
            <p:cNvSpPr/>
            <p:nvPr/>
          </p:nvSpPr>
          <p:spPr bwMode="auto">
            <a:xfrm>
              <a:off x="1089311" y="3033129"/>
              <a:ext cx="658572" cy="2210892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09884" y="3898406"/>
              <a:ext cx="105562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800" b="1" baseline="0">
                  <a:latin typeface="微软雅黑" pitchFamily="34" charset="-122"/>
                  <a:ea typeface="微软雅黑" pitchFamily="34" charset="-122"/>
                </a:rPr>
                <a:t>Beacon</a:t>
              </a:r>
              <a:endParaRPr lang="zh-CN" altLang="en-US" sz="1800"/>
            </a:p>
          </p:txBody>
        </p:sp>
      </p:grpSp>
      <p:sp>
        <p:nvSpPr>
          <p:cNvPr id="32" name="下箭头 31"/>
          <p:cNvSpPr/>
          <p:nvPr/>
        </p:nvSpPr>
        <p:spPr bwMode="auto">
          <a:xfrm>
            <a:off x="2195413" y="3023911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470722" y="3360188"/>
            <a:ext cx="129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Mtype=101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056133" y="5296972"/>
            <a:ext cx="709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Slot</a:t>
            </a:r>
            <a:r>
              <a:rPr lang="zh-CN" altLang="en-US" sz="1400" b="1" baseline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35" name="十字形 34"/>
          <p:cNvSpPr/>
          <p:nvPr/>
        </p:nvSpPr>
        <p:spPr bwMode="auto">
          <a:xfrm rot="2538496">
            <a:off x="2636262" y="3927040"/>
            <a:ext cx="402529" cy="429208"/>
          </a:xfrm>
          <a:prstGeom prst="plus">
            <a:avLst>
              <a:gd name="adj" fmla="val 39157"/>
            </a:avLst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6" name="十字形 35"/>
          <p:cNvSpPr/>
          <p:nvPr/>
        </p:nvSpPr>
        <p:spPr bwMode="auto">
          <a:xfrm rot="2538496">
            <a:off x="3907439" y="3910060"/>
            <a:ext cx="402529" cy="429208"/>
          </a:xfrm>
          <a:prstGeom prst="plus">
            <a:avLst>
              <a:gd name="adj" fmla="val 39157"/>
            </a:avLst>
          </a:prstGeom>
          <a:solidFill>
            <a:srgbClr val="C000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7266339" y="3028445"/>
            <a:ext cx="402328" cy="219825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12761" y="5296971"/>
            <a:ext cx="709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Slot</a:t>
            </a:r>
            <a:r>
              <a:rPr lang="zh-CN" altLang="en-US" sz="1400" b="1" baseline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40" name="下箭头 39"/>
          <p:cNvSpPr/>
          <p:nvPr/>
        </p:nvSpPr>
        <p:spPr bwMode="auto">
          <a:xfrm rot="10800000">
            <a:off x="4520804" y="3026712"/>
            <a:ext cx="430924" cy="21917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5131155" y="3036544"/>
            <a:ext cx="624995" cy="219825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195019" y="4073854"/>
            <a:ext cx="581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RX1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" name="矩形 51"/>
          <p:cNvSpPr/>
          <p:nvPr/>
        </p:nvSpPr>
        <p:spPr bwMode="auto">
          <a:xfrm>
            <a:off x="6054217" y="3026712"/>
            <a:ext cx="624995" cy="219825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081854" y="4066707"/>
            <a:ext cx="581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RX2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灯片编号占位符 4">
            <a:extLst>
              <a:ext uri="{FF2B5EF4-FFF2-40B4-BE49-F238E27FC236}">
                <a16:creationId xmlns:a16="http://schemas.microsoft.com/office/drawing/2014/main" id="{373A398A-D1C0-4972-97A0-2D22A7872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151178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C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当设备处于供电状态，不必考虑能耗问题时，设备始终开启接收窗口</a:t>
            </a:r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Class A</a:t>
            </a:r>
            <a:r>
              <a:rPr lang="zh-CN" altLang="en-US"/>
              <a:t>的</a:t>
            </a:r>
            <a:r>
              <a:rPr lang="en-US" altLang="zh-CN"/>
              <a:t>RX1</a:t>
            </a:r>
            <a:r>
              <a:rPr lang="zh-CN" altLang="en-US"/>
              <a:t>和</a:t>
            </a:r>
            <a:r>
              <a:rPr lang="en-US" altLang="zh-CN"/>
              <a:t>RX2</a:t>
            </a:r>
            <a:r>
              <a:rPr lang="zh-CN" altLang="en-US"/>
              <a:t>窗口的基础之上，当设备不在发送数据或者不在</a:t>
            </a:r>
            <a:r>
              <a:rPr lang="en-US" altLang="zh-CN"/>
              <a:t>RX1</a:t>
            </a:r>
            <a:r>
              <a:rPr lang="zh-CN" altLang="en-US"/>
              <a:t>状态时，均通过配置</a:t>
            </a:r>
            <a:r>
              <a:rPr lang="en-US" altLang="zh-CN"/>
              <a:t>RX2</a:t>
            </a:r>
            <a:r>
              <a:rPr lang="zh-CN" altLang="en-US"/>
              <a:t>参数，开启设备进行数据的接收</a:t>
            </a:r>
            <a:endParaRPr lang="en-US" altLang="zh-CN"/>
          </a:p>
          <a:p>
            <a:r>
              <a:rPr lang="en-US" altLang="zh-CN"/>
              <a:t>RX1</a:t>
            </a:r>
            <a:r>
              <a:rPr lang="zh-CN" altLang="en-US"/>
              <a:t>开启时，若网关仍在发送数据，设备停止当前的数据接收</a:t>
            </a:r>
          </a:p>
          <a:p>
            <a:endParaRPr lang="en-US" altLang="zh-CN"/>
          </a:p>
          <a:p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1237046" y="4266939"/>
            <a:ext cx="6746108" cy="1365074"/>
            <a:chOff x="1237046" y="5384539"/>
            <a:chExt cx="6746108" cy="136507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7046" y="5384539"/>
              <a:ext cx="6746108" cy="1365074"/>
            </a:xfrm>
            <a:prstGeom prst="rect">
              <a:avLst/>
            </a:prstGeom>
          </p:spPr>
        </p:pic>
        <p:sp>
          <p:nvSpPr>
            <p:cNvPr id="8" name="圆角矩形 7"/>
            <p:cNvSpPr/>
            <p:nvPr/>
          </p:nvSpPr>
          <p:spPr bwMode="auto">
            <a:xfrm>
              <a:off x="6056932" y="5526593"/>
              <a:ext cx="1589864" cy="411983"/>
            </a:xfrm>
            <a:prstGeom prst="roundRect">
              <a:avLst/>
            </a:prstGeom>
            <a:solidFill>
              <a:srgbClr val="F1FFE7"/>
            </a:solidFill>
            <a:ln cap="flat">
              <a:round/>
              <a:headEnd type="none" w="med" len="med"/>
              <a:tailEnd type="none" w="med" len="me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spcBef>
                  <a:spcPct val="50000"/>
                </a:spcBef>
                <a:buClr>
                  <a:schemeClr val="bg1"/>
                </a:buClr>
                <a:buSzPct val="100000"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619640" y="5578695"/>
              <a:ext cx="8563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baseline="0">
                  <a:latin typeface="微软雅黑" pitchFamily="34" charset="-122"/>
                  <a:ea typeface="微软雅黑" pitchFamily="34" charset="-122"/>
                </a:rPr>
                <a:t>RX2</a:t>
              </a:r>
              <a:endParaRPr lang="zh-CN" altLang="en-US" sz="1400" b="1" baseline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9D0E23CB-CF3A-499F-AF8E-4DF928ADE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99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74012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C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608C0B-4262-42CC-9C0B-1498F3A36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数据传输</a:t>
            </a:r>
            <a:endParaRPr lang="en-US" altLang="zh-CN"/>
          </a:p>
          <a:p>
            <a:pPr lvl="1"/>
            <a:r>
              <a:rPr lang="zh-CN" altLang="en-US"/>
              <a:t>设备上行窗口有限，因此网关不能频繁发送请求确认的下行数据</a:t>
            </a:r>
          </a:p>
          <a:p>
            <a:pPr lvl="1"/>
            <a:r>
              <a:rPr lang="en-US" altLang="zh-CN"/>
              <a:t>Time_out</a:t>
            </a:r>
            <a:r>
              <a:rPr lang="zh-CN" altLang="en-US"/>
              <a:t>之后或者收到上行确认数据，才能再次发送请求确认的下行数据。期间可以发送任意不需要请求确认的下行数据</a:t>
            </a:r>
          </a:p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93200" y="3624172"/>
            <a:ext cx="8814135" cy="2561097"/>
            <a:chOff x="105930" y="2692496"/>
            <a:chExt cx="8814135" cy="2561097"/>
          </a:xfrm>
        </p:grpSpPr>
        <p:cxnSp>
          <p:nvCxnSpPr>
            <p:cNvPr id="8" name="直接连接符 7"/>
            <p:cNvCxnSpPr/>
            <p:nvPr/>
          </p:nvCxnSpPr>
          <p:spPr bwMode="auto">
            <a:xfrm flipV="1">
              <a:off x="921363" y="5068927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" name="文本框 8"/>
            <p:cNvSpPr txBox="1"/>
            <p:nvPr/>
          </p:nvSpPr>
          <p:spPr>
            <a:xfrm>
              <a:off x="105930" y="2692496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网关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5930" y="4884261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设备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下箭头 10"/>
            <p:cNvSpPr/>
            <p:nvPr/>
          </p:nvSpPr>
          <p:spPr bwMode="auto">
            <a:xfrm rot="10800000">
              <a:off x="1547433" y="2861450"/>
              <a:ext cx="430924" cy="219176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 bwMode="auto">
            <a:xfrm flipV="1">
              <a:off x="921363" y="2851618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3" name="直接连接符 12"/>
          <p:cNvCxnSpPr/>
          <p:nvPr/>
        </p:nvCxnSpPr>
        <p:spPr bwMode="auto">
          <a:xfrm flipV="1">
            <a:off x="3030209" y="6197396"/>
            <a:ext cx="4580391" cy="522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4" name="文本框 13"/>
          <p:cNvSpPr txBox="1"/>
          <p:nvPr/>
        </p:nvSpPr>
        <p:spPr>
          <a:xfrm>
            <a:off x="4816577" y="6344628"/>
            <a:ext cx="1838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Time_out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3030209" y="5998873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/>
          <p:nvPr/>
        </p:nvCxnSpPr>
        <p:spPr bwMode="auto">
          <a:xfrm>
            <a:off x="7636059" y="6009190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下箭头 16"/>
          <p:cNvSpPr/>
          <p:nvPr/>
        </p:nvSpPr>
        <p:spPr bwMode="auto">
          <a:xfrm>
            <a:off x="2814747" y="3793126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83009" y="3993504"/>
            <a:ext cx="129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MType=101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下箭头 27"/>
          <p:cNvSpPr/>
          <p:nvPr/>
        </p:nvSpPr>
        <p:spPr bwMode="auto">
          <a:xfrm>
            <a:off x="4527984" y="3798298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826422" y="3973606"/>
            <a:ext cx="129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MType=011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下箭头 30"/>
          <p:cNvSpPr/>
          <p:nvPr/>
        </p:nvSpPr>
        <p:spPr bwMode="auto">
          <a:xfrm>
            <a:off x="6002090" y="3783294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326242" y="3994878"/>
            <a:ext cx="129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MType=011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下箭头 32"/>
          <p:cNvSpPr/>
          <p:nvPr/>
        </p:nvSpPr>
        <p:spPr bwMode="auto">
          <a:xfrm>
            <a:off x="7610600" y="3787981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942065" y="3993504"/>
            <a:ext cx="129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MType=101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灯片编号占位符 4">
            <a:extLst>
              <a:ext uri="{FF2B5EF4-FFF2-40B4-BE49-F238E27FC236}">
                <a16:creationId xmlns:a16="http://schemas.microsoft.com/office/drawing/2014/main" id="{6420E735-071D-4D8A-8DF4-C7C9D8754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802082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LoRaWAN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952030-E08A-40C3-8561-439211949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FPending</a:t>
            </a:r>
            <a:r>
              <a:rPr lang="en-US" altLang="zh-CN" dirty="0"/>
              <a:t>=1</a:t>
            </a:r>
            <a:r>
              <a:rPr lang="zh-CN" altLang="en-US" dirty="0"/>
              <a:t>，表明网关有更多数据要传</a:t>
            </a:r>
          </a:p>
          <a:p>
            <a:pPr lvl="1"/>
            <a:r>
              <a:rPr lang="en-US" altLang="zh-CN" dirty="0"/>
              <a:t>Class A</a:t>
            </a:r>
          </a:p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203032" y="2217886"/>
            <a:ext cx="8814135" cy="2561097"/>
            <a:chOff x="105930" y="2692496"/>
            <a:chExt cx="8814135" cy="2561097"/>
          </a:xfrm>
        </p:grpSpPr>
        <p:cxnSp>
          <p:nvCxnSpPr>
            <p:cNvPr id="9" name="直接连接符 8"/>
            <p:cNvCxnSpPr/>
            <p:nvPr/>
          </p:nvCxnSpPr>
          <p:spPr bwMode="auto">
            <a:xfrm flipV="1">
              <a:off x="921363" y="5068927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文本框 9"/>
            <p:cNvSpPr txBox="1"/>
            <p:nvPr/>
          </p:nvSpPr>
          <p:spPr>
            <a:xfrm>
              <a:off x="105930" y="2692496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网关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5930" y="4884261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设备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下箭头 11"/>
            <p:cNvSpPr/>
            <p:nvPr/>
          </p:nvSpPr>
          <p:spPr bwMode="auto">
            <a:xfrm rot="10800000">
              <a:off x="1381572" y="2877162"/>
              <a:ext cx="430924" cy="219176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V="1">
              <a:off x="921363" y="2851618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" name="下箭头 13"/>
          <p:cNvSpPr/>
          <p:nvPr/>
        </p:nvSpPr>
        <p:spPr bwMode="auto">
          <a:xfrm>
            <a:off x="3040213" y="2390419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cxnSp>
        <p:nvCxnSpPr>
          <p:cNvPr id="18" name="直接连接符 17"/>
          <p:cNvCxnSpPr/>
          <p:nvPr/>
        </p:nvCxnSpPr>
        <p:spPr bwMode="auto">
          <a:xfrm>
            <a:off x="1576874" y="5079000"/>
            <a:ext cx="1682384" cy="29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19" name="直接连接符 18"/>
          <p:cNvCxnSpPr/>
          <p:nvPr/>
        </p:nvCxnSpPr>
        <p:spPr bwMode="auto">
          <a:xfrm flipH="1">
            <a:off x="1559582" y="4594460"/>
            <a:ext cx="17292" cy="154829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文本框 19"/>
          <p:cNvSpPr txBox="1"/>
          <p:nvPr/>
        </p:nvSpPr>
        <p:spPr>
          <a:xfrm>
            <a:off x="1559582" y="4687509"/>
            <a:ext cx="1699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RECEIVE_DELAY1</a:t>
            </a:r>
            <a:endParaRPr lang="zh-CN" altLang="en-US" sz="14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 bwMode="auto">
          <a:xfrm>
            <a:off x="1576874" y="5222176"/>
            <a:ext cx="2827990" cy="1388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2" name="直接连接符 21"/>
          <p:cNvCxnSpPr/>
          <p:nvPr/>
        </p:nvCxnSpPr>
        <p:spPr bwMode="auto">
          <a:xfrm>
            <a:off x="3259258" y="4601311"/>
            <a:ext cx="0" cy="55103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接连接符 22"/>
          <p:cNvCxnSpPr/>
          <p:nvPr/>
        </p:nvCxnSpPr>
        <p:spPr bwMode="auto">
          <a:xfrm flipH="1">
            <a:off x="4404864" y="4596050"/>
            <a:ext cx="4667" cy="102962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文本框 23"/>
          <p:cNvSpPr txBox="1"/>
          <p:nvPr/>
        </p:nvSpPr>
        <p:spPr>
          <a:xfrm>
            <a:off x="2633411" y="5297113"/>
            <a:ext cx="1838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RECEIVE_DELAY2</a:t>
            </a:r>
            <a:endParaRPr lang="zh-CN" altLang="en-US" sz="14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 bwMode="auto">
          <a:xfrm>
            <a:off x="5855750" y="4602904"/>
            <a:ext cx="0" cy="35215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/>
          <p:nvPr/>
        </p:nvCxnSpPr>
        <p:spPr bwMode="auto">
          <a:xfrm>
            <a:off x="4777784" y="4824617"/>
            <a:ext cx="1091147" cy="615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0" name="文本框 29"/>
          <p:cNvSpPr txBox="1"/>
          <p:nvPr/>
        </p:nvSpPr>
        <p:spPr>
          <a:xfrm>
            <a:off x="4860845" y="4952903"/>
            <a:ext cx="997643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Random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back off</a:t>
            </a:r>
            <a:endParaRPr lang="zh-CN" altLang="en-US" sz="14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下箭头 30"/>
          <p:cNvSpPr/>
          <p:nvPr/>
        </p:nvSpPr>
        <p:spPr bwMode="auto">
          <a:xfrm rot="10800000">
            <a:off x="5747942" y="2387349"/>
            <a:ext cx="430924" cy="219176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392594" y="2716578"/>
            <a:ext cx="1274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FPending=1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963820" y="5834982"/>
            <a:ext cx="143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Duty-cycle</a:t>
            </a:r>
            <a:endParaRPr lang="zh-CN" altLang="en-US" sz="1400" b="1" baseline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7" name="直接连接符 46"/>
          <p:cNvCxnSpPr/>
          <p:nvPr/>
        </p:nvCxnSpPr>
        <p:spPr bwMode="auto">
          <a:xfrm flipH="1">
            <a:off x="4777784" y="4594317"/>
            <a:ext cx="17292" cy="154829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直接连接符 48"/>
          <p:cNvCxnSpPr/>
          <p:nvPr/>
        </p:nvCxnSpPr>
        <p:spPr bwMode="auto">
          <a:xfrm>
            <a:off x="1572010" y="5780313"/>
            <a:ext cx="3192348" cy="2655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3" name="文本框 52"/>
          <p:cNvSpPr txBox="1"/>
          <p:nvPr/>
        </p:nvSpPr>
        <p:spPr>
          <a:xfrm>
            <a:off x="6075173" y="2716578"/>
            <a:ext cx="1987279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Payload=Null</a:t>
            </a:r>
            <a:r>
              <a:rPr lang="zh-CN" altLang="en-US" sz="1400" b="1" baseline="0">
                <a:latin typeface="微软雅黑" pitchFamily="34" charset="-122"/>
                <a:ea typeface="微软雅黑" pitchFamily="34" charset="-122"/>
              </a:rPr>
              <a:t>或</a:t>
            </a:r>
            <a:endParaRPr lang="en-US" altLang="zh-CN" sz="1400" b="1" baseline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Payload=data/MAC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下箭头 53"/>
          <p:cNvSpPr/>
          <p:nvPr/>
        </p:nvSpPr>
        <p:spPr bwMode="auto">
          <a:xfrm>
            <a:off x="8072827" y="2385097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3" name="灯片编号占位符 4">
            <a:extLst>
              <a:ext uri="{FF2B5EF4-FFF2-40B4-BE49-F238E27FC236}">
                <a16:creationId xmlns:a16="http://schemas.microsoft.com/office/drawing/2014/main" id="{B4256DF6-AEAA-4072-8DEB-5BDDB3BE5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437390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LoRaWAN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823834-5B04-4EA0-A1A6-DFBA9B807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FPending=1</a:t>
            </a:r>
            <a:r>
              <a:rPr lang="zh-CN" altLang="en-US"/>
              <a:t>，表明网关有更多数据要传</a:t>
            </a:r>
          </a:p>
          <a:p>
            <a:pPr lvl="1"/>
            <a:r>
              <a:rPr lang="en-US" altLang="zh-CN"/>
              <a:t>Class B</a:t>
            </a:r>
          </a:p>
          <a:p>
            <a:pPr lvl="2"/>
            <a:r>
              <a:rPr lang="zh-CN" altLang="en-US"/>
              <a:t>设备立即发送空白帧，以开启</a:t>
            </a:r>
            <a:r>
              <a:rPr lang="en-US" altLang="zh-CN"/>
              <a:t>RX1</a:t>
            </a:r>
            <a:r>
              <a:rPr lang="zh-CN" altLang="en-US"/>
              <a:t>、</a:t>
            </a:r>
            <a:r>
              <a:rPr lang="en-US" altLang="zh-CN"/>
              <a:t>RX2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lvl="1"/>
            <a:r>
              <a:rPr lang="en-US" altLang="zh-CN"/>
              <a:t>Class C</a:t>
            </a:r>
          </a:p>
          <a:p>
            <a:pPr lvl="2"/>
            <a:r>
              <a:rPr lang="zh-CN" altLang="en-US"/>
              <a:t>设备始终打开，除了设备发送数据时，网关想发即发，因此</a:t>
            </a:r>
            <a:r>
              <a:rPr lang="en-US" altLang="zh-CN"/>
              <a:t>FPending=1</a:t>
            </a:r>
            <a:r>
              <a:rPr lang="zh-CN" altLang="en-US"/>
              <a:t>不触发设备任何行为</a:t>
            </a:r>
          </a:p>
          <a:p>
            <a:endParaRPr lang="zh-CN" altLang="en-US"/>
          </a:p>
          <a:p>
            <a:endParaRPr lang="zh-CN" altLang="en-US" dirty="0"/>
          </a:p>
        </p:txBody>
      </p:sp>
      <p:grpSp>
        <p:nvGrpSpPr>
          <p:cNvPr id="25" name="组合 24"/>
          <p:cNvGrpSpPr/>
          <p:nvPr/>
        </p:nvGrpSpPr>
        <p:grpSpPr>
          <a:xfrm>
            <a:off x="203032" y="2271889"/>
            <a:ext cx="8814135" cy="2561097"/>
            <a:chOff x="105930" y="2692496"/>
            <a:chExt cx="8814135" cy="2561097"/>
          </a:xfrm>
        </p:grpSpPr>
        <p:cxnSp>
          <p:nvCxnSpPr>
            <p:cNvPr id="27" name="直接连接符 26"/>
            <p:cNvCxnSpPr/>
            <p:nvPr/>
          </p:nvCxnSpPr>
          <p:spPr bwMode="auto">
            <a:xfrm flipV="1">
              <a:off x="921363" y="5068927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" name="文本框 27"/>
            <p:cNvSpPr txBox="1"/>
            <p:nvPr/>
          </p:nvSpPr>
          <p:spPr>
            <a:xfrm>
              <a:off x="105930" y="2692496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网关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5930" y="4884261"/>
              <a:ext cx="663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1800" b="1" baseline="0">
                  <a:latin typeface="微软雅黑" pitchFamily="34" charset="-122"/>
                  <a:ea typeface="微软雅黑" pitchFamily="34" charset="-122"/>
                </a:rPr>
                <a:t>设备</a:t>
              </a:r>
              <a:endParaRPr lang="zh-CN" altLang="en-US" sz="1800" b="1" baseline="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下箭头 29"/>
            <p:cNvSpPr/>
            <p:nvPr/>
          </p:nvSpPr>
          <p:spPr bwMode="auto">
            <a:xfrm rot="10800000">
              <a:off x="3508081" y="2858112"/>
              <a:ext cx="430924" cy="2191765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 bwMode="auto">
            <a:xfrm flipV="1">
              <a:off x="921363" y="2851618"/>
              <a:ext cx="7998702" cy="173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组合 31"/>
          <p:cNvGrpSpPr/>
          <p:nvPr/>
        </p:nvGrpSpPr>
        <p:grpSpPr>
          <a:xfrm>
            <a:off x="909884" y="2437428"/>
            <a:ext cx="1055629" cy="2210892"/>
            <a:chOff x="909884" y="3033129"/>
            <a:chExt cx="1055629" cy="2210892"/>
          </a:xfrm>
        </p:grpSpPr>
        <p:sp>
          <p:nvSpPr>
            <p:cNvPr id="33" name="下箭头 32"/>
            <p:cNvSpPr/>
            <p:nvPr/>
          </p:nvSpPr>
          <p:spPr bwMode="auto">
            <a:xfrm>
              <a:off x="1089311" y="3033129"/>
              <a:ext cx="658572" cy="2210892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909884" y="3898406"/>
              <a:ext cx="105562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800" b="1" baseline="0">
                  <a:latin typeface="微软雅黑" pitchFamily="34" charset="-122"/>
                  <a:ea typeface="微软雅黑" pitchFamily="34" charset="-122"/>
                </a:rPr>
                <a:t>Beacon</a:t>
              </a:r>
              <a:endParaRPr lang="zh-CN" altLang="en-US" sz="1800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922833" y="2428210"/>
            <a:ext cx="1055629" cy="2210892"/>
            <a:chOff x="909884" y="3033129"/>
            <a:chExt cx="1055629" cy="2210892"/>
          </a:xfrm>
        </p:grpSpPr>
        <p:sp>
          <p:nvSpPr>
            <p:cNvPr id="36" name="下箭头 35"/>
            <p:cNvSpPr/>
            <p:nvPr/>
          </p:nvSpPr>
          <p:spPr bwMode="auto">
            <a:xfrm>
              <a:off x="1089311" y="3033129"/>
              <a:ext cx="658572" cy="2210892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09884" y="3898406"/>
              <a:ext cx="105562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800" b="1" baseline="0">
                  <a:latin typeface="微软雅黑" pitchFamily="34" charset="-122"/>
                  <a:ea typeface="微软雅黑" pitchFamily="34" charset="-122"/>
                </a:rPr>
                <a:t>Beacon</a:t>
              </a:r>
              <a:endParaRPr lang="zh-CN" altLang="en-US" sz="1800"/>
            </a:p>
          </p:txBody>
        </p:sp>
      </p:grpSp>
      <p:sp>
        <p:nvSpPr>
          <p:cNvPr id="38" name="下箭头 37"/>
          <p:cNvSpPr/>
          <p:nvPr/>
        </p:nvSpPr>
        <p:spPr bwMode="auto">
          <a:xfrm>
            <a:off x="2195413" y="2428210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470722" y="2764487"/>
            <a:ext cx="1291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FPending=1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056133" y="4701271"/>
            <a:ext cx="709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Slot</a:t>
            </a:r>
            <a:r>
              <a:rPr lang="zh-CN" altLang="en-US" sz="1400" b="1" baseline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43" name="矩形 42"/>
          <p:cNvSpPr/>
          <p:nvPr/>
        </p:nvSpPr>
        <p:spPr bwMode="auto">
          <a:xfrm>
            <a:off x="7266339" y="2432744"/>
            <a:ext cx="402328" cy="219825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112761" y="4701270"/>
            <a:ext cx="709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Slot</a:t>
            </a:r>
            <a:r>
              <a:rPr lang="zh-CN" altLang="en-US" sz="1400" b="1" baseline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3937359" y="2764487"/>
            <a:ext cx="1440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>
                <a:latin typeface="微软雅黑" pitchFamily="34" charset="-122"/>
                <a:ea typeface="微软雅黑" pitchFamily="34" charset="-122"/>
              </a:rPr>
              <a:t>Payload=NUll</a:t>
            </a:r>
            <a:endParaRPr lang="zh-CN" altLang="en-US" sz="1400" b="1" baseline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下箭头 56"/>
          <p:cNvSpPr/>
          <p:nvPr/>
        </p:nvSpPr>
        <p:spPr bwMode="auto">
          <a:xfrm>
            <a:off x="5281483" y="2441962"/>
            <a:ext cx="430924" cy="221089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cxnSp>
        <p:nvCxnSpPr>
          <p:cNvPr id="58" name="直接连接符 57"/>
          <p:cNvCxnSpPr/>
          <p:nvPr/>
        </p:nvCxnSpPr>
        <p:spPr bwMode="auto">
          <a:xfrm flipV="1">
            <a:off x="3711140" y="4896714"/>
            <a:ext cx="1800371" cy="387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60" name="文本框 59"/>
          <p:cNvSpPr txBox="1"/>
          <p:nvPr/>
        </p:nvSpPr>
        <p:spPr>
          <a:xfrm>
            <a:off x="3780969" y="5009047"/>
            <a:ext cx="1699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400" b="1" baseline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RECEIVE_DELAY1</a:t>
            </a:r>
            <a:endParaRPr lang="zh-CN" altLang="en-US" sz="1400" b="1" baseline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1" name="直接连接符 60"/>
          <p:cNvCxnSpPr/>
          <p:nvPr/>
        </p:nvCxnSpPr>
        <p:spPr bwMode="auto">
          <a:xfrm>
            <a:off x="5510199" y="4648320"/>
            <a:ext cx="0" cy="55103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直接连接符 63"/>
          <p:cNvCxnSpPr/>
          <p:nvPr/>
        </p:nvCxnSpPr>
        <p:spPr bwMode="auto">
          <a:xfrm>
            <a:off x="3712451" y="4648320"/>
            <a:ext cx="0" cy="55103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灯片编号占位符 4">
            <a:extLst>
              <a:ext uri="{FF2B5EF4-FFF2-40B4-BE49-F238E27FC236}">
                <a16:creationId xmlns:a16="http://schemas.microsoft.com/office/drawing/2014/main" id="{644ED60D-705A-42CE-A5A1-AF4D8D6BB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875112"/>
      </p:ext>
    </p:extLst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457200" lvl="1" indent="0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帧结构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93700" y="1144283"/>
            <a:ext cx="8458619" cy="4548978"/>
            <a:chOff x="685381" y="1594023"/>
            <a:chExt cx="8458619" cy="454897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381" y="1594023"/>
              <a:ext cx="8458619" cy="43892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5018" y="4641867"/>
              <a:ext cx="5430982" cy="48463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18805" y="5697344"/>
              <a:ext cx="7434695" cy="445657"/>
            </a:xfrm>
            <a:prstGeom prst="rect">
              <a:avLst/>
            </a:prstGeom>
          </p:spPr>
        </p:pic>
        <p:grpSp>
          <p:nvGrpSpPr>
            <p:cNvPr id="27" name="组合 26"/>
            <p:cNvGrpSpPr/>
            <p:nvPr/>
          </p:nvGrpSpPr>
          <p:grpSpPr>
            <a:xfrm>
              <a:off x="3879745" y="2001215"/>
              <a:ext cx="4883255" cy="2123582"/>
              <a:chOff x="3879745" y="1955495"/>
              <a:chExt cx="4883255" cy="2123582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3879745" y="2482250"/>
                <a:ext cx="4883255" cy="1596827"/>
                <a:chOff x="3869354" y="2317399"/>
                <a:chExt cx="4883255" cy="1596827"/>
              </a:xfrm>
            </p:grpSpPr>
            <p:pic>
              <p:nvPicPr>
                <p:cNvPr id="17" name="图片 16"/>
                <p:cNvPicPr>
                  <a:picLocks noChangeAspect="1"/>
                </p:cNvPicPr>
                <p:nvPr/>
              </p:nvPicPr>
              <p:blipFill rotWithShape="1">
                <a:blip r:embed="rId6"/>
                <a:srcRect b="72775"/>
                <a:stretch/>
              </p:blipFill>
              <p:spPr>
                <a:xfrm>
                  <a:off x="4123459" y="3363060"/>
                  <a:ext cx="4629150" cy="551166"/>
                </a:xfrm>
                <a:prstGeom prst="rect">
                  <a:avLst/>
                </a:prstGeom>
              </p:spPr>
            </p:pic>
            <p:pic>
              <p:nvPicPr>
                <p:cNvPr id="20" name="图片 19"/>
                <p:cNvPicPr>
                  <a:picLocks noChangeAspect="1"/>
                </p:cNvPicPr>
                <p:nvPr/>
              </p:nvPicPr>
              <p:blipFill rotWithShape="1">
                <a:blip r:embed="rId6"/>
                <a:srcRect t="37860" b="32371"/>
                <a:stretch/>
              </p:blipFill>
              <p:spPr>
                <a:xfrm>
                  <a:off x="4113068" y="2822302"/>
                  <a:ext cx="4639541" cy="547732"/>
                </a:xfrm>
                <a:prstGeom prst="rect">
                  <a:avLst/>
                </a:prstGeom>
              </p:spPr>
            </p:pic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 rotWithShape="1">
                <a:blip r:embed="rId6"/>
                <a:srcRect t="77938"/>
                <a:stretch/>
              </p:blipFill>
              <p:spPr>
                <a:xfrm>
                  <a:off x="3869354" y="2317399"/>
                  <a:ext cx="4787428" cy="418866"/>
                </a:xfrm>
                <a:prstGeom prst="rect">
                  <a:avLst/>
                </a:prstGeom>
              </p:spPr>
            </p:pic>
          </p:grpSp>
          <p:cxnSp>
            <p:nvCxnSpPr>
              <p:cNvPr id="23" name="直接连接符 22"/>
              <p:cNvCxnSpPr/>
              <p:nvPr/>
            </p:nvCxnSpPr>
            <p:spPr bwMode="auto">
              <a:xfrm flipH="1">
                <a:off x="4322618" y="1957890"/>
                <a:ext cx="1432216" cy="546948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接连接符 24"/>
              <p:cNvCxnSpPr/>
              <p:nvPr/>
            </p:nvCxnSpPr>
            <p:spPr bwMode="auto">
              <a:xfrm>
                <a:off x="7355035" y="1955495"/>
                <a:ext cx="950765" cy="54934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9" name="直接连接符 28"/>
            <p:cNvCxnSpPr/>
            <p:nvPr/>
          </p:nvCxnSpPr>
          <p:spPr bwMode="auto">
            <a:xfrm flipH="1">
              <a:off x="3307772" y="4077946"/>
              <a:ext cx="2467844" cy="60449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>
              <a:off x="7219141" y="4074832"/>
              <a:ext cx="1191030" cy="60760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/>
          </p:nvCxnSpPr>
          <p:spPr bwMode="auto">
            <a:xfrm flipH="1">
              <a:off x="1599623" y="5116304"/>
              <a:ext cx="1708149" cy="64694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>
              <a:off x="4990789" y="5092264"/>
              <a:ext cx="3835711" cy="63625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2" name="灯片编号占位符 4">
            <a:extLst>
              <a:ext uri="{FF2B5EF4-FFF2-40B4-BE49-F238E27FC236}">
                <a16:creationId xmlns:a16="http://schemas.microsoft.com/office/drawing/2014/main" id="{5C814642-599C-4948-9780-CCCF7FEA6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14520"/>
      </p:ext>
    </p:extLst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pPr marL="0" indent="0">
              <a:buNone/>
            </a:pP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marL="457200" lvl="1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帧结构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93700" y="1144283"/>
            <a:ext cx="8458619" cy="4548978"/>
            <a:chOff x="685381" y="1594023"/>
            <a:chExt cx="8458619" cy="4548978"/>
          </a:xfrm>
        </p:grpSpPr>
        <p:grpSp>
          <p:nvGrpSpPr>
            <p:cNvPr id="4" name="组合 3"/>
            <p:cNvGrpSpPr/>
            <p:nvPr/>
          </p:nvGrpSpPr>
          <p:grpSpPr>
            <a:xfrm>
              <a:off x="685381" y="1594023"/>
              <a:ext cx="8458619" cy="4548978"/>
              <a:chOff x="685381" y="1594023"/>
              <a:chExt cx="8458619" cy="4548978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685381" y="1594023"/>
                <a:ext cx="8458619" cy="4548978"/>
                <a:chOff x="685381" y="1594023"/>
                <a:chExt cx="8458619" cy="4548978"/>
              </a:xfrm>
            </p:grpSpPr>
            <p:pic>
              <p:nvPicPr>
                <p:cNvPr id="6" name="图片 5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5381" y="1594023"/>
                  <a:ext cx="8458619" cy="438926"/>
                </a:xfrm>
                <a:prstGeom prst="rect">
                  <a:avLst/>
                </a:prstGeom>
              </p:spPr>
            </p:pic>
            <p:pic>
              <p:nvPicPr>
                <p:cNvPr id="9" name="图片 8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05018" y="4641867"/>
                  <a:ext cx="5430982" cy="484634"/>
                </a:xfrm>
                <a:prstGeom prst="rect">
                  <a:avLst/>
                </a:prstGeom>
              </p:spPr>
            </p:pic>
            <p:pic>
              <p:nvPicPr>
                <p:cNvPr id="11" name="图片 10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18805" y="5697344"/>
                  <a:ext cx="7434695" cy="445657"/>
                </a:xfrm>
                <a:prstGeom prst="rect">
                  <a:avLst/>
                </a:prstGeom>
              </p:spPr>
            </p:pic>
            <p:grpSp>
              <p:nvGrpSpPr>
                <p:cNvPr id="27" name="组合 26"/>
                <p:cNvGrpSpPr/>
                <p:nvPr/>
              </p:nvGrpSpPr>
              <p:grpSpPr>
                <a:xfrm>
                  <a:off x="3879745" y="2001215"/>
                  <a:ext cx="4883255" cy="2123582"/>
                  <a:chOff x="3879745" y="1955495"/>
                  <a:chExt cx="4883255" cy="2123582"/>
                </a:xfrm>
              </p:grpSpPr>
              <p:grpSp>
                <p:nvGrpSpPr>
                  <p:cNvPr id="21" name="组合 20"/>
                  <p:cNvGrpSpPr/>
                  <p:nvPr/>
                </p:nvGrpSpPr>
                <p:grpSpPr>
                  <a:xfrm>
                    <a:off x="3879745" y="2482250"/>
                    <a:ext cx="4883255" cy="1596827"/>
                    <a:chOff x="3869354" y="2317399"/>
                    <a:chExt cx="4883255" cy="1596827"/>
                  </a:xfrm>
                </p:grpSpPr>
                <p:pic>
                  <p:nvPicPr>
                    <p:cNvPr id="17" name="图片 16"/>
                    <p:cNvPicPr>
                      <a:picLocks noChangeAspect="1"/>
                    </p:cNvPicPr>
                    <p:nvPr/>
                  </p:nvPicPr>
                  <p:blipFill rotWithShape="1">
                    <a:blip r:embed="rId6"/>
                    <a:srcRect b="72775"/>
                    <a:stretch/>
                  </p:blipFill>
                  <p:spPr>
                    <a:xfrm>
                      <a:off x="4123459" y="3363060"/>
                      <a:ext cx="4629150" cy="55116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" name="图片 19"/>
                    <p:cNvPicPr>
                      <a:picLocks noChangeAspect="1"/>
                    </p:cNvPicPr>
                    <p:nvPr/>
                  </p:nvPicPr>
                  <p:blipFill rotWithShape="1">
                    <a:blip r:embed="rId6"/>
                    <a:srcRect t="37860" b="32371"/>
                    <a:stretch/>
                  </p:blipFill>
                  <p:spPr>
                    <a:xfrm>
                      <a:off x="4113068" y="2822302"/>
                      <a:ext cx="4639541" cy="54773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9" name="图片 18"/>
                    <p:cNvPicPr>
                      <a:picLocks noChangeAspect="1"/>
                    </p:cNvPicPr>
                    <p:nvPr/>
                  </p:nvPicPr>
                  <p:blipFill rotWithShape="1">
                    <a:blip r:embed="rId6"/>
                    <a:srcRect t="77938"/>
                    <a:stretch/>
                  </p:blipFill>
                  <p:spPr>
                    <a:xfrm>
                      <a:off x="3869354" y="2317399"/>
                      <a:ext cx="4787428" cy="418866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3" name="直接连接符 22"/>
                  <p:cNvCxnSpPr/>
                  <p:nvPr/>
                </p:nvCxnSpPr>
                <p:spPr bwMode="auto">
                  <a:xfrm flipH="1">
                    <a:off x="4322618" y="1957890"/>
                    <a:ext cx="1432216" cy="546948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chemeClr val="tx2">
                        <a:lumMod val="60000"/>
                        <a:lumOff val="4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5" name="直接连接符 24"/>
                  <p:cNvCxnSpPr/>
                  <p:nvPr/>
                </p:nvCxnSpPr>
                <p:spPr bwMode="auto">
                  <a:xfrm>
                    <a:off x="7355035" y="1955495"/>
                    <a:ext cx="950765" cy="549343"/>
                  </a:xfrm>
                  <a:prstGeom prst="line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chemeClr val="tx2">
                        <a:lumMod val="60000"/>
                        <a:lumOff val="4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cxnSp>
              <p:nvCxnSpPr>
                <p:cNvPr id="29" name="直接连接符 28"/>
                <p:cNvCxnSpPr/>
                <p:nvPr/>
              </p:nvCxnSpPr>
              <p:spPr bwMode="auto">
                <a:xfrm flipH="1">
                  <a:off x="3307772" y="4077946"/>
                  <a:ext cx="2467844" cy="60449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5" name="直接连接符 34"/>
                <p:cNvCxnSpPr/>
                <p:nvPr/>
              </p:nvCxnSpPr>
              <p:spPr bwMode="auto">
                <a:xfrm>
                  <a:off x="7219141" y="4074832"/>
                  <a:ext cx="1191030" cy="607605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8" name="直接连接符 37"/>
                <p:cNvCxnSpPr/>
                <p:nvPr/>
              </p:nvCxnSpPr>
              <p:spPr bwMode="auto">
                <a:xfrm flipH="1">
                  <a:off x="1599623" y="5116304"/>
                  <a:ext cx="1708149" cy="64694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0" name="直接连接符 39"/>
                <p:cNvCxnSpPr/>
                <p:nvPr/>
              </p:nvCxnSpPr>
              <p:spPr bwMode="auto">
                <a:xfrm>
                  <a:off x="4990789" y="5092264"/>
                  <a:ext cx="3835711" cy="636258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2" name="文本框 21"/>
              <p:cNvSpPr txBox="1"/>
              <p:nvPr/>
            </p:nvSpPr>
            <p:spPr>
              <a:xfrm>
                <a:off x="2728416" y="2542625"/>
                <a:ext cx="16653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2000" b="1" baseline="0" dirty="0">
                    <a:latin typeface="微软雅黑" pitchFamily="34" charset="-122"/>
                    <a:ea typeface="微软雅黑" pitchFamily="34" charset="-122"/>
                  </a:rPr>
                  <a:t>入网响应</a:t>
                </a: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2719614" y="3090357"/>
                <a:ext cx="16653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2000" b="1" baseline="0">
                    <a:latin typeface="微软雅黑" pitchFamily="34" charset="-122"/>
                    <a:ea typeface="微软雅黑" pitchFamily="34" charset="-122"/>
                  </a:rPr>
                  <a:t>入网请求</a:t>
                </a: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975428" y="3658786"/>
                <a:ext cx="23636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zh-CN" altLang="en-US" sz="2000" b="1" baseline="0">
                    <a:latin typeface="微软雅黑" pitchFamily="34" charset="-122"/>
                    <a:ea typeface="微软雅黑" pitchFamily="34" charset="-122"/>
                  </a:rPr>
                  <a:t>数据或其他指令</a:t>
                </a:r>
              </a:p>
            </p:txBody>
          </p:sp>
        </p:grpSp>
        <p:sp>
          <p:nvSpPr>
            <p:cNvPr id="30" name="矩形 29"/>
            <p:cNvSpPr/>
            <p:nvPr/>
          </p:nvSpPr>
          <p:spPr bwMode="auto">
            <a:xfrm>
              <a:off x="4301836" y="2539628"/>
              <a:ext cx="1473780" cy="392716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201305" y="3720900"/>
            <a:ext cx="7434695" cy="2971385"/>
            <a:chOff x="947304" y="3843376"/>
            <a:chExt cx="7434695" cy="2971385"/>
          </a:xfrm>
        </p:grpSpPr>
        <p:sp>
          <p:nvSpPr>
            <p:cNvPr id="7" name="矩形 6"/>
            <p:cNvSpPr/>
            <p:nvPr/>
          </p:nvSpPr>
          <p:spPr bwMode="auto">
            <a:xfrm>
              <a:off x="947304" y="3843376"/>
              <a:ext cx="7434695" cy="2971385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578104" y="3925399"/>
              <a:ext cx="41588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2000" b="1" baseline="0">
                  <a:latin typeface="微软雅黑" pitchFamily="34" charset="-122"/>
                  <a:ea typeface="微软雅黑" pitchFamily="34" charset="-122"/>
                </a:rPr>
                <a:t>MHDR</a:t>
              </a:r>
              <a:r>
                <a:rPr lang="zh-CN" altLang="en-US" sz="2000" b="1" baseline="0">
                  <a:latin typeface="微软雅黑" pitchFamily="34" charset="-122"/>
                  <a:ea typeface="微软雅黑" pitchFamily="34" charset="-122"/>
                </a:rPr>
                <a:t>中</a:t>
              </a:r>
              <a:r>
                <a:rPr lang="en-US" altLang="zh-CN" sz="2000" b="1" baseline="0">
                  <a:latin typeface="微软雅黑" pitchFamily="34" charset="-122"/>
                  <a:ea typeface="微软雅黑" pitchFamily="34" charset="-122"/>
                </a:rPr>
                <a:t>Mtype</a:t>
              </a:r>
              <a:r>
                <a:rPr lang="zh-CN" altLang="en-US" sz="2000" b="1" baseline="0">
                  <a:latin typeface="微软雅黑" pitchFamily="34" charset="-122"/>
                  <a:ea typeface="微软雅黑" pitchFamily="34" charset="-122"/>
                </a:rPr>
                <a:t>字段指明消息类型</a:t>
              </a: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 rotWithShape="1">
            <a:blip r:embed="rId7"/>
            <a:srcRect b="1346"/>
            <a:stretch/>
          </p:blipFill>
          <p:spPr>
            <a:xfrm>
              <a:off x="1921382" y="4466917"/>
              <a:ext cx="5616054" cy="2334589"/>
            </a:xfrm>
            <a:prstGeom prst="rect">
              <a:avLst/>
            </a:prstGeom>
          </p:spPr>
        </p:pic>
      </p:grpSp>
      <p:sp>
        <p:nvSpPr>
          <p:cNvPr id="31" name="灯片编号占位符 4">
            <a:extLst>
              <a:ext uri="{FF2B5EF4-FFF2-40B4-BE49-F238E27FC236}">
                <a16:creationId xmlns:a16="http://schemas.microsoft.com/office/drawing/2014/main" id="{4EC47066-489C-4D2A-BB74-FC4878C06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862897"/>
      </p:ext>
    </p:extLst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帧结构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93700" y="1914304"/>
            <a:ext cx="8458619" cy="4548978"/>
            <a:chOff x="685381" y="1594023"/>
            <a:chExt cx="8458619" cy="4548978"/>
          </a:xfrm>
        </p:grpSpPr>
        <p:grpSp>
          <p:nvGrpSpPr>
            <p:cNvPr id="3" name="组合 2"/>
            <p:cNvGrpSpPr/>
            <p:nvPr/>
          </p:nvGrpSpPr>
          <p:grpSpPr>
            <a:xfrm>
              <a:off x="685381" y="1594023"/>
              <a:ext cx="8458619" cy="4548978"/>
              <a:chOff x="685381" y="1594023"/>
              <a:chExt cx="8458619" cy="4548978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381" y="1594023"/>
                <a:ext cx="8458619" cy="438926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5018" y="4641867"/>
                <a:ext cx="5430982" cy="484634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18805" y="5697344"/>
                <a:ext cx="7434695" cy="445657"/>
              </a:xfrm>
              <a:prstGeom prst="rect">
                <a:avLst/>
              </a:prstGeom>
            </p:spPr>
          </p:pic>
          <p:grpSp>
            <p:nvGrpSpPr>
              <p:cNvPr id="27" name="组合 26"/>
              <p:cNvGrpSpPr/>
              <p:nvPr/>
            </p:nvGrpSpPr>
            <p:grpSpPr>
              <a:xfrm>
                <a:off x="3879745" y="2001215"/>
                <a:ext cx="4883255" cy="2123582"/>
                <a:chOff x="3879745" y="1955495"/>
                <a:chExt cx="4883255" cy="2123582"/>
              </a:xfrm>
            </p:grpSpPr>
            <p:grpSp>
              <p:nvGrpSpPr>
                <p:cNvPr id="21" name="组合 20"/>
                <p:cNvGrpSpPr/>
                <p:nvPr/>
              </p:nvGrpSpPr>
              <p:grpSpPr>
                <a:xfrm>
                  <a:off x="3879745" y="2482250"/>
                  <a:ext cx="4883255" cy="1596827"/>
                  <a:chOff x="3869354" y="2317399"/>
                  <a:chExt cx="4883255" cy="1596827"/>
                </a:xfrm>
              </p:grpSpPr>
              <p:pic>
                <p:nvPicPr>
                  <p:cNvPr id="17" name="图片 16"/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b="72775"/>
                  <a:stretch/>
                </p:blipFill>
                <p:spPr>
                  <a:xfrm>
                    <a:off x="4123459" y="3363060"/>
                    <a:ext cx="4629150" cy="551166"/>
                  </a:xfrm>
                  <a:prstGeom prst="rect">
                    <a:avLst/>
                  </a:prstGeom>
                </p:spPr>
              </p:pic>
              <p:pic>
                <p:nvPicPr>
                  <p:cNvPr id="20" name="图片 19"/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t="37860" b="32371"/>
                  <a:stretch/>
                </p:blipFill>
                <p:spPr>
                  <a:xfrm>
                    <a:off x="4113068" y="2822302"/>
                    <a:ext cx="4639541" cy="547732"/>
                  </a:xfrm>
                  <a:prstGeom prst="rect">
                    <a:avLst/>
                  </a:prstGeom>
                </p:spPr>
              </p:pic>
              <p:pic>
                <p:nvPicPr>
                  <p:cNvPr id="19" name="图片 18"/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t="77938"/>
                  <a:stretch/>
                </p:blipFill>
                <p:spPr>
                  <a:xfrm>
                    <a:off x="3869354" y="2317399"/>
                    <a:ext cx="4787428" cy="418866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23" name="直接连接符 22"/>
                <p:cNvCxnSpPr/>
                <p:nvPr/>
              </p:nvCxnSpPr>
              <p:spPr bwMode="auto">
                <a:xfrm flipH="1">
                  <a:off x="4322618" y="1957890"/>
                  <a:ext cx="1432216" cy="546948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" name="直接连接符 24"/>
                <p:cNvCxnSpPr/>
                <p:nvPr/>
              </p:nvCxnSpPr>
              <p:spPr bwMode="auto">
                <a:xfrm>
                  <a:off x="7355035" y="1955495"/>
                  <a:ext cx="950765" cy="54934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29" name="直接连接符 28"/>
              <p:cNvCxnSpPr/>
              <p:nvPr/>
            </p:nvCxnSpPr>
            <p:spPr bwMode="auto">
              <a:xfrm flipH="1">
                <a:off x="3307772" y="4077946"/>
                <a:ext cx="2467844" cy="60449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直接连接符 34"/>
              <p:cNvCxnSpPr/>
              <p:nvPr/>
            </p:nvCxnSpPr>
            <p:spPr bwMode="auto">
              <a:xfrm>
                <a:off x="7219141" y="4074832"/>
                <a:ext cx="1191030" cy="607605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直接连接符 37"/>
              <p:cNvCxnSpPr/>
              <p:nvPr/>
            </p:nvCxnSpPr>
            <p:spPr bwMode="auto">
              <a:xfrm flipH="1">
                <a:off x="1599623" y="5116304"/>
                <a:ext cx="1708149" cy="64694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直接连接符 39"/>
              <p:cNvCxnSpPr/>
              <p:nvPr/>
            </p:nvCxnSpPr>
            <p:spPr bwMode="auto">
              <a:xfrm>
                <a:off x="4990789" y="5092264"/>
                <a:ext cx="3835711" cy="636258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0" name="矩形 29"/>
            <p:cNvSpPr/>
            <p:nvPr/>
          </p:nvSpPr>
          <p:spPr bwMode="auto">
            <a:xfrm>
              <a:off x="4995751" y="4654390"/>
              <a:ext cx="1699091" cy="423112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24" name="灯片编号占位符 4">
            <a:extLst>
              <a:ext uri="{FF2B5EF4-FFF2-40B4-BE49-F238E27FC236}">
                <a16:creationId xmlns:a16="http://schemas.microsoft.com/office/drawing/2014/main" id="{6AFABB4A-4E6D-414E-B7BD-D7B1227BB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105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3503443"/>
          </a:xfrm>
          <a:solidFill>
            <a:schemeClr val="bg1"/>
          </a:solidFill>
          <a:ln w="38100">
            <a:solidFill>
              <a:srgbClr val="C00000"/>
            </a:solidFill>
          </a:ln>
        </p:spPr>
        <p:txBody>
          <a:bodyPr/>
          <a:lstStyle/>
          <a:p>
            <a:r>
              <a:rPr lang="en-US" altLang="zh-CN" dirty="0" err="1"/>
              <a:t>Fport</a:t>
            </a:r>
            <a:endParaRPr lang="en-US" altLang="zh-CN" dirty="0"/>
          </a:p>
          <a:p>
            <a:pPr lvl="1"/>
            <a:r>
              <a:rPr lang="zh-CN" altLang="zh-CN" dirty="0"/>
              <a:t>用于指示</a:t>
            </a:r>
            <a:r>
              <a:rPr lang="en-US" altLang="zh-CN" dirty="0" err="1"/>
              <a:t>FRMPayload</a:t>
            </a:r>
            <a:r>
              <a:rPr lang="zh-CN" altLang="zh-CN" dirty="0"/>
              <a:t>中的数据类型</a:t>
            </a:r>
            <a:endParaRPr lang="en-US" altLang="zh-CN" dirty="0"/>
          </a:p>
          <a:p>
            <a:pPr lvl="1"/>
            <a:r>
              <a:rPr lang="en-US" altLang="zh-CN" dirty="0" err="1"/>
              <a:t>FPort</a:t>
            </a:r>
            <a:r>
              <a:rPr lang="en-US" altLang="zh-CN" dirty="0"/>
              <a:t>=0</a:t>
            </a:r>
            <a:r>
              <a:rPr lang="zh-CN" altLang="en-US" dirty="0"/>
              <a:t>，</a:t>
            </a:r>
            <a:r>
              <a:rPr lang="en-US" altLang="zh-CN" dirty="0" err="1"/>
              <a:t>FRMPayload</a:t>
            </a:r>
            <a:r>
              <a:rPr lang="zh-CN" altLang="en-US" dirty="0"/>
              <a:t>存放</a:t>
            </a:r>
            <a:r>
              <a:rPr lang="en-US" altLang="zh-CN" dirty="0"/>
              <a:t>MAC</a:t>
            </a:r>
            <a:r>
              <a:rPr lang="zh-CN" altLang="en-US" dirty="0"/>
              <a:t>指令（如</a:t>
            </a:r>
            <a:r>
              <a:rPr lang="en-US" altLang="zh-CN" dirty="0" err="1"/>
              <a:t>LinkADRReq</a:t>
            </a:r>
            <a:r>
              <a:rPr lang="zh-CN" altLang="en-US" dirty="0"/>
              <a:t>）</a:t>
            </a:r>
          </a:p>
          <a:p>
            <a:pPr lvl="1"/>
            <a:r>
              <a:rPr lang="en-US" altLang="zh-CN" dirty="0"/>
              <a:t>FPort≠0</a:t>
            </a:r>
            <a:r>
              <a:rPr lang="zh-CN" altLang="en-US" dirty="0"/>
              <a:t>， </a:t>
            </a:r>
            <a:r>
              <a:rPr lang="en-US" altLang="zh-CN" dirty="0" err="1"/>
              <a:t>FRMPayload</a:t>
            </a:r>
            <a:r>
              <a:rPr lang="zh-CN" altLang="en-US" dirty="0"/>
              <a:t>存放应用层数据</a:t>
            </a:r>
          </a:p>
          <a:p>
            <a:pPr lvl="1"/>
            <a:r>
              <a:rPr lang="en-US" altLang="zh-CN" dirty="0" err="1"/>
              <a:t>Fport</a:t>
            </a:r>
            <a:r>
              <a:rPr lang="zh-CN" altLang="en-US" dirty="0"/>
              <a:t>空， </a:t>
            </a:r>
            <a:r>
              <a:rPr lang="en-US" altLang="zh-CN" dirty="0" err="1"/>
              <a:t>FRMPayload</a:t>
            </a:r>
            <a:r>
              <a:rPr lang="zh-CN" altLang="en-US" dirty="0"/>
              <a:t>为空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7881085"/>
      </p:ext>
    </p:extLst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帧结构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93700" y="1914304"/>
            <a:ext cx="8458619" cy="4548978"/>
            <a:chOff x="685381" y="1594023"/>
            <a:chExt cx="8458619" cy="454897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381" y="1594023"/>
              <a:ext cx="8458619" cy="43892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5018" y="4641867"/>
              <a:ext cx="5430982" cy="48463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18805" y="5697344"/>
              <a:ext cx="7434695" cy="445657"/>
            </a:xfrm>
            <a:prstGeom prst="rect">
              <a:avLst/>
            </a:prstGeom>
          </p:spPr>
        </p:pic>
        <p:grpSp>
          <p:nvGrpSpPr>
            <p:cNvPr id="27" name="组合 26"/>
            <p:cNvGrpSpPr/>
            <p:nvPr/>
          </p:nvGrpSpPr>
          <p:grpSpPr>
            <a:xfrm>
              <a:off x="3879745" y="2001215"/>
              <a:ext cx="4883255" cy="2123582"/>
              <a:chOff x="3879745" y="1955495"/>
              <a:chExt cx="4883255" cy="2123582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3879745" y="2482250"/>
                <a:ext cx="4883255" cy="1596827"/>
                <a:chOff x="3869354" y="2317399"/>
                <a:chExt cx="4883255" cy="1596827"/>
              </a:xfrm>
            </p:grpSpPr>
            <p:pic>
              <p:nvPicPr>
                <p:cNvPr id="17" name="图片 16"/>
                <p:cNvPicPr>
                  <a:picLocks noChangeAspect="1"/>
                </p:cNvPicPr>
                <p:nvPr/>
              </p:nvPicPr>
              <p:blipFill rotWithShape="1">
                <a:blip r:embed="rId6"/>
                <a:srcRect b="72775"/>
                <a:stretch/>
              </p:blipFill>
              <p:spPr>
                <a:xfrm>
                  <a:off x="4123459" y="3363060"/>
                  <a:ext cx="4629150" cy="551166"/>
                </a:xfrm>
                <a:prstGeom prst="rect">
                  <a:avLst/>
                </a:prstGeom>
              </p:spPr>
            </p:pic>
            <p:pic>
              <p:nvPicPr>
                <p:cNvPr id="20" name="图片 19"/>
                <p:cNvPicPr>
                  <a:picLocks noChangeAspect="1"/>
                </p:cNvPicPr>
                <p:nvPr/>
              </p:nvPicPr>
              <p:blipFill rotWithShape="1">
                <a:blip r:embed="rId6"/>
                <a:srcRect t="37860" b="32371"/>
                <a:stretch/>
              </p:blipFill>
              <p:spPr>
                <a:xfrm>
                  <a:off x="4113068" y="2822302"/>
                  <a:ext cx="4639541" cy="547732"/>
                </a:xfrm>
                <a:prstGeom prst="rect">
                  <a:avLst/>
                </a:prstGeom>
              </p:spPr>
            </p:pic>
            <p:pic>
              <p:nvPicPr>
                <p:cNvPr id="19" name="图片 18"/>
                <p:cNvPicPr>
                  <a:picLocks noChangeAspect="1"/>
                </p:cNvPicPr>
                <p:nvPr/>
              </p:nvPicPr>
              <p:blipFill rotWithShape="1">
                <a:blip r:embed="rId6"/>
                <a:srcRect t="77938"/>
                <a:stretch/>
              </p:blipFill>
              <p:spPr>
                <a:xfrm>
                  <a:off x="3869354" y="2317399"/>
                  <a:ext cx="4787428" cy="418866"/>
                </a:xfrm>
                <a:prstGeom prst="rect">
                  <a:avLst/>
                </a:prstGeom>
              </p:spPr>
            </p:pic>
          </p:grpSp>
          <p:cxnSp>
            <p:nvCxnSpPr>
              <p:cNvPr id="23" name="直接连接符 22"/>
              <p:cNvCxnSpPr/>
              <p:nvPr/>
            </p:nvCxnSpPr>
            <p:spPr bwMode="auto">
              <a:xfrm flipH="1">
                <a:off x="4322618" y="1957890"/>
                <a:ext cx="1432216" cy="546948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接连接符 24"/>
              <p:cNvCxnSpPr/>
              <p:nvPr/>
            </p:nvCxnSpPr>
            <p:spPr bwMode="auto">
              <a:xfrm>
                <a:off x="7355035" y="1955495"/>
                <a:ext cx="950765" cy="54934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9" name="直接连接符 28"/>
            <p:cNvCxnSpPr/>
            <p:nvPr/>
          </p:nvCxnSpPr>
          <p:spPr bwMode="auto">
            <a:xfrm flipH="1">
              <a:off x="3307772" y="4077946"/>
              <a:ext cx="2467844" cy="60449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>
              <a:off x="7219141" y="4074832"/>
              <a:ext cx="1191030" cy="60760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/>
          </p:nvCxnSpPr>
          <p:spPr bwMode="auto">
            <a:xfrm flipH="1">
              <a:off x="1599623" y="5116304"/>
              <a:ext cx="1708149" cy="64694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>
              <a:off x="4990789" y="5092264"/>
              <a:ext cx="3835711" cy="63625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4" name="灯片编号占位符 4">
            <a:extLst>
              <a:ext uri="{FF2B5EF4-FFF2-40B4-BE49-F238E27FC236}">
                <a16:creationId xmlns:a16="http://schemas.microsoft.com/office/drawing/2014/main" id="{6AFABB4A-4E6D-414E-B7BD-D7B1227BB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3503443"/>
          </a:xfrm>
          <a:solidFill>
            <a:schemeClr val="bg1"/>
          </a:solidFill>
          <a:ln w="38100">
            <a:solidFill>
              <a:srgbClr val="C00000"/>
            </a:solidFill>
          </a:ln>
        </p:spPr>
        <p:txBody>
          <a:bodyPr/>
          <a:lstStyle/>
          <a:p>
            <a:r>
              <a:rPr lang="zh-CN" altLang="en-US" dirty="0"/>
              <a:t>一个帧中可发送多条指令，接收方在一个帧中按序组织回复</a:t>
            </a:r>
          </a:p>
          <a:p>
            <a:r>
              <a:rPr lang="zh-CN" altLang="en-US" dirty="0"/>
              <a:t>若回复超过</a:t>
            </a:r>
            <a:r>
              <a:rPr lang="en-US" altLang="zh-CN" dirty="0" err="1"/>
              <a:t>FOpts</a:t>
            </a:r>
            <a:r>
              <a:rPr lang="zh-CN" altLang="en-US" dirty="0"/>
              <a:t>最大长度，则在</a:t>
            </a:r>
            <a:r>
              <a:rPr lang="en-US" altLang="zh-CN" dirty="0" err="1"/>
              <a:t>FRMPayload</a:t>
            </a:r>
            <a:r>
              <a:rPr lang="zh-CN" altLang="en-US" dirty="0"/>
              <a:t>中回复</a:t>
            </a:r>
          </a:p>
          <a:p>
            <a:r>
              <a:rPr lang="zh-CN" altLang="en-US" dirty="0"/>
              <a:t>同时有数据和</a:t>
            </a:r>
            <a:r>
              <a:rPr lang="en-US" altLang="zh-CN" dirty="0"/>
              <a:t>MAC</a:t>
            </a:r>
            <a:r>
              <a:rPr lang="zh-CN" altLang="en-US" dirty="0"/>
              <a:t>指令回复时，优先</a:t>
            </a:r>
            <a:r>
              <a:rPr lang="en-US" altLang="zh-CN" dirty="0"/>
              <a:t>MAC</a:t>
            </a:r>
            <a:r>
              <a:rPr lang="zh-CN" altLang="en-US" dirty="0"/>
              <a:t>指令回复</a:t>
            </a:r>
          </a:p>
          <a:p>
            <a:r>
              <a:rPr lang="zh-CN" altLang="en-US" dirty="0"/>
              <a:t>发送</a:t>
            </a:r>
            <a:r>
              <a:rPr lang="en-US" altLang="zh-CN" dirty="0"/>
              <a:t>MAC</a:t>
            </a:r>
            <a:r>
              <a:rPr lang="zh-CN" altLang="en-US" dirty="0"/>
              <a:t>指令序列时，保证接收能在一个帧中答复完成</a:t>
            </a:r>
          </a:p>
        </p:txBody>
      </p:sp>
    </p:spTree>
    <p:extLst>
      <p:ext uri="{BB962C8B-B14F-4D97-AF65-F5344CB8AC3E}">
        <p14:creationId xmlns:p14="http://schemas.microsoft.com/office/powerpoint/2010/main" val="4255269818"/>
      </p:ext>
    </p:extLst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帧结构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93700" y="1914304"/>
            <a:ext cx="8458619" cy="3778960"/>
            <a:chOff x="685381" y="1594023"/>
            <a:chExt cx="8458619" cy="377896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381" y="1594023"/>
              <a:ext cx="8458619" cy="43892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5018" y="3871849"/>
              <a:ext cx="5430982" cy="48463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18805" y="4927326"/>
              <a:ext cx="7434695" cy="445657"/>
            </a:xfrm>
            <a:prstGeom prst="rect">
              <a:avLst/>
            </a:prstGeom>
          </p:spPr>
        </p:pic>
        <p:grpSp>
          <p:nvGrpSpPr>
            <p:cNvPr id="27" name="组合 26"/>
            <p:cNvGrpSpPr/>
            <p:nvPr/>
          </p:nvGrpSpPr>
          <p:grpSpPr>
            <a:xfrm>
              <a:off x="3879745" y="2001215"/>
              <a:ext cx="4787428" cy="945621"/>
              <a:chOff x="3879745" y="1955495"/>
              <a:chExt cx="4787428" cy="945621"/>
            </a:xfrm>
          </p:grpSpPr>
          <p:pic>
            <p:nvPicPr>
              <p:cNvPr id="19" name="图片 18"/>
              <p:cNvPicPr>
                <a:picLocks noChangeAspect="1"/>
              </p:cNvPicPr>
              <p:nvPr/>
            </p:nvPicPr>
            <p:blipFill rotWithShape="1">
              <a:blip r:embed="rId6"/>
              <a:srcRect t="77938"/>
              <a:stretch/>
            </p:blipFill>
            <p:spPr>
              <a:xfrm>
                <a:off x="3879745" y="2482250"/>
                <a:ext cx="4787428" cy="418866"/>
              </a:xfrm>
              <a:prstGeom prst="rect">
                <a:avLst/>
              </a:prstGeom>
            </p:spPr>
          </p:pic>
          <p:cxnSp>
            <p:nvCxnSpPr>
              <p:cNvPr id="23" name="直接连接符 22"/>
              <p:cNvCxnSpPr/>
              <p:nvPr/>
            </p:nvCxnSpPr>
            <p:spPr bwMode="auto">
              <a:xfrm flipH="1">
                <a:off x="4322618" y="1957890"/>
                <a:ext cx="1432216" cy="546948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" name="直接连接符 24"/>
              <p:cNvCxnSpPr/>
              <p:nvPr/>
            </p:nvCxnSpPr>
            <p:spPr bwMode="auto">
              <a:xfrm>
                <a:off x="7355035" y="1955495"/>
                <a:ext cx="950765" cy="54934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9" name="直接连接符 28"/>
            <p:cNvCxnSpPr/>
            <p:nvPr/>
          </p:nvCxnSpPr>
          <p:spPr bwMode="auto">
            <a:xfrm flipH="1">
              <a:off x="3307772" y="3307928"/>
              <a:ext cx="2467844" cy="60449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>
              <a:off x="7219141" y="3304814"/>
              <a:ext cx="1191030" cy="60760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/>
          </p:nvCxnSpPr>
          <p:spPr bwMode="auto">
            <a:xfrm flipH="1">
              <a:off x="1599623" y="4346286"/>
              <a:ext cx="1708149" cy="64694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>
              <a:off x="4990789" y="4322246"/>
              <a:ext cx="3835711" cy="63625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4" name="灯片编号占位符 4">
            <a:extLst>
              <a:ext uri="{FF2B5EF4-FFF2-40B4-BE49-F238E27FC236}">
                <a16:creationId xmlns:a16="http://schemas.microsoft.com/office/drawing/2014/main" id="{6AFABB4A-4E6D-414E-B7BD-D7B1227BB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2628479"/>
          </a:xfrm>
          <a:solidFill>
            <a:schemeClr val="bg1"/>
          </a:solidFill>
          <a:ln w="38100">
            <a:solidFill>
              <a:srgbClr val="C00000"/>
            </a:solidFill>
          </a:ln>
        </p:spPr>
        <p:txBody>
          <a:bodyPr/>
          <a:lstStyle/>
          <a:p>
            <a:r>
              <a:rPr lang="en-US" altLang="zh-CN" dirty="0" err="1"/>
              <a:t>Fopts</a:t>
            </a:r>
            <a:endParaRPr lang="en-US" altLang="zh-CN" dirty="0"/>
          </a:p>
          <a:p>
            <a:pPr lvl="1"/>
            <a:r>
              <a:rPr lang="en-US" altLang="zh-CN" dirty="0" err="1"/>
              <a:t>FOpts</a:t>
            </a:r>
            <a:r>
              <a:rPr lang="zh-CN" altLang="en-US" dirty="0"/>
              <a:t>不为空时，存放</a:t>
            </a:r>
            <a:r>
              <a:rPr lang="en-US" altLang="zh-CN" dirty="0"/>
              <a:t>MAC</a:t>
            </a:r>
            <a:r>
              <a:rPr lang="zh-CN" altLang="en-US" dirty="0"/>
              <a:t>指令，此时</a:t>
            </a:r>
            <a:r>
              <a:rPr lang="en-US" altLang="zh-CN" dirty="0"/>
              <a:t>FPort≠0</a:t>
            </a:r>
            <a:r>
              <a:rPr lang="zh-CN" altLang="en-US" dirty="0"/>
              <a:t>，</a:t>
            </a:r>
          </a:p>
          <a:p>
            <a:pPr lvl="1"/>
            <a:r>
              <a:rPr lang="zh-CN" altLang="en-US" dirty="0"/>
              <a:t>即</a:t>
            </a:r>
            <a:r>
              <a:rPr lang="en-US" altLang="zh-CN" dirty="0" err="1"/>
              <a:t>FRMPayload</a:t>
            </a:r>
            <a:r>
              <a:rPr lang="zh-CN" altLang="en-US" dirty="0"/>
              <a:t>和</a:t>
            </a:r>
            <a:r>
              <a:rPr lang="en-US" altLang="zh-CN" dirty="0" err="1"/>
              <a:t>FOpts</a:t>
            </a:r>
            <a:r>
              <a:rPr lang="zh-CN" altLang="en-US" dirty="0"/>
              <a:t>不能同时存放</a:t>
            </a:r>
            <a:r>
              <a:rPr lang="en-US" altLang="zh-CN" dirty="0"/>
              <a:t>MAC</a:t>
            </a:r>
            <a:r>
              <a:rPr lang="zh-CN" altLang="en-US" dirty="0"/>
              <a:t>指令</a:t>
            </a:r>
          </a:p>
          <a:p>
            <a:pPr lvl="1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A6DF5A-FCCF-4099-849C-7099A13E9A3E}"/>
              </a:ext>
            </a:extLst>
          </p:cNvPr>
          <p:cNvSpPr/>
          <p:nvPr/>
        </p:nvSpPr>
        <p:spPr bwMode="auto">
          <a:xfrm>
            <a:off x="6012258" y="5276650"/>
            <a:ext cx="2616541" cy="422629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414609"/>
      </p:ext>
    </p:extLst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BEA1B9B8-88BC-4925-8A65-83142AA8738E}"/>
              </a:ext>
            </a:extLst>
          </p:cNvPr>
          <p:cNvGrpSpPr/>
          <p:nvPr/>
        </p:nvGrpSpPr>
        <p:grpSpPr>
          <a:xfrm>
            <a:off x="335721" y="3512545"/>
            <a:ext cx="8451658" cy="471718"/>
            <a:chOff x="-3140" y="5824289"/>
            <a:chExt cx="9226480" cy="716063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68226C78-A65F-4BBB-A5D7-73D04A4947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63" t="1" r="3361" b="9993"/>
            <a:stretch/>
          </p:blipFill>
          <p:spPr>
            <a:xfrm>
              <a:off x="1125415" y="5824289"/>
              <a:ext cx="8057447" cy="370851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507D3C39-0118-4CB7-8F51-F5FC7BFB75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2606"/>
            <a:stretch/>
          </p:blipFill>
          <p:spPr>
            <a:xfrm>
              <a:off x="-3140" y="6169501"/>
              <a:ext cx="9226480" cy="370851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帧结构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27124" y="4334961"/>
            <a:ext cx="7434695" cy="2068169"/>
            <a:chOff x="1518805" y="3304814"/>
            <a:chExt cx="7434695" cy="2068169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05018" y="3871849"/>
              <a:ext cx="5430982" cy="48463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18805" y="4927326"/>
              <a:ext cx="7434695" cy="445657"/>
            </a:xfrm>
            <a:prstGeom prst="rect">
              <a:avLst/>
            </a:prstGeom>
          </p:spPr>
        </p:pic>
        <p:cxnSp>
          <p:nvCxnSpPr>
            <p:cNvPr id="29" name="直接连接符 28"/>
            <p:cNvCxnSpPr/>
            <p:nvPr/>
          </p:nvCxnSpPr>
          <p:spPr bwMode="auto">
            <a:xfrm flipH="1">
              <a:off x="3307772" y="3307928"/>
              <a:ext cx="2467844" cy="60449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>
              <a:off x="7219141" y="3304814"/>
              <a:ext cx="1191030" cy="60760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/>
          </p:nvCxnSpPr>
          <p:spPr bwMode="auto">
            <a:xfrm flipH="1">
              <a:off x="1599623" y="4346286"/>
              <a:ext cx="1708149" cy="64694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>
              <a:off x="4990789" y="4322246"/>
              <a:ext cx="3835711" cy="63625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4" name="灯片编号占位符 4">
            <a:extLst>
              <a:ext uri="{FF2B5EF4-FFF2-40B4-BE49-F238E27FC236}">
                <a16:creationId xmlns:a16="http://schemas.microsoft.com/office/drawing/2014/main" id="{6AFABB4A-4E6D-414E-B7BD-D7B1227BB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3331525"/>
          </a:xfrm>
          <a:noFill/>
          <a:ln w="38100">
            <a:solidFill>
              <a:srgbClr val="C00000"/>
            </a:solidFill>
          </a:ln>
        </p:spPr>
        <p:txBody>
          <a:bodyPr/>
          <a:lstStyle/>
          <a:p>
            <a:r>
              <a:rPr lang="en-US" altLang="zh-CN" dirty="0" err="1"/>
              <a:t>Fctrl</a:t>
            </a:r>
            <a:endParaRPr lang="en-US" altLang="zh-CN" dirty="0"/>
          </a:p>
          <a:p>
            <a:pPr lvl="1"/>
            <a:r>
              <a:rPr lang="zh-CN" altLang="en-US" dirty="0"/>
              <a:t>下行</a:t>
            </a:r>
            <a:endParaRPr lang="en-US" altLang="zh-CN" dirty="0"/>
          </a:p>
          <a:p>
            <a:pPr lvl="2"/>
            <a:r>
              <a:rPr lang="en-US" altLang="zh-CN" dirty="0"/>
              <a:t>ARD</a:t>
            </a:r>
            <a:r>
              <a:rPr lang="zh-CN" altLang="en-US" dirty="0"/>
              <a:t>：网关通知设备，使用更高的数据率和更小的发送功率</a:t>
            </a:r>
          </a:p>
          <a:p>
            <a:pPr lvl="2"/>
            <a:r>
              <a:rPr lang="en-US" altLang="zh-CN" dirty="0" err="1"/>
              <a:t>FPending</a:t>
            </a:r>
            <a:r>
              <a:rPr lang="en-US" altLang="zh-CN" dirty="0"/>
              <a:t>=1</a:t>
            </a:r>
            <a:r>
              <a:rPr lang="zh-CN" altLang="en-US" dirty="0"/>
              <a:t>：网关通知设备其还有下行数据要发送，请求接收窗口</a:t>
            </a:r>
            <a:endParaRPr lang="en-US" altLang="zh-CN" dirty="0"/>
          </a:p>
          <a:p>
            <a:pPr lvl="2"/>
            <a:r>
              <a:rPr lang="en-US" altLang="zh-CN" dirty="0"/>
              <a:t>ACK=1</a:t>
            </a:r>
            <a:r>
              <a:rPr lang="zh-CN" altLang="en-US" dirty="0"/>
              <a:t>，回复上行请求确认的数据</a:t>
            </a:r>
            <a:endParaRPr lang="en-US" altLang="zh-CN" dirty="0"/>
          </a:p>
          <a:p>
            <a:pPr lvl="2"/>
            <a:r>
              <a:rPr lang="en-US" altLang="zh-CN" dirty="0" err="1"/>
              <a:t>FOptsLen</a:t>
            </a:r>
            <a:r>
              <a:rPr lang="zh-CN" altLang="en-US" dirty="0"/>
              <a:t>指明</a:t>
            </a:r>
            <a:r>
              <a:rPr lang="en-US" altLang="zh-CN" dirty="0" err="1"/>
              <a:t>FOpts</a:t>
            </a:r>
            <a:r>
              <a:rPr lang="zh-CN" altLang="en-US" dirty="0"/>
              <a:t>的长度，若</a:t>
            </a:r>
            <a:r>
              <a:rPr lang="en-US" altLang="zh-CN" dirty="0" err="1"/>
              <a:t>FOptsLen</a:t>
            </a:r>
            <a:r>
              <a:rPr lang="en-US" altLang="zh-CN" dirty="0"/>
              <a:t>=0</a:t>
            </a:r>
            <a:r>
              <a:rPr lang="zh-CN" altLang="en-US" dirty="0"/>
              <a:t>，则</a:t>
            </a:r>
            <a:r>
              <a:rPr lang="en-US" altLang="zh-CN" dirty="0" err="1"/>
              <a:t>FOpts</a:t>
            </a:r>
            <a:r>
              <a:rPr lang="zh-CN" altLang="en-US" dirty="0"/>
              <a:t>不存在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CA821DF-0D83-4108-8953-B94D513D9E42}"/>
              </a:ext>
            </a:extLst>
          </p:cNvPr>
          <p:cNvSpPr/>
          <p:nvPr/>
        </p:nvSpPr>
        <p:spPr bwMode="auto">
          <a:xfrm>
            <a:off x="2882838" y="5988646"/>
            <a:ext cx="1588090" cy="401648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416829"/>
      </p:ext>
    </p:extLst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帧结构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27124" y="4334961"/>
            <a:ext cx="7434695" cy="2068169"/>
            <a:chOff x="1518805" y="3304814"/>
            <a:chExt cx="7434695" cy="2068169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5018" y="3871849"/>
              <a:ext cx="5430982" cy="48463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8805" y="4927326"/>
              <a:ext cx="7434695" cy="445657"/>
            </a:xfrm>
            <a:prstGeom prst="rect">
              <a:avLst/>
            </a:prstGeom>
          </p:spPr>
        </p:pic>
        <p:cxnSp>
          <p:nvCxnSpPr>
            <p:cNvPr id="29" name="直接连接符 28"/>
            <p:cNvCxnSpPr/>
            <p:nvPr/>
          </p:nvCxnSpPr>
          <p:spPr bwMode="auto">
            <a:xfrm flipH="1">
              <a:off x="3307772" y="3307928"/>
              <a:ext cx="2467844" cy="60449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>
              <a:off x="7219141" y="3304814"/>
              <a:ext cx="1191030" cy="60760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/>
          </p:nvCxnSpPr>
          <p:spPr bwMode="auto">
            <a:xfrm flipH="1">
              <a:off x="1599623" y="4346286"/>
              <a:ext cx="1708149" cy="64694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>
              <a:off x="4990789" y="4322246"/>
              <a:ext cx="3835711" cy="63625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4" name="灯片编号占位符 4">
            <a:extLst>
              <a:ext uri="{FF2B5EF4-FFF2-40B4-BE49-F238E27FC236}">
                <a16:creationId xmlns:a16="http://schemas.microsoft.com/office/drawing/2014/main" id="{6AFABB4A-4E6D-414E-B7BD-D7B1227BB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109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3331525"/>
          </a:xfrm>
          <a:noFill/>
          <a:ln w="38100">
            <a:solidFill>
              <a:srgbClr val="C00000"/>
            </a:solidFill>
          </a:ln>
        </p:spPr>
        <p:txBody>
          <a:bodyPr/>
          <a:lstStyle/>
          <a:p>
            <a:r>
              <a:rPr lang="en-US" altLang="zh-CN" dirty="0" err="1"/>
              <a:t>Fctrl</a:t>
            </a:r>
            <a:endParaRPr lang="en-US" altLang="zh-CN" dirty="0"/>
          </a:p>
          <a:p>
            <a:pPr lvl="1"/>
            <a:r>
              <a:rPr lang="zh-CN" altLang="en-US" dirty="0"/>
              <a:t>上行</a:t>
            </a:r>
            <a:endParaRPr lang="en-US" altLang="zh-CN" dirty="0"/>
          </a:p>
          <a:p>
            <a:pPr lvl="2"/>
            <a:r>
              <a:rPr lang="en-US" altLang="zh-CN" dirty="0"/>
              <a:t>ADR</a:t>
            </a:r>
            <a:r>
              <a:rPr lang="zh-CN" altLang="en-US" dirty="0"/>
              <a:t>：设备通知网关，为其设置更高的数据率和更小的发送功率</a:t>
            </a:r>
            <a:endParaRPr lang="en-US" altLang="zh-CN" dirty="0"/>
          </a:p>
          <a:p>
            <a:pPr lvl="2"/>
            <a:r>
              <a:rPr lang="en-US" altLang="zh-CN" dirty="0" err="1"/>
              <a:t>ADRACKReq</a:t>
            </a:r>
            <a:r>
              <a:rPr lang="zh-CN" altLang="en-US" dirty="0"/>
              <a:t>：设备向网关确认，是否仍然能收到设备的上行数据</a:t>
            </a:r>
            <a:endParaRPr lang="en-US" altLang="zh-CN" dirty="0"/>
          </a:p>
          <a:p>
            <a:pPr lvl="2"/>
            <a:r>
              <a:rPr lang="en-US" altLang="zh-CN" dirty="0"/>
              <a:t>ACK=1</a:t>
            </a:r>
            <a:r>
              <a:rPr lang="zh-CN" altLang="en-US" dirty="0"/>
              <a:t>，回复下行请求确认的数据</a:t>
            </a:r>
            <a:endParaRPr lang="en-US" altLang="zh-CN" dirty="0"/>
          </a:p>
          <a:p>
            <a:pPr lvl="2"/>
            <a:r>
              <a:rPr lang="en-US" altLang="zh-CN" dirty="0"/>
              <a:t>Class B=1</a:t>
            </a:r>
            <a:r>
              <a:rPr lang="zh-CN" altLang="en-US" dirty="0"/>
              <a:t>，告诉网关设备处于</a:t>
            </a:r>
            <a:r>
              <a:rPr lang="en-US" altLang="zh-CN" dirty="0"/>
              <a:t>Class B</a:t>
            </a:r>
            <a:r>
              <a:rPr lang="zh-CN" altLang="en-US" dirty="0"/>
              <a:t>状态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CA821DF-0D83-4108-8953-B94D513D9E42}"/>
              </a:ext>
            </a:extLst>
          </p:cNvPr>
          <p:cNvSpPr/>
          <p:nvPr/>
        </p:nvSpPr>
        <p:spPr bwMode="auto">
          <a:xfrm>
            <a:off x="2882838" y="5988646"/>
            <a:ext cx="1588090" cy="401648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E12EA77-79ED-4AC5-856E-59869DEDF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24" y="3728871"/>
            <a:ext cx="7310795" cy="52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73290"/>
      </p:ext>
    </p:extLst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2305B2-8969-4DB7-AD84-6487043C4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7CEF0-4DD9-4F0D-94C0-1A413F3D8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LoRa</a:t>
            </a:r>
            <a:r>
              <a:rPr lang="zh-CN" altLang="en-US" dirty="0"/>
              <a:t>网关有采用</a:t>
            </a:r>
            <a:r>
              <a:rPr lang="en-US" altLang="zh-CN" dirty="0"/>
              <a:t>8</a:t>
            </a:r>
            <a:r>
              <a:rPr lang="zh-CN" altLang="en-US" dirty="0"/>
              <a:t>通道</a:t>
            </a:r>
            <a:r>
              <a:rPr lang="en-US" altLang="zh-CN" dirty="0"/>
              <a:t>8</a:t>
            </a:r>
            <a:r>
              <a:rPr lang="zh-CN" altLang="en-US" dirty="0"/>
              <a:t>解调器芯片</a:t>
            </a:r>
            <a:r>
              <a:rPr lang="en-US" altLang="zh-CN" dirty="0"/>
              <a:t>SX1301</a:t>
            </a:r>
            <a:r>
              <a:rPr lang="zh-CN" altLang="en-US" dirty="0"/>
              <a:t>的，也有采用单通道单解调器芯片</a:t>
            </a:r>
            <a:r>
              <a:rPr lang="en-US" altLang="zh-CN" dirty="0"/>
              <a:t>SX1276/8</a:t>
            </a:r>
            <a:r>
              <a:rPr lang="zh-CN" altLang="en-US" dirty="0"/>
              <a:t>的。根据数学统计分析，采用</a:t>
            </a:r>
            <a:r>
              <a:rPr lang="en-US" altLang="zh-CN" dirty="0"/>
              <a:t>ADR</a:t>
            </a:r>
            <a:r>
              <a:rPr lang="zh-CN" altLang="en-US" dirty="0"/>
              <a:t>机制后的</a:t>
            </a:r>
            <a:r>
              <a:rPr lang="en-US" altLang="zh-CN" dirty="0"/>
              <a:t>SX1301</a:t>
            </a:r>
            <a:r>
              <a:rPr lang="zh-CN" altLang="en-US" dirty="0"/>
              <a:t>网关，网关容量能提高</a:t>
            </a:r>
            <a:r>
              <a:rPr lang="en-US" altLang="zh-CN" dirty="0"/>
              <a:t>232.6%</a:t>
            </a:r>
            <a:r>
              <a:rPr lang="zh-CN" altLang="en-US" dirty="0"/>
              <a:t>。问前者的容量是后者的多少倍？</a:t>
            </a:r>
          </a:p>
        </p:txBody>
      </p:sp>
    </p:spTree>
    <p:extLst>
      <p:ext uri="{BB962C8B-B14F-4D97-AF65-F5344CB8AC3E}">
        <p14:creationId xmlns:p14="http://schemas.microsoft.com/office/powerpoint/2010/main" val="3197085938"/>
      </p:ext>
    </p:extLst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帧结构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27124" y="4334961"/>
            <a:ext cx="7434695" cy="2068169"/>
            <a:chOff x="1518805" y="3304814"/>
            <a:chExt cx="7434695" cy="2068169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5018" y="3871849"/>
              <a:ext cx="5430982" cy="48463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8805" y="4927326"/>
              <a:ext cx="7434695" cy="445657"/>
            </a:xfrm>
            <a:prstGeom prst="rect">
              <a:avLst/>
            </a:prstGeom>
          </p:spPr>
        </p:pic>
        <p:cxnSp>
          <p:nvCxnSpPr>
            <p:cNvPr id="29" name="直接连接符 28"/>
            <p:cNvCxnSpPr/>
            <p:nvPr/>
          </p:nvCxnSpPr>
          <p:spPr bwMode="auto">
            <a:xfrm flipH="1">
              <a:off x="3307772" y="3307928"/>
              <a:ext cx="2467844" cy="60449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>
              <a:off x="7219141" y="3304814"/>
              <a:ext cx="1191030" cy="60760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/>
          </p:nvCxnSpPr>
          <p:spPr bwMode="auto">
            <a:xfrm flipH="1">
              <a:off x="1599623" y="4346286"/>
              <a:ext cx="1708149" cy="64694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>
              <a:off x="4990789" y="4322246"/>
              <a:ext cx="3835711" cy="63625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4" name="灯片编号占位符 4">
            <a:extLst>
              <a:ext uri="{FF2B5EF4-FFF2-40B4-BE49-F238E27FC236}">
                <a16:creationId xmlns:a16="http://schemas.microsoft.com/office/drawing/2014/main" id="{6AFABB4A-4E6D-414E-B7BD-D7B1227BB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3331525"/>
          </a:xfrm>
          <a:noFill/>
          <a:ln w="38100">
            <a:solidFill>
              <a:srgbClr val="C00000"/>
            </a:solidFill>
          </a:ln>
        </p:spPr>
        <p:txBody>
          <a:bodyPr>
            <a:normAutofit/>
          </a:bodyPr>
          <a:lstStyle/>
          <a:p>
            <a:r>
              <a:rPr lang="en-US" altLang="zh-CN" dirty="0" err="1"/>
              <a:t>Fcnt</a:t>
            </a:r>
            <a:r>
              <a:rPr lang="zh-CN" altLang="en-US" dirty="0"/>
              <a:t>：进行帧计数</a:t>
            </a:r>
            <a:endParaRPr lang="en-US" altLang="zh-CN" dirty="0"/>
          </a:p>
          <a:p>
            <a:pPr lvl="1"/>
            <a:r>
              <a:rPr lang="zh-CN" altLang="en-US" dirty="0"/>
              <a:t>上行：</a:t>
            </a:r>
            <a:r>
              <a:rPr lang="en-US" altLang="zh-CN" dirty="0" err="1"/>
              <a:t>FCntUp</a:t>
            </a:r>
            <a:endParaRPr lang="en-US" altLang="zh-CN" dirty="0"/>
          </a:p>
          <a:p>
            <a:pPr lvl="1"/>
            <a:r>
              <a:rPr lang="zh-CN" altLang="en-US" dirty="0"/>
              <a:t>下行：</a:t>
            </a:r>
            <a:endParaRPr lang="en-US" altLang="zh-CN" dirty="0"/>
          </a:p>
          <a:p>
            <a:pPr lvl="2"/>
            <a:r>
              <a:rPr lang="en-US" altLang="zh-CN" dirty="0" err="1"/>
              <a:t>NFCntDown</a:t>
            </a:r>
            <a:r>
              <a:rPr lang="zh-CN" altLang="en-US" dirty="0"/>
              <a:t>统计收到的</a:t>
            </a:r>
            <a:r>
              <a:rPr lang="en-US" altLang="zh-CN" dirty="0"/>
              <a:t>MAC</a:t>
            </a:r>
            <a:r>
              <a:rPr lang="zh-CN" altLang="en-US" dirty="0"/>
              <a:t>指令帧，由网络服务器管理</a:t>
            </a:r>
          </a:p>
          <a:p>
            <a:pPr lvl="2"/>
            <a:r>
              <a:rPr lang="en-US" altLang="zh-CN" dirty="0" err="1"/>
              <a:t>AFCntDown</a:t>
            </a:r>
            <a:r>
              <a:rPr lang="zh-CN" altLang="en-US" dirty="0"/>
              <a:t>统计收到的应用数据帧，由应用服务器管理</a:t>
            </a:r>
          </a:p>
          <a:p>
            <a:pPr lvl="1"/>
            <a:r>
              <a:rPr lang="en-US" altLang="zh-CN" dirty="0"/>
              <a:t>OTAA</a:t>
            </a:r>
            <a:r>
              <a:rPr lang="zh-CN" altLang="en-US" dirty="0"/>
              <a:t>设备入网清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ABP</a:t>
            </a:r>
            <a:r>
              <a:rPr lang="zh-CN" altLang="en-US" dirty="0"/>
              <a:t>不重置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CA821DF-0D83-4108-8953-B94D513D9E42}"/>
              </a:ext>
            </a:extLst>
          </p:cNvPr>
          <p:cNvSpPr/>
          <p:nvPr/>
        </p:nvSpPr>
        <p:spPr bwMode="auto">
          <a:xfrm>
            <a:off x="4434913" y="5988646"/>
            <a:ext cx="1588090" cy="401648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E12EA77-79ED-4AC5-856E-59869DEDF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24" y="3728871"/>
            <a:ext cx="7310795" cy="52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82150"/>
      </p:ext>
    </p:extLst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A9F9E9D-2D8A-443D-82CA-103632287DC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pPr marL="0" indent="0">
              <a:buNone/>
            </a:pP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marL="457200" lvl="1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en-US" altLang="zh-CN" dirty="0" err="1"/>
              <a:t>LoRaWAN</a:t>
            </a:r>
            <a:r>
              <a:rPr lang="zh-CN" altLang="en-US" dirty="0"/>
              <a:t>帧结构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93700" y="1144283"/>
            <a:ext cx="8458619" cy="4548978"/>
            <a:chOff x="685381" y="1594023"/>
            <a:chExt cx="8458619" cy="4548978"/>
          </a:xfrm>
        </p:grpSpPr>
        <p:grpSp>
          <p:nvGrpSpPr>
            <p:cNvPr id="3" name="组合 2"/>
            <p:cNvGrpSpPr/>
            <p:nvPr/>
          </p:nvGrpSpPr>
          <p:grpSpPr>
            <a:xfrm>
              <a:off x="685381" y="1594023"/>
              <a:ext cx="8458619" cy="4548978"/>
              <a:chOff x="685381" y="1594023"/>
              <a:chExt cx="8458619" cy="4548978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381" y="1594023"/>
                <a:ext cx="8458619" cy="438926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5018" y="4641867"/>
                <a:ext cx="5430982" cy="484634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18805" y="5697344"/>
                <a:ext cx="7434695" cy="445657"/>
              </a:xfrm>
              <a:prstGeom prst="rect">
                <a:avLst/>
              </a:prstGeom>
            </p:spPr>
          </p:pic>
          <p:grpSp>
            <p:nvGrpSpPr>
              <p:cNvPr id="27" name="组合 26"/>
              <p:cNvGrpSpPr/>
              <p:nvPr/>
            </p:nvGrpSpPr>
            <p:grpSpPr>
              <a:xfrm>
                <a:off x="3879745" y="2001215"/>
                <a:ext cx="4883255" cy="2123582"/>
                <a:chOff x="3879745" y="1955495"/>
                <a:chExt cx="4883255" cy="2123582"/>
              </a:xfrm>
            </p:grpSpPr>
            <p:grpSp>
              <p:nvGrpSpPr>
                <p:cNvPr id="21" name="组合 20"/>
                <p:cNvGrpSpPr/>
                <p:nvPr/>
              </p:nvGrpSpPr>
              <p:grpSpPr>
                <a:xfrm>
                  <a:off x="3879745" y="2482250"/>
                  <a:ext cx="4883255" cy="1596827"/>
                  <a:chOff x="3869354" y="2317399"/>
                  <a:chExt cx="4883255" cy="1596827"/>
                </a:xfrm>
              </p:grpSpPr>
              <p:pic>
                <p:nvPicPr>
                  <p:cNvPr id="17" name="图片 16"/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b="72775"/>
                  <a:stretch/>
                </p:blipFill>
                <p:spPr>
                  <a:xfrm>
                    <a:off x="4123459" y="3363060"/>
                    <a:ext cx="4629150" cy="551166"/>
                  </a:xfrm>
                  <a:prstGeom prst="rect">
                    <a:avLst/>
                  </a:prstGeom>
                </p:spPr>
              </p:pic>
              <p:pic>
                <p:nvPicPr>
                  <p:cNvPr id="20" name="图片 19"/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t="37860" b="32371"/>
                  <a:stretch/>
                </p:blipFill>
                <p:spPr>
                  <a:xfrm>
                    <a:off x="4113068" y="2822302"/>
                    <a:ext cx="4639541" cy="547732"/>
                  </a:xfrm>
                  <a:prstGeom prst="rect">
                    <a:avLst/>
                  </a:prstGeom>
                </p:spPr>
              </p:pic>
              <p:pic>
                <p:nvPicPr>
                  <p:cNvPr id="19" name="图片 18"/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t="77938"/>
                  <a:stretch/>
                </p:blipFill>
                <p:spPr>
                  <a:xfrm>
                    <a:off x="3869354" y="2317399"/>
                    <a:ext cx="4787428" cy="418866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23" name="直接连接符 22"/>
                <p:cNvCxnSpPr/>
                <p:nvPr/>
              </p:nvCxnSpPr>
              <p:spPr bwMode="auto">
                <a:xfrm flipH="1">
                  <a:off x="4322618" y="1957890"/>
                  <a:ext cx="1432216" cy="546948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" name="直接连接符 24"/>
                <p:cNvCxnSpPr/>
                <p:nvPr/>
              </p:nvCxnSpPr>
              <p:spPr bwMode="auto">
                <a:xfrm>
                  <a:off x="7355035" y="1955495"/>
                  <a:ext cx="950765" cy="54934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29" name="直接连接符 28"/>
              <p:cNvCxnSpPr/>
              <p:nvPr/>
            </p:nvCxnSpPr>
            <p:spPr bwMode="auto">
              <a:xfrm flipH="1">
                <a:off x="3307772" y="4077946"/>
                <a:ext cx="2467844" cy="60449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直接连接符 34"/>
              <p:cNvCxnSpPr/>
              <p:nvPr/>
            </p:nvCxnSpPr>
            <p:spPr bwMode="auto">
              <a:xfrm>
                <a:off x="7219141" y="4074832"/>
                <a:ext cx="1191030" cy="607605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直接连接符 37"/>
              <p:cNvCxnSpPr/>
              <p:nvPr/>
            </p:nvCxnSpPr>
            <p:spPr bwMode="auto">
              <a:xfrm flipH="1">
                <a:off x="1599623" y="5116304"/>
                <a:ext cx="1708149" cy="64694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直接连接符 39"/>
              <p:cNvCxnSpPr/>
              <p:nvPr/>
            </p:nvCxnSpPr>
            <p:spPr bwMode="auto">
              <a:xfrm>
                <a:off x="4990789" y="5092264"/>
                <a:ext cx="3835711" cy="636258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0" name="矩形 29"/>
            <p:cNvSpPr/>
            <p:nvPr/>
          </p:nvSpPr>
          <p:spPr bwMode="auto">
            <a:xfrm>
              <a:off x="4762608" y="5728522"/>
              <a:ext cx="1545409" cy="401648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7" name="矩形 6"/>
          <p:cNvSpPr/>
          <p:nvPr/>
        </p:nvSpPr>
        <p:spPr bwMode="auto">
          <a:xfrm>
            <a:off x="291680" y="978466"/>
            <a:ext cx="8560639" cy="297138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1"/>
              </a:buClr>
              <a:buSzPct val="100000"/>
              <a:buFontTx/>
              <a:buNone/>
              <a:tabLst/>
            </a:pPr>
            <a:endParaRPr kumimoji="0" lang="zh-CN" alt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80314" y="1617366"/>
            <a:ext cx="745505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000" b="1" baseline="0" dirty="0">
                <a:latin typeface="微软雅黑" pitchFamily="34" charset="-122"/>
                <a:ea typeface="微软雅黑" pitchFamily="34" charset="-122"/>
              </a:rPr>
              <a:t>上行：</a:t>
            </a:r>
            <a:r>
              <a:rPr lang="en-US" altLang="zh-CN" sz="2000" b="1" baseline="0" dirty="0" err="1">
                <a:latin typeface="微软雅黑" pitchFamily="34" charset="-122"/>
                <a:ea typeface="微软雅黑" pitchFamily="34" charset="-122"/>
              </a:rPr>
              <a:t>FCntUp</a:t>
            </a:r>
            <a:endParaRPr lang="en-US" altLang="zh-CN" sz="2000" b="1" baseline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000" b="1" baseline="0" dirty="0">
                <a:latin typeface="微软雅黑" pitchFamily="34" charset="-122"/>
                <a:ea typeface="微软雅黑" pitchFamily="34" charset="-122"/>
              </a:rPr>
              <a:t>下行：</a:t>
            </a:r>
            <a:r>
              <a:rPr lang="en-US" altLang="zh-CN" sz="2000" b="1" baseline="0" dirty="0" err="1">
                <a:latin typeface="微软雅黑" pitchFamily="34" charset="-122"/>
                <a:ea typeface="微软雅黑" pitchFamily="34" charset="-122"/>
              </a:rPr>
              <a:t>NFCntDown</a:t>
            </a:r>
            <a:r>
              <a:rPr lang="zh-CN" altLang="en-US" sz="2000" b="1" baseline="0" dirty="0">
                <a:latin typeface="微软雅黑" pitchFamily="34" charset="-122"/>
                <a:ea typeface="微软雅黑" pitchFamily="34" charset="-122"/>
              </a:rPr>
              <a:t>统计收到的</a:t>
            </a:r>
            <a:r>
              <a:rPr lang="en-US" altLang="zh-CN" sz="2000" b="1" baseline="0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000" b="1" baseline="0" dirty="0">
                <a:latin typeface="微软雅黑" pitchFamily="34" charset="-122"/>
                <a:ea typeface="微软雅黑" pitchFamily="34" charset="-122"/>
              </a:rPr>
              <a:t>指令帧，由网络服务器管理</a:t>
            </a: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b="1" baseline="0" dirty="0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en-US" altLang="zh-CN" sz="2000" b="1" baseline="0" dirty="0" err="1">
                <a:latin typeface="微软雅黑" pitchFamily="34" charset="-122"/>
                <a:ea typeface="微软雅黑" pitchFamily="34" charset="-122"/>
              </a:rPr>
              <a:t>AFCntDown</a:t>
            </a:r>
            <a:r>
              <a:rPr lang="zh-CN" altLang="en-US" sz="2000" b="1" baseline="0" dirty="0">
                <a:latin typeface="微软雅黑" pitchFamily="34" charset="-122"/>
                <a:ea typeface="微软雅黑" pitchFamily="34" charset="-122"/>
              </a:rPr>
              <a:t>统计收到的应用数据帧，由应用服务器管理</a:t>
            </a:r>
            <a:endParaRPr lang="en-US" altLang="zh-CN" sz="2000" b="1" baseline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endParaRPr lang="en-US" altLang="zh-CN" sz="2000" b="1" baseline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b="1" baseline="0" dirty="0">
                <a:latin typeface="微软雅黑" pitchFamily="34" charset="-122"/>
                <a:ea typeface="微软雅黑" pitchFamily="34" charset="-122"/>
              </a:rPr>
              <a:t>OTAA</a:t>
            </a:r>
            <a:r>
              <a:rPr lang="zh-CN" altLang="en-US" sz="2000" b="1" baseline="0" dirty="0">
                <a:latin typeface="微软雅黑" pitchFamily="34" charset="-122"/>
                <a:ea typeface="微软雅黑" pitchFamily="34" charset="-122"/>
              </a:rPr>
              <a:t>设备入网清</a:t>
            </a:r>
            <a:r>
              <a:rPr lang="en-US" altLang="zh-CN" sz="2000" b="1" baseline="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baseline="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baseline="0" dirty="0">
                <a:latin typeface="微软雅黑" pitchFamily="34" charset="-122"/>
                <a:ea typeface="微软雅黑" pitchFamily="34" charset="-122"/>
              </a:rPr>
              <a:t>ABP</a:t>
            </a:r>
            <a:r>
              <a:rPr lang="zh-CN" altLang="en-US" sz="2000" b="1" baseline="0" dirty="0">
                <a:latin typeface="微软雅黑" pitchFamily="34" charset="-122"/>
                <a:ea typeface="微软雅黑" pitchFamily="34" charset="-122"/>
              </a:rPr>
              <a:t>不重置</a:t>
            </a:r>
          </a:p>
        </p:txBody>
      </p:sp>
      <p:sp>
        <p:nvSpPr>
          <p:cNvPr id="24" name="灯片编号占位符 4">
            <a:extLst>
              <a:ext uri="{FF2B5EF4-FFF2-40B4-BE49-F238E27FC236}">
                <a16:creationId xmlns:a16="http://schemas.microsoft.com/office/drawing/2014/main" id="{C03EE0EB-CE8E-43C3-8C13-DC982DD29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54075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LoRaWAN-</a:t>
            </a:r>
            <a:r>
              <a:rPr lang="zh-CN" altLang="en-US"/>
              <a:t>常见</a:t>
            </a:r>
            <a:r>
              <a:rPr lang="en-US" altLang="zh-CN"/>
              <a:t>MAC</a:t>
            </a:r>
            <a:r>
              <a:rPr lang="zh-CN" altLang="en-US"/>
              <a:t>指令</a:t>
            </a:r>
            <a:endParaRPr lang="en-US" altLang="zh-CN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26A634C-C199-4493-8A05-D306C9928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LinkADRReq</a:t>
            </a:r>
          </a:p>
          <a:p>
            <a:pPr lvl="1"/>
            <a:r>
              <a:rPr lang="zh-CN" altLang="en-US"/>
              <a:t>网关要求设备改变数据率、发射功率、发送信道</a:t>
            </a:r>
          </a:p>
          <a:p>
            <a:r>
              <a:rPr lang="en-US" altLang="zh-CN"/>
              <a:t>RXParamSetupReq</a:t>
            </a:r>
          </a:p>
          <a:p>
            <a:pPr lvl="1"/>
            <a:r>
              <a:rPr lang="zh-CN" altLang="en-US"/>
              <a:t>网关配置设备</a:t>
            </a:r>
            <a:r>
              <a:rPr lang="en-US" altLang="zh-CN"/>
              <a:t>RX1</a:t>
            </a:r>
            <a:r>
              <a:rPr lang="zh-CN" altLang="en-US"/>
              <a:t>数据率、</a:t>
            </a:r>
            <a:r>
              <a:rPr lang="en-US" altLang="zh-CN"/>
              <a:t>RX2</a:t>
            </a:r>
            <a:r>
              <a:rPr lang="zh-CN" altLang="en-US"/>
              <a:t>的数据率和信道</a:t>
            </a:r>
          </a:p>
          <a:p>
            <a:r>
              <a:rPr lang="en-US" altLang="zh-CN"/>
              <a:t>DLChannelReq</a:t>
            </a:r>
          </a:p>
          <a:p>
            <a:pPr lvl="1"/>
            <a:r>
              <a:rPr lang="zh-CN" altLang="en-US"/>
              <a:t>网关配置设备</a:t>
            </a:r>
            <a:r>
              <a:rPr lang="en-US" altLang="zh-CN"/>
              <a:t>RX1</a:t>
            </a:r>
            <a:r>
              <a:rPr lang="zh-CN" altLang="en-US"/>
              <a:t>信道</a:t>
            </a:r>
          </a:p>
          <a:p>
            <a:r>
              <a:rPr lang="en-US" altLang="zh-CN"/>
              <a:t>RXTimingSetupReq</a:t>
            </a:r>
          </a:p>
          <a:p>
            <a:pPr lvl="1"/>
            <a:r>
              <a:rPr lang="zh-CN" altLang="en-US"/>
              <a:t>网关配置设备</a:t>
            </a:r>
            <a:r>
              <a:rPr lang="en-US" altLang="zh-CN"/>
              <a:t>RECEIVE_DELAY1</a:t>
            </a:r>
          </a:p>
          <a:p>
            <a:r>
              <a:rPr lang="en-US" altLang="zh-CN"/>
              <a:t>RekeyInd</a:t>
            </a:r>
          </a:p>
          <a:p>
            <a:pPr lvl="1"/>
            <a:r>
              <a:rPr lang="en-US" altLang="zh-CN"/>
              <a:t>OTAA</a:t>
            </a:r>
            <a:r>
              <a:rPr lang="zh-CN" altLang="en-US"/>
              <a:t>设备用于通知网关更新密钥</a:t>
            </a:r>
          </a:p>
          <a:p>
            <a:r>
              <a:rPr lang="en-US" altLang="zh-CN"/>
              <a:t>RekeyConf</a:t>
            </a:r>
          </a:p>
          <a:p>
            <a:pPr lvl="1"/>
            <a:r>
              <a:rPr lang="zh-CN" altLang="en-US"/>
              <a:t>网关通知</a:t>
            </a:r>
            <a:r>
              <a:rPr lang="en-US" altLang="zh-CN"/>
              <a:t>OTAA</a:t>
            </a:r>
            <a:r>
              <a:rPr lang="zh-CN" altLang="en-US"/>
              <a:t>设备确认密钥更新</a:t>
            </a:r>
          </a:p>
          <a:p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7FE7A751-AB44-4256-9003-C15F8A21E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164560"/>
      </p:ext>
    </p:extLst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69C3-3244-4027-AFBD-B907C05D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LoRaWAN-</a:t>
            </a:r>
            <a:r>
              <a:rPr lang="zh-CN" altLang="en-US"/>
              <a:t>常见</a:t>
            </a:r>
            <a:r>
              <a:rPr lang="en-US" altLang="zh-CN"/>
              <a:t>MAC</a:t>
            </a:r>
            <a:r>
              <a:rPr lang="zh-CN" altLang="en-US"/>
              <a:t>指令</a:t>
            </a:r>
            <a:endParaRPr lang="en-US" altLang="zh-CN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78AD122-448E-4731-94D1-FFA65135F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ADRParamSetupReq</a:t>
            </a:r>
          </a:p>
          <a:p>
            <a:pPr lvl="1"/>
            <a:r>
              <a:rPr lang="zh-CN" altLang="en-US"/>
              <a:t>网关用于设置</a:t>
            </a:r>
            <a:r>
              <a:rPr lang="en-US" altLang="zh-CN"/>
              <a:t>ADR_ACK_LIMIT</a:t>
            </a:r>
          </a:p>
          <a:p>
            <a:r>
              <a:rPr lang="en-US" altLang="zh-CN"/>
              <a:t>PingSlotInfoReq</a:t>
            </a:r>
          </a:p>
          <a:p>
            <a:pPr lvl="1"/>
            <a:r>
              <a:rPr lang="en-US" altLang="zh-CN"/>
              <a:t>Class B</a:t>
            </a:r>
            <a:r>
              <a:rPr lang="zh-CN" altLang="en-US"/>
              <a:t>设备告知网关其</a:t>
            </a:r>
            <a:r>
              <a:rPr lang="en-US" altLang="zh-CN"/>
              <a:t>ping slot</a:t>
            </a:r>
            <a:r>
              <a:rPr lang="zh-CN" altLang="en-US"/>
              <a:t>周期</a:t>
            </a:r>
          </a:p>
          <a:p>
            <a:r>
              <a:rPr lang="en-US" altLang="zh-CN"/>
              <a:t>PingSlotChannelReq</a:t>
            </a:r>
          </a:p>
          <a:p>
            <a:pPr lvl="1"/>
            <a:r>
              <a:rPr lang="zh-CN" altLang="en-US"/>
              <a:t>网关设置</a:t>
            </a:r>
            <a:r>
              <a:rPr lang="en-US" altLang="zh-CN"/>
              <a:t>class B</a:t>
            </a:r>
            <a:r>
              <a:rPr lang="zh-CN" altLang="en-US"/>
              <a:t>设备的</a:t>
            </a:r>
            <a:r>
              <a:rPr lang="en-US" altLang="zh-CN"/>
              <a:t>ping slot</a:t>
            </a:r>
            <a:r>
              <a:rPr lang="zh-CN" altLang="en-US"/>
              <a:t>信道</a:t>
            </a:r>
          </a:p>
          <a:p>
            <a:r>
              <a:rPr lang="en-US" altLang="zh-CN"/>
              <a:t>BeaconFreReq</a:t>
            </a:r>
          </a:p>
          <a:p>
            <a:pPr lvl="1"/>
            <a:r>
              <a:rPr lang="zh-CN" altLang="en-US"/>
              <a:t>网关修改</a:t>
            </a:r>
            <a:r>
              <a:rPr lang="en-US" altLang="zh-CN"/>
              <a:t>beacon</a:t>
            </a:r>
            <a:r>
              <a:rPr lang="zh-CN" altLang="en-US"/>
              <a:t>的发送信道</a:t>
            </a:r>
          </a:p>
          <a:p>
            <a:r>
              <a:rPr lang="en-US" altLang="zh-CN"/>
              <a:t>DeviceModeInd</a:t>
            </a:r>
          </a:p>
          <a:p>
            <a:pPr lvl="1"/>
            <a:r>
              <a:rPr lang="zh-CN" altLang="en-US"/>
              <a:t>设备告知网关其当前是</a:t>
            </a:r>
            <a:r>
              <a:rPr lang="en-US" altLang="zh-CN"/>
              <a:t>class A</a:t>
            </a:r>
            <a:r>
              <a:rPr lang="zh-CN" altLang="en-US"/>
              <a:t>还是</a:t>
            </a:r>
            <a:r>
              <a:rPr lang="en-US" altLang="zh-CN"/>
              <a:t>class C</a:t>
            </a:r>
            <a:endParaRPr lang="en-US" altLang="zh-CN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7EE7BE42-8A2A-472F-BBEE-CBD3364C0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657857"/>
      </p:ext>
    </p:extLst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410200"/>
          </a:xfrm>
        </p:spPr>
        <p:txBody>
          <a:bodyPr>
            <a:normAutofit/>
          </a:bodyPr>
          <a:lstStyle/>
          <a:p>
            <a:endParaRPr lang="en-US" altLang="zh-CN" sz="2800"/>
          </a:p>
          <a:p>
            <a:r>
              <a:rPr lang="zh-CN" altLang="en-US" sz="2800"/>
              <a:t>概述</a:t>
            </a:r>
            <a:endParaRPr lang="en-US" altLang="zh-CN" sz="2800"/>
          </a:p>
          <a:p>
            <a:r>
              <a:rPr lang="zh-CN" altLang="en-US" sz="2800"/>
              <a:t>关键特性</a:t>
            </a:r>
            <a:endParaRPr lang="en-US" altLang="zh-CN" sz="2800"/>
          </a:p>
          <a:p>
            <a:r>
              <a:rPr lang="zh-CN" altLang="en-US" sz="2800"/>
              <a:t>代表性协议</a:t>
            </a:r>
            <a:endParaRPr lang="en-US" altLang="zh-CN" sz="2800"/>
          </a:p>
          <a:p>
            <a:r>
              <a:rPr lang="zh-CN" altLang="en-US" sz="2800">
                <a:solidFill>
                  <a:srgbClr val="C00000"/>
                </a:solidFill>
              </a:rPr>
              <a:t>学术研究进展</a:t>
            </a:r>
            <a:endParaRPr lang="en-US" altLang="zh-CN" sz="2800">
              <a:solidFill>
                <a:srgbClr val="C00000"/>
              </a:solidFill>
            </a:endParaRPr>
          </a:p>
          <a:p>
            <a:r>
              <a:rPr lang="zh-CN" altLang="en-US" sz="2800"/>
              <a:t>案例开发</a:t>
            </a:r>
            <a:endParaRPr lang="en-US" altLang="zh-CN" sz="2800"/>
          </a:p>
          <a:p>
            <a:endParaRPr lang="en-US" altLang="zh-CN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061283"/>
      </p:ext>
    </p:extLst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53677-49D2-4A3A-80C6-4738E395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学术研究进展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598184-4B72-4A40-9D7E-7CA3665D8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性能分析</a:t>
            </a:r>
            <a:endParaRPr lang="en-US" altLang="zh-CN"/>
          </a:p>
          <a:p>
            <a:pPr lvl="1"/>
            <a:r>
              <a:rPr lang="zh-CN" altLang="en-US"/>
              <a:t>在</a:t>
            </a:r>
            <a:r>
              <a:rPr lang="en-US" altLang="zh-CN"/>
              <a:t>NB-IoT</a:t>
            </a:r>
            <a:r>
              <a:rPr lang="zh-CN" altLang="en-US"/>
              <a:t>标准形成初期，有较多工作分析验证了</a:t>
            </a:r>
            <a:r>
              <a:rPr lang="en-US" altLang="zh-CN"/>
              <a:t>NB-IoT</a:t>
            </a:r>
            <a:r>
              <a:rPr lang="zh-CN" altLang="en-US"/>
              <a:t>系统在不同实际场景中（市区</a:t>
            </a:r>
            <a:r>
              <a:rPr lang="en-US" altLang="zh-CN"/>
              <a:t>/</a:t>
            </a:r>
            <a:r>
              <a:rPr lang="zh-CN" altLang="en-US"/>
              <a:t>郊区，独立</a:t>
            </a:r>
            <a:r>
              <a:rPr lang="en-US" altLang="zh-CN"/>
              <a:t>/</a:t>
            </a:r>
            <a:r>
              <a:rPr lang="zh-CN" altLang="en-US"/>
              <a:t>带内部署等）的性能，其中包括对</a:t>
            </a:r>
            <a:r>
              <a:rPr lang="en-US" altLang="zh-CN"/>
              <a:t>NB-IoT</a:t>
            </a:r>
            <a:r>
              <a:rPr lang="zh-CN" altLang="en-US"/>
              <a:t>基站覆盖范围、连接数目的测试，对</a:t>
            </a:r>
            <a:r>
              <a:rPr lang="en-US" altLang="zh-CN"/>
              <a:t>NB-IoT</a:t>
            </a:r>
            <a:r>
              <a:rPr lang="zh-CN" altLang="en-US"/>
              <a:t>终端设备数据通信、功耗、安全模式等的测试</a:t>
            </a:r>
          </a:p>
          <a:p>
            <a:pPr lvl="1"/>
            <a:r>
              <a:rPr lang="zh-CN" altLang="en-US"/>
              <a:t>对</a:t>
            </a:r>
            <a:r>
              <a:rPr lang="en-US" altLang="zh-CN"/>
              <a:t>LoRaWAN</a:t>
            </a:r>
            <a:r>
              <a:rPr lang="zh-CN" altLang="en-US"/>
              <a:t>技术进行介绍讲解，研究其网络架构、协议设计、安全性分析等，大部分工作也将</a:t>
            </a:r>
            <a:r>
              <a:rPr lang="en-US" altLang="zh-CN"/>
              <a:t>LoRaWAN</a:t>
            </a:r>
            <a:r>
              <a:rPr lang="zh-CN" altLang="en-US"/>
              <a:t>与其他</a:t>
            </a:r>
            <a:r>
              <a:rPr lang="en-US" altLang="zh-CN"/>
              <a:t>LPWAN</a:t>
            </a:r>
            <a:r>
              <a:rPr lang="zh-CN" altLang="en-US"/>
              <a:t>技术进行比较，分析其电池寿命、网络容量、通信时延、通信距离等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94A1486D-6AA6-4CD3-9FE5-F3A95F399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58134"/>
      </p:ext>
    </p:extLst>
  </p:cSld>
  <p:clrMapOvr>
    <a:masterClrMapping/>
  </p:clrMapOvr>
  <p:transition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53677-49D2-4A3A-80C6-4738E395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学术研究进展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598184-4B72-4A40-9D7E-7CA3665D8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性能优化及建模仿真</a:t>
            </a:r>
            <a:endParaRPr lang="en-US" altLang="zh-CN"/>
          </a:p>
          <a:p>
            <a:pPr lvl="1"/>
            <a:r>
              <a:rPr lang="zh-CN" altLang="en-US"/>
              <a:t>随着</a:t>
            </a:r>
            <a:r>
              <a:rPr lang="en-US" altLang="zh-CN"/>
              <a:t>NB-IoT</a:t>
            </a:r>
            <a:r>
              <a:rPr lang="zh-CN" altLang="en-US"/>
              <a:t>网络规模的扩大和结构的复杂化，其性能难以同时满足各类用户的实际需求。近两年，有一些工作关注于</a:t>
            </a:r>
            <a:r>
              <a:rPr lang="en-US" altLang="zh-CN"/>
              <a:t>NB-IoT</a:t>
            </a:r>
            <a:r>
              <a:rPr lang="zh-CN" altLang="en-US"/>
              <a:t>网络关键性能指标的优化，并提出了自适应的网络参数设置方法。例如：通过调整编解码策略提高数据传输的可靠性；通过调整节点</a:t>
            </a:r>
            <a:r>
              <a:rPr lang="en-US" altLang="zh-CN"/>
              <a:t>duty cycle</a:t>
            </a:r>
            <a:r>
              <a:rPr lang="zh-CN" altLang="en-US"/>
              <a:t>模式降低其使用能耗</a:t>
            </a:r>
            <a:endParaRPr lang="en-US" altLang="zh-CN"/>
          </a:p>
          <a:p>
            <a:pPr lvl="1"/>
            <a:r>
              <a:rPr lang="zh-CN" altLang="en-US"/>
              <a:t>对</a:t>
            </a:r>
            <a:r>
              <a:rPr lang="en-US" altLang="zh-CN"/>
              <a:t>LoRaWAN</a:t>
            </a:r>
            <a:r>
              <a:rPr lang="zh-CN" altLang="en-US"/>
              <a:t>进行建模分析，通过对网络通信参数的修改，仿真大规模节点的性能，如研究不同终端设备数量和分布下，使用相同扩频因子时的网络性能</a:t>
            </a:r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1ABC07F8-4675-415E-9059-DFB7D8DF5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858332"/>
      </p:ext>
    </p:extLst>
  </p:cSld>
  <p:clrMapOvr>
    <a:masterClrMapping/>
  </p:clrMapOvr>
  <p:transition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53677-49D2-4A3A-80C6-4738E395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学术研究进展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598184-4B72-4A40-9D7E-7CA3665D8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实际应用</a:t>
            </a:r>
            <a:endParaRPr lang="en-US" altLang="zh-CN"/>
          </a:p>
          <a:p>
            <a:pPr lvl="1"/>
            <a:r>
              <a:rPr lang="en-US" altLang="zh-CN"/>
              <a:t>NB-IoT</a:t>
            </a:r>
            <a:r>
              <a:rPr lang="zh-CN" altLang="en-US"/>
              <a:t>作为低功耗广域网的一项重要技术，具备突出的性能优势，催生了越来越多的实际应用。比如，在智慧城市、智能家居、农业物联网、可穿戴智能设备等方面已经开始有一些实际的部署和使用</a:t>
            </a:r>
            <a:endParaRPr lang="en-US" altLang="zh-CN"/>
          </a:p>
          <a:p>
            <a:pPr lvl="1"/>
            <a:r>
              <a:rPr lang="zh-CN" altLang="en-US"/>
              <a:t>设计了各种原型系统，用于收集数据用于研究</a:t>
            </a:r>
            <a:r>
              <a:rPr lang="en-US" altLang="zh-CN"/>
              <a:t>,</a:t>
            </a:r>
            <a:r>
              <a:rPr lang="zh-CN" altLang="en-US"/>
              <a:t>如环境相关数据的收集。或者基于特定应用场景，部署了具体的</a:t>
            </a:r>
            <a:r>
              <a:rPr lang="en-US" altLang="zh-CN"/>
              <a:t>LoRaWAN</a:t>
            </a:r>
            <a:r>
              <a:rPr lang="zh-CN" altLang="en-US"/>
              <a:t>系统，使用的硬件常为</a:t>
            </a:r>
            <a:r>
              <a:rPr lang="en-US" altLang="zh-CN"/>
              <a:t>Semtech LoRa</a:t>
            </a:r>
            <a:r>
              <a:rPr lang="zh-CN" altLang="en-US"/>
              <a:t>模组与</a:t>
            </a:r>
            <a:r>
              <a:rPr lang="en-US" altLang="zh-CN"/>
              <a:t>Arduino</a:t>
            </a:r>
            <a:r>
              <a:rPr lang="zh-CN" altLang="en-US"/>
              <a:t>或者</a:t>
            </a:r>
            <a:r>
              <a:rPr lang="en-US" altLang="zh-CN"/>
              <a:t>Raspberry Pi</a:t>
            </a:r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C3E0F4EA-6723-42F2-9033-F031D8032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839586"/>
      </p:ext>
    </p:extLst>
  </p:cSld>
  <p:clrMapOvr>
    <a:masterClrMapping/>
  </p:clrMapOvr>
  <p:transition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53677-49D2-4A3A-80C6-4738E395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学术研究进展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B840BCCC-9DCC-4A78-AF51-0C8380867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[SenSys'2021] NELoRa: Towards Ultra-low SNR LoRa Communication with Neural-enhanced Demodulation </a:t>
            </a:r>
          </a:p>
          <a:p>
            <a:pPr lvl="1"/>
            <a:r>
              <a:rPr lang="zh-CN" altLang="en-US"/>
              <a:t>实现超低信噪比下解码</a:t>
            </a:r>
            <a:r>
              <a:rPr lang="en-US" altLang="zh-CN"/>
              <a:t>LoRa</a:t>
            </a:r>
            <a:r>
              <a:rPr lang="zh-CN" altLang="en-US"/>
              <a:t>信号。它首先利用深度神经网络</a:t>
            </a:r>
            <a:r>
              <a:rPr lang="en-US" altLang="zh-CN"/>
              <a:t>(DNN)</a:t>
            </a:r>
            <a:r>
              <a:rPr lang="zh-CN" altLang="en-US"/>
              <a:t>滤波器提取多维特征，捕获干净的</a:t>
            </a:r>
            <a:r>
              <a:rPr lang="en-US" altLang="zh-CN"/>
              <a:t>chirp</a:t>
            </a:r>
            <a:r>
              <a:rPr lang="zh-CN" altLang="en-US"/>
              <a:t>符号，并用基于谱图的</a:t>
            </a:r>
            <a:r>
              <a:rPr lang="en-US" altLang="zh-CN"/>
              <a:t>DNN</a:t>
            </a:r>
            <a:r>
              <a:rPr lang="zh-CN" altLang="en-US"/>
              <a:t>解码器来解码这些信号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934D91-76E7-476D-A96D-53ADA4991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49" y="3708270"/>
            <a:ext cx="8007051" cy="2734269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3844B7EC-CC9C-4385-857C-A5D881E82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119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847991"/>
      </p:ext>
    </p:extLst>
  </p:cSld>
  <p:clrMapOvr>
    <a:masterClrMapping/>
  </p:clrMapOvr>
  <p:transition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53677-49D2-4A3A-80C6-4738E395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学术研究进展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81D3FC3-B3D3-430A-A40E-2B5321369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[INFOCOM'2020] CoLoRa: Enabling MultiPacket Reception in LoRa</a:t>
            </a:r>
          </a:p>
          <a:p>
            <a:pPr lvl="1"/>
            <a:r>
              <a:rPr lang="zh-CN" altLang="en-US"/>
              <a:t>一个适用于</a:t>
            </a:r>
            <a:r>
              <a:rPr lang="en-US" altLang="zh-CN"/>
              <a:t>LoRa</a:t>
            </a:r>
            <a:r>
              <a:rPr lang="zh-CN" altLang="en-US"/>
              <a:t>的多包接收协议。</a:t>
            </a:r>
            <a:r>
              <a:rPr lang="en-US" altLang="zh-CN"/>
              <a:t>CoLoRa</a:t>
            </a:r>
            <a:r>
              <a:rPr lang="zh-CN" altLang="en-US"/>
              <a:t>利用冲突数据包之间的时间偏差，能直接从一个冲突中分解除多个并发传输的数据包，大大提高网络吞吐量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6F56AA-2751-4286-AF81-2FD4C5043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408" y="3435669"/>
            <a:ext cx="4445514" cy="3081178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F2D90266-1FD9-446D-B3B1-6D38002D8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738962"/>
      </p:ext>
    </p:extLst>
  </p:cSld>
  <p:clrMapOvr>
    <a:masterClrMapping/>
  </p:clrMapOvr>
  <p:transition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53677-49D2-4A3A-80C6-4738E395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学术研究进展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6F72E0E9-3691-46D7-91DA-976BD3AD5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[MobiCom'2020] LMAC: Efficient Carrier-Sense Multiple Access for LoRa </a:t>
            </a:r>
          </a:p>
          <a:p>
            <a:pPr lvl="1"/>
            <a:r>
              <a:rPr lang="zh-CN" altLang="en-US"/>
              <a:t>专为</a:t>
            </a:r>
            <a:r>
              <a:rPr lang="en-US" altLang="zh-CN"/>
              <a:t>LoRa</a:t>
            </a:r>
            <a:r>
              <a:rPr lang="zh-CN" altLang="en-US"/>
              <a:t>设计的基于</a:t>
            </a:r>
            <a:r>
              <a:rPr lang="en-US" altLang="zh-CN"/>
              <a:t>CSMA</a:t>
            </a:r>
            <a:r>
              <a:rPr lang="zh-CN" altLang="en-US"/>
              <a:t>的</a:t>
            </a:r>
            <a:r>
              <a:rPr lang="en-US" altLang="zh-CN"/>
              <a:t>MAC</a:t>
            </a:r>
            <a:r>
              <a:rPr lang="zh-CN" altLang="en-US"/>
              <a:t>层协议。</a:t>
            </a:r>
            <a:r>
              <a:rPr lang="en-US" altLang="zh-CN"/>
              <a:t>LMAC</a:t>
            </a:r>
            <a:r>
              <a:rPr lang="zh-CN" altLang="en-US"/>
              <a:t>利用用于检测前导码的信道活动检测（</a:t>
            </a:r>
            <a:r>
              <a:rPr lang="en-US" altLang="zh-CN"/>
              <a:t>CAD</a:t>
            </a:r>
            <a:r>
              <a:rPr lang="zh-CN" altLang="en-US"/>
              <a:t>）机制来检测信道状况。和现有默认的</a:t>
            </a:r>
            <a:r>
              <a:rPr lang="en-US" altLang="zh-CN"/>
              <a:t>ALOHA</a:t>
            </a:r>
            <a:r>
              <a:rPr lang="zh-CN" altLang="en-US"/>
              <a:t>机制相比，</a:t>
            </a:r>
            <a:r>
              <a:rPr lang="en-US" altLang="zh-CN"/>
              <a:t>LMAC</a:t>
            </a:r>
            <a:r>
              <a:rPr lang="zh-CN" altLang="en-US"/>
              <a:t>能将网络吞吐量提升一倍</a:t>
            </a:r>
            <a:endParaRPr lang="zh-CN" altLang="en-US" dirty="0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C9A57B1-B910-43CC-A888-2EDD60EB6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591931"/>
      </p:ext>
    </p:extLst>
  </p:cSld>
  <p:clrMapOvr>
    <a:masterClrMapping/>
  </p:clrMapOvr>
  <p:transition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53677-49D2-4A3A-80C6-4738E395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学术研究进展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F41FAC7-910D-4BFB-AFB5-7AB5DA442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[MobiCom‘2021] Seirios: Leveraging Multiple Channels for LoRaWAN Indoor and Outdoor Localization</a:t>
            </a:r>
          </a:p>
          <a:p>
            <a:pPr lvl="1"/>
            <a:r>
              <a:rPr lang="zh-CN" altLang="en-US"/>
              <a:t>一个基于</a:t>
            </a:r>
            <a:r>
              <a:rPr lang="en-US" altLang="zh-CN"/>
              <a:t>LoRa</a:t>
            </a:r>
            <a:r>
              <a:rPr lang="zh-CN" altLang="en-US"/>
              <a:t>的定位系统。它利用多通道的</a:t>
            </a:r>
            <a:r>
              <a:rPr lang="en-US" altLang="zh-CN"/>
              <a:t>CSI</a:t>
            </a:r>
            <a:r>
              <a:rPr lang="zh-CN" altLang="en-US"/>
              <a:t>作为多通道测量并在多个锚点（即</a:t>
            </a:r>
            <a:r>
              <a:rPr lang="en-US" altLang="zh-CN"/>
              <a:t>LoRaWAN</a:t>
            </a:r>
            <a:r>
              <a:rPr lang="zh-CN" altLang="en-US"/>
              <a:t>网关）上使用超分辨率算法，为</a:t>
            </a:r>
            <a:r>
              <a:rPr lang="en-US" altLang="zh-CN"/>
              <a:t>LoRaWAN</a:t>
            </a:r>
            <a:r>
              <a:rPr lang="zh-CN" altLang="en-US"/>
              <a:t>设备提供了室内外较为精确的定位服务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A56BFD-2E6C-4B2E-B411-1F692DBFF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0" y="3819460"/>
            <a:ext cx="9144000" cy="2635159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98A8389D-CEB3-498B-9498-02F813C6D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22102"/>
      </p:ext>
    </p:extLst>
  </p:cSld>
  <p:clrMapOvr>
    <a:masterClrMapping/>
  </p:clrMapOvr>
  <p:transition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53677-49D2-4A3A-80C6-4738E395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学术研究进展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AD1CA04-0F4E-4CD4-A2B1-E7D924CD5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[UbiComp‘20] Exploring LoRa for Long-range Through-wall Sensing </a:t>
            </a:r>
          </a:p>
          <a:p>
            <a:pPr lvl="1"/>
            <a:r>
              <a:rPr lang="zh-CN" altLang="en-US"/>
              <a:t>建立</a:t>
            </a:r>
            <a:r>
              <a:rPr lang="en-US" altLang="zh-CN"/>
              <a:t>LoRa</a:t>
            </a:r>
            <a:r>
              <a:rPr lang="zh-CN" altLang="en-US"/>
              <a:t>信号传播模型用来捕捉运动物体与</a:t>
            </a:r>
            <a:r>
              <a:rPr lang="en-US" altLang="zh-CN"/>
              <a:t>LoRa</a:t>
            </a:r>
            <a:r>
              <a:rPr lang="zh-CN" altLang="en-US"/>
              <a:t>信号相位变化之间的关系，并在这个基础上设计了基于</a:t>
            </a:r>
            <a:r>
              <a:rPr lang="en-US" altLang="zh-CN"/>
              <a:t>LoRa</a:t>
            </a:r>
            <a:r>
              <a:rPr lang="zh-CN" altLang="en-US"/>
              <a:t>的长距离智能感知系统，能准确感知</a:t>
            </a:r>
            <a:r>
              <a:rPr lang="en-US" altLang="zh-CN"/>
              <a:t>30m</a:t>
            </a:r>
            <a:r>
              <a:rPr lang="zh-CN" altLang="en-US"/>
              <a:t>外人行走的信息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1D0C43-1631-4ADE-A07E-AC61A06C1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867" y="3642459"/>
            <a:ext cx="4528970" cy="3000388"/>
          </a:xfrm>
          <a:prstGeom prst="rect">
            <a:avLst/>
          </a:prstGeom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B4086A40-4315-4104-BD03-F4A034106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215529"/>
      </p:ext>
    </p:extLst>
  </p:cSld>
  <p:clrMapOvr>
    <a:masterClrMapping/>
  </p:clrMapOvr>
  <p:transition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03224" y="2309663"/>
            <a:ext cx="8532813" cy="92333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2400"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2400"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2400"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2400"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谢谢！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3102163"/>
      </p:ext>
    </p:extLst>
  </p:cSld>
  <p:clrMapOvr>
    <a:masterClrMapping/>
  </p:clrMapOvr>
  <p:transition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3700" y="38100"/>
            <a:ext cx="8242300" cy="9144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57200" y="990600"/>
            <a:ext cx="8305800" cy="5410200"/>
          </a:xfrm>
        </p:spPr>
        <p:txBody>
          <a:bodyPr/>
          <a:lstStyle/>
          <a:p>
            <a:endParaRPr lang="en-US" altLang="zh-CN" sz="2800"/>
          </a:p>
          <a:p>
            <a:r>
              <a:rPr lang="zh-CN" altLang="en-US" sz="2800"/>
              <a:t>概述</a:t>
            </a:r>
            <a:endParaRPr lang="en-US" altLang="zh-CN" sz="2800"/>
          </a:p>
          <a:p>
            <a:r>
              <a:rPr lang="zh-CN" altLang="en-US" sz="2800"/>
              <a:t>关键特性</a:t>
            </a:r>
            <a:endParaRPr lang="en-US" altLang="zh-CN" sz="2800"/>
          </a:p>
          <a:p>
            <a:r>
              <a:rPr lang="zh-CN" altLang="en-US" sz="2800"/>
              <a:t>代表性协议</a:t>
            </a:r>
            <a:endParaRPr lang="en-US" altLang="zh-CN" sz="2400"/>
          </a:p>
          <a:p>
            <a:r>
              <a:rPr lang="zh-CN" altLang="en-US" sz="2800"/>
              <a:t>学术研究进展</a:t>
            </a:r>
            <a:endParaRPr lang="en-US" altLang="zh-CN" sz="2800"/>
          </a:p>
          <a:p>
            <a:r>
              <a:rPr lang="zh-CN" altLang="en-US" sz="2800">
                <a:solidFill>
                  <a:srgbClr val="C00000"/>
                </a:solidFill>
              </a:rPr>
              <a:t>案例开发</a:t>
            </a:r>
            <a:endParaRPr lang="en-US" altLang="zh-CN" sz="2800">
              <a:solidFill>
                <a:srgbClr val="C00000"/>
              </a:solidFill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2117713"/>
      </p:ext>
    </p:extLst>
  </p:cSld>
  <p:clrMapOvr>
    <a:masterClrMapping/>
  </p:clrMapOvr>
  <p:transition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案例开发</a:t>
            </a:r>
            <a:r>
              <a:rPr lang="en-US" altLang="zh-CN"/>
              <a:t>——</a:t>
            </a:r>
            <a:r>
              <a:rPr lang="zh-CN" altLang="en-US"/>
              <a:t>智能垃圾桶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实验设置：</a:t>
            </a:r>
            <a:r>
              <a:rPr lang="en-US" altLang="zh-CN"/>
              <a:t>LoRa</a:t>
            </a:r>
            <a:r>
              <a:rPr lang="zh-CN" altLang="en-US"/>
              <a:t>节点将从传感器中获取监测数据，并将这些数据发送到</a:t>
            </a:r>
            <a:r>
              <a:rPr lang="en-US" altLang="zh-CN"/>
              <a:t>LoRa</a:t>
            </a:r>
            <a:r>
              <a:rPr lang="zh-CN" altLang="en-US"/>
              <a:t>网关。当网关收到数据后，它将把数据传递给物联网服务器</a:t>
            </a:r>
          </a:p>
          <a:p>
            <a:r>
              <a:rPr lang="zh-CN" altLang="en-US"/>
              <a:t>实验搭建</a:t>
            </a:r>
            <a:endParaRPr lang="en-US" altLang="zh-CN"/>
          </a:p>
          <a:p>
            <a:pPr lvl="1"/>
            <a:r>
              <a:rPr lang="en-US" altLang="zh-CN"/>
              <a:t>LoRa </a:t>
            </a:r>
            <a:r>
              <a:rPr lang="zh-CN" altLang="en-US"/>
              <a:t>终端节点：</a:t>
            </a:r>
            <a:r>
              <a:rPr lang="en-US" altLang="zh-CN"/>
              <a:t>LoRa Shield + Arduino UNO +  HX711</a:t>
            </a:r>
            <a:r>
              <a:rPr lang="zh-CN" altLang="en-US"/>
              <a:t>压力传感器</a:t>
            </a:r>
            <a:endParaRPr lang="en-US" altLang="zh-CN"/>
          </a:p>
          <a:p>
            <a:pPr lvl="1"/>
            <a:r>
              <a:rPr lang="en-US" altLang="zh-CN"/>
              <a:t>LoRa </a:t>
            </a:r>
            <a:r>
              <a:rPr lang="zh-CN" altLang="en-US"/>
              <a:t>网关：</a:t>
            </a:r>
            <a:r>
              <a:rPr lang="en-US" altLang="zh-CN"/>
              <a:t>Dragino LG01</a:t>
            </a:r>
          </a:p>
          <a:p>
            <a:pPr lvl="1"/>
            <a:r>
              <a:rPr lang="en-US" altLang="zh-CN"/>
              <a:t>IoT server</a:t>
            </a:r>
            <a:r>
              <a:rPr lang="zh-CN" altLang="en-US"/>
              <a:t>：</a:t>
            </a:r>
            <a:r>
              <a:rPr lang="en-US" altLang="zh-CN"/>
              <a:t>TTN LoRaWAN </a:t>
            </a:r>
            <a:r>
              <a:rPr lang="zh-CN" altLang="en-US"/>
              <a:t>服务器</a:t>
            </a:r>
            <a:endParaRPr lang="en-US" altLang="zh-C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074" y="4361937"/>
            <a:ext cx="6450049" cy="242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968D93-692D-4161-9A1A-A69EC4EEA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126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464826"/>
      </p:ext>
    </p:extLst>
  </p:cSld>
  <p:clrMapOvr>
    <a:masterClrMapping/>
  </p:clrMapOvr>
  <p:transition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案例开发</a:t>
            </a:r>
            <a:r>
              <a:rPr lang="en-US" altLang="zh-CN"/>
              <a:t>——</a:t>
            </a:r>
            <a:r>
              <a:rPr lang="zh-CN" altLang="en-US"/>
              <a:t>智能垃圾桶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步骤一：创建</a:t>
            </a:r>
            <a:r>
              <a:rPr lang="en-US" altLang="zh-CN"/>
              <a:t>TTN</a:t>
            </a:r>
            <a:r>
              <a:rPr lang="zh-CN" altLang="en-US"/>
              <a:t>物联网服务器账户</a:t>
            </a:r>
            <a:r>
              <a:rPr lang="en-US" altLang="zh-CN"/>
              <a:t>(</a:t>
            </a:r>
            <a:r>
              <a:rPr lang="zh-CN" altLang="en-US"/>
              <a:t>网址：</a:t>
            </a:r>
            <a:r>
              <a:rPr lang="en-US" altLang="zh-CN"/>
              <a:t>https://www.thethingsnetwork.org/)</a:t>
            </a:r>
          </a:p>
          <a:p>
            <a:r>
              <a:rPr lang="zh-CN" altLang="en-US"/>
              <a:t>步骤二：注册登录后，点击进入“</a:t>
            </a:r>
            <a:r>
              <a:rPr lang="en-US" altLang="zh-CN"/>
              <a:t>Console</a:t>
            </a:r>
            <a:r>
              <a:rPr lang="zh-CN" altLang="en-US"/>
              <a:t>”页面，在“</a:t>
            </a:r>
            <a:r>
              <a:rPr lang="en-US" altLang="zh-CN"/>
              <a:t>Console</a:t>
            </a:r>
            <a:r>
              <a:rPr lang="zh-CN" altLang="en-US"/>
              <a:t>”页面中创建一个</a:t>
            </a:r>
            <a:r>
              <a:rPr lang="en-US" altLang="zh-CN"/>
              <a:t>gateway</a:t>
            </a:r>
            <a:r>
              <a:rPr lang="zh-CN" altLang="en-US"/>
              <a:t>目录</a:t>
            </a:r>
            <a:endParaRPr lang="en-US" altLang="zh-CN"/>
          </a:p>
          <a:p>
            <a:endParaRPr lang="en-US" altLang="zh-CN"/>
          </a:p>
          <a:p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728673" y="2920201"/>
            <a:ext cx="7572353" cy="3776576"/>
            <a:chOff x="45176" y="2667000"/>
            <a:chExt cx="9045018" cy="4511041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76" y="2667000"/>
              <a:ext cx="9045018" cy="45110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流程图: 过程 5"/>
            <p:cNvSpPr/>
            <p:nvPr/>
          </p:nvSpPr>
          <p:spPr bwMode="auto">
            <a:xfrm>
              <a:off x="1097280" y="3672840"/>
              <a:ext cx="2423160" cy="33528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F0D4B618-6195-4A1F-A3C1-C2BC42FB0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127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589089"/>
      </p:ext>
    </p:extLst>
  </p:cSld>
  <p:clrMapOvr>
    <a:masterClrMapping/>
  </p:clrMapOvr>
  <p:transition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案例开发</a:t>
            </a:r>
            <a:r>
              <a:rPr lang="en-US" altLang="zh-CN"/>
              <a:t>——</a:t>
            </a:r>
            <a:r>
              <a:rPr lang="zh-CN" altLang="en-US"/>
              <a:t>智能垃圾桶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步骤三：在</a:t>
            </a:r>
            <a:r>
              <a:rPr lang="en-US" altLang="zh-CN"/>
              <a:t>TTN</a:t>
            </a:r>
            <a:r>
              <a:rPr lang="zh-CN" altLang="en-US"/>
              <a:t>服务器上创建一个终端节点目录。具体地，在“</a:t>
            </a:r>
            <a:r>
              <a:rPr lang="en-US" altLang="zh-CN"/>
              <a:t>Console</a:t>
            </a:r>
            <a:r>
              <a:rPr lang="zh-CN" altLang="en-US"/>
              <a:t>”页面上，添加一个</a:t>
            </a:r>
            <a:r>
              <a:rPr lang="en-US" altLang="zh-CN"/>
              <a:t>application</a:t>
            </a:r>
            <a:r>
              <a:rPr lang="zh-CN" altLang="en-US"/>
              <a:t>；接着在“</a:t>
            </a:r>
            <a:r>
              <a:rPr lang="en-US" altLang="zh-CN"/>
              <a:t>Application</a:t>
            </a:r>
            <a:r>
              <a:rPr lang="zh-CN" altLang="en-US"/>
              <a:t>”页面上，点击“</a:t>
            </a:r>
            <a:r>
              <a:rPr lang="en-US" altLang="zh-CN"/>
              <a:t>register device</a:t>
            </a:r>
            <a:r>
              <a:rPr lang="zh-CN" altLang="en-US"/>
              <a:t>”。同时将节点激活方式设置为</a:t>
            </a:r>
            <a:r>
              <a:rPr lang="en-US" altLang="zh-CN"/>
              <a:t>ABP</a:t>
            </a:r>
          </a:p>
          <a:p>
            <a:endParaRPr lang="en-US" altLang="zh-CN"/>
          </a:p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266424" y="2801912"/>
            <a:ext cx="6611152" cy="4627550"/>
            <a:chOff x="655320" y="2540620"/>
            <a:chExt cx="7772400" cy="5440378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320" y="2540620"/>
              <a:ext cx="7772400" cy="5440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流程图: 过程 3"/>
            <p:cNvSpPr/>
            <p:nvPr/>
          </p:nvSpPr>
          <p:spPr bwMode="auto">
            <a:xfrm>
              <a:off x="1508760" y="3870960"/>
              <a:ext cx="2255520" cy="33528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7" name="流程图: 过程 6"/>
            <p:cNvSpPr/>
            <p:nvPr/>
          </p:nvSpPr>
          <p:spPr bwMode="auto">
            <a:xfrm>
              <a:off x="1661160" y="5562600"/>
              <a:ext cx="3672840" cy="33528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8" name="流程图: 过程 7"/>
            <p:cNvSpPr/>
            <p:nvPr/>
          </p:nvSpPr>
          <p:spPr bwMode="auto">
            <a:xfrm>
              <a:off x="1371600" y="6019800"/>
              <a:ext cx="6812280" cy="33528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9" name="流程图: 过程 8"/>
            <p:cNvSpPr/>
            <p:nvPr/>
          </p:nvSpPr>
          <p:spPr bwMode="auto">
            <a:xfrm>
              <a:off x="1371600" y="6431280"/>
              <a:ext cx="6812280" cy="41148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412AAB28-F5D1-42A8-A9AE-00D05E8B9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128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417738"/>
      </p:ext>
    </p:extLst>
  </p:cSld>
  <p:clrMapOvr>
    <a:masterClrMapping/>
  </p:clrMapOvr>
  <p:transition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案例开发</a:t>
            </a:r>
            <a:r>
              <a:rPr lang="en-US" altLang="zh-CN"/>
              <a:t>——</a:t>
            </a:r>
            <a:r>
              <a:rPr lang="zh-CN" altLang="en-US"/>
              <a:t>智能垃圾桶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步骤四：将</a:t>
            </a:r>
            <a:r>
              <a:rPr lang="en-US" altLang="zh-CN"/>
              <a:t>LG01</a:t>
            </a:r>
            <a:r>
              <a:rPr lang="zh-CN" altLang="en-US"/>
              <a:t>网关用网线连接入网，并在</a:t>
            </a:r>
            <a:r>
              <a:rPr lang="en-US" altLang="zh-CN"/>
              <a:t>LG01</a:t>
            </a:r>
            <a:r>
              <a:rPr lang="zh-CN" altLang="en-US"/>
              <a:t>页面（网址：</a:t>
            </a:r>
            <a:r>
              <a:rPr lang="en-US" altLang="zh-CN"/>
              <a:t>10.130.1.1</a:t>
            </a:r>
            <a:r>
              <a:rPr lang="zh-CN" altLang="en-US"/>
              <a:t>）上配置</a:t>
            </a:r>
            <a:r>
              <a:rPr lang="en-US" altLang="zh-CN"/>
              <a:t>LG01</a:t>
            </a:r>
            <a:r>
              <a:rPr lang="zh-CN" altLang="en-US"/>
              <a:t>端的</a:t>
            </a:r>
            <a:r>
              <a:rPr lang="en-US" altLang="zh-CN"/>
              <a:t>Lora radio</a:t>
            </a:r>
            <a:r>
              <a:rPr lang="zh-CN" altLang="en-US"/>
              <a:t>参数</a:t>
            </a:r>
            <a:endParaRPr lang="en-US" altLang="zh-CN"/>
          </a:p>
          <a:p>
            <a:endParaRPr lang="en-US" altLang="zh-CN"/>
          </a:p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524000" y="1902800"/>
            <a:ext cx="6187440" cy="5475872"/>
            <a:chOff x="1524000" y="1937306"/>
            <a:chExt cx="6187440" cy="5475872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1937306"/>
              <a:ext cx="6187440" cy="5475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流程图: 过程 4"/>
            <p:cNvSpPr/>
            <p:nvPr/>
          </p:nvSpPr>
          <p:spPr bwMode="auto">
            <a:xfrm>
              <a:off x="2392680" y="3621081"/>
              <a:ext cx="4130040" cy="65532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1" name="流程图: 过程 10"/>
            <p:cNvSpPr/>
            <p:nvPr/>
          </p:nvSpPr>
          <p:spPr bwMode="auto">
            <a:xfrm>
              <a:off x="2242293" y="4883988"/>
              <a:ext cx="4236720" cy="39624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2" name="流程图: 过程 11"/>
            <p:cNvSpPr/>
            <p:nvPr/>
          </p:nvSpPr>
          <p:spPr bwMode="auto">
            <a:xfrm>
              <a:off x="1765541" y="5382019"/>
              <a:ext cx="4841431" cy="39624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3" name="流程图: 过程 12"/>
            <p:cNvSpPr/>
            <p:nvPr/>
          </p:nvSpPr>
          <p:spPr bwMode="auto">
            <a:xfrm>
              <a:off x="2468880" y="5870562"/>
              <a:ext cx="4069080" cy="39624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5C0BE682-3FBC-4373-AC03-854793BE0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129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594227"/>
      </p:ext>
    </p:extLst>
  </p:cSld>
  <p:clrMapOvr>
    <a:masterClrMapping/>
  </p:clrMapOvr>
  <p:transition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案例开发</a:t>
            </a:r>
            <a:r>
              <a:rPr lang="en-US" altLang="zh-CN"/>
              <a:t>——</a:t>
            </a:r>
            <a:r>
              <a:rPr lang="zh-CN" altLang="en-US"/>
              <a:t>智能垃圾桶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步骤四：在</a:t>
            </a:r>
            <a:r>
              <a:rPr lang="en-US" altLang="zh-CN"/>
              <a:t>LG01</a:t>
            </a:r>
            <a:r>
              <a:rPr lang="zh-CN" altLang="en-US"/>
              <a:t>页面（网址：</a:t>
            </a:r>
            <a:r>
              <a:rPr lang="en-US" altLang="zh-CN"/>
              <a:t>10.130.1.1</a:t>
            </a:r>
            <a:r>
              <a:rPr lang="zh-CN" altLang="en-US"/>
              <a:t>）上配置</a:t>
            </a:r>
            <a:r>
              <a:rPr lang="en-US" altLang="zh-CN"/>
              <a:t>LoRaWAN</a:t>
            </a:r>
            <a:r>
              <a:rPr lang="zh-CN" altLang="en-US"/>
              <a:t>服务器的地址、端口和网关</a:t>
            </a:r>
            <a:r>
              <a:rPr lang="en-US" altLang="zh-CN"/>
              <a:t>ID</a:t>
            </a:r>
            <a:r>
              <a:rPr lang="zh-CN" altLang="en-US"/>
              <a:t>信息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085815" y="2040148"/>
            <a:ext cx="6884705" cy="4575810"/>
            <a:chOff x="1085815" y="2040148"/>
            <a:chExt cx="6884705" cy="4575810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815" y="2040148"/>
              <a:ext cx="6884705" cy="45758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流程图: 过程 9"/>
            <p:cNvSpPr/>
            <p:nvPr/>
          </p:nvSpPr>
          <p:spPr bwMode="auto">
            <a:xfrm>
              <a:off x="2240280" y="2987040"/>
              <a:ext cx="4419600" cy="48768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4" name="流程图: 过程 13"/>
            <p:cNvSpPr/>
            <p:nvPr/>
          </p:nvSpPr>
          <p:spPr bwMode="auto">
            <a:xfrm>
              <a:off x="2255520" y="3596640"/>
              <a:ext cx="4419600" cy="48768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15" name="流程图: 过程 14"/>
            <p:cNvSpPr/>
            <p:nvPr/>
          </p:nvSpPr>
          <p:spPr bwMode="auto">
            <a:xfrm>
              <a:off x="2270760" y="4236720"/>
              <a:ext cx="4419600" cy="487680"/>
            </a:xfrm>
            <a:prstGeom prst="flowChartProcess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2C4A6493-6382-407A-ADA4-35AD569B3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130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242148"/>
      </p:ext>
    </p:extLst>
  </p:cSld>
  <p:clrMapOvr>
    <a:masterClrMapping/>
  </p:clrMapOvr>
  <p:transition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案例开发</a:t>
            </a:r>
            <a:r>
              <a:rPr lang="en-US" altLang="zh-CN"/>
              <a:t>——</a:t>
            </a:r>
            <a:r>
              <a:rPr lang="zh-CN" altLang="en-US"/>
              <a:t>智能垃圾桶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步骤五：烧录</a:t>
            </a:r>
            <a:r>
              <a:rPr lang="en-US" altLang="zh-CN"/>
              <a:t>LoRa</a:t>
            </a:r>
            <a:r>
              <a:rPr lang="zh-CN" altLang="en-US"/>
              <a:t>节点程序。将</a:t>
            </a:r>
            <a:r>
              <a:rPr lang="en-US" altLang="zh-CN"/>
              <a:t>Arduino UNO(</a:t>
            </a:r>
            <a:r>
              <a:rPr lang="zh-CN" altLang="en-US"/>
              <a:t>接有</a:t>
            </a:r>
            <a:r>
              <a:rPr lang="en-US" altLang="zh-CN"/>
              <a:t>LoRa shield</a:t>
            </a:r>
            <a:r>
              <a:rPr lang="zh-CN" altLang="en-US"/>
              <a:t>及</a:t>
            </a:r>
            <a:r>
              <a:rPr lang="en-US" altLang="zh-CN"/>
              <a:t>HX711)</a:t>
            </a:r>
            <a:r>
              <a:rPr lang="zh-CN" altLang="en-US"/>
              <a:t>连上电脑，接着使用</a:t>
            </a:r>
            <a:r>
              <a:rPr lang="en-US" altLang="zh-CN"/>
              <a:t>Arduino IDE</a:t>
            </a:r>
            <a:r>
              <a:rPr lang="zh-CN" altLang="en-US"/>
              <a:t>烧写应用程序代码 </a:t>
            </a:r>
            <a:r>
              <a:rPr lang="en-US" altLang="zh-CN"/>
              <a:t>(</a:t>
            </a:r>
            <a:r>
              <a:rPr lang="zh-CN" altLang="en-US"/>
              <a:t>包括传感器数据收集和发送</a:t>
            </a:r>
            <a:r>
              <a:rPr lang="en-US" altLang="zh-CN"/>
              <a:t>) </a:t>
            </a:r>
            <a:r>
              <a:rPr lang="zh-CN" altLang="en-US"/>
              <a:t>到</a:t>
            </a:r>
            <a:r>
              <a:rPr lang="en-US" altLang="zh-CN"/>
              <a:t>LoRa Shield</a:t>
            </a:r>
          </a:p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58977" y="2839323"/>
            <a:ext cx="8426045" cy="3929281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3308" rIns="133308"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lvl="0">
              <a:defRPr/>
            </a:pP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sz="2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lmic.h</a:t>
            </a: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0">
              <a:defRPr/>
            </a:pP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sz="2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hal.h</a:t>
            </a: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0">
              <a:defRPr/>
            </a:pPr>
            <a:r>
              <a:rPr lang="en-US" altLang="zh-CN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sz="22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LoRaWAN</a:t>
            </a:r>
            <a:r>
              <a:rPr lang="zh-CN" altLang="en-US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终端节点地址及密钥信息的设置 </a:t>
            </a:r>
            <a:r>
              <a:rPr lang="en-US" altLang="zh-CN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适用于</a:t>
            </a:r>
            <a:r>
              <a:rPr lang="en-US" altLang="zh-CN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ABP</a:t>
            </a:r>
            <a:r>
              <a:rPr lang="zh-CN" altLang="en-US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入网方式</a:t>
            </a:r>
            <a:r>
              <a:rPr lang="en-US" altLang="zh-CN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0">
              <a:defRPr/>
            </a:pP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const PROGMEM u1_t NWKSKEY[16] = {0xB3,0xC2,0x99,0x8A,0x2B,0x04, 0x83,0x5A,0x34,0xF6,0xF1,0x2E,0x5A,0x5F,0xF8,0x17</a:t>
            </a:r>
            <a:r>
              <a:rPr lang="en-US" altLang="zh-CN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};//</a:t>
            </a:r>
            <a:r>
              <a:rPr lang="en-US" altLang="zh-CN" sz="22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LoRaWAN</a:t>
            </a:r>
            <a:r>
              <a:rPr lang="zh-CN" altLang="en-US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网络密钥</a:t>
            </a:r>
          </a:p>
          <a:p>
            <a:pPr lvl="0">
              <a:defRPr/>
            </a:pPr>
            <a:endParaRPr lang="zh-CN" altLang="en-US" sz="22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defRPr/>
            </a:pP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const u1_t PROGMEM APPSKEY[16] = {0xE6,0xA3,0xC2,0x13,0x08,0xFF,0x89, 0xA0,0x5B,0x41,0x39,0x83,0xC7,0xFD,0xB6,0xAA};  </a:t>
            </a:r>
            <a:r>
              <a:rPr lang="en-US" altLang="zh-CN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sz="22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LoRaWAN</a:t>
            </a:r>
            <a:r>
              <a:rPr lang="zh-CN" altLang="en-US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应用密钥</a:t>
            </a:r>
          </a:p>
          <a:p>
            <a:pPr lvl="0">
              <a:defRPr/>
            </a:pPr>
            <a:endParaRPr lang="zh-CN" altLang="en-US" sz="22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defRPr/>
            </a:pP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const u4_t DEVADDR = 0x26011880;  </a:t>
            </a:r>
            <a:r>
              <a:rPr lang="en-US" altLang="zh-CN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sz="22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LoRaWAN</a:t>
            </a:r>
            <a:r>
              <a:rPr lang="zh-CN" altLang="en-US" sz="22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终端节点地址</a:t>
            </a:r>
          </a:p>
          <a:p>
            <a:pPr lvl="0">
              <a:defRPr/>
            </a:pPr>
            <a:endParaRPr lang="zh-CN" altLang="en-US" sz="22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defRPr/>
            </a:pP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setup(){</a:t>
            </a:r>
          </a:p>
          <a:p>
            <a:pPr lvl="0">
              <a:defRPr/>
            </a:pP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sz="2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Serial.begin</a:t>
            </a: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(9600); </a:t>
            </a:r>
          </a:p>
          <a:p>
            <a:pPr lvl="0">
              <a:defRPr/>
            </a:pP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zh-CN" sz="2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LMIC.setFrequency</a:t>
            </a: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(433000000);                                  </a:t>
            </a:r>
          </a:p>
          <a:p>
            <a:pPr lvl="0">
              <a:defRPr/>
            </a:pP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zh-CN" sz="22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LMIC_setDrTxpow</a:t>
            </a: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(DR_SF7,14); </a:t>
            </a:r>
          </a:p>
          <a:p>
            <a:pPr lvl="0">
              <a:defRPr/>
            </a:pPr>
            <a:r>
              <a:rPr lang="en-US" altLang="zh-CN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……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090412" y="5742380"/>
            <a:ext cx="3257876" cy="88521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LoRa</a:t>
            </a:r>
            <a:r>
              <a:rPr kumimoji="0" lang="zh-CN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物理层参数设置：</a:t>
            </a:r>
            <a:endParaRPr kumimoji="0" lang="en-US" altLang="zh-CN" sz="22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kumimoji="0" lang="zh-CN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发送频段</a:t>
            </a:r>
            <a:r>
              <a:rPr kumimoji="0" lang="en-US" altLang="zh-CN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zh-CN" sz="22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433MHz</a:t>
            </a:r>
            <a:endParaRPr kumimoji="0" lang="en-US" altLang="zh-CN" sz="22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R="0" lvl="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22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zh-CN" altLang="en-US" sz="22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数据率</a:t>
            </a:r>
            <a:r>
              <a:rPr kumimoji="0" lang="en-US" altLang="zh-CN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 SF7, </a:t>
            </a:r>
            <a:r>
              <a:rPr kumimoji="0" lang="zh-CN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发送功率：</a:t>
            </a:r>
            <a:r>
              <a:rPr kumimoji="0" lang="en-US" altLang="zh-CN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14dBm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zh-CN" alt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右大括号 4"/>
          <p:cNvSpPr/>
          <p:nvPr/>
        </p:nvSpPr>
        <p:spPr bwMode="auto">
          <a:xfrm>
            <a:off x="4739042" y="5962067"/>
            <a:ext cx="174922" cy="46692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8D3AECF5-D678-4FAD-95F9-8BFD97285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131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053667"/>
      </p:ext>
    </p:extLst>
  </p:cSld>
  <p:clrMapOvr>
    <a:masterClrMapping/>
  </p:clrMapOvr>
  <p:transition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案例开发</a:t>
            </a:r>
            <a:r>
              <a:rPr lang="en-US" altLang="zh-CN"/>
              <a:t>——</a:t>
            </a:r>
            <a:r>
              <a:rPr lang="zh-CN" altLang="en-US"/>
              <a:t>智能垃圾桶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步骤六：烧录网关程序。使用</a:t>
            </a:r>
            <a:r>
              <a:rPr lang="en-US" altLang="zh-CN"/>
              <a:t>Arduino IDE</a:t>
            </a:r>
            <a:r>
              <a:rPr lang="zh-CN" altLang="en-US"/>
              <a:t>烧写应用程序代码（包括数据接收和转发）到</a:t>
            </a:r>
            <a:r>
              <a:rPr lang="en-US" altLang="zh-CN"/>
              <a:t>LG01</a:t>
            </a:r>
            <a:r>
              <a:rPr lang="zh-CN" altLang="en-US"/>
              <a:t>网关</a:t>
            </a:r>
            <a:endParaRPr lang="en-US" altLang="zh-CN"/>
          </a:p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58036" y="2018712"/>
            <a:ext cx="8426045" cy="4278094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3308" rIns="133308"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 baseline="-250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Console.h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LoRa.h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……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setup(){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Bridge.begin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(115200); 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(!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LoRa.begin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)){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Console.println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(F("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LoRa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failed"));}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setLoRaRadio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en-US" altLang="zh-CN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设置接收频段，编码率，带宽等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loop(){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(!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send_mode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receivepacket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en-US" altLang="zh-CN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接收并转发</a:t>
            </a:r>
            <a:r>
              <a:rPr lang="en-US" altLang="zh-CN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LoRa</a:t>
            </a:r>
            <a:r>
              <a:rPr lang="zh-CN" alt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数据包 </a:t>
            </a:r>
          </a:p>
          <a:p>
            <a:pPr lvl="0">
              <a:defRPr/>
            </a:pPr>
            <a:r>
              <a:rPr lang="zh-CN" alt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else if (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send_mode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1) {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sendpacket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en-US" altLang="zh-CN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回复消息给终端节点</a:t>
            </a:r>
          </a:p>
          <a:p>
            <a:pPr lvl="0">
              <a:defRPr/>
            </a:pPr>
            <a:r>
              <a:rPr lang="zh-CN" altLang="en-US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altLang="zh-CN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emitpacket</a:t>
            </a: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0">
              <a:defRPr/>
            </a:pPr>
            <a:r>
              <a:rPr lang="en-US" altLang="zh-CN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……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3196B8-0036-4D59-9E05-E4651B616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132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700835"/>
      </p:ext>
    </p:extLst>
  </p:cSld>
  <p:clrMapOvr>
    <a:masterClrMapping/>
  </p:clrMapOvr>
  <p:transition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案例开发</a:t>
            </a:r>
            <a:r>
              <a:rPr lang="en-US" altLang="zh-CN"/>
              <a:t>——</a:t>
            </a:r>
            <a:r>
              <a:rPr lang="zh-CN" altLang="en-US"/>
              <a:t>智能垃圾桶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步骤七：打开</a:t>
            </a:r>
            <a:r>
              <a:rPr lang="en-US" altLang="zh-CN"/>
              <a:t>Arduino IDE</a:t>
            </a:r>
            <a:r>
              <a:rPr lang="zh-CN" altLang="en-US"/>
              <a:t>串口监视器查看实时的</a:t>
            </a:r>
            <a:r>
              <a:rPr lang="en-US" altLang="zh-CN"/>
              <a:t>LoRa </a:t>
            </a:r>
            <a:r>
              <a:rPr lang="zh-CN" altLang="en-US"/>
              <a:t>节点数据发送状态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508760" y="2007268"/>
            <a:ext cx="6276905" cy="4669295"/>
            <a:chOff x="1508760" y="2007268"/>
            <a:chExt cx="6276905" cy="4669295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8760" y="2007268"/>
              <a:ext cx="5857873" cy="4669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" name="直接箭头连接符 4"/>
            <p:cNvCxnSpPr/>
            <p:nvPr/>
          </p:nvCxnSpPr>
          <p:spPr bwMode="auto">
            <a:xfrm>
              <a:off x="5588000" y="3398980"/>
              <a:ext cx="766629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6400349" y="3205024"/>
              <a:ext cx="1385316" cy="2975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rgbClr val="C00000"/>
                  </a:solidFill>
                  <a:latin typeface="+mj-ea"/>
                  <a:ea typeface="+mj-ea"/>
                </a:rPr>
                <a:t>数据包发送成功</a:t>
              </a:r>
            </a:p>
          </p:txBody>
        </p:sp>
      </p:grp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EA56B069-BA33-44EC-8319-1FD250440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133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832493"/>
      </p:ext>
    </p:extLst>
  </p:cSld>
  <p:clrMapOvr>
    <a:masterClrMapping/>
  </p:clrMapOvr>
  <p:transition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216A-D039-46C0-9524-186C7A39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案例开发</a:t>
            </a:r>
            <a:r>
              <a:rPr lang="en-US" altLang="zh-CN"/>
              <a:t>——</a:t>
            </a:r>
            <a:r>
              <a:rPr lang="zh-CN" altLang="en-US"/>
              <a:t>智能垃圾桶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6D9D1-D8DF-4952-83EC-BBDC9FE3B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步骤七：登录</a:t>
            </a:r>
            <a:r>
              <a:rPr lang="en-US" altLang="zh-CN"/>
              <a:t>TTN</a:t>
            </a:r>
            <a:r>
              <a:rPr lang="zh-CN" altLang="en-US"/>
              <a:t>账号，在</a:t>
            </a:r>
            <a:r>
              <a:rPr lang="en-US" altLang="zh-CN"/>
              <a:t>TTN</a:t>
            </a:r>
            <a:r>
              <a:rPr lang="zh-CN" altLang="en-US"/>
              <a:t>网页查看实时的服务器接收数据</a:t>
            </a:r>
            <a:endParaRPr lang="en-US" altLang="zh-CN"/>
          </a:p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91440" y="1954366"/>
            <a:ext cx="8961121" cy="4436003"/>
            <a:chOff x="91440" y="1858116"/>
            <a:chExt cx="8961121" cy="4436003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" y="1858116"/>
              <a:ext cx="8961121" cy="44360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流程图: 过程 3"/>
            <p:cNvSpPr/>
            <p:nvPr/>
          </p:nvSpPr>
          <p:spPr bwMode="auto">
            <a:xfrm>
              <a:off x="548640" y="2895600"/>
              <a:ext cx="5730240" cy="243840"/>
            </a:xfrm>
            <a:prstGeom prst="flowChartProcess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Tx/>
                <a:buNone/>
                <a:tabLst/>
              </a:pPr>
              <a:endParaRPr kumimoji="0" lang="zh-CN" alt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 bwMode="auto">
            <a:xfrm>
              <a:off x="6294120" y="3002280"/>
              <a:ext cx="381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1" name="TextBox 10"/>
            <p:cNvSpPr txBox="1"/>
            <p:nvPr/>
          </p:nvSpPr>
          <p:spPr>
            <a:xfrm>
              <a:off x="6705149" y="2808784"/>
              <a:ext cx="1728358" cy="5027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rgbClr val="C00000"/>
                  </a:solidFill>
                  <a:latin typeface="+mj-ea"/>
                  <a:ea typeface="+mj-ea"/>
                </a:rPr>
                <a:t>收到节点发送的数据</a:t>
              </a:r>
              <a:endParaRPr lang="en-US" altLang="zh-CN" sz="2000" dirty="0">
                <a:solidFill>
                  <a:srgbClr val="C00000"/>
                </a:solidFill>
                <a:latin typeface="+mj-ea"/>
                <a:ea typeface="+mj-ea"/>
              </a:endParaRPr>
            </a:p>
            <a:p>
              <a:r>
                <a:rPr lang="en-US" altLang="zh-CN" sz="2000" dirty="0">
                  <a:solidFill>
                    <a:srgbClr val="C00000"/>
                  </a:solidFill>
                  <a:latin typeface="+mj-ea"/>
                  <a:ea typeface="+mj-ea"/>
                </a:rPr>
                <a:t>    (ASCII</a:t>
              </a:r>
              <a:r>
                <a:rPr lang="zh-CN" altLang="en-US" sz="2000" dirty="0">
                  <a:solidFill>
                    <a:srgbClr val="C00000"/>
                  </a:solidFill>
                  <a:latin typeface="+mj-ea"/>
                  <a:ea typeface="+mj-ea"/>
                </a:rPr>
                <a:t>码表示</a:t>
              </a:r>
              <a:r>
                <a:rPr lang="en-US" altLang="zh-CN" sz="2000" dirty="0">
                  <a:solidFill>
                    <a:srgbClr val="C00000"/>
                  </a:solidFill>
                  <a:latin typeface="+mj-ea"/>
                  <a:ea typeface="+mj-ea"/>
                </a:rPr>
                <a:t>)</a:t>
              </a:r>
              <a:endParaRPr lang="zh-CN" altLang="en-US" sz="2000" dirty="0">
                <a:solidFill>
                  <a:srgbClr val="C00000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825456D9-7DB3-46D9-999F-CEC6FCD89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553200"/>
            <a:ext cx="762000" cy="228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5C42246B-9AD6-4994-8CF2-B420465BEF68}" type="slidenum">
              <a:rPr lang="en-US" altLang="zh-CN" sz="1800" baseline="0">
                <a:solidFill>
                  <a:schemeClr val="folHlink"/>
                </a:solidFill>
                <a:latin typeface="Monotype Corsiva" panose="03010101010201010101" pitchFamily="66" charset="0"/>
              </a:rPr>
              <a:t>134</a:t>
            </a:fld>
            <a:endParaRPr lang="zh-CN" altLang="zh-CN" sz="1800" baseline="0" dirty="0">
              <a:solidFill>
                <a:schemeClr val="folHlink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42773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54"/>
  <p:tag name="DEFAULTHEIGHT" val="200"/>
</p:tagLst>
</file>

<file path=ppt/theme/theme1.xml><?xml version="1.0" encoding="utf-8"?>
<a:theme xmlns:a="http://schemas.openxmlformats.org/drawingml/2006/main" name="NCSU-CS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自定义 1">
      <a:majorFont>
        <a:latin typeface="Franklin Gothic Medium"/>
        <a:ea typeface="微软雅黑"/>
        <a:cs typeface=""/>
      </a:majorFont>
      <a:minorFont>
        <a:latin typeface="Franklin Gothic Book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100000"/>
          <a:buFontTx/>
          <a:buNone/>
          <a:tabLst/>
          <a:defRPr kumimoji="0" lang="en-US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bg1"/>
          </a:buClr>
          <a:buSzPct val="100000"/>
          <a:buFontTx/>
          <a:buNone/>
          <a:tabLst/>
          <a:defRPr kumimoji="0" lang="en-US" sz="24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lnDef>
  </a:objectDefaults>
  <a:extraClrSchemeLst>
    <a:extraClrScheme>
      <a:clrScheme name="NCSU-CS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6666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5C5CE7"/>
        </a:accent6>
        <a:hlink>
          <a:srgbClr val="CC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SU-CS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SU-CS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SU-C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CC"/>
        </a:accent1>
        <a:accent2>
          <a:srgbClr val="6666FF"/>
        </a:accent2>
        <a:accent3>
          <a:srgbClr val="FFFFFF"/>
        </a:accent3>
        <a:accent4>
          <a:srgbClr val="000000"/>
        </a:accent4>
        <a:accent5>
          <a:srgbClr val="AAE2E2"/>
        </a:accent5>
        <a:accent6>
          <a:srgbClr val="5C5CE7"/>
        </a:accent6>
        <a:hlink>
          <a:srgbClr val="CCCCFF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NCSU-CS</Template>
  <TotalTime>44105</TotalTime>
  <Words>10788</Words>
  <Application>Microsoft Office PowerPoint</Application>
  <PresentationFormat>全屏显示(4:3)</PresentationFormat>
  <Paragraphs>1677</Paragraphs>
  <Slides>134</Slides>
  <Notes>101</Notes>
  <HiddenSlides>2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134</vt:i4>
      </vt:variant>
    </vt:vector>
  </HeadingPairs>
  <TitlesOfParts>
    <vt:vector size="147" baseType="lpstr">
      <vt:lpstr>黑体</vt:lpstr>
      <vt:lpstr>微软雅黑</vt:lpstr>
      <vt:lpstr>Arial</vt:lpstr>
      <vt:lpstr>Cambria Math</vt:lpstr>
      <vt:lpstr>Courier New</vt:lpstr>
      <vt:lpstr>Franklin Gothic Book</vt:lpstr>
      <vt:lpstr>Garamond</vt:lpstr>
      <vt:lpstr>Monotype Corsiva</vt:lpstr>
      <vt:lpstr>Tahoma</vt:lpstr>
      <vt:lpstr>Times New Roman</vt:lpstr>
      <vt:lpstr>Wingdings</vt:lpstr>
      <vt:lpstr>NCSU-CS</vt:lpstr>
      <vt:lpstr>Equation</vt:lpstr>
      <vt:lpstr>第五章 低功耗广域网</vt:lpstr>
      <vt:lpstr>学习目标</vt:lpstr>
      <vt:lpstr>目录</vt:lpstr>
      <vt:lpstr>概述</vt:lpstr>
      <vt:lpstr>概述</vt:lpstr>
      <vt:lpstr>概述</vt:lpstr>
      <vt:lpstr>概述</vt:lpstr>
      <vt:lpstr>典型协议</vt:lpstr>
      <vt:lpstr>典型协议</vt:lpstr>
      <vt:lpstr>典型协议</vt:lpstr>
      <vt:lpstr>典型协议</vt:lpstr>
      <vt:lpstr>概述</vt:lpstr>
      <vt:lpstr>目录</vt:lpstr>
      <vt:lpstr>关键特性</vt:lpstr>
      <vt:lpstr>通信距离</vt:lpstr>
      <vt:lpstr>通信距离</vt:lpstr>
      <vt:lpstr>通信距离</vt:lpstr>
      <vt:lpstr>通信距离</vt:lpstr>
      <vt:lpstr>通信距离</vt:lpstr>
      <vt:lpstr>功耗</vt:lpstr>
      <vt:lpstr>功耗</vt:lpstr>
      <vt:lpstr>功耗</vt:lpstr>
      <vt:lpstr>功耗</vt:lpstr>
      <vt:lpstr>功耗</vt:lpstr>
      <vt:lpstr>功耗</vt:lpstr>
      <vt:lpstr>数据率</vt:lpstr>
      <vt:lpstr>频段分配与使用</vt:lpstr>
      <vt:lpstr>频段分配与使用</vt:lpstr>
      <vt:lpstr>频段分配与使用</vt:lpstr>
      <vt:lpstr>基站部署/公私网的使用</vt:lpstr>
      <vt:lpstr>非技术特性</vt:lpstr>
      <vt:lpstr>思考题</vt:lpstr>
      <vt:lpstr>目录</vt:lpstr>
      <vt:lpstr>NB-IoT</vt:lpstr>
      <vt:lpstr>NB-IoT</vt:lpstr>
      <vt:lpstr>NB-IoT</vt:lpstr>
      <vt:lpstr>NB-IoT</vt:lpstr>
      <vt:lpstr>NB-IoT</vt:lpstr>
      <vt:lpstr>NB-IoT物理层</vt:lpstr>
      <vt:lpstr>NB-IoT物理层</vt:lpstr>
      <vt:lpstr>NB-IoT物理层</vt:lpstr>
      <vt:lpstr>NB-IoT物理层</vt:lpstr>
      <vt:lpstr>NB-IoT物理层</vt:lpstr>
      <vt:lpstr>NB-IoT物理层</vt:lpstr>
      <vt:lpstr>NB-IoT物理层</vt:lpstr>
      <vt:lpstr>NB-IoT物理层</vt:lpstr>
      <vt:lpstr>NB-IoT物理层</vt:lpstr>
      <vt:lpstr>NB-IoT物理层</vt:lpstr>
      <vt:lpstr>NB-IoT物理层</vt:lpstr>
      <vt:lpstr>NB-IoT物理层</vt:lpstr>
      <vt:lpstr>NB-IoT</vt:lpstr>
      <vt:lpstr>NB-IoT链路层</vt:lpstr>
      <vt:lpstr>NB-IoT链路层</vt:lpstr>
      <vt:lpstr>思考题</vt:lpstr>
      <vt:lpstr>NB-IoT链路层</vt:lpstr>
      <vt:lpstr>NB-IoT链路层</vt:lpstr>
      <vt:lpstr>NB-IoT链路层</vt:lpstr>
      <vt:lpstr>NB-IoT链路层</vt:lpstr>
      <vt:lpstr>NB-IoT链路层</vt:lpstr>
      <vt:lpstr>NB-IoT链路层</vt:lpstr>
      <vt:lpstr>NB-IoT链路层</vt:lpstr>
      <vt:lpstr>NB-IoT链路层</vt:lpstr>
      <vt:lpstr>NB-IoT链路层</vt:lpstr>
      <vt:lpstr>NB-IoT网络层和传输层</vt:lpstr>
      <vt:lpstr>NB-IoT实例分析</vt:lpstr>
      <vt:lpstr>NB-IoT实例分析</vt:lpstr>
      <vt:lpstr>NB-IoT实例分析</vt:lpstr>
      <vt:lpstr>目录</vt:lpstr>
      <vt:lpstr>LoRaWAN</vt:lpstr>
      <vt:lpstr>LoRaWAN</vt:lpstr>
      <vt:lpstr>LoRaWAN物理层</vt:lpstr>
      <vt:lpstr>LoRaWAN物理层</vt:lpstr>
      <vt:lpstr>LoRaWAN物理层</vt:lpstr>
      <vt:lpstr>LoRaWAN物理层</vt:lpstr>
      <vt:lpstr>LoRaWAN物理层</vt:lpstr>
      <vt:lpstr>LoRaWAN入网流程</vt:lpstr>
      <vt:lpstr>LoRaWAN入网流程</vt:lpstr>
      <vt:lpstr>LoRaWAN入网流程</vt:lpstr>
      <vt:lpstr>LoRaWAN入网流程</vt:lpstr>
      <vt:lpstr>LoRaWAN入网流程</vt:lpstr>
      <vt:lpstr>LoRaWAN入网流程</vt:lpstr>
      <vt:lpstr>LoRaWAN入网流程</vt:lpstr>
      <vt:lpstr>LoRaWAN-入网流程</vt:lpstr>
      <vt:lpstr>LoRaWAN-入网流程</vt:lpstr>
      <vt:lpstr>LoRaWAN设备类型</vt:lpstr>
      <vt:lpstr>Class A</vt:lpstr>
      <vt:lpstr>Class A</vt:lpstr>
      <vt:lpstr>Class A</vt:lpstr>
      <vt:lpstr>Class A</vt:lpstr>
      <vt:lpstr>Class A</vt:lpstr>
      <vt:lpstr>Class A</vt:lpstr>
      <vt:lpstr>Class A</vt:lpstr>
      <vt:lpstr>Class B</vt:lpstr>
      <vt:lpstr>Class B</vt:lpstr>
      <vt:lpstr>Class B</vt:lpstr>
      <vt:lpstr>Class B</vt:lpstr>
      <vt:lpstr>Class B</vt:lpstr>
      <vt:lpstr>Class B</vt:lpstr>
      <vt:lpstr>Class C</vt:lpstr>
      <vt:lpstr>Class C</vt:lpstr>
      <vt:lpstr>LoRaWAN</vt:lpstr>
      <vt:lpstr>LoRaWAN</vt:lpstr>
      <vt:lpstr>LoRaWAN帧结构</vt:lpstr>
      <vt:lpstr>LoRaWAN帧结构</vt:lpstr>
      <vt:lpstr>LoRaWAN帧结构</vt:lpstr>
      <vt:lpstr>LoRaWAN帧结构</vt:lpstr>
      <vt:lpstr>LoRaWAN帧结构</vt:lpstr>
      <vt:lpstr>LoRaWAN帧结构</vt:lpstr>
      <vt:lpstr>LoRaWAN帧结构</vt:lpstr>
      <vt:lpstr>思考题</vt:lpstr>
      <vt:lpstr>LoRaWAN帧结构</vt:lpstr>
      <vt:lpstr>LoRaWAN帧结构</vt:lpstr>
      <vt:lpstr>LoRaWAN-常见MAC指令</vt:lpstr>
      <vt:lpstr>LoRaWAN-常见MAC指令</vt:lpstr>
      <vt:lpstr>目录</vt:lpstr>
      <vt:lpstr>学术研究进展</vt:lpstr>
      <vt:lpstr>学术研究进展</vt:lpstr>
      <vt:lpstr>学术研究进展</vt:lpstr>
      <vt:lpstr>学术研究进展</vt:lpstr>
      <vt:lpstr>学术研究进展</vt:lpstr>
      <vt:lpstr>学术研究进展</vt:lpstr>
      <vt:lpstr>学术研究进展</vt:lpstr>
      <vt:lpstr>学术研究进展</vt:lpstr>
      <vt:lpstr>PowerPoint 演示文稿</vt:lpstr>
      <vt:lpstr>目录</vt:lpstr>
      <vt:lpstr>案例开发——智能垃圾桶</vt:lpstr>
      <vt:lpstr>案例开发——智能垃圾桶</vt:lpstr>
      <vt:lpstr>案例开发——智能垃圾桶</vt:lpstr>
      <vt:lpstr>案例开发——智能垃圾桶</vt:lpstr>
      <vt:lpstr>案例开发——智能垃圾桶</vt:lpstr>
      <vt:lpstr>案例开发——智能垃圾桶</vt:lpstr>
      <vt:lpstr>案例开发——智能垃圾桶</vt:lpstr>
      <vt:lpstr>案例开发——智能垃圾桶</vt:lpstr>
      <vt:lpstr>案例开发——智能垃圾桶</vt:lpstr>
    </vt:vector>
  </TitlesOfParts>
  <Company>NCSU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Centric Storage</dc:title>
  <dc:creator>Jayush R Luniya</dc:creator>
  <cp:lastModifiedBy>野 蔓</cp:lastModifiedBy>
  <cp:revision>2735</cp:revision>
  <cp:lastPrinted>2009-04-22T19:24:48Z</cp:lastPrinted>
  <dcterms:created xsi:type="dcterms:W3CDTF">2005-04-16T16:23:33Z</dcterms:created>
  <dcterms:modified xsi:type="dcterms:W3CDTF">2022-05-23T03:31:59Z</dcterms:modified>
</cp:coreProperties>
</file>