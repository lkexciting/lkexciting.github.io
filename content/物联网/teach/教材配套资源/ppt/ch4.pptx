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2"/>
  </p:notesMasterIdLst>
  <p:handoutMasterIdLst>
    <p:handoutMasterId r:id="rId143"/>
  </p:handoutMasterIdLst>
  <p:sldIdLst>
    <p:sldId id="336" r:id="rId2"/>
    <p:sldId id="1458" r:id="rId3"/>
    <p:sldId id="1447" r:id="rId4"/>
    <p:sldId id="1179" r:id="rId5"/>
    <p:sldId id="1386" r:id="rId6"/>
    <p:sldId id="1210" r:id="rId7"/>
    <p:sldId id="1213" r:id="rId8"/>
    <p:sldId id="1217" r:id="rId9"/>
    <p:sldId id="1214" r:id="rId10"/>
    <p:sldId id="1219" r:id="rId11"/>
    <p:sldId id="1220" r:id="rId12"/>
    <p:sldId id="1456" r:id="rId13"/>
    <p:sldId id="1459" r:id="rId14"/>
    <p:sldId id="1221" r:id="rId15"/>
    <p:sldId id="1211" r:id="rId16"/>
    <p:sldId id="1197" r:id="rId17"/>
    <p:sldId id="1388" r:id="rId18"/>
    <p:sldId id="1224" r:id="rId19"/>
    <p:sldId id="1457" r:id="rId20"/>
    <p:sldId id="1201" r:id="rId21"/>
    <p:sldId id="1203" r:id="rId22"/>
    <p:sldId id="1204" r:id="rId23"/>
    <p:sldId id="1190" r:id="rId24"/>
    <p:sldId id="1449" r:id="rId25"/>
    <p:sldId id="1212" r:id="rId26"/>
    <p:sldId id="1052" r:id="rId27"/>
    <p:sldId id="1460" r:id="rId28"/>
    <p:sldId id="1247" r:id="rId29"/>
    <p:sldId id="1248" r:id="rId30"/>
    <p:sldId id="1249" r:id="rId31"/>
    <p:sldId id="1054" r:id="rId32"/>
    <p:sldId id="1250" r:id="rId33"/>
    <p:sldId id="1461" r:id="rId34"/>
    <p:sldId id="1464" r:id="rId35"/>
    <p:sldId id="1251" r:id="rId36"/>
    <p:sldId id="1116" r:id="rId37"/>
    <p:sldId id="1117" r:id="rId38"/>
    <p:sldId id="1462" r:id="rId39"/>
    <p:sldId id="1206" r:id="rId40"/>
    <p:sldId id="1216" r:id="rId41"/>
    <p:sldId id="1226" r:id="rId42"/>
    <p:sldId id="1253" r:id="rId43"/>
    <p:sldId id="1314" r:id="rId44"/>
    <p:sldId id="1254" r:id="rId45"/>
    <p:sldId id="1255" r:id="rId46"/>
    <p:sldId id="1256" r:id="rId47"/>
    <p:sldId id="1350" r:id="rId48"/>
    <p:sldId id="1382" r:id="rId49"/>
    <p:sldId id="1383" r:id="rId50"/>
    <p:sldId id="1384" r:id="rId51"/>
    <p:sldId id="1385" r:id="rId52"/>
    <p:sldId id="1348" r:id="rId53"/>
    <p:sldId id="1389" r:id="rId54"/>
    <p:sldId id="1227" r:id="rId55"/>
    <p:sldId id="1132" r:id="rId56"/>
    <p:sldId id="1232" r:id="rId57"/>
    <p:sldId id="1233" r:id="rId58"/>
    <p:sldId id="1133" r:id="rId59"/>
    <p:sldId id="1134" r:id="rId60"/>
    <p:sldId id="1465" r:id="rId61"/>
    <p:sldId id="1073" r:id="rId62"/>
    <p:sldId id="1234" r:id="rId63"/>
    <p:sldId id="1252" r:id="rId64"/>
    <p:sldId id="1236" r:id="rId65"/>
    <p:sldId id="1074" r:id="rId66"/>
    <p:sldId id="1075" r:id="rId67"/>
    <p:sldId id="1237" r:id="rId68"/>
    <p:sldId id="1238" r:id="rId69"/>
    <p:sldId id="1466" r:id="rId70"/>
    <p:sldId id="1390" r:id="rId71"/>
    <p:sldId id="1391" r:id="rId72"/>
    <p:sldId id="1392" r:id="rId73"/>
    <p:sldId id="1393" r:id="rId74"/>
    <p:sldId id="1394" r:id="rId75"/>
    <p:sldId id="1405" r:id="rId76"/>
    <p:sldId id="1467" r:id="rId77"/>
    <p:sldId id="1045" r:id="rId78"/>
    <p:sldId id="1485" r:id="rId79"/>
    <p:sldId id="1242" r:id="rId80"/>
    <p:sldId id="1263" r:id="rId81"/>
    <p:sldId id="1264" r:id="rId82"/>
    <p:sldId id="1265" r:id="rId83"/>
    <p:sldId id="1048" r:id="rId84"/>
    <p:sldId id="1243" r:id="rId85"/>
    <p:sldId id="1209" r:id="rId86"/>
    <p:sldId id="1468" r:id="rId87"/>
    <p:sldId id="1381" r:id="rId88"/>
    <p:sldId id="1049" r:id="rId89"/>
    <p:sldId id="1406" r:id="rId90"/>
    <p:sldId id="1258" r:id="rId91"/>
    <p:sldId id="1260" r:id="rId92"/>
    <p:sldId id="1261" r:id="rId93"/>
    <p:sldId id="1259" r:id="rId94"/>
    <p:sldId id="1262" r:id="rId95"/>
    <p:sldId id="1417" r:id="rId96"/>
    <p:sldId id="1419" r:id="rId97"/>
    <p:sldId id="1420" r:id="rId98"/>
    <p:sldId id="1421" r:id="rId99"/>
    <p:sldId id="1418" r:id="rId100"/>
    <p:sldId id="1422" r:id="rId101"/>
    <p:sldId id="1424" r:id="rId102"/>
    <p:sldId id="1425" r:id="rId103"/>
    <p:sldId id="1469" r:id="rId104"/>
    <p:sldId id="1474" r:id="rId105"/>
    <p:sldId id="1426" r:id="rId106"/>
    <p:sldId id="1475" r:id="rId107"/>
    <p:sldId id="1428" r:id="rId108"/>
    <p:sldId id="1429" r:id="rId109"/>
    <p:sldId id="1430" r:id="rId110"/>
    <p:sldId id="1431" r:id="rId111"/>
    <p:sldId id="1476" r:id="rId112"/>
    <p:sldId id="1477" r:id="rId113"/>
    <p:sldId id="1423" r:id="rId114"/>
    <p:sldId id="1470" r:id="rId115"/>
    <p:sldId id="1432" r:id="rId116"/>
    <p:sldId id="1433" r:id="rId117"/>
    <p:sldId id="1471" r:id="rId118"/>
    <p:sldId id="1434" r:id="rId119"/>
    <p:sldId id="1478" r:id="rId120"/>
    <p:sldId id="1435" r:id="rId121"/>
    <p:sldId id="1473" r:id="rId122"/>
    <p:sldId id="1439" r:id="rId123"/>
    <p:sldId id="1440" r:id="rId124"/>
    <p:sldId id="1484" r:id="rId125"/>
    <p:sldId id="1479" r:id="rId126"/>
    <p:sldId id="1480" r:id="rId127"/>
    <p:sldId id="1481" r:id="rId128"/>
    <p:sldId id="1482" r:id="rId129"/>
    <p:sldId id="1483" r:id="rId130"/>
    <p:sldId id="1407" r:id="rId131"/>
    <p:sldId id="1408" r:id="rId132"/>
    <p:sldId id="1409" r:id="rId133"/>
    <p:sldId id="1410" r:id="rId134"/>
    <p:sldId id="1442" r:id="rId135"/>
    <p:sldId id="1443" r:id="rId136"/>
    <p:sldId id="1444" r:id="rId137"/>
    <p:sldId id="1455" r:id="rId138"/>
    <p:sldId id="1445" r:id="rId139"/>
    <p:sldId id="1446" r:id="rId140"/>
    <p:sldId id="1387" r:id="rId141"/>
  </p:sldIdLst>
  <p:sldSz cx="9144000" cy="6858000" type="screen4x3"/>
  <p:notesSz cx="6858000" cy="9144000"/>
  <p:custDataLst>
    <p:tags r:id="rId14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基本情况" id="{71643578-24BF-4CD0-A9B2-ADA83BB239CF}">
          <p14:sldIdLst>
            <p14:sldId id="336"/>
            <p14:sldId id="1458"/>
            <p14:sldId id="1447"/>
            <p14:sldId id="1179"/>
            <p14:sldId id="1386"/>
            <p14:sldId id="1210"/>
            <p14:sldId id="1213"/>
            <p14:sldId id="1217"/>
            <p14:sldId id="1214"/>
            <p14:sldId id="1219"/>
            <p14:sldId id="1220"/>
            <p14:sldId id="1456"/>
            <p14:sldId id="1459"/>
            <p14:sldId id="1221"/>
            <p14:sldId id="1211"/>
            <p14:sldId id="1197"/>
            <p14:sldId id="1388"/>
            <p14:sldId id="1224"/>
            <p14:sldId id="1457"/>
            <p14:sldId id="1201"/>
            <p14:sldId id="1203"/>
            <p14:sldId id="1204"/>
            <p14:sldId id="1190"/>
            <p14:sldId id="1449"/>
            <p14:sldId id="1212"/>
            <p14:sldId id="1052"/>
            <p14:sldId id="1460"/>
            <p14:sldId id="1247"/>
            <p14:sldId id="1248"/>
            <p14:sldId id="1249"/>
            <p14:sldId id="1054"/>
            <p14:sldId id="1250"/>
            <p14:sldId id="1461"/>
            <p14:sldId id="1464"/>
            <p14:sldId id="1251"/>
            <p14:sldId id="1116"/>
            <p14:sldId id="1117"/>
            <p14:sldId id="1462"/>
            <p14:sldId id="1206"/>
            <p14:sldId id="1216"/>
            <p14:sldId id="1226"/>
            <p14:sldId id="1253"/>
            <p14:sldId id="1314"/>
            <p14:sldId id="1254"/>
            <p14:sldId id="1255"/>
            <p14:sldId id="1256"/>
            <p14:sldId id="1350"/>
            <p14:sldId id="1382"/>
            <p14:sldId id="1383"/>
            <p14:sldId id="1384"/>
            <p14:sldId id="1385"/>
            <p14:sldId id="1348"/>
            <p14:sldId id="1389"/>
            <p14:sldId id="1227"/>
            <p14:sldId id="1132"/>
            <p14:sldId id="1232"/>
            <p14:sldId id="1233"/>
            <p14:sldId id="1133"/>
            <p14:sldId id="1134"/>
            <p14:sldId id="1465"/>
            <p14:sldId id="1073"/>
            <p14:sldId id="1234"/>
            <p14:sldId id="1252"/>
            <p14:sldId id="1236"/>
            <p14:sldId id="1074"/>
            <p14:sldId id="1075"/>
            <p14:sldId id="1237"/>
            <p14:sldId id="1238"/>
            <p14:sldId id="1466"/>
            <p14:sldId id="1390"/>
            <p14:sldId id="1391"/>
            <p14:sldId id="1392"/>
            <p14:sldId id="1393"/>
            <p14:sldId id="1394"/>
            <p14:sldId id="1405"/>
            <p14:sldId id="1467"/>
            <p14:sldId id="1045"/>
            <p14:sldId id="1485"/>
            <p14:sldId id="1242"/>
            <p14:sldId id="1263"/>
            <p14:sldId id="1264"/>
            <p14:sldId id="1265"/>
            <p14:sldId id="1048"/>
            <p14:sldId id="1243"/>
            <p14:sldId id="1209"/>
            <p14:sldId id="1468"/>
            <p14:sldId id="1381"/>
            <p14:sldId id="1049"/>
            <p14:sldId id="1406"/>
            <p14:sldId id="1258"/>
            <p14:sldId id="1260"/>
            <p14:sldId id="1261"/>
            <p14:sldId id="1259"/>
            <p14:sldId id="1262"/>
            <p14:sldId id="1417"/>
            <p14:sldId id="1419"/>
            <p14:sldId id="1420"/>
            <p14:sldId id="1421"/>
            <p14:sldId id="1418"/>
            <p14:sldId id="1422"/>
            <p14:sldId id="1424"/>
            <p14:sldId id="1425"/>
            <p14:sldId id="1469"/>
            <p14:sldId id="1474"/>
            <p14:sldId id="1426"/>
            <p14:sldId id="1475"/>
            <p14:sldId id="1428"/>
            <p14:sldId id="1429"/>
            <p14:sldId id="1430"/>
            <p14:sldId id="1431"/>
            <p14:sldId id="1476"/>
            <p14:sldId id="1477"/>
            <p14:sldId id="1423"/>
            <p14:sldId id="1470"/>
            <p14:sldId id="1432"/>
            <p14:sldId id="1433"/>
            <p14:sldId id="1471"/>
            <p14:sldId id="1434"/>
            <p14:sldId id="1478"/>
            <p14:sldId id="1435"/>
            <p14:sldId id="1473"/>
            <p14:sldId id="1439"/>
            <p14:sldId id="1440"/>
            <p14:sldId id="1484"/>
            <p14:sldId id="1479"/>
            <p14:sldId id="1480"/>
            <p14:sldId id="1481"/>
            <p14:sldId id="1482"/>
            <p14:sldId id="1483"/>
            <p14:sldId id="1407"/>
            <p14:sldId id="1408"/>
            <p14:sldId id="1409"/>
            <p14:sldId id="1410"/>
            <p14:sldId id="1442"/>
            <p14:sldId id="1443"/>
            <p14:sldId id="1444"/>
            <p14:sldId id="1455"/>
            <p14:sldId id="1445"/>
            <p14:sldId id="1446"/>
            <p14:sldId id="1387"/>
          </p14:sldIdLst>
        </p14:section>
        <p14:section name="教学成果" id="{DBC5B4CB-3F27-4835-BB3D-25F7FF231C6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28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5">
          <p15:clr>
            <a:srgbClr val="A4A3A4"/>
          </p15:clr>
        </p15:guide>
        <p15:guide id="2" pos="2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00000"/>
    <a:srgbClr val="E6E6E6"/>
    <a:srgbClr val="990099"/>
    <a:srgbClr val="111F65"/>
    <a:srgbClr val="0033CC"/>
    <a:srgbClr val="E9EDF4"/>
    <a:srgbClr val="EBE2D2"/>
    <a:srgbClr val="808080"/>
    <a:srgbClr val="5F5F5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4061" autoAdjust="0"/>
  </p:normalViewPr>
  <p:slideViewPr>
    <p:cSldViewPr snapToGrid="0">
      <p:cViewPr varScale="1">
        <p:scale>
          <a:sx n="60" d="100"/>
          <a:sy n="60" d="100"/>
        </p:scale>
        <p:origin x="828" y="48"/>
      </p:cViewPr>
      <p:guideLst>
        <p:guide orient="horz" pos="2149"/>
        <p:guide pos="2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2382" y="-222"/>
      </p:cViewPr>
      <p:guideLst>
        <p:guide orient="horz" pos="2865"/>
        <p:guide pos="21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tags" Target="tags/tag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handoutMaster" Target="handoutMasters/handoutMaster1.xml"/><Relationship Id="rId14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7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7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fld id="{B6987093-2FA2-4B3E-A303-E109B2C659C7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9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fld id="{C163974F-E2FC-4919-A1F7-1DAB2B1EEBC0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ot-online.com/tags/TI.html" TargetMode="External"/><Relationship Id="rId7" Type="http://schemas.openxmlformats.org/officeDocument/2006/relationships/hyperlink" Target="http://www.iot-online.com/Topic2011/NXP.htm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iot-online.com/tags/NEC.html" TargetMode="External"/><Relationship Id="rId5" Type="http://schemas.openxmlformats.org/officeDocument/2006/relationships/hyperlink" Target="http://www.iot-online.com/tags/Atmel.html" TargetMode="External"/><Relationship Id="rId4" Type="http://schemas.openxmlformats.org/officeDocument/2006/relationships/hyperlink" Target="http://www.iot-online.com/Topic2011/Freescale.html" TargetMode="Externa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defRPr/>
            </a:pPr>
            <a:fld id="{7ED47AB2-00CE-41E6-9820-72042BB36AE6}" type="slidenum">
              <a:rPr lang="zh-CN" altLang="en-US" sz="1200" baseline="0" smtClean="0">
                <a:latin typeface="Times New Roman" panose="02020603050405020304" pitchFamily="18" charset="0"/>
              </a:rPr>
              <a:t>1</a:t>
            </a:fld>
            <a:endParaRPr lang="en-US" altLang="zh-CN" sz="1200" baseline="0" dirty="0">
              <a:latin typeface="Times New Roman" panose="02020603050405020304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物联网必须互联</a:t>
            </a:r>
            <a:endParaRPr lang="en-US" altLang="zh-CN" dirty="0"/>
          </a:p>
          <a:p>
            <a:r>
              <a:rPr lang="zh-CN" altLang="en-US" dirty="0"/>
              <a:t>物联网节点联网需求</a:t>
            </a:r>
            <a:endParaRPr lang="en-US" altLang="zh-CN" dirty="0"/>
          </a:p>
          <a:p>
            <a:r>
              <a:rPr lang="zh-CN" altLang="en-US" dirty="0"/>
              <a:t>低功耗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物联网要联网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物联网技术的要求</a:t>
            </a:r>
            <a:endParaRPr lang="en-US" altLang="zh-CN" dirty="0"/>
          </a:p>
          <a:p>
            <a:r>
              <a:rPr lang="en-US" altLang="zh-CN" dirty="0"/>
              <a:t>3.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加引用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632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功耗改成</a:t>
            </a:r>
            <a:r>
              <a:rPr lang="en-US" altLang="zh-CN" dirty="0"/>
              <a:t>mA </a:t>
            </a:r>
            <a:r>
              <a:rPr lang="en-US" altLang="zh-CN" dirty="0" err="1"/>
              <a:t>mAs</a:t>
            </a:r>
            <a:r>
              <a:rPr lang="zh-CN" altLang="en-US" dirty="0"/>
              <a:t>或</a:t>
            </a:r>
            <a:r>
              <a:rPr lang="en-US" altLang="zh-CN" dirty="0" err="1"/>
              <a:t>mAh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目前市场上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ZigBee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芯片提供商有：</a:t>
            </a:r>
            <a:r>
              <a:rPr kumimoji="1" lang="en-US" altLang="zh-CN" sz="1200" b="1" i="0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/>
              </a:rPr>
              <a:t>TI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（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Chipcon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）；</a:t>
            </a:r>
            <a:r>
              <a:rPr kumimoji="1" lang="en-US" altLang="zh-CN" sz="1200" b="1" i="0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4"/>
              </a:rPr>
              <a:t>Freescale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Ember;Jennic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1" i="0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5"/>
              </a:rPr>
              <a:t>Atmel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Integration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1" i="0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6"/>
              </a:rPr>
              <a:t>NEC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OkI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Renesas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;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等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9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家。其中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TI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Frescale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Ember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；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Jennic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是市场上主导的供应厂商，这四大厂商基本上垄断了整个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90%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的市场份额。四大巨头势力都比较均衡，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Jennic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之前在整体实力和名气上可能稍有欠缺，但自从被</a:t>
            </a:r>
            <a:r>
              <a:rPr kumimoji="1" lang="en-US" altLang="zh-CN" sz="1200" b="1" i="0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7"/>
              </a:rPr>
              <a:t>NXP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收购后，至少在行业影响力方面可以和其它三家的竞争对手平分秋色了。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传感网</a:t>
            </a:r>
            <a:r>
              <a:rPr lang="en-US" altLang="zh-CN" dirty="0" err="1"/>
              <a:t>ppt</a:t>
            </a:r>
            <a:r>
              <a:rPr lang="en-US" altLang="zh-CN" dirty="0"/>
              <a:t>  </a:t>
            </a:r>
            <a:r>
              <a:rPr lang="en-US" altLang="zh-CN" dirty="0" err="1"/>
              <a:t>dongw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去掉</a:t>
            </a:r>
            <a:r>
              <a:rPr lang="en-US" altLang="zh-CN" dirty="0" err="1"/>
              <a:t>ftsp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66742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修改图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修改图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989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开机时自己生产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Receiver</a:t>
            </a:r>
            <a:r>
              <a:rPr lang="en-US" altLang="zh-CN" baseline="0" dirty="0"/>
              <a:t> </a:t>
            </a:r>
            <a:r>
              <a:rPr lang="zh-CN" altLang="en-US" baseline="0" dirty="0"/>
              <a:t>画</a:t>
            </a:r>
            <a:r>
              <a:rPr lang="en-US" altLang="zh-CN" baseline="0" dirty="0"/>
              <a:t>2</a:t>
            </a:r>
            <a:r>
              <a:rPr lang="zh-CN" altLang="en-US" baseline="0" dirty="0"/>
              <a:t>个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LPL MAC</a:t>
            </a:r>
          </a:p>
          <a:p>
            <a:r>
              <a:rPr lang="zh-CN" altLang="en-US" dirty="0"/>
              <a:t>单播 平均</a:t>
            </a:r>
            <a:r>
              <a:rPr lang="en-US" altLang="zh-CN" dirty="0"/>
              <a:t>1/2</a:t>
            </a:r>
          </a:p>
          <a:p>
            <a:r>
              <a:rPr lang="zh-CN" altLang="en-US" dirty="0"/>
              <a:t>广播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LPL MAC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LPL MAC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课本里少写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LPL MAC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答案：最大间隔</a:t>
            </a:r>
            <a:r>
              <a:rPr lang="en-US" altLang="zh-CN" dirty="0"/>
              <a:t>2.6ms</a:t>
            </a:r>
          </a:p>
          <a:p>
            <a:r>
              <a:rPr lang="zh-CN" altLang="en-US" dirty="0"/>
              <a:t>分析：</a:t>
            </a:r>
            <a:r>
              <a:rPr lang="en-US" altLang="zh-CN" dirty="0"/>
              <a:t>CCA400</a:t>
            </a:r>
            <a:r>
              <a:rPr lang="zh-CN" altLang="en-US" dirty="0"/>
              <a:t>次醒来</a:t>
            </a:r>
            <a:r>
              <a:rPr lang="en-US" altLang="zh-CN" dirty="0"/>
              <a:t>, </a:t>
            </a:r>
            <a:r>
              <a:rPr lang="zh-CN" altLang="en-US" dirty="0"/>
              <a:t>至少需要</a:t>
            </a:r>
            <a:r>
              <a:rPr lang="en-US" altLang="zh-CN" dirty="0"/>
              <a:t>210</a:t>
            </a:r>
            <a:r>
              <a:rPr lang="zh-CN" altLang="en-US" dirty="0"/>
              <a:t>次采样在数据包信号上，即</a:t>
            </a:r>
            <a:r>
              <a:rPr lang="en-US" altLang="zh-CN" dirty="0"/>
              <a:t>CCA</a:t>
            </a:r>
            <a:r>
              <a:rPr lang="zh-CN" altLang="en-US" dirty="0"/>
              <a:t>时间中有数据包的时间至少为：</a:t>
            </a:r>
            <a:r>
              <a:rPr lang="en-US" altLang="zh-CN" dirty="0"/>
              <a:t>(210/400)*11ms=5.8ms</a:t>
            </a:r>
          </a:p>
          <a:p>
            <a:r>
              <a:rPr lang="zh-CN" altLang="en-US" baseline="0" dirty="0"/>
              <a:t>那么至少有三个数据包落在</a:t>
            </a:r>
            <a:r>
              <a:rPr lang="en-US" altLang="zh-CN" baseline="0" dirty="0"/>
              <a:t>CCA</a:t>
            </a:r>
            <a:r>
              <a:rPr lang="zh-CN" altLang="en-US" baseline="0" dirty="0"/>
              <a:t>中，两个间隙的时间最大为 </a:t>
            </a:r>
            <a:r>
              <a:rPr lang="en-US" altLang="zh-CN" baseline="0" dirty="0"/>
              <a:t>11-5.8=5.2ms, </a:t>
            </a:r>
            <a:r>
              <a:rPr lang="zh-CN" altLang="en-US" baseline="0" dirty="0"/>
              <a:t>最大间隔为</a:t>
            </a:r>
            <a:r>
              <a:rPr lang="en-US" altLang="zh-CN" baseline="0" dirty="0"/>
              <a:t>5.2/2=2.6ms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开机时自己生产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开机时自己生产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开机时自己生产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开机时自己生产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开机时自己生产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57222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算回毫瓦计算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教材：没有数据包则通过</a:t>
            </a:r>
            <a:r>
              <a:rPr lang="en-US" altLang="zh-CN" dirty="0"/>
              <a:t>beacon</a:t>
            </a:r>
            <a:r>
              <a:rPr lang="zh-CN" altLang="en-US" dirty="0"/>
              <a:t>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172009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跟传统节点</a:t>
            </a:r>
            <a:r>
              <a:rPr lang="en-US" altLang="zh-CN"/>
              <a:t>ID</a:t>
            </a:r>
            <a:r>
              <a:rPr lang="zh-CN" altLang="en-US"/>
              <a:t>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TAG </a:t>
            </a:r>
            <a:r>
              <a:rPr lang="zh-CN" altLang="en-US" dirty="0"/>
              <a:t>到</a:t>
            </a:r>
            <a:r>
              <a:rPr lang="en-US" altLang="zh-CN" baseline="0" dirty="0"/>
              <a:t> </a:t>
            </a:r>
            <a:r>
              <a:rPr lang="en-US" altLang="zh-CN" dirty="0"/>
              <a:t>IPV6 id  </a:t>
            </a:r>
            <a:r>
              <a:rPr lang="zh-CN" altLang="en-US" dirty="0"/>
              <a:t>位数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019469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i="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习题</a:t>
            </a:r>
            <a:r>
              <a:rPr kumimoji="1" lang="en-US" altLang="zh-CN" sz="1200" i="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2</a:t>
            </a:r>
            <a:r>
              <a:rPr kumimoji="1" lang="zh-CN" altLang="en-US" sz="1200" i="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：常见路由指标中哪些是可加的哪些是不可加的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Dv</a:t>
            </a:r>
            <a:r>
              <a:rPr lang="en-US" altLang="zh-CN" dirty="0"/>
              <a:t> </a:t>
            </a:r>
            <a:r>
              <a:rPr lang="zh-CN" altLang="en-US" dirty="0"/>
              <a:t>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放在同一页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Dv</a:t>
            </a:r>
            <a:r>
              <a:rPr lang="en-US" altLang="zh-CN" dirty="0"/>
              <a:t> </a:t>
            </a:r>
            <a:r>
              <a:rPr lang="zh-CN" altLang="en-US" dirty="0"/>
              <a:t>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542565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Rank</a:t>
            </a:r>
          </a:p>
          <a:p>
            <a:r>
              <a:rPr lang="en-US" altLang="zh-CN" dirty="0"/>
              <a:t>Rank </a:t>
            </a:r>
          </a:p>
          <a:p>
            <a:r>
              <a:rPr lang="zh-CN" altLang="en-US" dirty="0"/>
              <a:t>重点讲</a:t>
            </a:r>
            <a:r>
              <a:rPr lang="en-US" altLang="zh-CN" dirty="0"/>
              <a:t>P2P</a:t>
            </a:r>
          </a:p>
          <a:p>
            <a:r>
              <a:rPr lang="zh-CN" altLang="en-US" dirty="0"/>
              <a:t>好处： 不用存储到每个节点的直接</a:t>
            </a:r>
            <a:r>
              <a:rPr lang="en-US" altLang="zh-CN" dirty="0"/>
              <a:t>path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Rank</a:t>
            </a:r>
          </a:p>
          <a:p>
            <a:r>
              <a:rPr lang="en-US" altLang="zh-CN" dirty="0"/>
              <a:t>Rank </a:t>
            </a:r>
          </a:p>
          <a:p>
            <a:r>
              <a:rPr lang="zh-CN" altLang="en-US" dirty="0"/>
              <a:t>重点讲</a:t>
            </a:r>
            <a:r>
              <a:rPr lang="en-US" altLang="zh-CN" dirty="0"/>
              <a:t>P2P</a:t>
            </a:r>
          </a:p>
          <a:p>
            <a:r>
              <a:rPr lang="zh-CN" altLang="en-US" dirty="0"/>
              <a:t>好处： 不用存储到每个节点的直接</a:t>
            </a:r>
            <a:r>
              <a:rPr lang="en-US" altLang="zh-CN" dirty="0"/>
              <a:t>path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BLE</a:t>
            </a:r>
            <a:r>
              <a:rPr lang="zh-CN" altLang="en-US" dirty="0"/>
              <a:t>设备多重角色</a:t>
            </a:r>
            <a:endParaRPr lang="en-US" altLang="zh-CN" dirty="0"/>
          </a:p>
          <a:p>
            <a:pPr lvl="1"/>
            <a:r>
              <a:rPr lang="zh-CN" altLang="en-US" dirty="0"/>
              <a:t>可以是一个</a:t>
            </a:r>
            <a:r>
              <a:rPr lang="en-US" altLang="zh-CN" dirty="0"/>
              <a:t>piconet</a:t>
            </a:r>
            <a:r>
              <a:rPr lang="zh-CN" altLang="en-US" dirty="0"/>
              <a:t>的</a:t>
            </a:r>
            <a:r>
              <a:rPr lang="en-US" altLang="zh-CN" dirty="0"/>
              <a:t>slave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又是另一个</a:t>
            </a:r>
            <a:r>
              <a:rPr lang="en-US" altLang="zh-CN" dirty="0"/>
              <a:t>piconet</a:t>
            </a:r>
            <a:r>
              <a:rPr lang="zh-CN" altLang="en-US" dirty="0"/>
              <a:t>的</a:t>
            </a:r>
            <a:r>
              <a:rPr lang="en-US" altLang="zh-CN" dirty="0"/>
              <a:t>master</a:t>
            </a:r>
            <a:r>
              <a:rPr lang="zh-CN" altLang="en-US" dirty="0"/>
              <a:t>。但一个时间点只能是一个角色</a:t>
            </a:r>
            <a:endParaRPr lang="en-US" altLang="zh-CN" dirty="0"/>
          </a:p>
          <a:p>
            <a:r>
              <a:rPr lang="en-US" altLang="zh-CN" dirty="0"/>
              <a:t>BLE</a:t>
            </a:r>
            <a:r>
              <a:rPr lang="zh-CN" altLang="en-US" dirty="0"/>
              <a:t>组网：一个</a:t>
            </a:r>
            <a:r>
              <a:rPr lang="en-US" altLang="zh-CN" dirty="0"/>
              <a:t>piconet</a:t>
            </a:r>
            <a:r>
              <a:rPr lang="zh-CN" altLang="en-US" dirty="0"/>
              <a:t>每个</a:t>
            </a:r>
            <a:r>
              <a:rPr lang="en-US" altLang="zh-CN" dirty="0"/>
              <a:t>slave</a:t>
            </a:r>
            <a:r>
              <a:rPr lang="zh-CN" altLang="en-US" dirty="0"/>
              <a:t>使用不同的信道（不同的跳频序列）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58310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Friend node </a:t>
            </a:r>
            <a:r>
              <a:rPr lang="zh-CN" altLang="en-US" dirty="0"/>
              <a:t>特殊的</a:t>
            </a:r>
            <a:r>
              <a:rPr lang="en-US" altLang="zh-CN" dirty="0"/>
              <a:t>relay</a:t>
            </a:r>
            <a:r>
              <a:rPr lang="zh-CN" altLang="en-US" dirty="0"/>
              <a:t>节点。表述重新组织一下。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另起一层。右边绘制</a:t>
            </a:r>
            <a:r>
              <a:rPr lang="en-US" altLang="zh-CN" dirty="0"/>
              <a:t>mesh</a:t>
            </a:r>
            <a:r>
              <a:rPr lang="zh-CN" altLang="en-US" dirty="0"/>
              <a:t>层。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/>
              <a:t>跳频，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99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545537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具体的数据，</a:t>
            </a:r>
            <a:r>
              <a:rPr lang="en-US" altLang="zh-CN" dirty="0"/>
              <a:t>01010</a:t>
            </a:r>
            <a:r>
              <a:rPr lang="zh-CN" altLang="en-US" dirty="0"/>
              <a:t>发送出来，形成的复数信号。</a:t>
            </a:r>
            <a:r>
              <a:rPr lang="en-US" altLang="zh-CN" dirty="0"/>
              <a:t>--</a:t>
            </a:r>
            <a:r>
              <a:rPr lang="zh-CN" altLang="en-US" dirty="0"/>
              <a:t>物理调制</a:t>
            </a:r>
            <a:endParaRPr lang="en-US" altLang="zh-CN" dirty="0"/>
          </a:p>
          <a:p>
            <a:r>
              <a:rPr lang="zh-CN" altLang="en-US" dirty="0"/>
              <a:t>广播数据包</a:t>
            </a:r>
            <a:r>
              <a:rPr lang="en-US" altLang="zh-CN" dirty="0"/>
              <a:t>—</a:t>
            </a:r>
            <a:r>
              <a:rPr lang="zh-CN" altLang="en-US" dirty="0"/>
              <a:t>如何汇聚。（</a:t>
            </a:r>
            <a:r>
              <a:rPr lang="en-US" altLang="zh-CN" dirty="0"/>
              <a:t>master</a:t>
            </a:r>
            <a:r>
              <a:rPr lang="zh-CN" altLang="en-US" dirty="0"/>
              <a:t>是否停滞监听，）</a:t>
            </a:r>
            <a:r>
              <a:rPr lang="en-US" altLang="zh-CN" dirty="0"/>
              <a:t>Master</a:t>
            </a:r>
            <a:r>
              <a:rPr lang="zh-CN" altLang="en-US" dirty="0"/>
              <a:t>的状态切换。</a:t>
            </a:r>
            <a:endParaRPr lang="en-US" altLang="zh-CN" dirty="0"/>
          </a:p>
          <a:p>
            <a:r>
              <a:rPr lang="zh-CN" altLang="en-US" dirty="0"/>
              <a:t>分</a:t>
            </a:r>
            <a:r>
              <a:rPr lang="en-US" altLang="zh-CN" dirty="0"/>
              <a:t>slot master </a:t>
            </a:r>
            <a:r>
              <a:rPr lang="zh-CN" altLang="en-US" dirty="0"/>
              <a:t>如何跳频，如何</a:t>
            </a:r>
            <a:r>
              <a:rPr lang="en-US" altLang="zh-CN" dirty="0"/>
              <a:t>agree</a:t>
            </a:r>
            <a:r>
              <a:rPr lang="en-US" altLang="zh-CN" baseline="0" dirty="0"/>
              <a:t> on </a:t>
            </a:r>
            <a:r>
              <a:rPr lang="zh-CN" altLang="en-US" baseline="0" dirty="0"/>
              <a:t>一个序列。 为什么是比较好的机制。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频率可以有多少间隔。调制， </a:t>
            </a:r>
            <a:r>
              <a:rPr lang="en-US" altLang="zh-CN" dirty="0"/>
              <a:t>0101</a:t>
            </a:r>
            <a:r>
              <a:rPr lang="zh-CN" altLang="en-US" dirty="0"/>
              <a:t>数据如何发送，如何滤波，如何</a:t>
            </a:r>
            <a:r>
              <a:rPr lang="en-US" altLang="zh-CN" dirty="0" err="1"/>
              <a:t>fsk</a:t>
            </a:r>
            <a:r>
              <a:rPr lang="zh-CN" altLang="en-US" dirty="0"/>
              <a:t>，如何调制。</a:t>
            </a:r>
            <a:endParaRPr lang="en-US" altLang="zh-CN" dirty="0"/>
          </a:p>
          <a:p>
            <a:r>
              <a:rPr lang="en-US" altLang="zh-CN" dirty="0"/>
              <a:t>0101-&gt; </a:t>
            </a:r>
            <a:r>
              <a:rPr lang="zh-CN" altLang="en-US" dirty="0"/>
              <a:t>高斯低通 造成滤波。</a:t>
            </a:r>
            <a:r>
              <a:rPr lang="en-US" altLang="zh-CN" dirty="0"/>
              <a:t>TODO</a:t>
            </a:r>
            <a:r>
              <a:rPr lang="zh-CN" altLang="en-US" dirty="0"/>
              <a:t>。与</a:t>
            </a:r>
            <a:r>
              <a:rPr lang="en-US" altLang="zh-CN" dirty="0"/>
              <a:t>FSK</a:t>
            </a:r>
            <a:r>
              <a:rPr lang="zh-CN" altLang="en-US" dirty="0"/>
              <a:t>的差别。效果，</a:t>
            </a:r>
            <a:endParaRPr lang="en-US" altLang="zh-CN" dirty="0"/>
          </a:p>
          <a:p>
            <a:r>
              <a:rPr lang="en-US" altLang="zh-CN" dirty="0"/>
              <a:t>Inter-symbol</a:t>
            </a:r>
            <a:r>
              <a:rPr lang="zh-CN" altLang="en-US" dirty="0"/>
              <a:t>的区分变小</a:t>
            </a:r>
            <a:r>
              <a:rPr lang="en-US" altLang="zh-CN" dirty="0"/>
              <a:t>:cost</a:t>
            </a:r>
            <a:r>
              <a:rPr lang="zh-CN" altLang="en-US" dirty="0"/>
              <a:t>。 </a:t>
            </a:r>
            <a:r>
              <a:rPr lang="en-US" altLang="zh-CN" dirty="0"/>
              <a:t>——inter-channel</a:t>
            </a:r>
            <a:r>
              <a:rPr lang="zh-CN" altLang="en-US" dirty="0"/>
              <a:t>的干扰变小。</a:t>
            </a:r>
            <a:r>
              <a:rPr lang="en-US" altLang="zh-CN" dirty="0"/>
              <a:t>Side band. </a:t>
            </a:r>
          </a:p>
          <a:p>
            <a:r>
              <a:rPr lang="en-US" altLang="zh-CN" dirty="0"/>
              <a:t>FSK</a:t>
            </a:r>
            <a:r>
              <a:rPr lang="zh-CN" altLang="en-US" dirty="0"/>
              <a:t>图。频率变化图。</a:t>
            </a:r>
            <a:endParaRPr lang="en-US" altLang="zh-CN" dirty="0"/>
          </a:p>
          <a:p>
            <a:r>
              <a:rPr lang="en-US" altLang="zh-CN" dirty="0"/>
              <a:t>GFSK, wiki, </a:t>
            </a:r>
            <a:r>
              <a:rPr lang="zh-CN" altLang="en-US" dirty="0"/>
              <a:t>顶点频率 滑平了，减少了在不同频率上发送数据时的，不同</a:t>
            </a:r>
            <a:r>
              <a:rPr lang="en-US" altLang="zh-CN" dirty="0"/>
              <a:t>channel</a:t>
            </a:r>
            <a:r>
              <a:rPr lang="zh-CN" altLang="en-US" dirty="0"/>
              <a:t>之间的相互干扰。</a:t>
            </a:r>
            <a:r>
              <a:rPr lang="en-US" altLang="zh-CN" dirty="0"/>
              <a:t>-1,1</a:t>
            </a:r>
            <a:r>
              <a:rPr lang="zh-CN" altLang="en-US" dirty="0"/>
              <a:t>高斯变得</a:t>
            </a:r>
            <a:r>
              <a:rPr lang="en-US" altLang="zh-CN" dirty="0"/>
              <a:t>-0.9,0.9</a:t>
            </a:r>
            <a:r>
              <a:rPr lang="zh-CN" altLang="en-US" dirty="0"/>
              <a:t>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798999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http://microchipdeveloper.com/wireless:ble-link-layer-channels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主要讲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coonect_req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.--- 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chM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Hop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展开，与前文对应。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如何协商，案例。对应关系。图，连接关系。如何建立连接。</a:t>
            </a:r>
            <a:endParaRPr kumimoji="1"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http://microchipdeveloper.com/wireless:ble-link-layer-channels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主要讲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coonect_req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.--- 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chM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Hop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展开，与前文对应。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如何协商，案例。对应关系。图，连接关系。如何建立连接。</a:t>
            </a:r>
            <a:endParaRPr kumimoji="1"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http://microchipdeveloper.com/wireless:ble-link-layer-channels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Stop-wait. 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偶数奇数确认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——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ble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序号。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为什么没有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link layer address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。通过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PHY access address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来唯一确认，因此缺少。</a:t>
            </a:r>
            <a:endParaRPr kumimoji="1"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109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http://microchipdeveloper.com/wireless:ble-link-layer-channels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上下行区分通信。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Master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主动发送数据包，通信的过程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ACK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和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data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数据区分。上下行不同的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probe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模式，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——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----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（放在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channel 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跳频里面物理层解释清楚）确认 是否是发完数据包之后，就相隔相同的时间进行跳频。解决事件间隔内数据包没有塞满的问题。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每个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ble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slave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的跳频和连接事件间隔同步不同的，多个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slave</a:t>
            </a:r>
            <a:endParaRPr kumimoji="1" lang="zh-CN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具体的数据，</a:t>
            </a:r>
            <a:r>
              <a:rPr lang="en-US" altLang="zh-CN" dirty="0"/>
              <a:t>01010</a:t>
            </a:r>
            <a:r>
              <a:rPr lang="zh-CN" altLang="en-US" dirty="0"/>
              <a:t>发送出来，形成的复数信号。</a:t>
            </a:r>
            <a:r>
              <a:rPr lang="en-US" altLang="zh-CN" dirty="0"/>
              <a:t>--</a:t>
            </a:r>
            <a:r>
              <a:rPr lang="zh-CN" altLang="en-US" dirty="0"/>
              <a:t>物理调制</a:t>
            </a:r>
            <a:endParaRPr lang="en-US" altLang="zh-CN" dirty="0"/>
          </a:p>
          <a:p>
            <a:r>
              <a:rPr lang="zh-CN" altLang="en-US" dirty="0"/>
              <a:t>广播数据包</a:t>
            </a:r>
            <a:r>
              <a:rPr lang="en-US" altLang="zh-CN" dirty="0"/>
              <a:t>—</a:t>
            </a:r>
            <a:r>
              <a:rPr lang="zh-CN" altLang="en-US" dirty="0"/>
              <a:t>如何汇聚。（</a:t>
            </a:r>
            <a:r>
              <a:rPr lang="en-US" altLang="zh-CN" dirty="0"/>
              <a:t>master</a:t>
            </a:r>
            <a:r>
              <a:rPr lang="zh-CN" altLang="en-US" dirty="0"/>
              <a:t>是否停滞监听，）</a:t>
            </a:r>
            <a:r>
              <a:rPr lang="en-US" altLang="zh-CN" dirty="0"/>
              <a:t>Master</a:t>
            </a:r>
            <a:r>
              <a:rPr lang="zh-CN" altLang="en-US" dirty="0"/>
              <a:t>的状态切换。</a:t>
            </a:r>
            <a:endParaRPr lang="en-US" altLang="zh-CN" dirty="0"/>
          </a:p>
          <a:p>
            <a:r>
              <a:rPr lang="zh-CN" altLang="en-US" dirty="0"/>
              <a:t>分</a:t>
            </a:r>
            <a:r>
              <a:rPr lang="en-US" altLang="zh-CN" dirty="0"/>
              <a:t>slot master </a:t>
            </a:r>
            <a:r>
              <a:rPr lang="zh-CN" altLang="en-US" dirty="0"/>
              <a:t>如何跳频，如何</a:t>
            </a:r>
            <a:r>
              <a:rPr lang="en-US" altLang="zh-CN" dirty="0"/>
              <a:t>agree</a:t>
            </a:r>
            <a:r>
              <a:rPr lang="en-US" altLang="zh-CN" baseline="0" dirty="0"/>
              <a:t> on </a:t>
            </a:r>
            <a:r>
              <a:rPr lang="zh-CN" altLang="en-US" baseline="0" dirty="0"/>
              <a:t>一个序列。 为什么是比较好的机制。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218689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这里面与</a:t>
            </a:r>
            <a:r>
              <a:rPr lang="en-US" altLang="zh-CN" dirty="0" err="1"/>
              <a:t>zigbee</a:t>
            </a:r>
            <a:r>
              <a:rPr lang="zh-CN" altLang="en-US" dirty="0"/>
              <a:t>不同，没有</a:t>
            </a:r>
            <a:r>
              <a:rPr lang="en-US" altLang="zh-CN" dirty="0"/>
              <a:t>offset</a:t>
            </a:r>
            <a:r>
              <a:rPr lang="zh-CN" altLang="en-US" dirty="0"/>
              <a:t>，挺等协议。与传统数据包不同。单跳、都跳。</a:t>
            </a:r>
            <a:endParaRPr lang="en-US" altLang="zh-CN" dirty="0"/>
          </a:p>
          <a:p>
            <a:r>
              <a:rPr lang="zh-CN" altLang="en-US"/>
              <a:t>此处和前面的一页合并。</a:t>
            </a:r>
            <a:endParaRPr lang="en-US" altLang="zh-CN" dirty="0"/>
          </a:p>
          <a:p>
            <a:r>
              <a:rPr lang="en-US" altLang="zh-CN" dirty="0"/>
              <a:t>http://dev.ti.com/tirex/content/simplelink_cc2640r2_sdk_1_35_00_33/docs/ble5stack/ble_user_guide/html/ble-stack/l2cap.html</a:t>
            </a:r>
          </a:p>
          <a:p>
            <a:r>
              <a:rPr lang="en-US" altLang="zh-CN" dirty="0"/>
              <a:t>http://docs.ifjy.me/contents/wireless/025/README.html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en-US" altLang="zh-CN" dirty="0"/>
              <a:t>CRC</a:t>
            </a:r>
            <a:r>
              <a:rPr lang="zh-CN" altLang="en-US" dirty="0"/>
              <a:t>和重传完成。</a:t>
            </a:r>
            <a:r>
              <a:rPr lang="en-US" altLang="zh-CN" dirty="0"/>
              <a:t>——CRC</a:t>
            </a:r>
            <a:r>
              <a:rPr lang="zh-CN" altLang="en-US" dirty="0"/>
              <a:t>。通过表达语意，未必需要字段都讲解。 </a:t>
            </a:r>
            <a:r>
              <a:rPr lang="en-US" altLang="zh-CN" dirty="0"/>
              <a:t>SAR</a:t>
            </a:r>
            <a:r>
              <a:rPr lang="zh-CN" altLang="en-US" dirty="0"/>
              <a:t>省略。</a:t>
            </a:r>
            <a:r>
              <a:rPr lang="en-US" altLang="zh-CN" dirty="0"/>
              <a:t>-- </a:t>
            </a:r>
          </a:p>
          <a:p>
            <a:r>
              <a:rPr lang="zh-CN" altLang="en-US" dirty="0"/>
              <a:t>两种重传模式：</a:t>
            </a:r>
            <a:r>
              <a:rPr lang="en-US" altLang="zh-CN" dirty="0" err="1"/>
              <a:t>ACKtimer</a:t>
            </a:r>
            <a:r>
              <a:rPr lang="en-US" altLang="zh-CN" dirty="0"/>
              <a:t> out</a:t>
            </a:r>
            <a:r>
              <a:rPr lang="zh-CN" altLang="en-US" dirty="0"/>
              <a:t>自动重传； 等待</a:t>
            </a:r>
            <a:r>
              <a:rPr lang="en-US" altLang="zh-CN" dirty="0"/>
              <a:t>receiver</a:t>
            </a:r>
            <a:r>
              <a:rPr lang="zh-CN" altLang="en-US" dirty="0"/>
              <a:t>通知，重传。 关键功能。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503098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ATT</a:t>
            </a:r>
            <a:r>
              <a:rPr lang="zh-CN" altLang="en-US" dirty="0"/>
              <a:t>解释。</a:t>
            </a:r>
            <a:r>
              <a:rPr lang="en-US" altLang="zh-CN" dirty="0"/>
              <a:t>GATT</a:t>
            </a:r>
            <a:r>
              <a:rPr lang="zh-CN" altLang="en-US" dirty="0"/>
              <a:t>解释。</a:t>
            </a:r>
            <a:r>
              <a:rPr lang="en-US" altLang="zh-CN" dirty="0"/>
              <a:t>Character: </a:t>
            </a:r>
            <a:r>
              <a:rPr lang="zh-CN" altLang="en-US" dirty="0"/>
              <a:t>。 </a:t>
            </a:r>
            <a:r>
              <a:rPr lang="en-US" altLang="zh-CN" dirty="0"/>
              <a:t>Profile</a:t>
            </a:r>
            <a:r>
              <a:rPr lang="zh-CN" altLang="en-US" dirty="0"/>
              <a:t>，定义了一系列</a:t>
            </a:r>
            <a:r>
              <a:rPr lang="en-US" altLang="zh-CN" dirty="0"/>
              <a:t>slave</a:t>
            </a:r>
            <a:r>
              <a:rPr lang="zh-CN" altLang="en-US" dirty="0"/>
              <a:t>提供的服务（比如，设备通用访问服务、温度获取服务）的组合。</a:t>
            </a:r>
            <a:r>
              <a:rPr lang="en-US" altLang="zh-CN" dirty="0"/>
              <a:t>—— ATT</a:t>
            </a:r>
            <a:r>
              <a:rPr lang="zh-CN" altLang="en-US" dirty="0"/>
              <a:t>：传递</a:t>
            </a:r>
            <a:r>
              <a:rPr lang="en-US" altLang="zh-CN" dirty="0"/>
              <a:t>profile</a:t>
            </a:r>
            <a:r>
              <a:rPr lang="zh-CN" altLang="en-US" dirty="0"/>
              <a:t>的功能。先介绍</a:t>
            </a:r>
            <a:r>
              <a:rPr lang="en-US" altLang="zh-CN" dirty="0"/>
              <a:t>profile</a:t>
            </a:r>
            <a:r>
              <a:rPr lang="zh-CN" altLang="en-US" dirty="0"/>
              <a:t>。</a:t>
            </a:r>
            <a:r>
              <a:rPr lang="en-US" altLang="zh-CN" dirty="0"/>
              <a:t>GATT</a:t>
            </a:r>
            <a:r>
              <a:rPr lang="zh-CN" altLang="en-US" dirty="0"/>
              <a:t>定义了数据结构、</a:t>
            </a:r>
            <a:r>
              <a:rPr lang="en-US" altLang="zh-CN" dirty="0"/>
              <a:t>ATT</a:t>
            </a:r>
            <a:r>
              <a:rPr lang="zh-CN" altLang="en-US" dirty="0"/>
              <a:t>主要负责解析数据结构。然后解释，如何传输</a:t>
            </a:r>
            <a:r>
              <a:rPr lang="en-US" altLang="zh-CN" dirty="0"/>
              <a:t>, </a:t>
            </a:r>
            <a:r>
              <a:rPr lang="zh-CN" altLang="en-US" dirty="0"/>
              <a:t>每一行一句话解释。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ATT</a:t>
            </a:r>
            <a:r>
              <a:rPr lang="zh-CN" altLang="en-US" dirty="0"/>
              <a:t>解释。</a:t>
            </a:r>
            <a:r>
              <a:rPr lang="en-US" altLang="zh-CN" dirty="0"/>
              <a:t>GATT</a:t>
            </a:r>
            <a:r>
              <a:rPr lang="zh-CN" altLang="en-US" dirty="0"/>
              <a:t>解释。</a:t>
            </a:r>
            <a:r>
              <a:rPr lang="en-US" altLang="zh-CN" dirty="0"/>
              <a:t>Character: </a:t>
            </a:r>
            <a:r>
              <a:rPr lang="zh-CN" altLang="en-US" dirty="0"/>
              <a:t>。 </a:t>
            </a:r>
            <a:r>
              <a:rPr lang="en-US" altLang="zh-CN" dirty="0"/>
              <a:t>Profile</a:t>
            </a:r>
            <a:r>
              <a:rPr lang="zh-CN" altLang="en-US" dirty="0"/>
              <a:t>，定义了一系列</a:t>
            </a:r>
            <a:r>
              <a:rPr lang="en-US" altLang="zh-CN" dirty="0"/>
              <a:t>slave</a:t>
            </a:r>
            <a:r>
              <a:rPr lang="zh-CN" altLang="en-US" dirty="0"/>
              <a:t>提供的服务（比如，设备通用访问服务、温度获取服务）的组合。</a:t>
            </a:r>
            <a:r>
              <a:rPr lang="en-US" altLang="zh-CN" dirty="0"/>
              <a:t>—— ATT</a:t>
            </a:r>
            <a:r>
              <a:rPr lang="zh-CN" altLang="en-US" dirty="0"/>
              <a:t>：传递</a:t>
            </a:r>
            <a:r>
              <a:rPr lang="en-US" altLang="zh-CN" dirty="0"/>
              <a:t>profile</a:t>
            </a:r>
            <a:r>
              <a:rPr lang="zh-CN" altLang="en-US" dirty="0"/>
              <a:t>的功能。先介绍</a:t>
            </a:r>
            <a:r>
              <a:rPr lang="en-US" altLang="zh-CN" dirty="0"/>
              <a:t>profile</a:t>
            </a:r>
            <a:r>
              <a:rPr lang="zh-CN" altLang="en-US" dirty="0"/>
              <a:t>。</a:t>
            </a:r>
            <a:r>
              <a:rPr lang="en-US" altLang="zh-CN" dirty="0"/>
              <a:t>GATT</a:t>
            </a:r>
            <a:r>
              <a:rPr lang="zh-CN" altLang="en-US" dirty="0"/>
              <a:t>定义了数据结构、</a:t>
            </a:r>
            <a:r>
              <a:rPr lang="en-US" altLang="zh-CN" dirty="0"/>
              <a:t>ATT</a:t>
            </a:r>
            <a:r>
              <a:rPr lang="zh-CN" altLang="en-US" dirty="0"/>
              <a:t>主要负责解析数据结构。然后解释，如何传输</a:t>
            </a:r>
            <a:r>
              <a:rPr lang="en-US" altLang="zh-CN" dirty="0"/>
              <a:t>, </a:t>
            </a:r>
            <a:r>
              <a:rPr lang="zh-CN" altLang="en-US" dirty="0"/>
              <a:t>每一行一句话解释。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02994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ATT</a:t>
            </a:r>
            <a:r>
              <a:rPr lang="zh-CN" altLang="en-US" dirty="0"/>
              <a:t>解释。</a:t>
            </a:r>
            <a:r>
              <a:rPr lang="en-US" altLang="zh-CN" dirty="0"/>
              <a:t>GATT</a:t>
            </a:r>
            <a:r>
              <a:rPr lang="zh-CN" altLang="en-US" dirty="0"/>
              <a:t>解释。</a:t>
            </a:r>
            <a:r>
              <a:rPr lang="en-US" altLang="zh-CN" dirty="0"/>
              <a:t>Character: </a:t>
            </a:r>
            <a:r>
              <a:rPr lang="zh-CN" altLang="en-US" dirty="0"/>
              <a:t>。 </a:t>
            </a:r>
            <a:r>
              <a:rPr lang="en-US" altLang="zh-CN" dirty="0"/>
              <a:t>Profile</a:t>
            </a:r>
            <a:r>
              <a:rPr lang="zh-CN" altLang="en-US" dirty="0"/>
              <a:t>，定义了一系列</a:t>
            </a:r>
            <a:r>
              <a:rPr lang="en-US" altLang="zh-CN" dirty="0"/>
              <a:t>slave</a:t>
            </a:r>
            <a:r>
              <a:rPr lang="zh-CN" altLang="en-US" dirty="0"/>
              <a:t>提供的服务（比如，设备通用访问服务、温度获取服务）的组合。</a:t>
            </a:r>
            <a:r>
              <a:rPr lang="en-US" altLang="zh-CN" dirty="0"/>
              <a:t>—— ATT</a:t>
            </a:r>
            <a:r>
              <a:rPr lang="zh-CN" altLang="en-US" dirty="0"/>
              <a:t>：传递</a:t>
            </a:r>
            <a:r>
              <a:rPr lang="en-US" altLang="zh-CN" dirty="0"/>
              <a:t>profile</a:t>
            </a:r>
            <a:r>
              <a:rPr lang="zh-CN" altLang="en-US" dirty="0"/>
              <a:t>的功能。先介绍</a:t>
            </a:r>
            <a:r>
              <a:rPr lang="en-US" altLang="zh-CN" dirty="0"/>
              <a:t>profile</a:t>
            </a:r>
            <a:r>
              <a:rPr lang="zh-CN" altLang="en-US" dirty="0"/>
              <a:t>。</a:t>
            </a:r>
            <a:r>
              <a:rPr lang="en-US" altLang="zh-CN" dirty="0"/>
              <a:t>GATT</a:t>
            </a:r>
            <a:r>
              <a:rPr lang="zh-CN" altLang="en-US" dirty="0"/>
              <a:t>定义了数据结构、</a:t>
            </a:r>
            <a:r>
              <a:rPr lang="en-US" altLang="zh-CN" dirty="0"/>
              <a:t>ATT</a:t>
            </a:r>
            <a:r>
              <a:rPr lang="zh-CN" altLang="en-US" dirty="0"/>
              <a:t>主要负责解析数据结构。然后解释，如何传输</a:t>
            </a:r>
            <a:r>
              <a:rPr lang="en-US" altLang="zh-CN" dirty="0"/>
              <a:t>, </a:t>
            </a:r>
            <a:r>
              <a:rPr lang="zh-CN" altLang="en-US" dirty="0"/>
              <a:t>每一行一句话解释。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80988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重新组织，语言。</a:t>
            </a:r>
            <a:r>
              <a:rPr lang="en-US" altLang="zh-CN" dirty="0"/>
              <a:t>——</a:t>
            </a:r>
            <a:r>
              <a:rPr lang="zh-CN" altLang="en-US" dirty="0"/>
              <a:t>不用维护路由表，不用管</a:t>
            </a:r>
            <a:r>
              <a:rPr lang="en-US" altLang="zh-CN" dirty="0"/>
              <a:t>destination</a:t>
            </a:r>
            <a:r>
              <a:rPr lang="zh-CN" altLang="en-US" dirty="0"/>
              <a:t>在哪里。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273099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https://anrg.usc.edu/contiki/index.php/RPL_UDP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蓝牙的链路如何估计。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CI, glossy. </a:t>
            </a:r>
          </a:p>
          <a:p>
            <a:r>
              <a:rPr lang="en-US" altLang="zh-CN" dirty="0"/>
              <a:t>CTI, false wakeup, </a:t>
            </a:r>
            <a:r>
              <a:rPr lang="zh-CN" altLang="en-US" dirty="0"/>
              <a:t>几个论文。</a:t>
            </a:r>
            <a:endParaRPr lang="en-US" altLang="zh-CN" dirty="0"/>
          </a:p>
          <a:p>
            <a:r>
              <a:rPr lang="en-US" altLang="zh-CN" dirty="0"/>
              <a:t>CTC, </a:t>
            </a:r>
            <a:r>
              <a:rPr lang="en-US" altLang="zh-CN" dirty="0" err="1"/>
              <a:t>bluebee</a:t>
            </a:r>
            <a:r>
              <a:rPr lang="en-US" altLang="zh-CN" dirty="0"/>
              <a:t>,</a:t>
            </a:r>
            <a:r>
              <a:rPr lang="zh-CN" altLang="en-US" dirty="0"/>
              <a:t>。 回顾短距离技术，</a:t>
            </a:r>
            <a:r>
              <a:rPr lang="en-US" altLang="zh-CN" dirty="0"/>
              <a:t>BLE</a:t>
            </a:r>
            <a:r>
              <a:rPr lang="zh-CN" altLang="en-US" dirty="0"/>
              <a:t>，</a:t>
            </a:r>
            <a:r>
              <a:rPr lang="en-US" altLang="zh-CN" dirty="0" err="1"/>
              <a:t>zigbee</a:t>
            </a:r>
            <a:r>
              <a:rPr lang="zh-CN" altLang="en-US" dirty="0"/>
              <a:t>。关注特性</a:t>
            </a:r>
            <a:r>
              <a:rPr lang="en-US" altLang="zh-CN" dirty="0"/>
              <a:t>/  </a:t>
            </a:r>
            <a:r>
              <a:rPr lang="zh-CN" altLang="en-US" dirty="0"/>
              <a:t>把整个文章串联起来。整个章节里面讲述的观点。</a:t>
            </a:r>
            <a:endParaRPr lang="en-US" altLang="zh-CN" dirty="0"/>
          </a:p>
          <a:p>
            <a:r>
              <a:rPr lang="en-US" altLang="zh-CN" dirty="0"/>
              <a:t>backscatter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蓝牙的链路如何估计。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CI, glossy. </a:t>
            </a:r>
          </a:p>
          <a:p>
            <a:r>
              <a:rPr lang="en-US" altLang="zh-CN" dirty="0"/>
              <a:t>CTI, false wakeup, </a:t>
            </a:r>
            <a:r>
              <a:rPr lang="zh-CN" altLang="en-US" dirty="0"/>
              <a:t>几个论文。</a:t>
            </a:r>
            <a:endParaRPr lang="en-US" altLang="zh-CN" dirty="0"/>
          </a:p>
          <a:p>
            <a:r>
              <a:rPr lang="en-US" altLang="zh-CN" dirty="0"/>
              <a:t>CTC, </a:t>
            </a:r>
            <a:r>
              <a:rPr lang="en-US" altLang="zh-CN" dirty="0" err="1"/>
              <a:t>bluebee</a:t>
            </a:r>
            <a:r>
              <a:rPr lang="en-US" altLang="zh-CN" dirty="0"/>
              <a:t>,</a:t>
            </a:r>
            <a:r>
              <a:rPr lang="zh-CN" altLang="en-US" dirty="0"/>
              <a:t>。 回顾短距离技术，</a:t>
            </a:r>
            <a:r>
              <a:rPr lang="en-US" altLang="zh-CN" dirty="0"/>
              <a:t>BLE</a:t>
            </a:r>
            <a:r>
              <a:rPr lang="zh-CN" altLang="en-US" dirty="0"/>
              <a:t>，</a:t>
            </a:r>
            <a:r>
              <a:rPr lang="en-US" altLang="zh-CN" dirty="0" err="1"/>
              <a:t>zigbee</a:t>
            </a:r>
            <a:r>
              <a:rPr lang="zh-CN" altLang="en-US" dirty="0"/>
              <a:t>。关注特性</a:t>
            </a:r>
            <a:r>
              <a:rPr lang="en-US" altLang="zh-CN" dirty="0"/>
              <a:t>/  </a:t>
            </a:r>
            <a:r>
              <a:rPr lang="zh-CN" altLang="en-US" dirty="0"/>
              <a:t>把整个文章串联起来。整个章节里面讲述的观点。</a:t>
            </a:r>
            <a:endParaRPr lang="en-US" altLang="zh-CN" dirty="0"/>
          </a:p>
          <a:p>
            <a:r>
              <a:rPr lang="en-US" altLang="zh-CN" dirty="0"/>
              <a:t>backscatter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139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defRPr/>
            </a:pPr>
            <a:fld id="{76F23777-CEBB-41C8-8BE8-AF66406041A7}" type="slidenum">
              <a:rPr lang="zh-CN" altLang="en-US" sz="1200" baseline="0" smtClean="0">
                <a:latin typeface="Times New Roman" panose="02020603050405020304" pitchFamily="18" charset="0"/>
              </a:rPr>
              <a:t>140</a:t>
            </a:fld>
            <a:endParaRPr lang="en-US" altLang="zh-CN" sz="1200" baseline="0">
              <a:latin typeface="Times New Roman" panose="02020603050405020304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4">
            <a:extLst>
              <a:ext uri="{FF2B5EF4-FFF2-40B4-BE49-F238E27FC236}">
                <a16:creationId xmlns:a16="http://schemas.microsoft.com/office/drawing/2014/main" id="{6D4363A8-24B5-4BBE-A8D1-4886605D27A8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0" y="2209800"/>
            <a:ext cx="9144000" cy="1143000"/>
          </a:xfrm>
        </p:spPr>
        <p:txBody>
          <a:bodyPr/>
          <a:lstStyle>
            <a:lvl1pPr algn="ctr">
              <a:defRPr sz="4000" i="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636CF1DD-02E1-4F52-8A24-04A4F708C113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638300" y="4648200"/>
            <a:ext cx="5867400" cy="14478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 sz="24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16" name="AutoShape 2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>
            <a:extLst>
              <a:ext uri="{FF2B5EF4-FFF2-40B4-BE49-F238E27FC236}">
                <a16:creationId xmlns:a16="http://schemas.microsoft.com/office/drawing/2014/main" id="{C00F071F-EE5F-4E22-879D-CEB4A530874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AutoShape 4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>
            <a:extLst>
              <a:ext uri="{FF2B5EF4-FFF2-40B4-BE49-F238E27FC236}">
                <a16:creationId xmlns:a16="http://schemas.microsoft.com/office/drawing/2014/main" id="{922F62EA-3F3E-4ECC-84A5-1E40257B3B2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AutoShape 6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>
            <a:extLst>
              <a:ext uri="{FF2B5EF4-FFF2-40B4-BE49-F238E27FC236}">
                <a16:creationId xmlns:a16="http://schemas.microsoft.com/office/drawing/2014/main" id="{2ADAB835-FDAB-4845-98F8-A43FB6A96BD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AutoShape 8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>
            <a:extLst>
              <a:ext uri="{FF2B5EF4-FFF2-40B4-BE49-F238E27FC236}">
                <a16:creationId xmlns:a16="http://schemas.microsoft.com/office/drawing/2014/main" id="{48833A4D-E195-43D3-ABB4-0A6791782D8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AutoShape 10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>
            <a:extLst>
              <a:ext uri="{FF2B5EF4-FFF2-40B4-BE49-F238E27FC236}">
                <a16:creationId xmlns:a16="http://schemas.microsoft.com/office/drawing/2014/main" id="{CBA6F6A7-4FC2-4941-82AA-C6E9C87EF6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AutoShape 12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>
            <a:extLst>
              <a:ext uri="{FF2B5EF4-FFF2-40B4-BE49-F238E27FC236}">
                <a16:creationId xmlns:a16="http://schemas.microsoft.com/office/drawing/2014/main" id="{29F9D7E4-F8D9-4F97-A2F0-78715A7252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Line 40">
            <a:extLst>
              <a:ext uri="{FF2B5EF4-FFF2-40B4-BE49-F238E27FC236}">
                <a16:creationId xmlns:a16="http://schemas.microsoft.com/office/drawing/2014/main" id="{EB58F769-C05D-4B00-A833-63EAFC01B90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524000"/>
            <a:ext cx="9144000" cy="0"/>
          </a:xfrm>
          <a:prstGeom prst="line">
            <a:avLst/>
          </a:prstGeom>
          <a:noFill/>
          <a:ln w="3175">
            <a:solidFill>
              <a:srgbClr val="CC33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+mn-ea"/>
            </a:endParaRPr>
          </a:p>
        </p:txBody>
      </p:sp>
      <p:sp>
        <p:nvSpPr>
          <p:cNvPr id="23" name="Line 41">
            <a:extLst>
              <a:ext uri="{FF2B5EF4-FFF2-40B4-BE49-F238E27FC236}">
                <a16:creationId xmlns:a16="http://schemas.microsoft.com/office/drawing/2014/main" id="{73996790-0217-443B-9033-D56207E0A6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CC33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+mn-ea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7F774CC-41C5-457B-9C13-84A64500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36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Line 40">
            <a:extLst>
              <a:ext uri="{FF2B5EF4-FFF2-40B4-BE49-F238E27FC236}">
                <a16:creationId xmlns:a16="http://schemas.microsoft.com/office/drawing/2014/main" id="{4E76EEB1-81AE-4C79-B162-CD8A7BD7631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853440"/>
            <a:ext cx="9144000" cy="0"/>
          </a:xfrm>
          <a:prstGeom prst="line">
            <a:avLst/>
          </a:prstGeom>
          <a:noFill/>
          <a:ln w="3175">
            <a:solidFill>
              <a:srgbClr val="CC3300"/>
            </a:solidFill>
            <a:rou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D455315-F994-4A2E-BFD5-4F869280704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990600"/>
            <a:ext cx="8305800" cy="5410200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q"/>
              <a:defRPr lang="zh-CN" altLang="en-US" sz="2400" b="1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2950" indent="-28575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 sz="2000" b="0" i="0" strike="noStrike" baseline="0">
                <a:solidFill>
                  <a:schemeClr val="tx1"/>
                </a:solidFill>
                <a:effectLst/>
                <a:latin typeface="+mj-ea"/>
                <a:ea typeface="+mj-ea"/>
              </a:defRPr>
            </a:lvl2pPr>
            <a:lvl3pPr marL="1143000" indent="-2286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 sz="1800" b="0" i="0" baseline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ü"/>
              <a:defRPr sz="1600" b="0" baseline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>
              <a:buClr>
                <a:srgbClr val="111F65"/>
              </a:buClr>
              <a:buFont typeface="Wingdings" panose="05000000000000000000" pitchFamily="2" charset="2"/>
              <a:buChar char="l"/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>
            <a:lvl1pPr marL="342900" indent="-342900">
              <a:buClrTx/>
              <a:buFont typeface="Wingdings" panose="05000000000000000000" pitchFamily="2" charset="2"/>
              <a:buChar char="l"/>
              <a:defRPr lang="zh-CN" altLang="en-US" sz="2800" b="1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>
              <a:buClrTx/>
              <a:buFont typeface="Wingdings" panose="05000000000000000000" pitchFamily="2" charset="2"/>
              <a:buChar char="l"/>
              <a:defRPr kumimoji="1" lang="zh-CN" altLang="en-US" sz="2800" b="1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defRPr>
            </a:lvl2pPr>
            <a:lvl3pPr marL="1143000" indent="-228600">
              <a:buClrTx/>
              <a:buFont typeface="Wingdings" panose="05000000000000000000" pitchFamily="2" charset="2"/>
              <a:buChar char="l"/>
              <a:defRPr i="0" baseline="0"/>
            </a:lvl3pPr>
            <a:lvl4pPr marL="1600200" indent="-228600">
              <a:buClrTx/>
              <a:buFont typeface="Wingdings" panose="05000000000000000000" pitchFamily="2" charset="2"/>
              <a:buChar char="l"/>
              <a:defRPr baseline="0"/>
            </a:lvl4pPr>
            <a:lvl5pPr marL="2057400" indent="-228600">
              <a:buClrTx/>
              <a:buFont typeface="Wingdings" panose="05000000000000000000" pitchFamily="2" charset="2"/>
              <a:buChar char="l"/>
              <a:defRPr baseline="0"/>
            </a:lvl5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Line 40"/>
          <p:cNvSpPr>
            <a:spLocks noChangeShapeType="1"/>
          </p:cNvSpPr>
          <p:nvPr userDrawn="1"/>
        </p:nvSpPr>
        <p:spPr bwMode="auto">
          <a:xfrm>
            <a:off x="0" y="853440"/>
            <a:ext cx="9144000" cy="0"/>
          </a:xfrm>
          <a:prstGeom prst="line">
            <a:avLst/>
          </a:prstGeom>
          <a:noFill/>
          <a:ln w="3175">
            <a:solidFill>
              <a:srgbClr val="CC3300"/>
            </a:solidFill>
            <a:rou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93700" y="38100"/>
            <a:ext cx="824230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2087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305800" cy="5410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zh-CN" sz="3600" b="1" i="0" dirty="0" smtClean="0">
          <a:solidFill>
            <a:srgbClr val="C00000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Tx/>
        <a:buFont typeface="Wingdings" panose="05000000000000000000" pitchFamily="2" charset="2"/>
        <a:buChar char="l"/>
        <a:defRPr lang="en-US" altLang="zh-CN" sz="2400" b="1" baseline="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Tx/>
        <a:buFont typeface="Wingdings" panose="05000000000000000000" pitchFamily="2" charset="2"/>
        <a:buChar char="l"/>
        <a:defRPr lang="en-US" altLang="zh-CN" sz="2400" b="1" baseline="0" dirty="0">
          <a:solidFill>
            <a:schemeClr val="tx1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Tx/>
        <a:buFont typeface="Wingdings" panose="05000000000000000000" pitchFamily="2" charset="2"/>
        <a:buChar char="l"/>
        <a:defRPr lang="en-US" altLang="zh-CN" sz="2400" b="1" i="1" baseline="0" dirty="0">
          <a:solidFill>
            <a:schemeClr val="tx1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Tx/>
        <a:buSzPct val="100000"/>
        <a:buFont typeface="Wingdings" panose="05000000000000000000" pitchFamily="2" charset="2"/>
        <a:buChar char="l"/>
        <a:defRPr lang="en-US" altLang="zh-CN" sz="2400" b="1" baseline="0" dirty="0">
          <a:solidFill>
            <a:schemeClr val="tx1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Tx/>
        <a:buSzPct val="100000"/>
        <a:buFont typeface="Wingdings" panose="05000000000000000000" pitchFamily="2" charset="2"/>
        <a:buChar char="l"/>
        <a:defRPr lang="en-US" altLang="zh-CN" sz="2400" b="1" i="1" baseline="0" dirty="0">
          <a:solidFill>
            <a:schemeClr val="tx1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anose="05000000000000000000" pitchFamily="2" charset="2"/>
        <a:buChar char="ü"/>
        <a:defRPr sz="1600" b="1" i="1">
          <a:solidFill>
            <a:srgbClr val="6600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anose="05000000000000000000" pitchFamily="2" charset="2"/>
        <a:buChar char="ü"/>
        <a:defRPr sz="1600" b="1" i="1">
          <a:solidFill>
            <a:srgbClr val="6600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anose="05000000000000000000" pitchFamily="2" charset="2"/>
        <a:buChar char="ü"/>
        <a:defRPr sz="1600" b="1" i="1">
          <a:solidFill>
            <a:srgbClr val="6600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anose="05000000000000000000" pitchFamily="2" charset="2"/>
        <a:buChar char="ü"/>
        <a:defRPr sz="1600" b="1" i="1">
          <a:solidFill>
            <a:srgbClr val="660066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5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6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7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8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9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58.emf"/><Relationship Id="rId4" Type="http://schemas.openxmlformats.org/officeDocument/2006/relationships/oleObject" Target="../embeddings/oleObject10.bin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tiff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tiff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tif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tiff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ntiki-ng/contiki-ng.git" TargetMode="Externa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58756" y="2048287"/>
            <a:ext cx="9027477" cy="152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4800" dirty="0">
                <a:solidFill>
                  <a:srgbClr val="C00000"/>
                </a:solidFill>
              </a:rPr>
              <a:t>第四章：低功耗短距离通信协议</a:t>
            </a:r>
            <a:endParaRPr lang="en-US" altLang="zh-CN" sz="4800" b="1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D1F4A-2344-4553-9A8E-13013417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1C2A54-DDD1-4485-9C64-D2B766AAF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了解常见的低功耗短距离通信技术及其关键特性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/>
              <a:t>IEEE 802.15.4</a:t>
            </a:r>
            <a:r>
              <a:rPr lang="zh-CN" altLang="en-US" dirty="0"/>
              <a:t>的调制与解调技术</a:t>
            </a:r>
          </a:p>
          <a:p>
            <a:r>
              <a:rPr lang="zh-CN" altLang="en-US" dirty="0"/>
              <a:t>了解常见的</a:t>
            </a:r>
            <a:r>
              <a:rPr lang="en-US" altLang="zh-CN" dirty="0"/>
              <a:t>IEEE 802.15.4</a:t>
            </a:r>
            <a:r>
              <a:rPr lang="zh-CN" altLang="en-US" dirty="0"/>
              <a:t>低功耗</a:t>
            </a:r>
            <a:r>
              <a:rPr lang="en-US" altLang="zh-CN" dirty="0"/>
              <a:t>MAC</a:t>
            </a:r>
            <a:r>
              <a:rPr lang="zh-CN" altLang="en-US" dirty="0"/>
              <a:t>技术及其优缺点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zh-CN" altLang="en-US" dirty="0"/>
              <a:t>链路</a:t>
            </a:r>
            <a:r>
              <a:rPr lang="en-US" altLang="zh-CN" dirty="0"/>
              <a:t>PRR</a:t>
            </a:r>
            <a:r>
              <a:rPr lang="zh-CN" altLang="en-US" dirty="0"/>
              <a:t>的计算与估计方法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/>
              <a:t>CTP</a:t>
            </a:r>
            <a:r>
              <a:rPr lang="zh-CN" altLang="en-US" dirty="0"/>
              <a:t>协议的基本工作原理，以及路由指标</a:t>
            </a:r>
            <a:r>
              <a:rPr lang="en-US" altLang="zh-CN" dirty="0"/>
              <a:t>ETX</a:t>
            </a:r>
            <a:r>
              <a:rPr lang="zh-CN" altLang="en-US" dirty="0"/>
              <a:t>的计算方法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/>
              <a:t>BLE</a:t>
            </a:r>
            <a:r>
              <a:rPr lang="zh-CN" altLang="en-US" dirty="0"/>
              <a:t>的基础协议架构及链路层工作流程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/>
              <a:t>BLE Mesh</a:t>
            </a:r>
            <a:r>
              <a:rPr lang="zh-CN" altLang="en-US" dirty="0"/>
              <a:t>中的数据包路由过程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23550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概述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关键特性</a:t>
            </a:r>
            <a:endParaRPr lang="en-US" altLang="zh-CN" dirty="0"/>
          </a:p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的传感网协议架构</a:t>
            </a:r>
            <a:endParaRPr lang="en-US" altLang="zh-CN" dirty="0"/>
          </a:p>
          <a:p>
            <a:r>
              <a:rPr lang="en-US" altLang="zh-CN" dirty="0"/>
              <a:t>Bluetooth</a:t>
            </a:r>
          </a:p>
          <a:p>
            <a:r>
              <a:rPr lang="zh-CN" altLang="en-US" dirty="0"/>
              <a:t>应用案例</a:t>
            </a:r>
            <a:endParaRPr lang="en-US" altLang="zh-CN" dirty="0"/>
          </a:p>
          <a:p>
            <a:r>
              <a:rPr lang="zh-CN" altLang="en-US" dirty="0"/>
              <a:t>研究进展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645"/>
          <a:stretch/>
        </p:blipFill>
        <p:spPr>
          <a:xfrm>
            <a:off x="28576" y="990600"/>
            <a:ext cx="8911677" cy="5867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低功耗短距离通信需求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万物相连的网络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C12F9A-8793-4FA0-BA7C-3196829D2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低功耗短距离通信需求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在物联网中，万物互联是关键</a:t>
            </a:r>
            <a:endParaRPr lang="en-US" altLang="zh-CN" dirty="0"/>
          </a:p>
          <a:p>
            <a:pPr lvl="1"/>
            <a:r>
              <a:rPr lang="zh-CN" altLang="en-US" dirty="0"/>
              <a:t>例如，智慧家居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物联网通信的特点</a:t>
            </a:r>
            <a:endParaRPr lang="en-US" altLang="zh-CN" dirty="0"/>
          </a:p>
          <a:p>
            <a:pPr lvl="1"/>
            <a:r>
              <a:rPr lang="zh-CN" altLang="en-US" dirty="0"/>
              <a:t>无线</a:t>
            </a:r>
            <a:endParaRPr lang="en-US" altLang="zh-CN" dirty="0"/>
          </a:p>
          <a:p>
            <a:pPr lvl="1"/>
            <a:r>
              <a:rPr lang="zh-CN" altLang="en-US" dirty="0"/>
              <a:t>低速</a:t>
            </a:r>
            <a:endParaRPr lang="en-US" altLang="zh-CN" dirty="0"/>
          </a:p>
          <a:p>
            <a:pPr lvl="1"/>
            <a:r>
              <a:rPr lang="zh-CN" altLang="en-US" dirty="0"/>
              <a:t>低功耗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7" name="组合 6"/>
          <p:cNvGrpSpPr/>
          <p:nvPr/>
        </p:nvGrpSpPr>
        <p:grpSpPr>
          <a:xfrm>
            <a:off x="3537598" y="1612900"/>
            <a:ext cx="4812003" cy="2527300"/>
            <a:chOff x="749299" y="2082800"/>
            <a:chExt cx="6094704" cy="3225800"/>
          </a:xfrm>
        </p:grpSpPr>
        <p:pic>
          <p:nvPicPr>
            <p:cNvPr id="3074" name="Picture 2" descr="ç¸å³å¾ç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1" t="8802" r="8627" b="8452"/>
            <a:stretch>
              <a:fillRect/>
            </a:stretch>
          </p:blipFill>
          <p:spPr bwMode="auto">
            <a:xfrm>
              <a:off x="749299" y="2082800"/>
              <a:ext cx="6094703" cy="32258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 bwMode="auto">
            <a:xfrm>
              <a:off x="3707750" y="2082800"/>
              <a:ext cx="2604150" cy="279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4355451" y="2279650"/>
              <a:ext cx="2222500" cy="2921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203700" y="2133600"/>
              <a:ext cx="2222500" cy="2921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4507201" y="2133600"/>
              <a:ext cx="2336801" cy="37465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4355452" y="2362201"/>
              <a:ext cx="2488551" cy="355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2408FBFE-EDEA-4FE5-858A-7D51661D6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低功耗短距离通信需求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低功耗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无线短距离通信技术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发射功率与传输距离的关系：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无线低功耗短距离通信技术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sym typeface="Wingdings" panose="05000000000000000000" pitchFamily="2" charset="2"/>
              </a:rPr>
              <a:t>IEEE 802.15.4</a:t>
            </a:r>
          </a:p>
          <a:p>
            <a:pPr lvl="1"/>
            <a:r>
              <a:rPr lang="en-US" altLang="zh-CN" dirty="0">
                <a:sym typeface="Wingdings" panose="05000000000000000000" pitchFamily="2" charset="2"/>
              </a:rPr>
              <a:t>ZigBee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传感网协议</a:t>
            </a:r>
            <a:endParaRPr lang="en-US" altLang="zh-CN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sym typeface="Wingdings" panose="05000000000000000000" pitchFamily="2" charset="2"/>
              </a:rPr>
              <a:t>BLE</a:t>
            </a:r>
          </a:p>
          <a:p>
            <a:pPr lvl="1"/>
            <a:r>
              <a:rPr lang="en-US" altLang="zh-CN" dirty="0" err="1">
                <a:sym typeface="Wingdings" panose="05000000000000000000" pitchFamily="2" charset="2"/>
              </a:rPr>
              <a:t>WiFi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en-US" altLang="zh-CN" dirty="0" err="1">
                <a:sym typeface="Wingdings" panose="05000000000000000000" pitchFamily="2" charset="2"/>
              </a:rPr>
              <a:t>Halow</a:t>
            </a:r>
            <a:r>
              <a:rPr lang="en-US" altLang="zh-CN" dirty="0">
                <a:sym typeface="Wingdings" panose="05000000000000000000" pitchFamily="2" charset="2"/>
              </a:rPr>
              <a:t>/802.11ah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523408"/>
              </p:ext>
            </p:extLst>
          </p:nvPr>
        </p:nvGraphicFramePr>
        <p:xfrm>
          <a:off x="4732421" y="1429247"/>
          <a:ext cx="1343780" cy="56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7" r:id="rId4" imgW="470535" imgH="203200" progId="Equation.DSMT4">
                  <p:embed/>
                </p:oleObj>
              </mc:Choice>
              <mc:Fallback>
                <p:oleObj r:id="rId4" imgW="470535" imgH="20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421" y="1429247"/>
                        <a:ext cx="1343780" cy="564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6173A02B-8CA1-45B7-92D3-BB8ACF572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ym typeface="Wingdings" panose="05000000000000000000" pitchFamily="2" charset="2"/>
              </a:rPr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IEEE 802.15.4</a:t>
            </a:r>
          </a:p>
          <a:p>
            <a:pPr lvl="1"/>
            <a:r>
              <a:rPr lang="en-US" altLang="zh-CN" dirty="0"/>
              <a:t>2003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, </a:t>
            </a:r>
            <a:r>
              <a:rPr lang="zh-CN" altLang="en-US" dirty="0"/>
              <a:t>由</a:t>
            </a:r>
            <a:r>
              <a:rPr lang="en-US" altLang="zh-CN" dirty="0"/>
              <a:t>IEEE</a:t>
            </a:r>
            <a:r>
              <a:rPr lang="zh-CN" altLang="en-US" dirty="0"/>
              <a:t>发布，覆盖低速无线个域网的</a:t>
            </a:r>
            <a:r>
              <a:rPr lang="zh-CN" altLang="en-US" dirty="0">
                <a:solidFill>
                  <a:srgbClr val="C00000"/>
                </a:solidFill>
              </a:rPr>
              <a:t>物理层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C00000"/>
                </a:solidFill>
              </a:rPr>
              <a:t>MAC </a:t>
            </a:r>
            <a:r>
              <a:rPr lang="zh-CN" altLang="en-US" dirty="0">
                <a:solidFill>
                  <a:srgbClr val="C00000"/>
                </a:solidFill>
              </a:rPr>
              <a:t>层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, IEEE 802.15.4c</a:t>
            </a:r>
            <a:r>
              <a:rPr lang="zh-CN" altLang="en-US" dirty="0"/>
              <a:t>修订版，增加专门用来解决我国新开放的</a:t>
            </a:r>
            <a:r>
              <a:rPr lang="en-US" altLang="zh-CN" dirty="0"/>
              <a:t>881~787MHz</a:t>
            </a:r>
            <a:r>
              <a:rPr lang="zh-CN" altLang="en-US" dirty="0"/>
              <a:t>无线传感网络频段的物理层（也称为</a:t>
            </a:r>
            <a:r>
              <a:rPr lang="en-US" altLang="zh-CN" dirty="0"/>
              <a:t>780MHz</a:t>
            </a:r>
            <a:r>
              <a:rPr lang="zh-CN" altLang="en-US" dirty="0"/>
              <a:t>中国频段）</a:t>
            </a:r>
            <a:endParaRPr lang="en-US" altLang="zh-CN" dirty="0"/>
          </a:p>
          <a:p>
            <a:pPr lvl="1"/>
            <a:r>
              <a:rPr lang="en-US" altLang="zh-CN" dirty="0"/>
              <a:t>2010</a:t>
            </a:r>
            <a:r>
              <a:rPr lang="zh-CN" altLang="en-US" dirty="0"/>
              <a:t>年，</a:t>
            </a:r>
            <a:r>
              <a:rPr lang="en-US" altLang="zh-CN" dirty="0"/>
              <a:t>IEEE 802.15.4e, </a:t>
            </a:r>
            <a:r>
              <a:rPr lang="zh-CN" altLang="en-US" dirty="0"/>
              <a:t>定义了</a:t>
            </a:r>
            <a:r>
              <a:rPr lang="en-US" altLang="zh-CN" dirty="0"/>
              <a:t>MAC</a:t>
            </a:r>
            <a:r>
              <a:rPr lang="zh-CN" altLang="en-US" dirty="0"/>
              <a:t>层时分多址（</a:t>
            </a:r>
            <a:r>
              <a:rPr lang="en-US" altLang="zh-CN" dirty="0"/>
              <a:t>TDMA</a:t>
            </a:r>
            <a:r>
              <a:rPr lang="zh-CN" altLang="en-US" dirty="0"/>
              <a:t>）和信道跳频的支持，更好的支持了工业市场需求</a:t>
            </a:r>
          </a:p>
          <a:p>
            <a:pPr lvl="1"/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" y="4549628"/>
            <a:ext cx="9107744" cy="160317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00291B-52DE-4A5C-8860-6037E504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ym typeface="Wingdings" panose="05000000000000000000" pitchFamily="2" charset="2"/>
              </a:rPr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ZigBee</a:t>
            </a:r>
          </a:p>
          <a:p>
            <a:pPr lvl="1"/>
            <a:r>
              <a:rPr lang="zh-CN" altLang="en-US" dirty="0"/>
              <a:t>“紫蜂”，</a:t>
            </a:r>
            <a:r>
              <a:rPr lang="en-US" altLang="zh-CN" dirty="0"/>
              <a:t>2004</a:t>
            </a:r>
            <a:r>
              <a:rPr lang="zh-CN" altLang="en-US" dirty="0"/>
              <a:t>年诞生，是基于 </a:t>
            </a:r>
            <a:r>
              <a:rPr lang="en-US" altLang="zh-CN" dirty="0"/>
              <a:t>IEEE 802.15.4 </a:t>
            </a:r>
            <a:r>
              <a:rPr lang="zh-CN" altLang="en-US" dirty="0"/>
              <a:t>标准的低功耗短距离无线网络协议</a:t>
            </a:r>
            <a:endParaRPr lang="en-US" altLang="zh-CN" dirty="0"/>
          </a:p>
          <a:p>
            <a:pPr lvl="1"/>
            <a:r>
              <a:rPr lang="en-US" altLang="zh-CN" dirty="0"/>
              <a:t>2007</a:t>
            </a:r>
            <a:r>
              <a:rPr lang="zh-CN" altLang="en-US" dirty="0"/>
              <a:t>年，推出</a:t>
            </a:r>
            <a:r>
              <a:rPr lang="en-US" altLang="zh-CN" dirty="0"/>
              <a:t>ZigBee PRO</a:t>
            </a:r>
          </a:p>
          <a:p>
            <a:pPr lvl="1"/>
            <a:r>
              <a:rPr lang="en-US" altLang="zh-CN" dirty="0"/>
              <a:t>2011</a:t>
            </a:r>
            <a:r>
              <a:rPr lang="zh-CN" altLang="en-US" dirty="0"/>
              <a:t>年，推出</a:t>
            </a:r>
            <a:r>
              <a:rPr lang="en-US" altLang="zh-CN" dirty="0"/>
              <a:t>ZigBee RF4CE, </a:t>
            </a:r>
            <a:r>
              <a:rPr lang="zh-CN" altLang="en-US" dirty="0"/>
              <a:t>具备更强的灵活性和远程控制能力</a:t>
            </a:r>
          </a:p>
          <a:p>
            <a:r>
              <a:rPr lang="en-US" altLang="zh-CN" dirty="0"/>
              <a:t>ZigBee </a:t>
            </a:r>
            <a:r>
              <a:rPr lang="zh-CN" altLang="en-US" dirty="0"/>
              <a:t>与 </a:t>
            </a:r>
            <a:r>
              <a:rPr lang="en-US" altLang="zh-CN" dirty="0"/>
              <a:t>IEEE 802.15.4 </a:t>
            </a:r>
          </a:p>
          <a:p>
            <a:pPr lvl="1"/>
            <a:r>
              <a:rPr lang="zh-CN" altLang="en-US" dirty="0"/>
              <a:t>其协议栈的物理层和</a:t>
            </a:r>
            <a:r>
              <a:rPr lang="en-US" altLang="zh-CN" dirty="0"/>
              <a:t>MAC</a:t>
            </a:r>
            <a:r>
              <a:rPr lang="zh-CN" altLang="en-US" dirty="0"/>
              <a:t>层由 </a:t>
            </a:r>
            <a:r>
              <a:rPr lang="en-US" altLang="zh-CN" dirty="0"/>
              <a:t>IEEE 802.15.4 </a:t>
            </a:r>
            <a:r>
              <a:rPr lang="zh-CN" altLang="en-US" dirty="0"/>
              <a:t>定义，而上层的网络层和应用层由</a:t>
            </a:r>
            <a:r>
              <a:rPr lang="en-US" altLang="zh-CN" dirty="0"/>
              <a:t>ZigBee</a:t>
            </a:r>
            <a:r>
              <a:rPr lang="zh-CN" altLang="en-US" dirty="0"/>
              <a:t>联盟定义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ZigBee</a:t>
            </a:r>
            <a:r>
              <a:rPr lang="zh-CN" altLang="en-US" dirty="0"/>
              <a:t>技术具有低功耗、低速率、低成本、组网灵活等优点</a:t>
            </a:r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2FF41A4B-6C15-4230-8A69-B2D4FB632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ym typeface="Wingdings" panose="05000000000000000000" pitchFamily="2" charset="2"/>
              </a:rPr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传感网协议</a:t>
            </a:r>
            <a:endParaRPr lang="en-US" altLang="zh-CN" dirty="0"/>
          </a:p>
          <a:p>
            <a:pPr lvl="1"/>
            <a:r>
              <a:rPr lang="zh-CN" altLang="en-US" dirty="0"/>
              <a:t>由大量低功耗节点组成的无线自组织多跳网络，实时感知、处理和传输网络覆盖区域内监测对象的信息</a:t>
            </a:r>
            <a:endParaRPr lang="en-US" altLang="zh-CN" dirty="0"/>
          </a:p>
          <a:p>
            <a:pPr lvl="1"/>
            <a:r>
              <a:rPr lang="zh-CN" altLang="en-US" dirty="0"/>
              <a:t>传感网协议是传感网应用的基础，自</a:t>
            </a:r>
            <a:r>
              <a:rPr lang="en-US" altLang="zh-CN" dirty="0"/>
              <a:t>2002</a:t>
            </a:r>
            <a:r>
              <a:rPr lang="zh-CN" altLang="en-US" dirty="0"/>
              <a:t>年以来大量研究围绕</a:t>
            </a:r>
            <a:r>
              <a:rPr lang="zh-CN" altLang="en-US" dirty="0">
                <a:solidFill>
                  <a:srgbClr val="C00000"/>
                </a:solidFill>
              </a:rPr>
              <a:t>低功耗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00000"/>
                </a:solidFill>
              </a:rPr>
              <a:t>组网技术</a:t>
            </a:r>
            <a:r>
              <a:rPr lang="zh-CN" altLang="en-US" dirty="0"/>
              <a:t>展开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低功耗</a:t>
            </a:r>
            <a:r>
              <a:rPr lang="en-US" altLang="zh-CN" dirty="0">
                <a:solidFill>
                  <a:srgbClr val="C00000"/>
                </a:solidFill>
              </a:rPr>
              <a:t>MAC</a:t>
            </a:r>
            <a:r>
              <a:rPr lang="zh-CN" altLang="en-US" dirty="0"/>
              <a:t>的研究：</a:t>
            </a:r>
            <a:r>
              <a:rPr lang="en-US" altLang="zh-CN" dirty="0"/>
              <a:t>2002</a:t>
            </a:r>
            <a:r>
              <a:rPr lang="zh-CN" altLang="en-US" dirty="0"/>
              <a:t>年</a:t>
            </a:r>
            <a:r>
              <a:rPr lang="en-US" altLang="zh-CN" dirty="0"/>
              <a:t>,S-MAC</a:t>
            </a:r>
            <a:r>
              <a:rPr lang="zh-CN" altLang="en-US" dirty="0"/>
              <a:t>；</a:t>
            </a:r>
            <a:r>
              <a:rPr lang="en-US" altLang="zh-CN" dirty="0"/>
              <a:t>2004</a:t>
            </a:r>
            <a:r>
              <a:rPr lang="zh-CN" altLang="en-US" dirty="0"/>
              <a:t>年</a:t>
            </a:r>
            <a:r>
              <a:rPr lang="en-US" altLang="zh-CN" dirty="0"/>
              <a:t>, LPL-MAC, Wise-MAC; 2008</a:t>
            </a:r>
            <a:r>
              <a:rPr lang="zh-CN" altLang="en-US" dirty="0"/>
              <a:t>年</a:t>
            </a:r>
            <a:r>
              <a:rPr lang="en-US" altLang="zh-CN" dirty="0"/>
              <a:t>, RI-MAC; 2010</a:t>
            </a:r>
            <a:r>
              <a:rPr lang="zh-CN" altLang="en-US" dirty="0"/>
              <a:t>年</a:t>
            </a:r>
            <a:r>
              <a:rPr lang="en-US" altLang="zh-CN" dirty="0"/>
              <a:t>A-MAC</a:t>
            </a: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组网</a:t>
            </a:r>
            <a:r>
              <a:rPr lang="zh-CN" altLang="en-US" dirty="0"/>
              <a:t>：</a:t>
            </a:r>
            <a:r>
              <a:rPr lang="en-US" altLang="zh-CN" dirty="0"/>
              <a:t>2009</a:t>
            </a:r>
            <a:r>
              <a:rPr lang="zh-CN" altLang="en-US" dirty="0"/>
              <a:t>年</a:t>
            </a:r>
            <a:r>
              <a:rPr lang="en-US" altLang="zh-CN" dirty="0"/>
              <a:t>, CTP</a:t>
            </a:r>
            <a:r>
              <a:rPr lang="zh-CN" altLang="en-US" dirty="0"/>
              <a:t>协议支持多对一的路由模式；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, IETF ROLL</a:t>
            </a:r>
            <a:r>
              <a:rPr lang="zh-CN" altLang="en-US" dirty="0"/>
              <a:t>工作组提出</a:t>
            </a:r>
            <a:r>
              <a:rPr lang="en-US" altLang="zh-CN" dirty="0"/>
              <a:t>RPL</a:t>
            </a:r>
            <a:r>
              <a:rPr lang="zh-CN" altLang="en-US" dirty="0"/>
              <a:t>支持多对一</a:t>
            </a:r>
            <a:r>
              <a:rPr lang="en-US" altLang="zh-CN" dirty="0"/>
              <a:t>, </a:t>
            </a:r>
            <a:r>
              <a:rPr lang="zh-CN" altLang="en-US" dirty="0"/>
              <a:t>一对多，一对一的路由模式</a:t>
            </a:r>
            <a:endParaRPr lang="en-US" altLang="zh-CN" dirty="0"/>
          </a:p>
          <a:p>
            <a:pPr lvl="1"/>
            <a:r>
              <a:rPr lang="zh-CN" altLang="en-US" dirty="0"/>
              <a:t>早期的传感网技术</a:t>
            </a:r>
            <a:endParaRPr lang="en-US" altLang="zh-CN" dirty="0"/>
          </a:p>
          <a:p>
            <a:pPr lvl="2"/>
            <a:r>
              <a:rPr lang="en-US" altLang="zh-CN" dirty="0"/>
              <a:t>CC1000, 38.4kbps, FSK</a:t>
            </a:r>
            <a:r>
              <a:rPr lang="zh-CN" altLang="en-US" dirty="0"/>
              <a:t>调制</a:t>
            </a:r>
            <a:endParaRPr lang="en-US" altLang="zh-CN" dirty="0"/>
          </a:p>
          <a:p>
            <a:pPr lvl="1"/>
            <a:r>
              <a:rPr lang="zh-CN" altLang="en-US" dirty="0"/>
              <a:t>近期的传感网协议是基于</a:t>
            </a:r>
            <a:r>
              <a:rPr lang="en-US" altLang="zh-CN" dirty="0"/>
              <a:t>802.15.4</a:t>
            </a:r>
            <a:r>
              <a:rPr lang="zh-CN" altLang="en-US" dirty="0"/>
              <a:t>的协议架构</a:t>
            </a:r>
            <a:endParaRPr lang="en-US" altLang="zh-CN" dirty="0"/>
          </a:p>
          <a:p>
            <a:pPr lvl="1"/>
            <a:r>
              <a:rPr lang="en-US" altLang="zh-CN" dirty="0"/>
              <a:t>802.15.4</a:t>
            </a:r>
            <a:r>
              <a:rPr lang="zh-CN" altLang="en-US" dirty="0"/>
              <a:t>具有高度开放性，促进了大量研究工作的产生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73759F9-86D0-47E7-8F3E-1906FC9BF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ym typeface="Wingdings" panose="05000000000000000000" pitchFamily="2" charset="2"/>
              </a:rPr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</a:p>
          <a:p>
            <a:pPr lvl="1"/>
            <a:r>
              <a:rPr lang="en-US" altLang="zh-CN" dirty="0"/>
              <a:t>1994</a:t>
            </a:r>
            <a:r>
              <a:rPr lang="zh-CN" altLang="en-US" dirty="0"/>
              <a:t>年，蓝牙技术由爱立信公司推出，目标是在移动电话和其他配件间进行低功耗、低成本无线通信连接</a:t>
            </a:r>
            <a:endParaRPr lang="en-US" altLang="zh-CN" dirty="0"/>
          </a:p>
          <a:p>
            <a:pPr lvl="1"/>
            <a:r>
              <a:rPr lang="en-US" altLang="zh-CN" dirty="0"/>
              <a:t>2010 </a:t>
            </a:r>
            <a:r>
              <a:rPr lang="zh-CN" altLang="en-US" dirty="0"/>
              <a:t>年，蓝牙技术联盟推出了蓝牙</a:t>
            </a:r>
            <a:r>
              <a:rPr lang="en-US" altLang="zh-CN" dirty="0"/>
              <a:t>4.0 </a:t>
            </a:r>
            <a:r>
              <a:rPr lang="zh-CN" altLang="en-US" dirty="0"/>
              <a:t>规范，其最重要的特性是低功耗，此版本的蓝牙被称为低功耗蓝牙，即</a:t>
            </a:r>
            <a:r>
              <a:rPr lang="en-US" altLang="zh-CN" dirty="0"/>
              <a:t>BLE</a:t>
            </a:r>
            <a:r>
              <a:rPr lang="zh-CN" altLang="en-US" dirty="0"/>
              <a:t>（</a:t>
            </a:r>
            <a:r>
              <a:rPr lang="en-US" altLang="zh-CN" dirty="0"/>
              <a:t>Bluetooth Low Energy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日伦敦举行的媒体活动中，蓝牙 </a:t>
            </a:r>
            <a:r>
              <a:rPr lang="en-US" altLang="zh-CN" dirty="0"/>
              <a:t>SIG</a:t>
            </a:r>
            <a:r>
              <a:rPr lang="zh-CN" altLang="en-US" dirty="0"/>
              <a:t>正式公布了蓝牙</a:t>
            </a:r>
            <a:r>
              <a:rPr lang="en-US" altLang="zh-CN" dirty="0"/>
              <a:t>5</a:t>
            </a:r>
            <a:r>
              <a:rPr lang="zh-CN" altLang="en-US" dirty="0"/>
              <a:t>标准</a:t>
            </a:r>
          </a:p>
          <a:p>
            <a:pPr lvl="1"/>
            <a:r>
              <a:rPr lang="zh-CN" altLang="en-US" dirty="0"/>
              <a:t>随着功能的逐步增加，在</a:t>
            </a:r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日，蓝牙 </a:t>
            </a:r>
            <a:r>
              <a:rPr lang="en-US" altLang="zh-CN" dirty="0"/>
              <a:t>SIG </a:t>
            </a:r>
            <a:r>
              <a:rPr lang="zh-CN" altLang="en-US" dirty="0"/>
              <a:t>正式发布了蓝牙多跳的功能定义和多跳模型定义，并增加到了蓝牙</a:t>
            </a:r>
            <a:r>
              <a:rPr lang="en-US" altLang="zh-CN" dirty="0"/>
              <a:t>5.0</a:t>
            </a:r>
            <a:r>
              <a:rPr lang="zh-CN" altLang="en-US" dirty="0"/>
              <a:t>中。在家居物联网中，蓝牙多跳标准的确定使得多设备和多设备之间的通信成为可能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A94A7241-92CB-499D-B46D-3B0A38CF0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典型协议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RFID</a:t>
            </a:r>
          </a:p>
          <a:p>
            <a:pPr lvl="1"/>
            <a:r>
              <a:rPr lang="zh-CN" altLang="en-US" dirty="0"/>
              <a:t>射频识别</a:t>
            </a:r>
            <a:r>
              <a:rPr lang="en-US" altLang="zh-CN" dirty="0"/>
              <a:t>, </a:t>
            </a:r>
            <a:r>
              <a:rPr lang="zh-CN" altLang="en-US" dirty="0"/>
              <a:t>无线电的信号是通过调成无线电频率的电磁场，把数据从附着在物品上的标签上传送出去，以自动辨识与追踪该物品</a:t>
            </a:r>
            <a:endParaRPr lang="en-US" altLang="zh-CN" dirty="0"/>
          </a:p>
          <a:p>
            <a:r>
              <a:rPr lang="en-US" altLang="zh-CN" dirty="0"/>
              <a:t>NFC</a:t>
            </a:r>
          </a:p>
          <a:p>
            <a:pPr lvl="1"/>
            <a:r>
              <a:rPr lang="zh-CN" altLang="en-US" dirty="0"/>
              <a:t>近场通信技术，</a:t>
            </a:r>
            <a:r>
              <a:rPr lang="en-US" altLang="zh-CN" dirty="0"/>
              <a:t>2004</a:t>
            </a:r>
            <a:r>
              <a:rPr lang="zh-CN" altLang="en-US" dirty="0"/>
              <a:t>年由飞利浦半导体、诺基亚和索尼共同研制开发，是一种短距高频的无线电技术，在</a:t>
            </a:r>
            <a:r>
              <a:rPr lang="en-US" altLang="zh-CN" dirty="0"/>
              <a:t>13.56 MHz</a:t>
            </a:r>
            <a:r>
              <a:rPr lang="zh-CN" altLang="en-US" dirty="0"/>
              <a:t>频率运行于</a:t>
            </a:r>
            <a:r>
              <a:rPr lang="en-US" altLang="zh-CN" dirty="0"/>
              <a:t>20</a:t>
            </a:r>
            <a:r>
              <a:rPr lang="zh-CN" altLang="en-US" dirty="0"/>
              <a:t>厘米距离内，由</a:t>
            </a:r>
            <a:r>
              <a:rPr lang="en-US" altLang="zh-CN" dirty="0"/>
              <a:t>RFID</a:t>
            </a:r>
            <a:r>
              <a:rPr lang="zh-CN" altLang="en-US" dirty="0"/>
              <a:t>演变而来</a:t>
            </a:r>
            <a:endParaRPr lang="en-US" altLang="zh-CN" dirty="0"/>
          </a:p>
          <a:p>
            <a:r>
              <a:rPr lang="en-US" altLang="zh-CN" dirty="0"/>
              <a:t>THREAD</a:t>
            </a:r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IEEE 802.15.4</a:t>
            </a:r>
            <a:r>
              <a:rPr lang="zh-CN" altLang="en-US" dirty="0"/>
              <a:t>设备设计的</a:t>
            </a:r>
            <a:r>
              <a:rPr lang="en-US" altLang="zh-CN" dirty="0"/>
              <a:t>IPv6</a:t>
            </a:r>
            <a:r>
              <a:rPr lang="zh-CN" altLang="en-US" dirty="0"/>
              <a:t>网络协议栈</a:t>
            </a:r>
            <a:endParaRPr lang="en-US" altLang="zh-CN" dirty="0"/>
          </a:p>
          <a:p>
            <a:pPr lvl="1"/>
            <a:r>
              <a:rPr lang="en-US" altLang="zh-CN" dirty="0"/>
              <a:t>THREAD</a:t>
            </a:r>
            <a:r>
              <a:rPr lang="zh-CN" altLang="en-US" dirty="0"/>
              <a:t>网络中的节点可分为两种角色：路由节点（</a:t>
            </a:r>
            <a:r>
              <a:rPr lang="en-US" altLang="zh-CN" dirty="0"/>
              <a:t>router</a:t>
            </a:r>
            <a:r>
              <a:rPr lang="zh-CN" altLang="en-US" dirty="0"/>
              <a:t>）和端节点（</a:t>
            </a:r>
            <a:r>
              <a:rPr lang="en-US" altLang="zh-CN" dirty="0"/>
              <a:t>end device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200C72A6-C8B3-421C-B75D-90DFE6E2B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 dirty="0"/>
          </a:p>
          <a:p>
            <a:r>
              <a:rPr lang="zh-CN" altLang="en-US" sz="2800" dirty="0"/>
              <a:t>概述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C00000"/>
                </a:solidFill>
              </a:rPr>
              <a:t>关键特性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zh-CN" altLang="en-US" sz="2800" dirty="0"/>
              <a:t>基于</a:t>
            </a:r>
            <a:r>
              <a:rPr lang="en-US" altLang="zh-CN" sz="2800" dirty="0"/>
              <a:t>IEEE802.15.4</a:t>
            </a:r>
            <a:r>
              <a:rPr lang="zh-CN" altLang="en-US" sz="2800" dirty="0"/>
              <a:t>的传感网协议架构</a:t>
            </a:r>
            <a:endParaRPr lang="en-US" altLang="zh-CN" sz="2800" dirty="0"/>
          </a:p>
          <a:p>
            <a:r>
              <a:rPr lang="en-US" altLang="zh-CN" sz="2800" dirty="0"/>
              <a:t>Bluetooth</a:t>
            </a:r>
          </a:p>
          <a:p>
            <a:r>
              <a:rPr lang="zh-CN" altLang="en-US" sz="2800" dirty="0"/>
              <a:t>应用案例</a:t>
            </a:r>
            <a:endParaRPr lang="en-US" altLang="zh-CN" sz="2800" dirty="0"/>
          </a:p>
          <a:p>
            <a:r>
              <a:rPr lang="zh-CN" altLang="en-US" sz="2800" dirty="0"/>
              <a:t>研究进展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08473279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050B4-ED25-4A97-9D12-30D52457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59DE2-902D-4873-8FAF-7D6938B53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功耗</a:t>
            </a:r>
            <a:endParaRPr lang="en-US" altLang="zh-CN" dirty="0"/>
          </a:p>
          <a:p>
            <a:r>
              <a:rPr lang="zh-CN" altLang="en-US" dirty="0"/>
              <a:t>通信距离</a:t>
            </a:r>
            <a:endParaRPr lang="en-US" altLang="zh-CN" dirty="0"/>
          </a:p>
          <a:p>
            <a:r>
              <a:rPr lang="zh-CN" altLang="en-US" dirty="0"/>
              <a:t>频带与数据率</a:t>
            </a:r>
            <a:endParaRPr lang="en-US" altLang="zh-CN" dirty="0"/>
          </a:p>
          <a:p>
            <a:r>
              <a:rPr lang="zh-CN" altLang="en-US" dirty="0"/>
              <a:t>安全性</a:t>
            </a:r>
            <a:endParaRPr lang="en-US" altLang="zh-CN" dirty="0"/>
          </a:p>
          <a:p>
            <a:r>
              <a:rPr lang="zh-CN" altLang="en-US" dirty="0"/>
              <a:t>非技术特性</a:t>
            </a:r>
          </a:p>
        </p:txBody>
      </p:sp>
    </p:spTree>
    <p:extLst>
      <p:ext uri="{BB962C8B-B14F-4D97-AF65-F5344CB8AC3E}">
        <p14:creationId xmlns:p14="http://schemas.microsoft.com/office/powerpoint/2010/main" val="249865427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功耗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不同协议的最大传输功耗</a:t>
            </a:r>
            <a:endParaRPr lang="en-US" altLang="zh-CN" dirty="0"/>
          </a:p>
          <a:p>
            <a:pPr lvl="1"/>
            <a:r>
              <a:rPr lang="en-US" altLang="zh-CN" dirty="0"/>
              <a:t>   </a:t>
            </a:r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sz="2800" dirty="0"/>
          </a:p>
          <a:p>
            <a:r>
              <a:rPr lang="zh-CN" altLang="en-US" dirty="0"/>
              <a:t>无线收发器状态与能耗</a:t>
            </a:r>
            <a:endParaRPr lang="en-US" altLang="zh-CN" dirty="0"/>
          </a:p>
          <a:p>
            <a:pPr lvl="1"/>
            <a:r>
              <a:rPr lang="zh-CN" altLang="en-US" dirty="0"/>
              <a:t>符合</a:t>
            </a:r>
            <a:r>
              <a:rPr lang="en-US" altLang="zh-CN" dirty="0"/>
              <a:t>15.4</a:t>
            </a:r>
            <a:r>
              <a:rPr lang="zh-CN" altLang="en-US" dirty="0"/>
              <a:t>标准的</a:t>
            </a:r>
            <a:r>
              <a:rPr lang="en-US" altLang="zh-CN" dirty="0"/>
              <a:t>CC2420 radio</a:t>
            </a:r>
            <a:r>
              <a:rPr lang="zh-CN" altLang="en-US" dirty="0"/>
              <a:t>工作</a:t>
            </a:r>
            <a:br>
              <a:rPr lang="en-US" altLang="zh-CN" dirty="0"/>
            </a:br>
            <a:r>
              <a:rPr lang="zh-CN" altLang="en-US" dirty="0"/>
              <a:t>电压为 </a:t>
            </a:r>
            <a:r>
              <a:rPr lang="en-US" altLang="zh-CN" dirty="0"/>
              <a:t>2.1~3.6V</a:t>
            </a:r>
            <a:r>
              <a:rPr lang="zh-CN" altLang="en-US" dirty="0"/>
              <a:t>，通常为 </a:t>
            </a:r>
            <a:r>
              <a:rPr lang="en-US" altLang="zh-CN" dirty="0"/>
              <a:t>3.0V</a:t>
            </a:r>
          </a:p>
          <a:p>
            <a:pPr lvl="1"/>
            <a:r>
              <a:rPr lang="zh-CN" altLang="en-US" dirty="0"/>
              <a:t>对于两节</a:t>
            </a:r>
            <a:r>
              <a:rPr lang="en-US" altLang="zh-CN" dirty="0"/>
              <a:t>750mAh</a:t>
            </a:r>
            <a:r>
              <a:rPr lang="zh-CN" altLang="en-US" dirty="0"/>
              <a:t>的电池来说</a:t>
            </a:r>
            <a:r>
              <a:rPr lang="en-US" altLang="zh-CN" dirty="0"/>
              <a:t>, </a:t>
            </a:r>
            <a:r>
              <a:rPr lang="zh-CN" altLang="en-US" dirty="0"/>
              <a:t>以最</a:t>
            </a:r>
            <a:endParaRPr lang="en-US" altLang="zh-CN" dirty="0"/>
          </a:p>
          <a:p>
            <a:pPr lvl="1"/>
            <a:r>
              <a:rPr lang="zh-CN" altLang="en-US" dirty="0"/>
              <a:t>大输出功率不停发数据最多工作</a:t>
            </a:r>
            <a:r>
              <a:rPr lang="en-US" altLang="zh-CN" dirty="0"/>
              <a:t>86h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graphicFrame>
        <p:nvGraphicFramePr>
          <p:cNvPr id="6" name="内容占位符 3"/>
          <p:cNvGraphicFramePr/>
          <p:nvPr>
            <p:extLst>
              <p:ext uri="{D42A27DB-BD31-4B8C-83A1-F6EECF244321}">
                <p14:modId xmlns:p14="http://schemas.microsoft.com/office/powerpoint/2010/main" val="597061574"/>
              </p:ext>
            </p:extLst>
          </p:nvPr>
        </p:nvGraphicFramePr>
        <p:xfrm>
          <a:off x="176421" y="1477393"/>
          <a:ext cx="5977211" cy="157548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36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2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+mj-ea"/>
                          <a:ea typeface="+mj-ea"/>
                        </a:rPr>
                        <a:t>协议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+mj-ea"/>
                          <a:ea typeface="+mj-ea"/>
                        </a:rPr>
                        <a:t>最大传输功率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802.15.4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100mW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j-ea"/>
                          <a:ea typeface="+mj-ea"/>
                        </a:rPr>
                        <a:t>BLE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10mW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802.11b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1W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内容占位符 3"/>
          <p:cNvGraphicFramePr/>
          <p:nvPr>
            <p:extLst>
              <p:ext uri="{D42A27DB-BD31-4B8C-83A1-F6EECF244321}">
                <p14:modId xmlns:p14="http://schemas.microsoft.com/office/powerpoint/2010/main" val="1592756589"/>
              </p:ext>
            </p:extLst>
          </p:nvPr>
        </p:nvGraphicFramePr>
        <p:xfrm>
          <a:off x="152400" y="5149280"/>
          <a:ext cx="3793975" cy="157548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56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2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CC2420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+mj-ea"/>
                          <a:ea typeface="+mj-ea"/>
                        </a:rPr>
                        <a:t>电流能耗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TX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8.5~17.4mA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RX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18.8mA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  <a:latin typeface="+mj-ea"/>
                          <a:ea typeface="+mj-ea"/>
                        </a:rPr>
                        <a:t>CCA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7780" algn="ctr">
                        <a:spcAft>
                          <a:spcPts val="0"/>
                        </a:spcAft>
                      </a:pPr>
                      <a:r>
                        <a:rPr kumimoji="0" lang="en-US" altLang="zh-CN" sz="20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0.426 mA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内容占位符 3"/>
          <p:cNvGraphicFramePr/>
          <p:nvPr>
            <p:extLst>
              <p:ext uri="{D42A27DB-BD31-4B8C-83A1-F6EECF244321}">
                <p14:modId xmlns:p14="http://schemas.microsoft.com/office/powerpoint/2010/main" val="2449805235"/>
              </p:ext>
            </p:extLst>
          </p:nvPr>
        </p:nvGraphicFramePr>
        <p:xfrm>
          <a:off x="5311458" y="3120832"/>
          <a:ext cx="3765862" cy="330179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04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PA_LEVEL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电流能耗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(mA)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输出功率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altLang="zh-CN" sz="1600" kern="100" dirty="0" err="1">
                          <a:effectLst/>
                          <a:latin typeface="+mj-ea"/>
                          <a:ea typeface="+mj-ea"/>
                        </a:rPr>
                        <a:t>dBm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3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31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17.4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27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16.5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-1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1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23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15.2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-3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13.1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-5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1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12.5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-7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1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11.2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-10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1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1.1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-15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1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8.5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-25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椭圆 8"/>
          <p:cNvSpPr/>
          <p:nvPr/>
        </p:nvSpPr>
        <p:spPr bwMode="auto">
          <a:xfrm>
            <a:off x="40316" y="5534521"/>
            <a:ext cx="4063298" cy="468271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右箭头 9"/>
          <p:cNvSpPr/>
          <p:nvPr/>
        </p:nvSpPr>
        <p:spPr bwMode="auto">
          <a:xfrm>
            <a:off x="4276011" y="5444019"/>
            <a:ext cx="595849" cy="493002"/>
          </a:xfrm>
          <a:prstGeom prst="rightArrow">
            <a:avLst/>
          </a:prstGeom>
          <a:solidFill>
            <a:schemeClr val="accent6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03205" y="5975207"/>
            <a:ext cx="1165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" lvl="0" eaLnBrk="0" hangingPunct="0">
              <a:spcBef>
                <a:spcPct val="20000"/>
              </a:spcBef>
              <a:buClr>
                <a:srgbClr val="C0504D"/>
              </a:buClr>
            </a:pPr>
            <a:r>
              <a:rPr lang="zh-CN" altLang="en-US" sz="1800" b="1" kern="0" baseline="0" dirty="0">
                <a:solidFill>
                  <a:srgbClr val="C00000"/>
                </a:solidFill>
                <a:latin typeface="+mj-ea"/>
                <a:ea typeface="+mj-ea"/>
              </a:rPr>
              <a:t>可调节</a:t>
            </a:r>
            <a:br>
              <a:rPr lang="en-US" altLang="zh-CN" sz="1800" b="1" kern="0" baseline="0" dirty="0">
                <a:solidFill>
                  <a:srgbClr val="C00000"/>
                </a:solidFill>
                <a:latin typeface="+mj-ea"/>
                <a:ea typeface="+mj-ea"/>
              </a:rPr>
            </a:br>
            <a:r>
              <a:rPr lang="zh-CN" altLang="en-US" sz="1800" b="1" kern="0" baseline="0" dirty="0">
                <a:solidFill>
                  <a:srgbClr val="C00000"/>
                </a:solidFill>
                <a:latin typeface="+mj-ea"/>
                <a:ea typeface="+mj-ea"/>
              </a:rPr>
              <a:t>能耗级别</a:t>
            </a:r>
            <a:endParaRPr lang="en-US" altLang="zh-CN" sz="1800" b="1" kern="0" baseline="0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96746" y="1850275"/>
            <a:ext cx="2847254" cy="1138773"/>
          </a:xfrm>
          <a:prstGeom prst="rect">
            <a:avLst/>
          </a:prstGeom>
          <a:solidFill>
            <a:srgbClr val="EBE2D2"/>
          </a:solidFill>
        </p:spPr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buClr>
                <a:srgbClr val="C0504D"/>
              </a:buClr>
            </a:pPr>
            <a:r>
              <a:rPr lang="en-US" altLang="zh-CN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TIPS:</a:t>
            </a:r>
          </a:p>
          <a:p>
            <a:pPr lvl="0" eaLnBrk="0" hangingPunct="0">
              <a:spcBef>
                <a:spcPct val="20000"/>
              </a:spcBef>
              <a:buClr>
                <a:srgbClr val="C0504D"/>
              </a:buClr>
            </a:pPr>
            <a:r>
              <a:rPr lang="en-US" altLang="zh-CN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D(</a:t>
            </a:r>
            <a:r>
              <a:rPr lang="en-US" altLang="zh-CN" sz="2000" b="1" kern="0" baseline="0" dirty="0" err="1">
                <a:solidFill>
                  <a:prstClr val="black"/>
                </a:solidFill>
                <a:latin typeface="+mj-ea"/>
                <a:ea typeface="+mj-ea"/>
              </a:rPr>
              <a:t>dBm</a:t>
            </a:r>
            <a:r>
              <a:rPr lang="en-US" altLang="zh-CN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)</a:t>
            </a:r>
            <a:r>
              <a:rPr lang="zh-CN" altLang="en-US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与</a:t>
            </a:r>
            <a:r>
              <a:rPr lang="en-US" altLang="zh-CN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P(</a:t>
            </a:r>
            <a:r>
              <a:rPr lang="en-US" altLang="zh-CN" sz="2000" b="1" kern="0" baseline="0" dirty="0" err="1">
                <a:solidFill>
                  <a:prstClr val="black"/>
                </a:solidFill>
                <a:latin typeface="+mj-ea"/>
                <a:ea typeface="+mj-ea"/>
              </a:rPr>
              <a:t>mW</a:t>
            </a:r>
            <a:r>
              <a:rPr lang="en-US" altLang="zh-CN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)</a:t>
            </a:r>
            <a:r>
              <a:rPr lang="zh-CN" altLang="en-US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换算</a:t>
            </a:r>
            <a:endParaRPr lang="en-US" altLang="zh-CN" sz="2000" b="1" kern="0" baseline="0" dirty="0">
              <a:solidFill>
                <a:prstClr val="black"/>
              </a:solidFill>
              <a:latin typeface="+mj-ea"/>
              <a:ea typeface="+mj-ea"/>
            </a:endParaRPr>
          </a:p>
          <a:p>
            <a:pPr lvl="0" algn="ctr" eaLnBrk="0" hangingPunct="0">
              <a:spcBef>
                <a:spcPct val="20000"/>
              </a:spcBef>
              <a:buClr>
                <a:srgbClr val="C0504D"/>
              </a:buClr>
            </a:pPr>
            <a:r>
              <a:rPr lang="en-US" altLang="zh-CN" sz="2000" b="1" kern="0" baseline="0" dirty="0">
                <a:solidFill>
                  <a:prstClr val="black"/>
                </a:solidFill>
                <a:latin typeface="+mj-ea"/>
                <a:ea typeface="+mj-ea"/>
              </a:rPr>
              <a:t>D= 10lgP</a:t>
            </a:r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1A744CD5-4741-484F-A339-6543F52CD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+mj-ea"/>
                <a:ea typeface="+mj-ea"/>
              </a:rPr>
              <a:t>14</a:t>
            </a:fld>
            <a:endParaRPr lang="zh-CN" altLang="zh-CN" sz="1800" baseline="0" dirty="0">
              <a:solidFill>
                <a:schemeClr val="folHlin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306" y="4118796"/>
            <a:ext cx="2301875" cy="153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715" y="879354"/>
            <a:ext cx="3625466" cy="341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功耗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/>
              <a:lstStyle/>
              <a:p>
                <a:r>
                  <a:rPr lang="zh-CN" altLang="en-US" dirty="0"/>
                  <a:t>嵌入式设备的功耗很大部分来源于通信</a:t>
                </a:r>
                <a:br>
                  <a:rPr lang="en-US" altLang="zh-CN" dirty="0"/>
                </a:br>
                <a:r>
                  <a:rPr lang="zh-CN" altLang="en-US" dirty="0"/>
                  <a:t>功耗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例如，对于</a:t>
                </a:r>
                <a:r>
                  <a:rPr lang="en-US" altLang="zh-CN" dirty="0" err="1"/>
                  <a:t>TelosB</a:t>
                </a:r>
                <a:r>
                  <a:rPr lang="zh-CN" altLang="en-US" dirty="0"/>
                  <a:t>节点，</a:t>
                </a:r>
                <a:r>
                  <a:rPr lang="en-US" altLang="zh-CN" dirty="0"/>
                  <a:t>CC2420</a:t>
                </a:r>
                <a:r>
                  <a:rPr lang="zh-CN" altLang="en-US" dirty="0"/>
                  <a:t>能耗</a:t>
                </a:r>
                <a:br>
                  <a:rPr lang="en-US" altLang="zh-CN" dirty="0"/>
                </a:br>
                <a:r>
                  <a:rPr lang="zh-CN" altLang="en-US" dirty="0"/>
                  <a:t>占其总能耗的</a:t>
                </a:r>
                <a:r>
                  <a:rPr lang="en-US" altLang="zh-CN" dirty="0"/>
                  <a:t>81% </a:t>
                </a:r>
              </a:p>
              <a:p>
                <a:r>
                  <a:rPr lang="zh-CN" altLang="en-US" dirty="0"/>
                  <a:t>通信功耗与计算功耗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CC2420</a:t>
                </a:r>
                <a:r>
                  <a:rPr lang="zh-CN" altLang="en-US" dirty="0"/>
                  <a:t>发送数据时的最大电流为</a:t>
                </a:r>
                <a:r>
                  <a:rPr lang="en-US" altLang="zh-CN" dirty="0"/>
                  <a:t>17.4mA</a:t>
                </a:r>
              </a:p>
              <a:p>
                <a:pPr lvl="1"/>
                <a:r>
                  <a:rPr lang="en-US" altLang="zh-CN" dirty="0"/>
                  <a:t>TI MSP430</a:t>
                </a:r>
                <a:r>
                  <a:rPr lang="zh-CN" altLang="en-US" dirty="0"/>
                  <a:t>在</a:t>
                </a:r>
                <a:r>
                  <a:rPr lang="en-US" altLang="zh-CN" dirty="0"/>
                  <a:t>1MHz</a:t>
                </a:r>
                <a:r>
                  <a:rPr lang="zh-CN" altLang="en-US" dirty="0"/>
                  <a:t>时工作电流为</a:t>
                </a:r>
                <a:r>
                  <a:rPr lang="en-US" altLang="zh-CN" dirty="0"/>
                  <a:t>330</a:t>
                </a:r>
                <a:r>
                  <a:rPr lang="el-GR" altLang="zh-CN" dirty="0"/>
                  <a:t>μ</a:t>
                </a:r>
                <a:r>
                  <a:rPr lang="en-US" altLang="zh-CN" dirty="0"/>
                  <a:t>A</a:t>
                </a:r>
              </a:p>
              <a:p>
                <a:r>
                  <a:rPr lang="zh-CN" altLang="en-US" dirty="0"/>
                  <a:t>降低无线收发器占空比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无线收发器占空比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活跃时间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总运行时间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示例：设备活跃时的能耗为</a:t>
                </a:r>
                <a:r>
                  <a:rPr lang="en-US" altLang="zh-CN" dirty="0"/>
                  <a:t>10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休眠时的</a:t>
                </a:r>
                <a:br>
                  <a:rPr lang="en-US" altLang="zh-CN" dirty="0"/>
                </a:br>
                <a:r>
                  <a:rPr lang="zh-CN" altLang="en-US" dirty="0"/>
                  <a:t>能耗为</a:t>
                </a:r>
                <a:r>
                  <a:rPr lang="en-US" altLang="zh-CN" dirty="0"/>
                  <a:t>10</a:t>
                </a:r>
                <a14:m>
                  <m:oMath xmlns:m="http://schemas.openxmlformats.org/officeDocument/2006/math">
                    <m:r>
                      <a:rPr lang="zh-CN" altLang="en-US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若占空比为</a:t>
                </a:r>
                <a:r>
                  <a:rPr lang="en-US" altLang="zh-CN" dirty="0"/>
                  <a:t>0.1%, </a:t>
                </a:r>
                <a:r>
                  <a:rPr lang="zh-CN" altLang="en-US" dirty="0"/>
                  <a:t>则平均功耗为</a:t>
                </a:r>
                <a:br>
                  <a:rPr lang="en-US" altLang="zh-CN" dirty="0"/>
                </a:br>
                <a:r>
                  <a:rPr lang="en-US" altLang="zh-CN" dirty="0"/>
                  <a:t>19.99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5"/>
                <a:stretch>
                  <a:fillRect l="-954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 bwMode="auto">
          <a:xfrm flipV="1">
            <a:off x="2105477" y="6843485"/>
            <a:ext cx="5018151" cy="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矩形 5"/>
          <p:cNvSpPr/>
          <p:nvPr/>
        </p:nvSpPr>
        <p:spPr bwMode="auto">
          <a:xfrm>
            <a:off x="3173685" y="5907314"/>
            <a:ext cx="45719" cy="936172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26460" y="5907314"/>
            <a:ext cx="45719" cy="93617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14214" y="643825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睡眠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196544" y="582233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活跃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576480" y="643825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睡眠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38655" y="643242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睡眠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72179" y="581126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活跃</a:t>
            </a:r>
          </a:p>
        </p:txBody>
      </p:sp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C637E382-70BD-4BF6-AC4B-D13A02C96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通信距离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不同协议的通信距离</a:t>
                </a:r>
                <a:endParaRPr lang="en-US" altLang="zh-CN" dirty="0"/>
              </a:p>
              <a:p>
                <a:r>
                  <a:rPr lang="zh-CN" altLang="en-US" dirty="0"/>
                  <a:t>通信距离的计算模型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常用的路径损耗模型 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𝑷𝑳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𝑷𝑳</m:t>
                        </m:r>
                      </m:e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zh-CN" altLang="en-US" smtClean="0">
                            <a:latin typeface="Cambria Math" panose="02040503050406030204" pitchFamily="18" charset="0"/>
                          </a:rPr>
                          <m:t>𝝈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𝑷𝑳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传输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/>
                  <a:t>距离的路径损耗，通常</a:t>
                </a:r>
                <a:r>
                  <a:rPr lang="en-US" altLang="zh-CN" dirty="0"/>
                  <a:t>=1m; n: </a:t>
                </a:r>
                <a:r>
                  <a:rPr lang="zh-CN" altLang="en-US" dirty="0"/>
                  <a:t>衰减指数</a:t>
                </a:r>
                <a:r>
                  <a:rPr lang="en-US" altLang="zh-CN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𝝈</m:t>
                        </m:r>
                      </m:sub>
                    </m:sSub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高斯随机误差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最远通信距离（节点接收信号强度等于接收器灵敏度）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R</a:t>
                </a:r>
                <a:r>
                  <a:rPr lang="en-US" altLang="zh-CN" dirty="0"/>
                  <a:t>SSI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𝒕𝒙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zh-CN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𝒓𝒂</m:t>
                        </m:r>
                      </m:sub>
                    </m:sSub>
                    <m:r>
                      <a:rPr lang="en-US" altLang="zh-CN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𝑷𝑳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𝒕𝒙</m:t>
                        </m:r>
                      </m:sub>
                    </m:sSub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发射功率，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𝒓𝒂</m:t>
                        </m:r>
                      </m:sub>
                    </m:sSub>
                  </m:oMath>
                </a14:m>
                <a:r>
                  <a:rPr lang="zh-CN" altLang="en-US" dirty="0"/>
                  <a:t>：发射，接收天线增益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示例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不考虑天线增益与随机误差，假设发射功率为</a:t>
                </a:r>
                <a:r>
                  <a:rPr lang="en-US" altLang="zh-CN" dirty="0"/>
                  <a:t>0dBm</a:t>
                </a:r>
                <a:r>
                  <a:rPr lang="zh-CN" altLang="en-US" dirty="0"/>
                  <a:t>，接收灵敏度</a:t>
                </a:r>
                <a:r>
                  <a:rPr lang="en-US" altLang="zh-CN" dirty="0"/>
                  <a:t>-85 </a:t>
                </a:r>
                <a:r>
                  <a:rPr lang="en-US" altLang="zh-CN" dirty="0" err="1"/>
                  <a:t>dBm</a:t>
                </a:r>
                <a:r>
                  <a:rPr lang="en-US" altLang="zh-CN" dirty="0"/>
                  <a:t>, PL0</a:t>
                </a:r>
                <a:r>
                  <a:rPr lang="zh-CN" altLang="en-US" dirty="0"/>
                  <a:t>为</a:t>
                </a:r>
                <a:r>
                  <a:rPr lang="en-US" altLang="zh-CN" dirty="0"/>
                  <a:t>28.5dBm, </a:t>
                </a:r>
                <a:r>
                  <a:rPr lang="zh-CN" altLang="en-US" dirty="0"/>
                  <a:t>衰减指数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：最远通信距离为</a:t>
                </a:r>
                <a:r>
                  <a:rPr lang="en-US" altLang="zh-CN" dirty="0"/>
                  <a:t>76.4m</a:t>
                </a:r>
              </a:p>
              <a:p>
                <a:r>
                  <a:rPr lang="zh-CN" altLang="en-US" dirty="0"/>
                  <a:t>多跳网络</a:t>
                </a:r>
                <a:r>
                  <a:rPr lang="en-US" altLang="zh-CN" dirty="0"/>
                  <a:t>——</a:t>
                </a:r>
                <a:r>
                  <a:rPr lang="zh-CN" altLang="en-US" dirty="0"/>
                  <a:t>获得更大的通信距离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3"/>
                <a:stretch>
                  <a:fillRect l="-954" t="-676" r="-1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内容占位符 3"/>
          <p:cNvGraphicFramePr/>
          <p:nvPr>
            <p:extLst>
              <p:ext uri="{D42A27DB-BD31-4B8C-83A1-F6EECF244321}">
                <p14:modId xmlns:p14="http://schemas.microsoft.com/office/powerpoint/2010/main" val="3762084990"/>
              </p:ext>
            </p:extLst>
          </p:nvPr>
        </p:nvGraphicFramePr>
        <p:xfrm>
          <a:off x="3854716" y="942975"/>
          <a:ext cx="3859731" cy="1211173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751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0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协议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最大通信距离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802.15.4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~100m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BLE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~300m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802.11b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~140m</a:t>
                      </a:r>
                      <a:endParaRPr lang="zh-CN" altLang="en-US" sz="1800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A698A58C-ADB8-409D-947D-2139C3D05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频带和数据率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39A17FBD-F80F-4471-8B47-C9A37B903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授权频段与</a:t>
            </a:r>
            <a:r>
              <a:rPr lang="en-US" altLang="zh-CN" dirty="0"/>
              <a:t>ISM</a:t>
            </a:r>
            <a:r>
              <a:rPr lang="zh-CN" altLang="en-US" dirty="0"/>
              <a:t>频段</a:t>
            </a:r>
            <a:endParaRPr lang="en-US" altLang="zh-CN" dirty="0"/>
          </a:p>
          <a:p>
            <a:pPr lvl="1"/>
            <a:r>
              <a:rPr lang="zh-CN" altLang="en-US" dirty="0"/>
              <a:t>授权频段</a:t>
            </a:r>
            <a:endParaRPr lang="en-US" altLang="zh-CN" dirty="0"/>
          </a:p>
          <a:p>
            <a:pPr lvl="2"/>
            <a:r>
              <a:rPr lang="zh-CN" altLang="en-US" dirty="0"/>
              <a:t>使用授权频段需要许可证</a:t>
            </a:r>
            <a:r>
              <a:rPr lang="en-US" altLang="zh-CN" dirty="0"/>
              <a:t>, </a:t>
            </a:r>
            <a:r>
              <a:rPr lang="zh-CN" altLang="en-US" dirty="0"/>
              <a:t>例如</a:t>
            </a:r>
            <a:r>
              <a:rPr lang="en-US" altLang="zh-CN" dirty="0"/>
              <a:t>AM,FM</a:t>
            </a:r>
            <a:r>
              <a:rPr lang="zh-CN" altLang="en-US" dirty="0"/>
              <a:t>广播频段</a:t>
            </a:r>
            <a:endParaRPr lang="en-US" altLang="zh-CN" dirty="0"/>
          </a:p>
          <a:p>
            <a:pPr lvl="1"/>
            <a:r>
              <a:rPr lang="en-US" altLang="zh-CN" dirty="0"/>
              <a:t>ISM</a:t>
            </a:r>
            <a:r>
              <a:rPr lang="zh-CN" altLang="en-US" dirty="0"/>
              <a:t>频段</a:t>
            </a:r>
            <a:r>
              <a:rPr lang="en-US" altLang="zh-CN" dirty="0"/>
              <a:t>(Industrial Scientific Medical Band),</a:t>
            </a:r>
            <a:r>
              <a:rPr lang="zh-CN" altLang="en-US" dirty="0"/>
              <a:t>主要开放给工业，科学和医学机构使用，无需许可证或费用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常见的</a:t>
            </a:r>
            <a:r>
              <a:rPr lang="en-US" altLang="zh-CN" dirty="0"/>
              <a:t>ISM band</a:t>
            </a:r>
          </a:p>
          <a:p>
            <a:pPr lvl="1"/>
            <a:r>
              <a:rPr lang="zh-CN" altLang="en-US" dirty="0"/>
              <a:t>包括</a:t>
            </a:r>
            <a:r>
              <a:rPr lang="en-US" altLang="zh-CN" dirty="0"/>
              <a:t>2.45GHz , 5.8GHz, 915MHz 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2832096"/>
            <a:ext cx="4368800" cy="30982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51"/>
          <a:stretch>
            <a:fillRect/>
          </a:stretch>
        </p:blipFill>
        <p:spPr>
          <a:xfrm>
            <a:off x="5941785" y="2832095"/>
            <a:ext cx="1739553" cy="3097037"/>
          </a:xfrm>
          <a:prstGeom prst="rect">
            <a:avLst/>
          </a:prstGeom>
        </p:spPr>
      </p:pic>
      <p:sp>
        <p:nvSpPr>
          <p:cNvPr id="6" name="矩形标注 5"/>
          <p:cNvSpPr/>
          <p:nvPr/>
        </p:nvSpPr>
        <p:spPr bwMode="auto">
          <a:xfrm>
            <a:off x="5936343" y="2832095"/>
            <a:ext cx="1739553" cy="3098239"/>
          </a:xfrm>
          <a:prstGeom prst="wedgeRectCallout">
            <a:avLst>
              <a:gd name="adj1" fmla="val -129869"/>
              <a:gd name="adj2" fmla="val 14902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6335138" y="2641600"/>
            <a:ext cx="470981" cy="3823303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6119" y="5971199"/>
            <a:ext cx="23150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rgbClr val="C00000"/>
                </a:solidFill>
                <a:latin typeface="+mj-ea"/>
                <a:ea typeface="+mj-ea"/>
              </a:rPr>
              <a:t>2.45GHz ISM Band</a:t>
            </a:r>
            <a:r>
              <a:rPr lang="zh-CN" altLang="en-US" kern="0" dirty="0">
                <a:solidFill>
                  <a:srgbClr val="C00000"/>
                </a:solidFill>
                <a:latin typeface="+mj-ea"/>
                <a:ea typeface="+mj-ea"/>
              </a:rPr>
              <a:t>：</a:t>
            </a:r>
            <a:endParaRPr lang="en-US" altLang="zh-CN" kern="0" dirty="0">
              <a:solidFill>
                <a:srgbClr val="C00000"/>
              </a:solidFill>
              <a:latin typeface="+mj-ea"/>
              <a:ea typeface="+mj-ea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2.4–2.4835 GHz</a:t>
            </a:r>
            <a:endParaRPr lang="zh-CN" altLang="en-US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638BC2C8-6610-4148-AE10-FC5B5820C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频带和数据率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4703566-0A4F-40ED-8E55-A862DEAF1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不同协议频带与数据率</a:t>
            </a:r>
            <a:endParaRPr lang="en-US" altLang="zh-CN" dirty="0"/>
          </a:p>
        </p:txBody>
      </p:sp>
      <p:graphicFrame>
        <p:nvGraphicFramePr>
          <p:cNvPr id="6" name="内容占位符 3"/>
          <p:cNvGraphicFramePr/>
          <p:nvPr>
            <p:extLst>
              <p:ext uri="{D42A27DB-BD31-4B8C-83A1-F6EECF244321}">
                <p14:modId xmlns:p14="http://schemas.microsoft.com/office/powerpoint/2010/main" val="282728515"/>
              </p:ext>
            </p:extLst>
          </p:nvPr>
        </p:nvGraphicFramePr>
        <p:xfrm>
          <a:off x="275502" y="1943924"/>
          <a:ext cx="8750300" cy="3349768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846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7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4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协议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中心频率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(Hz)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频宽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(Hz)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最高数据率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928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802.15.4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全球通用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2.45G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2M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250kbps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4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北美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915M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40kbps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8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欧洲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868M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20kbps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+mj-ea"/>
                          <a:ea typeface="+mj-ea"/>
                        </a:rPr>
                        <a:t>BLE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400" kern="1200" dirty="0">
                          <a:latin typeface="+mj-ea"/>
                          <a:ea typeface="+mj-ea"/>
                        </a:rPr>
                        <a:t>2.45G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kern="1200" dirty="0">
                          <a:latin typeface="+mj-ea"/>
                          <a:ea typeface="+mj-ea"/>
                        </a:rPr>
                        <a:t>2M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2Mbps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1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802.11b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2.45G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22M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11Mbps</a:t>
                      </a:r>
                      <a:endParaRPr lang="zh-CN" altLang="en-US" sz="2400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939698-CCB7-4F3D-85C0-528D04D96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B3E12-D1C8-4776-BC18-DC49F992A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频带和数据率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070AB-6B53-4288-A9B9-419437DE3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/>
              <a:t>2.45GHz</a:t>
            </a:r>
            <a:r>
              <a:rPr lang="zh-CN" altLang="en-US" dirty="0"/>
              <a:t>频段信道分配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802.15.4</a:t>
            </a:r>
            <a:r>
              <a:rPr lang="zh-CN" altLang="en-US" dirty="0"/>
              <a:t>：</a:t>
            </a:r>
            <a:r>
              <a:rPr lang="en-US" altLang="zh-CN" dirty="0"/>
              <a:t>16</a:t>
            </a:r>
            <a:r>
              <a:rPr lang="zh-CN" altLang="en-US" dirty="0"/>
              <a:t>个信道，</a:t>
            </a:r>
            <a:r>
              <a:rPr lang="en-US" altLang="zh-CN" dirty="0"/>
              <a:t>2MHz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BLE</a:t>
            </a:r>
            <a:r>
              <a:rPr lang="zh-CN" altLang="en-US" dirty="0"/>
              <a:t>： </a:t>
            </a:r>
            <a:r>
              <a:rPr lang="en-US" altLang="zh-CN" dirty="0"/>
              <a:t>40</a:t>
            </a:r>
            <a:r>
              <a:rPr lang="zh-CN" altLang="en-US" dirty="0"/>
              <a:t>个</a:t>
            </a:r>
            <a:r>
              <a:rPr lang="en-US" altLang="zh-CN" dirty="0"/>
              <a:t>2MHz</a:t>
            </a:r>
            <a:r>
              <a:rPr lang="zh-CN" altLang="en-US" dirty="0"/>
              <a:t>信道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802.11b</a:t>
            </a:r>
            <a:r>
              <a:rPr lang="zh-CN" altLang="en-US" dirty="0"/>
              <a:t>：</a:t>
            </a:r>
            <a:r>
              <a:rPr lang="en-US" altLang="zh-CN" dirty="0"/>
              <a:t>14</a:t>
            </a:r>
            <a:r>
              <a:rPr lang="zh-CN" altLang="en-US" dirty="0"/>
              <a:t>个信道，</a:t>
            </a:r>
            <a:r>
              <a:rPr lang="en-US" altLang="zh-CN" dirty="0"/>
              <a:t>22MHz</a:t>
            </a:r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7CB4688-37BE-4F64-BE64-368BF05E6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9033" y="2529923"/>
            <a:ext cx="6842133" cy="40232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787084-607F-415E-813A-C67B16AE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4836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频带和数据率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EDAEF38-7DD1-4C59-BF58-2A65C8FB1C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kern="0" dirty="0"/>
                  <a:t>实际数据率与最大数据率</a:t>
                </a:r>
                <a:endParaRPr lang="en-US" altLang="zh-CN" kern="0" dirty="0"/>
              </a:p>
              <a:p>
                <a:pPr lvl="1"/>
                <a:r>
                  <a:rPr lang="zh-CN" altLang="en-US" kern="0" dirty="0"/>
                  <a:t>最大数据率</a:t>
                </a:r>
                <a:r>
                  <a:rPr lang="en-US" altLang="zh-CN" kern="0" dirty="0"/>
                  <a:t> </a:t>
                </a:r>
              </a:p>
              <a:p>
                <a:pPr lvl="2"/>
                <a:r>
                  <a:rPr lang="en-US" altLang="zh-CN" i="0" kern="0" dirty="0"/>
                  <a:t>802.15.4 </a:t>
                </a:r>
                <a:r>
                  <a:rPr lang="zh-CN" altLang="en-US" i="0" kern="0" dirty="0"/>
                  <a:t>物理层最大数据率是</a:t>
                </a:r>
                <a:r>
                  <a:rPr lang="en-US" altLang="zh-CN" i="0" kern="0" dirty="0">
                    <a:solidFill>
                      <a:srgbClr val="C00000"/>
                    </a:solidFill>
                  </a:rPr>
                  <a:t>250kbps</a:t>
                </a:r>
              </a:p>
              <a:p>
                <a:pPr lvl="2"/>
                <a:r>
                  <a:rPr lang="en-US" altLang="zh-CN" i="0" kern="0" dirty="0"/>
                  <a:t>BLE </a:t>
                </a:r>
                <a:r>
                  <a:rPr lang="zh-CN" altLang="en-US" i="0" kern="0" dirty="0"/>
                  <a:t>最大数据率为</a:t>
                </a:r>
                <a:r>
                  <a:rPr lang="en-US" altLang="zh-CN" i="0" kern="0" dirty="0">
                    <a:solidFill>
                      <a:srgbClr val="C00000"/>
                    </a:solidFill>
                  </a:rPr>
                  <a:t>2Mbps</a:t>
                </a:r>
              </a:p>
              <a:p>
                <a:pPr lvl="1"/>
                <a:r>
                  <a:rPr lang="zh-CN" altLang="en-US" kern="0" dirty="0"/>
                  <a:t>实际中通常不能最高数据率</a:t>
                </a:r>
                <a:endParaRPr lang="en-US" altLang="zh-CN" kern="0" dirty="0"/>
              </a:p>
              <a:p>
                <a:pPr lvl="2"/>
                <a:r>
                  <a:rPr lang="en-US" altLang="zh-CN" i="0" kern="0" dirty="0"/>
                  <a:t>802.15.4 </a:t>
                </a:r>
                <a:r>
                  <a:rPr lang="zh-CN" altLang="en-US" i="0" kern="0" dirty="0"/>
                  <a:t>数据包发送前会主动退避一段时间</a:t>
                </a:r>
                <a:r>
                  <a:rPr lang="en-US" altLang="zh-CN" i="0" kern="0" dirty="0"/>
                  <a:t>( </a:t>
                </a:r>
                <a14:m>
                  <m:oMath xmlns:m="http://schemas.openxmlformats.org/officeDocument/2006/math">
                    <m:r>
                      <a:rPr lang="en-US" altLang="zh-CN" b="1" i="1" kern="0" smtClean="0">
                        <a:latin typeface="Cambria Math" panose="02040503050406030204" pitchFamily="18" charset="0"/>
                      </a:rPr>
                      <m:t>𝒊𝒏𝒊𝒕𝒊𝒂</m:t>
                    </m:r>
                    <m:sSub>
                      <m:sSubPr>
                        <m:ctrlPr>
                          <a:rPr lang="en-US" altLang="zh-CN" b="1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kern="0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b="1" i="1" kern="0" smtClean="0">
                            <a:latin typeface="Cambria Math" panose="02040503050406030204" pitchFamily="18" charset="0"/>
                          </a:rPr>
                          <m:t>𝒃𝒂𝒄𝒌𝒐𝒇𝒇</m:t>
                        </m:r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altLang="zh-CN" b="1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kern="0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1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kern="0" smtClean="0">
                                <a:latin typeface="Cambria Math" panose="02040503050406030204" pitchFamily="18" charset="0"/>
                              </a:rPr>
                              <m:t>𝑪𝑾</m:t>
                            </m:r>
                          </m:e>
                          <m:sub>
                            <m:r>
                              <a:rPr lang="en-US" altLang="zh-CN" b="1" i="1" kern="0" smtClean="0">
                                <a:latin typeface="Cambria Math" panose="02040503050406030204" pitchFamily="18" charset="0"/>
                              </a:rPr>
                              <m:t>𝒊𝒏𝒊𝒕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i="0" kern="0" dirty="0"/>
                  <a:t>,  </a:t>
                </a:r>
                <a:r>
                  <a:rPr lang="zh-CN" altLang="en-US" i="0" kern="0" dirty="0"/>
                  <a:t>通常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kern="0">
                            <a:latin typeface="Cambria Math" panose="02040503050406030204" pitchFamily="18" charset="0"/>
                          </a:rPr>
                          <m:t>𝑪𝑾</m:t>
                        </m:r>
                      </m:e>
                      <m:sub>
                        <m:r>
                          <a:rPr lang="en-US" altLang="zh-CN" kern="0">
                            <a:latin typeface="Cambria Math" panose="02040503050406030204" pitchFamily="18" charset="0"/>
                          </a:rPr>
                          <m:t>𝒊𝒏𝒊𝒕</m:t>
                        </m:r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b="1" i="1" kern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b="1" i="1" kern="0" smtClean="0">
                        <a:latin typeface="Cambria Math" panose="02040503050406030204" pitchFamily="18" charset="0"/>
                      </a:rPr>
                      <m:t>𝒎𝒔</m:t>
                    </m:r>
                  </m:oMath>
                </a14:m>
                <a:r>
                  <a:rPr lang="zh-CN" altLang="en-US" i="0" kern="0" dirty="0"/>
                  <a:t>，实际数据率一般为最大数据率的</a:t>
                </a:r>
                <a:r>
                  <a:rPr lang="en-US" altLang="zh-CN" i="0" kern="0" dirty="0"/>
                  <a:t>1/3</a:t>
                </a:r>
              </a:p>
              <a:p>
                <a:pPr lvl="2"/>
                <a:r>
                  <a:rPr lang="zh-CN" altLang="en-US" dirty="0"/>
                  <a:t>实际传输效率为</a:t>
                </a:r>
                <a:endParaRPr lang="en-US" altLang="zh-CN" dirty="0"/>
              </a:p>
              <a:p>
                <a:pPr lvl="2"/>
                <a:endParaRPr lang="en-US" altLang="zh-CN" dirty="0"/>
              </a:p>
              <a:p>
                <a:pPr lvl="2"/>
                <a:endParaRPr lang="en-US" altLang="zh-CN" dirty="0"/>
              </a:p>
              <a:p>
                <a:pPr lvl="2"/>
                <a:r>
                  <a:rPr lang="zh-CN" altLang="en-US" dirty="0"/>
                  <a:t>实际数据率：</a:t>
                </a:r>
                <a:r>
                  <a:rPr lang="en-US" altLang="zh-CN" sz="1800" i="1" kern="500" dirty="0">
                    <a:solidFill>
                      <a:srgbClr val="000000"/>
                    </a:solidFill>
                    <a:effectLst/>
                  </a:rPr>
                  <a:t> </a:t>
                </a:r>
                <a:r>
                  <a:rPr lang="en-US" altLang="zh-CN" sz="1800" i="1" kern="500" dirty="0" err="1">
                    <a:solidFill>
                      <a:srgbClr val="000000"/>
                    </a:solidFill>
                    <a:effectLst/>
                  </a:rPr>
                  <a:t>R</a:t>
                </a:r>
                <a:r>
                  <a:rPr lang="en-US" altLang="zh-CN" sz="1800" kern="500" baseline="-25000" dirty="0" err="1">
                    <a:solidFill>
                      <a:srgbClr val="000000"/>
                    </a:solidFill>
                    <a:effectLst/>
                  </a:rPr>
                  <a:t>real</a:t>
                </a:r>
                <a:r>
                  <a:rPr lang="en-US" altLang="zh-CN" sz="1800" kern="500" dirty="0">
                    <a:solidFill>
                      <a:srgbClr val="000000"/>
                    </a:solidFill>
                    <a:effectLst/>
                    <a:cs typeface="Times New Roman" panose="02020603050405020304" pitchFamily="18" charset="0"/>
                  </a:rPr>
                  <a:t>=</a:t>
                </a:r>
                <a:r>
                  <a:rPr lang="en-US" altLang="zh-CN" sz="1800" i="1" kern="500" dirty="0" err="1">
                    <a:solidFill>
                      <a:srgbClr val="000000"/>
                    </a:solidFill>
                    <a:effectLst/>
                  </a:rPr>
                  <a:t>ηR</a:t>
                </a:r>
                <a:endParaRPr lang="en-US" altLang="zh-CN" dirty="0"/>
              </a:p>
              <a:p>
                <a:pPr lvl="2"/>
                <a:endParaRPr lang="zh-CN" altLang="en-US" kern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EDAEF38-7DD1-4C59-BF58-2A65C8FB1C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4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5CF30C-E821-4E4A-B04B-45B8DBB93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DFEAC6A-B027-42DC-A2C2-53DEFF243328}"/>
                  </a:ext>
                </a:extLst>
              </p:cNvPr>
              <p:cNvSpPr txBox="1"/>
              <p:nvPr/>
            </p:nvSpPr>
            <p:spPr>
              <a:xfrm>
                <a:off x="1663867" y="4350964"/>
                <a:ext cx="5892466" cy="767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数据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载荷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的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传输时间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退避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时间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数据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包头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部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传输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时间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数据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载荷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传输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时间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DFEAC6A-B027-42DC-A2C2-53DEFF24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67" y="4350964"/>
                <a:ext cx="5892466" cy="767069"/>
              </a:xfrm>
              <a:prstGeom prst="rect">
                <a:avLst/>
              </a:prstGeom>
              <a:blipFill>
                <a:blip r:embed="rId4"/>
                <a:stretch>
                  <a:fillRect b="-19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安全性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芯片加密</a:t>
            </a:r>
            <a:endParaRPr lang="en-US" altLang="zh-CN"/>
          </a:p>
          <a:p>
            <a:pPr lvl="1"/>
            <a:r>
              <a:rPr lang="en-US" altLang="zh-CN"/>
              <a:t>CC2420</a:t>
            </a:r>
            <a:r>
              <a:rPr lang="zh-CN" altLang="en-US"/>
              <a:t>支持</a:t>
            </a:r>
            <a:r>
              <a:rPr lang="en-US" altLang="zh-CN"/>
              <a:t>AES-128</a:t>
            </a:r>
            <a:r>
              <a:rPr lang="zh-CN" altLang="en-US"/>
              <a:t>硬件加密</a:t>
            </a:r>
            <a:endParaRPr lang="en-US" altLang="zh-CN"/>
          </a:p>
          <a:p>
            <a:pPr lvl="1"/>
            <a:endParaRPr lang="en-US" altLang="zh-CN"/>
          </a:p>
          <a:p>
            <a:r>
              <a:rPr lang="zh-CN" altLang="en-US"/>
              <a:t>协议提供的安全服务</a:t>
            </a:r>
            <a:endParaRPr lang="en-US" altLang="zh-CN"/>
          </a:p>
          <a:p>
            <a:pPr lvl="1"/>
            <a:r>
              <a:rPr lang="en-US" altLang="zh-CN"/>
              <a:t>IEEE 802.15.4</a:t>
            </a:r>
            <a:r>
              <a:rPr lang="zh-CN" altLang="en-US"/>
              <a:t>标准在</a:t>
            </a:r>
            <a:r>
              <a:rPr lang="en-US" altLang="zh-CN"/>
              <a:t>MAC</a:t>
            </a:r>
            <a:r>
              <a:rPr lang="zh-CN" altLang="en-US"/>
              <a:t>层向上提供帧安全服务</a:t>
            </a:r>
            <a:endParaRPr lang="en-US" altLang="zh-CN"/>
          </a:p>
          <a:p>
            <a:pPr lvl="2"/>
            <a:r>
              <a:rPr lang="zh-CN" altLang="en-US"/>
              <a:t>数据保密性</a:t>
            </a:r>
            <a:endParaRPr lang="en-US" altLang="zh-CN"/>
          </a:p>
          <a:p>
            <a:pPr lvl="3"/>
            <a:r>
              <a:rPr lang="zh-CN" altLang="en-US"/>
              <a:t>使用</a:t>
            </a:r>
            <a:r>
              <a:rPr lang="en-US" altLang="zh-CN"/>
              <a:t>AES-128</a:t>
            </a:r>
            <a:r>
              <a:rPr lang="zh-CN" altLang="en-US"/>
              <a:t>对称加密算法</a:t>
            </a:r>
            <a:endParaRPr lang="en-US" altLang="zh-CN"/>
          </a:p>
          <a:p>
            <a:pPr lvl="2"/>
            <a:r>
              <a:rPr lang="zh-CN" altLang="en-US"/>
              <a:t>数据完整性</a:t>
            </a:r>
            <a:endParaRPr lang="en-US" altLang="zh-CN"/>
          </a:p>
          <a:p>
            <a:pPr lvl="3"/>
            <a:r>
              <a:rPr lang="zh-CN" altLang="en-US"/>
              <a:t>在消息中附加消息完整性代码</a:t>
            </a:r>
            <a:r>
              <a:rPr lang="en-US" altLang="zh-CN"/>
              <a:t>(MIC)</a:t>
            </a:r>
            <a:r>
              <a:rPr lang="zh-CN" altLang="en-US"/>
              <a:t>来校验</a:t>
            </a:r>
            <a:endParaRPr lang="en-US" altLang="zh-CN"/>
          </a:p>
          <a:p>
            <a:pPr lvl="1"/>
            <a:r>
              <a:rPr lang="zh-CN" altLang="en-US"/>
              <a:t>蓝牙</a:t>
            </a:r>
            <a:endParaRPr lang="en-US" altLang="zh-CN"/>
          </a:p>
          <a:p>
            <a:pPr lvl="2"/>
            <a:r>
              <a:rPr lang="zh-CN" altLang="en-US"/>
              <a:t>跳频</a:t>
            </a:r>
            <a:endParaRPr lang="en-US" altLang="zh-CN"/>
          </a:p>
          <a:p>
            <a:pPr lvl="2"/>
            <a:r>
              <a:rPr lang="zh-CN" altLang="en-US"/>
              <a:t>应用层加密</a:t>
            </a:r>
            <a:endParaRPr lang="en-US" altLang="zh-CN"/>
          </a:p>
          <a:p>
            <a:pPr lvl="1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26DA7FF7-E5C3-4F67-BD65-0E735C47D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非技术特征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芯片厂商</a:t>
            </a:r>
            <a:endParaRPr lang="en-US" altLang="zh-CN" dirty="0"/>
          </a:p>
          <a:p>
            <a:pPr lvl="1"/>
            <a:r>
              <a:rPr lang="en-US" altLang="zh-CN" dirty="0" err="1"/>
              <a:t>ZigBee:TI</a:t>
            </a:r>
            <a:r>
              <a:rPr lang="en-US" altLang="zh-CN" dirty="0"/>
              <a:t>, </a:t>
            </a:r>
            <a:r>
              <a:rPr lang="zh-CN" altLang="en-US" dirty="0"/>
              <a:t>美国飞思卡尔</a:t>
            </a:r>
            <a:r>
              <a:rPr lang="en-US" altLang="zh-CN" dirty="0"/>
              <a:t>, </a:t>
            </a:r>
            <a:r>
              <a:rPr lang="zh-CN" altLang="en-US" dirty="0"/>
              <a:t>美国</a:t>
            </a:r>
            <a:r>
              <a:rPr lang="en-US" altLang="zh-CN" dirty="0"/>
              <a:t>Ember, </a:t>
            </a:r>
            <a:r>
              <a:rPr lang="zh-CN" altLang="en-US" dirty="0"/>
              <a:t>美国</a:t>
            </a:r>
            <a:r>
              <a:rPr lang="en-US" altLang="zh-CN" dirty="0"/>
              <a:t>Atmel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en-US" altLang="zh-CN" dirty="0"/>
              <a:t>BLE: TI, </a:t>
            </a:r>
            <a:r>
              <a:rPr lang="zh-CN" altLang="en-US" dirty="0"/>
              <a:t>英国</a:t>
            </a:r>
            <a:r>
              <a:rPr lang="en-US" altLang="zh-CN" dirty="0"/>
              <a:t>CSR, </a:t>
            </a:r>
            <a:r>
              <a:rPr lang="zh-CN" altLang="en-US" dirty="0"/>
              <a:t>美国博通</a:t>
            </a:r>
            <a:r>
              <a:rPr lang="en-US" altLang="zh-CN" dirty="0"/>
              <a:t>, </a:t>
            </a:r>
            <a:r>
              <a:rPr lang="zh-CN" altLang="en-US" dirty="0"/>
              <a:t>挪威</a:t>
            </a:r>
            <a:r>
              <a:rPr lang="en-US" altLang="zh-CN" dirty="0"/>
              <a:t>Nordic, </a:t>
            </a:r>
            <a:r>
              <a:rPr lang="zh-CN" altLang="en-US" dirty="0"/>
              <a:t>上海锐迪科等</a:t>
            </a:r>
            <a:endParaRPr lang="en-US" altLang="zh-CN" dirty="0"/>
          </a:p>
          <a:p>
            <a:r>
              <a:rPr lang="zh-CN" altLang="en-US" dirty="0"/>
              <a:t>模组价格</a:t>
            </a:r>
            <a:endParaRPr lang="en-US" altLang="zh-CN" dirty="0"/>
          </a:p>
          <a:p>
            <a:pPr lvl="1"/>
            <a:r>
              <a:rPr lang="en-US" altLang="zh-CN" dirty="0"/>
              <a:t>TI</a:t>
            </a:r>
            <a:r>
              <a:rPr lang="zh-CN" altLang="en-US" dirty="0"/>
              <a:t>官网公布的几款</a:t>
            </a:r>
            <a:r>
              <a:rPr lang="en-US" altLang="zh-CN" dirty="0"/>
              <a:t>BLE</a:t>
            </a:r>
            <a:r>
              <a:rPr lang="zh-CN" altLang="en-US" dirty="0"/>
              <a:t>和</a:t>
            </a:r>
            <a:r>
              <a:rPr lang="en-US" altLang="zh-CN" dirty="0"/>
              <a:t>ZigBee</a:t>
            </a:r>
            <a:r>
              <a:rPr lang="zh-CN" altLang="en-US" dirty="0"/>
              <a:t>核心产品的价格都在</a:t>
            </a:r>
            <a:r>
              <a:rPr lang="en-US" altLang="zh-CN" dirty="0"/>
              <a:t>3</a:t>
            </a:r>
            <a:r>
              <a:rPr lang="zh-CN" altLang="en-US" dirty="0"/>
              <a:t>美元左右</a:t>
            </a:r>
            <a:endParaRPr lang="en-US" altLang="zh-CN" dirty="0"/>
          </a:p>
          <a:p>
            <a:r>
              <a:rPr lang="zh-CN" altLang="en-US" dirty="0"/>
              <a:t>常用设备支持</a:t>
            </a:r>
            <a:endParaRPr lang="en-US" altLang="zh-CN" dirty="0"/>
          </a:p>
          <a:p>
            <a:pPr lvl="1"/>
            <a:r>
              <a:rPr lang="en-US" altLang="zh-CN" dirty="0"/>
              <a:t>BLE: </a:t>
            </a:r>
            <a:r>
              <a:rPr lang="zh-CN" altLang="en-US" dirty="0"/>
              <a:t>手机，共享单车，智能手表等</a:t>
            </a:r>
            <a:endParaRPr lang="en-US" altLang="zh-CN" dirty="0"/>
          </a:p>
          <a:p>
            <a:pPr lvl="1"/>
            <a:r>
              <a:rPr lang="en-US" altLang="zh-CN" dirty="0"/>
              <a:t>ZigBee: </a:t>
            </a:r>
            <a:r>
              <a:rPr lang="zh-CN" altLang="en-US" dirty="0"/>
              <a:t>小米智能家居等</a:t>
            </a:r>
            <a:endParaRPr lang="en-US" altLang="zh-CN" dirty="0"/>
          </a:p>
          <a:p>
            <a:r>
              <a:rPr lang="zh-CN" altLang="en-US" dirty="0"/>
              <a:t>标准化情况</a:t>
            </a:r>
            <a:endParaRPr lang="en-US" altLang="zh-CN" dirty="0"/>
          </a:p>
          <a:p>
            <a:pPr lvl="1"/>
            <a:r>
              <a:rPr lang="zh-CN" altLang="en-US" dirty="0"/>
              <a:t>标准化组织：</a:t>
            </a:r>
            <a:r>
              <a:rPr lang="en-US" altLang="zh-CN" dirty="0"/>
              <a:t>ZigBee </a:t>
            </a:r>
            <a:r>
              <a:rPr lang="zh-CN" altLang="en-US" dirty="0"/>
              <a:t>联盟，蓝牙技术联盟</a:t>
            </a:r>
            <a:r>
              <a:rPr lang="en-US" altLang="zh-CN" dirty="0"/>
              <a:t>(Bluetooth SIG)</a:t>
            </a:r>
          </a:p>
          <a:p>
            <a:r>
              <a:rPr lang="zh-CN" altLang="en-US" dirty="0"/>
              <a:t>协议开放性</a:t>
            </a:r>
            <a:endParaRPr lang="en-US" altLang="zh-CN" dirty="0"/>
          </a:p>
          <a:p>
            <a:pPr lvl="1"/>
            <a:r>
              <a:rPr lang="en-US" altLang="zh-CN" dirty="0"/>
              <a:t>IEEE 802.15.4</a:t>
            </a:r>
            <a:r>
              <a:rPr lang="zh-CN" altLang="en-US" dirty="0"/>
              <a:t>协议与</a:t>
            </a:r>
            <a:r>
              <a:rPr lang="en-US" altLang="zh-CN" dirty="0"/>
              <a:t>BLE</a:t>
            </a:r>
            <a:r>
              <a:rPr lang="zh-CN" altLang="en-US" dirty="0"/>
              <a:t>的协议规范都是向全球公开的</a:t>
            </a:r>
            <a:endParaRPr lang="en-US" altLang="zh-CN" dirty="0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D19A61EE-48EF-4453-AA82-39A1CAA8D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典型协议的关键特性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/>
          </a:p>
          <a:p>
            <a:endParaRPr lang="en-US" altLang="zh-CN" dirty="0"/>
          </a:p>
        </p:txBody>
      </p:sp>
      <p:graphicFrame>
        <p:nvGraphicFramePr>
          <p:cNvPr id="5" name="内容占位符 3"/>
          <p:cNvGraphicFramePr/>
          <p:nvPr>
            <p:extLst>
              <p:ext uri="{D42A27DB-BD31-4B8C-83A1-F6EECF244321}">
                <p14:modId xmlns:p14="http://schemas.microsoft.com/office/powerpoint/2010/main" val="44220150"/>
              </p:ext>
            </p:extLst>
          </p:nvPr>
        </p:nvGraphicFramePr>
        <p:xfrm>
          <a:off x="268705" y="1347264"/>
          <a:ext cx="8606589" cy="416347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25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1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81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协议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802.15.4/ZigBee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BLE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802.11b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6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通信距离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~100m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~100m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~100m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功耗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~10mW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~10mW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~1W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1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频带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868/115MHz,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2.4GHz 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2.4~2.5GHz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2.4~2.5GHz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6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数据率</a:t>
                      </a:r>
                      <a:endParaRPr lang="zh-CN" alt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250kbps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2Mbps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11Mbps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81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数据包长度</a:t>
                      </a:r>
                      <a:endParaRPr lang="zh-CN" alt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127 B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265 B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2304B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9889864-A9F3-45BC-B98E-9C70876D7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 dirty="0"/>
          </a:p>
          <a:p>
            <a:r>
              <a:rPr lang="zh-CN" altLang="en-US" sz="2800" dirty="0"/>
              <a:t>概述</a:t>
            </a:r>
            <a:endParaRPr lang="en-US" altLang="zh-CN" sz="2800" dirty="0"/>
          </a:p>
          <a:p>
            <a:r>
              <a:rPr lang="zh-CN" altLang="en-US" sz="2800" dirty="0"/>
              <a:t>关键特性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C00000"/>
                </a:solidFill>
              </a:rPr>
              <a:t>基于</a:t>
            </a:r>
            <a:r>
              <a:rPr lang="en-US" altLang="zh-CN" sz="2800" dirty="0">
                <a:solidFill>
                  <a:srgbClr val="C00000"/>
                </a:solidFill>
              </a:rPr>
              <a:t>IEEE802.15.4</a:t>
            </a:r>
            <a:r>
              <a:rPr lang="zh-CN" altLang="en-US" sz="2800" dirty="0">
                <a:solidFill>
                  <a:srgbClr val="C00000"/>
                </a:solidFill>
              </a:rPr>
              <a:t>的传感网协议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dirty="0"/>
              <a:t>Bluetooth</a:t>
            </a:r>
          </a:p>
          <a:p>
            <a:r>
              <a:rPr lang="zh-CN" altLang="en-US" sz="2800" dirty="0"/>
              <a:t>应用案例</a:t>
            </a:r>
            <a:endParaRPr lang="en-US" altLang="zh-CN" sz="2800" dirty="0"/>
          </a:p>
          <a:p>
            <a:r>
              <a:rPr lang="zh-CN" altLang="en-US" sz="2800" dirty="0"/>
              <a:t>研究进展</a:t>
            </a:r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301" y="1727675"/>
            <a:ext cx="3863975" cy="228741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传感网协议的典型使用场景</a:t>
            </a:r>
            <a:r>
              <a:rPr lang="en-US" altLang="zh-CN" dirty="0"/>
              <a:t>: </a:t>
            </a:r>
            <a:r>
              <a:rPr lang="zh-CN" altLang="en-US" dirty="0"/>
              <a:t>自组织无线多跳网络</a:t>
            </a:r>
            <a:endParaRPr lang="en-US" altLang="zh-CN" dirty="0"/>
          </a:p>
          <a:p>
            <a:r>
              <a:rPr lang="zh-CN" altLang="en-US" dirty="0"/>
              <a:t>传感网应用场景 </a:t>
            </a:r>
            <a:endParaRPr lang="en-US" altLang="zh-CN" dirty="0"/>
          </a:p>
          <a:p>
            <a:pPr lvl="1"/>
            <a:r>
              <a:rPr lang="en-US" altLang="zh-CN" dirty="0"/>
              <a:t>Great Duck Island</a:t>
            </a:r>
            <a:r>
              <a:rPr lang="zh-CN" altLang="en-US" dirty="0"/>
              <a:t>，生态环境监测 </a:t>
            </a:r>
            <a:endParaRPr lang="en-US" altLang="zh-CN" dirty="0"/>
          </a:p>
          <a:p>
            <a:pPr lvl="1"/>
            <a:r>
              <a:rPr lang="en-US" altLang="zh-CN" dirty="0"/>
              <a:t>Volcano monitoring</a:t>
            </a:r>
            <a:r>
              <a:rPr lang="zh-CN" altLang="en-US" dirty="0"/>
              <a:t>，火山监测</a:t>
            </a:r>
            <a:endParaRPr lang="en-US" altLang="zh-CN" dirty="0"/>
          </a:p>
          <a:p>
            <a:pPr lvl="1"/>
            <a:r>
              <a:rPr lang="zh-CN" altLang="en-US" dirty="0"/>
              <a:t>绿野千传，森林火灾监测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8" name="Picture 4" descr="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2" y="4069620"/>
            <a:ext cx="4191000" cy="2385708"/>
          </a:xfrm>
          <a:prstGeom prst="rect">
            <a:avLst/>
          </a:prstGeom>
          <a:noFill/>
          <a:ln w="38100">
            <a:solidFill>
              <a:srgbClr val="0033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0237" y="4069621"/>
            <a:ext cx="4785374" cy="2385708"/>
          </a:xfrm>
          <a:prstGeom prst="rect">
            <a:avLst/>
          </a:prstGeom>
          <a:ln>
            <a:solidFill>
              <a:srgbClr val="111F65"/>
            </a:solidFill>
          </a:ln>
        </p:spPr>
      </p:pic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3C257ABA-C01E-4635-88CD-DB252041E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传感网协议架构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445" y="1529581"/>
            <a:ext cx="6167284" cy="4969477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496C13-F14D-4370-87CD-81E6B8967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0BB21-D06A-43A3-B1CE-08A2191CDCF2}"/>
              </a:ext>
            </a:extLst>
          </p:cNvPr>
          <p:cNvSpPr/>
          <p:nvPr/>
        </p:nvSpPr>
        <p:spPr>
          <a:xfrm>
            <a:off x="1961147" y="5666874"/>
            <a:ext cx="4379495" cy="49329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EC8BFB-397C-404A-841F-A8B497ED3D27}"/>
              </a:ext>
            </a:extLst>
          </p:cNvPr>
          <p:cNvSpPr/>
          <p:nvPr/>
        </p:nvSpPr>
        <p:spPr>
          <a:xfrm>
            <a:off x="1961147" y="4811062"/>
            <a:ext cx="4379495" cy="49329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E12944-8598-481B-90AD-8628035A8F98}"/>
              </a:ext>
            </a:extLst>
          </p:cNvPr>
          <p:cNvSpPr/>
          <p:nvPr/>
        </p:nvSpPr>
        <p:spPr>
          <a:xfrm>
            <a:off x="1961147" y="1800291"/>
            <a:ext cx="998621" cy="49329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8ED555-6BBF-460A-8863-144C5FDE6DCF}"/>
              </a:ext>
            </a:extLst>
          </p:cNvPr>
          <p:cNvSpPr/>
          <p:nvPr/>
        </p:nvSpPr>
        <p:spPr>
          <a:xfrm>
            <a:off x="5342021" y="1800291"/>
            <a:ext cx="998621" cy="49329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568FA7-D5C1-4BA7-93B6-92ECFD55D7AD}"/>
              </a:ext>
            </a:extLst>
          </p:cNvPr>
          <p:cNvSpPr/>
          <p:nvPr/>
        </p:nvSpPr>
        <p:spPr>
          <a:xfrm>
            <a:off x="5342021" y="3059029"/>
            <a:ext cx="998621" cy="49329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IEEE 802.15.4</a:t>
            </a:r>
            <a:r>
              <a:rPr lang="zh-CN" altLang="en-US" dirty="0">
                <a:solidFill>
                  <a:srgbClr val="C00000"/>
                </a:solidFill>
              </a:rPr>
              <a:t>技术物理层</a:t>
            </a:r>
          </a:p>
          <a:p>
            <a:r>
              <a:rPr lang="zh-CN" altLang="en-US" dirty="0"/>
              <a:t>低功耗</a:t>
            </a:r>
            <a:r>
              <a:rPr lang="en-US" altLang="zh-CN" dirty="0"/>
              <a:t>MAC</a:t>
            </a:r>
          </a:p>
          <a:p>
            <a:r>
              <a:rPr lang="zh-CN" altLang="en-US" dirty="0"/>
              <a:t>链路质量估计</a:t>
            </a:r>
          </a:p>
          <a:p>
            <a:r>
              <a:rPr lang="en-US" altLang="zh-CN" dirty="0"/>
              <a:t>6LoWPAN</a:t>
            </a:r>
          </a:p>
          <a:p>
            <a:r>
              <a:rPr lang="en-US" altLang="zh-CN" dirty="0"/>
              <a:t>CTP</a:t>
            </a:r>
          </a:p>
          <a:p>
            <a:r>
              <a:rPr lang="en-US" altLang="zh-CN" dirty="0"/>
              <a:t>RPL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881137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IEEE 802.15.4</a:t>
            </a:r>
            <a:r>
              <a:rPr lang="zh-CN" altLang="en-US"/>
              <a:t>技术物理层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物理层功能：从比特流到</a:t>
            </a:r>
            <a:r>
              <a:rPr lang="en-US" altLang="zh-CN" dirty="0"/>
              <a:t>RF</a:t>
            </a:r>
            <a:r>
              <a:rPr lang="zh-CN" altLang="en-US" dirty="0"/>
              <a:t>信号</a:t>
            </a:r>
            <a:endParaRPr lang="en-US" altLang="zh-CN" dirty="0"/>
          </a:p>
          <a:p>
            <a:pPr lvl="0"/>
            <a:r>
              <a:rPr lang="zh-CN" altLang="en-US" dirty="0"/>
              <a:t>工作流程</a:t>
            </a:r>
            <a:endParaRPr lang="en-US" altLang="zh-CN" dirty="0"/>
          </a:p>
          <a:p>
            <a:pPr lvl="1"/>
            <a:r>
              <a:rPr lang="en-US" altLang="zh-CN" dirty="0"/>
              <a:t>DSSS</a:t>
            </a:r>
            <a:r>
              <a:rPr lang="zh-CN" altLang="en-US" dirty="0"/>
              <a:t>扩频</a:t>
            </a:r>
            <a:endParaRPr lang="en-US" altLang="zh-CN" dirty="0"/>
          </a:p>
          <a:p>
            <a:pPr lvl="1"/>
            <a:r>
              <a:rPr lang="en-US" altLang="zh-CN" dirty="0"/>
              <a:t>O-QPSK</a:t>
            </a:r>
            <a:r>
              <a:rPr lang="zh-CN" altLang="en-US" dirty="0"/>
              <a:t>调制</a:t>
            </a:r>
            <a:endParaRPr lang="en-US" altLang="zh-CN" dirty="0"/>
          </a:p>
          <a:p>
            <a:pPr lvl="1"/>
            <a:r>
              <a:rPr lang="zh-CN" altLang="en-US" dirty="0"/>
              <a:t>脉冲成形</a:t>
            </a:r>
            <a:endParaRPr lang="en-US" altLang="zh-CN" dirty="0"/>
          </a:p>
          <a:p>
            <a:pPr lvl="1"/>
            <a:r>
              <a:rPr lang="zh-CN" altLang="en-US" dirty="0"/>
              <a:t>数模转换及信号发送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矩形 5"/>
          <p:cNvSpPr/>
          <p:nvPr/>
        </p:nvSpPr>
        <p:spPr bwMode="auto">
          <a:xfrm>
            <a:off x="5238664" y="1357935"/>
            <a:ext cx="1441938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Byte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238664" y="2076294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4 bits</a:t>
            </a:r>
            <a:endParaRPr kumimoji="0" lang="zh-CN" altLang="en-US" sz="20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666536" y="1357935"/>
            <a:ext cx="1441938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Byte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68325" y="2076294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4 bits</a:t>
            </a:r>
            <a:endParaRPr kumimoji="0" lang="zh-CN" altLang="en-US" sz="20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6691154" y="2076294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4 bits</a:t>
            </a:r>
            <a:endParaRPr kumimoji="0" lang="zh-CN" altLang="en-US" sz="20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415640" y="2076294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4 bits</a:t>
            </a:r>
            <a:endParaRPr kumimoji="0" lang="zh-CN" altLang="en-US" sz="20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27143" y="2439541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1110</a:t>
            </a:r>
            <a:endParaRPr lang="zh-CN" altLang="en-US" dirty="0">
              <a:latin typeface="+mj-ea"/>
              <a:ea typeface="+mj-ea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 flipH="1">
            <a:off x="5270708" y="2514736"/>
            <a:ext cx="712370" cy="554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接箭头连接符 21"/>
          <p:cNvCxnSpPr/>
          <p:nvPr/>
        </p:nvCxnSpPr>
        <p:spPr bwMode="auto">
          <a:xfrm>
            <a:off x="6664676" y="2526460"/>
            <a:ext cx="2090231" cy="5425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4014580" y="139734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二进制数据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359660" y="2772113"/>
            <a:ext cx="1040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32</a:t>
            </a:r>
            <a:r>
              <a:rPr lang="zh-CN" altLang="en-US" dirty="0">
                <a:latin typeface="+mj-ea"/>
                <a:ea typeface="+mj-ea"/>
              </a:rPr>
              <a:t>位码片</a:t>
            </a:r>
          </a:p>
        </p:txBody>
      </p:sp>
      <p:grpSp>
        <p:nvGrpSpPr>
          <p:cNvPr id="39" name="组合 38"/>
          <p:cNvGrpSpPr/>
          <p:nvPr/>
        </p:nvGrpSpPr>
        <p:grpSpPr>
          <a:xfrm rot="16200000">
            <a:off x="5687035" y="2869883"/>
            <a:ext cx="430887" cy="2268282"/>
            <a:chOff x="2065260" y="4300962"/>
            <a:chExt cx="430887" cy="2088593"/>
          </a:xfrm>
        </p:grpSpPr>
        <p:sp>
          <p:nvSpPr>
            <p:cNvPr id="30" name="矩形 29"/>
            <p:cNvSpPr/>
            <p:nvPr/>
          </p:nvSpPr>
          <p:spPr bwMode="auto">
            <a:xfrm>
              <a:off x="2080715" y="4300962"/>
              <a:ext cx="356185" cy="186756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  <a:buSzPct val="100000"/>
              </a:pPr>
              <a:endParaRPr lang="zh-CN" altLang="en-US" sz="1400" baseline="0">
                <a:latin typeface="+mj-ea"/>
                <a:ea typeface="+mj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065260" y="4317660"/>
              <a:ext cx="430887" cy="207189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1010010001011110</a:t>
              </a:r>
              <a:endParaRPr lang="zh-CN" altLang="en-US" dirty="0">
                <a:latin typeface="+mj-ea"/>
                <a:ea typeface="+mj-ea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 rot="16200000">
            <a:off x="7895782" y="2833051"/>
            <a:ext cx="449346" cy="2298613"/>
            <a:chOff x="2080715" y="4300962"/>
            <a:chExt cx="449346" cy="2114491"/>
          </a:xfrm>
        </p:grpSpPr>
        <p:sp>
          <p:nvSpPr>
            <p:cNvPr id="41" name="矩形 40"/>
            <p:cNvSpPr/>
            <p:nvPr/>
          </p:nvSpPr>
          <p:spPr bwMode="auto">
            <a:xfrm>
              <a:off x="2080715" y="4300962"/>
              <a:ext cx="356185" cy="186756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  <a:buSzPct val="100000"/>
              </a:pPr>
              <a:endParaRPr lang="zh-CN" altLang="en-US" sz="1400" baseline="0">
                <a:latin typeface="+mj-ea"/>
                <a:ea typeface="+mj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099174" y="4345545"/>
              <a:ext cx="430887" cy="206990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0110011100001011</a:t>
              </a:r>
              <a:endParaRPr lang="zh-CN" altLang="en-US" dirty="0">
                <a:latin typeface="+mj-ea"/>
                <a:ea typeface="+mj-ea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4118981" y="4739179"/>
            <a:ext cx="1422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O-QPSK</a:t>
            </a:r>
            <a:r>
              <a:rPr lang="zh-CN" altLang="en-US" b="1" dirty="0">
                <a:latin typeface="+mj-ea"/>
                <a:ea typeface="+mj-ea"/>
              </a:rPr>
              <a:t>调制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4118981" y="3787285"/>
            <a:ext cx="4911577" cy="1451652"/>
            <a:chOff x="272681" y="4681863"/>
            <a:chExt cx="4911577" cy="1451652"/>
          </a:xfrm>
        </p:grpSpPr>
        <p:sp>
          <p:nvSpPr>
            <p:cNvPr id="44" name="矩形 43"/>
            <p:cNvSpPr/>
            <p:nvPr/>
          </p:nvSpPr>
          <p:spPr bwMode="auto">
            <a:xfrm>
              <a:off x="1926687" y="5553847"/>
              <a:ext cx="1143587" cy="4501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r>
                <a:rPr kumimoji="0" lang="en-US" altLang="zh-CN" sz="2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I-phase</a:t>
              </a:r>
              <a:endParaRPr kumimoji="0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3316522" y="5553847"/>
              <a:ext cx="1143587" cy="4501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Q</a:t>
              </a:r>
              <a:r>
                <a:rPr kumimoji="0" lang="en-US" altLang="zh-CN" sz="2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-phase</a:t>
              </a:r>
              <a:endParaRPr kumimoji="0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272681" y="4681863"/>
              <a:ext cx="4911577" cy="145165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  <p:sp>
        <p:nvSpPr>
          <p:cNvPr id="48" name="下箭头 47"/>
          <p:cNvSpPr/>
          <p:nvPr/>
        </p:nvSpPr>
        <p:spPr bwMode="auto">
          <a:xfrm>
            <a:off x="6142295" y="4359431"/>
            <a:ext cx="215443" cy="17789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9" name="下箭头 48"/>
          <p:cNvSpPr/>
          <p:nvPr/>
        </p:nvSpPr>
        <p:spPr bwMode="auto">
          <a:xfrm>
            <a:off x="7485466" y="4359431"/>
            <a:ext cx="215443" cy="17789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6142295" y="5596171"/>
            <a:ext cx="1788650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脉冲成形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091974" y="3110422"/>
            <a:ext cx="3766222" cy="584775"/>
            <a:chOff x="1677964" y="2944932"/>
            <a:chExt cx="3766222" cy="584775"/>
          </a:xfrm>
        </p:grpSpPr>
        <p:sp>
          <p:nvSpPr>
            <p:cNvPr id="14" name="矩形 13"/>
            <p:cNvSpPr/>
            <p:nvPr/>
          </p:nvSpPr>
          <p:spPr bwMode="auto">
            <a:xfrm>
              <a:off x="1740460" y="2973534"/>
              <a:ext cx="3619331" cy="3801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  <a:buSzPct val="100000"/>
              </a:pPr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677964" y="2944932"/>
              <a:ext cx="376622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  <a:buSzPct val="100000"/>
              </a:pPr>
              <a:r>
                <a:rPr lang="en-US" altLang="zh-CN" dirty="0">
                  <a:latin typeface="+mj-ea"/>
                  <a:ea typeface="+mj-ea"/>
                </a:rPr>
                <a:t>10011100001101010010001011101101</a:t>
              </a:r>
              <a:endParaRPr lang="zh-CN" altLang="en-US" dirty="0">
                <a:latin typeface="+mj-ea"/>
                <a:ea typeface="+mj-ea"/>
              </a:endParaRPr>
            </a:p>
          </p:txBody>
        </p:sp>
      </p:grpSp>
      <p:sp>
        <p:nvSpPr>
          <p:cNvPr id="54" name="矩形 53"/>
          <p:cNvSpPr/>
          <p:nvPr/>
        </p:nvSpPr>
        <p:spPr bwMode="auto">
          <a:xfrm>
            <a:off x="6023627" y="6293897"/>
            <a:ext cx="2119697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数模转换及信号发送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5" name="下箭头 54"/>
          <p:cNvSpPr/>
          <p:nvPr/>
        </p:nvSpPr>
        <p:spPr bwMode="auto">
          <a:xfrm>
            <a:off x="6916574" y="5320231"/>
            <a:ext cx="215443" cy="17789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6" name="下箭头 55"/>
          <p:cNvSpPr/>
          <p:nvPr/>
        </p:nvSpPr>
        <p:spPr bwMode="auto">
          <a:xfrm>
            <a:off x="6928898" y="6081168"/>
            <a:ext cx="215443" cy="17789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002464" y="413402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偶数位码片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819970" y="410563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奇数位码片</a:t>
            </a:r>
          </a:p>
        </p:txBody>
      </p:sp>
      <p:cxnSp>
        <p:nvCxnSpPr>
          <p:cNvPr id="69" name="直接箭头连接符 68"/>
          <p:cNvCxnSpPr>
            <a:endCxn id="37" idx="3"/>
          </p:cNvCxnSpPr>
          <p:nvPr/>
        </p:nvCxnSpPr>
        <p:spPr bwMode="auto">
          <a:xfrm flipH="1">
            <a:off x="5911546" y="3526798"/>
            <a:ext cx="326439" cy="2617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直接箭头连接符 70"/>
          <p:cNvCxnSpPr>
            <a:endCxn id="42" idx="3"/>
          </p:cNvCxnSpPr>
          <p:nvPr/>
        </p:nvCxnSpPr>
        <p:spPr bwMode="auto">
          <a:xfrm>
            <a:off x="7459572" y="3546026"/>
            <a:ext cx="685116" cy="211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矩形 71"/>
          <p:cNvSpPr/>
          <p:nvPr/>
        </p:nvSpPr>
        <p:spPr>
          <a:xfrm>
            <a:off x="3622173" y="2596254"/>
            <a:ext cx="19048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C0504D"/>
              </a:buClr>
            </a:pPr>
            <a:r>
              <a:rPr lang="en-US" altLang="zh-CN" b="1" dirty="0">
                <a:latin typeface="+mj-ea"/>
                <a:ea typeface="+mj-ea"/>
              </a:rPr>
              <a:t>DSSS</a:t>
            </a:r>
            <a:r>
              <a:rPr lang="zh-CN" altLang="en-US" b="1" dirty="0">
                <a:latin typeface="+mj-ea"/>
                <a:ea typeface="+mj-ea"/>
              </a:rPr>
              <a:t>扩频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73" name="下箭头 72"/>
          <p:cNvSpPr/>
          <p:nvPr/>
        </p:nvSpPr>
        <p:spPr bwMode="auto">
          <a:xfrm>
            <a:off x="5935015" y="1855335"/>
            <a:ext cx="207280" cy="15911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74" name="下箭头 73"/>
          <p:cNvSpPr/>
          <p:nvPr/>
        </p:nvSpPr>
        <p:spPr bwMode="auto">
          <a:xfrm>
            <a:off x="7283865" y="1855335"/>
            <a:ext cx="207280" cy="15911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4124463" y="2023919"/>
            <a:ext cx="4911577" cy="15442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3" name="灯片编号占位符 4">
            <a:extLst>
              <a:ext uri="{FF2B5EF4-FFF2-40B4-BE49-F238E27FC236}">
                <a16:creationId xmlns:a16="http://schemas.microsoft.com/office/drawing/2014/main" id="{4248846C-F4B4-4FBF-8329-7EA01078E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+mj-ea"/>
                <a:ea typeface="+mj-ea"/>
              </a:rPr>
              <a:t>28</a:t>
            </a:fld>
            <a:endParaRPr lang="zh-CN" altLang="zh-CN" sz="1800" baseline="0" dirty="0">
              <a:solidFill>
                <a:schemeClr val="folHlin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IEEE 802.15.4</a:t>
            </a:r>
            <a:r>
              <a:rPr lang="zh-CN" altLang="en-US"/>
              <a:t>技术物理层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DSSS </a:t>
            </a:r>
            <a:r>
              <a:rPr lang="zh-CN" altLang="en-US"/>
              <a:t>扩频</a:t>
            </a:r>
            <a:endParaRPr lang="en-US" altLang="zh-CN"/>
          </a:p>
          <a:p>
            <a:pPr lvl="1"/>
            <a:r>
              <a:rPr lang="zh-CN" altLang="en-US"/>
              <a:t>每</a:t>
            </a:r>
            <a:r>
              <a:rPr lang="en-US" altLang="zh-CN"/>
              <a:t>4bit</a:t>
            </a:r>
            <a:r>
              <a:rPr lang="zh-CN" altLang="en-US"/>
              <a:t>数据转化为</a:t>
            </a:r>
            <a:r>
              <a:rPr lang="en-US" altLang="zh-CN"/>
              <a:t>32</a:t>
            </a:r>
            <a:r>
              <a:rPr lang="zh-CN" altLang="en-US"/>
              <a:t>位码片</a:t>
            </a:r>
            <a:r>
              <a:rPr lang="en-US" altLang="zh-CN"/>
              <a:t>(chips)</a:t>
            </a:r>
          </a:p>
          <a:p>
            <a:pPr lvl="1"/>
            <a:r>
              <a:rPr lang="en-US" altLang="zh-CN"/>
              <a:t>Chip rate</a:t>
            </a:r>
            <a:r>
              <a:rPr lang="zh-CN" altLang="en-US"/>
              <a:t>：</a:t>
            </a:r>
            <a:r>
              <a:rPr lang="en-US" altLang="zh-CN"/>
              <a:t>2M chip/s</a:t>
            </a:r>
            <a:r>
              <a:rPr lang="zh-CN" altLang="en-US"/>
              <a:t>， </a:t>
            </a:r>
            <a:r>
              <a:rPr lang="en-US" altLang="zh-CN"/>
              <a:t>data rate: 250kb/s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765713"/>
              </p:ext>
            </p:extLst>
          </p:nvPr>
        </p:nvGraphicFramePr>
        <p:xfrm>
          <a:off x="1290413" y="2364826"/>
          <a:ext cx="6448874" cy="431975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09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1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+mj-ea"/>
                          <a:ea typeface="+mj-ea"/>
                        </a:rPr>
                        <a:t>数据符号</a:t>
                      </a: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 (b0 b1 b2 b3)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+mj-ea"/>
                          <a:ea typeface="+mj-ea"/>
                        </a:rPr>
                        <a:t>码片序列 </a:t>
                      </a: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(c0 c1 … c30 c31)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+mj-ea"/>
                          <a:ea typeface="+mj-ea"/>
                        </a:rPr>
                        <a:t>0000</a:t>
                      </a:r>
                      <a:endParaRPr lang="zh-CN" sz="14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11011001110000110101001000101110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1000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11101101100111000011010100100010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0100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00101110110110011100001101010010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1100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00100010111011011001110000110101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0010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01010010001011101101100111000011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+mj-ea"/>
                          <a:ea typeface="+mj-ea"/>
                        </a:rPr>
                        <a:t>1010</a:t>
                      </a:r>
                      <a:endParaRPr lang="zh-CN" sz="14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00110101001000101110110110011100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0110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11000011010100100010111011011001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1110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10011100001101010010001011101101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0001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10001100100101100000011101111011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1001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10111000110010010110000001110111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0101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01111011100011001001011000000111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1101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01110111101110001100100101100000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0011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00000111011110111000110010010110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1011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01100000011101111011100011001001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+mj-ea"/>
                          <a:ea typeface="+mj-ea"/>
                        </a:rPr>
                        <a:t>0111</a:t>
                      </a:r>
                      <a:endParaRPr lang="zh-CN" sz="14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10010110000001110111101110001100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22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+mj-ea"/>
                          <a:ea typeface="+mj-ea"/>
                        </a:rPr>
                        <a:t>1111</a:t>
                      </a:r>
                      <a:endParaRPr lang="zh-CN" sz="14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+mj-ea"/>
                          <a:ea typeface="+mj-ea"/>
                        </a:rPr>
                        <a:t>11001001011000000111011110111000</a:t>
                      </a:r>
                      <a:endParaRPr lang="zh-CN" sz="14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C260EF-5E12-4EDA-B329-A19A6DF5F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IEEE 802.15.4</a:t>
            </a:r>
            <a:r>
              <a:rPr lang="zh-CN" altLang="en-US"/>
              <a:t>技术物理层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O-QPSK</a:t>
            </a:r>
            <a:r>
              <a:rPr lang="zh-CN" altLang="en-US" dirty="0"/>
              <a:t>调制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32</a:t>
            </a:r>
            <a:r>
              <a:rPr lang="zh-CN" altLang="en-US" dirty="0"/>
              <a:t>位码元序列调制到信号的</a:t>
            </a:r>
            <a:r>
              <a:rPr lang="en-US" altLang="zh-CN" dirty="0"/>
              <a:t>I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相位上</a:t>
            </a:r>
            <a:endParaRPr lang="en-US" altLang="zh-CN" dirty="0"/>
          </a:p>
          <a:p>
            <a:pPr lvl="2"/>
            <a:r>
              <a:rPr lang="zh-CN" altLang="en-US" dirty="0"/>
              <a:t>每个相位的</a:t>
            </a:r>
            <a:r>
              <a:rPr lang="en-US" altLang="zh-CN" dirty="0"/>
              <a:t>chip rate = C/2 = 1M chip/s</a:t>
            </a:r>
          </a:p>
          <a:p>
            <a:pPr lvl="2"/>
            <a:r>
              <a:rPr lang="zh-CN" altLang="en-US" dirty="0"/>
              <a:t>每个码元的发送时间：</a:t>
            </a:r>
            <a:r>
              <a:rPr lang="en-US" altLang="zh-CN" dirty="0"/>
              <a:t>1s/(1Mchip/s )= 1us</a:t>
            </a:r>
          </a:p>
          <a:p>
            <a:pPr lvl="1"/>
            <a:r>
              <a:rPr lang="en-US" altLang="zh-CN" dirty="0"/>
              <a:t>O</a:t>
            </a:r>
            <a:r>
              <a:rPr lang="zh-CN" altLang="en-US" dirty="0"/>
              <a:t>表示</a:t>
            </a:r>
            <a:r>
              <a:rPr lang="en-US" altLang="zh-CN" dirty="0"/>
              <a:t>offset</a:t>
            </a:r>
            <a:r>
              <a:rPr lang="zh-CN" altLang="en-US" dirty="0"/>
              <a:t>，表示相位偏移，</a:t>
            </a:r>
            <a:r>
              <a:rPr lang="en-US" altLang="zh-CN" dirty="0"/>
              <a:t>offset=0.5 us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脉冲成形</a:t>
            </a:r>
            <a:endParaRPr lang="en-US" altLang="zh-CN" dirty="0"/>
          </a:p>
          <a:p>
            <a:pPr lvl="1"/>
            <a:r>
              <a:rPr lang="zh-CN" altLang="en-US" dirty="0"/>
              <a:t>上半正弦表示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下半正弦表示</a:t>
            </a:r>
            <a:r>
              <a:rPr lang="en-US" altLang="zh-CN" dirty="0"/>
              <a:t>0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37898" y="2990631"/>
          <a:ext cx="4864931" cy="196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Visio" r:id="rId4" imgW="2590800" imgH="1052195" progId="Visio.Drawing.15">
                  <p:embed/>
                </p:oleObj>
              </mc:Choice>
              <mc:Fallback>
                <p:oleObj name="Visio" r:id="rId4" imgW="2590800" imgH="105219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898" y="2990631"/>
                        <a:ext cx="4864931" cy="19616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86199" y="4389174"/>
          <a:ext cx="5099141" cy="249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Visio" r:id="rId6" imgW="4985385" imgH="2467610" progId="Visio.Drawing.15">
                  <p:embed/>
                </p:oleObj>
              </mc:Choice>
              <mc:Fallback>
                <p:oleObj name="Visio" r:id="rId6" imgW="4985385" imgH="246761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199" y="4389174"/>
                        <a:ext cx="5099141" cy="24995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41BCACB1-4397-4F0D-8705-A6F67AC3C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IEEE 802.15.4</a:t>
            </a:r>
            <a:r>
              <a:rPr lang="zh-CN" altLang="en-US"/>
              <a:t>技术物理层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帧结构</a:t>
            </a:r>
            <a:endParaRPr lang="en-US" altLang="zh-CN"/>
          </a:p>
          <a:p>
            <a:pPr lvl="1"/>
            <a:r>
              <a:rPr lang="zh-CN" altLang="en-US"/>
              <a:t>物理层数据单元</a:t>
            </a:r>
            <a:r>
              <a:rPr lang="en-US" altLang="zh-CN"/>
              <a:t>(PPDU)=</a:t>
            </a:r>
            <a:r>
              <a:rPr lang="zh-CN" altLang="en-US"/>
              <a:t>物理层头部</a:t>
            </a:r>
            <a:r>
              <a:rPr lang="en-US" altLang="zh-CN"/>
              <a:t>+MAC</a:t>
            </a:r>
            <a:r>
              <a:rPr lang="zh-CN" altLang="en-US"/>
              <a:t>层数据单元</a:t>
            </a:r>
            <a:r>
              <a:rPr lang="en-US" altLang="zh-CN"/>
              <a:t>(MPDU)</a:t>
            </a:r>
          </a:p>
          <a:p>
            <a:pPr lvl="1"/>
            <a:r>
              <a:rPr lang="zh-CN" altLang="en-US"/>
              <a:t>物理层头部</a:t>
            </a:r>
            <a:endParaRPr lang="en-US" altLang="zh-CN"/>
          </a:p>
          <a:p>
            <a:pPr lvl="2"/>
            <a:r>
              <a:rPr lang="en-US" altLang="zh-CN"/>
              <a:t>SHR (4B) – </a:t>
            </a:r>
            <a:r>
              <a:rPr lang="zh-CN" altLang="en-US"/>
              <a:t>用于实现码元和位同步</a:t>
            </a:r>
            <a:endParaRPr lang="en-US" altLang="zh-CN"/>
          </a:p>
          <a:p>
            <a:pPr lvl="2"/>
            <a:r>
              <a:rPr lang="en-US" altLang="zh-CN"/>
              <a:t>SFD (1B) –</a:t>
            </a:r>
            <a:r>
              <a:rPr lang="zh-CN" altLang="en-US"/>
              <a:t>帧定界符，固定的特殊值，用于标志</a:t>
            </a:r>
            <a:r>
              <a:rPr lang="en-US" altLang="zh-CN"/>
              <a:t>SHR</a:t>
            </a:r>
            <a:r>
              <a:rPr lang="zh-CN" altLang="en-US"/>
              <a:t>的结束和实际数据报文的开始</a:t>
            </a:r>
            <a:endParaRPr lang="en-US" altLang="zh-CN"/>
          </a:p>
          <a:p>
            <a:pPr lvl="2"/>
            <a:r>
              <a:rPr lang="en-US" altLang="zh-CN"/>
              <a:t>PSDU(0~127B): </a:t>
            </a:r>
            <a:r>
              <a:rPr lang="zh-CN" altLang="en-US"/>
              <a:t>实际数据报文，从</a:t>
            </a:r>
            <a:r>
              <a:rPr lang="en-US" altLang="zh-CN"/>
              <a:t>MAC</a:t>
            </a:r>
            <a:r>
              <a:rPr lang="zh-CN" altLang="en-US"/>
              <a:t>层传过来的数据单元</a:t>
            </a:r>
            <a:endParaRPr lang="en-US" altLang="zh-CN"/>
          </a:p>
          <a:p>
            <a:pPr lvl="2"/>
            <a:r>
              <a:rPr lang="en-US" altLang="zh-CN"/>
              <a:t>PHR (1B) – PSDU</a:t>
            </a:r>
            <a:r>
              <a:rPr lang="zh-CN" altLang="en-US"/>
              <a:t>的长度</a:t>
            </a:r>
            <a:endParaRPr lang="en-US" altLang="zh-CN"/>
          </a:p>
          <a:p>
            <a:pPr lvl="1"/>
            <a:endParaRPr lang="en-US" altLang="zh-C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3700" y="461929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23411" y="3908612"/>
          <a:ext cx="7315638" cy="29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7" name="Visio" r:id="rId4" imgW="8208010" imgH="3331210" progId="Visio.Drawing.15">
                  <p:embed/>
                </p:oleObj>
              </mc:Choice>
              <mc:Fallback>
                <p:oleObj name="Visio" r:id="rId4" imgW="8208010" imgH="333121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411" y="3908612"/>
                        <a:ext cx="7315638" cy="2949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 bwMode="auto">
          <a:xfrm>
            <a:off x="2264834" y="4771696"/>
            <a:ext cx="6502402" cy="97434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B9C52058-BA9A-4ABF-97F3-4F409D486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010470"/>
              </p:ext>
            </p:extLst>
          </p:nvPr>
        </p:nvGraphicFramePr>
        <p:xfrm>
          <a:off x="1760628" y="3699610"/>
          <a:ext cx="7315638" cy="29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name="Visio" r:id="rId4" imgW="8208010" imgH="3331210" progId="Visio.Drawing.15">
                  <p:embed/>
                </p:oleObj>
              </mc:Choice>
              <mc:Fallback>
                <p:oleObj name="Visio" r:id="rId4" imgW="8208010" imgH="3331210" progId="Visio.Drawing.15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628" y="3699610"/>
                        <a:ext cx="7315638" cy="2949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IEEE 802.15.4</a:t>
            </a:r>
            <a:r>
              <a:rPr lang="zh-CN" altLang="en-US"/>
              <a:t>技术物理层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帧结构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物理层数据单元</a:t>
            </a:r>
            <a:r>
              <a:rPr lang="en-US" altLang="zh-CN" dirty="0"/>
              <a:t>(PPDU)=</a:t>
            </a:r>
            <a:r>
              <a:rPr lang="zh-CN" altLang="en-US" dirty="0"/>
              <a:t>物理层头部</a:t>
            </a:r>
            <a:r>
              <a:rPr lang="en-US" altLang="zh-CN" dirty="0"/>
              <a:t>+MAC</a:t>
            </a:r>
            <a:r>
              <a:rPr lang="zh-CN" altLang="en-US" dirty="0"/>
              <a:t>层数据单元</a:t>
            </a:r>
            <a:r>
              <a:rPr lang="en-US" altLang="zh-CN" dirty="0"/>
              <a:t>(MPDU)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MAC</a:t>
            </a:r>
            <a:r>
              <a:rPr lang="zh-CN" altLang="en-US" dirty="0"/>
              <a:t>层数据单元</a:t>
            </a:r>
            <a:r>
              <a:rPr lang="en-US" altLang="zh-CN" dirty="0"/>
              <a:t>(MPDU)</a:t>
            </a:r>
          </a:p>
          <a:p>
            <a:pPr lvl="2">
              <a:spcBef>
                <a:spcPts val="0"/>
              </a:spcBef>
            </a:pPr>
            <a:r>
              <a:rPr lang="en-US" altLang="zh-CN" dirty="0"/>
              <a:t>MHR: MAC</a:t>
            </a:r>
            <a:r>
              <a:rPr lang="zh-CN" altLang="en-US" dirty="0"/>
              <a:t>头部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Preamble Control (2B) – </a:t>
            </a:r>
            <a:r>
              <a:rPr lang="zh-CN" altLang="en-US" dirty="0"/>
              <a:t>帧控制字段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Data Seq. No. (1B)-</a:t>
            </a:r>
            <a:r>
              <a:rPr lang="zh-CN" altLang="en-US" dirty="0"/>
              <a:t>序列号字段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Address Information (4~20B) –</a:t>
            </a:r>
            <a:r>
              <a:rPr lang="zh-CN" altLang="en-US" dirty="0"/>
              <a:t>地址信息字段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MSDU: MAC</a:t>
            </a:r>
            <a:r>
              <a:rPr lang="zh-CN" altLang="en-US" dirty="0"/>
              <a:t>载荷</a:t>
            </a:r>
            <a:r>
              <a:rPr lang="en-US" altLang="zh-CN" dirty="0"/>
              <a:t>, </a:t>
            </a:r>
            <a:r>
              <a:rPr lang="zh-CN" altLang="en-US" dirty="0"/>
              <a:t>长度可变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MFR(2B) – PSDU</a:t>
            </a:r>
            <a:r>
              <a:rPr lang="zh-CN" altLang="en-US" dirty="0"/>
              <a:t>的长度</a:t>
            </a:r>
            <a:endParaRPr lang="en-US" altLang="zh-CN" dirty="0"/>
          </a:p>
          <a:p>
            <a:pPr lvl="1">
              <a:spcBef>
                <a:spcPts val="0"/>
              </a:spcBef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 bwMode="auto">
          <a:xfrm>
            <a:off x="3014133" y="5719077"/>
            <a:ext cx="6096000" cy="8636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0B123EC-6900-4AA0-94CE-1C4EB346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3274F-1E16-4113-8AF2-006A8AD0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656A1-262A-45D6-8420-BE6174EE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现有数据流</a:t>
            </a:r>
            <a:r>
              <a:rPr lang="en-US" altLang="zh-CN" dirty="0"/>
              <a:t>10111110</a:t>
            </a:r>
            <a:r>
              <a:rPr lang="zh-CN" altLang="en-US" dirty="0"/>
              <a:t>，要通过</a:t>
            </a:r>
            <a:r>
              <a:rPr lang="en-US" altLang="zh-CN" dirty="0"/>
              <a:t>IEEE 802.15.4 </a:t>
            </a:r>
            <a:r>
              <a:rPr lang="zh-CN" altLang="en-US" dirty="0"/>
              <a:t>物理层发送，请给出经过物理层调制后，</a:t>
            </a:r>
            <a:r>
              <a:rPr lang="en-US" altLang="zh-CN" dirty="0"/>
              <a:t>I</a:t>
            </a:r>
            <a:r>
              <a:rPr lang="zh-CN" altLang="en-US" dirty="0"/>
              <a:t>相位与</a:t>
            </a:r>
            <a:r>
              <a:rPr lang="en-US" altLang="zh-CN" dirty="0"/>
              <a:t>Q</a:t>
            </a:r>
            <a:r>
              <a:rPr lang="zh-CN" altLang="en-US" dirty="0"/>
              <a:t>相位上的码元序列。</a:t>
            </a:r>
          </a:p>
        </p:txBody>
      </p:sp>
    </p:spTree>
    <p:extLst>
      <p:ext uri="{BB962C8B-B14F-4D97-AF65-F5344CB8AC3E}">
        <p14:creationId xmlns:p14="http://schemas.microsoft.com/office/powerpoint/2010/main" val="256508924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dirty="0"/>
              <a:t>IEEE 802.15.4</a:t>
            </a:r>
            <a:r>
              <a:rPr lang="zh-CN" altLang="en-US" dirty="0"/>
              <a:t>技术物理层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低功耗</a:t>
            </a:r>
            <a:r>
              <a:rPr lang="en-US" altLang="zh-CN" dirty="0">
                <a:solidFill>
                  <a:srgbClr val="C00000"/>
                </a:solidFill>
              </a:rPr>
              <a:t>MAC</a:t>
            </a:r>
          </a:p>
          <a:p>
            <a:r>
              <a:rPr lang="zh-CN" altLang="en-US" dirty="0"/>
              <a:t>链路质量估计</a:t>
            </a:r>
          </a:p>
          <a:p>
            <a:r>
              <a:rPr lang="en-US" altLang="zh-CN" dirty="0"/>
              <a:t>6LoWPAN</a:t>
            </a:r>
          </a:p>
          <a:p>
            <a:r>
              <a:rPr lang="en-US" altLang="zh-CN" dirty="0"/>
              <a:t>CTP</a:t>
            </a:r>
          </a:p>
          <a:p>
            <a:r>
              <a:rPr lang="en-US" altLang="zh-CN" dirty="0"/>
              <a:t>RPL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74620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低功耗</a:t>
            </a:r>
            <a:r>
              <a:rPr lang="en-US" altLang="zh-CN" dirty="0"/>
              <a:t>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设计目标</a:t>
            </a:r>
            <a:endParaRPr lang="en-US" altLang="zh-CN" dirty="0"/>
          </a:p>
          <a:p>
            <a:pPr lvl="1"/>
            <a:r>
              <a:rPr lang="zh-CN" altLang="en-US" dirty="0"/>
              <a:t>尽可能降低传感器节点的通信能耗</a:t>
            </a:r>
            <a:endParaRPr lang="en-US" altLang="zh-CN" dirty="0"/>
          </a:p>
          <a:p>
            <a:r>
              <a:rPr lang="zh-CN" altLang="en-US" dirty="0"/>
              <a:t>无线通信中造成能源浪费的原因</a:t>
            </a:r>
            <a:endParaRPr lang="en-US" altLang="zh-CN" dirty="0"/>
          </a:p>
          <a:p>
            <a:pPr lvl="1"/>
            <a:r>
              <a:rPr lang="zh-CN" altLang="en-US" dirty="0"/>
              <a:t>空闲侦听：能源浪费的主要来源</a:t>
            </a:r>
            <a:endParaRPr lang="en-US" altLang="zh-CN" dirty="0"/>
          </a:p>
          <a:p>
            <a:pPr lvl="1"/>
            <a:r>
              <a:rPr lang="zh-CN" altLang="en-US" dirty="0"/>
              <a:t>冲突：可能会造成接收方无法解码所涉及的任何数据包</a:t>
            </a:r>
            <a:endParaRPr lang="en-US" altLang="zh-CN" dirty="0"/>
          </a:p>
          <a:p>
            <a:pPr lvl="1"/>
            <a:r>
              <a:rPr lang="zh-CN" altLang="en-US" dirty="0"/>
              <a:t>偷听：传感器节点接收不是发给自己的数据包</a:t>
            </a:r>
            <a:endParaRPr lang="en-US" altLang="zh-CN" dirty="0"/>
          </a:p>
          <a:p>
            <a:pPr lvl="1"/>
            <a:r>
              <a:rPr lang="zh-CN" altLang="en-US" dirty="0"/>
              <a:t>控制开销：包头和其他类型的数据包开销</a:t>
            </a:r>
            <a:endParaRPr lang="en-US" altLang="zh-CN" dirty="0"/>
          </a:p>
          <a:p>
            <a:r>
              <a:rPr lang="en-US" altLang="zh-CN" dirty="0"/>
              <a:t>CSMA MAC</a:t>
            </a:r>
            <a:r>
              <a:rPr lang="zh-CN" altLang="en-US" dirty="0"/>
              <a:t>（传统的</a:t>
            </a:r>
            <a:r>
              <a:rPr lang="en-US" altLang="zh-CN" dirty="0"/>
              <a:t>802.11</a:t>
            </a:r>
            <a:r>
              <a:rPr lang="zh-CN" altLang="en-US" dirty="0"/>
              <a:t>网络）</a:t>
            </a:r>
            <a:endParaRPr lang="en-US" altLang="zh-CN" dirty="0"/>
          </a:p>
          <a:p>
            <a:pPr lvl="1"/>
            <a:r>
              <a:rPr lang="en-US" altLang="zh-CN" dirty="0"/>
              <a:t>Carrier Sense Multiple Access</a:t>
            </a:r>
            <a:r>
              <a:rPr lang="zh-CN" altLang="en-US" dirty="0"/>
              <a:t>，载波侦听多路访问</a:t>
            </a:r>
            <a:endParaRPr lang="en-US" altLang="zh-CN" dirty="0"/>
          </a:p>
          <a:p>
            <a:pPr lvl="1"/>
            <a:r>
              <a:rPr lang="zh-CN" altLang="en-US" dirty="0"/>
              <a:t>在发数据前先侦听，如果信道空闲，则立刻发送数据；否则，退避一段时间</a:t>
            </a:r>
            <a:endParaRPr lang="en-US" altLang="zh-CN" dirty="0"/>
          </a:p>
          <a:p>
            <a:pPr lvl="1"/>
            <a:r>
              <a:rPr lang="zh-CN" altLang="en-US" dirty="0"/>
              <a:t>问题： 接收者始终需要在线，不适用于无线传感器网络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8D3FBA59-5270-48EF-B148-88D606F1B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低功耗</a:t>
            </a:r>
            <a:r>
              <a:rPr lang="en-US" altLang="zh-CN"/>
              <a:t>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无线传感器网络中，降低功耗：使节点实现低占空比</a:t>
            </a:r>
            <a:endParaRPr lang="en-US" altLang="zh-CN" dirty="0"/>
          </a:p>
          <a:p>
            <a:pPr lvl="1"/>
            <a:r>
              <a:rPr lang="zh-CN" altLang="en-US" dirty="0"/>
              <a:t>通过让节点在活动状态和睡眠状态之间交替来实现的</a:t>
            </a:r>
            <a:endParaRPr lang="en-US" altLang="zh-CN" dirty="0"/>
          </a:p>
          <a:p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zh-CN" altLang="en-US" dirty="0"/>
              <a:t>需要</a:t>
            </a:r>
            <a:r>
              <a:rPr lang="zh-CN" altLang="zh-CN" dirty="0"/>
              <a:t>在发送节点和接收节点之间找到同处于活动状态的“汇合点”</a:t>
            </a:r>
            <a:endParaRPr lang="en-US" altLang="zh-CN" dirty="0"/>
          </a:p>
          <a:p>
            <a:r>
              <a:rPr lang="zh-CN" altLang="en-US" dirty="0"/>
              <a:t>解决</a:t>
            </a:r>
            <a:endParaRPr lang="en-US" altLang="zh-CN" dirty="0"/>
          </a:p>
          <a:p>
            <a:pPr lvl="1"/>
            <a:r>
              <a:rPr lang="zh-CN" altLang="en-US" dirty="0"/>
              <a:t>基于同步机制的</a:t>
            </a:r>
            <a:r>
              <a:rPr lang="en-US" altLang="zh-CN" dirty="0"/>
              <a:t>MAC</a:t>
            </a:r>
          </a:p>
          <a:p>
            <a:pPr lvl="2"/>
            <a:r>
              <a:rPr lang="zh-CN" altLang="en-US" dirty="0"/>
              <a:t>节点协同活动和睡眠状态以便对齐其活动时间</a:t>
            </a:r>
            <a:endParaRPr lang="en-US" altLang="zh-CN" dirty="0"/>
          </a:p>
          <a:p>
            <a:pPr lvl="2"/>
            <a:r>
              <a:rPr lang="zh-CN" altLang="en-US" dirty="0"/>
              <a:t>会带来额外的同步开销</a:t>
            </a:r>
            <a:endParaRPr lang="en-US" altLang="zh-CN" dirty="0"/>
          </a:p>
          <a:p>
            <a:pPr lvl="1"/>
            <a:r>
              <a:rPr lang="zh-CN" altLang="en-US" dirty="0"/>
              <a:t>基于异步机制的</a:t>
            </a:r>
            <a:r>
              <a:rPr lang="en-US" altLang="zh-CN" dirty="0"/>
              <a:t>MAC</a:t>
            </a:r>
          </a:p>
          <a:p>
            <a:pPr lvl="2"/>
            <a:r>
              <a:rPr lang="zh-CN" altLang="en-US" dirty="0"/>
              <a:t>发送方发起</a:t>
            </a:r>
            <a:r>
              <a:rPr lang="en-US" altLang="zh-CN" dirty="0"/>
              <a:t>MAC</a:t>
            </a:r>
            <a:r>
              <a:rPr lang="zh-CN" altLang="zh-CN" dirty="0"/>
              <a:t>（</a:t>
            </a:r>
            <a:r>
              <a:rPr lang="en-US" altLang="zh-CN" dirty="0"/>
              <a:t>Sender-initiated MAC</a:t>
            </a:r>
            <a:r>
              <a:rPr lang="zh-CN" altLang="zh-CN" dirty="0"/>
              <a:t>）</a:t>
            </a:r>
            <a:endParaRPr lang="en-US" altLang="zh-CN" dirty="0"/>
          </a:p>
          <a:p>
            <a:pPr lvl="3"/>
            <a:r>
              <a:rPr lang="zh-CN" altLang="en-US" dirty="0"/>
              <a:t>基本技术：前导码采样</a:t>
            </a:r>
            <a:endParaRPr lang="en-US" altLang="zh-CN" dirty="0"/>
          </a:p>
          <a:p>
            <a:pPr lvl="2"/>
            <a:r>
              <a:rPr lang="zh-CN" altLang="en-US" dirty="0"/>
              <a:t>接收方发起</a:t>
            </a:r>
            <a:r>
              <a:rPr lang="en-US" altLang="zh-CN" dirty="0"/>
              <a:t>MAC</a:t>
            </a:r>
            <a:r>
              <a:rPr lang="zh-CN" altLang="zh-CN" dirty="0"/>
              <a:t>（</a:t>
            </a:r>
            <a:r>
              <a:rPr lang="en-US" altLang="zh-CN" dirty="0"/>
              <a:t>Receiver-initiated MAC</a:t>
            </a:r>
            <a:r>
              <a:rPr lang="zh-CN" altLang="zh-CN" dirty="0"/>
              <a:t>）</a:t>
            </a:r>
            <a:endParaRPr lang="en-US" altLang="zh-CN" dirty="0"/>
          </a:p>
          <a:p>
            <a:pPr lvl="3"/>
            <a:r>
              <a:rPr lang="zh-CN" altLang="en-US" dirty="0"/>
              <a:t>持续监听信道，等待接收方发送信标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5964B1FE-7898-44B7-802A-4F584EA00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同步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S-MAC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基本模式</a:t>
            </a:r>
            <a:endParaRPr lang="en-US" altLang="zh-CN" dirty="0"/>
          </a:p>
          <a:p>
            <a:pPr lvl="1"/>
            <a:r>
              <a:rPr lang="zh-CN" altLang="en-US" dirty="0"/>
              <a:t>节点与邻居节点同步苏醒和睡眠时间，并在苏醒时间内传输数据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冲突避免</a:t>
            </a:r>
            <a:endParaRPr lang="en-US" altLang="zh-CN" dirty="0"/>
          </a:p>
          <a:p>
            <a:pPr lvl="1"/>
            <a:r>
              <a:rPr lang="zh-CN" altLang="zh-CN" dirty="0"/>
              <a:t>多个邻居同时想要与同一节点通话，需要争夺介质访问权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5" name="Gruppieren 21"/>
          <p:cNvGrpSpPr/>
          <p:nvPr/>
        </p:nvGrpSpPr>
        <p:grpSpPr>
          <a:xfrm>
            <a:off x="2341443" y="1777535"/>
            <a:ext cx="5778357" cy="1132375"/>
            <a:chOff x="1490775" y="3458306"/>
            <a:chExt cx="5778357" cy="1132375"/>
          </a:xfrm>
        </p:grpSpPr>
        <p:cxnSp>
          <p:nvCxnSpPr>
            <p:cNvPr id="6" name="Gerade Verbindung mit Pfeil 6"/>
            <p:cNvCxnSpPr/>
            <p:nvPr/>
          </p:nvCxnSpPr>
          <p:spPr bwMode="auto">
            <a:xfrm>
              <a:off x="1490775" y="4289576"/>
              <a:ext cx="5271752" cy="1262"/>
            </a:xfrm>
            <a:prstGeom prst="straightConnector1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" name="Gerade Verbindung 11"/>
            <p:cNvCxnSpPr/>
            <p:nvPr/>
          </p:nvCxnSpPr>
          <p:spPr bwMode="auto">
            <a:xfrm rot="5400000">
              <a:off x="1606943" y="3838478"/>
              <a:ext cx="442920" cy="794"/>
            </a:xfrm>
            <a:prstGeom prst="line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Rechteck 7"/>
            <p:cNvSpPr/>
            <p:nvPr/>
          </p:nvSpPr>
          <p:spPr bwMode="auto">
            <a:xfrm>
              <a:off x="1818752" y="3949002"/>
              <a:ext cx="924448" cy="331596"/>
            </a:xfrm>
            <a:prstGeom prst="rect">
              <a:avLst/>
            </a:prstGeom>
            <a:solidFill>
              <a:srgbClr val="A6C1F8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listen</a:t>
              </a:r>
            </a:p>
          </p:txBody>
        </p:sp>
        <p:cxnSp>
          <p:nvCxnSpPr>
            <p:cNvPr id="9" name="Gerade Verbindung 13"/>
            <p:cNvCxnSpPr/>
            <p:nvPr/>
          </p:nvCxnSpPr>
          <p:spPr bwMode="auto">
            <a:xfrm rot="5400000">
              <a:off x="3978354" y="3838478"/>
              <a:ext cx="442920" cy="794"/>
            </a:xfrm>
            <a:prstGeom prst="line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Textfeld 14"/>
            <p:cNvSpPr txBox="1"/>
            <p:nvPr/>
          </p:nvSpPr>
          <p:spPr>
            <a:xfrm>
              <a:off x="3205426" y="39389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睡眠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1" name="Textfeld 15"/>
            <p:cNvSpPr txBox="1"/>
            <p:nvPr/>
          </p:nvSpPr>
          <p:spPr>
            <a:xfrm>
              <a:off x="5647175" y="39389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睡眠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cxnSp>
          <p:nvCxnSpPr>
            <p:cNvPr id="12" name="Gerade Verbindung mit Pfeil 17"/>
            <p:cNvCxnSpPr/>
            <p:nvPr/>
          </p:nvCxnSpPr>
          <p:spPr bwMode="auto">
            <a:xfrm>
              <a:off x="1828800" y="3758084"/>
              <a:ext cx="2351314" cy="1588"/>
            </a:xfrm>
            <a:prstGeom prst="straightConnector1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3" name="Rechteck 18"/>
            <p:cNvSpPr/>
            <p:nvPr/>
          </p:nvSpPr>
          <p:spPr bwMode="auto">
            <a:xfrm>
              <a:off x="4190163" y="3949002"/>
              <a:ext cx="924448" cy="331596"/>
            </a:xfrm>
            <a:prstGeom prst="rect">
              <a:avLst/>
            </a:prstGeom>
            <a:solidFill>
              <a:srgbClr val="A6C1F8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listen</a:t>
              </a:r>
            </a:p>
          </p:txBody>
        </p:sp>
        <p:sp>
          <p:nvSpPr>
            <p:cNvPr id="14" name="Textfeld 19"/>
            <p:cNvSpPr txBox="1"/>
            <p:nvPr/>
          </p:nvSpPr>
          <p:spPr>
            <a:xfrm>
              <a:off x="2644394" y="3458306"/>
              <a:ext cx="8210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Pe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riod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5" name="Textfeld 20"/>
            <p:cNvSpPr txBox="1"/>
            <p:nvPr/>
          </p:nvSpPr>
          <p:spPr>
            <a:xfrm>
              <a:off x="6643640" y="4252127"/>
              <a:ext cx="6254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time</a:t>
              </a:r>
            </a:p>
          </p:txBody>
        </p:sp>
      </p:grpSp>
      <p:grpSp>
        <p:nvGrpSpPr>
          <p:cNvPr id="16" name="Gruppieren 21"/>
          <p:cNvGrpSpPr/>
          <p:nvPr/>
        </p:nvGrpSpPr>
        <p:grpSpPr>
          <a:xfrm>
            <a:off x="2305179" y="3240990"/>
            <a:ext cx="5271752" cy="351884"/>
            <a:chOff x="1490775" y="3938954"/>
            <a:chExt cx="5271752" cy="351884"/>
          </a:xfrm>
        </p:grpSpPr>
        <p:cxnSp>
          <p:nvCxnSpPr>
            <p:cNvPr id="17" name="Gerade Verbindung mit Pfeil 6"/>
            <p:cNvCxnSpPr/>
            <p:nvPr/>
          </p:nvCxnSpPr>
          <p:spPr bwMode="auto">
            <a:xfrm>
              <a:off x="1490775" y="4289576"/>
              <a:ext cx="5271752" cy="1262"/>
            </a:xfrm>
            <a:prstGeom prst="straightConnector1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feld 14"/>
            <p:cNvSpPr txBox="1"/>
            <p:nvPr/>
          </p:nvSpPr>
          <p:spPr>
            <a:xfrm>
              <a:off x="3205426" y="39389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睡眠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9" name="Textfeld 15"/>
            <p:cNvSpPr txBox="1"/>
            <p:nvPr/>
          </p:nvSpPr>
          <p:spPr>
            <a:xfrm>
              <a:off x="5647175" y="39389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睡眠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2768815" y="3250522"/>
            <a:ext cx="685800" cy="341090"/>
          </a:xfrm>
          <a:prstGeom prst="rect">
            <a:avLst/>
          </a:prstGeom>
          <a:solidFill>
            <a:srgbClr val="F4EE00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rPr>
              <a:t>D1</a:t>
            </a:r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5197351" y="3267768"/>
            <a:ext cx="685800" cy="323844"/>
          </a:xfrm>
          <a:prstGeom prst="rect">
            <a:avLst/>
          </a:prstGeom>
          <a:solidFill>
            <a:srgbClr val="F4EE00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rPr>
              <a:t>D2</a:t>
            </a:r>
          </a:p>
        </p:txBody>
      </p:sp>
      <p:grpSp>
        <p:nvGrpSpPr>
          <p:cNvPr id="22" name="Gruppieren 21"/>
          <p:cNvGrpSpPr/>
          <p:nvPr/>
        </p:nvGrpSpPr>
        <p:grpSpPr>
          <a:xfrm>
            <a:off x="2305179" y="4136882"/>
            <a:ext cx="5271752" cy="351884"/>
            <a:chOff x="1490775" y="3938954"/>
            <a:chExt cx="5271752" cy="351884"/>
          </a:xfrm>
        </p:grpSpPr>
        <p:cxnSp>
          <p:nvCxnSpPr>
            <p:cNvPr id="23" name="Gerade Verbindung mit Pfeil 6"/>
            <p:cNvCxnSpPr/>
            <p:nvPr/>
          </p:nvCxnSpPr>
          <p:spPr bwMode="auto">
            <a:xfrm>
              <a:off x="1490775" y="4289576"/>
              <a:ext cx="5271752" cy="1262"/>
            </a:xfrm>
            <a:prstGeom prst="straightConnector1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feld 14"/>
            <p:cNvSpPr txBox="1"/>
            <p:nvPr/>
          </p:nvSpPr>
          <p:spPr>
            <a:xfrm>
              <a:off x="3205426" y="39389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睡眠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5" name="Textfeld 15"/>
            <p:cNvSpPr txBox="1"/>
            <p:nvPr/>
          </p:nvSpPr>
          <p:spPr>
            <a:xfrm>
              <a:off x="5647175" y="39389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睡眠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768815" y="4146414"/>
            <a:ext cx="685800" cy="341090"/>
          </a:xfrm>
          <a:prstGeom prst="rect">
            <a:avLst/>
          </a:prstGeom>
          <a:solidFill>
            <a:srgbClr val="FF9966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rPr>
              <a:t>D1</a:t>
            </a: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197351" y="4163660"/>
            <a:ext cx="685800" cy="323844"/>
          </a:xfrm>
          <a:prstGeom prst="rect">
            <a:avLst/>
          </a:prstGeom>
          <a:solidFill>
            <a:srgbClr val="FF9966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de-DE" sz="1600" kern="0" baseline="0" dirty="0">
                <a:solidFill>
                  <a:srgbClr val="000000"/>
                </a:solidFill>
                <a:latin typeface="+mj-ea"/>
                <a:ea typeface="+mj-ea"/>
              </a:rPr>
              <a:t>D2</a:t>
            </a: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5725078" y="4590063"/>
            <a:ext cx="245885" cy="381000"/>
          </a:xfrm>
          <a:prstGeom prst="rect">
            <a:avLst/>
          </a:prstGeom>
          <a:solidFill>
            <a:srgbClr val="F4EE00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de-DE" sz="1600" kern="0" baseline="0" dirty="0">
                <a:solidFill>
                  <a:srgbClr val="000000"/>
                </a:solidFill>
                <a:latin typeface="+mj-ea"/>
                <a:ea typeface="+mj-ea"/>
              </a:rPr>
              <a:t>D</a:t>
            </a:r>
          </a:p>
        </p:txBody>
      </p:sp>
      <p:sp>
        <p:nvSpPr>
          <p:cNvPr id="29" name="Textfeld 14"/>
          <p:cNvSpPr txBox="1"/>
          <p:nvPr/>
        </p:nvSpPr>
        <p:spPr>
          <a:xfrm>
            <a:off x="6024268" y="461128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发送数据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7195118" y="4590063"/>
            <a:ext cx="245885" cy="381000"/>
          </a:xfrm>
          <a:prstGeom prst="rect">
            <a:avLst/>
          </a:prstGeom>
          <a:solidFill>
            <a:srgbClr val="FF9966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DE" sz="1600" kern="0" baseline="0" dirty="0">
                <a:solidFill>
                  <a:srgbClr val="000000"/>
                </a:solidFill>
                <a:latin typeface="+mj-ea"/>
                <a:ea typeface="+mj-ea"/>
              </a:rPr>
              <a:t>D</a:t>
            </a: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1" name="Textfeld 14"/>
          <p:cNvSpPr txBox="1"/>
          <p:nvPr/>
        </p:nvSpPr>
        <p:spPr>
          <a:xfrm>
            <a:off x="7494308" y="461128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接收数据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2" name="Textfeld 14"/>
          <p:cNvSpPr txBox="1"/>
          <p:nvPr/>
        </p:nvSpPr>
        <p:spPr>
          <a:xfrm>
            <a:off x="1341134" y="3391217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baseline="0" noProof="0" dirty="0">
                <a:solidFill>
                  <a:srgbClr val="000000"/>
                </a:solidFill>
                <a:latin typeface="+mj-ea"/>
                <a:ea typeface="+mj-ea"/>
              </a:rPr>
              <a:t>发送节点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3" name="Textfeld 14"/>
          <p:cNvSpPr txBox="1"/>
          <p:nvPr/>
        </p:nvSpPr>
        <p:spPr>
          <a:xfrm>
            <a:off x="1327508" y="4218009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baseline="0" noProof="0" dirty="0">
                <a:solidFill>
                  <a:srgbClr val="000000"/>
                </a:solidFill>
                <a:latin typeface="+mj-ea"/>
                <a:ea typeface="+mj-ea"/>
              </a:rPr>
              <a:t>接收节点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4" name="Textfeld 14"/>
          <p:cNvSpPr txBox="1"/>
          <p:nvPr/>
        </p:nvSpPr>
        <p:spPr>
          <a:xfrm>
            <a:off x="1547921" y="2349809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rPr>
              <a:t>调度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9" name="灯片编号占位符 4">
            <a:extLst>
              <a:ext uri="{FF2B5EF4-FFF2-40B4-BE49-F238E27FC236}">
                <a16:creationId xmlns:a16="http://schemas.microsoft.com/office/drawing/2014/main" id="{4361B503-E43D-4986-A80E-685ADCF13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70258-6D7C-4E33-8CCE-28D6ACC7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同步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S-MAC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0950E1-CBD8-4563-8564-B565B8C29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S-MAC</a:t>
            </a:r>
            <a:r>
              <a:rPr lang="zh-CN" altLang="en-US" dirty="0"/>
              <a:t>采用与</a:t>
            </a:r>
            <a:r>
              <a:rPr lang="en-US" altLang="zh-CN" dirty="0"/>
              <a:t>802.11</a:t>
            </a:r>
            <a:r>
              <a:rPr lang="zh-CN" altLang="en-US" dirty="0"/>
              <a:t>类似的冲突避免机制</a:t>
            </a:r>
            <a:endParaRPr lang="en-US" altLang="zh-CN" dirty="0"/>
          </a:p>
          <a:p>
            <a:pPr lvl="1"/>
            <a:r>
              <a:rPr lang="zh-CN" altLang="zh-CN" dirty="0"/>
              <a:t>虚拟载波侦听</a:t>
            </a:r>
            <a:endParaRPr lang="en-US" altLang="zh-CN" dirty="0"/>
          </a:p>
          <a:p>
            <a:pPr lvl="2"/>
            <a:r>
              <a:rPr lang="zh-CN" altLang="zh-CN" dirty="0"/>
              <a:t>每个发送的数据包中都含有一个记录持续时间的字段</a:t>
            </a:r>
            <a:endParaRPr lang="en-US" altLang="zh-CN" dirty="0"/>
          </a:p>
          <a:p>
            <a:pPr lvl="2"/>
            <a:r>
              <a:rPr lang="zh-CN" altLang="zh-CN" dirty="0"/>
              <a:t>节点将该持续时间记录在网络分配向量（</a:t>
            </a:r>
            <a:r>
              <a:rPr lang="en-US" altLang="zh-CN" dirty="0"/>
              <a:t>NAV</a:t>
            </a:r>
            <a:r>
              <a:rPr lang="zh-CN" altLang="zh-CN" dirty="0"/>
              <a:t>）中</a:t>
            </a:r>
            <a:r>
              <a:rPr lang="zh-CN" altLang="en-US" dirty="0"/>
              <a:t>，并随时间递减</a:t>
            </a:r>
            <a:endParaRPr lang="en-US" altLang="zh-CN" dirty="0"/>
          </a:p>
          <a:p>
            <a:pPr lvl="2"/>
            <a:r>
              <a:rPr lang="zh-CN" altLang="zh-CN" dirty="0"/>
              <a:t>在节点开始传输之前，先查看</a:t>
            </a:r>
            <a:r>
              <a:rPr lang="en-US" altLang="zh-CN" dirty="0"/>
              <a:t>NAV</a:t>
            </a:r>
            <a:r>
              <a:rPr lang="zh-CN" altLang="zh-CN" dirty="0"/>
              <a:t>，如果其值不为零，则继续等待</a:t>
            </a:r>
            <a:endParaRPr lang="en-US" altLang="zh-CN" dirty="0"/>
          </a:p>
          <a:p>
            <a:pPr lvl="1"/>
            <a:r>
              <a:rPr lang="zh-CN" altLang="en-US" dirty="0"/>
              <a:t>物理载波侦听</a:t>
            </a:r>
            <a:endParaRPr lang="en-US" altLang="zh-CN" dirty="0"/>
          </a:p>
          <a:p>
            <a:pPr lvl="2"/>
            <a:r>
              <a:rPr lang="zh-CN" altLang="zh-CN" dirty="0"/>
              <a:t>在物理层执行，通过监听信道能量以发现可能正在进行的传输行为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RTS/CTS</a:t>
            </a:r>
            <a:r>
              <a:rPr lang="zh-CN" altLang="zh-CN" dirty="0">
                <a:solidFill>
                  <a:srgbClr val="C00000"/>
                </a:solidFill>
              </a:rPr>
              <a:t>机制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r>
              <a:rPr lang="zh-CN" altLang="en-US" dirty="0"/>
              <a:t>隐藏</a:t>
            </a:r>
            <a:r>
              <a:rPr lang="en-US" altLang="zh-CN" dirty="0"/>
              <a:t>/</a:t>
            </a:r>
            <a:r>
              <a:rPr lang="zh-CN" altLang="en-US" dirty="0"/>
              <a:t>暴露终端问题</a:t>
            </a:r>
          </a:p>
          <a:p>
            <a:pPr lvl="2"/>
            <a:r>
              <a:rPr lang="zh-CN" altLang="en-US" dirty="0"/>
              <a:t>减少空闲侦听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0DDA6B47-DE9B-410D-810C-5936014A7014}"/>
              </a:ext>
            </a:extLst>
          </p:cNvPr>
          <p:cNvGrpSpPr/>
          <p:nvPr/>
        </p:nvGrpSpPr>
        <p:grpSpPr>
          <a:xfrm>
            <a:off x="3223368" y="4359202"/>
            <a:ext cx="5824380" cy="2356424"/>
            <a:chOff x="826033" y="4462972"/>
            <a:chExt cx="5824380" cy="2616013"/>
          </a:xfrm>
        </p:grpSpPr>
        <p:grpSp>
          <p:nvGrpSpPr>
            <p:cNvPr id="8" name="Gruppieren 21">
              <a:extLst>
                <a:ext uri="{FF2B5EF4-FFF2-40B4-BE49-F238E27FC236}">
                  <a16:creationId xmlns:a16="http://schemas.microsoft.com/office/drawing/2014/main" id="{20CDF15E-A1E0-4AE5-869E-5E2884B51BD2}"/>
                </a:ext>
              </a:extLst>
            </p:cNvPr>
            <p:cNvGrpSpPr/>
            <p:nvPr/>
          </p:nvGrpSpPr>
          <p:grpSpPr>
            <a:xfrm>
              <a:off x="1936124" y="4639932"/>
              <a:ext cx="4714289" cy="378373"/>
              <a:chOff x="1490775" y="3911203"/>
              <a:chExt cx="4714289" cy="378373"/>
            </a:xfrm>
          </p:grpSpPr>
          <p:cxnSp>
            <p:nvCxnSpPr>
              <p:cNvPr id="9" name="Gerade Verbindung mit Pfeil 6">
                <a:extLst>
                  <a:ext uri="{FF2B5EF4-FFF2-40B4-BE49-F238E27FC236}">
                    <a16:creationId xmlns:a16="http://schemas.microsoft.com/office/drawing/2014/main" id="{7912C816-D935-4548-ABF7-9D9CCE9E579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490775" y="4289576"/>
                <a:ext cx="4714289" cy="0"/>
              </a:xfrm>
              <a:prstGeom prst="straightConnector1">
                <a:avLst/>
              </a:prstGeom>
              <a:solidFill>
                <a:srgbClr val="BBE0E3"/>
              </a:solidFill>
              <a:ln w="158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Textfeld 15">
                <a:extLst>
                  <a:ext uri="{FF2B5EF4-FFF2-40B4-BE49-F238E27FC236}">
                    <a16:creationId xmlns:a16="http://schemas.microsoft.com/office/drawing/2014/main" id="{5C0145EA-FC1D-4A07-9526-2A0B67ABFDD2}"/>
                  </a:ext>
                </a:extLst>
              </p:cNvPr>
              <p:cNvSpPr txBox="1"/>
              <p:nvPr/>
            </p:nvSpPr>
            <p:spPr>
              <a:xfrm>
                <a:off x="5047721" y="3911203"/>
                <a:ext cx="595035" cy="375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睡眠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C61FF2F8-9581-48BD-95D5-1C205F853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959" y="4463485"/>
              <a:ext cx="769201" cy="555333"/>
            </a:xfrm>
            <a:prstGeom prst="rect">
              <a:avLst/>
            </a:prstGeom>
            <a:solidFill>
              <a:srgbClr val="F4EE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D1</a:t>
              </a:r>
            </a:p>
          </p:txBody>
        </p:sp>
        <p:grpSp>
          <p:nvGrpSpPr>
            <p:cNvPr id="12" name="Gruppieren 21">
              <a:extLst>
                <a:ext uri="{FF2B5EF4-FFF2-40B4-BE49-F238E27FC236}">
                  <a16:creationId xmlns:a16="http://schemas.microsoft.com/office/drawing/2014/main" id="{4F60EE58-6A33-4D65-9E4E-42E3DFF1D82F}"/>
                </a:ext>
              </a:extLst>
            </p:cNvPr>
            <p:cNvGrpSpPr/>
            <p:nvPr/>
          </p:nvGrpSpPr>
          <p:grpSpPr>
            <a:xfrm>
              <a:off x="1936124" y="5708771"/>
              <a:ext cx="4714289" cy="375850"/>
              <a:chOff x="1490775" y="3791395"/>
              <a:chExt cx="4714289" cy="375850"/>
            </a:xfrm>
          </p:grpSpPr>
          <p:cxnSp>
            <p:nvCxnSpPr>
              <p:cNvPr id="13" name="Gerade Verbindung mit Pfeil 6">
                <a:extLst>
                  <a:ext uri="{FF2B5EF4-FFF2-40B4-BE49-F238E27FC236}">
                    <a16:creationId xmlns:a16="http://schemas.microsoft.com/office/drawing/2014/main" id="{6A61C9F2-79BB-479E-8C37-13D022DDBA4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490775" y="4142650"/>
                <a:ext cx="4714289" cy="0"/>
              </a:xfrm>
              <a:prstGeom prst="straightConnector1">
                <a:avLst/>
              </a:prstGeom>
              <a:solidFill>
                <a:srgbClr val="BBE0E3"/>
              </a:solidFill>
              <a:ln w="158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Textfeld 15">
                <a:extLst>
                  <a:ext uri="{FF2B5EF4-FFF2-40B4-BE49-F238E27FC236}">
                    <a16:creationId xmlns:a16="http://schemas.microsoft.com/office/drawing/2014/main" id="{013723F5-4883-4206-93C2-B081486566BE}"/>
                  </a:ext>
                </a:extLst>
              </p:cNvPr>
              <p:cNvSpPr txBox="1"/>
              <p:nvPr/>
            </p:nvSpPr>
            <p:spPr>
              <a:xfrm>
                <a:off x="4936337" y="3791395"/>
                <a:ext cx="595035" cy="3758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睡眠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1209C92C-63C5-4859-A628-B53B74601E4D}"/>
                </a:ext>
              </a:extLst>
            </p:cNvPr>
            <p:cNvSpPr txBox="1"/>
            <p:nvPr/>
          </p:nvSpPr>
          <p:spPr>
            <a:xfrm>
              <a:off x="828753" y="4790511"/>
              <a:ext cx="1255472" cy="375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发送节点</a:t>
              </a:r>
              <a:r>
                <a:rPr kumimoji="0" lang="en-US" altLang="zh-CN" sz="1600" b="1" i="0" u="none" strike="noStrike" kern="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S1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6" name="Textfeld 14">
              <a:extLst>
                <a:ext uri="{FF2B5EF4-FFF2-40B4-BE49-F238E27FC236}">
                  <a16:creationId xmlns:a16="http://schemas.microsoft.com/office/drawing/2014/main" id="{373C8CF9-4A6C-42E4-B70F-C5C0860B9575}"/>
                </a:ext>
              </a:extLst>
            </p:cNvPr>
            <p:cNvSpPr txBox="1"/>
            <p:nvPr/>
          </p:nvSpPr>
          <p:spPr>
            <a:xfrm>
              <a:off x="826033" y="5803530"/>
              <a:ext cx="1005403" cy="375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baseline="0" noProof="0" dirty="0">
                  <a:solidFill>
                    <a:srgbClr val="000000"/>
                  </a:solidFill>
                  <a:latin typeface="+mj-ea"/>
                  <a:ea typeface="+mj-ea"/>
                </a:rPr>
                <a:t>接收节点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17" name="Gruppieren 21">
              <a:extLst>
                <a:ext uri="{FF2B5EF4-FFF2-40B4-BE49-F238E27FC236}">
                  <a16:creationId xmlns:a16="http://schemas.microsoft.com/office/drawing/2014/main" id="{A6626215-6003-43F1-96EC-7EA243F7A044}"/>
                </a:ext>
              </a:extLst>
            </p:cNvPr>
            <p:cNvGrpSpPr/>
            <p:nvPr/>
          </p:nvGrpSpPr>
          <p:grpSpPr>
            <a:xfrm>
              <a:off x="1936124" y="6459432"/>
              <a:ext cx="4714289" cy="472951"/>
              <a:chOff x="1490775" y="3402528"/>
              <a:chExt cx="4714289" cy="472951"/>
            </a:xfrm>
          </p:grpSpPr>
          <p:cxnSp>
            <p:nvCxnSpPr>
              <p:cNvPr id="18" name="Gerade Verbindung mit Pfeil 6">
                <a:extLst>
                  <a:ext uri="{FF2B5EF4-FFF2-40B4-BE49-F238E27FC236}">
                    <a16:creationId xmlns:a16="http://schemas.microsoft.com/office/drawing/2014/main" id="{5BEF17AC-CB78-4FE9-A490-119BEB39417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490775" y="3875479"/>
                <a:ext cx="4714289" cy="0"/>
              </a:xfrm>
              <a:prstGeom prst="straightConnector1">
                <a:avLst/>
              </a:prstGeom>
              <a:solidFill>
                <a:srgbClr val="BBE0E3"/>
              </a:solidFill>
              <a:ln w="158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" name="Textfeld 14">
                <a:extLst>
                  <a:ext uri="{FF2B5EF4-FFF2-40B4-BE49-F238E27FC236}">
                    <a16:creationId xmlns:a16="http://schemas.microsoft.com/office/drawing/2014/main" id="{8F38CB16-7BA1-4850-B10E-DFB65DB69067}"/>
                  </a:ext>
                </a:extLst>
              </p:cNvPr>
              <p:cNvSpPr txBox="1"/>
              <p:nvPr/>
            </p:nvSpPr>
            <p:spPr>
              <a:xfrm>
                <a:off x="2402864" y="3402528"/>
                <a:ext cx="595035" cy="3758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kern="0" baseline="0" dirty="0">
                    <a:solidFill>
                      <a:srgbClr val="000000"/>
                    </a:solidFill>
                    <a:latin typeface="+mj-ea"/>
                    <a:ea typeface="+mj-ea"/>
                  </a:rPr>
                  <a:t>睡眠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20" name="Textfeld 14">
              <a:extLst>
                <a:ext uri="{FF2B5EF4-FFF2-40B4-BE49-F238E27FC236}">
                  <a16:creationId xmlns:a16="http://schemas.microsoft.com/office/drawing/2014/main" id="{2EF370C4-EECA-445D-B0DB-E0E2F1AB97C4}"/>
                </a:ext>
              </a:extLst>
            </p:cNvPr>
            <p:cNvSpPr txBox="1"/>
            <p:nvPr/>
          </p:nvSpPr>
          <p:spPr>
            <a:xfrm>
              <a:off x="826033" y="6703135"/>
              <a:ext cx="1255472" cy="375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baseline="0" noProof="0" dirty="0">
                  <a:solidFill>
                    <a:srgbClr val="000000"/>
                  </a:solidFill>
                  <a:latin typeface="+mj-ea"/>
                  <a:ea typeface="+mj-ea"/>
                </a:rPr>
                <a:t>发送节点</a:t>
              </a:r>
              <a:r>
                <a:rPr lang="en-US" altLang="zh-CN" sz="1600" b="1" kern="0" baseline="0" noProof="0" dirty="0">
                  <a:solidFill>
                    <a:srgbClr val="000000"/>
                  </a:solidFill>
                  <a:latin typeface="+mj-ea"/>
                  <a:ea typeface="+mj-ea"/>
                </a:rPr>
                <a:t>S2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FFCA0DD-6971-48D6-A5C8-CE5624D53F78}"/>
                </a:ext>
              </a:extLst>
            </p:cNvPr>
            <p:cNvGrpSpPr/>
            <p:nvPr/>
          </p:nvGrpSpPr>
          <p:grpSpPr>
            <a:xfrm>
              <a:off x="2078770" y="4464764"/>
              <a:ext cx="307777" cy="553539"/>
              <a:chOff x="3306838" y="5579261"/>
              <a:chExt cx="307777" cy="553539"/>
            </a:xfrm>
            <a:solidFill>
              <a:srgbClr val="92D050"/>
            </a:solidFill>
          </p:grpSpPr>
          <p:sp>
            <p:nvSpPr>
              <p:cNvPr id="22" name="Rectangle 19">
                <a:extLst>
                  <a:ext uri="{FF2B5EF4-FFF2-40B4-BE49-F238E27FC236}">
                    <a16:creationId xmlns:a16="http://schemas.microsoft.com/office/drawing/2014/main" id="{80FBFF78-FBAC-4BD3-871D-2E9B2CB3F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0056" y="5609740"/>
                <a:ext cx="241343" cy="457201"/>
              </a:xfrm>
              <a:prstGeom prst="rect">
                <a:avLst/>
              </a:prstGeom>
              <a:solidFill>
                <a:srgbClr val="F4EE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de-DE" sz="1600" kern="0" baseline="0" dirty="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Textfeld 14">
                <a:extLst>
                  <a:ext uri="{FF2B5EF4-FFF2-40B4-BE49-F238E27FC236}">
                    <a16:creationId xmlns:a16="http://schemas.microsoft.com/office/drawing/2014/main" id="{473FECEB-E1D5-4C65-AE71-6D97AAC0DB3F}"/>
                  </a:ext>
                </a:extLst>
              </p:cNvPr>
              <p:cNvSpPr txBox="1"/>
              <p:nvPr/>
            </p:nvSpPr>
            <p:spPr>
              <a:xfrm rot="16200000">
                <a:off x="3183957" y="5702142"/>
                <a:ext cx="553539" cy="307777"/>
              </a:xfrm>
              <a:prstGeom prst="rect">
                <a:avLst/>
              </a:prstGeom>
              <a:solidFill>
                <a:srgbClr val="F4EE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defPPr>
                  <a:defRPr lang="en-US"/>
                </a:defPPr>
                <a:lvl1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</a:defRPr>
                </a:lvl1pPr>
              </a:lstStyle>
              <a:p>
                <a:r>
                  <a:rPr lang="en-US" dirty="0">
                    <a:latin typeface="+mj-ea"/>
                    <a:ea typeface="+mj-ea"/>
                  </a:rPr>
                  <a:t>RTS</a:t>
                </a: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C677E63-9994-4DD0-8951-E5E3450FFC6E}"/>
                </a:ext>
              </a:extLst>
            </p:cNvPr>
            <p:cNvGrpSpPr/>
            <p:nvPr/>
          </p:nvGrpSpPr>
          <p:grpSpPr>
            <a:xfrm>
              <a:off x="2390737" y="4464748"/>
              <a:ext cx="307777" cy="553556"/>
              <a:chOff x="3306838" y="5579261"/>
              <a:chExt cx="307777" cy="553556"/>
            </a:xfrm>
            <a:solidFill>
              <a:srgbClr val="92D050"/>
            </a:solidFill>
          </p:grpSpPr>
          <p:sp>
            <p:nvSpPr>
              <p:cNvPr id="25" name="Rectangle 19">
                <a:extLst>
                  <a:ext uri="{FF2B5EF4-FFF2-40B4-BE49-F238E27FC236}">
                    <a16:creationId xmlns:a16="http://schemas.microsoft.com/office/drawing/2014/main" id="{C2113711-49DC-443B-8EFE-94FE40D5A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0056" y="5609740"/>
                <a:ext cx="241343" cy="457201"/>
              </a:xfrm>
              <a:prstGeom prst="rect">
                <a:avLst/>
              </a:prstGeom>
              <a:solidFill>
                <a:srgbClr val="F4EE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de-DE" sz="1600" kern="0" baseline="0" dirty="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6" name="Textfeld 14">
                <a:extLst>
                  <a:ext uri="{FF2B5EF4-FFF2-40B4-BE49-F238E27FC236}">
                    <a16:creationId xmlns:a16="http://schemas.microsoft.com/office/drawing/2014/main" id="{56705BBE-0A15-4758-839F-048643E88DCB}"/>
                  </a:ext>
                </a:extLst>
              </p:cNvPr>
              <p:cNvSpPr txBox="1"/>
              <p:nvPr/>
            </p:nvSpPr>
            <p:spPr>
              <a:xfrm rot="16200000">
                <a:off x="3183949" y="5702150"/>
                <a:ext cx="553556" cy="307777"/>
              </a:xfrm>
              <a:prstGeom prst="rect">
                <a:avLst/>
              </a:prstGeom>
              <a:solidFill>
                <a:srgbClr val="FF996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fontAlgn="auto">
                  <a:spcBef>
                    <a:spcPts val="0"/>
                  </a:spcBef>
                  <a:spcAft>
                    <a:spcPts val="0"/>
                  </a:spcAft>
                  <a:defRPr sz="1600" kern="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</a:defRPr>
                </a:lvl1pPr>
              </a:lstStyle>
              <a:p>
                <a:r>
                  <a:rPr lang="en-US" dirty="0">
                    <a:latin typeface="+mj-ea"/>
                    <a:ea typeface="+mj-ea"/>
                  </a:rPr>
                  <a:t>CTS</a:t>
                </a:r>
              </a:p>
            </p:txBody>
          </p:sp>
        </p:grp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01B73FC2-6C96-43F3-8833-E8C12D832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959" y="5496453"/>
              <a:ext cx="769201" cy="555333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de-DE" sz="1600" kern="0" baseline="0" dirty="0">
                  <a:solidFill>
                    <a:srgbClr val="000000"/>
                  </a:solidFill>
                  <a:latin typeface="+mj-ea"/>
                  <a:ea typeface="+mj-ea"/>
                </a:rPr>
                <a:t>D1</a:t>
              </a:r>
            </a:p>
          </p:txBody>
        </p:sp>
        <p:sp>
          <p:nvSpPr>
            <p:cNvPr id="30" name="Textfeld 14">
              <a:extLst>
                <a:ext uri="{FF2B5EF4-FFF2-40B4-BE49-F238E27FC236}">
                  <a16:creationId xmlns:a16="http://schemas.microsoft.com/office/drawing/2014/main" id="{2B51C9BC-E8A2-4D56-B159-F9D094D3F6C6}"/>
                </a:ext>
              </a:extLst>
            </p:cNvPr>
            <p:cNvSpPr txBox="1"/>
            <p:nvPr/>
          </p:nvSpPr>
          <p:spPr>
            <a:xfrm rot="16200000">
              <a:off x="1955889" y="5620618"/>
              <a:ext cx="553539" cy="307777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1600" kern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</a:defRPr>
              </a:lvl1pPr>
            </a:lstStyle>
            <a:p>
              <a:r>
                <a:rPr lang="en-US" dirty="0">
                  <a:latin typeface="+mj-ea"/>
                  <a:ea typeface="+mj-ea"/>
                </a:rPr>
                <a:t>RTS</a:t>
              </a:r>
            </a:p>
          </p:txBody>
        </p:sp>
        <p:sp>
          <p:nvSpPr>
            <p:cNvPr id="33" name="Textfeld 14">
              <a:extLst>
                <a:ext uri="{FF2B5EF4-FFF2-40B4-BE49-F238E27FC236}">
                  <a16:creationId xmlns:a16="http://schemas.microsoft.com/office/drawing/2014/main" id="{B7D56B13-A934-454D-A192-28B5935F4D27}"/>
                </a:ext>
              </a:extLst>
            </p:cNvPr>
            <p:cNvSpPr txBox="1"/>
            <p:nvPr/>
          </p:nvSpPr>
          <p:spPr>
            <a:xfrm rot="16200000">
              <a:off x="2267848" y="5620594"/>
              <a:ext cx="553556" cy="307777"/>
            </a:xfrm>
            <a:prstGeom prst="rect">
              <a:avLst/>
            </a:prstGeom>
            <a:solidFill>
              <a:srgbClr val="F4EE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</a:defRPr>
              </a:lvl1pPr>
            </a:lstStyle>
            <a:p>
              <a:r>
                <a:rPr lang="en-US" dirty="0">
                  <a:latin typeface="+mj-ea"/>
                  <a:ea typeface="+mj-ea"/>
                </a:rPr>
                <a:t>CTS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D54C2A6-9C9F-4FEC-A66D-CB561726CA4F}"/>
                </a:ext>
              </a:extLst>
            </p:cNvPr>
            <p:cNvCxnSpPr>
              <a:stCxn id="23" idx="1"/>
              <a:endCxn id="30" idx="3"/>
            </p:cNvCxnSpPr>
            <p:nvPr/>
          </p:nvCxnSpPr>
          <p:spPr bwMode="auto">
            <a:xfrm>
              <a:off x="2232659" y="5018303"/>
              <a:ext cx="0" cy="47943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5468FFE7-6156-441C-9362-D1D567BEFA13}"/>
                </a:ext>
              </a:extLst>
            </p:cNvPr>
            <p:cNvCxnSpPr>
              <a:stCxn id="33" idx="3"/>
              <a:endCxn id="26" idx="1"/>
            </p:cNvCxnSpPr>
            <p:nvPr/>
          </p:nvCxnSpPr>
          <p:spPr bwMode="auto">
            <a:xfrm flipV="1">
              <a:off x="2544627" y="5018304"/>
              <a:ext cx="0" cy="47940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CC54BBB6-0FEF-4C7B-A65B-818133950E79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 bwMode="auto">
            <a:xfrm>
              <a:off x="3085560" y="5018818"/>
              <a:ext cx="0" cy="4776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7" name="Textfeld 14">
              <a:extLst>
                <a:ext uri="{FF2B5EF4-FFF2-40B4-BE49-F238E27FC236}">
                  <a16:creationId xmlns:a16="http://schemas.microsoft.com/office/drawing/2014/main" id="{C94005E9-4F9E-44BE-BDA3-3FE41CB529A7}"/>
                </a:ext>
              </a:extLst>
            </p:cNvPr>
            <p:cNvSpPr txBox="1"/>
            <p:nvPr/>
          </p:nvSpPr>
          <p:spPr>
            <a:xfrm>
              <a:off x="2472108" y="5096807"/>
              <a:ext cx="691215" cy="375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600" kern="0" baseline="0" dirty="0">
                  <a:solidFill>
                    <a:srgbClr val="000000"/>
                  </a:solidFill>
                  <a:latin typeface="+mj-ea"/>
                  <a:ea typeface="+mj-ea"/>
                </a:rPr>
                <a:t>t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o S1</a:t>
              </a: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27132E3-2D86-4A89-9862-ED5CCB06EB88}"/>
                </a:ext>
              </a:extLst>
            </p:cNvPr>
            <p:cNvGrpSpPr/>
            <p:nvPr/>
          </p:nvGrpSpPr>
          <p:grpSpPr>
            <a:xfrm>
              <a:off x="3470160" y="4464764"/>
              <a:ext cx="307777" cy="553539"/>
              <a:chOff x="3306838" y="5579261"/>
              <a:chExt cx="307777" cy="553539"/>
            </a:xfrm>
            <a:solidFill>
              <a:srgbClr val="92D050"/>
            </a:solidFill>
          </p:grpSpPr>
          <p:sp>
            <p:nvSpPr>
              <p:cNvPr id="39" name="Rectangle 19">
                <a:extLst>
                  <a:ext uri="{FF2B5EF4-FFF2-40B4-BE49-F238E27FC236}">
                    <a16:creationId xmlns:a16="http://schemas.microsoft.com/office/drawing/2014/main" id="{69456C75-CF24-4916-BAE1-62217C36C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0056" y="5609740"/>
                <a:ext cx="241343" cy="457201"/>
              </a:xfrm>
              <a:prstGeom prst="rect">
                <a:avLst/>
              </a:prstGeom>
              <a:solidFill>
                <a:srgbClr val="FF996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de-DE" sz="1600" kern="0" baseline="0" dirty="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Textfeld 14">
                <a:extLst>
                  <a:ext uri="{FF2B5EF4-FFF2-40B4-BE49-F238E27FC236}">
                    <a16:creationId xmlns:a16="http://schemas.microsoft.com/office/drawing/2014/main" id="{3359330D-0D5D-430F-982A-09142DF5FC4E}"/>
                  </a:ext>
                </a:extLst>
              </p:cNvPr>
              <p:cNvSpPr txBox="1"/>
              <p:nvPr/>
            </p:nvSpPr>
            <p:spPr>
              <a:xfrm rot="16200000">
                <a:off x="3183957" y="5702142"/>
                <a:ext cx="553539" cy="307777"/>
              </a:xfrm>
              <a:prstGeom prst="rect">
                <a:avLst/>
              </a:prstGeom>
              <a:solidFill>
                <a:srgbClr val="FF996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fontAlgn="auto">
                  <a:spcBef>
                    <a:spcPts val="0"/>
                  </a:spcBef>
                  <a:spcAft>
                    <a:spcPts val="0"/>
                  </a:spcAft>
                  <a:defRPr sz="1600" kern="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</a:defRPr>
                </a:lvl1pPr>
              </a:lstStyle>
              <a:p>
                <a:r>
                  <a:rPr lang="en-US" dirty="0">
                    <a:latin typeface="+mj-ea"/>
                    <a:ea typeface="+mj-ea"/>
                  </a:rPr>
                  <a:t>ACK</a:t>
                </a:r>
              </a:p>
            </p:txBody>
          </p:sp>
        </p:grpSp>
        <p:sp>
          <p:nvSpPr>
            <p:cNvPr id="43" name="Textfeld 14">
              <a:extLst>
                <a:ext uri="{FF2B5EF4-FFF2-40B4-BE49-F238E27FC236}">
                  <a16:creationId xmlns:a16="http://schemas.microsoft.com/office/drawing/2014/main" id="{FE8CA20B-E040-474A-9374-3247E201AC11}"/>
                </a:ext>
              </a:extLst>
            </p:cNvPr>
            <p:cNvSpPr txBox="1"/>
            <p:nvPr/>
          </p:nvSpPr>
          <p:spPr>
            <a:xfrm rot="16200000">
              <a:off x="3347279" y="5623019"/>
              <a:ext cx="553539" cy="307777"/>
            </a:xfrm>
            <a:prstGeom prst="rect">
              <a:avLst/>
            </a:prstGeom>
            <a:solidFill>
              <a:srgbClr val="F4EE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</a:defRPr>
              </a:lvl1pPr>
            </a:lstStyle>
            <a:p>
              <a:r>
                <a:rPr lang="en-US" dirty="0">
                  <a:latin typeface="+mj-ea"/>
                  <a:ea typeface="+mj-ea"/>
                </a:rPr>
                <a:t>ACK</a:t>
              </a:r>
            </a:p>
          </p:txBody>
        </p: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D236D294-EAA4-450D-9ECE-ED884B56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7937" y="4462972"/>
              <a:ext cx="769201" cy="555333"/>
            </a:xfrm>
            <a:prstGeom prst="rect">
              <a:avLst/>
            </a:prstGeom>
            <a:solidFill>
              <a:srgbClr val="F4EE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D2</a:t>
              </a: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C374086A-7BC8-46B8-9EFF-C5A6F663E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7935" y="5496452"/>
              <a:ext cx="769201" cy="555333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de-DE" sz="1600" kern="0" baseline="0" dirty="0">
                  <a:solidFill>
                    <a:srgbClr val="000000"/>
                  </a:solidFill>
                  <a:latin typeface="+mj-ea"/>
                  <a:ea typeface="+mj-ea"/>
                </a:rPr>
                <a:t>D2</a:t>
              </a: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0DE8F63-EED7-4B46-99F7-8C89292D257C}"/>
                </a:ext>
              </a:extLst>
            </p:cNvPr>
            <p:cNvGrpSpPr/>
            <p:nvPr/>
          </p:nvGrpSpPr>
          <p:grpSpPr>
            <a:xfrm>
              <a:off x="4547138" y="4464766"/>
              <a:ext cx="307777" cy="553539"/>
              <a:chOff x="3306838" y="5579261"/>
              <a:chExt cx="307777" cy="553539"/>
            </a:xfrm>
            <a:solidFill>
              <a:srgbClr val="92D050"/>
            </a:solidFill>
          </p:grpSpPr>
          <p:sp>
            <p:nvSpPr>
              <p:cNvPr id="47" name="Rectangle 19">
                <a:extLst>
                  <a:ext uri="{FF2B5EF4-FFF2-40B4-BE49-F238E27FC236}">
                    <a16:creationId xmlns:a16="http://schemas.microsoft.com/office/drawing/2014/main" id="{89F90D33-6F6E-4681-A3EB-24995C2C1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0056" y="5609740"/>
                <a:ext cx="241343" cy="457201"/>
              </a:xfrm>
              <a:prstGeom prst="rect">
                <a:avLst/>
              </a:prstGeom>
              <a:solidFill>
                <a:srgbClr val="F4EE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de-DE" sz="1600" kern="0" baseline="0" dirty="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Textfeld 14">
                <a:extLst>
                  <a:ext uri="{FF2B5EF4-FFF2-40B4-BE49-F238E27FC236}">
                    <a16:creationId xmlns:a16="http://schemas.microsoft.com/office/drawing/2014/main" id="{66055154-91E7-4230-B722-6F5141B08CF5}"/>
                  </a:ext>
                </a:extLst>
              </p:cNvPr>
              <p:cNvSpPr txBox="1"/>
              <p:nvPr/>
            </p:nvSpPr>
            <p:spPr>
              <a:xfrm rot="16200000">
                <a:off x="3183957" y="5702142"/>
                <a:ext cx="553539" cy="307777"/>
              </a:xfrm>
              <a:prstGeom prst="rect">
                <a:avLst/>
              </a:prstGeom>
              <a:solidFill>
                <a:srgbClr val="FF996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ctr" fontAlgn="auto">
                  <a:spcBef>
                    <a:spcPts val="0"/>
                  </a:spcBef>
                  <a:spcAft>
                    <a:spcPts val="0"/>
                  </a:spcAft>
                  <a:defRPr sz="1600" kern="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</a:defRPr>
                </a:lvl1pPr>
              </a:lstStyle>
              <a:p>
                <a:r>
                  <a:rPr lang="en-US" dirty="0">
                    <a:latin typeface="+mj-ea"/>
                    <a:ea typeface="+mj-ea"/>
                  </a:rPr>
                  <a:t>ACK</a:t>
                </a:r>
              </a:p>
            </p:txBody>
          </p:sp>
        </p:grpSp>
        <p:sp>
          <p:nvSpPr>
            <p:cNvPr id="51" name="Textfeld 14">
              <a:extLst>
                <a:ext uri="{FF2B5EF4-FFF2-40B4-BE49-F238E27FC236}">
                  <a16:creationId xmlns:a16="http://schemas.microsoft.com/office/drawing/2014/main" id="{CBDFD4D4-E3DB-4CF5-AC4B-E0D2C6765AF5}"/>
                </a:ext>
              </a:extLst>
            </p:cNvPr>
            <p:cNvSpPr txBox="1"/>
            <p:nvPr/>
          </p:nvSpPr>
          <p:spPr>
            <a:xfrm rot="16200000">
              <a:off x="1951701" y="6494038"/>
              <a:ext cx="553539" cy="307777"/>
            </a:xfrm>
            <a:prstGeom prst="rect">
              <a:avLst/>
            </a:prstGeom>
            <a:solidFill>
              <a:srgbClr val="F4EE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</a:defRPr>
              </a:lvl1pPr>
            </a:lstStyle>
            <a:p>
              <a:r>
                <a:rPr lang="en-US" dirty="0">
                  <a:latin typeface="+mj-ea"/>
                  <a:ea typeface="+mj-ea"/>
                </a:rPr>
                <a:t>RTS</a:t>
              </a:r>
            </a:p>
          </p:txBody>
        </p:sp>
        <p:sp>
          <p:nvSpPr>
            <p:cNvPr id="54" name="Textfeld 14">
              <a:extLst>
                <a:ext uri="{FF2B5EF4-FFF2-40B4-BE49-F238E27FC236}">
                  <a16:creationId xmlns:a16="http://schemas.microsoft.com/office/drawing/2014/main" id="{90F139B2-6EEB-4B64-8C63-39C01DD2E379}"/>
                </a:ext>
              </a:extLst>
            </p:cNvPr>
            <p:cNvSpPr txBox="1"/>
            <p:nvPr/>
          </p:nvSpPr>
          <p:spPr>
            <a:xfrm rot="16200000">
              <a:off x="2263658" y="6494028"/>
              <a:ext cx="553556" cy="307777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1600" kern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</a:defRPr>
              </a:lvl1pPr>
            </a:lstStyle>
            <a:p>
              <a:r>
                <a:rPr lang="en-US" dirty="0">
                  <a:latin typeface="+mj-ea"/>
                  <a:ea typeface="+mj-ea"/>
                </a:rPr>
                <a:t>CTS</a:t>
              </a:r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8240FD19-6783-46A6-BC06-5B051890E42A}"/>
                </a:ext>
              </a:extLst>
            </p:cNvPr>
            <p:cNvCxnSpPr>
              <a:cxnSpLocks/>
              <a:stCxn id="51" idx="3"/>
              <a:endCxn id="30" idx="1"/>
            </p:cNvCxnSpPr>
            <p:nvPr/>
          </p:nvCxnSpPr>
          <p:spPr bwMode="auto">
            <a:xfrm flipV="1">
              <a:off x="2228471" y="6051276"/>
              <a:ext cx="4188" cy="3198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9743AF71-776E-4780-8FB6-4058AF6226CE}"/>
                </a:ext>
              </a:extLst>
            </p:cNvPr>
            <p:cNvCxnSpPr>
              <a:cxnSpLocks/>
              <a:stCxn id="33" idx="1"/>
              <a:endCxn id="54" idx="3"/>
            </p:cNvCxnSpPr>
            <p:nvPr/>
          </p:nvCxnSpPr>
          <p:spPr bwMode="auto">
            <a:xfrm flipH="1">
              <a:off x="2540437" y="6051261"/>
              <a:ext cx="4190" cy="31987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7" name="Textfeld 14">
              <a:extLst>
                <a:ext uri="{FF2B5EF4-FFF2-40B4-BE49-F238E27FC236}">
                  <a16:creationId xmlns:a16="http://schemas.microsoft.com/office/drawing/2014/main" id="{DDA1C7BB-C355-45BB-8A98-CDDCB45E0801}"/>
                </a:ext>
              </a:extLst>
            </p:cNvPr>
            <p:cNvSpPr txBox="1"/>
            <p:nvPr/>
          </p:nvSpPr>
          <p:spPr>
            <a:xfrm rot="16200000">
              <a:off x="4424255" y="5621023"/>
              <a:ext cx="553539" cy="307777"/>
            </a:xfrm>
            <a:prstGeom prst="rect">
              <a:avLst/>
            </a:prstGeom>
            <a:solidFill>
              <a:srgbClr val="F4EE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defPPr>
                <a:defRPr lang="en-US"/>
              </a:defPPr>
              <a:lvl1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</a:defRPr>
              </a:lvl1pPr>
            </a:lstStyle>
            <a:p>
              <a:r>
                <a:rPr lang="en-US" dirty="0">
                  <a:latin typeface="+mj-ea"/>
                  <a:ea typeface="+mj-ea"/>
                </a:rPr>
                <a:t>ACK</a:t>
              </a: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8FC81F4E-F0AF-4DE7-BC31-3A1335D02875}"/>
                </a:ext>
              </a:extLst>
            </p:cNvPr>
            <p:cNvCxnSpPr>
              <a:stCxn id="43" idx="3"/>
              <a:endCxn id="40" idx="1"/>
            </p:cNvCxnSpPr>
            <p:nvPr/>
          </p:nvCxnSpPr>
          <p:spPr bwMode="auto">
            <a:xfrm flipV="1">
              <a:off x="3624049" y="5018303"/>
              <a:ext cx="0" cy="4818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056CD271-43B4-4F0B-8151-2BEA7331D1E5}"/>
                </a:ext>
              </a:extLst>
            </p:cNvPr>
            <p:cNvCxnSpPr>
              <a:stCxn id="57" idx="3"/>
              <a:endCxn id="48" idx="1"/>
            </p:cNvCxnSpPr>
            <p:nvPr/>
          </p:nvCxnSpPr>
          <p:spPr bwMode="auto">
            <a:xfrm flipV="1">
              <a:off x="4701025" y="5018305"/>
              <a:ext cx="2" cy="47983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810C6171-6E72-4497-86DC-55D54A4449B9}"/>
                </a:ext>
              </a:extLst>
            </p:cNvPr>
            <p:cNvCxnSpPr>
              <a:stCxn id="44" idx="2"/>
              <a:endCxn id="45" idx="0"/>
            </p:cNvCxnSpPr>
            <p:nvPr/>
          </p:nvCxnSpPr>
          <p:spPr bwMode="auto">
            <a:xfrm flipH="1">
              <a:off x="4162536" y="5018305"/>
              <a:ext cx="2" cy="47814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73" name="图片 72">
            <a:extLst>
              <a:ext uri="{FF2B5EF4-FFF2-40B4-BE49-F238E27FC236}">
                <a16:creationId xmlns:a16="http://schemas.microsoft.com/office/drawing/2014/main" id="{12F79A18-8778-4DCF-A1D2-EA7FBD731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62" y="5215270"/>
            <a:ext cx="2777289" cy="1041484"/>
          </a:xfrm>
          <a:prstGeom prst="rect">
            <a:avLst/>
          </a:prstGeom>
        </p:spPr>
      </p:pic>
      <p:sp>
        <p:nvSpPr>
          <p:cNvPr id="76" name="Rectangle 14">
            <a:extLst>
              <a:ext uri="{FF2B5EF4-FFF2-40B4-BE49-F238E27FC236}">
                <a16:creationId xmlns:a16="http://schemas.microsoft.com/office/drawing/2014/main" id="{1562B064-B07A-4163-8C3D-0FC807EEA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65" y="6107723"/>
            <a:ext cx="245885" cy="381000"/>
          </a:xfrm>
          <a:prstGeom prst="rect">
            <a:avLst/>
          </a:prstGeom>
          <a:solidFill>
            <a:srgbClr val="F4EE00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de-DE" sz="1600" kern="0" baseline="0" dirty="0">
                <a:solidFill>
                  <a:srgbClr val="000000"/>
                </a:solidFill>
                <a:latin typeface="+mj-ea"/>
                <a:ea typeface="+mj-ea"/>
              </a:rPr>
              <a:t>D</a:t>
            </a:r>
          </a:p>
        </p:txBody>
      </p:sp>
      <p:sp>
        <p:nvSpPr>
          <p:cNvPr id="77" name="Textfeld 14">
            <a:extLst>
              <a:ext uri="{FF2B5EF4-FFF2-40B4-BE49-F238E27FC236}">
                <a16:creationId xmlns:a16="http://schemas.microsoft.com/office/drawing/2014/main" id="{9C0568AB-E70C-48FE-A0DF-DB56C750672B}"/>
              </a:ext>
            </a:extLst>
          </p:cNvPr>
          <p:cNvSpPr txBox="1"/>
          <p:nvPr/>
        </p:nvSpPr>
        <p:spPr>
          <a:xfrm>
            <a:off x="6512655" y="6128946"/>
            <a:ext cx="1005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发送数据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8" name="Rectangle 14">
            <a:extLst>
              <a:ext uri="{FF2B5EF4-FFF2-40B4-BE49-F238E27FC236}">
                <a16:creationId xmlns:a16="http://schemas.microsoft.com/office/drawing/2014/main" id="{40F92121-52FC-4C24-B038-F198FFEBB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5" y="6107723"/>
            <a:ext cx="245885" cy="381000"/>
          </a:xfrm>
          <a:prstGeom prst="rect">
            <a:avLst/>
          </a:prstGeom>
          <a:solidFill>
            <a:srgbClr val="FF9966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DE" sz="1600" kern="0" baseline="0" dirty="0">
                <a:solidFill>
                  <a:srgbClr val="000000"/>
                </a:solidFill>
                <a:latin typeface="+mj-ea"/>
                <a:ea typeface="+mj-ea"/>
              </a:rPr>
              <a:t>D</a:t>
            </a: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9" name="Textfeld 14">
            <a:extLst>
              <a:ext uri="{FF2B5EF4-FFF2-40B4-BE49-F238E27FC236}">
                <a16:creationId xmlns:a16="http://schemas.microsoft.com/office/drawing/2014/main" id="{D4A2B5FC-BAA5-4E37-81F5-E9E7582653B5}"/>
              </a:ext>
            </a:extLst>
          </p:cNvPr>
          <p:cNvSpPr txBox="1"/>
          <p:nvPr/>
        </p:nvSpPr>
        <p:spPr>
          <a:xfrm>
            <a:off x="7982695" y="6128946"/>
            <a:ext cx="1005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接收数据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095104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同步</a:t>
            </a:r>
            <a:r>
              <a:rPr lang="en-US" altLang="zh-CN"/>
              <a:t>MAC</a:t>
            </a:r>
            <a:r>
              <a:rPr lang="zh-CN" altLang="en-US"/>
              <a:t>：</a:t>
            </a:r>
            <a:r>
              <a:rPr lang="en-US" altLang="zh-CN"/>
              <a:t>S-MAC</a:t>
            </a:r>
            <a:r>
              <a:rPr lang="zh-CN" altLang="en-US"/>
              <a:t>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350826"/>
            <a:ext cx="3476625" cy="809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2178027"/>
            <a:ext cx="8315325" cy="47148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1436915" y="2111600"/>
            <a:ext cx="2133600" cy="27576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370142" y="3728219"/>
            <a:ext cx="603930" cy="62320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8F373E71-577B-446E-A44E-294AE1360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多跳传输延迟问题</a:t>
            </a:r>
            <a:endParaRPr lang="en-US" altLang="zh-CN" dirty="0"/>
          </a:p>
          <a:p>
            <a:pPr lvl="1"/>
            <a:r>
              <a:rPr lang="zh-CN" altLang="en-US" dirty="0"/>
              <a:t>多跳传输中睡眠造成的延时会逐跳累加的问题</a:t>
            </a:r>
            <a:endParaRPr lang="en-US" altLang="zh-CN" dirty="0"/>
          </a:p>
          <a:p>
            <a:pPr lvl="1"/>
            <a:r>
              <a:rPr lang="zh-CN" altLang="en-US" dirty="0"/>
              <a:t>示例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同步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S-MAC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自适应侦听机制</a:t>
            </a:r>
            <a:endParaRPr lang="en-US" altLang="zh-CN" dirty="0"/>
          </a:p>
          <a:p>
            <a:pPr lvl="1"/>
            <a:r>
              <a:rPr lang="zh-CN" altLang="en-US" dirty="0"/>
              <a:t>邻居</a:t>
            </a:r>
            <a:r>
              <a:rPr lang="en-US" altLang="zh-CN" dirty="0"/>
              <a:t>C</a:t>
            </a:r>
            <a:r>
              <a:rPr lang="zh-CN" altLang="en-US" dirty="0"/>
              <a:t>依据</a:t>
            </a:r>
            <a:r>
              <a:rPr lang="en-US" altLang="zh-CN" dirty="0"/>
              <a:t>CTS</a:t>
            </a:r>
            <a:r>
              <a:rPr lang="zh-CN" altLang="en-US" dirty="0"/>
              <a:t>包知道</a:t>
            </a:r>
            <a:r>
              <a:rPr lang="en-US" altLang="zh-CN" dirty="0"/>
              <a:t>B</a:t>
            </a:r>
            <a:r>
              <a:rPr lang="zh-CN" altLang="en-US" dirty="0"/>
              <a:t>传输结束的时间，并在</a:t>
            </a:r>
            <a:r>
              <a:rPr lang="en-US" altLang="zh-CN" dirty="0"/>
              <a:t>C</a:t>
            </a:r>
            <a:r>
              <a:rPr lang="zh-CN" altLang="en-US" dirty="0"/>
              <a:t>传输结束时短暂醒来侦听</a:t>
            </a:r>
            <a:endParaRPr lang="en-US" altLang="zh-CN" dirty="0"/>
          </a:p>
          <a:p>
            <a:pPr lvl="1"/>
            <a:r>
              <a:rPr lang="zh-CN" altLang="en-US" dirty="0"/>
              <a:t>该例中，</a:t>
            </a:r>
            <a:r>
              <a:rPr lang="en-US" altLang="zh-CN" dirty="0"/>
              <a:t>C</a:t>
            </a:r>
            <a:r>
              <a:rPr lang="zh-CN" altLang="en-US" dirty="0"/>
              <a:t>正好是</a:t>
            </a:r>
            <a:r>
              <a:rPr lang="en-US" altLang="zh-CN" dirty="0"/>
              <a:t>B</a:t>
            </a:r>
            <a:r>
              <a:rPr lang="zh-CN" altLang="en-US" dirty="0"/>
              <a:t>的下一跳，减少了延迟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33" y="2961722"/>
            <a:ext cx="8834297" cy="3296574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6C437DC-B529-41AD-9E02-66C572CA0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同步</a:t>
            </a:r>
            <a:r>
              <a:rPr lang="en-US" altLang="zh-CN"/>
              <a:t>MAC</a:t>
            </a:r>
            <a:r>
              <a:rPr lang="zh-CN" altLang="en-US"/>
              <a:t>：</a:t>
            </a:r>
            <a:r>
              <a:rPr lang="en-US" altLang="zh-CN"/>
              <a:t>S-MAC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S-MAC </a:t>
            </a:r>
            <a:r>
              <a:rPr lang="zh-CN" altLang="en-US"/>
              <a:t>回顾</a:t>
            </a:r>
            <a:r>
              <a:rPr lang="en-US" altLang="zh-CN"/>
              <a:t> </a:t>
            </a:r>
          </a:p>
          <a:p>
            <a:pPr lvl="1"/>
            <a:r>
              <a:rPr lang="zh-CN" altLang="en-US"/>
              <a:t>比传统</a:t>
            </a:r>
            <a:r>
              <a:rPr lang="en-US" altLang="zh-CN"/>
              <a:t>802.11</a:t>
            </a:r>
            <a:r>
              <a:rPr lang="zh-CN" altLang="en-US"/>
              <a:t>中的</a:t>
            </a:r>
            <a:r>
              <a:rPr lang="en-US" altLang="zh-CN"/>
              <a:t>CSMA/CA MAC</a:t>
            </a:r>
            <a:r>
              <a:rPr lang="zh-CN" altLang="en-US"/>
              <a:t>更节能</a:t>
            </a:r>
            <a:endParaRPr lang="en-US" altLang="zh-CN"/>
          </a:p>
          <a:p>
            <a:pPr lvl="1"/>
            <a:r>
              <a:rPr lang="zh-CN" altLang="en-US"/>
              <a:t>空闲侦听依然开销很大</a:t>
            </a:r>
            <a:endParaRPr lang="en-US" altLang="zh-CN"/>
          </a:p>
          <a:p>
            <a:pPr lvl="2"/>
            <a:r>
              <a:rPr lang="zh-CN" altLang="en-US"/>
              <a:t>所有人一开始都必须醒着，直到某个人开始传输数据</a:t>
            </a:r>
            <a:endParaRPr lang="en-US" altLang="zh-CN"/>
          </a:p>
          <a:p>
            <a:pPr lvl="1"/>
            <a:r>
              <a:rPr lang="zh-CN" altLang="en-US"/>
              <a:t>网络空闲时有同步的开销</a:t>
            </a:r>
            <a:endParaRPr lang="en-US" altLang="zh-CN"/>
          </a:p>
          <a:p>
            <a:pPr lvl="1"/>
            <a:r>
              <a:rPr lang="zh-CN" altLang="en-US"/>
              <a:t>发送数据时有</a:t>
            </a:r>
            <a:r>
              <a:rPr lang="en-US" altLang="zh-CN"/>
              <a:t>RTS/CTS</a:t>
            </a:r>
            <a:r>
              <a:rPr lang="zh-CN" altLang="en-US"/>
              <a:t>开销</a:t>
            </a:r>
            <a:endParaRPr lang="en-US" altLang="zh-CN"/>
          </a:p>
          <a:p>
            <a:pPr lvl="2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A8E97A00-7395-442E-AD55-DE4A96BD3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3"/>
          <p:cNvSpPr>
            <a:spLocks noChangeArrowheads="1"/>
          </p:cNvSpPr>
          <p:nvPr/>
        </p:nvSpPr>
        <p:spPr bwMode="auto">
          <a:xfrm>
            <a:off x="2589913" y="4355417"/>
            <a:ext cx="2257421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3" name="Rectangle 23"/>
          <p:cNvSpPr>
            <a:spLocks noChangeArrowheads="1"/>
          </p:cNvSpPr>
          <p:nvPr/>
        </p:nvSpPr>
        <p:spPr bwMode="auto">
          <a:xfrm>
            <a:off x="2293800" y="5381684"/>
            <a:ext cx="347017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2" name="Rectangle 23"/>
          <p:cNvSpPr>
            <a:spLocks noChangeArrowheads="1"/>
          </p:cNvSpPr>
          <p:nvPr/>
        </p:nvSpPr>
        <p:spPr bwMode="auto">
          <a:xfrm>
            <a:off x="4087492" y="5381683"/>
            <a:ext cx="759842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LPL (Low Power Listening) MAC</a:t>
            </a:r>
          </a:p>
          <a:p>
            <a:pPr lvl="1"/>
            <a:r>
              <a:rPr lang="zh-CN" altLang="en-US" dirty="0"/>
              <a:t>发送方发送足够长的探测包（</a:t>
            </a:r>
            <a:r>
              <a:rPr lang="en-US" altLang="zh-CN" dirty="0"/>
              <a:t>preamble</a:t>
            </a:r>
            <a:r>
              <a:rPr lang="zh-CN" altLang="en-US" dirty="0"/>
              <a:t>）列来唤醒接收者</a:t>
            </a:r>
            <a:r>
              <a:rPr lang="en-US" altLang="zh-CN" dirty="0"/>
              <a:t>, LPL MAC</a:t>
            </a:r>
            <a:r>
              <a:rPr lang="zh-CN" altLang="en-US" dirty="0"/>
              <a:t>直接使用数据包作为探测包</a:t>
            </a:r>
            <a:endParaRPr lang="en-US" altLang="zh-CN" dirty="0"/>
          </a:p>
          <a:p>
            <a:pPr lvl="1"/>
            <a:r>
              <a:rPr lang="zh-CN" altLang="en-US" dirty="0"/>
              <a:t>接收方周期性做</a:t>
            </a:r>
            <a:r>
              <a:rPr lang="en-US" altLang="zh-CN" dirty="0"/>
              <a:t>CCA</a:t>
            </a:r>
            <a:r>
              <a:rPr lang="zh-CN" altLang="en-US" dirty="0"/>
              <a:t>，一旦发现能量大于阈值，就进入接收状态接收数据</a:t>
            </a:r>
            <a:endParaRPr lang="en-US" altLang="zh-CN" dirty="0"/>
          </a:p>
          <a:p>
            <a:pPr lvl="2"/>
            <a:r>
              <a:rPr lang="en-US" altLang="zh-CN" dirty="0"/>
              <a:t>CCA: Clear Channel Assessment,</a:t>
            </a:r>
            <a:r>
              <a:rPr lang="zh-CN" altLang="en-US" dirty="0"/>
              <a:t>对无线信道进行简短的采样以检测信道能量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3041970" y="4747032"/>
            <a:ext cx="1026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数据包列</a:t>
            </a:r>
          </a:p>
        </p:txBody>
      </p:sp>
      <p:sp>
        <p:nvSpPr>
          <p:cNvPr id="39" name="Line 11"/>
          <p:cNvSpPr>
            <a:spLocks noChangeShapeType="1"/>
          </p:cNvSpPr>
          <p:nvPr/>
        </p:nvSpPr>
        <p:spPr bwMode="auto">
          <a:xfrm>
            <a:off x="2229932" y="5767210"/>
            <a:ext cx="42795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</a:pPr>
            <a:endParaRPr lang="zh-CN" altLang="en-US" sz="3600" kern="0" baseline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1047658" y="5405260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zh-CN" altLang="en-US" sz="1800" baseline="0" dirty="0">
                <a:solidFill>
                  <a:srgbClr val="000000"/>
                </a:solidFill>
                <a:latin typeface="+mj-ea"/>
                <a:ea typeface="+mj-ea"/>
              </a:rPr>
              <a:t>接收节点</a:t>
            </a:r>
            <a:endParaRPr lang="en-US" altLang="zh-CN" sz="1800" baseline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7" name="Line 7"/>
          <p:cNvSpPr>
            <a:spLocks noChangeShapeType="1"/>
          </p:cNvSpPr>
          <p:nvPr/>
        </p:nvSpPr>
        <p:spPr bwMode="auto">
          <a:xfrm flipV="1">
            <a:off x="2205146" y="4734829"/>
            <a:ext cx="42795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8" name="Text Box 10"/>
          <p:cNvSpPr txBox="1">
            <a:spLocks noChangeArrowheads="1"/>
          </p:cNvSpPr>
          <p:nvPr/>
        </p:nvSpPr>
        <p:spPr bwMode="auto">
          <a:xfrm>
            <a:off x="1047658" y="4372879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zh-CN" altLang="en-US" sz="1800" baseline="0" dirty="0">
                <a:solidFill>
                  <a:srgbClr val="000000"/>
                </a:solidFill>
                <a:latin typeface="+mj-ea"/>
                <a:ea typeface="+mj-ea"/>
              </a:rPr>
              <a:t>发送节点</a:t>
            </a:r>
            <a:endParaRPr lang="en-US" altLang="zh-CN" sz="1800" baseline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81" name="Rectangle 22" descr="Light downward diagonal"/>
          <p:cNvSpPr>
            <a:spLocks noChangeArrowheads="1"/>
          </p:cNvSpPr>
          <p:nvPr/>
        </p:nvSpPr>
        <p:spPr bwMode="auto">
          <a:xfrm>
            <a:off x="2716463" y="4414035"/>
            <a:ext cx="200471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83" name="Rectangle 22" descr="Light downward diagonal"/>
          <p:cNvSpPr>
            <a:spLocks noChangeArrowheads="1"/>
          </p:cNvSpPr>
          <p:nvPr/>
        </p:nvSpPr>
        <p:spPr bwMode="auto">
          <a:xfrm>
            <a:off x="2967734" y="4414034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84" name="Rectangle 22" descr="Light downward diagonal"/>
          <p:cNvSpPr>
            <a:spLocks noChangeArrowheads="1"/>
          </p:cNvSpPr>
          <p:nvPr/>
        </p:nvSpPr>
        <p:spPr bwMode="auto">
          <a:xfrm>
            <a:off x="3225800" y="4414034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85" name="Rectangle 22" descr="Light downward diagonal"/>
          <p:cNvSpPr>
            <a:spLocks noChangeArrowheads="1"/>
          </p:cNvSpPr>
          <p:nvPr/>
        </p:nvSpPr>
        <p:spPr bwMode="auto">
          <a:xfrm>
            <a:off x="3469495" y="4414034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86" name="Rectangle 22" descr="Light downward diagonal"/>
          <p:cNvSpPr>
            <a:spLocks noChangeArrowheads="1"/>
          </p:cNvSpPr>
          <p:nvPr/>
        </p:nvSpPr>
        <p:spPr bwMode="auto">
          <a:xfrm>
            <a:off x="3729985" y="4414034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87" name="Rectangle 22" descr="Light downward diagonal"/>
          <p:cNvSpPr>
            <a:spLocks noChangeArrowheads="1"/>
          </p:cNvSpPr>
          <p:nvPr/>
        </p:nvSpPr>
        <p:spPr bwMode="auto">
          <a:xfrm>
            <a:off x="3988051" y="4414034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88" name="Rectangle 22" descr="Light downward diagonal"/>
          <p:cNvSpPr>
            <a:spLocks noChangeArrowheads="1"/>
          </p:cNvSpPr>
          <p:nvPr/>
        </p:nvSpPr>
        <p:spPr bwMode="auto">
          <a:xfrm>
            <a:off x="4269478" y="4415035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 flipH="1">
            <a:off x="2640817" y="4722805"/>
            <a:ext cx="63340" cy="6391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69" name="直接连接符 7168"/>
          <p:cNvCxnSpPr/>
          <p:nvPr/>
        </p:nvCxnSpPr>
        <p:spPr bwMode="auto">
          <a:xfrm flipH="1">
            <a:off x="4087494" y="4772929"/>
            <a:ext cx="99440" cy="6006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9" name="Rectangle 22" descr="Light downward diagonal"/>
          <p:cNvSpPr>
            <a:spLocks noChangeArrowheads="1"/>
          </p:cNvSpPr>
          <p:nvPr/>
        </p:nvSpPr>
        <p:spPr bwMode="auto">
          <a:xfrm>
            <a:off x="4130563" y="5454112"/>
            <a:ext cx="56371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6" name="Rectangle 22" descr="Light downward diagonal"/>
          <p:cNvSpPr>
            <a:spLocks noChangeArrowheads="1"/>
          </p:cNvSpPr>
          <p:nvPr/>
        </p:nvSpPr>
        <p:spPr bwMode="auto">
          <a:xfrm>
            <a:off x="4270267" y="5456091"/>
            <a:ext cx="167799" cy="305005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107" name="Rectangle 22" descr="Light downward diagonal"/>
          <p:cNvSpPr>
            <a:spLocks noChangeArrowheads="1"/>
          </p:cNvSpPr>
          <p:nvPr/>
        </p:nvSpPr>
        <p:spPr bwMode="auto">
          <a:xfrm>
            <a:off x="4516285" y="5447999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A</a:t>
            </a:r>
          </a:p>
        </p:txBody>
      </p:sp>
      <p:sp>
        <p:nvSpPr>
          <p:cNvPr id="108" name="Rectangle 22" descr="Light downward diagonal"/>
          <p:cNvSpPr>
            <a:spLocks noChangeArrowheads="1"/>
          </p:cNvSpPr>
          <p:nvPr/>
        </p:nvSpPr>
        <p:spPr bwMode="auto">
          <a:xfrm>
            <a:off x="4516285" y="4409699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A</a:t>
            </a:r>
          </a:p>
        </p:txBody>
      </p:sp>
      <p:cxnSp>
        <p:nvCxnSpPr>
          <p:cNvPr id="7181" name="直接箭头连接符 7180"/>
          <p:cNvCxnSpPr/>
          <p:nvPr/>
        </p:nvCxnSpPr>
        <p:spPr bwMode="auto">
          <a:xfrm>
            <a:off x="4368919" y="4877186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3" name="直接箭头连接符 112"/>
          <p:cNvCxnSpPr/>
          <p:nvPr/>
        </p:nvCxnSpPr>
        <p:spPr bwMode="auto">
          <a:xfrm>
            <a:off x="4567204" y="4869021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114" name="Gerade Verbindung 11"/>
          <p:cNvCxnSpPr/>
          <p:nvPr/>
        </p:nvCxnSpPr>
        <p:spPr bwMode="auto">
          <a:xfrm rot="5400000">
            <a:off x="2418960" y="5967403"/>
            <a:ext cx="442920" cy="794"/>
          </a:xfrm>
          <a:prstGeom prst="line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Gerade Verbindung 13"/>
          <p:cNvCxnSpPr/>
          <p:nvPr/>
        </p:nvCxnSpPr>
        <p:spPr bwMode="auto">
          <a:xfrm rot="5400000">
            <a:off x="3878272" y="5947903"/>
            <a:ext cx="442920" cy="794"/>
          </a:xfrm>
          <a:prstGeom prst="line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Gerade Verbindung mit Pfeil 17"/>
          <p:cNvCxnSpPr/>
          <p:nvPr/>
        </p:nvCxnSpPr>
        <p:spPr bwMode="auto">
          <a:xfrm>
            <a:off x="2640023" y="5937051"/>
            <a:ext cx="1490540" cy="11249"/>
          </a:xfrm>
          <a:prstGeom prst="straightConnector1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17" name="Textfeld 19"/>
          <p:cNvSpPr txBox="1"/>
          <p:nvPr/>
        </p:nvSpPr>
        <p:spPr>
          <a:xfrm>
            <a:off x="3046599" y="5937051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rPr>
              <a:t>T</a:t>
            </a:r>
            <a:r>
              <a:rPr kumimoji="0" lang="en-US" sz="16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rPr>
              <a:t>sleep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119" name="Gerade Verbindung 11"/>
          <p:cNvCxnSpPr/>
          <p:nvPr/>
        </p:nvCxnSpPr>
        <p:spPr bwMode="auto">
          <a:xfrm rot="5400000">
            <a:off x="2089609" y="5994387"/>
            <a:ext cx="442920" cy="794"/>
          </a:xfrm>
          <a:prstGeom prst="line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1" name="Gerade Verbindung mit Pfeil 17"/>
          <p:cNvCxnSpPr/>
          <p:nvPr/>
        </p:nvCxnSpPr>
        <p:spPr bwMode="auto">
          <a:xfrm>
            <a:off x="2307646" y="5948323"/>
            <a:ext cx="342442" cy="0"/>
          </a:xfrm>
          <a:prstGeom prst="straightConnector1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22" name="Textfeld 19"/>
          <p:cNvSpPr txBox="1"/>
          <p:nvPr/>
        </p:nvSpPr>
        <p:spPr>
          <a:xfrm>
            <a:off x="2248500" y="6001394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rPr>
              <a:t>T</a:t>
            </a:r>
            <a:r>
              <a:rPr lang="en-US" sz="1600" kern="0" noProof="0" dirty="0">
                <a:solidFill>
                  <a:srgbClr val="000000"/>
                </a:solidFill>
                <a:latin typeface="+mj-ea"/>
                <a:ea typeface="+mj-ea"/>
              </a:rPr>
              <a:t>CCA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125" name="Gerade Verbindung 11"/>
          <p:cNvCxnSpPr/>
          <p:nvPr/>
        </p:nvCxnSpPr>
        <p:spPr bwMode="auto">
          <a:xfrm rot="5400000">
            <a:off x="2481409" y="4075172"/>
            <a:ext cx="442920" cy="794"/>
          </a:xfrm>
          <a:prstGeom prst="line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Gerade Verbindung 13"/>
          <p:cNvCxnSpPr/>
          <p:nvPr/>
        </p:nvCxnSpPr>
        <p:spPr bwMode="auto">
          <a:xfrm rot="5400000">
            <a:off x="3940721" y="3899257"/>
            <a:ext cx="442920" cy="794"/>
          </a:xfrm>
          <a:prstGeom prst="line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Gerade Verbindung mit Pfeil 17"/>
          <p:cNvCxnSpPr/>
          <p:nvPr/>
        </p:nvCxnSpPr>
        <p:spPr bwMode="auto">
          <a:xfrm>
            <a:off x="2702472" y="4044820"/>
            <a:ext cx="1490540" cy="11249"/>
          </a:xfrm>
          <a:prstGeom prst="straightConnector1">
            <a:avLst/>
          </a:prstGeom>
          <a:solidFill>
            <a:srgbClr val="BBE0E3"/>
          </a:solidFill>
          <a:ln w="15875" cap="flat" cmpd="sng" algn="ctr">
            <a:solidFill>
              <a:srgbClr val="000000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28" name="Textfeld 19"/>
          <p:cNvSpPr txBox="1"/>
          <p:nvPr/>
        </p:nvSpPr>
        <p:spPr>
          <a:xfrm>
            <a:off x="3166617" y="4005126"/>
            <a:ext cx="603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600" kern="0" baseline="0" dirty="0" err="1">
                <a:solidFill>
                  <a:srgbClr val="000000"/>
                </a:solidFill>
                <a:latin typeface="+mj-ea"/>
                <a:ea typeface="+mj-ea"/>
              </a:rPr>
              <a:t>T</a:t>
            </a:r>
            <a:r>
              <a:rPr lang="en-US" altLang="zh-CN" sz="1600" kern="0" dirty="0" err="1">
                <a:solidFill>
                  <a:srgbClr val="000000"/>
                </a:solidFill>
                <a:latin typeface="+mj-ea"/>
                <a:ea typeface="+mj-ea"/>
              </a:rPr>
              <a:t>train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1" name="Rectangle 23"/>
          <p:cNvSpPr>
            <a:spLocks noChangeArrowheads="1"/>
          </p:cNvSpPr>
          <p:nvPr/>
        </p:nvSpPr>
        <p:spPr bwMode="auto">
          <a:xfrm>
            <a:off x="6961337" y="4075569"/>
            <a:ext cx="87164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</a:rPr>
              <a:t> 	</a:t>
            </a:r>
            <a:endParaRPr kumimoji="0" lang="zh-CN" altLang="zh-CN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2" name="Textfeld 19"/>
          <p:cNvSpPr txBox="1"/>
          <p:nvPr/>
        </p:nvSpPr>
        <p:spPr>
          <a:xfrm>
            <a:off x="7188479" y="4125215"/>
            <a:ext cx="1220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R</a:t>
            </a:r>
            <a:r>
              <a:rPr lang="en-US" altLang="zh-CN" sz="1600" kern="0" baseline="0" dirty="0">
                <a:solidFill>
                  <a:srgbClr val="000000"/>
                </a:solidFill>
                <a:latin typeface="+mj-ea"/>
                <a:ea typeface="+mj-ea"/>
              </a:rPr>
              <a:t>adio </a:t>
            </a: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打开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3" name="Rectangle 22" descr="Light downward diagonal"/>
          <p:cNvSpPr>
            <a:spLocks noChangeArrowheads="1"/>
          </p:cNvSpPr>
          <p:nvPr/>
        </p:nvSpPr>
        <p:spPr bwMode="auto">
          <a:xfrm>
            <a:off x="6961337" y="4603212"/>
            <a:ext cx="56371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4" name="Textfeld 19"/>
          <p:cNvSpPr txBox="1"/>
          <p:nvPr/>
        </p:nvSpPr>
        <p:spPr>
          <a:xfrm>
            <a:off x="7188479" y="4568338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发现</a:t>
            </a:r>
            <a:r>
              <a:rPr lang="en-US" altLang="zh-CN" sz="1600" kern="0" baseline="0" dirty="0">
                <a:solidFill>
                  <a:srgbClr val="000000"/>
                </a:solidFill>
                <a:latin typeface="+mj-ea"/>
                <a:ea typeface="+mj-ea"/>
              </a:rPr>
              <a:t>TX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5" name="Rectangle 22" descr="Light downward diagonal"/>
          <p:cNvSpPr>
            <a:spLocks noChangeArrowheads="1"/>
          </p:cNvSpPr>
          <p:nvPr/>
        </p:nvSpPr>
        <p:spPr bwMode="auto">
          <a:xfrm>
            <a:off x="6961337" y="5076621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D</a:t>
            </a:r>
          </a:p>
        </p:txBody>
      </p:sp>
      <p:sp>
        <p:nvSpPr>
          <p:cNvPr id="46" name="Textfeld 19"/>
          <p:cNvSpPr txBox="1"/>
          <p:nvPr/>
        </p:nvSpPr>
        <p:spPr>
          <a:xfrm>
            <a:off x="7188479" y="506377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数据包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7" name="Rectangle 22" descr="Light downward diagonal"/>
          <p:cNvSpPr>
            <a:spLocks noChangeArrowheads="1"/>
          </p:cNvSpPr>
          <p:nvPr/>
        </p:nvSpPr>
        <p:spPr bwMode="auto">
          <a:xfrm>
            <a:off x="6961337" y="5498108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rPr>
              <a:t>A</a:t>
            </a:r>
          </a:p>
        </p:txBody>
      </p:sp>
      <p:sp>
        <p:nvSpPr>
          <p:cNvPr id="48" name="Textfeld 19"/>
          <p:cNvSpPr txBox="1"/>
          <p:nvPr/>
        </p:nvSpPr>
        <p:spPr>
          <a:xfrm>
            <a:off x="7188479" y="5473964"/>
            <a:ext cx="809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baseline="0" dirty="0">
                <a:solidFill>
                  <a:srgbClr val="000000"/>
                </a:solidFill>
                <a:latin typeface="+mj-ea"/>
                <a:ea typeface="+mj-ea"/>
              </a:rPr>
              <a:t>ACK</a:t>
            </a:r>
            <a:r>
              <a:rPr lang="zh-CN" altLang="en-US" sz="1600" kern="0" baseline="0" dirty="0">
                <a:solidFill>
                  <a:srgbClr val="000000"/>
                </a:solidFill>
                <a:latin typeface="+mj-ea"/>
                <a:ea typeface="+mj-ea"/>
              </a:rPr>
              <a:t>包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9" name="灯片编号占位符 4">
            <a:extLst>
              <a:ext uri="{FF2B5EF4-FFF2-40B4-BE49-F238E27FC236}">
                <a16:creationId xmlns:a16="http://schemas.microsoft.com/office/drawing/2014/main" id="{A3643B3E-9296-4A79-856C-641E61DDE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63" grpId="0" animBg="1"/>
      <p:bldP spid="82" grpId="0" animBg="1"/>
      <p:bldP spid="40" grpId="0"/>
      <p:bldP spid="68" grpId="0"/>
      <p:bldP spid="4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CS</a:t>
            </a:r>
            <a:r>
              <a:rPr lang="zh-CN" altLang="en-US"/>
              <a:t>和</a:t>
            </a:r>
            <a:r>
              <a:rPr lang="en-US" altLang="zh-CN"/>
              <a:t>CCA</a:t>
            </a:r>
            <a:r>
              <a:rPr lang="zh-CN" altLang="en-US"/>
              <a:t>对比</a:t>
            </a:r>
            <a:endParaRPr lang="en-US" altLang="zh-CN"/>
          </a:p>
          <a:p>
            <a:r>
              <a:rPr lang="zh-CN" altLang="en-US"/>
              <a:t>相似点：检测能量是否高于阈值，探测周围是否有人发包</a:t>
            </a:r>
            <a:endParaRPr lang="en-US" altLang="zh-CN"/>
          </a:p>
          <a:p>
            <a:r>
              <a:rPr lang="zh-CN" altLang="en-US"/>
              <a:t>不同点：结果不同</a:t>
            </a:r>
            <a:endParaRPr lang="en-US" altLang="zh-CN"/>
          </a:p>
          <a:p>
            <a:pPr lvl="1"/>
            <a:r>
              <a:rPr lang="en-US" altLang="zh-CN"/>
              <a:t>CS</a:t>
            </a:r>
            <a:r>
              <a:rPr lang="zh-CN" altLang="en-US"/>
              <a:t>发现则退避</a:t>
            </a:r>
            <a:endParaRPr lang="en-US" altLang="zh-CN"/>
          </a:p>
          <a:p>
            <a:pPr lvl="1"/>
            <a:r>
              <a:rPr lang="en-US" altLang="zh-CN"/>
              <a:t>CCA</a:t>
            </a:r>
            <a:r>
              <a:rPr lang="zh-CN" altLang="en-US"/>
              <a:t>发现则进入唤醒</a:t>
            </a:r>
            <a:endParaRPr lang="en-US" altLang="zh-CN"/>
          </a:p>
          <a:p>
            <a:r>
              <a:rPr lang="zh-CN" altLang="en-US"/>
              <a:t>阈值设置 </a:t>
            </a:r>
            <a:r>
              <a:rPr lang="en-US" altLang="zh-CN"/>
              <a:t>(</a:t>
            </a:r>
            <a:r>
              <a:rPr lang="zh-CN" altLang="en-US"/>
              <a:t>默认</a:t>
            </a:r>
            <a:r>
              <a:rPr lang="en-US" altLang="zh-CN"/>
              <a:t>-77dBm)</a:t>
            </a:r>
          </a:p>
          <a:p>
            <a:pPr lvl="1"/>
            <a:r>
              <a:rPr lang="zh-CN" altLang="en-US"/>
              <a:t>偏高</a:t>
            </a:r>
            <a:endParaRPr lang="en-US" altLang="zh-CN"/>
          </a:p>
          <a:p>
            <a:pPr lvl="2"/>
            <a:r>
              <a:rPr lang="en-US" altLang="zh-CN"/>
              <a:t>CS</a:t>
            </a:r>
            <a:r>
              <a:rPr lang="zh-CN" altLang="en-US"/>
              <a:t>可能无法感知潜在的传输，引起冲突</a:t>
            </a:r>
            <a:endParaRPr lang="en-US" altLang="zh-CN"/>
          </a:p>
          <a:p>
            <a:pPr lvl="2"/>
            <a:r>
              <a:rPr lang="en-US" altLang="zh-CN"/>
              <a:t>CCA</a:t>
            </a:r>
            <a:r>
              <a:rPr lang="zh-CN" altLang="en-US"/>
              <a:t>可能无法检测潜在的传输，错过接收</a:t>
            </a:r>
            <a:endParaRPr lang="en-US" altLang="zh-CN"/>
          </a:p>
          <a:p>
            <a:pPr lvl="1"/>
            <a:r>
              <a:rPr lang="zh-CN" altLang="en-US"/>
              <a:t>偏小</a:t>
            </a:r>
            <a:endParaRPr lang="en-US" altLang="zh-CN"/>
          </a:p>
          <a:p>
            <a:pPr lvl="2"/>
            <a:r>
              <a:rPr lang="en-US" altLang="zh-CN"/>
              <a:t>CS</a:t>
            </a:r>
            <a:r>
              <a:rPr lang="zh-CN" altLang="en-US"/>
              <a:t>： 环境噪音也可能引起不必要的退避</a:t>
            </a:r>
            <a:endParaRPr lang="en-US" altLang="zh-CN"/>
          </a:p>
          <a:p>
            <a:pPr lvl="2"/>
            <a:r>
              <a:rPr lang="en-US" altLang="zh-CN"/>
              <a:t>CCA: </a:t>
            </a:r>
            <a:r>
              <a:rPr lang="zh-CN" altLang="en-US"/>
              <a:t>环境噪音也可能唤醒节点</a:t>
            </a:r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F9A5D8E-9E5D-41F9-9636-1C6052842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LPL </a:t>
            </a:r>
            <a:r>
              <a:rPr lang="zh-CN" altLang="en-US" dirty="0"/>
              <a:t>单播</a:t>
            </a:r>
            <a:r>
              <a:rPr lang="en-US" altLang="zh-CN" dirty="0"/>
              <a:t>vs.</a:t>
            </a:r>
            <a:r>
              <a:rPr lang="zh-CN" altLang="en-US" dirty="0"/>
              <a:t>广播</a:t>
            </a:r>
            <a:endParaRPr lang="en-US" altLang="zh-CN" dirty="0"/>
          </a:p>
          <a:p>
            <a:pPr lvl="1"/>
            <a:r>
              <a:rPr lang="zh-CN" altLang="en-US" dirty="0"/>
              <a:t>单播</a:t>
            </a:r>
            <a:r>
              <a:rPr lang="en-US" altLang="zh-CN" dirty="0"/>
              <a:t>(UNICAST)</a:t>
            </a:r>
            <a:r>
              <a:rPr lang="zh-CN" altLang="en-US" dirty="0"/>
              <a:t>：</a:t>
            </a:r>
            <a:r>
              <a:rPr lang="en-US" altLang="zh-CN" dirty="0"/>
              <a:t>ACK</a:t>
            </a:r>
            <a:r>
              <a:rPr lang="zh-CN" altLang="en-US" dirty="0"/>
              <a:t>包可以缩短数据包列</a:t>
            </a:r>
            <a:endParaRPr lang="en-US" altLang="zh-CN" dirty="0"/>
          </a:p>
          <a:p>
            <a:pPr lvl="1"/>
            <a:r>
              <a:rPr lang="zh-CN" altLang="en-US" dirty="0"/>
              <a:t>广播</a:t>
            </a:r>
            <a:r>
              <a:rPr lang="en-US" altLang="zh-CN" dirty="0"/>
              <a:t>(BROADCAST)</a:t>
            </a:r>
            <a:r>
              <a:rPr lang="zh-CN" altLang="en-US" dirty="0"/>
              <a:t>：发送的数据包列持续时间必须大于等于接收者的睡眠时间（</a:t>
            </a:r>
            <a:r>
              <a:rPr lang="en-US" altLang="zh-CN" dirty="0" err="1"/>
              <a:t>Ttrain</a:t>
            </a:r>
            <a:r>
              <a:rPr lang="en-US" altLang="zh-CN" dirty="0"/>
              <a:t>&gt;=</a:t>
            </a:r>
            <a:r>
              <a:rPr lang="en-US" altLang="zh-CN" dirty="0" err="1"/>
              <a:t>Tsleep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在这个例子里，广播的开销是单播的两倍</a:t>
            </a:r>
            <a:endParaRPr lang="en-US" altLang="zh-CN" dirty="0"/>
          </a:p>
        </p:txBody>
      </p:sp>
      <p:grpSp>
        <p:nvGrpSpPr>
          <p:cNvPr id="9" name="组合 8"/>
          <p:cNvGrpSpPr/>
          <p:nvPr/>
        </p:nvGrpSpPr>
        <p:grpSpPr>
          <a:xfrm>
            <a:off x="1698538" y="3110043"/>
            <a:ext cx="5356604" cy="2063479"/>
            <a:chOff x="1054100" y="2332421"/>
            <a:chExt cx="5992791" cy="2373144"/>
          </a:xfrm>
        </p:grpSpPr>
        <p:pic>
          <p:nvPicPr>
            <p:cNvPr id="49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3" b="12860"/>
            <a:stretch>
              <a:fillRect/>
            </a:stretch>
          </p:blipFill>
          <p:spPr bwMode="auto">
            <a:xfrm>
              <a:off x="1054100" y="2332421"/>
              <a:ext cx="5992791" cy="1769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9" name="Gerade Verbindung 11"/>
            <p:cNvCxnSpPr/>
            <p:nvPr/>
          </p:nvCxnSpPr>
          <p:spPr bwMode="auto">
            <a:xfrm rot="5400000">
              <a:off x="4273943" y="4303949"/>
              <a:ext cx="442920" cy="794"/>
            </a:xfrm>
            <a:prstGeom prst="line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Gerade Verbindung 13"/>
            <p:cNvCxnSpPr/>
            <p:nvPr/>
          </p:nvCxnSpPr>
          <p:spPr bwMode="auto">
            <a:xfrm rot="5400000">
              <a:off x="6022212" y="4282946"/>
              <a:ext cx="442920" cy="794"/>
            </a:xfrm>
            <a:prstGeom prst="line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Gerade Verbindung mit Pfeil 17"/>
            <p:cNvCxnSpPr/>
            <p:nvPr/>
          </p:nvCxnSpPr>
          <p:spPr bwMode="auto">
            <a:xfrm>
              <a:off x="4487882" y="4283343"/>
              <a:ext cx="1747475" cy="13188"/>
            </a:xfrm>
            <a:prstGeom prst="straightConnector1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62" name="Textfeld 19"/>
            <p:cNvSpPr txBox="1"/>
            <p:nvPr/>
          </p:nvSpPr>
          <p:spPr>
            <a:xfrm>
              <a:off x="5230638" y="4293378"/>
              <a:ext cx="680418" cy="369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T</a:t>
              </a:r>
              <a:r>
                <a:rPr kumimoji="0" lang="en-US" sz="1600" b="0" i="0" u="none" strike="noStrike" kern="0" cap="none" spc="0" normalizeH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sleep</a:t>
              </a:r>
              <a:endParaRPr kumimoji="0" lang="en-US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cxnSp>
          <p:nvCxnSpPr>
            <p:cNvPr id="64" name="Gerade Verbindung 11"/>
            <p:cNvCxnSpPr/>
            <p:nvPr/>
          </p:nvCxnSpPr>
          <p:spPr bwMode="auto">
            <a:xfrm rot="5400000">
              <a:off x="4094377" y="4329430"/>
              <a:ext cx="442920" cy="794"/>
            </a:xfrm>
            <a:prstGeom prst="line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Gerade Verbindung mit Pfeil 17"/>
            <p:cNvCxnSpPr/>
            <p:nvPr/>
          </p:nvCxnSpPr>
          <p:spPr bwMode="auto">
            <a:xfrm>
              <a:off x="4312414" y="4283366"/>
              <a:ext cx="183386" cy="0"/>
            </a:xfrm>
            <a:prstGeom prst="straightConnector1">
              <a:avLst/>
            </a:prstGeom>
            <a:solidFill>
              <a:srgbClr val="BBE0E3"/>
            </a:solidFill>
            <a:ln w="15875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66" name="Textfeld 19"/>
            <p:cNvSpPr txBox="1"/>
            <p:nvPr/>
          </p:nvSpPr>
          <p:spPr>
            <a:xfrm>
              <a:off x="4253268" y="4336437"/>
              <a:ext cx="615810" cy="369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T</a:t>
              </a:r>
              <a:r>
                <a:rPr lang="en-US" sz="1600" kern="0" noProof="0" dirty="0">
                  <a:solidFill>
                    <a:srgbClr val="000000"/>
                  </a:solidFill>
                  <a:latin typeface="+mj-ea"/>
                  <a:ea typeface="+mj-ea"/>
                </a:rPr>
                <a:t>CCA</a:t>
              </a:r>
              <a:endParaRPr kumimoji="0" lang="en-US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pic>
        <p:nvPicPr>
          <p:cNvPr id="5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893" y="5229884"/>
            <a:ext cx="5441768" cy="1646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直接连接符 10"/>
          <p:cNvCxnSpPr/>
          <p:nvPr/>
        </p:nvCxnSpPr>
        <p:spPr bwMode="auto">
          <a:xfrm>
            <a:off x="393700" y="5211622"/>
            <a:ext cx="85725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33CC"/>
            </a:solidFill>
            <a:prstDash val="dashDot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矩形 11"/>
          <p:cNvSpPr/>
          <p:nvPr/>
        </p:nvSpPr>
        <p:spPr>
          <a:xfrm>
            <a:off x="457201" y="595302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baseline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57200" y="36957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baseline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单播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3C8E05EF-4CF5-4282-8633-FB62BF4CD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3"/>
          <p:cNvSpPr>
            <a:spLocks noChangeArrowheads="1"/>
          </p:cNvSpPr>
          <p:nvPr/>
        </p:nvSpPr>
        <p:spPr bwMode="auto">
          <a:xfrm>
            <a:off x="3648074" y="3222198"/>
            <a:ext cx="2238376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3" name="Rectangle 23"/>
          <p:cNvSpPr>
            <a:spLocks noChangeArrowheads="1"/>
          </p:cNvSpPr>
          <p:nvPr/>
        </p:nvSpPr>
        <p:spPr bwMode="auto">
          <a:xfrm>
            <a:off x="2341425" y="4248465"/>
            <a:ext cx="347017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2" name="Rectangle 23"/>
          <p:cNvSpPr>
            <a:spLocks noChangeArrowheads="1"/>
          </p:cNvSpPr>
          <p:nvPr/>
        </p:nvSpPr>
        <p:spPr bwMode="auto">
          <a:xfrm>
            <a:off x="4135114" y="4248464"/>
            <a:ext cx="2190451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自适应机制</a:t>
            </a:r>
            <a:endParaRPr lang="en-US" altLang="zh-CN" dirty="0"/>
          </a:p>
          <a:p>
            <a:pPr lvl="1"/>
            <a:r>
              <a:rPr lang="zh-CN" altLang="en-US" dirty="0"/>
              <a:t>接收方回复完</a:t>
            </a:r>
            <a:r>
              <a:rPr lang="en-US" altLang="zh-CN" dirty="0"/>
              <a:t>ACK</a:t>
            </a:r>
            <a:r>
              <a:rPr lang="zh-CN" altLang="en-US" dirty="0"/>
              <a:t>之后持续监听一段时间</a:t>
            </a:r>
            <a:r>
              <a:rPr lang="en-US" altLang="zh-CN" dirty="0"/>
              <a:t>(delay after receive)</a:t>
            </a:r>
            <a:r>
              <a:rPr lang="zh-CN" altLang="en-US" dirty="0"/>
              <a:t>来接收发送者接下来可能会连续发送的数据包</a:t>
            </a:r>
            <a:endParaRPr lang="en-US" altLang="zh-CN" dirty="0"/>
          </a:p>
        </p:txBody>
      </p:sp>
      <p:sp>
        <p:nvSpPr>
          <p:cNvPr id="39" name="Line 11"/>
          <p:cNvSpPr>
            <a:spLocks noChangeShapeType="1"/>
          </p:cNvSpPr>
          <p:nvPr/>
        </p:nvSpPr>
        <p:spPr bwMode="auto">
          <a:xfrm>
            <a:off x="2277557" y="4633991"/>
            <a:ext cx="42795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</a:pPr>
            <a:endParaRPr lang="zh-CN" altLang="en-US" sz="3600" kern="0" baseline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1023767" y="4272041"/>
            <a:ext cx="11795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en-US" altLang="zh-CN" sz="2000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Receiver</a:t>
            </a:r>
          </a:p>
        </p:txBody>
      </p:sp>
      <p:sp>
        <p:nvSpPr>
          <p:cNvPr id="67" name="Line 7"/>
          <p:cNvSpPr>
            <a:spLocks noChangeShapeType="1"/>
          </p:cNvSpPr>
          <p:nvPr/>
        </p:nvSpPr>
        <p:spPr bwMode="auto">
          <a:xfrm flipV="1">
            <a:off x="2252771" y="3601610"/>
            <a:ext cx="49957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8" name="Text Box 10"/>
          <p:cNvSpPr txBox="1">
            <a:spLocks noChangeArrowheads="1"/>
          </p:cNvSpPr>
          <p:nvPr/>
        </p:nvSpPr>
        <p:spPr bwMode="auto">
          <a:xfrm>
            <a:off x="979931" y="3239660"/>
            <a:ext cx="969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en-US" altLang="zh-CN" sz="2000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Sender</a:t>
            </a:r>
          </a:p>
        </p:txBody>
      </p:sp>
      <p:sp>
        <p:nvSpPr>
          <p:cNvPr id="86" name="Rectangle 22" descr="Light downward diagonal"/>
          <p:cNvSpPr>
            <a:spLocks noChangeArrowheads="1"/>
          </p:cNvSpPr>
          <p:nvPr/>
        </p:nvSpPr>
        <p:spPr bwMode="auto">
          <a:xfrm>
            <a:off x="3777610" y="3280815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87" name="Rectangle 22" descr="Light downward diagonal"/>
          <p:cNvSpPr>
            <a:spLocks noChangeArrowheads="1"/>
          </p:cNvSpPr>
          <p:nvPr/>
        </p:nvSpPr>
        <p:spPr bwMode="auto">
          <a:xfrm>
            <a:off x="4035676" y="3280815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88" name="Rectangle 22" descr="Light downward diagonal"/>
          <p:cNvSpPr>
            <a:spLocks noChangeArrowheads="1"/>
          </p:cNvSpPr>
          <p:nvPr/>
        </p:nvSpPr>
        <p:spPr bwMode="auto">
          <a:xfrm>
            <a:off x="4317103" y="3280815"/>
            <a:ext cx="198883" cy="302066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99" name="Rectangle 22" descr="Light downward diagonal"/>
          <p:cNvSpPr>
            <a:spLocks noChangeArrowheads="1"/>
          </p:cNvSpPr>
          <p:nvPr/>
        </p:nvSpPr>
        <p:spPr bwMode="auto">
          <a:xfrm>
            <a:off x="4178188" y="4320893"/>
            <a:ext cx="56371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06" name="Rectangle 22" descr="Light downward diagonal"/>
          <p:cNvSpPr>
            <a:spLocks noChangeArrowheads="1"/>
          </p:cNvSpPr>
          <p:nvPr/>
        </p:nvSpPr>
        <p:spPr bwMode="auto">
          <a:xfrm>
            <a:off x="4317892" y="4322872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07" name="Rectangle 22" descr="Light downward diagonal"/>
          <p:cNvSpPr>
            <a:spLocks noChangeArrowheads="1"/>
          </p:cNvSpPr>
          <p:nvPr/>
        </p:nvSpPr>
        <p:spPr bwMode="auto">
          <a:xfrm>
            <a:off x="4563910" y="4314780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108" name="Rectangle 22" descr="Light downward diagonal"/>
          <p:cNvSpPr>
            <a:spLocks noChangeArrowheads="1"/>
          </p:cNvSpPr>
          <p:nvPr/>
        </p:nvSpPr>
        <p:spPr bwMode="auto">
          <a:xfrm>
            <a:off x="4563910" y="3280816"/>
            <a:ext cx="135640" cy="320794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cxnSp>
        <p:nvCxnSpPr>
          <p:cNvPr id="7181" name="直接箭头连接符 7180"/>
          <p:cNvCxnSpPr/>
          <p:nvPr/>
        </p:nvCxnSpPr>
        <p:spPr bwMode="auto">
          <a:xfrm>
            <a:off x="4416544" y="3743967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3" name="直接箭头连接符 112"/>
          <p:cNvCxnSpPr/>
          <p:nvPr/>
        </p:nvCxnSpPr>
        <p:spPr bwMode="auto">
          <a:xfrm>
            <a:off x="4614829" y="3735802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53" name="Rectangle 22" descr="Light downward diagonal"/>
          <p:cNvSpPr>
            <a:spLocks noChangeArrowheads="1"/>
          </p:cNvSpPr>
          <p:nvPr/>
        </p:nvSpPr>
        <p:spPr bwMode="auto">
          <a:xfrm>
            <a:off x="4951213" y="3280815"/>
            <a:ext cx="198883" cy="302066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D1</a:t>
            </a:r>
          </a:p>
        </p:txBody>
      </p:sp>
      <p:sp>
        <p:nvSpPr>
          <p:cNvPr id="54" name="Rectangle 22" descr="Light downward diagonal"/>
          <p:cNvSpPr>
            <a:spLocks noChangeArrowheads="1"/>
          </p:cNvSpPr>
          <p:nvPr/>
        </p:nvSpPr>
        <p:spPr bwMode="auto">
          <a:xfrm>
            <a:off x="5198020" y="3280816"/>
            <a:ext cx="135640" cy="320794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55" name="Rectangle 22" descr="Light downward diagonal"/>
          <p:cNvSpPr>
            <a:spLocks noChangeArrowheads="1"/>
          </p:cNvSpPr>
          <p:nvPr/>
        </p:nvSpPr>
        <p:spPr bwMode="auto">
          <a:xfrm>
            <a:off x="4936768" y="4320295"/>
            <a:ext cx="198883" cy="302066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D1</a:t>
            </a:r>
          </a:p>
        </p:txBody>
      </p:sp>
      <p:sp>
        <p:nvSpPr>
          <p:cNvPr id="56" name="Rectangle 22" descr="Light downward diagonal"/>
          <p:cNvSpPr>
            <a:spLocks noChangeArrowheads="1"/>
          </p:cNvSpPr>
          <p:nvPr/>
        </p:nvSpPr>
        <p:spPr bwMode="auto">
          <a:xfrm>
            <a:off x="5192007" y="4302856"/>
            <a:ext cx="135640" cy="320794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57" name="Rectangle 22" descr="Light downward diagonal"/>
          <p:cNvSpPr>
            <a:spLocks noChangeArrowheads="1"/>
          </p:cNvSpPr>
          <p:nvPr/>
        </p:nvSpPr>
        <p:spPr bwMode="auto">
          <a:xfrm>
            <a:off x="5401759" y="3291169"/>
            <a:ext cx="198883" cy="302066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D2</a:t>
            </a:r>
          </a:p>
        </p:txBody>
      </p:sp>
      <p:sp>
        <p:nvSpPr>
          <p:cNvPr id="58" name="Rectangle 22" descr="Light downward diagonal"/>
          <p:cNvSpPr>
            <a:spLocks noChangeArrowheads="1"/>
          </p:cNvSpPr>
          <p:nvPr/>
        </p:nvSpPr>
        <p:spPr bwMode="auto">
          <a:xfrm>
            <a:off x="5648566" y="3291170"/>
            <a:ext cx="135640" cy="320794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59" name="Rectangle 22" descr="Light downward diagonal"/>
          <p:cNvSpPr>
            <a:spLocks noChangeArrowheads="1"/>
          </p:cNvSpPr>
          <p:nvPr/>
        </p:nvSpPr>
        <p:spPr bwMode="auto">
          <a:xfrm>
            <a:off x="5401759" y="4322871"/>
            <a:ext cx="198883" cy="302066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D2</a:t>
            </a:r>
          </a:p>
        </p:txBody>
      </p:sp>
      <p:sp>
        <p:nvSpPr>
          <p:cNvPr id="60" name="Rectangle 22" descr="Light downward diagonal"/>
          <p:cNvSpPr>
            <a:spLocks noChangeArrowheads="1"/>
          </p:cNvSpPr>
          <p:nvPr/>
        </p:nvSpPr>
        <p:spPr bwMode="auto">
          <a:xfrm>
            <a:off x="5648566" y="4314780"/>
            <a:ext cx="135640" cy="320794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1" name="左大括号 60"/>
          <p:cNvSpPr/>
          <p:nvPr/>
        </p:nvSpPr>
        <p:spPr bwMode="auto">
          <a:xfrm rot="16200000">
            <a:off x="5963717" y="4489765"/>
            <a:ext cx="182339" cy="541358"/>
          </a:xfrm>
          <a:prstGeom prst="leftBrace">
            <a:avLst>
              <a:gd name="adj1" fmla="val 28293"/>
              <a:gd name="adj2" fmla="val 5087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865091" y="4892855"/>
            <a:ext cx="19191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delay after receive </a:t>
            </a:r>
            <a:endParaRPr lang="zh-CN" altLang="en-US" dirty="0"/>
          </a:p>
        </p:txBody>
      </p:sp>
      <p:sp>
        <p:nvSpPr>
          <p:cNvPr id="64" name="左大括号 63"/>
          <p:cNvSpPr/>
          <p:nvPr/>
        </p:nvSpPr>
        <p:spPr bwMode="auto">
          <a:xfrm rot="16200000">
            <a:off x="4919331" y="4557559"/>
            <a:ext cx="182339" cy="541358"/>
          </a:xfrm>
          <a:prstGeom prst="leftBrace">
            <a:avLst>
              <a:gd name="adj1" fmla="val 28293"/>
              <a:gd name="adj2" fmla="val 5087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653600" y="4902531"/>
            <a:ext cx="19191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delay after receive </a:t>
            </a:r>
            <a:endParaRPr lang="zh-CN" altLang="en-US" dirty="0"/>
          </a:p>
        </p:txBody>
      </p:sp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11F92C3B-6FFF-48FA-870A-959853B0B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63" grpId="0" animBg="1"/>
      <p:bldP spid="82" grpId="0" animBg="1"/>
      <p:bldP spid="40" grpId="0"/>
      <p:bldP spid="6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错误唤醒问题</a:t>
            </a:r>
            <a:endParaRPr lang="en-US" altLang="zh-CN"/>
          </a:p>
          <a:p>
            <a:pPr lvl="1"/>
            <a:r>
              <a:rPr lang="zh-CN" altLang="en-US"/>
              <a:t>由于</a:t>
            </a:r>
            <a:r>
              <a:rPr lang="en-US" altLang="zh-CN"/>
              <a:t>WiFi</a:t>
            </a:r>
            <a:r>
              <a:rPr lang="zh-CN" altLang="en-US"/>
              <a:t>，蓝牙等与</a:t>
            </a:r>
            <a:r>
              <a:rPr lang="en-US" altLang="zh-CN"/>
              <a:t>802.15.4</a:t>
            </a:r>
            <a:r>
              <a:rPr lang="zh-CN" altLang="en-US"/>
              <a:t>公用</a:t>
            </a:r>
            <a:r>
              <a:rPr lang="en-US" altLang="zh-CN"/>
              <a:t>2.4G</a:t>
            </a:r>
            <a:r>
              <a:rPr lang="zh-CN" altLang="en-US"/>
              <a:t>频段，节点可能会被信道上的</a:t>
            </a:r>
            <a:r>
              <a:rPr lang="en-US" altLang="zh-CN"/>
              <a:t>WiFi</a:t>
            </a:r>
            <a:r>
              <a:rPr lang="zh-CN" altLang="en-US"/>
              <a:t>信号错误唤醒</a:t>
            </a:r>
            <a:endParaRPr lang="en-US" altLang="zh-CN"/>
          </a:p>
          <a:p>
            <a:pPr lvl="1"/>
            <a:r>
              <a:rPr lang="zh-CN" altLang="en-US"/>
              <a:t>持续空听</a:t>
            </a:r>
            <a:r>
              <a:rPr lang="en-US" altLang="zh-CN"/>
              <a:t>(delay after receive)</a:t>
            </a:r>
            <a:r>
              <a:rPr lang="zh-CN" altLang="en-US"/>
              <a:t>将引起不必要的开销</a:t>
            </a:r>
            <a:endParaRPr lang="en-US" altLang="zh-CN"/>
          </a:p>
          <a:p>
            <a:endParaRPr lang="en-US" altLang="zh-CN" dirty="0"/>
          </a:p>
        </p:txBody>
      </p:sp>
      <p:grpSp>
        <p:nvGrpSpPr>
          <p:cNvPr id="6" name="组合 5"/>
          <p:cNvGrpSpPr/>
          <p:nvPr/>
        </p:nvGrpSpPr>
        <p:grpSpPr>
          <a:xfrm>
            <a:off x="720271" y="3280815"/>
            <a:ext cx="8039100" cy="2700885"/>
            <a:chOff x="-693219" y="3001415"/>
            <a:chExt cx="9329219" cy="300568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93219" y="3001415"/>
              <a:ext cx="9329219" cy="300568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4562" y="4170551"/>
              <a:ext cx="325438" cy="553518"/>
            </a:xfrm>
            <a:prstGeom prst="rect">
              <a:avLst/>
            </a:prstGeom>
          </p:spPr>
        </p:pic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777" y="3280814"/>
            <a:ext cx="321027" cy="529185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 bwMode="auto">
          <a:xfrm rot="10800000">
            <a:off x="6688182" y="3095896"/>
            <a:ext cx="352697" cy="862149"/>
          </a:xfrm>
          <a:prstGeom prst="downArrow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16108" y="2724544"/>
            <a:ext cx="119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错误唤醒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6FB8F4AF-5036-4DA9-86FE-17B911D55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468" y="2427572"/>
            <a:ext cx="5223532" cy="42399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错误唤醒问题可行解决方法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RSSI</a:t>
            </a:r>
            <a:r>
              <a:rPr lang="zh-CN" altLang="en-US" dirty="0"/>
              <a:t>特征来区分</a:t>
            </a:r>
            <a:r>
              <a:rPr lang="en-US" altLang="zh-CN" dirty="0"/>
              <a:t>ZigBee</a:t>
            </a:r>
            <a:r>
              <a:rPr lang="zh-CN" altLang="en-US" dirty="0"/>
              <a:t>信号与其它微波信号，在</a:t>
            </a:r>
            <a:r>
              <a:rPr lang="en-US" altLang="zh-CN" dirty="0"/>
              <a:t>CCA</a:t>
            </a:r>
            <a:r>
              <a:rPr lang="zh-CN" altLang="en-US" dirty="0"/>
              <a:t>时判断是否为</a:t>
            </a:r>
            <a:r>
              <a:rPr lang="en-US" altLang="zh-CN" dirty="0"/>
              <a:t>ZigBee</a:t>
            </a:r>
            <a:r>
              <a:rPr lang="zh-CN" altLang="en-US" dirty="0"/>
              <a:t>信号，是则醒过来收包，否则直接睡眠</a:t>
            </a:r>
            <a:endParaRPr lang="en-US" altLang="zh-CN" dirty="0"/>
          </a:p>
          <a:p>
            <a:pPr lvl="1"/>
            <a:r>
              <a:rPr lang="zh-CN" altLang="en-US" dirty="0"/>
              <a:t>可以利用的</a:t>
            </a:r>
            <a:r>
              <a:rPr lang="en-US" altLang="zh-CN" dirty="0"/>
              <a:t>RSSI</a:t>
            </a:r>
            <a:r>
              <a:rPr lang="zh-CN" altLang="en-US" dirty="0"/>
              <a:t>特征</a:t>
            </a:r>
            <a:endParaRPr lang="en-US" altLang="zh-CN" dirty="0"/>
          </a:p>
          <a:p>
            <a:pPr lvl="2"/>
            <a:r>
              <a:rPr lang="zh-CN" altLang="en-US" dirty="0"/>
              <a:t>广播时间</a:t>
            </a:r>
            <a:endParaRPr lang="en-US" altLang="zh-CN" dirty="0"/>
          </a:p>
          <a:p>
            <a:pPr lvl="2"/>
            <a:r>
              <a:rPr lang="zh-CN" altLang="en-US" dirty="0"/>
              <a:t>数据包间隔</a:t>
            </a:r>
            <a:endParaRPr lang="en-US" altLang="zh-CN" dirty="0"/>
          </a:p>
          <a:p>
            <a:pPr lvl="2"/>
            <a:r>
              <a:rPr lang="zh-CN" altLang="en-US" dirty="0"/>
              <a:t>峰均比</a:t>
            </a:r>
            <a:endParaRPr lang="en-US" altLang="zh-CN" dirty="0"/>
          </a:p>
          <a:p>
            <a:pPr lvl="2"/>
            <a:r>
              <a:rPr lang="en-US" altLang="zh-CN" dirty="0"/>
              <a:t>RSSI</a:t>
            </a:r>
            <a:r>
              <a:rPr lang="zh-CN" altLang="en-US" dirty="0"/>
              <a:t>是否可能小于</a:t>
            </a:r>
            <a:br>
              <a:rPr lang="en-US" altLang="zh-CN" dirty="0"/>
            </a:br>
            <a:r>
              <a:rPr lang="zh-CN" altLang="en-US" dirty="0"/>
              <a:t>噪声强度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7C752E-7CCA-44A2-9985-B79785E42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420" y="2718193"/>
            <a:ext cx="6568580" cy="413980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错误唤醒问题可行解决方法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RSSI</a:t>
            </a:r>
            <a:r>
              <a:rPr lang="zh-CN" altLang="en-US" dirty="0"/>
              <a:t>特征来区分</a:t>
            </a:r>
            <a:r>
              <a:rPr lang="en-US" altLang="zh-CN" dirty="0"/>
              <a:t>ZigBee</a:t>
            </a:r>
            <a:r>
              <a:rPr lang="zh-CN" altLang="en-US" dirty="0"/>
              <a:t>信号与其它微波信号，在</a:t>
            </a:r>
            <a:r>
              <a:rPr lang="en-US" altLang="zh-CN" dirty="0"/>
              <a:t>CCA</a:t>
            </a:r>
            <a:r>
              <a:rPr lang="zh-CN" altLang="en-US" dirty="0"/>
              <a:t>时判断是否为</a:t>
            </a:r>
            <a:r>
              <a:rPr lang="en-US" altLang="zh-CN" dirty="0"/>
              <a:t>ZigBee</a:t>
            </a:r>
            <a:r>
              <a:rPr lang="zh-CN" altLang="en-US" dirty="0"/>
              <a:t>信号，是则醒过来收包，否则直接睡眠</a:t>
            </a:r>
            <a:endParaRPr lang="en-US" altLang="zh-CN" dirty="0"/>
          </a:p>
          <a:p>
            <a:pPr lvl="1"/>
            <a:r>
              <a:rPr lang="zh-CN" altLang="en-US" dirty="0"/>
              <a:t>可以利用的</a:t>
            </a:r>
            <a:r>
              <a:rPr lang="en-US" altLang="zh-CN" dirty="0"/>
              <a:t>RSSI</a:t>
            </a:r>
            <a:r>
              <a:rPr lang="zh-CN" altLang="en-US" dirty="0"/>
              <a:t>特征</a:t>
            </a:r>
            <a:endParaRPr lang="en-US" altLang="zh-CN" dirty="0"/>
          </a:p>
          <a:p>
            <a:pPr lvl="2"/>
            <a:r>
              <a:rPr lang="zh-CN" altLang="en-US" dirty="0"/>
              <a:t>广播时间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C8E75384-4A2C-4E42-85C5-04CCA56A5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223" y="2344604"/>
            <a:ext cx="6123709" cy="4403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错误唤醒问题可行解决方法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RSSI</a:t>
            </a:r>
            <a:r>
              <a:rPr lang="zh-CN" altLang="en-US" dirty="0"/>
              <a:t>特征来区分</a:t>
            </a:r>
            <a:r>
              <a:rPr lang="en-US" altLang="zh-CN" dirty="0"/>
              <a:t>ZigBee</a:t>
            </a:r>
            <a:r>
              <a:rPr lang="zh-CN" altLang="en-US" dirty="0"/>
              <a:t>信号与其它微波信号，在</a:t>
            </a:r>
            <a:r>
              <a:rPr lang="en-US" altLang="zh-CN" dirty="0"/>
              <a:t>CCA</a:t>
            </a:r>
            <a:r>
              <a:rPr lang="zh-CN" altLang="en-US" dirty="0"/>
              <a:t>时判断是否为</a:t>
            </a:r>
            <a:r>
              <a:rPr lang="en-US" altLang="zh-CN" dirty="0"/>
              <a:t>ZigBee</a:t>
            </a:r>
            <a:r>
              <a:rPr lang="zh-CN" altLang="en-US" dirty="0"/>
              <a:t>信号，是则醒过来收包，否则直接睡眠</a:t>
            </a:r>
            <a:endParaRPr lang="en-US" altLang="zh-CN" dirty="0"/>
          </a:p>
          <a:p>
            <a:pPr lvl="1"/>
            <a:r>
              <a:rPr lang="zh-CN" altLang="en-US" dirty="0"/>
              <a:t>可以利用的</a:t>
            </a:r>
            <a:r>
              <a:rPr lang="en-US" altLang="zh-CN" dirty="0"/>
              <a:t>RSSI</a:t>
            </a:r>
            <a:r>
              <a:rPr lang="zh-CN" altLang="en-US" dirty="0"/>
              <a:t>特征</a:t>
            </a:r>
            <a:endParaRPr lang="en-US" altLang="zh-CN" dirty="0"/>
          </a:p>
          <a:p>
            <a:pPr lvl="2"/>
            <a:r>
              <a:rPr lang="zh-CN" altLang="en-US" dirty="0"/>
              <a:t>广播时间</a:t>
            </a:r>
            <a:endParaRPr lang="en-US" altLang="zh-CN" dirty="0"/>
          </a:p>
          <a:p>
            <a:pPr lvl="2"/>
            <a:r>
              <a:rPr lang="zh-CN" altLang="en-US" dirty="0"/>
              <a:t>数据包间隔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0402EC0B-947D-46FA-B926-76891F516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401" y="2304948"/>
            <a:ext cx="6608872" cy="437605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错误唤醒问题可行解决方法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RSSI</a:t>
            </a:r>
            <a:r>
              <a:rPr lang="zh-CN" altLang="en-US" dirty="0"/>
              <a:t>特征来区分</a:t>
            </a:r>
            <a:r>
              <a:rPr lang="en-US" altLang="zh-CN" dirty="0"/>
              <a:t>ZigBee</a:t>
            </a:r>
            <a:r>
              <a:rPr lang="zh-CN" altLang="en-US" dirty="0"/>
              <a:t>信号与其它微波信号，在</a:t>
            </a:r>
            <a:r>
              <a:rPr lang="en-US" altLang="zh-CN" dirty="0"/>
              <a:t>CCA</a:t>
            </a:r>
            <a:r>
              <a:rPr lang="zh-CN" altLang="en-US" dirty="0"/>
              <a:t>时判断是否为</a:t>
            </a:r>
            <a:r>
              <a:rPr lang="en-US" altLang="zh-CN" dirty="0"/>
              <a:t>ZigBee</a:t>
            </a:r>
            <a:r>
              <a:rPr lang="zh-CN" altLang="en-US" dirty="0"/>
              <a:t>信号，是则醒过来收包，否则直接睡眠</a:t>
            </a:r>
            <a:endParaRPr lang="en-US" altLang="zh-CN" dirty="0"/>
          </a:p>
          <a:p>
            <a:pPr lvl="1"/>
            <a:r>
              <a:rPr lang="zh-CN" altLang="en-US" dirty="0"/>
              <a:t>可以利用的</a:t>
            </a:r>
            <a:r>
              <a:rPr lang="en-US" altLang="zh-CN" dirty="0"/>
              <a:t>RSSI</a:t>
            </a:r>
            <a:r>
              <a:rPr lang="zh-CN" altLang="en-US" dirty="0"/>
              <a:t>特征</a:t>
            </a:r>
            <a:endParaRPr lang="en-US" altLang="zh-CN" dirty="0"/>
          </a:p>
          <a:p>
            <a:pPr lvl="2"/>
            <a:r>
              <a:rPr lang="zh-CN" altLang="en-US" dirty="0"/>
              <a:t>广播时间</a:t>
            </a:r>
            <a:endParaRPr lang="en-US" altLang="zh-CN" dirty="0"/>
          </a:p>
          <a:p>
            <a:pPr lvl="2"/>
            <a:r>
              <a:rPr lang="zh-CN" altLang="en-US" dirty="0"/>
              <a:t>数据包间隔</a:t>
            </a:r>
            <a:endParaRPr lang="en-US" altLang="zh-CN" dirty="0"/>
          </a:p>
          <a:p>
            <a:pPr lvl="2"/>
            <a:r>
              <a:rPr lang="zh-CN" altLang="en-US" dirty="0"/>
              <a:t>峰均比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8169ACF-4484-4FFE-8C0D-5FA9A4465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999" y="2417042"/>
            <a:ext cx="5697777" cy="41075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错误唤醒问题可行解决方法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RSSI</a:t>
            </a:r>
            <a:r>
              <a:rPr lang="zh-CN" altLang="en-US" dirty="0"/>
              <a:t>特征来区分</a:t>
            </a:r>
            <a:r>
              <a:rPr lang="en-US" altLang="zh-CN" dirty="0"/>
              <a:t>ZigBee</a:t>
            </a:r>
            <a:r>
              <a:rPr lang="zh-CN" altLang="en-US" dirty="0"/>
              <a:t>信号与其它微波信号，在</a:t>
            </a:r>
            <a:r>
              <a:rPr lang="en-US" altLang="zh-CN" dirty="0"/>
              <a:t>CCA</a:t>
            </a:r>
            <a:r>
              <a:rPr lang="zh-CN" altLang="en-US" dirty="0"/>
              <a:t>时判断是否为</a:t>
            </a:r>
            <a:r>
              <a:rPr lang="en-US" altLang="zh-CN" dirty="0"/>
              <a:t>ZigBee</a:t>
            </a:r>
            <a:r>
              <a:rPr lang="zh-CN" altLang="en-US" dirty="0"/>
              <a:t>信号，是则醒过来收包，否则直接睡眠</a:t>
            </a:r>
            <a:endParaRPr lang="en-US" altLang="zh-CN" dirty="0"/>
          </a:p>
          <a:p>
            <a:pPr lvl="1"/>
            <a:r>
              <a:rPr lang="zh-CN" altLang="en-US" dirty="0"/>
              <a:t>可以利用的</a:t>
            </a:r>
            <a:r>
              <a:rPr lang="en-US" altLang="zh-CN" dirty="0"/>
              <a:t>RSSI</a:t>
            </a:r>
            <a:r>
              <a:rPr lang="zh-CN" altLang="en-US" dirty="0"/>
              <a:t>特征</a:t>
            </a:r>
            <a:endParaRPr lang="en-US" altLang="zh-CN" dirty="0"/>
          </a:p>
          <a:p>
            <a:pPr lvl="2"/>
            <a:r>
              <a:rPr lang="zh-CN" altLang="en-US" dirty="0"/>
              <a:t>广播时间</a:t>
            </a:r>
            <a:endParaRPr lang="en-US" altLang="zh-CN" dirty="0"/>
          </a:p>
          <a:p>
            <a:pPr lvl="2"/>
            <a:r>
              <a:rPr lang="zh-CN" altLang="en-US" dirty="0"/>
              <a:t>数据包间隔</a:t>
            </a:r>
            <a:endParaRPr lang="en-US" altLang="zh-CN" dirty="0"/>
          </a:p>
          <a:p>
            <a:pPr lvl="2"/>
            <a:r>
              <a:rPr lang="zh-CN" altLang="en-US" dirty="0"/>
              <a:t>峰均比</a:t>
            </a:r>
            <a:endParaRPr lang="en-US" altLang="zh-CN" dirty="0"/>
          </a:p>
          <a:p>
            <a:pPr lvl="2"/>
            <a:r>
              <a:rPr lang="en-US" altLang="zh-CN" dirty="0"/>
              <a:t>RSSI</a:t>
            </a:r>
            <a:r>
              <a:rPr lang="zh-CN" altLang="en-US" dirty="0"/>
              <a:t>是否可能小于</a:t>
            </a:r>
            <a:br>
              <a:rPr lang="en-US" altLang="zh-CN" dirty="0"/>
            </a:br>
            <a:r>
              <a:rPr lang="zh-CN" altLang="en-US" dirty="0"/>
              <a:t>噪声强度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A2428E34-BBB5-45D9-8998-1ACFDD1DD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错误唤醒问题可行解决方法</a:t>
            </a:r>
            <a:endParaRPr lang="en-US" altLang="zh-CN"/>
          </a:p>
          <a:p>
            <a:pPr lvl="1"/>
            <a:r>
              <a:rPr lang="zh-CN" altLang="en-US"/>
              <a:t>通过</a:t>
            </a:r>
            <a:r>
              <a:rPr lang="en-US" altLang="zh-CN"/>
              <a:t>RSSI</a:t>
            </a:r>
            <a:r>
              <a:rPr lang="zh-CN" altLang="en-US"/>
              <a:t>特征来区分</a:t>
            </a:r>
            <a:r>
              <a:rPr lang="en-US" altLang="zh-CN"/>
              <a:t>ZigBee</a:t>
            </a:r>
            <a:r>
              <a:rPr lang="zh-CN" altLang="en-US"/>
              <a:t>信号与其它微波信号，在</a:t>
            </a:r>
            <a:r>
              <a:rPr lang="en-US" altLang="zh-CN"/>
              <a:t>CCA</a:t>
            </a:r>
            <a:r>
              <a:rPr lang="zh-CN" altLang="en-US"/>
              <a:t>时判断是否为</a:t>
            </a:r>
            <a:r>
              <a:rPr lang="en-US" altLang="zh-CN"/>
              <a:t>ZigBee</a:t>
            </a:r>
            <a:r>
              <a:rPr lang="zh-CN" altLang="en-US"/>
              <a:t>信号，是则醒过来收包，否则直接睡眠</a:t>
            </a:r>
            <a:endParaRPr lang="en-US" altLang="zh-CN"/>
          </a:p>
          <a:p>
            <a:pPr lvl="1"/>
            <a:r>
              <a:rPr lang="zh-CN" altLang="en-US"/>
              <a:t>可以利用的</a:t>
            </a:r>
            <a:r>
              <a:rPr lang="en-US" altLang="zh-CN"/>
              <a:t>RSSI</a:t>
            </a:r>
            <a:r>
              <a:rPr lang="zh-CN" altLang="en-US"/>
              <a:t>特征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endParaRPr lang="en-US" altLang="zh-CN" dirty="0"/>
          </a:p>
        </p:txBody>
      </p:sp>
      <p:graphicFrame>
        <p:nvGraphicFramePr>
          <p:cNvPr id="11" name="内容占位符 3"/>
          <p:cNvGraphicFramePr/>
          <p:nvPr>
            <p:extLst>
              <p:ext uri="{D42A27DB-BD31-4B8C-83A1-F6EECF244321}">
                <p14:modId xmlns:p14="http://schemas.microsoft.com/office/powerpoint/2010/main" val="1195533855"/>
              </p:ext>
            </p:extLst>
          </p:nvPr>
        </p:nvGraphicFramePr>
        <p:xfrm>
          <a:off x="110671" y="2791271"/>
          <a:ext cx="8886915" cy="3313509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59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2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协议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\RSSI</a:t>
                      </a: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特征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广播时间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数据包间隔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峰均比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RSSI</a:t>
                      </a: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是否会小于噪声强度？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ZigBee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altLang="zh-CN" sz="2400" kern="100" dirty="0">
                          <a:effectLst/>
                          <a:latin typeface="+mj-ea"/>
                          <a:ea typeface="+mj-ea"/>
                        </a:rPr>
                        <a:t>[576, 4256]μ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2.8ms or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192</a:t>
                      </a:r>
                      <a:r>
                        <a:rPr lang="el-GR" altLang="zh-CN" sz="2400" kern="100" dirty="0">
                          <a:effectLst/>
                          <a:latin typeface="+mj-ea"/>
                          <a:ea typeface="+mj-ea"/>
                        </a:rPr>
                        <a:t>μ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≤ 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1.3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FALSE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kern="100" dirty="0" err="1">
                          <a:effectLst/>
                          <a:latin typeface="+mj-ea"/>
                          <a:ea typeface="+mj-ea"/>
                        </a:rPr>
                        <a:t>WiFi</a:t>
                      </a:r>
                      <a:endParaRPr lang="zh-CN" alt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altLang="zh-CN" sz="2400" kern="100" dirty="0">
                          <a:effectLst/>
                          <a:latin typeface="+mj-ea"/>
                          <a:ea typeface="+mj-ea"/>
                        </a:rPr>
                        <a:t>[194, 542]μ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altLang="zh-CN" sz="2400" kern="100" dirty="0">
                          <a:effectLst/>
                          <a:latin typeface="+mj-ea"/>
                          <a:ea typeface="+mj-ea"/>
                        </a:rPr>
                        <a:t>≥ 28μ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≥ 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1.9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FALSE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Bluetooth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altLang="zh-CN" sz="2400" kern="100" dirty="0">
                          <a:effectLst/>
                          <a:latin typeface="+mj-ea"/>
                          <a:ea typeface="+mj-ea"/>
                        </a:rPr>
                        <a:t>366μ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NA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≤ 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1.3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FALSE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Microwave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10ms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10ms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+mj-ea"/>
                          <a:ea typeface="+mj-ea"/>
                        </a:rPr>
                        <a:t>≥ </a:t>
                      </a: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2.9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+mj-ea"/>
                          <a:ea typeface="+mj-ea"/>
                        </a:rPr>
                        <a:t>TRUE</a:t>
                      </a:r>
                      <a:endParaRPr lang="zh-CN" sz="24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DF4D42-502A-4FA8-82E0-8FB0C6AD8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发送方发起异步</a:t>
            </a:r>
            <a:r>
              <a:rPr lang="en-US" altLang="zh-CN" dirty="0">
                <a:latin typeface="+mj-ea"/>
                <a:ea typeface="+mj-ea"/>
              </a:rPr>
              <a:t>MAC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LPL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LPL MAC </a:t>
            </a:r>
            <a:r>
              <a:rPr lang="zh-CN" altLang="en-US" dirty="0"/>
              <a:t>回顾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比同步</a:t>
            </a:r>
            <a:r>
              <a:rPr lang="en-US" altLang="zh-CN" dirty="0"/>
              <a:t>MAC</a:t>
            </a:r>
            <a:r>
              <a:rPr lang="zh-CN" altLang="en-US" dirty="0"/>
              <a:t>更节能，无需所有节点一开始都醒着</a:t>
            </a:r>
            <a:endParaRPr lang="en-US" altLang="zh-CN" dirty="0"/>
          </a:p>
          <a:p>
            <a:pPr lvl="1"/>
            <a:r>
              <a:rPr lang="zh-CN" altLang="en-US" dirty="0"/>
              <a:t>然而发送方需要持续发送探测包直到接收方醒来，这个过程中将持续占用信道，影响了发送方通信范围内其他节点的通信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1E026A3B-B921-4330-BA37-49E5985DD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思考题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LPL MAC</a:t>
            </a:r>
            <a:r>
              <a:rPr lang="zh-CN" altLang="en-US" dirty="0"/>
              <a:t>中，发送节点持续发送探测包来唤醒接收节点。已知，</a:t>
            </a:r>
            <a:r>
              <a:rPr lang="en-US" altLang="zh-CN" dirty="0"/>
              <a:t>LPL MAC</a:t>
            </a:r>
            <a:r>
              <a:rPr lang="zh-CN" altLang="en-US" dirty="0"/>
              <a:t>采用数据包作为探测包，接收节点在周期性醒来进行</a:t>
            </a:r>
            <a:r>
              <a:rPr lang="en-US" altLang="zh-CN" dirty="0"/>
              <a:t>CCA</a:t>
            </a:r>
            <a:r>
              <a:rPr lang="zh-CN" altLang="en-US" dirty="0"/>
              <a:t>，在每次</a:t>
            </a:r>
            <a:r>
              <a:rPr lang="en-US" altLang="zh-CN" dirty="0"/>
              <a:t>CCA</a:t>
            </a:r>
            <a:r>
              <a:rPr lang="zh-CN" altLang="en-US" dirty="0"/>
              <a:t>期间采样</a:t>
            </a:r>
            <a:r>
              <a:rPr lang="en-US" altLang="zh-CN" dirty="0"/>
              <a:t>400</a:t>
            </a:r>
            <a:r>
              <a:rPr lang="zh-CN" altLang="en-US" dirty="0"/>
              <a:t>次，只有当采样得到的信号强度平均值超过</a:t>
            </a:r>
            <a:r>
              <a:rPr lang="en-US" altLang="zh-CN" dirty="0"/>
              <a:t>-77dBm</a:t>
            </a:r>
            <a:r>
              <a:rPr lang="zh-CN" altLang="en-US" dirty="0"/>
              <a:t>才醒来。假设每次</a:t>
            </a:r>
            <a:r>
              <a:rPr lang="en-US" altLang="zh-CN" dirty="0"/>
              <a:t>CCA</a:t>
            </a:r>
            <a:r>
              <a:rPr lang="zh-CN" altLang="en-US" dirty="0"/>
              <a:t>的时间长度是</a:t>
            </a:r>
            <a:r>
              <a:rPr lang="en-US" altLang="zh-CN" dirty="0"/>
              <a:t>11ms</a:t>
            </a:r>
            <a:r>
              <a:rPr lang="zh-CN" altLang="en-US" dirty="0"/>
              <a:t>，探测包长度是</a:t>
            </a:r>
            <a:r>
              <a:rPr lang="en-US" altLang="zh-CN" dirty="0"/>
              <a:t>2ms</a:t>
            </a:r>
            <a:r>
              <a:rPr lang="zh-CN" altLang="en-US" dirty="0"/>
              <a:t>，接收的信号强度</a:t>
            </a:r>
            <a:r>
              <a:rPr lang="en-US" altLang="zh-CN" dirty="0"/>
              <a:t>-56dBm</a:t>
            </a:r>
            <a:r>
              <a:rPr lang="zh-CN" altLang="en-US" dirty="0"/>
              <a:t>，环境噪声</a:t>
            </a:r>
            <a:r>
              <a:rPr lang="en-US" altLang="zh-CN" dirty="0"/>
              <a:t>-100dBm</a:t>
            </a:r>
            <a:r>
              <a:rPr lang="zh-CN" altLang="en-US" dirty="0"/>
              <a:t>。那么，为了使接收方正确收到包，探测包间隔最大为多少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3ECA8858-2FD6-475D-B84D-755683941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接收方发起异步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RI-MAC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RI-MAC </a:t>
            </a:r>
            <a:r>
              <a:rPr lang="zh-CN" altLang="en-US"/>
              <a:t>工作机制</a:t>
            </a:r>
            <a:endParaRPr lang="en-US" altLang="zh-CN"/>
          </a:p>
          <a:p>
            <a:pPr lvl="1"/>
            <a:r>
              <a:rPr lang="zh-CN" altLang="en-US"/>
              <a:t>发送者如果有数据需要发送，一直处于侦听状态，直到收到接收者的探测包才可以发送数据</a:t>
            </a:r>
            <a:endParaRPr lang="en-US" altLang="zh-CN"/>
          </a:p>
          <a:p>
            <a:pPr lvl="1"/>
            <a:r>
              <a:rPr lang="zh-CN" altLang="en-US"/>
              <a:t>接收者周期性醒来，并发送探测包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687334"/>
              </p:ext>
            </p:extLst>
          </p:nvPr>
        </p:nvGraphicFramePr>
        <p:xfrm>
          <a:off x="827084" y="3074237"/>
          <a:ext cx="8104935" cy="279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2" name="Visio" r:id="rId4" imgW="5058410" imgH="1741805" progId="Visio.Drawing.15">
                  <p:embed/>
                </p:oleObj>
              </mc:Choice>
              <mc:Fallback>
                <p:oleObj name="Visio" r:id="rId4" imgW="5058410" imgH="174180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4" y="3074237"/>
                        <a:ext cx="8104935" cy="2795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132DC8-8734-4960-A0FB-9003AAC3F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接收方发起异步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RI-MAC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接收方发起 </a:t>
            </a:r>
            <a:r>
              <a:rPr lang="en-US" altLang="zh-CN"/>
              <a:t>vs. </a:t>
            </a:r>
            <a:r>
              <a:rPr lang="zh-CN" altLang="en-US"/>
              <a:t>发送方发起</a:t>
            </a:r>
            <a:endParaRPr lang="en-US" altLang="zh-CN"/>
          </a:p>
          <a:p>
            <a:pPr lvl="1"/>
            <a:r>
              <a:rPr lang="zh-CN" altLang="en-US"/>
              <a:t>发送方发起的</a:t>
            </a:r>
            <a:r>
              <a:rPr lang="en-US" altLang="zh-CN"/>
              <a:t>MAC</a:t>
            </a:r>
            <a:r>
              <a:rPr lang="zh-CN" altLang="en-US"/>
              <a:t>机制要持续占用信道，导致其他邻居无法收发数据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 dirty="0"/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auto">
          <a:xfrm>
            <a:off x="3432410" y="2475945"/>
            <a:ext cx="2257421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3136297" y="3502212"/>
            <a:ext cx="347017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4929989" y="3502211"/>
            <a:ext cx="759842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3072429" y="3887738"/>
            <a:ext cx="42795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</a:pPr>
            <a:endParaRPr lang="zh-CN" altLang="en-US" sz="3600" kern="0" baseline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1805066" y="3525788"/>
            <a:ext cx="12105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zh-CN" altLang="en-US" sz="2000" baseline="0" dirty="0">
                <a:solidFill>
                  <a:srgbClr val="000000"/>
                </a:solidFill>
                <a:latin typeface="+mj-ea"/>
                <a:ea typeface="+mj-ea"/>
              </a:rPr>
              <a:t>接收节点</a:t>
            </a:r>
            <a:endParaRPr lang="en-US" altLang="zh-CN" sz="2000" baseline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3047643" y="2855357"/>
            <a:ext cx="42795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805066" y="2493407"/>
            <a:ext cx="12105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zh-CN" altLang="en-US" sz="2000" baseline="0" dirty="0">
                <a:solidFill>
                  <a:srgbClr val="000000"/>
                </a:solidFill>
                <a:latin typeface="+mj-ea"/>
                <a:ea typeface="+mj-ea"/>
              </a:rPr>
              <a:t>发送节点</a:t>
            </a:r>
            <a:endParaRPr lang="en-US" altLang="zh-CN" sz="2000" baseline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2" name="Rectangle 22" descr="Light downward diagonal"/>
          <p:cNvSpPr>
            <a:spLocks noChangeArrowheads="1"/>
          </p:cNvSpPr>
          <p:nvPr/>
        </p:nvSpPr>
        <p:spPr bwMode="auto">
          <a:xfrm>
            <a:off x="3558960" y="2534563"/>
            <a:ext cx="200471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3" name="Rectangle 22" descr="Light downward diagonal"/>
          <p:cNvSpPr>
            <a:spLocks noChangeArrowheads="1"/>
          </p:cNvSpPr>
          <p:nvPr/>
        </p:nvSpPr>
        <p:spPr bwMode="auto">
          <a:xfrm>
            <a:off x="3810231" y="2534562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4" name="Rectangle 22" descr="Light downward diagonal"/>
          <p:cNvSpPr>
            <a:spLocks noChangeArrowheads="1"/>
          </p:cNvSpPr>
          <p:nvPr/>
        </p:nvSpPr>
        <p:spPr bwMode="auto">
          <a:xfrm>
            <a:off x="4068297" y="2534562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5" name="Rectangle 22" descr="Light downward diagonal"/>
          <p:cNvSpPr>
            <a:spLocks noChangeArrowheads="1"/>
          </p:cNvSpPr>
          <p:nvPr/>
        </p:nvSpPr>
        <p:spPr bwMode="auto">
          <a:xfrm>
            <a:off x="4311992" y="2534562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6" name="Rectangle 22" descr="Light downward diagonal"/>
          <p:cNvSpPr>
            <a:spLocks noChangeArrowheads="1"/>
          </p:cNvSpPr>
          <p:nvPr/>
        </p:nvSpPr>
        <p:spPr bwMode="auto">
          <a:xfrm>
            <a:off x="4572482" y="2534562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7" name="Rectangle 22" descr="Light downward diagonal"/>
          <p:cNvSpPr>
            <a:spLocks noChangeArrowheads="1"/>
          </p:cNvSpPr>
          <p:nvPr/>
        </p:nvSpPr>
        <p:spPr bwMode="auto">
          <a:xfrm>
            <a:off x="4830548" y="2534562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8" name="Rectangle 22" descr="Light downward diagonal"/>
          <p:cNvSpPr>
            <a:spLocks noChangeArrowheads="1"/>
          </p:cNvSpPr>
          <p:nvPr/>
        </p:nvSpPr>
        <p:spPr bwMode="auto">
          <a:xfrm>
            <a:off x="5111975" y="2523531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21" name="Rectangle 22" descr="Light downward diagonal"/>
          <p:cNvSpPr>
            <a:spLocks noChangeArrowheads="1"/>
          </p:cNvSpPr>
          <p:nvPr/>
        </p:nvSpPr>
        <p:spPr bwMode="auto">
          <a:xfrm>
            <a:off x="4973060" y="3574640"/>
            <a:ext cx="56371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2" name="Rectangle 22" descr="Light downward diagonal"/>
          <p:cNvSpPr>
            <a:spLocks noChangeArrowheads="1"/>
          </p:cNvSpPr>
          <p:nvPr/>
        </p:nvSpPr>
        <p:spPr bwMode="auto">
          <a:xfrm>
            <a:off x="5112764" y="3576619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23" name="Rectangle 22" descr="Light downward diagonal"/>
          <p:cNvSpPr>
            <a:spLocks noChangeArrowheads="1"/>
          </p:cNvSpPr>
          <p:nvPr/>
        </p:nvSpPr>
        <p:spPr bwMode="auto">
          <a:xfrm>
            <a:off x="5358782" y="3568527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24" name="Rectangle 22" descr="Light downward diagonal"/>
          <p:cNvSpPr>
            <a:spLocks noChangeArrowheads="1"/>
          </p:cNvSpPr>
          <p:nvPr/>
        </p:nvSpPr>
        <p:spPr bwMode="auto">
          <a:xfrm>
            <a:off x="5358782" y="2542259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cxnSp>
        <p:nvCxnSpPr>
          <p:cNvPr id="25" name="直接箭头连接符 24"/>
          <p:cNvCxnSpPr/>
          <p:nvPr/>
        </p:nvCxnSpPr>
        <p:spPr bwMode="auto">
          <a:xfrm>
            <a:off x="5211416" y="2997714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6" name="直接箭头连接符 25"/>
          <p:cNvCxnSpPr/>
          <p:nvPr/>
        </p:nvCxnSpPr>
        <p:spPr bwMode="auto">
          <a:xfrm>
            <a:off x="5409701" y="2989549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3449914" y="4983215"/>
            <a:ext cx="2257421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" name="Rectangle 23"/>
          <p:cNvSpPr>
            <a:spLocks noChangeArrowheads="1"/>
          </p:cNvSpPr>
          <p:nvPr/>
        </p:nvSpPr>
        <p:spPr bwMode="auto">
          <a:xfrm>
            <a:off x="3153801" y="6009482"/>
            <a:ext cx="347017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" name="Rectangle 23"/>
          <p:cNvSpPr>
            <a:spLocks noChangeArrowheads="1"/>
          </p:cNvSpPr>
          <p:nvPr/>
        </p:nvSpPr>
        <p:spPr bwMode="auto">
          <a:xfrm>
            <a:off x="4792417" y="6009481"/>
            <a:ext cx="914918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4" name="Line 11"/>
          <p:cNvSpPr>
            <a:spLocks noChangeShapeType="1"/>
          </p:cNvSpPr>
          <p:nvPr/>
        </p:nvSpPr>
        <p:spPr bwMode="auto">
          <a:xfrm>
            <a:off x="3089933" y="6395008"/>
            <a:ext cx="42795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</a:pPr>
            <a:endParaRPr lang="zh-CN" altLang="en-US" sz="3600" kern="0" baseline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5" name="Text Box 12"/>
          <p:cNvSpPr txBox="1">
            <a:spLocks noChangeArrowheads="1"/>
          </p:cNvSpPr>
          <p:nvPr/>
        </p:nvSpPr>
        <p:spPr bwMode="auto">
          <a:xfrm>
            <a:off x="1805066" y="6033058"/>
            <a:ext cx="12105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zh-CN" altLang="en-US" sz="2000" baseline="0" dirty="0">
                <a:solidFill>
                  <a:srgbClr val="000000"/>
                </a:solidFill>
                <a:latin typeface="+mj-ea"/>
                <a:ea typeface="+mj-ea"/>
              </a:rPr>
              <a:t>接收节点</a:t>
            </a:r>
            <a:endParaRPr lang="en-US" altLang="zh-CN" sz="2000" baseline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 flipV="1">
            <a:off x="3065147" y="5362627"/>
            <a:ext cx="42795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1805066" y="5000677"/>
            <a:ext cx="12105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0" hangingPunct="0"/>
            <a:r>
              <a:rPr lang="zh-CN" altLang="en-US" sz="2000" baseline="0" dirty="0">
                <a:solidFill>
                  <a:srgbClr val="000000"/>
                </a:solidFill>
                <a:latin typeface="+mj-ea"/>
                <a:ea typeface="+mj-ea"/>
              </a:rPr>
              <a:t>发送节点</a:t>
            </a:r>
            <a:endParaRPr lang="en-US" altLang="zh-CN" sz="2000" baseline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4" name="Rectangle 22" descr="Light downward diagonal"/>
          <p:cNvSpPr>
            <a:spLocks noChangeArrowheads="1"/>
          </p:cNvSpPr>
          <p:nvPr/>
        </p:nvSpPr>
        <p:spPr bwMode="auto">
          <a:xfrm>
            <a:off x="5129479" y="5030801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46" name="Rectangle 22" descr="Light downward diagonal"/>
          <p:cNvSpPr>
            <a:spLocks noChangeArrowheads="1"/>
          </p:cNvSpPr>
          <p:nvPr/>
        </p:nvSpPr>
        <p:spPr bwMode="auto">
          <a:xfrm>
            <a:off x="5130268" y="6083889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47" name="Rectangle 22" descr="Light downward diagonal"/>
          <p:cNvSpPr>
            <a:spLocks noChangeArrowheads="1"/>
          </p:cNvSpPr>
          <p:nvPr/>
        </p:nvSpPr>
        <p:spPr bwMode="auto">
          <a:xfrm>
            <a:off x="5376286" y="6075797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48" name="Rectangle 22" descr="Light downward diagonal"/>
          <p:cNvSpPr>
            <a:spLocks noChangeArrowheads="1"/>
          </p:cNvSpPr>
          <p:nvPr/>
        </p:nvSpPr>
        <p:spPr bwMode="auto">
          <a:xfrm>
            <a:off x="5376286" y="5049529"/>
            <a:ext cx="135640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cxnSp>
        <p:nvCxnSpPr>
          <p:cNvPr id="49" name="直接箭头连接符 48"/>
          <p:cNvCxnSpPr/>
          <p:nvPr/>
        </p:nvCxnSpPr>
        <p:spPr bwMode="auto">
          <a:xfrm>
            <a:off x="5228920" y="5504984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0" name="直接箭头连接符 49"/>
          <p:cNvCxnSpPr/>
          <p:nvPr/>
        </p:nvCxnSpPr>
        <p:spPr bwMode="auto">
          <a:xfrm>
            <a:off x="5427205" y="5496819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51" name="Rectangle 22" descr="Light downward diagonal"/>
          <p:cNvSpPr>
            <a:spLocks noChangeArrowheads="1"/>
          </p:cNvSpPr>
          <p:nvPr/>
        </p:nvSpPr>
        <p:spPr bwMode="auto">
          <a:xfrm>
            <a:off x="4851600" y="6075796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cxnSp>
        <p:nvCxnSpPr>
          <p:cNvPr id="52" name="直接箭头连接符 51"/>
          <p:cNvCxnSpPr/>
          <p:nvPr/>
        </p:nvCxnSpPr>
        <p:spPr bwMode="auto">
          <a:xfrm>
            <a:off x="4994112" y="5400727"/>
            <a:ext cx="0" cy="37192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53" name="Rectangle 22" descr="Light downward diagonal"/>
          <p:cNvSpPr>
            <a:spLocks noChangeArrowheads="1"/>
          </p:cNvSpPr>
          <p:nvPr/>
        </p:nvSpPr>
        <p:spPr bwMode="auto">
          <a:xfrm>
            <a:off x="4882672" y="5041831"/>
            <a:ext cx="198883" cy="31309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54" name="矩形 53"/>
          <p:cNvSpPr/>
          <p:nvPr/>
        </p:nvSpPr>
        <p:spPr>
          <a:xfrm>
            <a:off x="3962734" y="208639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baseline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发送方发起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3739951" y="448240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baseline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接收方发起</a:t>
            </a:r>
            <a:endParaRPr lang="zh-CN" altLang="en-US" dirty="0"/>
          </a:p>
        </p:txBody>
      </p:sp>
      <p:sp>
        <p:nvSpPr>
          <p:cNvPr id="42" name="灯片编号占位符 4">
            <a:extLst>
              <a:ext uri="{FF2B5EF4-FFF2-40B4-BE49-F238E27FC236}">
                <a16:creationId xmlns:a16="http://schemas.microsoft.com/office/drawing/2014/main" id="{49CDB4D9-7077-4A9D-997C-ACA54FB27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1" grpId="0"/>
      <p:bldP spid="31" grpId="0" animBg="1"/>
      <p:bldP spid="32" grpId="0" animBg="1"/>
      <p:bldP spid="33" grpId="0" animBg="1"/>
      <p:bldP spid="35" grpId="0"/>
      <p:bldP spid="3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接收方发起异步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RI-MAC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数据冲突问题</a:t>
            </a:r>
            <a:r>
              <a:rPr lang="en-US" altLang="zh-CN"/>
              <a:t>:</a:t>
            </a:r>
          </a:p>
          <a:p>
            <a:pPr lvl="1"/>
            <a:r>
              <a:rPr lang="zh-CN" altLang="en-US"/>
              <a:t>冲突避免</a:t>
            </a:r>
            <a:endParaRPr lang="en-US" altLang="zh-CN"/>
          </a:p>
          <a:p>
            <a:pPr lvl="1"/>
            <a:r>
              <a:rPr lang="zh-CN" altLang="en-US"/>
              <a:t>二进制指数退避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20700" y="3346450"/>
          <a:ext cx="8355013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Visio" r:id="rId4" imgW="7271385" imgH="1509395" progId="Visio.Drawing.15">
                  <p:embed/>
                </p:oleObj>
              </mc:Choice>
              <mc:Fallback>
                <p:oleObj name="Visio" r:id="rId4" imgW="7271385" imgH="150939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3346450"/>
                        <a:ext cx="8355013" cy="1735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D361C2-4381-4692-A92D-FCCE1F95E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接收方发起异步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EE-RI-MAC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进一步减少</a:t>
            </a:r>
            <a:r>
              <a:rPr lang="en-US" altLang="zh-CN"/>
              <a:t>RI-MAC</a:t>
            </a:r>
            <a:r>
              <a:rPr lang="zh-CN" altLang="en-US"/>
              <a:t>发送者的能耗</a:t>
            </a:r>
            <a:endParaRPr lang="en-US" altLang="zh-CN"/>
          </a:p>
          <a:p>
            <a:r>
              <a:rPr lang="zh-CN" altLang="en-US"/>
              <a:t>在发送者空闲侦听的过程中，时醒时睡，而不是持续侦听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503" y="395804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0" y="2952206"/>
          <a:ext cx="9196252" cy="229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Visio" r:id="rId4" imgW="7271385" imgH="1828800" progId="Visio.Drawing.15">
                  <p:embed/>
                </p:oleObj>
              </mc:Choice>
              <mc:Fallback>
                <p:oleObj name="Visio" r:id="rId4" imgW="7271385" imgH="182880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52206"/>
                        <a:ext cx="9196252" cy="2299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49EAD1CE-871A-4EB9-B34A-20E637E87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接收方发起异步</a:t>
            </a:r>
            <a:r>
              <a:rPr lang="en-US" altLang="zh-CN" dirty="0"/>
              <a:t>MAC</a:t>
            </a:r>
            <a:r>
              <a:rPr lang="zh-CN" altLang="en-US" dirty="0"/>
              <a:t>：</a:t>
            </a:r>
            <a:r>
              <a:rPr lang="en-US" altLang="zh-CN" dirty="0"/>
              <a:t>A-MAC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进一步减少接收者的能耗</a:t>
            </a:r>
            <a:endParaRPr lang="en-US" altLang="zh-CN"/>
          </a:p>
          <a:p>
            <a:r>
              <a:rPr lang="en-US" altLang="zh-CN"/>
              <a:t>RI-MAC</a:t>
            </a:r>
            <a:r>
              <a:rPr lang="zh-CN" altLang="en-US"/>
              <a:t>问题：</a:t>
            </a:r>
            <a:r>
              <a:rPr lang="en-US" altLang="zh-CN"/>
              <a:t>Receiver</a:t>
            </a:r>
            <a:r>
              <a:rPr lang="zh-CN" altLang="en-US"/>
              <a:t>发送</a:t>
            </a:r>
            <a:r>
              <a:rPr lang="en-US" altLang="zh-CN"/>
              <a:t>probe</a:t>
            </a:r>
            <a:r>
              <a:rPr lang="zh-CN" altLang="en-US"/>
              <a:t>后需要等待一段时间试图去接收可能收到的数据</a:t>
            </a:r>
            <a:endParaRPr lang="en-US" altLang="zh-CN"/>
          </a:p>
          <a:p>
            <a:r>
              <a:rPr lang="zh-CN" altLang="en-US"/>
              <a:t>解决方法：</a:t>
            </a:r>
            <a:r>
              <a:rPr lang="en-US" altLang="zh-CN"/>
              <a:t>A-MAC</a:t>
            </a:r>
            <a:r>
              <a:rPr lang="zh-CN" altLang="en-US"/>
              <a:t>可以减少等待时间，通过</a:t>
            </a:r>
            <a:r>
              <a:rPr lang="en-US" altLang="zh-CN"/>
              <a:t>backcast</a:t>
            </a:r>
            <a:r>
              <a:rPr lang="zh-CN" altLang="en-US"/>
              <a:t>机制测试网络中是否有潜在的</a:t>
            </a:r>
            <a:r>
              <a:rPr lang="en-US" altLang="zh-CN"/>
              <a:t>sender</a:t>
            </a:r>
          </a:p>
          <a:p>
            <a:pPr lvl="1"/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8883" y="3461658"/>
          <a:ext cx="9095117" cy="309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Visio" r:id="rId4" imgW="4826000" imgH="1654810" progId="Visio.Drawing.15">
                  <p:embed/>
                </p:oleObj>
              </mc:Choice>
              <mc:Fallback>
                <p:oleObj name="Visio" r:id="rId4" imgW="4826000" imgH="165481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3" y="3461658"/>
                        <a:ext cx="9095117" cy="30915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11E17EC6-E03C-465F-B620-F8E7E29C9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dirty="0"/>
              <a:t>IEEE 802.15.4</a:t>
            </a:r>
            <a:r>
              <a:rPr lang="zh-CN" altLang="en-US" dirty="0"/>
              <a:t>技术物理层</a:t>
            </a:r>
          </a:p>
          <a:p>
            <a:r>
              <a:rPr lang="zh-CN" altLang="en-US" dirty="0"/>
              <a:t>低功耗</a:t>
            </a:r>
            <a:r>
              <a:rPr lang="en-US" altLang="zh-CN" dirty="0"/>
              <a:t>MAC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链路质量估计</a:t>
            </a:r>
          </a:p>
          <a:p>
            <a:r>
              <a:rPr lang="en-US" altLang="zh-CN" dirty="0"/>
              <a:t>6LoWPAN</a:t>
            </a:r>
          </a:p>
          <a:p>
            <a:r>
              <a:rPr lang="en-US" altLang="zh-CN" dirty="0"/>
              <a:t>CTP</a:t>
            </a:r>
          </a:p>
          <a:p>
            <a:r>
              <a:rPr lang="en-US" altLang="zh-CN" dirty="0"/>
              <a:t>RPL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058508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链路质量估计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链路质量估计是路由协议的基础 </a:t>
            </a:r>
            <a:endParaRPr lang="en-US" altLang="zh-CN" dirty="0"/>
          </a:p>
          <a:p>
            <a:pPr lvl="1"/>
            <a:r>
              <a:rPr lang="zh-CN" altLang="en-US" dirty="0"/>
              <a:t>一个好的路由协议会选择链路质量好的链路进行通信</a:t>
            </a:r>
            <a:endParaRPr lang="en-US" altLang="zh-CN" dirty="0"/>
          </a:p>
          <a:p>
            <a:r>
              <a:rPr lang="zh-CN" altLang="en-US" dirty="0"/>
              <a:t>链路质量的评估指标</a:t>
            </a:r>
            <a:endParaRPr lang="en-US" altLang="zh-CN" dirty="0"/>
          </a:p>
          <a:p>
            <a:pPr lvl="1"/>
            <a:r>
              <a:rPr lang="zh-CN" altLang="en-US" dirty="0"/>
              <a:t>物理层指标</a:t>
            </a:r>
            <a:endParaRPr lang="en-US" altLang="zh-CN" dirty="0"/>
          </a:p>
          <a:p>
            <a:pPr lvl="2"/>
            <a:r>
              <a:rPr lang="zh-CN" altLang="zh-CN" dirty="0"/>
              <a:t>接收信号强度</a:t>
            </a:r>
            <a:r>
              <a:rPr lang="en-US" altLang="zh-CN" dirty="0"/>
              <a:t>RSSI</a:t>
            </a:r>
          </a:p>
          <a:p>
            <a:pPr lvl="2"/>
            <a:r>
              <a:rPr lang="zh-CN" altLang="zh-CN" dirty="0"/>
              <a:t>信噪比</a:t>
            </a:r>
            <a:r>
              <a:rPr lang="en-US" altLang="zh-CN" dirty="0"/>
              <a:t>SNR</a:t>
            </a:r>
          </a:p>
          <a:p>
            <a:pPr lvl="2"/>
            <a:r>
              <a:rPr lang="zh-CN" altLang="zh-CN" dirty="0"/>
              <a:t>链路质量指示</a:t>
            </a:r>
            <a:r>
              <a:rPr lang="en-US" altLang="zh-CN" dirty="0"/>
              <a:t>LQI</a:t>
            </a:r>
          </a:p>
          <a:p>
            <a:pPr lvl="1"/>
            <a:r>
              <a:rPr lang="zh-CN" altLang="en-US" dirty="0"/>
              <a:t>链路层指标</a:t>
            </a:r>
            <a:endParaRPr lang="en-US" altLang="zh-CN" dirty="0"/>
          </a:p>
          <a:p>
            <a:pPr lvl="2"/>
            <a:r>
              <a:rPr lang="zh-CN" altLang="zh-CN" dirty="0"/>
              <a:t>数据包接收率</a:t>
            </a:r>
            <a:r>
              <a:rPr lang="en-US" altLang="zh-CN" dirty="0"/>
              <a:t>PRR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59915413-60A9-4AA9-843C-D4D983982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链路质量估计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zh-CN" altLang="en-US" dirty="0"/>
                  <a:t>接收信号强度</a:t>
                </a:r>
                <a:r>
                  <a:rPr lang="en-US" altLang="zh-CN" dirty="0"/>
                  <a:t>(Radio Signal Strength Indicator, RSSI)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zh-CN" altLang="en-US" dirty="0"/>
                  <a:t>是接收信号总能量的度量</a:t>
                </a:r>
                <a:endParaRPr lang="en-US" altLang="zh-CN" dirty="0"/>
              </a:p>
              <a:p>
                <a:pPr>
                  <a:spcBef>
                    <a:spcPts val="0"/>
                  </a:spcBef>
                </a:pPr>
                <a:r>
                  <a:rPr lang="en-US" altLang="zh-CN" dirty="0"/>
                  <a:t>RSSI </a:t>
                </a:r>
                <a:r>
                  <a:rPr lang="zh-CN" altLang="en-US" dirty="0"/>
                  <a:t>获得方法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</a:pPr>
                <a:r>
                  <a:rPr lang="zh-CN" altLang="en-US" dirty="0"/>
                  <a:t>计算方法</a:t>
                </a:r>
                <a:r>
                  <a:rPr lang="en-US" altLang="zh-CN" dirty="0"/>
                  <a:t>: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CN" dirty="0"/>
                  <a:t>8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symbol(128us)</a:t>
                </a:r>
                <a:r>
                  <a:rPr lang="zh-CN" altLang="en-US" dirty="0"/>
                  <a:t>周期的信号强度平均值</a:t>
                </a:r>
                <a:endParaRPr lang="en-US" altLang="zh-CN" dirty="0"/>
              </a:p>
              <a:p>
                <a:pPr lvl="2">
                  <a:spcBef>
                    <a:spcPts val="0"/>
                  </a:spcBef>
                </a:pPr>
                <a:r>
                  <a:rPr lang="en-US" altLang="zh-CN" dirty="0"/>
                  <a:t>CC2420</a:t>
                </a:r>
                <a:r>
                  <a:rPr lang="zh-CN" altLang="en-US" dirty="0"/>
                  <a:t>记录在</a:t>
                </a:r>
                <a:r>
                  <a:rPr lang="en-US" altLang="zh-CN" dirty="0"/>
                  <a:t>RSSI VAL</a:t>
                </a:r>
                <a:r>
                  <a:rPr lang="zh-CN" altLang="en-US" dirty="0"/>
                  <a:t>寄存器中</a:t>
                </a:r>
                <a:endParaRPr lang="en-US" altLang="zh-CN" dirty="0"/>
              </a:p>
              <a:p>
                <a:pPr lvl="2">
                  <a:spcBef>
                    <a:spcPts val="0"/>
                  </a:spcBef>
                </a:pPr>
                <a:r>
                  <a:rPr lang="en-US" altLang="zh-CN" dirty="0"/>
                  <a:t>CC2420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RSSI</a:t>
                </a:r>
                <a:r>
                  <a:rPr lang="zh-CN" altLang="en-US" dirty="0"/>
                  <a:t>计算公式</a:t>
                </a:r>
                <a:r>
                  <a:rPr lang="en-US" altLang="zh-CN" dirty="0"/>
                  <a:t>P = RSSI VAL + RSSI OFFSET</a:t>
                </a:r>
              </a:p>
              <a:p>
                <a:pPr lvl="3">
                  <a:spcBef>
                    <a:spcPts val="0"/>
                  </a:spcBef>
                </a:pPr>
                <a:r>
                  <a:rPr lang="en-US" altLang="zh-CN" dirty="0"/>
                  <a:t>RSSI_OFFSET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dirty="0"/>
                  <a:t>-45dBm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dirty="0"/>
                  <a:t>Per byte: </a:t>
                </a:r>
                <a:r>
                  <a:rPr lang="zh-CN" altLang="en-US" dirty="0"/>
                  <a:t>读寄存器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</a:pPr>
                <a:r>
                  <a:rPr lang="en-US" altLang="zh-CN" dirty="0"/>
                  <a:t>Per packet</a:t>
                </a:r>
                <a:r>
                  <a:rPr lang="zh-CN" altLang="en-US" dirty="0"/>
                  <a:t>：根据</a:t>
                </a:r>
                <a:r>
                  <a:rPr lang="en-US" altLang="zh-CN" dirty="0"/>
                  <a:t>SFD</a:t>
                </a:r>
                <a:r>
                  <a:rPr lang="zh-CN" altLang="en-US" dirty="0"/>
                  <a:t>后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symbol</a:t>
                </a:r>
                <a:r>
                  <a:rPr lang="zh-CN" altLang="en-US" dirty="0"/>
                  <a:t>计算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</a:pPr>
                <a:r>
                  <a:rPr lang="zh-CN" altLang="en-US" dirty="0"/>
                  <a:t>经验值</a:t>
                </a:r>
                <a:endParaRPr lang="en-US" altLang="zh-CN" dirty="0"/>
              </a:p>
              <a:p>
                <a:pPr lvl="2">
                  <a:spcBef>
                    <a:spcPts val="0"/>
                  </a:spcBef>
                </a:pPr>
                <a:r>
                  <a:rPr lang="en-US" altLang="zh-CN" dirty="0"/>
                  <a:t>-95dbm</a:t>
                </a:r>
                <a:br>
                  <a:rPr lang="en-US" altLang="zh-CN" dirty="0"/>
                </a:br>
                <a:r>
                  <a:rPr lang="en-US" altLang="zh-CN" dirty="0"/>
                  <a:t>~-55dBm</a:t>
                </a:r>
              </a:p>
              <a:p>
                <a:pPr lvl="1">
                  <a:spcBef>
                    <a:spcPts val="0"/>
                  </a:spcBef>
                </a:pPr>
                <a:endParaRPr lang="en-US" altLang="zh-CN" dirty="0"/>
              </a:p>
              <a:p>
                <a:pPr lvl="1">
                  <a:spcBef>
                    <a:spcPts val="0"/>
                  </a:spcBef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3"/>
                <a:stretch>
                  <a:fillRect l="-954" t="-225" r="-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图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612" y="4722585"/>
            <a:ext cx="5914502" cy="205921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68AF56-796F-4F86-A713-42104CC16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链路质量估计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RSSI </a:t>
            </a:r>
            <a:r>
              <a:rPr lang="zh-CN" altLang="en-US" dirty="0"/>
              <a:t>与</a:t>
            </a:r>
            <a:r>
              <a:rPr lang="en-US" altLang="zh-CN" dirty="0"/>
              <a:t>PRR</a:t>
            </a:r>
            <a:r>
              <a:rPr lang="zh-CN" altLang="en-US" dirty="0"/>
              <a:t>之间的关系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RSSI&gt;-87dBm</a:t>
            </a:r>
            <a:r>
              <a:rPr lang="zh-CN" altLang="en-US" dirty="0"/>
              <a:t>时</a:t>
            </a:r>
            <a:r>
              <a:rPr lang="en-US" altLang="zh-CN" dirty="0"/>
              <a:t>, PRR&gt;85%, </a:t>
            </a:r>
            <a:r>
              <a:rPr lang="zh-CN" altLang="en-US" dirty="0"/>
              <a:t>链路质量好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RSSI&lt;-92dBm</a:t>
            </a:r>
            <a:r>
              <a:rPr lang="zh-CN" altLang="en-US" dirty="0"/>
              <a:t>时</a:t>
            </a:r>
            <a:r>
              <a:rPr lang="en-US" altLang="zh-CN" dirty="0"/>
              <a:t>, PRR&lt;50%, </a:t>
            </a:r>
            <a:r>
              <a:rPr lang="zh-CN" altLang="en-US" dirty="0"/>
              <a:t>链路质量差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RSSI</a:t>
            </a:r>
            <a:r>
              <a:rPr lang="zh-CN" altLang="en-US" dirty="0"/>
              <a:t>低于</a:t>
            </a:r>
            <a:r>
              <a:rPr lang="en-US" altLang="zh-CN" dirty="0"/>
              <a:t>-87dBm</a:t>
            </a:r>
            <a:r>
              <a:rPr lang="zh-CN" altLang="en-US" dirty="0"/>
              <a:t>时，进入灰色区域，</a:t>
            </a:r>
            <a:r>
              <a:rPr lang="en-US" altLang="zh-CN" dirty="0"/>
              <a:t>PRR</a:t>
            </a:r>
            <a:r>
              <a:rPr lang="zh-CN" altLang="en-US" dirty="0"/>
              <a:t>非常不稳定，难以预测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RSSI</a:t>
            </a:r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zh-CN" altLang="en-US" dirty="0"/>
              <a:t>灰色区域测不准</a:t>
            </a:r>
            <a:endParaRPr lang="en-US" altLang="zh-CN" dirty="0"/>
          </a:p>
          <a:p>
            <a:pPr lvl="1"/>
            <a:r>
              <a:rPr lang="zh-CN" altLang="en-US" dirty="0"/>
              <a:t>和接收器灵敏度有关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内容占位符 4"/>
          <p:cNvPicPr>
            <a:picLocks noChangeAspect="1"/>
          </p:cNvPicPr>
          <p:nvPr/>
        </p:nvPicPr>
        <p:blipFill rotWithShape="1">
          <a:blip r:embed="rId3"/>
          <a:srcRect l="4762" t="9926" r="13829" b="12350"/>
          <a:stretch>
            <a:fillRect/>
          </a:stretch>
        </p:blipFill>
        <p:spPr bwMode="auto">
          <a:xfrm>
            <a:off x="5111750" y="2624507"/>
            <a:ext cx="3226907" cy="2471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b="13084"/>
          <a:stretch>
            <a:fillRect/>
          </a:stretch>
        </p:blipFill>
        <p:spPr>
          <a:xfrm>
            <a:off x="1635833" y="2658064"/>
            <a:ext cx="3475917" cy="240709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04339" y="3925825"/>
            <a:ext cx="1816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发送功率为</a:t>
            </a:r>
            <a:r>
              <a:rPr lang="en-US" altLang="zh-CN" b="1" dirty="0">
                <a:latin typeface="+mj-ea"/>
                <a:ea typeface="+mj-ea"/>
              </a:rPr>
              <a:t>0dBm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44537" y="4130155"/>
            <a:ext cx="1906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发送功率为</a:t>
            </a:r>
            <a:r>
              <a:rPr lang="en-US" altLang="zh-CN" b="1" dirty="0">
                <a:latin typeface="+mj-ea"/>
                <a:ea typeface="+mj-ea"/>
              </a:rPr>
              <a:t>-7dBm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92DDFCC7-BFDF-44C5-B0E2-C764AC817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3757802"/>
            <a:ext cx="4343400" cy="30620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链路质量估计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SNR (Signal to Noise Ratio)</a:t>
            </a:r>
          </a:p>
          <a:p>
            <a:pPr lvl="1"/>
            <a:r>
              <a:rPr lang="zh-CN" altLang="en-US" dirty="0"/>
              <a:t>信号功率与噪声功率的比率</a:t>
            </a:r>
            <a:r>
              <a:rPr lang="en-US" altLang="zh-CN" dirty="0"/>
              <a:t>, </a:t>
            </a:r>
            <a:r>
              <a:rPr lang="zh-CN" altLang="en-US" dirty="0"/>
              <a:t>单位</a:t>
            </a:r>
            <a:r>
              <a:rPr lang="en-US" altLang="zh-CN" dirty="0"/>
              <a:t>dB</a:t>
            </a:r>
          </a:p>
          <a:p>
            <a:pPr lvl="1"/>
            <a:r>
              <a:rPr lang="en-US" altLang="zh-CN" dirty="0"/>
              <a:t>SNR=10log(S/N), S</a:t>
            </a:r>
            <a:r>
              <a:rPr lang="zh-CN" altLang="en-US" dirty="0"/>
              <a:t>为信号功率，</a:t>
            </a:r>
            <a:r>
              <a:rPr lang="en-US" altLang="zh-CN" dirty="0"/>
              <a:t>N</a:t>
            </a:r>
            <a:r>
              <a:rPr lang="zh-CN" altLang="en-US" dirty="0"/>
              <a:t>为噪声功率</a:t>
            </a:r>
            <a:endParaRPr lang="en-US" altLang="zh-CN" dirty="0"/>
          </a:p>
          <a:p>
            <a:r>
              <a:rPr lang="en-US" altLang="zh-CN" dirty="0"/>
              <a:t>802.15.4 </a:t>
            </a:r>
            <a:r>
              <a:rPr lang="zh-CN" altLang="en-US" dirty="0"/>
              <a:t>硬件不支持直接读取</a:t>
            </a:r>
            <a:r>
              <a:rPr lang="en-US" altLang="zh-CN" dirty="0"/>
              <a:t>SNR</a:t>
            </a:r>
            <a:r>
              <a:rPr lang="zh-CN" altLang="en-US" dirty="0"/>
              <a:t>的接口</a:t>
            </a:r>
            <a:endParaRPr lang="en-US" altLang="zh-CN" dirty="0"/>
          </a:p>
          <a:p>
            <a:r>
              <a:rPr lang="zh-CN" altLang="en-US" dirty="0"/>
              <a:t>获取方法</a:t>
            </a:r>
            <a:r>
              <a:rPr lang="en-US" altLang="zh-CN" dirty="0"/>
              <a:t>(</a:t>
            </a:r>
            <a:r>
              <a:rPr lang="zh-CN" altLang="en-US" dirty="0"/>
              <a:t>以</a:t>
            </a:r>
            <a:r>
              <a:rPr lang="en-US" altLang="zh-CN" dirty="0"/>
              <a:t>cc2420</a:t>
            </a:r>
            <a:r>
              <a:rPr lang="zh-CN" altLang="en-US" dirty="0"/>
              <a:t>为例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噪声功率</a:t>
            </a:r>
            <a:r>
              <a:rPr lang="en-US" altLang="zh-CN" dirty="0"/>
              <a:t>(Noise Floor): RSSI</a:t>
            </a:r>
            <a:r>
              <a:rPr lang="zh-CN" altLang="en-US" dirty="0"/>
              <a:t>寄存器在不收包时的读数</a:t>
            </a:r>
            <a:endParaRPr lang="en-US" altLang="zh-CN" dirty="0"/>
          </a:p>
          <a:p>
            <a:pPr lvl="2"/>
            <a:r>
              <a:rPr lang="zh-CN" altLang="en-US" dirty="0"/>
              <a:t>通常为</a:t>
            </a:r>
            <a:r>
              <a:rPr lang="en-US" altLang="zh-CN" dirty="0"/>
              <a:t>-98dBm </a:t>
            </a:r>
            <a:r>
              <a:rPr lang="zh-CN" altLang="en-US" dirty="0"/>
              <a:t>左右</a:t>
            </a:r>
            <a:endParaRPr lang="en-US" altLang="zh-CN" dirty="0"/>
          </a:p>
          <a:p>
            <a:pPr lvl="1"/>
            <a:r>
              <a:rPr lang="zh-CN" altLang="en-US" dirty="0"/>
              <a:t>信号功率：收到的数据包的</a:t>
            </a:r>
            <a:r>
              <a:rPr lang="en-US" altLang="zh-CN" dirty="0"/>
              <a:t>RSSI</a:t>
            </a:r>
            <a:r>
              <a:rPr lang="zh-CN" altLang="en-US" dirty="0"/>
              <a:t>值</a:t>
            </a:r>
            <a:endParaRPr lang="en-US" altLang="zh-CN" dirty="0"/>
          </a:p>
          <a:p>
            <a:pPr lvl="1"/>
            <a:r>
              <a:rPr lang="zh-CN" altLang="en-US" dirty="0"/>
              <a:t>例如，</a:t>
            </a:r>
            <a:r>
              <a:rPr lang="en-US" altLang="zh-CN" dirty="0"/>
              <a:t>RSSI</a:t>
            </a:r>
            <a:r>
              <a:rPr lang="zh-CN" altLang="en-US" dirty="0"/>
              <a:t>为</a:t>
            </a:r>
            <a:r>
              <a:rPr lang="en-US" altLang="zh-CN" dirty="0"/>
              <a:t>-75dBm</a:t>
            </a:r>
            <a:r>
              <a:rPr lang="zh-CN" altLang="en-US" dirty="0"/>
              <a:t>时，</a:t>
            </a:r>
            <a:br>
              <a:rPr lang="en-US" altLang="zh-CN" dirty="0"/>
            </a:br>
            <a:r>
              <a:rPr lang="en-US" altLang="zh-CN" dirty="0"/>
              <a:t>SNR</a:t>
            </a:r>
            <a:r>
              <a:rPr lang="zh-CN" altLang="en-US" dirty="0"/>
              <a:t>为</a:t>
            </a:r>
            <a:r>
              <a:rPr lang="en-US" altLang="zh-CN" dirty="0"/>
              <a:t>23dB</a:t>
            </a:r>
          </a:p>
          <a:p>
            <a:r>
              <a:rPr lang="en-US" altLang="zh-CN" dirty="0"/>
              <a:t>SNR</a:t>
            </a:r>
            <a:r>
              <a:rPr lang="zh-CN" altLang="en-US" dirty="0"/>
              <a:t>与</a:t>
            </a:r>
            <a:r>
              <a:rPr lang="en-US" altLang="zh-CN" dirty="0"/>
              <a:t>PRR</a:t>
            </a:r>
            <a:r>
              <a:rPr lang="zh-CN" altLang="en-US" dirty="0"/>
              <a:t>的关系</a:t>
            </a:r>
            <a:endParaRPr lang="en-US" altLang="zh-CN" dirty="0"/>
          </a:p>
          <a:p>
            <a:r>
              <a:rPr lang="en-US" altLang="zh-CN" dirty="0"/>
              <a:t>SNR</a:t>
            </a:r>
            <a:r>
              <a:rPr lang="zh-CN" altLang="en-US" dirty="0"/>
              <a:t>经验值</a:t>
            </a:r>
            <a:r>
              <a:rPr lang="en-US" altLang="zh-CN" dirty="0"/>
              <a:t>: 3~43dB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397D48-CFA8-46E9-AB98-E06C413BC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链路质量估计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LQI (Link Quality Indicator)</a:t>
            </a:r>
          </a:p>
          <a:p>
            <a:pPr lvl="1"/>
            <a:r>
              <a:rPr lang="zh-CN" altLang="en-US" dirty="0"/>
              <a:t>计算方法</a:t>
            </a:r>
            <a:endParaRPr lang="en-US" altLang="zh-CN" dirty="0"/>
          </a:p>
          <a:p>
            <a:pPr lvl="2"/>
            <a:r>
              <a:rPr lang="zh-CN" altLang="en-US" dirty="0"/>
              <a:t>帧定界符（</a:t>
            </a:r>
            <a:r>
              <a:rPr lang="en-US" altLang="zh-CN" dirty="0"/>
              <a:t>SFD</a:t>
            </a:r>
            <a:r>
              <a:rPr lang="zh-CN" altLang="en-US" dirty="0"/>
              <a:t>）之后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symbol</a:t>
            </a:r>
            <a:r>
              <a:rPr lang="zh-CN" altLang="en-US" dirty="0"/>
              <a:t>的码元错误率</a:t>
            </a:r>
            <a:r>
              <a:rPr lang="en-US" altLang="zh-CN" dirty="0"/>
              <a:t>(CER)</a:t>
            </a:r>
          </a:p>
          <a:p>
            <a:pPr lvl="2"/>
            <a:r>
              <a:rPr lang="en-US" altLang="zh-CN" dirty="0"/>
              <a:t>LQI=(CORR-a)*b</a:t>
            </a:r>
          </a:p>
          <a:p>
            <a:pPr lvl="3"/>
            <a:r>
              <a:rPr lang="en-US" altLang="zh-CN" dirty="0"/>
              <a:t>CORR</a:t>
            </a:r>
            <a:r>
              <a:rPr lang="zh-CN" altLang="en-US" dirty="0"/>
              <a:t>为数据包</a:t>
            </a:r>
            <a:r>
              <a:rPr lang="en-US" altLang="zh-CN" dirty="0"/>
              <a:t>SFD</a:t>
            </a:r>
            <a:r>
              <a:rPr lang="zh-CN" altLang="en-US" dirty="0"/>
              <a:t>后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symbol</a:t>
            </a:r>
            <a:r>
              <a:rPr lang="zh-CN" altLang="en-US" dirty="0"/>
              <a:t>的</a:t>
            </a:r>
            <a:br>
              <a:rPr lang="en-US" altLang="zh-CN" dirty="0"/>
            </a:br>
            <a:r>
              <a:rPr lang="zh-CN" altLang="en-US" dirty="0"/>
              <a:t>平均</a:t>
            </a:r>
            <a:r>
              <a:rPr lang="en-US" altLang="zh-CN" dirty="0"/>
              <a:t>correlation value</a:t>
            </a:r>
            <a:r>
              <a:rPr lang="zh-CN" altLang="en-US" dirty="0"/>
              <a:t>，在</a:t>
            </a:r>
            <a:r>
              <a:rPr lang="en-US" altLang="zh-CN" dirty="0"/>
              <a:t>0~255</a:t>
            </a:r>
            <a:r>
              <a:rPr lang="zh-CN" altLang="en-US" dirty="0"/>
              <a:t>之</a:t>
            </a:r>
            <a:endParaRPr lang="en-US" altLang="zh-CN" dirty="0"/>
          </a:p>
          <a:p>
            <a:pPr lvl="3"/>
            <a:r>
              <a:rPr lang="zh-CN" altLang="en-US" dirty="0"/>
              <a:t>间，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为经验参数</a:t>
            </a:r>
            <a:endParaRPr lang="en-US" altLang="zh-CN" dirty="0"/>
          </a:p>
          <a:p>
            <a:pPr lvl="1"/>
            <a:r>
              <a:rPr lang="en-US" altLang="zh-CN" dirty="0"/>
              <a:t>LQI</a:t>
            </a:r>
            <a:r>
              <a:rPr lang="zh-CN" altLang="en-US" dirty="0"/>
              <a:t>经验值：</a:t>
            </a:r>
            <a:r>
              <a:rPr lang="en-US" altLang="zh-CN" dirty="0"/>
              <a:t>50(</a:t>
            </a:r>
            <a:r>
              <a:rPr lang="zh-CN" altLang="en-US" dirty="0"/>
              <a:t>最差</a:t>
            </a:r>
            <a:r>
              <a:rPr lang="en-US" altLang="zh-CN" dirty="0"/>
              <a:t>)~110(</a:t>
            </a:r>
            <a:r>
              <a:rPr lang="zh-CN" altLang="en-US" dirty="0"/>
              <a:t>最好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CTP</a:t>
            </a:r>
            <a:r>
              <a:rPr lang="zh-CN" altLang="en-US" dirty="0"/>
              <a:t>中，认为</a:t>
            </a:r>
            <a:r>
              <a:rPr lang="en-US" altLang="zh-CN" dirty="0"/>
              <a:t>LQI</a:t>
            </a:r>
            <a:r>
              <a:rPr lang="zh-CN" altLang="en-US" dirty="0"/>
              <a:t>高于</a:t>
            </a:r>
            <a:r>
              <a:rPr lang="en-US" altLang="zh-CN" dirty="0"/>
              <a:t>105</a:t>
            </a:r>
            <a:r>
              <a:rPr lang="zh-CN" altLang="en-US" dirty="0"/>
              <a:t>的链路为</a:t>
            </a:r>
            <a:br>
              <a:rPr lang="en-US" altLang="zh-CN" dirty="0"/>
            </a:br>
            <a:r>
              <a:rPr lang="zh-CN" altLang="en-US" dirty="0"/>
              <a:t>高质量链路</a:t>
            </a:r>
            <a:endParaRPr lang="en-US" altLang="zh-CN" dirty="0"/>
          </a:p>
          <a:p>
            <a:r>
              <a:rPr lang="en-US" altLang="zh-CN" dirty="0"/>
              <a:t>LQI</a:t>
            </a:r>
            <a:r>
              <a:rPr lang="zh-CN" altLang="en-US" dirty="0"/>
              <a:t>与</a:t>
            </a:r>
            <a:r>
              <a:rPr lang="en-US" altLang="zh-CN" dirty="0"/>
              <a:t>PRR</a:t>
            </a:r>
            <a:r>
              <a:rPr lang="zh-CN" altLang="en-US" dirty="0"/>
              <a:t>之间的关系</a:t>
            </a:r>
            <a:endParaRPr lang="en-US" altLang="zh-CN" dirty="0"/>
          </a:p>
          <a:p>
            <a:pPr lvl="1"/>
            <a:r>
              <a:rPr lang="zh-CN" altLang="en-US" dirty="0"/>
              <a:t>单个</a:t>
            </a:r>
            <a:r>
              <a:rPr lang="en-US" altLang="zh-CN" dirty="0"/>
              <a:t>LQI</a:t>
            </a:r>
            <a:r>
              <a:rPr lang="zh-CN" altLang="en-US" dirty="0"/>
              <a:t>值与</a:t>
            </a:r>
            <a:r>
              <a:rPr lang="en-US" altLang="zh-CN" dirty="0"/>
              <a:t>PRR</a:t>
            </a:r>
            <a:r>
              <a:rPr lang="zh-CN" altLang="en-US" dirty="0"/>
              <a:t>关联性低</a:t>
            </a:r>
            <a:r>
              <a:rPr lang="en-US" altLang="zh-CN" dirty="0"/>
              <a:t>(</a:t>
            </a:r>
            <a:r>
              <a:rPr lang="zh-CN" altLang="en-US" dirty="0"/>
              <a:t>上图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dirty="0"/>
              <a:t>例如</a:t>
            </a:r>
            <a:r>
              <a:rPr lang="en-US" altLang="zh-CN" dirty="0"/>
              <a:t>LQI 85 </a:t>
            </a:r>
            <a:r>
              <a:rPr lang="zh-CN" altLang="en-US" dirty="0"/>
              <a:t>对应的</a:t>
            </a:r>
            <a:r>
              <a:rPr lang="en-US" altLang="zh-CN" dirty="0"/>
              <a:t>PRR</a:t>
            </a:r>
            <a:r>
              <a:rPr lang="zh-CN" altLang="en-US" dirty="0"/>
              <a:t>从</a:t>
            </a:r>
            <a:r>
              <a:rPr lang="en-US" altLang="zh-CN" dirty="0"/>
              <a:t>10%</a:t>
            </a:r>
            <a:r>
              <a:rPr lang="zh-CN" altLang="en-US" dirty="0"/>
              <a:t>到</a:t>
            </a:r>
            <a:r>
              <a:rPr lang="en-US" altLang="zh-CN" dirty="0"/>
              <a:t>100%</a:t>
            </a:r>
            <a:r>
              <a:rPr lang="zh-CN" altLang="en-US" dirty="0"/>
              <a:t>不等</a:t>
            </a:r>
            <a:endParaRPr lang="en-US" altLang="zh-CN" dirty="0"/>
          </a:p>
          <a:p>
            <a:pPr lvl="1"/>
            <a:r>
              <a:rPr lang="zh-CN" altLang="en-US" dirty="0"/>
              <a:t>平均</a:t>
            </a:r>
            <a:r>
              <a:rPr lang="en-US" altLang="zh-CN" dirty="0"/>
              <a:t>LQI</a:t>
            </a:r>
            <a:r>
              <a:rPr lang="zh-CN" altLang="en-US" dirty="0"/>
              <a:t>与</a:t>
            </a:r>
            <a:r>
              <a:rPr lang="en-US" altLang="zh-CN" dirty="0"/>
              <a:t>PRR</a:t>
            </a:r>
            <a:r>
              <a:rPr lang="zh-CN" altLang="en-US" dirty="0"/>
              <a:t>关联性高</a:t>
            </a:r>
            <a:r>
              <a:rPr lang="en-US" altLang="zh-CN" dirty="0"/>
              <a:t>(</a:t>
            </a:r>
            <a:r>
              <a:rPr lang="zh-CN" altLang="en-US" dirty="0"/>
              <a:t>下图</a:t>
            </a:r>
            <a:r>
              <a:rPr lang="en-US" altLang="zh-CN" dirty="0"/>
              <a:t>) </a:t>
            </a:r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473" y="2299062"/>
            <a:ext cx="2978580" cy="2286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796" y="4560660"/>
            <a:ext cx="2852257" cy="2179774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33C9F749-A097-4033-AA0E-6B0729810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链路质量估计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PRR (Packet Reception Ratio) </a:t>
            </a:r>
          </a:p>
          <a:p>
            <a:pPr lvl="1"/>
            <a:r>
              <a:rPr lang="zh-CN" altLang="en-US"/>
              <a:t>数据包成功接收率 （不考虑重传）</a:t>
            </a:r>
            <a:endParaRPr lang="en-US" altLang="zh-CN"/>
          </a:p>
          <a:p>
            <a:pPr lvl="1"/>
            <a:r>
              <a:rPr lang="zh-CN" altLang="en-US"/>
              <a:t>衡量链路质量的最终指标</a:t>
            </a:r>
            <a:endParaRPr lang="en-US" altLang="zh-CN"/>
          </a:p>
          <a:p>
            <a:r>
              <a:rPr lang="en-US" altLang="zh-CN"/>
              <a:t>PRR</a:t>
            </a:r>
            <a:r>
              <a:rPr lang="zh-CN" altLang="en-US"/>
              <a:t>估计方法：一段时间内，成功接收的包数与发送的总数的比率</a:t>
            </a:r>
            <a:endParaRPr lang="en-US" altLang="zh-CN"/>
          </a:p>
          <a:p>
            <a:pPr lvl="1"/>
            <a:r>
              <a:rPr lang="zh-CN" altLang="en-US"/>
              <a:t>通过</a:t>
            </a:r>
            <a:r>
              <a:rPr lang="en-US" altLang="zh-CN"/>
              <a:t>Beacon</a:t>
            </a:r>
            <a:r>
              <a:rPr lang="zh-CN" altLang="en-US"/>
              <a:t>包</a:t>
            </a:r>
            <a:endParaRPr lang="en-US" altLang="zh-CN"/>
          </a:p>
          <a:p>
            <a:pPr lvl="2"/>
            <a:r>
              <a:rPr lang="zh-CN" altLang="en-US"/>
              <a:t>缺陷：包长不同，预测不准</a:t>
            </a:r>
            <a:endParaRPr lang="en-US" altLang="zh-CN"/>
          </a:p>
          <a:p>
            <a:pPr lvl="1"/>
            <a:r>
              <a:rPr lang="zh-CN" altLang="en-US"/>
              <a:t>通过数据包</a:t>
            </a:r>
            <a:endParaRPr lang="en-US" altLang="zh-CN"/>
          </a:p>
          <a:p>
            <a:pPr lvl="2"/>
            <a:r>
              <a:rPr lang="zh-CN" altLang="en-US"/>
              <a:t>通过</a:t>
            </a:r>
            <a:r>
              <a:rPr lang="en-US" altLang="zh-CN"/>
              <a:t>receiver feedback </a:t>
            </a:r>
          </a:p>
          <a:p>
            <a:pPr lvl="2"/>
            <a:r>
              <a:rPr lang="zh-CN" altLang="en-US"/>
              <a:t>通过</a:t>
            </a:r>
            <a:r>
              <a:rPr lang="en-US" altLang="zh-CN"/>
              <a:t>ack</a:t>
            </a:r>
            <a:r>
              <a:rPr lang="zh-CN" altLang="en-US"/>
              <a:t>计数 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80247BE-5BCC-4653-9EEB-9F6175E63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链路质量估计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内容占位符 36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/>
              <a:lstStyle/>
              <a:p>
                <a:r>
                  <a:rPr lang="zh-CN" altLang="en-US" dirty="0"/>
                  <a:t>通过</a:t>
                </a:r>
                <a:r>
                  <a:rPr lang="en-US" altLang="zh-CN" dirty="0"/>
                  <a:t>ack</a:t>
                </a:r>
                <a:r>
                  <a:rPr lang="zh-CN" altLang="en-US" dirty="0"/>
                  <a:t>计数的</a:t>
                </a:r>
                <a:r>
                  <a:rPr lang="en-US" altLang="zh-CN" dirty="0"/>
                  <a:t>PRR</a:t>
                </a:r>
                <a:r>
                  <a:rPr lang="zh-CN" altLang="en-US" dirty="0"/>
                  <a:t>估计方法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固定时间窗口中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统计收到的</a:t>
                </a:r>
                <a:r>
                  <a:rPr lang="en-US" altLang="zh-CN" dirty="0"/>
                  <a:t>ACK</a:t>
                </a:r>
                <a:r>
                  <a:rPr lang="zh-CN" altLang="en-US" dirty="0"/>
                  <a:t>数据包个数与发送的数据包总数的比值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指数加权移动平均</a:t>
                </a:r>
                <a:r>
                  <a:rPr lang="en-US" altLang="zh-CN" dirty="0"/>
                  <a:t>( </a:t>
                </a:r>
                <a:r>
                  <a:rPr lang="en-US" altLang="zh-CN" dirty="0" err="1"/>
                  <a:t>Eexponentially</a:t>
                </a:r>
                <a:r>
                  <a:rPr lang="en-US" altLang="zh-CN" dirty="0"/>
                  <a:t> weighted moving average EWMA)</a:t>
                </a:r>
              </a:p>
              <a:p>
                <a:pPr lvl="2"/>
                <a:r>
                  <a:rPr lang="en-US" altLang="zh-CN" dirty="0"/>
                  <a:t>PRR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𝑃𝑅𝑅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current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en-US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zh-CN" dirty="0"/>
                  <a:t>+ (1-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zh-CN" dirty="0"/>
                  <a:t>)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dirty="0"/>
                  <a:t>PRR</a:t>
                </a:r>
              </a:p>
              <a:p>
                <a:pPr lvl="2"/>
                <a:r>
                  <a:rPr lang="zh-CN" altLang="en-US" dirty="0"/>
                  <a:t>可调节参数：滑动窗口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，与权重𝛼</a:t>
                </a:r>
                <a:endParaRPr lang="en-US" altLang="zh-CN" dirty="0"/>
              </a:p>
              <a:p>
                <a:pPr lvl="3"/>
                <a:r>
                  <a:rPr lang="zh-CN" altLang="en-US" dirty="0"/>
                  <a:t>示例中，</a:t>
                </a:r>
                <a:r>
                  <a:rPr lang="en-US" altLang="zh-CN" dirty="0"/>
                  <a:t>W=3,</a:t>
                </a:r>
                <a:r>
                  <a:rPr lang="zh-CN" altLang="en-US" dirty="0"/>
                  <a:t>𝛼</a:t>
                </a:r>
                <a:r>
                  <a:rPr lang="en-US" altLang="zh-CN" dirty="0"/>
                  <a:t>=0.9</a:t>
                </a:r>
              </a:p>
            </p:txBody>
          </p:sp>
        </mc:Choice>
        <mc:Fallback xmlns="">
          <p:sp>
            <p:nvSpPr>
              <p:cNvPr id="37" name="内容占位符 3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3"/>
                <a:stretch>
                  <a:fillRect l="-954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/>
          <p:cNvCxnSpPr/>
          <p:nvPr/>
        </p:nvCxnSpPr>
        <p:spPr bwMode="auto">
          <a:xfrm>
            <a:off x="3988676" y="4953002"/>
            <a:ext cx="0" cy="46376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文本框 50"/>
          <p:cNvSpPr txBox="1"/>
          <p:nvPr/>
        </p:nvSpPr>
        <p:spPr>
          <a:xfrm flipH="1">
            <a:off x="3195582" y="5343771"/>
            <a:ext cx="1183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PRR=0.67</a:t>
            </a:r>
            <a:endParaRPr lang="zh-CN" altLang="en-US" dirty="0">
              <a:latin typeface="+mj-ea"/>
              <a:ea typeface="+mj-ea"/>
            </a:endParaRPr>
          </a:p>
        </p:txBody>
      </p:sp>
      <p:cxnSp>
        <p:nvCxnSpPr>
          <p:cNvPr id="61" name="直接箭头连接符 60"/>
          <p:cNvCxnSpPr/>
          <p:nvPr/>
        </p:nvCxnSpPr>
        <p:spPr bwMode="auto">
          <a:xfrm>
            <a:off x="4834758" y="4991102"/>
            <a:ext cx="0" cy="8513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3" name="文本框 62"/>
          <p:cNvSpPr txBox="1"/>
          <p:nvPr/>
        </p:nvSpPr>
        <p:spPr>
          <a:xfrm flipH="1">
            <a:off x="2663014" y="5742397"/>
            <a:ext cx="3433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PRR=0.67*0.9+0.67*0.1=0.67</a:t>
            </a:r>
            <a:endParaRPr lang="zh-CN" altLang="en-US" dirty="0">
              <a:latin typeface="+mj-ea"/>
              <a:ea typeface="+mj-ea"/>
            </a:endParaRPr>
          </a:p>
        </p:txBody>
      </p:sp>
      <p:cxnSp>
        <p:nvCxnSpPr>
          <p:cNvPr id="53" name="直接箭头连接符 52"/>
          <p:cNvCxnSpPr/>
          <p:nvPr/>
        </p:nvCxnSpPr>
        <p:spPr bwMode="auto">
          <a:xfrm>
            <a:off x="1292772" y="4959569"/>
            <a:ext cx="699989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矩形 53"/>
          <p:cNvSpPr/>
          <p:nvPr/>
        </p:nvSpPr>
        <p:spPr bwMode="auto">
          <a:xfrm>
            <a:off x="2301766" y="4619296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4" name="矩形 63"/>
          <p:cNvSpPr/>
          <p:nvPr/>
        </p:nvSpPr>
        <p:spPr bwMode="auto">
          <a:xfrm>
            <a:off x="3041168" y="4612728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5" name="矩形 64"/>
          <p:cNvSpPr/>
          <p:nvPr/>
        </p:nvSpPr>
        <p:spPr bwMode="auto">
          <a:xfrm>
            <a:off x="3862552" y="4612728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6" name="矩形 65"/>
          <p:cNvSpPr/>
          <p:nvPr/>
        </p:nvSpPr>
        <p:spPr bwMode="auto">
          <a:xfrm>
            <a:off x="4704430" y="4612728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7" name="矩形 66"/>
          <p:cNvSpPr/>
          <p:nvPr/>
        </p:nvSpPr>
        <p:spPr bwMode="auto">
          <a:xfrm>
            <a:off x="5468883" y="4612727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68" name="直接连接符 67"/>
          <p:cNvCxnSpPr/>
          <p:nvPr/>
        </p:nvCxnSpPr>
        <p:spPr bwMode="auto">
          <a:xfrm>
            <a:off x="2972150" y="4543095"/>
            <a:ext cx="234731" cy="4164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直接连接符 71"/>
          <p:cNvCxnSpPr/>
          <p:nvPr/>
        </p:nvCxnSpPr>
        <p:spPr bwMode="auto">
          <a:xfrm flipH="1">
            <a:off x="3005083" y="4577912"/>
            <a:ext cx="219140" cy="37509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接箭头连接符 72"/>
          <p:cNvCxnSpPr/>
          <p:nvPr/>
        </p:nvCxnSpPr>
        <p:spPr bwMode="auto">
          <a:xfrm>
            <a:off x="5595007" y="4991102"/>
            <a:ext cx="0" cy="126780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6" name="文本框 75"/>
          <p:cNvSpPr txBox="1"/>
          <p:nvPr/>
        </p:nvSpPr>
        <p:spPr>
          <a:xfrm flipH="1">
            <a:off x="3925614" y="6287931"/>
            <a:ext cx="3433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PRR=0.67*0.9+1*0.1=0.703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6231408" y="4593678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79" name="直接连接符 78"/>
          <p:cNvCxnSpPr/>
          <p:nvPr/>
        </p:nvCxnSpPr>
        <p:spPr bwMode="auto">
          <a:xfrm>
            <a:off x="6162390" y="4524045"/>
            <a:ext cx="234731" cy="4164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直接连接符 79"/>
          <p:cNvCxnSpPr/>
          <p:nvPr/>
        </p:nvCxnSpPr>
        <p:spPr bwMode="auto">
          <a:xfrm flipH="1">
            <a:off x="6195323" y="4558862"/>
            <a:ext cx="219140" cy="37509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直接箭头连接符 82"/>
          <p:cNvCxnSpPr/>
          <p:nvPr/>
        </p:nvCxnSpPr>
        <p:spPr bwMode="auto">
          <a:xfrm>
            <a:off x="6357532" y="4940518"/>
            <a:ext cx="0" cy="74180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5" name="文本框 84"/>
          <p:cNvSpPr txBox="1"/>
          <p:nvPr/>
        </p:nvSpPr>
        <p:spPr>
          <a:xfrm flipH="1">
            <a:off x="5805125" y="5608103"/>
            <a:ext cx="1183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PRR=</a:t>
            </a:r>
            <a:r>
              <a:rPr lang="zh-CN" altLang="en-US" dirty="0">
                <a:latin typeface="+mj-ea"/>
                <a:ea typeface="+mj-ea"/>
              </a:rPr>
              <a:t>？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461504" y="6085489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>
            <a:off x="392486" y="6015856"/>
            <a:ext cx="234731" cy="4164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/>
          <p:nvPr/>
        </p:nvCxnSpPr>
        <p:spPr bwMode="auto">
          <a:xfrm flipH="1">
            <a:off x="425419" y="6050673"/>
            <a:ext cx="219140" cy="37509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矩形 25"/>
          <p:cNvSpPr/>
          <p:nvPr/>
        </p:nvSpPr>
        <p:spPr bwMode="auto">
          <a:xfrm>
            <a:off x="432326" y="5451585"/>
            <a:ext cx="126124" cy="34684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7103" y="5360119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收到</a:t>
            </a:r>
            <a:r>
              <a:rPr lang="en-US" altLang="zh-CN" dirty="0">
                <a:latin typeface="+mj-ea"/>
                <a:ea typeface="+mj-ea"/>
              </a:rPr>
              <a:t>ACK</a:t>
            </a:r>
            <a:r>
              <a:rPr lang="zh-CN" altLang="en-US" dirty="0">
                <a:latin typeface="+mj-ea"/>
                <a:ea typeface="+mj-ea"/>
              </a:rPr>
              <a:t>的包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99313" y="5962962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未收到</a:t>
            </a:r>
            <a:r>
              <a:rPr lang="en-US" altLang="zh-CN" dirty="0">
                <a:latin typeface="+mj-ea"/>
                <a:ea typeface="+mj-ea"/>
              </a:rPr>
              <a:t>ACK</a:t>
            </a:r>
            <a:r>
              <a:rPr lang="zh-CN" altLang="en-US" dirty="0">
                <a:latin typeface="+mj-ea"/>
                <a:ea typeface="+mj-ea"/>
              </a:rPr>
              <a:t>的包</a:t>
            </a:r>
          </a:p>
        </p:txBody>
      </p:sp>
      <p:sp>
        <p:nvSpPr>
          <p:cNvPr id="29" name="灯片编号占位符 4">
            <a:extLst>
              <a:ext uri="{FF2B5EF4-FFF2-40B4-BE49-F238E27FC236}">
                <a16:creationId xmlns:a16="http://schemas.microsoft.com/office/drawing/2014/main" id="{BACFFCFF-0559-46E9-89AA-FE7B6F50A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链路质量估计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基于跨层特征的估计</a:t>
            </a:r>
            <a:endParaRPr lang="en-US" altLang="zh-CN" dirty="0"/>
          </a:p>
          <a:p>
            <a:pPr lvl="1"/>
            <a:r>
              <a:rPr lang="en-US" altLang="zh-CN" dirty="0"/>
              <a:t>4-bit </a:t>
            </a:r>
            <a:r>
              <a:rPr lang="zh-CN" altLang="en-US" dirty="0"/>
              <a:t>链路质量估计的信息来源</a:t>
            </a:r>
            <a:endParaRPr lang="en-US" altLang="zh-CN" dirty="0"/>
          </a:p>
          <a:p>
            <a:pPr lvl="1"/>
            <a:r>
              <a:rPr lang="zh-CN" altLang="en-US" dirty="0"/>
              <a:t>物理层</a:t>
            </a:r>
            <a:r>
              <a:rPr lang="en-US" altLang="zh-CN" dirty="0"/>
              <a:t>(1 bit)</a:t>
            </a:r>
            <a:r>
              <a:rPr lang="zh-CN" altLang="en-US" dirty="0"/>
              <a:t>：数据包解码质量情况</a:t>
            </a:r>
            <a:endParaRPr lang="en-US" altLang="zh-CN" dirty="0"/>
          </a:p>
          <a:p>
            <a:pPr lvl="2"/>
            <a:r>
              <a:rPr lang="en-US" altLang="zh-CN" dirty="0"/>
              <a:t>White bit: </a:t>
            </a:r>
            <a:r>
              <a:rPr lang="zh-CN" altLang="en-US" dirty="0"/>
              <a:t>设置为</a:t>
            </a:r>
            <a:r>
              <a:rPr lang="en-US" altLang="zh-CN" dirty="0"/>
              <a:t>1</a:t>
            </a:r>
            <a:r>
              <a:rPr lang="zh-CN" altLang="en-US" dirty="0"/>
              <a:t>表示收到的数据包中</a:t>
            </a:r>
            <a:br>
              <a:rPr lang="en-US" altLang="zh-CN" dirty="0"/>
            </a:br>
            <a:r>
              <a:rPr lang="zh-CN" altLang="en-US" dirty="0"/>
              <a:t>每个符号误码率很低</a:t>
            </a:r>
            <a:endParaRPr lang="en-US" altLang="zh-CN" dirty="0"/>
          </a:p>
          <a:p>
            <a:pPr lvl="2"/>
            <a:r>
              <a:rPr lang="en-US" altLang="zh-CN" dirty="0"/>
              <a:t>Bit = 0, if LQI &lt; 105</a:t>
            </a:r>
          </a:p>
          <a:p>
            <a:pPr lvl="1"/>
            <a:r>
              <a:rPr lang="zh-CN" altLang="en-US" dirty="0"/>
              <a:t>链路层</a:t>
            </a:r>
            <a:r>
              <a:rPr lang="en-US" altLang="zh-CN" dirty="0"/>
              <a:t>(1 bit)</a:t>
            </a:r>
            <a:r>
              <a:rPr lang="zh-CN" altLang="en-US" dirty="0"/>
              <a:t>：数据包</a:t>
            </a:r>
            <a:r>
              <a:rPr lang="en-US" altLang="zh-CN" dirty="0"/>
              <a:t>ACK</a:t>
            </a:r>
            <a:r>
              <a:rPr lang="zh-CN" altLang="en-US" dirty="0"/>
              <a:t>情况</a:t>
            </a:r>
            <a:endParaRPr lang="en-US" altLang="zh-CN" dirty="0"/>
          </a:p>
          <a:p>
            <a:pPr lvl="2"/>
            <a:r>
              <a:rPr lang="en-US" altLang="zh-CN" dirty="0"/>
              <a:t>Ack bit: </a:t>
            </a:r>
            <a:r>
              <a:rPr lang="zh-CN" altLang="en-US" dirty="0"/>
              <a:t>设置为</a:t>
            </a:r>
            <a:r>
              <a:rPr lang="en-US" altLang="zh-CN" dirty="0"/>
              <a:t>1</a:t>
            </a:r>
            <a:r>
              <a:rPr lang="zh-CN" altLang="en-US" dirty="0"/>
              <a:t>表示收到</a:t>
            </a:r>
            <a:r>
              <a:rPr lang="en-US" altLang="zh-CN" dirty="0"/>
              <a:t>L2</a:t>
            </a:r>
            <a:r>
              <a:rPr lang="zh-CN" altLang="en-US" dirty="0"/>
              <a:t>层的</a:t>
            </a:r>
            <a:r>
              <a:rPr lang="en-US" altLang="zh-CN" dirty="0"/>
              <a:t>ack</a:t>
            </a:r>
            <a:r>
              <a:rPr lang="zh-CN" altLang="en-US" dirty="0"/>
              <a:t>，上一个数据包成功发送，为</a:t>
            </a:r>
            <a:r>
              <a:rPr lang="en-US" altLang="zh-CN" dirty="0"/>
              <a:t>0</a:t>
            </a:r>
            <a:r>
              <a:rPr lang="zh-CN" altLang="en-US" dirty="0"/>
              <a:t>则表示发出去的包可能丢了</a:t>
            </a:r>
            <a:endParaRPr lang="en-US" altLang="zh-CN" dirty="0"/>
          </a:p>
          <a:p>
            <a:pPr lvl="1"/>
            <a:r>
              <a:rPr lang="zh-CN" altLang="en-US" dirty="0"/>
              <a:t>网络层</a:t>
            </a:r>
            <a:r>
              <a:rPr lang="en-US" altLang="zh-CN" dirty="0"/>
              <a:t>(2 bits)</a:t>
            </a:r>
            <a:r>
              <a:rPr lang="zh-CN" altLang="en-US" dirty="0"/>
              <a:t>：标注相对重要的链路</a:t>
            </a:r>
            <a:endParaRPr lang="en-US" altLang="zh-CN" dirty="0"/>
          </a:p>
          <a:p>
            <a:pPr lvl="2"/>
            <a:r>
              <a:rPr lang="en-US" altLang="zh-CN" dirty="0"/>
              <a:t>Pin bit</a:t>
            </a:r>
            <a:r>
              <a:rPr lang="zh-CN" altLang="en-US" dirty="0"/>
              <a:t>：当网络层在一个路由表的某链路上设置</a:t>
            </a:r>
            <a:r>
              <a:rPr lang="en-US" altLang="zh-CN" dirty="0"/>
              <a:t>pin</a:t>
            </a:r>
            <a:r>
              <a:rPr lang="zh-CN" altLang="en-US" dirty="0"/>
              <a:t>位时，链路估计器不能从表中删除该链路，直到该位清零为止</a:t>
            </a:r>
            <a:endParaRPr lang="en-US" altLang="zh-CN" dirty="0"/>
          </a:p>
          <a:p>
            <a:pPr lvl="2"/>
            <a:r>
              <a:rPr lang="en-US" altLang="zh-CN" dirty="0"/>
              <a:t>Compare bit</a:t>
            </a:r>
            <a:r>
              <a:rPr lang="zh-CN" altLang="en-US" dirty="0"/>
              <a:t>：指示数据包发过来的链路是否优于现在路由表中一个或多个链路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392" y="1018814"/>
            <a:ext cx="2699408" cy="2410186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51708B-2A57-4280-8451-C2942C7F1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dirty="0"/>
              <a:t>IEEE 802.15.4</a:t>
            </a:r>
            <a:r>
              <a:rPr lang="zh-CN" altLang="en-US" dirty="0"/>
              <a:t>技术物理层</a:t>
            </a:r>
          </a:p>
          <a:p>
            <a:r>
              <a:rPr lang="zh-CN" altLang="en-US" dirty="0"/>
              <a:t>低功耗</a:t>
            </a:r>
            <a:r>
              <a:rPr lang="en-US" altLang="zh-CN" dirty="0"/>
              <a:t>MAC</a:t>
            </a:r>
          </a:p>
          <a:p>
            <a:r>
              <a:rPr lang="zh-CN" altLang="en-US" dirty="0"/>
              <a:t>链路质量估计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6LoWPAN</a:t>
            </a:r>
          </a:p>
          <a:p>
            <a:r>
              <a:rPr lang="en-US" altLang="zh-CN" dirty="0"/>
              <a:t>CTP</a:t>
            </a:r>
          </a:p>
          <a:p>
            <a:r>
              <a:rPr lang="en-US" altLang="zh-CN" dirty="0"/>
              <a:t>RPL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426671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6LoWPAN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IPv6 over Low Power Wireless Personal Area Network</a:t>
            </a:r>
          </a:p>
          <a:p>
            <a:r>
              <a:rPr lang="zh-CN" altLang="en-US"/>
              <a:t>致力于将</a:t>
            </a:r>
            <a:r>
              <a:rPr lang="en-US" altLang="zh-CN"/>
              <a:t>IPv6 </a:t>
            </a:r>
            <a:r>
              <a:rPr lang="zh-CN" altLang="en-US"/>
              <a:t>与</a:t>
            </a:r>
            <a:r>
              <a:rPr lang="en-US" altLang="zh-CN"/>
              <a:t>802.15.4 </a:t>
            </a:r>
            <a:r>
              <a:rPr lang="zh-CN" altLang="en-US"/>
              <a:t>相结合，使得大量物联网节点可以无缝地接入互联网</a:t>
            </a:r>
            <a:endParaRPr lang="en-US" altLang="zh-CN"/>
          </a:p>
          <a:p>
            <a:endParaRPr lang="en-US" altLang="zh-CN"/>
          </a:p>
          <a:p>
            <a:pPr lvl="1"/>
            <a:endParaRPr lang="en-US" altLang="zh-CN" dirty="0"/>
          </a:p>
        </p:txBody>
      </p:sp>
      <p:pic>
        <p:nvPicPr>
          <p:cNvPr id="5" name="Picture 4" descr="networ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71" y="2795452"/>
            <a:ext cx="7125557" cy="422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2F362AD-016E-4B22-852F-8F0AFD112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6LoWPAN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25"/>
          <a:stretch>
            <a:fillRect/>
          </a:stretch>
        </p:blipFill>
        <p:spPr>
          <a:xfrm>
            <a:off x="2369899" y="2360362"/>
            <a:ext cx="5859701" cy="253580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B03F50-AB83-4CE1-AF4E-F5B36788A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791200"/>
          </a:xfrm>
        </p:spPr>
        <p:txBody>
          <a:bodyPr>
            <a:normAutofit/>
          </a:bodyPr>
          <a:lstStyle/>
          <a:p>
            <a:r>
              <a:rPr lang="zh-CN" altLang="en-US" dirty="0"/>
              <a:t>主要任务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IEEE 802.15.4 MAC </a:t>
            </a:r>
            <a:r>
              <a:rPr lang="zh-CN" altLang="en-US" dirty="0"/>
              <a:t>层和 </a:t>
            </a:r>
            <a:r>
              <a:rPr lang="en-US" altLang="zh-CN" dirty="0"/>
              <a:t>IPv6 </a:t>
            </a:r>
            <a:r>
              <a:rPr lang="zh-CN" altLang="en-US" dirty="0"/>
              <a:t>网络层之间加入适配层，使得</a:t>
            </a:r>
            <a:r>
              <a:rPr lang="en-US" altLang="zh-CN" dirty="0"/>
              <a:t>IPv6 </a:t>
            </a:r>
            <a:r>
              <a:rPr lang="zh-CN" altLang="en-US" dirty="0"/>
              <a:t>数据包能够运行在 </a:t>
            </a:r>
            <a:r>
              <a:rPr lang="en-US" altLang="zh-CN" dirty="0"/>
              <a:t>IEEE 802.15.4 </a:t>
            </a:r>
            <a:r>
              <a:rPr lang="zh-CN" altLang="en-US" dirty="0"/>
              <a:t>的网络上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sz="3200" dirty="0"/>
          </a:p>
          <a:p>
            <a:r>
              <a:rPr lang="zh-CN" altLang="en-US" dirty="0"/>
              <a:t>两种主要技术</a:t>
            </a:r>
            <a:endParaRPr lang="en-US" altLang="zh-CN" dirty="0"/>
          </a:p>
          <a:p>
            <a:pPr lvl="1"/>
            <a:r>
              <a:rPr lang="zh-CN" altLang="en-US" dirty="0"/>
              <a:t>分段重组</a:t>
            </a:r>
            <a:endParaRPr lang="en-US" altLang="zh-CN" dirty="0"/>
          </a:p>
          <a:p>
            <a:pPr lvl="1"/>
            <a:r>
              <a:rPr lang="zh-CN" altLang="en-US" dirty="0"/>
              <a:t>头部压缩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>
                <a:latin typeface="+mj-ea"/>
                <a:ea typeface="+mj-ea"/>
              </a:rPr>
              <a:t>6LoWPAN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分段重组</a:t>
            </a:r>
            <a:endParaRPr lang="en-US" altLang="zh-CN" dirty="0"/>
          </a:p>
          <a:p>
            <a:pPr lvl="1"/>
            <a:r>
              <a:rPr lang="en-US" altLang="zh-CN" dirty="0"/>
              <a:t>MAC </a:t>
            </a:r>
            <a:r>
              <a:rPr lang="zh-CN" altLang="zh-CN" dirty="0"/>
              <a:t>层每一帧的长度为</a:t>
            </a:r>
            <a:r>
              <a:rPr lang="en-US" altLang="zh-CN" dirty="0"/>
              <a:t>127</a:t>
            </a:r>
            <a:r>
              <a:rPr lang="zh-CN" altLang="zh-CN" dirty="0"/>
              <a:t>字节，</a:t>
            </a:r>
            <a:r>
              <a:rPr lang="en-US" altLang="zh-CN" dirty="0"/>
              <a:t>IEEE 802.15.4</a:t>
            </a:r>
            <a:r>
              <a:rPr lang="zh-CN" altLang="zh-CN" dirty="0"/>
              <a:t>能为网络提供的有效负载的长度为</a:t>
            </a:r>
            <a:r>
              <a:rPr lang="en-US" altLang="zh-CN" dirty="0"/>
              <a:t>80</a:t>
            </a:r>
            <a:r>
              <a:rPr lang="zh-CN" altLang="zh-CN" dirty="0"/>
              <a:t>～</a:t>
            </a:r>
            <a:r>
              <a:rPr lang="en-US" altLang="zh-CN" dirty="0"/>
              <a:t>100</a:t>
            </a:r>
            <a:r>
              <a:rPr lang="zh-CN" altLang="zh-CN" dirty="0"/>
              <a:t>字节</a:t>
            </a:r>
            <a:endParaRPr lang="en-US" altLang="zh-CN" dirty="0"/>
          </a:p>
          <a:p>
            <a:pPr lvl="1"/>
            <a:r>
              <a:rPr lang="en-US" altLang="zh-CN" dirty="0"/>
              <a:t>IPv6</a:t>
            </a:r>
            <a:r>
              <a:rPr lang="zh-CN" altLang="zh-CN" dirty="0"/>
              <a:t>数据报的最大传输单元为</a:t>
            </a:r>
            <a:r>
              <a:rPr lang="en-US" altLang="zh-CN" dirty="0"/>
              <a:t>1280</a:t>
            </a:r>
            <a:r>
              <a:rPr lang="zh-CN" altLang="zh-CN" dirty="0"/>
              <a:t>字节</a:t>
            </a:r>
            <a:endParaRPr lang="en-US" altLang="zh-CN" dirty="0"/>
          </a:p>
          <a:p>
            <a:pPr lvl="1"/>
            <a:r>
              <a:rPr lang="en-US" altLang="zh-CN" dirty="0"/>
              <a:t>6LoWPAN</a:t>
            </a:r>
            <a:r>
              <a:rPr lang="zh-CN" altLang="en-US" dirty="0"/>
              <a:t>必须支持分段与重组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45" name="Rectangle 5"/>
          <p:cNvSpPr>
            <a:spLocks noChangeArrowheads="1"/>
          </p:cNvSpPr>
          <p:nvPr/>
        </p:nvSpPr>
        <p:spPr bwMode="auto">
          <a:xfrm>
            <a:off x="839016" y="3451939"/>
            <a:ext cx="7343775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6" name="Text Box 6"/>
          <p:cNvSpPr txBox="1">
            <a:spLocks noChangeArrowheads="1"/>
          </p:cNvSpPr>
          <p:nvPr/>
        </p:nvSpPr>
        <p:spPr bwMode="auto">
          <a:xfrm>
            <a:off x="4442928" y="3495738"/>
            <a:ext cx="16369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</a:rPr>
              <a:t>IPv6 Datagram</a:t>
            </a:r>
          </a:p>
        </p:txBody>
      </p:sp>
      <p:sp>
        <p:nvSpPr>
          <p:cNvPr id="47" name="Rectangle 7"/>
          <p:cNvSpPr>
            <a:spLocks noChangeArrowheads="1"/>
          </p:cNvSpPr>
          <p:nvPr/>
        </p:nvSpPr>
        <p:spPr bwMode="auto">
          <a:xfrm>
            <a:off x="839017" y="3446900"/>
            <a:ext cx="1352550" cy="400110"/>
          </a:xfrm>
          <a:prstGeom prst="rect">
            <a:avLst/>
          </a:prstGeom>
          <a:noFill/>
          <a:ln w="19050" algn="ctr">
            <a:solidFill>
              <a:srgbClr val="011706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8" name="Text Box 9"/>
          <p:cNvSpPr txBox="1">
            <a:spLocks noChangeArrowheads="1"/>
          </p:cNvSpPr>
          <p:nvPr/>
        </p:nvSpPr>
        <p:spPr bwMode="auto">
          <a:xfrm>
            <a:off x="965109" y="3499729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baseline="0" dirty="0">
                <a:latin typeface="+mj-ea"/>
                <a:ea typeface="+mj-ea"/>
              </a:rPr>
              <a:t>802.15.4</a:t>
            </a: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7" name="Rectangle 36"/>
          <p:cNvSpPr>
            <a:spLocks noChangeArrowheads="1"/>
          </p:cNvSpPr>
          <p:nvPr/>
        </p:nvSpPr>
        <p:spPr bwMode="auto">
          <a:xfrm>
            <a:off x="2194580" y="3441347"/>
            <a:ext cx="295436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6" name="Text Box 39"/>
          <p:cNvSpPr txBox="1">
            <a:spLocks noChangeArrowheads="1"/>
          </p:cNvSpPr>
          <p:nvPr/>
        </p:nvSpPr>
        <p:spPr bwMode="auto">
          <a:xfrm rot="16200000">
            <a:off x="2014879" y="3444299"/>
            <a:ext cx="6597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ea"/>
                <a:ea typeface="+mj-ea"/>
              </a:rPr>
              <a:t>Disp</a:t>
            </a: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auto">
          <a:xfrm>
            <a:off x="2175487" y="4362878"/>
            <a:ext cx="5157542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1" name="Text Box 6"/>
          <p:cNvSpPr txBox="1">
            <a:spLocks noChangeArrowheads="1"/>
          </p:cNvSpPr>
          <p:nvPr/>
        </p:nvSpPr>
        <p:spPr bwMode="auto">
          <a:xfrm>
            <a:off x="4695046" y="4419394"/>
            <a:ext cx="24497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</a:rPr>
              <a:t>IPv6 Datagram (Frag 1)</a:t>
            </a:r>
          </a:p>
        </p:txBody>
      </p:sp>
      <p:sp>
        <p:nvSpPr>
          <p:cNvPr id="92" name="Rectangle 7"/>
          <p:cNvSpPr>
            <a:spLocks noChangeArrowheads="1"/>
          </p:cNvSpPr>
          <p:nvPr/>
        </p:nvSpPr>
        <p:spPr bwMode="auto">
          <a:xfrm>
            <a:off x="2175487" y="4357839"/>
            <a:ext cx="1352550" cy="400110"/>
          </a:xfrm>
          <a:prstGeom prst="rect">
            <a:avLst/>
          </a:prstGeom>
          <a:noFill/>
          <a:ln w="19050" algn="ctr">
            <a:solidFill>
              <a:srgbClr val="011706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3" name="Text Box 9"/>
          <p:cNvSpPr txBox="1">
            <a:spLocks noChangeArrowheads="1"/>
          </p:cNvSpPr>
          <p:nvPr/>
        </p:nvSpPr>
        <p:spPr bwMode="auto">
          <a:xfrm>
            <a:off x="2301579" y="4410668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baseline="0" dirty="0">
                <a:latin typeface="+mj-ea"/>
                <a:ea typeface="+mj-ea"/>
              </a:rPr>
              <a:t>802.15.4</a:t>
            </a: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4" name="Rectangle 36"/>
          <p:cNvSpPr>
            <a:spLocks noChangeArrowheads="1"/>
          </p:cNvSpPr>
          <p:nvPr/>
        </p:nvSpPr>
        <p:spPr bwMode="auto">
          <a:xfrm>
            <a:off x="3862876" y="4352799"/>
            <a:ext cx="574668" cy="4051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algn="ctr">
            <a:solidFill>
              <a:schemeClr val="tx1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831288" y="4347759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Frag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6" name="Rectangle 5"/>
          <p:cNvSpPr>
            <a:spLocks noChangeArrowheads="1"/>
          </p:cNvSpPr>
          <p:nvPr/>
        </p:nvSpPr>
        <p:spPr bwMode="auto">
          <a:xfrm>
            <a:off x="2458516" y="4978422"/>
            <a:ext cx="5157542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7" name="Text Box 6"/>
          <p:cNvSpPr txBox="1">
            <a:spLocks noChangeArrowheads="1"/>
          </p:cNvSpPr>
          <p:nvPr/>
        </p:nvSpPr>
        <p:spPr bwMode="auto">
          <a:xfrm>
            <a:off x="4905549" y="5034338"/>
            <a:ext cx="24497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kern="0" baseline="0" dirty="0">
                <a:latin typeface="+mj-ea"/>
                <a:ea typeface="+mj-ea"/>
              </a:rPr>
              <a:t>IPv6 Datagram (Frag 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8" name="Rectangle 7"/>
          <p:cNvSpPr>
            <a:spLocks noChangeArrowheads="1"/>
          </p:cNvSpPr>
          <p:nvPr/>
        </p:nvSpPr>
        <p:spPr bwMode="auto">
          <a:xfrm>
            <a:off x="2458516" y="4973383"/>
            <a:ext cx="1352550" cy="400110"/>
          </a:xfrm>
          <a:prstGeom prst="rect">
            <a:avLst/>
          </a:prstGeom>
          <a:noFill/>
          <a:ln w="19050" algn="ctr">
            <a:solidFill>
              <a:srgbClr val="011706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9" name="Text Box 9"/>
          <p:cNvSpPr txBox="1">
            <a:spLocks noChangeArrowheads="1"/>
          </p:cNvSpPr>
          <p:nvPr/>
        </p:nvSpPr>
        <p:spPr bwMode="auto">
          <a:xfrm>
            <a:off x="2584608" y="5026212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baseline="0" dirty="0">
                <a:latin typeface="+mj-ea"/>
                <a:ea typeface="+mj-ea"/>
              </a:rPr>
              <a:t>802.15.4</a:t>
            </a: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0" name="Rectangle 36"/>
          <p:cNvSpPr>
            <a:spLocks noChangeArrowheads="1"/>
          </p:cNvSpPr>
          <p:nvPr/>
        </p:nvSpPr>
        <p:spPr bwMode="auto">
          <a:xfrm>
            <a:off x="3792385" y="4968343"/>
            <a:ext cx="574668" cy="4051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algn="ctr">
            <a:solidFill>
              <a:schemeClr val="tx1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760797" y="4963303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Frag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auto">
          <a:xfrm>
            <a:off x="2857820" y="5640510"/>
            <a:ext cx="5157542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3" name="Text Box 6"/>
          <p:cNvSpPr txBox="1">
            <a:spLocks noChangeArrowheads="1"/>
          </p:cNvSpPr>
          <p:nvPr/>
        </p:nvSpPr>
        <p:spPr bwMode="auto">
          <a:xfrm>
            <a:off x="5274770" y="5697371"/>
            <a:ext cx="24497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kern="0" baseline="0" dirty="0">
                <a:latin typeface="+mj-ea"/>
                <a:ea typeface="+mj-ea"/>
              </a:rPr>
              <a:t>IPv6 Datagram (Frag 3)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4" name="Rectangle 7"/>
          <p:cNvSpPr>
            <a:spLocks noChangeArrowheads="1"/>
          </p:cNvSpPr>
          <p:nvPr/>
        </p:nvSpPr>
        <p:spPr bwMode="auto">
          <a:xfrm>
            <a:off x="2857820" y="5635471"/>
            <a:ext cx="1352550" cy="400110"/>
          </a:xfrm>
          <a:prstGeom prst="rect">
            <a:avLst/>
          </a:prstGeom>
          <a:noFill/>
          <a:ln w="19050" algn="ctr">
            <a:solidFill>
              <a:srgbClr val="011706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5" name="Text Box 9"/>
          <p:cNvSpPr txBox="1">
            <a:spLocks noChangeArrowheads="1"/>
          </p:cNvSpPr>
          <p:nvPr/>
        </p:nvSpPr>
        <p:spPr bwMode="auto">
          <a:xfrm>
            <a:off x="2983912" y="5688300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baseline="0" dirty="0">
                <a:latin typeface="+mj-ea"/>
                <a:ea typeface="+mj-ea"/>
              </a:rPr>
              <a:t>802.15.4</a:t>
            </a: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6" name="Rectangle 36"/>
          <p:cNvSpPr>
            <a:spLocks noChangeArrowheads="1"/>
          </p:cNvSpPr>
          <p:nvPr/>
        </p:nvSpPr>
        <p:spPr bwMode="auto">
          <a:xfrm>
            <a:off x="4191689" y="5630431"/>
            <a:ext cx="574668" cy="4051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algn="ctr">
            <a:solidFill>
              <a:schemeClr val="tx1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4160101" y="5625391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Frag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88" name="Rectangle 36"/>
          <p:cNvSpPr>
            <a:spLocks noChangeArrowheads="1"/>
          </p:cNvSpPr>
          <p:nvPr/>
        </p:nvSpPr>
        <p:spPr bwMode="auto">
          <a:xfrm>
            <a:off x="3532736" y="4359201"/>
            <a:ext cx="3076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8" name="Text Box 39"/>
          <p:cNvSpPr txBox="1">
            <a:spLocks noChangeArrowheads="1"/>
          </p:cNvSpPr>
          <p:nvPr/>
        </p:nvSpPr>
        <p:spPr bwMode="auto">
          <a:xfrm rot="16200000">
            <a:off x="3343716" y="4355830"/>
            <a:ext cx="6597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ea"/>
                <a:ea typeface="+mj-ea"/>
              </a:rPr>
              <a:t>Disp</a:t>
            </a:r>
            <a:endParaRPr kumimoji="0" lang="en-US" altLang="zh-CN" sz="16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9" name="直角上箭头 108"/>
          <p:cNvSpPr/>
          <p:nvPr/>
        </p:nvSpPr>
        <p:spPr bwMode="auto">
          <a:xfrm rot="5400000">
            <a:off x="707601" y="4404473"/>
            <a:ext cx="1632857" cy="901039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1" name="灯片编号占位符 4">
            <a:extLst>
              <a:ext uri="{FF2B5EF4-FFF2-40B4-BE49-F238E27FC236}">
                <a16:creationId xmlns:a16="http://schemas.microsoft.com/office/drawing/2014/main" id="{F2C22F89-7EA2-495E-87F5-F2D9E94AA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6LoWPAN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分段重组</a:t>
            </a:r>
            <a:endParaRPr lang="en-US" altLang="zh-CN" dirty="0"/>
          </a:p>
          <a:p>
            <a:pPr lvl="1"/>
            <a:r>
              <a:rPr lang="en-US" altLang="zh-CN" dirty="0"/>
              <a:t>Size: </a:t>
            </a:r>
            <a:r>
              <a:rPr lang="zh-CN" altLang="en-US" dirty="0"/>
              <a:t>每一个分段的大小</a:t>
            </a:r>
            <a:r>
              <a:rPr lang="en-US" altLang="zh-CN" dirty="0"/>
              <a:t>(bytes)</a:t>
            </a:r>
            <a:r>
              <a:rPr lang="zh-CN" altLang="en-US" dirty="0"/>
              <a:t>，所有分段中都包含</a:t>
            </a:r>
            <a:endParaRPr lang="en-US" altLang="zh-CN" dirty="0"/>
          </a:p>
          <a:p>
            <a:pPr lvl="1"/>
            <a:r>
              <a:rPr lang="en-US" altLang="zh-CN" dirty="0"/>
              <a:t>Tag: </a:t>
            </a:r>
            <a:r>
              <a:rPr lang="zh-CN" altLang="en-US" dirty="0"/>
              <a:t>属于同一个</a:t>
            </a:r>
            <a:r>
              <a:rPr lang="en-US" altLang="zh-CN" dirty="0"/>
              <a:t>IPv6</a:t>
            </a:r>
            <a:r>
              <a:rPr lang="zh-CN" altLang="en-US" dirty="0"/>
              <a:t>报文的，</a:t>
            </a:r>
            <a:r>
              <a:rPr lang="en-US" altLang="zh-CN" dirty="0"/>
              <a:t>Tag</a:t>
            </a:r>
            <a:r>
              <a:rPr lang="zh-CN" altLang="en-US" dirty="0"/>
              <a:t>相同</a:t>
            </a:r>
            <a:endParaRPr lang="en-US" altLang="zh-CN" dirty="0"/>
          </a:p>
          <a:p>
            <a:pPr lvl="1"/>
            <a:r>
              <a:rPr lang="en-US" altLang="zh-CN" dirty="0"/>
              <a:t>Offset: </a:t>
            </a:r>
            <a:r>
              <a:rPr lang="zh-CN" altLang="en-US" dirty="0"/>
              <a:t>表示在原来</a:t>
            </a:r>
            <a:r>
              <a:rPr lang="en-US" altLang="zh-CN" dirty="0"/>
              <a:t>IPv6</a:t>
            </a:r>
            <a:r>
              <a:rPr lang="zh-CN" altLang="en-US" dirty="0"/>
              <a:t>报文中的位置，用于重组</a:t>
            </a:r>
            <a:endParaRPr lang="en-US" altLang="zh-CN" dirty="0"/>
          </a:p>
          <a:p>
            <a:pPr lvl="2"/>
            <a:r>
              <a:rPr lang="zh-CN" altLang="en-US" dirty="0"/>
              <a:t>在第一个分段中省略，其它分段需要包含该字段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3233737"/>
            <a:ext cx="7620000" cy="2905125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CB5C8126-350B-4D06-B2AB-6E6C2AE52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6LoWPAN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90600"/>
            <a:ext cx="4442511" cy="5410200"/>
          </a:xfrm>
        </p:spPr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数据报头部</a:t>
            </a:r>
            <a:r>
              <a:rPr lang="en-US" altLang="zh-CN" dirty="0">
                <a:solidFill>
                  <a:srgbClr val="C00000"/>
                </a:solidFill>
              </a:rPr>
              <a:t>40B</a:t>
            </a:r>
            <a:r>
              <a:rPr lang="zh-CN" altLang="en-US" dirty="0"/>
              <a:t>，</a:t>
            </a:r>
            <a:r>
              <a:rPr lang="en-US" altLang="zh-CN" dirty="0"/>
              <a:t>UDP</a:t>
            </a:r>
            <a:r>
              <a:rPr lang="zh-CN" altLang="en-US" dirty="0"/>
              <a:t>头部</a:t>
            </a:r>
            <a:r>
              <a:rPr lang="en-US" altLang="zh-CN" dirty="0">
                <a:solidFill>
                  <a:srgbClr val="C00000"/>
                </a:solidFill>
              </a:rPr>
              <a:t>8B</a:t>
            </a:r>
          </a:p>
          <a:p>
            <a:r>
              <a:rPr lang="en-US" altLang="zh-CN" dirty="0"/>
              <a:t>IPv6</a:t>
            </a:r>
            <a:r>
              <a:rPr lang="zh-CN" altLang="en-US" dirty="0"/>
              <a:t>头部（</a:t>
            </a:r>
            <a:r>
              <a:rPr lang="en-US" altLang="zh-CN" dirty="0">
                <a:solidFill>
                  <a:srgbClr val="C00000"/>
                </a:solidFill>
              </a:rPr>
              <a:t>40B</a:t>
            </a:r>
            <a:r>
              <a:rPr lang="zh-CN" altLang="en-US" dirty="0"/>
              <a:t>）压缩</a:t>
            </a:r>
            <a:endParaRPr lang="en-US" altLang="zh-CN" dirty="0"/>
          </a:p>
          <a:p>
            <a:pPr lvl="1"/>
            <a:r>
              <a:rPr lang="zh-CN" altLang="en-US" dirty="0"/>
              <a:t>源节点与目的节点的</a:t>
            </a:r>
            <a:r>
              <a:rPr lang="en-US" altLang="zh-CN" dirty="0"/>
              <a:t>IPv6 </a:t>
            </a:r>
            <a:r>
              <a:rPr lang="zh-CN" altLang="en-US" dirty="0"/>
              <a:t>地址（共</a:t>
            </a:r>
            <a:r>
              <a:rPr lang="en-US" altLang="zh-CN" dirty="0">
                <a:solidFill>
                  <a:srgbClr val="C00000"/>
                </a:solidFill>
              </a:rPr>
              <a:t>32B</a:t>
            </a:r>
            <a:r>
              <a:rPr lang="zh-CN" altLang="en-US" dirty="0"/>
              <a:t>）压缩非常关键</a:t>
            </a:r>
            <a:endParaRPr lang="en-US" altLang="zh-CN" dirty="0"/>
          </a:p>
          <a:p>
            <a:pPr lvl="2"/>
            <a:r>
              <a:rPr lang="zh-CN" altLang="en-US" dirty="0"/>
              <a:t>基本思想：利用链路层地址与</a:t>
            </a:r>
            <a:r>
              <a:rPr lang="en-US" altLang="zh-CN" dirty="0"/>
              <a:t>IPv6 </a:t>
            </a:r>
            <a:r>
              <a:rPr lang="zh-CN" altLang="en-US" dirty="0"/>
              <a:t>地址之间的直接映射关系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186" y="1044850"/>
            <a:ext cx="3759992" cy="530169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1565062" y="4094168"/>
            <a:ext cx="1404698" cy="44413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64</a:t>
            </a:r>
            <a:r>
              <a:rPr kumimoji="0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位前缀 </a:t>
            </a:r>
          </a:p>
        </p:txBody>
      </p:sp>
      <p:sp>
        <p:nvSpPr>
          <p:cNvPr id="64" name="矩形 63"/>
          <p:cNvSpPr/>
          <p:nvPr/>
        </p:nvSpPr>
        <p:spPr bwMode="auto">
          <a:xfrm>
            <a:off x="2969760" y="4094168"/>
            <a:ext cx="1404698" cy="44413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64</a:t>
            </a:r>
            <a:r>
              <a:rPr kumimoji="0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位</a:t>
            </a: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IID</a:t>
            </a:r>
            <a:r>
              <a:rPr kumimoji="0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</a:t>
            </a:r>
          </a:p>
        </p:txBody>
      </p:sp>
      <p:sp>
        <p:nvSpPr>
          <p:cNvPr id="19" name="矩形 18"/>
          <p:cNvSpPr/>
          <p:nvPr/>
        </p:nvSpPr>
        <p:spPr>
          <a:xfrm>
            <a:off x="157882" y="3953530"/>
            <a:ext cx="13874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6LowPAN </a:t>
            </a:r>
            <a:r>
              <a:rPr lang="zh-CN" altLang="en-US" dirty="0">
                <a:latin typeface="+mj-ea"/>
                <a:ea typeface="+mj-ea"/>
              </a:rPr>
              <a:t>中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的</a:t>
            </a:r>
            <a:r>
              <a:rPr lang="en-US" altLang="zh-CN" dirty="0">
                <a:latin typeface="+mj-ea"/>
                <a:ea typeface="+mj-ea"/>
              </a:rPr>
              <a:t>IPv6 </a:t>
            </a:r>
            <a:r>
              <a:rPr lang="zh-CN" altLang="en-US" dirty="0">
                <a:latin typeface="+mj-ea"/>
                <a:ea typeface="+mj-ea"/>
              </a:rPr>
              <a:t>地址</a:t>
            </a:r>
          </a:p>
        </p:txBody>
      </p:sp>
      <p:cxnSp>
        <p:nvCxnSpPr>
          <p:cNvPr id="30" name="直接箭头连接符 29"/>
          <p:cNvCxnSpPr/>
          <p:nvPr/>
        </p:nvCxnSpPr>
        <p:spPr bwMode="auto">
          <a:xfrm flipH="1">
            <a:off x="2061959" y="4475253"/>
            <a:ext cx="1" cy="6585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4" name="直接箭头连接符 83"/>
          <p:cNvCxnSpPr/>
          <p:nvPr/>
        </p:nvCxnSpPr>
        <p:spPr bwMode="auto">
          <a:xfrm>
            <a:off x="3735118" y="4538305"/>
            <a:ext cx="21229" cy="13563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矩形 31"/>
          <p:cNvSpPr/>
          <p:nvPr/>
        </p:nvSpPr>
        <p:spPr>
          <a:xfrm>
            <a:off x="315822" y="5133761"/>
            <a:ext cx="32720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- </a:t>
            </a:r>
            <a:r>
              <a:rPr lang="zh-CN" altLang="en-US" dirty="0">
                <a:latin typeface="+mj-ea"/>
                <a:ea typeface="+mj-ea"/>
              </a:rPr>
              <a:t>本地链路单播地址 </a:t>
            </a:r>
            <a:r>
              <a:rPr lang="en-US" altLang="zh-CN" dirty="0">
                <a:latin typeface="+mj-ea"/>
                <a:ea typeface="+mj-ea"/>
              </a:rPr>
              <a:t>( FE80:: </a:t>
            </a:r>
            <a:r>
              <a:rPr lang="zh-CN" altLang="en-US" dirty="0">
                <a:latin typeface="+mj-ea"/>
                <a:ea typeface="+mj-ea"/>
              </a:rPr>
              <a:t>开头</a:t>
            </a:r>
            <a:r>
              <a:rPr lang="en-US" altLang="zh-CN" dirty="0">
                <a:latin typeface="+mj-ea"/>
                <a:ea typeface="+mj-ea"/>
              </a:rPr>
              <a:t>)</a:t>
            </a:r>
          </a:p>
        </p:txBody>
      </p:sp>
      <p:sp>
        <p:nvSpPr>
          <p:cNvPr id="34" name="矩形 33"/>
          <p:cNvSpPr/>
          <p:nvPr/>
        </p:nvSpPr>
        <p:spPr>
          <a:xfrm>
            <a:off x="315822" y="5412535"/>
            <a:ext cx="24105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- 16</a:t>
            </a:r>
            <a:r>
              <a:rPr lang="zh-CN" altLang="en-US" dirty="0">
                <a:latin typeface="+mj-ea"/>
                <a:ea typeface="+mj-ea"/>
              </a:rPr>
              <a:t>种全球单播地址前缀</a:t>
            </a:r>
          </a:p>
        </p:txBody>
      </p:sp>
      <p:sp>
        <p:nvSpPr>
          <p:cNvPr id="97" name="矩形 96"/>
          <p:cNvSpPr/>
          <p:nvPr/>
        </p:nvSpPr>
        <p:spPr>
          <a:xfrm>
            <a:off x="2308213" y="5880606"/>
            <a:ext cx="29740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-</a:t>
            </a:r>
            <a:r>
              <a:rPr lang="zh-CN" altLang="en-US" dirty="0">
                <a:latin typeface="+mj-ea"/>
                <a:ea typeface="+mj-ea"/>
              </a:rPr>
              <a:t>由链路层地址直接配置而成</a:t>
            </a:r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DD578CE1-AE3A-4239-8A3C-193901627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6LoWPAN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4259179" cy="5410200"/>
          </a:xfrm>
        </p:spPr>
        <p:txBody>
          <a:bodyPr/>
          <a:lstStyle/>
          <a:p>
            <a:r>
              <a:rPr lang="zh-CN" altLang="en-US" dirty="0"/>
              <a:t>其它字节压缩</a:t>
            </a:r>
            <a:endParaRPr lang="en-US" altLang="zh-CN" dirty="0"/>
          </a:p>
          <a:p>
            <a:pPr lvl="1"/>
            <a:r>
              <a:rPr lang="zh-CN" altLang="en-US" dirty="0"/>
              <a:t>其它字节压缩思想类似：限定常用值个数并编号，或直接省略能从</a:t>
            </a:r>
            <a:r>
              <a:rPr lang="en-US" altLang="zh-CN" dirty="0"/>
              <a:t>MAC </a:t>
            </a:r>
            <a:r>
              <a:rPr lang="zh-CN" altLang="en-US" dirty="0"/>
              <a:t>层头部获取的字段</a:t>
            </a:r>
            <a:endParaRPr lang="en-US" altLang="zh-CN" dirty="0"/>
          </a:p>
          <a:p>
            <a:pPr lvl="2"/>
            <a:r>
              <a:rPr lang="zh-CN" altLang="en-US" dirty="0"/>
              <a:t>版本（</a:t>
            </a:r>
            <a:r>
              <a:rPr lang="en-US" altLang="zh-CN" dirty="0"/>
              <a:t>Version</a:t>
            </a:r>
            <a:r>
              <a:rPr lang="zh-CN" altLang="en-US" dirty="0"/>
              <a:t>）和有效载荷长度（</a:t>
            </a:r>
            <a:r>
              <a:rPr lang="en-US" altLang="zh-CN" dirty="0" err="1"/>
              <a:t>PayloadLen</a:t>
            </a:r>
            <a:r>
              <a:rPr lang="zh-CN" altLang="en-US" dirty="0"/>
              <a:t>）字段可以直接省略</a:t>
            </a:r>
            <a:endParaRPr lang="en-US" altLang="zh-CN" dirty="0"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808" y="1102000"/>
            <a:ext cx="3759992" cy="5301699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E31A10-B6CD-4C2D-B733-F9BC7DFC3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dirty="0"/>
              <a:t>IEEE 802.15.4</a:t>
            </a:r>
            <a:r>
              <a:rPr lang="zh-CN" altLang="en-US" dirty="0"/>
              <a:t>技术物理层</a:t>
            </a:r>
          </a:p>
          <a:p>
            <a:r>
              <a:rPr lang="zh-CN" altLang="en-US" dirty="0"/>
              <a:t>低功耗</a:t>
            </a:r>
            <a:r>
              <a:rPr lang="en-US" altLang="zh-CN" dirty="0"/>
              <a:t>MAC</a:t>
            </a:r>
          </a:p>
          <a:p>
            <a:r>
              <a:rPr lang="zh-CN" altLang="en-US" dirty="0"/>
              <a:t>链路质量估计</a:t>
            </a:r>
          </a:p>
          <a:p>
            <a:r>
              <a:rPr lang="en-US" altLang="zh-CN" dirty="0"/>
              <a:t>6LoWPAN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CTP</a:t>
            </a:r>
          </a:p>
          <a:p>
            <a:r>
              <a:rPr lang="en-US" altLang="zh-CN" dirty="0"/>
              <a:t>RPL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099143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CTP</a:t>
                </a:r>
              </a:p>
              <a:p>
                <a:pPr lvl="1"/>
                <a:r>
                  <a:rPr lang="zh-CN" altLang="en-US" dirty="0"/>
                  <a:t>多对一的路由模式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基于距离向量路由协议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选择距离最短的路径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建立在</a:t>
                </a:r>
                <a:r>
                  <a:rPr lang="en-US" altLang="zh-CN" dirty="0"/>
                  <a:t>CSMA MAC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LPL MAC</a:t>
                </a:r>
                <a:r>
                  <a:rPr lang="zh-CN" altLang="en-US" dirty="0"/>
                  <a:t>，及链路质量估计器上</a:t>
                </a:r>
                <a:endParaRPr lang="en-US" altLang="zh-CN" dirty="0"/>
              </a:p>
              <a:p>
                <a:r>
                  <a:rPr lang="zh-CN" altLang="en-US" dirty="0"/>
                  <a:t>路由指标：</a:t>
                </a:r>
                <a:r>
                  <a:rPr lang="en-US" altLang="zh-CN" dirty="0"/>
                  <a:t>ETX(expected number of transmissions)</a:t>
                </a:r>
              </a:p>
              <a:p>
                <a:pPr lvl="1"/>
                <a:r>
                  <a:rPr lang="zh-CN" altLang="en-US" dirty="0"/>
                  <a:t>链路</a:t>
                </a:r>
                <a:r>
                  <a:rPr lang="en-US" altLang="zh-CN" dirty="0"/>
                  <a:t>ETX</a:t>
                </a:r>
                <a:r>
                  <a:rPr lang="zh-CN" altLang="en-US" dirty="0"/>
                  <a:t>：在一条链路上成功发送一个数据包所需的传输次数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ETX</a:t>
                </a:r>
                <a:r>
                  <a:rPr lang="en-US" altLang="zh-CN" dirty="0" err="1"/>
                  <a:t>f</a:t>
                </a:r>
                <a:r>
                  <a:rPr lang="en-US" altLang="zh-CN" dirty="0"/>
                  <a:t> = 1 / (</a:t>
                </a:r>
                <a:r>
                  <a:rPr lang="en-US" altLang="zh-CN" dirty="0" err="1"/>
                  <a:t>df</a:t>
                </a:r>
                <a:r>
                  <a:rPr lang="en-US" altLang="zh-CN" dirty="0"/>
                  <a:t> X </a:t>
                </a:r>
                <a:r>
                  <a:rPr lang="en-US" altLang="zh-CN" dirty="0" err="1"/>
                  <a:t>dr</a:t>
                </a:r>
                <a:r>
                  <a:rPr lang="en-US" altLang="zh-CN" dirty="0"/>
                  <a:t>)  </a:t>
                </a:r>
                <a14:m>
                  <m:oMath xmlns:m="http://schemas.openxmlformats.org/officeDocument/2006/math">
                    <m:r>
                      <a:rPr lang="zh-CN" altLang="en-US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dirty="0"/>
                  <a:t> 1/df</a:t>
                </a:r>
              </a:p>
              <a:p>
                <a:pPr lvl="2"/>
                <a:r>
                  <a:rPr lang="en-US" altLang="zh-CN" dirty="0" err="1"/>
                  <a:t>df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数据包成功到达接收者的概率，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dr</a:t>
                </a:r>
                <a:r>
                  <a:rPr lang="en-US" altLang="zh-CN" dirty="0"/>
                  <a:t> : </a:t>
                </a:r>
                <a:r>
                  <a:rPr lang="zh-CN" altLang="en-US" dirty="0"/>
                  <a:t>接收者回复的</a:t>
                </a:r>
                <a:r>
                  <a:rPr lang="en-US" altLang="zh-CN" dirty="0"/>
                  <a:t>ACK</a:t>
                </a:r>
                <a:r>
                  <a:rPr lang="zh-CN" altLang="en-US" dirty="0"/>
                  <a:t>包成功到达发送者的概率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路径</a:t>
                </a:r>
                <a:r>
                  <a:rPr lang="en-US" altLang="zh-CN" dirty="0"/>
                  <a:t>ETX</a:t>
                </a:r>
                <a:r>
                  <a:rPr lang="zh-CN" altLang="en-US" dirty="0"/>
                  <a:t>：在一条路径上成功发送一个数据包所需的传输次数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3"/>
                <a:stretch>
                  <a:fillRect l="-954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34976ED-5FEB-4441-BEAA-36C1279F1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F0E662-477B-4AFC-85CC-A96408841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思考题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B69AE5-E66C-4693-886F-51892767F5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/>
              <a:lstStyle/>
              <a:p>
                <a:r>
                  <a:rPr lang="zh-CN" altLang="zh-CN" dirty="0"/>
                  <a:t>已知一条</a:t>
                </a:r>
                <a:r>
                  <a:rPr lang="en-US" altLang="zh-CN" dirty="0"/>
                  <a:t>n</a:t>
                </a:r>
                <a:r>
                  <a:rPr lang="zh-CN" altLang="zh-CN" dirty="0"/>
                  <a:t>跳路径，其中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zh-CN" dirty="0"/>
                  <a:t>代表第</a:t>
                </a:r>
                <a:r>
                  <a:rPr lang="en-US" altLang="zh-CN" dirty="0" err="1"/>
                  <a:t>i</a:t>
                </a:r>
                <a:r>
                  <a:rPr lang="zh-CN" altLang="zh-CN" dirty="0"/>
                  <a:t>跳的链路。证明这条路径的</a:t>
                </a:r>
                <a:r>
                  <a:rPr lang="en-US" altLang="zh-CN" dirty="0"/>
                  <a:t>ETX</a:t>
                </a:r>
                <a:r>
                  <a:rPr lang="zh-CN" altLang="zh-CN" dirty="0"/>
                  <a:t>等于其所有链路</a:t>
                </a:r>
                <a:r>
                  <a:rPr lang="en-US" altLang="zh-CN" dirty="0"/>
                  <a:t>ETX</a:t>
                </a:r>
                <a:r>
                  <a:rPr lang="zh-CN" altLang="zh-CN" dirty="0"/>
                  <a:t>之和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B69AE5-E66C-4693-886F-51892767F5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2"/>
                <a:stretch>
                  <a:fillRect l="-954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953449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CTP</a:t>
            </a:r>
            <a:r>
              <a:rPr lang="zh-CN" altLang="en-US" dirty="0"/>
              <a:t>基本工作流程</a:t>
            </a:r>
            <a:endParaRPr lang="en-US" altLang="zh-CN" dirty="0"/>
          </a:p>
          <a:p>
            <a:pPr lvl="1"/>
            <a:r>
              <a:rPr lang="en-US" altLang="zh-CN" dirty="0"/>
              <a:t>S </a:t>
            </a:r>
            <a:r>
              <a:rPr lang="zh-CN" altLang="en-US" dirty="0"/>
              <a:t>广播</a:t>
            </a:r>
            <a:r>
              <a:rPr lang="en-US" altLang="zh-CN" dirty="0"/>
              <a:t>beacon, A B</a:t>
            </a:r>
            <a:r>
              <a:rPr lang="zh-CN" altLang="en-US" dirty="0"/>
              <a:t>更新路由表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cxnSp>
        <p:nvCxnSpPr>
          <p:cNvPr id="7" name="Straight Connector 18"/>
          <p:cNvCxnSpPr>
            <a:stCxn id="60" idx="3"/>
            <a:endCxn id="13" idx="7"/>
          </p:cNvCxnSpPr>
          <p:nvPr/>
        </p:nvCxnSpPr>
        <p:spPr>
          <a:xfrm flipH="1">
            <a:off x="5902157" y="2265344"/>
            <a:ext cx="1012238" cy="686326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8" name="Straight Connector 21"/>
          <p:cNvCxnSpPr>
            <a:stCxn id="60" idx="5"/>
            <a:endCxn id="14" idx="1"/>
          </p:cNvCxnSpPr>
          <p:nvPr/>
        </p:nvCxnSpPr>
        <p:spPr>
          <a:xfrm>
            <a:off x="7291565" y="2265344"/>
            <a:ext cx="1072348" cy="67554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9" name="Straight Connector 24"/>
          <p:cNvCxnSpPr>
            <a:stCxn id="13" idx="4"/>
            <a:endCxn id="15" idx="0"/>
          </p:cNvCxnSpPr>
          <p:nvPr/>
        </p:nvCxnSpPr>
        <p:spPr>
          <a:xfrm flipH="1">
            <a:off x="5711093" y="3406955"/>
            <a:ext cx="2479" cy="659254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0" name="Straight Connector 27"/>
          <p:cNvCxnSpPr>
            <a:stCxn id="14" idx="6"/>
            <a:endCxn id="15" idx="2"/>
          </p:cNvCxnSpPr>
          <p:nvPr/>
        </p:nvCxnSpPr>
        <p:spPr>
          <a:xfrm flipH="1">
            <a:off x="5444393" y="3129469"/>
            <a:ext cx="3374805" cy="12034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3" name="Oval 5"/>
          <p:cNvSpPr>
            <a:spLocks noChangeArrowheads="1"/>
          </p:cNvSpPr>
          <p:nvPr/>
        </p:nvSpPr>
        <p:spPr bwMode="auto">
          <a:xfrm>
            <a:off x="5446872" y="2873555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8285798" y="286276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15" name="Oval 5"/>
          <p:cNvSpPr>
            <a:spLocks noChangeArrowheads="1"/>
          </p:cNvSpPr>
          <p:nvPr/>
        </p:nvSpPr>
        <p:spPr bwMode="auto">
          <a:xfrm>
            <a:off x="5444393" y="4066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5446808" y="5103850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17" name="Oval 5"/>
          <p:cNvSpPr>
            <a:spLocks noChangeArrowheads="1"/>
          </p:cNvSpPr>
          <p:nvPr/>
        </p:nvSpPr>
        <p:spPr bwMode="auto">
          <a:xfrm>
            <a:off x="8285798" y="4066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8285798" y="512662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24" name="TextBox 155"/>
          <p:cNvSpPr txBox="1">
            <a:spLocks noChangeArrowheads="1"/>
          </p:cNvSpPr>
          <p:nvPr/>
        </p:nvSpPr>
        <p:spPr bwMode="auto">
          <a:xfrm>
            <a:off x="7814180" y="2322127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25" name="TextBox 156"/>
          <p:cNvSpPr txBox="1">
            <a:spLocks noChangeArrowheads="1"/>
          </p:cNvSpPr>
          <p:nvPr/>
        </p:nvSpPr>
        <p:spPr bwMode="auto">
          <a:xfrm>
            <a:off x="6566654" y="4475317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26" name="TextBox 160"/>
          <p:cNvSpPr txBox="1">
            <a:spLocks noChangeArrowheads="1"/>
          </p:cNvSpPr>
          <p:nvPr/>
        </p:nvSpPr>
        <p:spPr bwMode="auto">
          <a:xfrm>
            <a:off x="5365519" y="3656997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9" name="Straight Connector 52"/>
          <p:cNvCxnSpPr>
            <a:stCxn id="13" idx="6"/>
            <a:endCxn id="14" idx="2"/>
          </p:cNvCxnSpPr>
          <p:nvPr/>
        </p:nvCxnSpPr>
        <p:spPr>
          <a:xfrm flipV="1">
            <a:off x="5980272" y="3129469"/>
            <a:ext cx="2305526" cy="10786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30" name="TextBox 187"/>
          <p:cNvSpPr txBox="1">
            <a:spLocks noChangeArrowheads="1"/>
          </p:cNvSpPr>
          <p:nvPr/>
        </p:nvSpPr>
        <p:spPr bwMode="auto">
          <a:xfrm>
            <a:off x="7077234" y="3436392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31" name="Straight Connector 109"/>
          <p:cNvCxnSpPr>
            <a:stCxn id="15" idx="4"/>
            <a:endCxn id="16" idx="0"/>
          </p:cNvCxnSpPr>
          <p:nvPr/>
        </p:nvCxnSpPr>
        <p:spPr>
          <a:xfrm>
            <a:off x="5711093" y="4599609"/>
            <a:ext cx="2415" cy="504241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32" name="TextBox 19"/>
          <p:cNvSpPr txBox="1">
            <a:spLocks noChangeArrowheads="1"/>
          </p:cNvSpPr>
          <p:nvPr/>
        </p:nvSpPr>
        <p:spPr bwMode="auto">
          <a:xfrm>
            <a:off x="6138401" y="237292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34" name="Straight Connector 123"/>
          <p:cNvCxnSpPr>
            <a:stCxn id="17" idx="1"/>
          </p:cNvCxnSpPr>
          <p:nvPr/>
        </p:nvCxnSpPr>
        <p:spPr>
          <a:xfrm flipH="1" flipV="1">
            <a:off x="5892071" y="3341008"/>
            <a:ext cx="2471842" cy="803316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35" name="Straight Connector 128"/>
          <p:cNvCxnSpPr>
            <a:endCxn id="20" idx="1"/>
          </p:cNvCxnSpPr>
          <p:nvPr/>
        </p:nvCxnSpPr>
        <p:spPr>
          <a:xfrm>
            <a:off x="5917889" y="4477651"/>
            <a:ext cx="2446024" cy="72709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36" name="Straight Connector 132"/>
          <p:cNvCxnSpPr>
            <a:stCxn id="14" idx="4"/>
            <a:endCxn id="17" idx="0"/>
          </p:cNvCxnSpPr>
          <p:nvPr/>
        </p:nvCxnSpPr>
        <p:spPr>
          <a:xfrm>
            <a:off x="8552498" y="3396169"/>
            <a:ext cx="0" cy="6700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37" name="Straight Connector 137"/>
          <p:cNvCxnSpPr>
            <a:stCxn id="17" idx="4"/>
            <a:endCxn id="20" idx="0"/>
          </p:cNvCxnSpPr>
          <p:nvPr/>
        </p:nvCxnSpPr>
        <p:spPr>
          <a:xfrm>
            <a:off x="8552498" y="4599609"/>
            <a:ext cx="0" cy="527017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39" name="TextBox 187"/>
          <p:cNvSpPr txBox="1">
            <a:spLocks noChangeArrowheads="1"/>
          </p:cNvSpPr>
          <p:nvPr/>
        </p:nvSpPr>
        <p:spPr bwMode="auto">
          <a:xfrm>
            <a:off x="7501415" y="3726894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0" name="TextBox 187"/>
          <p:cNvSpPr txBox="1">
            <a:spLocks noChangeArrowheads="1"/>
          </p:cNvSpPr>
          <p:nvPr/>
        </p:nvSpPr>
        <p:spPr bwMode="auto">
          <a:xfrm>
            <a:off x="8525196" y="364621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" name="TextBox 187"/>
          <p:cNvSpPr txBox="1">
            <a:spLocks noChangeArrowheads="1"/>
          </p:cNvSpPr>
          <p:nvPr/>
        </p:nvSpPr>
        <p:spPr bwMode="auto">
          <a:xfrm>
            <a:off x="8527060" y="4728927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3" name="TextBox 187"/>
          <p:cNvSpPr txBox="1">
            <a:spLocks noChangeArrowheads="1"/>
          </p:cNvSpPr>
          <p:nvPr/>
        </p:nvSpPr>
        <p:spPr bwMode="auto">
          <a:xfrm>
            <a:off x="5365519" y="4806987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5" name="TextBox 187"/>
          <p:cNvSpPr txBox="1">
            <a:spLocks noChangeArrowheads="1"/>
          </p:cNvSpPr>
          <p:nvPr/>
        </p:nvSpPr>
        <p:spPr bwMode="auto">
          <a:xfrm>
            <a:off x="6914395" y="2879427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60" name="Oval 5"/>
          <p:cNvSpPr>
            <a:spLocks noChangeArrowheads="1"/>
          </p:cNvSpPr>
          <p:nvPr/>
        </p:nvSpPr>
        <p:spPr bwMode="auto">
          <a:xfrm>
            <a:off x="6836280" y="181005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</a:p>
        </p:txBody>
      </p:sp>
      <p:cxnSp>
        <p:nvCxnSpPr>
          <p:cNvPr id="102" name="Straight Connector 128"/>
          <p:cNvCxnSpPr>
            <a:stCxn id="16" idx="7"/>
            <a:endCxn id="17" idx="3"/>
          </p:cNvCxnSpPr>
          <p:nvPr/>
        </p:nvCxnSpPr>
        <p:spPr>
          <a:xfrm flipV="1">
            <a:off x="5902093" y="4521494"/>
            <a:ext cx="2461820" cy="660471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04" name="Straight Connector 128"/>
          <p:cNvCxnSpPr>
            <a:stCxn id="16" idx="6"/>
            <a:endCxn id="20" idx="2"/>
          </p:cNvCxnSpPr>
          <p:nvPr/>
        </p:nvCxnSpPr>
        <p:spPr>
          <a:xfrm>
            <a:off x="5980208" y="5370550"/>
            <a:ext cx="2305590" cy="22776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12" name="TextBox 156"/>
          <p:cNvSpPr txBox="1">
            <a:spLocks noChangeArrowheads="1"/>
          </p:cNvSpPr>
          <p:nvPr/>
        </p:nvSpPr>
        <p:spPr bwMode="auto">
          <a:xfrm>
            <a:off x="6590464" y="4930850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13" name="TextBox 187"/>
          <p:cNvSpPr txBox="1">
            <a:spLocks noChangeArrowheads="1"/>
          </p:cNvSpPr>
          <p:nvPr/>
        </p:nvSpPr>
        <p:spPr bwMode="auto">
          <a:xfrm>
            <a:off x="6942296" y="5481640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graphicFrame>
        <p:nvGraphicFramePr>
          <p:cNvPr id="114" name="表格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36322"/>
              </p:ext>
            </p:extLst>
          </p:nvPr>
        </p:nvGraphicFramePr>
        <p:xfrm>
          <a:off x="752097" y="2039656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S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1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6" name="矩形 115"/>
          <p:cNvSpPr/>
          <p:nvPr/>
        </p:nvSpPr>
        <p:spPr>
          <a:xfrm>
            <a:off x="243809" y="203965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A</a:t>
            </a:r>
          </a:p>
        </p:txBody>
      </p:sp>
      <p:graphicFrame>
        <p:nvGraphicFramePr>
          <p:cNvPr id="117" name="表格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894974"/>
              </p:ext>
            </p:extLst>
          </p:nvPr>
        </p:nvGraphicFramePr>
        <p:xfrm>
          <a:off x="752097" y="3191385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S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8" name="矩形 117"/>
          <p:cNvSpPr/>
          <p:nvPr/>
        </p:nvSpPr>
        <p:spPr>
          <a:xfrm>
            <a:off x="257009" y="3191385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B</a:t>
            </a:r>
          </a:p>
        </p:txBody>
      </p:sp>
      <p:graphicFrame>
        <p:nvGraphicFramePr>
          <p:cNvPr id="119" name="表格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913303"/>
              </p:ext>
            </p:extLst>
          </p:nvPr>
        </p:nvGraphicFramePr>
        <p:xfrm>
          <a:off x="752097" y="4378877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矩形 119"/>
          <p:cNvSpPr/>
          <p:nvPr/>
        </p:nvSpPr>
        <p:spPr>
          <a:xfrm>
            <a:off x="248192" y="4378877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C</a:t>
            </a:r>
          </a:p>
        </p:txBody>
      </p:sp>
      <p:graphicFrame>
        <p:nvGraphicFramePr>
          <p:cNvPr id="121" name="表格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80282"/>
              </p:ext>
            </p:extLst>
          </p:nvPr>
        </p:nvGraphicFramePr>
        <p:xfrm>
          <a:off x="752097" y="5532812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" name="矩形 121"/>
          <p:cNvSpPr/>
          <p:nvPr/>
        </p:nvSpPr>
        <p:spPr>
          <a:xfrm>
            <a:off x="261249" y="5532812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D</a:t>
            </a:r>
          </a:p>
        </p:txBody>
      </p:sp>
      <p:graphicFrame>
        <p:nvGraphicFramePr>
          <p:cNvPr id="123" name="表格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486632"/>
              </p:ext>
            </p:extLst>
          </p:nvPr>
        </p:nvGraphicFramePr>
        <p:xfrm>
          <a:off x="3094012" y="2039656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" name="矩形 123"/>
          <p:cNvSpPr/>
          <p:nvPr/>
        </p:nvSpPr>
        <p:spPr>
          <a:xfrm>
            <a:off x="2761236" y="203965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E</a:t>
            </a:r>
          </a:p>
        </p:txBody>
      </p:sp>
      <p:graphicFrame>
        <p:nvGraphicFramePr>
          <p:cNvPr id="125" name="表格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3487"/>
              </p:ext>
            </p:extLst>
          </p:nvPr>
        </p:nvGraphicFramePr>
        <p:xfrm>
          <a:off x="3094012" y="3191385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6" name="矩形 125"/>
          <p:cNvSpPr/>
          <p:nvPr/>
        </p:nvSpPr>
        <p:spPr>
          <a:xfrm>
            <a:off x="2761236" y="3191385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47" name="灯片编号占位符 4">
            <a:extLst>
              <a:ext uri="{FF2B5EF4-FFF2-40B4-BE49-F238E27FC236}">
                <a16:creationId xmlns:a16="http://schemas.microsoft.com/office/drawing/2014/main" id="{24D0710E-2D9F-4D91-85A8-42481597D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CTP</a:t>
            </a:r>
            <a:r>
              <a:rPr lang="zh-CN" altLang="en-US" dirty="0"/>
              <a:t>基本工作流程</a:t>
            </a:r>
            <a:endParaRPr lang="en-US" altLang="zh-CN" dirty="0"/>
          </a:p>
          <a:p>
            <a:pPr lvl="1"/>
            <a:r>
              <a:rPr lang="en-US" altLang="zh-CN" dirty="0"/>
              <a:t>A </a:t>
            </a:r>
            <a:r>
              <a:rPr lang="zh-CN" altLang="en-US" dirty="0"/>
              <a:t>广播</a:t>
            </a:r>
            <a:r>
              <a:rPr lang="en-US" altLang="zh-CN" dirty="0"/>
              <a:t>beacon, B </a:t>
            </a:r>
            <a:r>
              <a:rPr lang="zh-CN" altLang="en-US" dirty="0"/>
              <a:t>发现走</a:t>
            </a:r>
            <a:r>
              <a:rPr lang="en-US" altLang="zh-CN" dirty="0"/>
              <a:t>A</a:t>
            </a:r>
            <a:r>
              <a:rPr lang="zh-CN" altLang="en-US" dirty="0"/>
              <a:t>路径更优，更新父节点为</a:t>
            </a:r>
            <a:r>
              <a:rPr lang="en-US" altLang="zh-CN" dirty="0"/>
              <a:t>A</a:t>
            </a:r>
            <a:r>
              <a:rPr lang="zh-CN" altLang="en-US" dirty="0"/>
              <a:t>；其余邻居节点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D</a:t>
            </a:r>
            <a:r>
              <a:rPr lang="zh-CN" altLang="en-US" dirty="0"/>
              <a:t>分别更新路由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cxnSp>
        <p:nvCxnSpPr>
          <p:cNvPr id="7" name="Straight Connector 18"/>
          <p:cNvCxnSpPr>
            <a:stCxn id="60" idx="3"/>
            <a:endCxn id="13" idx="7"/>
          </p:cNvCxnSpPr>
          <p:nvPr/>
        </p:nvCxnSpPr>
        <p:spPr>
          <a:xfrm flipH="1">
            <a:off x="5902157" y="2265344"/>
            <a:ext cx="1012238" cy="686326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8" name="Straight Connector 21"/>
          <p:cNvCxnSpPr>
            <a:stCxn id="60" idx="5"/>
            <a:endCxn id="14" idx="1"/>
          </p:cNvCxnSpPr>
          <p:nvPr/>
        </p:nvCxnSpPr>
        <p:spPr>
          <a:xfrm>
            <a:off x="7291565" y="2265344"/>
            <a:ext cx="1072348" cy="6755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9" name="Straight Connector 24"/>
          <p:cNvCxnSpPr>
            <a:stCxn id="13" idx="4"/>
            <a:endCxn id="15" idx="0"/>
          </p:cNvCxnSpPr>
          <p:nvPr/>
        </p:nvCxnSpPr>
        <p:spPr>
          <a:xfrm flipH="1">
            <a:off x="5711093" y="3406955"/>
            <a:ext cx="2479" cy="659254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10" name="Straight Connector 27"/>
          <p:cNvCxnSpPr>
            <a:stCxn id="14" idx="6"/>
            <a:endCxn id="15" idx="2"/>
          </p:cNvCxnSpPr>
          <p:nvPr/>
        </p:nvCxnSpPr>
        <p:spPr>
          <a:xfrm flipH="1">
            <a:off x="5444393" y="3129469"/>
            <a:ext cx="3374805" cy="12034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3" name="Oval 5"/>
          <p:cNvSpPr>
            <a:spLocks noChangeArrowheads="1"/>
          </p:cNvSpPr>
          <p:nvPr/>
        </p:nvSpPr>
        <p:spPr bwMode="auto">
          <a:xfrm>
            <a:off x="5446872" y="2873555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8285798" y="286276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15" name="Oval 5"/>
          <p:cNvSpPr>
            <a:spLocks noChangeArrowheads="1"/>
          </p:cNvSpPr>
          <p:nvPr/>
        </p:nvSpPr>
        <p:spPr bwMode="auto">
          <a:xfrm>
            <a:off x="5444393" y="4066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5446808" y="5103850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17" name="Oval 5"/>
          <p:cNvSpPr>
            <a:spLocks noChangeArrowheads="1"/>
          </p:cNvSpPr>
          <p:nvPr/>
        </p:nvSpPr>
        <p:spPr bwMode="auto">
          <a:xfrm>
            <a:off x="8285798" y="4066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8285798" y="512662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24" name="TextBox 155"/>
          <p:cNvSpPr txBox="1">
            <a:spLocks noChangeArrowheads="1"/>
          </p:cNvSpPr>
          <p:nvPr/>
        </p:nvSpPr>
        <p:spPr bwMode="auto">
          <a:xfrm>
            <a:off x="7814180" y="2322127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25" name="TextBox 156"/>
          <p:cNvSpPr txBox="1">
            <a:spLocks noChangeArrowheads="1"/>
          </p:cNvSpPr>
          <p:nvPr/>
        </p:nvSpPr>
        <p:spPr bwMode="auto">
          <a:xfrm>
            <a:off x="6566654" y="4475317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26" name="TextBox 160"/>
          <p:cNvSpPr txBox="1">
            <a:spLocks noChangeArrowheads="1"/>
          </p:cNvSpPr>
          <p:nvPr/>
        </p:nvSpPr>
        <p:spPr bwMode="auto">
          <a:xfrm>
            <a:off x="5365519" y="3656997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9" name="Straight Connector 52"/>
          <p:cNvCxnSpPr>
            <a:stCxn id="13" idx="6"/>
            <a:endCxn id="14" idx="2"/>
          </p:cNvCxnSpPr>
          <p:nvPr/>
        </p:nvCxnSpPr>
        <p:spPr>
          <a:xfrm flipV="1">
            <a:off x="5980272" y="3129469"/>
            <a:ext cx="2305526" cy="10786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30" name="TextBox 187"/>
          <p:cNvSpPr txBox="1">
            <a:spLocks noChangeArrowheads="1"/>
          </p:cNvSpPr>
          <p:nvPr/>
        </p:nvSpPr>
        <p:spPr bwMode="auto">
          <a:xfrm>
            <a:off x="7077234" y="3436392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31" name="Straight Connector 109"/>
          <p:cNvCxnSpPr>
            <a:stCxn id="15" idx="4"/>
            <a:endCxn id="16" idx="0"/>
          </p:cNvCxnSpPr>
          <p:nvPr/>
        </p:nvCxnSpPr>
        <p:spPr>
          <a:xfrm>
            <a:off x="5711093" y="4599609"/>
            <a:ext cx="2415" cy="504241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32" name="TextBox 19"/>
          <p:cNvSpPr txBox="1">
            <a:spLocks noChangeArrowheads="1"/>
          </p:cNvSpPr>
          <p:nvPr/>
        </p:nvSpPr>
        <p:spPr bwMode="auto">
          <a:xfrm>
            <a:off x="6138401" y="237292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34" name="Straight Connector 123"/>
          <p:cNvCxnSpPr>
            <a:stCxn id="17" idx="1"/>
          </p:cNvCxnSpPr>
          <p:nvPr/>
        </p:nvCxnSpPr>
        <p:spPr>
          <a:xfrm flipH="1" flipV="1">
            <a:off x="5892071" y="3341008"/>
            <a:ext cx="2471842" cy="803316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35" name="Straight Connector 128"/>
          <p:cNvCxnSpPr>
            <a:endCxn id="20" idx="1"/>
          </p:cNvCxnSpPr>
          <p:nvPr/>
        </p:nvCxnSpPr>
        <p:spPr>
          <a:xfrm>
            <a:off x="5917889" y="4477651"/>
            <a:ext cx="2446024" cy="72709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36" name="Straight Connector 132"/>
          <p:cNvCxnSpPr>
            <a:stCxn id="14" idx="4"/>
            <a:endCxn id="17" idx="0"/>
          </p:cNvCxnSpPr>
          <p:nvPr/>
        </p:nvCxnSpPr>
        <p:spPr>
          <a:xfrm>
            <a:off x="8552498" y="3396169"/>
            <a:ext cx="0" cy="6700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37" name="Straight Connector 137"/>
          <p:cNvCxnSpPr>
            <a:stCxn id="17" idx="4"/>
            <a:endCxn id="20" idx="0"/>
          </p:cNvCxnSpPr>
          <p:nvPr/>
        </p:nvCxnSpPr>
        <p:spPr>
          <a:xfrm>
            <a:off x="8552498" y="4599609"/>
            <a:ext cx="0" cy="527017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39" name="TextBox 187"/>
          <p:cNvSpPr txBox="1">
            <a:spLocks noChangeArrowheads="1"/>
          </p:cNvSpPr>
          <p:nvPr/>
        </p:nvSpPr>
        <p:spPr bwMode="auto">
          <a:xfrm>
            <a:off x="7501415" y="3726894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0" name="TextBox 187"/>
          <p:cNvSpPr txBox="1">
            <a:spLocks noChangeArrowheads="1"/>
          </p:cNvSpPr>
          <p:nvPr/>
        </p:nvSpPr>
        <p:spPr bwMode="auto">
          <a:xfrm>
            <a:off x="8525196" y="364621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" name="TextBox 187"/>
          <p:cNvSpPr txBox="1">
            <a:spLocks noChangeArrowheads="1"/>
          </p:cNvSpPr>
          <p:nvPr/>
        </p:nvSpPr>
        <p:spPr bwMode="auto">
          <a:xfrm>
            <a:off x="8527060" y="4728927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3" name="TextBox 187"/>
          <p:cNvSpPr txBox="1">
            <a:spLocks noChangeArrowheads="1"/>
          </p:cNvSpPr>
          <p:nvPr/>
        </p:nvSpPr>
        <p:spPr bwMode="auto">
          <a:xfrm>
            <a:off x="5365519" y="4806987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5" name="TextBox 187"/>
          <p:cNvSpPr txBox="1">
            <a:spLocks noChangeArrowheads="1"/>
          </p:cNvSpPr>
          <p:nvPr/>
        </p:nvSpPr>
        <p:spPr bwMode="auto">
          <a:xfrm>
            <a:off x="6914395" y="2879427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60" name="Oval 5"/>
          <p:cNvSpPr>
            <a:spLocks noChangeArrowheads="1"/>
          </p:cNvSpPr>
          <p:nvPr/>
        </p:nvSpPr>
        <p:spPr bwMode="auto">
          <a:xfrm>
            <a:off x="6836280" y="181005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</a:p>
        </p:txBody>
      </p:sp>
      <p:cxnSp>
        <p:nvCxnSpPr>
          <p:cNvPr id="102" name="Straight Connector 128"/>
          <p:cNvCxnSpPr>
            <a:stCxn id="16" idx="7"/>
            <a:endCxn id="17" idx="3"/>
          </p:cNvCxnSpPr>
          <p:nvPr/>
        </p:nvCxnSpPr>
        <p:spPr>
          <a:xfrm flipV="1">
            <a:off x="5902093" y="4521494"/>
            <a:ext cx="2461820" cy="660471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04" name="Straight Connector 128"/>
          <p:cNvCxnSpPr>
            <a:stCxn id="16" idx="6"/>
            <a:endCxn id="20" idx="2"/>
          </p:cNvCxnSpPr>
          <p:nvPr/>
        </p:nvCxnSpPr>
        <p:spPr>
          <a:xfrm>
            <a:off x="5980208" y="5370550"/>
            <a:ext cx="2305590" cy="22776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12" name="TextBox 156"/>
          <p:cNvSpPr txBox="1">
            <a:spLocks noChangeArrowheads="1"/>
          </p:cNvSpPr>
          <p:nvPr/>
        </p:nvSpPr>
        <p:spPr bwMode="auto">
          <a:xfrm>
            <a:off x="6590464" y="4930850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13" name="TextBox 187"/>
          <p:cNvSpPr txBox="1">
            <a:spLocks noChangeArrowheads="1"/>
          </p:cNvSpPr>
          <p:nvPr/>
        </p:nvSpPr>
        <p:spPr bwMode="auto">
          <a:xfrm>
            <a:off x="6942296" y="5481640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7" name="灯片编号占位符 4">
            <a:extLst>
              <a:ext uri="{FF2B5EF4-FFF2-40B4-BE49-F238E27FC236}">
                <a16:creationId xmlns:a16="http://schemas.microsoft.com/office/drawing/2014/main" id="{8E1DA74E-11E8-41C1-BE60-C4E12E791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125B54E6-CF06-4F5F-BC9D-009D06BEF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619469"/>
              </p:ext>
            </p:extLst>
          </p:nvPr>
        </p:nvGraphicFramePr>
        <p:xfrm>
          <a:off x="752097" y="2366827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S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1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矩形 50">
            <a:extLst>
              <a:ext uri="{FF2B5EF4-FFF2-40B4-BE49-F238E27FC236}">
                <a16:creationId xmlns:a16="http://schemas.microsoft.com/office/drawing/2014/main" id="{2A655B7E-59FD-46D2-83D9-E09A4AA8F263}"/>
              </a:ext>
            </a:extLst>
          </p:cNvPr>
          <p:cNvSpPr/>
          <p:nvPr/>
        </p:nvSpPr>
        <p:spPr>
          <a:xfrm>
            <a:off x="243809" y="2366827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A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09AAE48B-57A7-4BC0-8DDD-FF0B0CE36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9268"/>
              </p:ext>
            </p:extLst>
          </p:nvPr>
        </p:nvGraphicFramePr>
        <p:xfrm>
          <a:off x="752097" y="3518556"/>
          <a:ext cx="194398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+mj-ea"/>
                          <a:ea typeface="+mj-ea"/>
                        </a:rPr>
                        <a:t>A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S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173610"/>
                  </a:ext>
                </a:extLst>
              </a:tr>
            </a:tbl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F7D501CF-EBF3-4707-A6CB-5F781BBCB529}"/>
              </a:ext>
            </a:extLst>
          </p:cNvPr>
          <p:cNvSpPr/>
          <p:nvPr/>
        </p:nvSpPr>
        <p:spPr>
          <a:xfrm>
            <a:off x="257009" y="351855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B</a:t>
            </a: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3D1A424A-468B-4340-9596-B87CBCE4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613104"/>
              </p:ext>
            </p:extLst>
          </p:nvPr>
        </p:nvGraphicFramePr>
        <p:xfrm>
          <a:off x="752097" y="4706048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A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2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" name="矩形 54">
            <a:extLst>
              <a:ext uri="{FF2B5EF4-FFF2-40B4-BE49-F238E27FC236}">
                <a16:creationId xmlns:a16="http://schemas.microsoft.com/office/drawing/2014/main" id="{C6352925-8CCC-4EE6-84B5-9E4C7B2B965F}"/>
              </a:ext>
            </a:extLst>
          </p:cNvPr>
          <p:cNvSpPr/>
          <p:nvPr/>
        </p:nvSpPr>
        <p:spPr>
          <a:xfrm>
            <a:off x="248192" y="4706048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C</a:t>
            </a: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7A1AECC5-64F4-4F47-96D9-38BD1DAAC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531754"/>
              </p:ext>
            </p:extLst>
          </p:nvPr>
        </p:nvGraphicFramePr>
        <p:xfrm>
          <a:off x="752097" y="5859983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A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2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9F3B03DB-72E8-41C0-92AD-D885F8B56C12}"/>
              </a:ext>
            </a:extLst>
          </p:cNvPr>
          <p:cNvSpPr/>
          <p:nvPr/>
        </p:nvSpPr>
        <p:spPr>
          <a:xfrm>
            <a:off x="261249" y="5859983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D</a:t>
            </a:r>
          </a:p>
        </p:txBody>
      </p:sp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872BAAF3-1FA1-4559-BC43-ED2219A22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770335"/>
              </p:ext>
            </p:extLst>
          </p:nvPr>
        </p:nvGraphicFramePr>
        <p:xfrm>
          <a:off x="3094012" y="2366827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" name="矩形 58">
            <a:extLst>
              <a:ext uri="{FF2B5EF4-FFF2-40B4-BE49-F238E27FC236}">
                <a16:creationId xmlns:a16="http://schemas.microsoft.com/office/drawing/2014/main" id="{2D84BE25-7309-47AB-ACED-C03D8BC08D63}"/>
              </a:ext>
            </a:extLst>
          </p:cNvPr>
          <p:cNvSpPr/>
          <p:nvPr/>
        </p:nvSpPr>
        <p:spPr>
          <a:xfrm>
            <a:off x="2761236" y="2366827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E</a:t>
            </a: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D37EED45-5731-40B2-86BD-C142A5B5B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707719"/>
              </p:ext>
            </p:extLst>
          </p:nvPr>
        </p:nvGraphicFramePr>
        <p:xfrm>
          <a:off x="3094012" y="3518556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" name="矩形 61">
            <a:extLst>
              <a:ext uri="{FF2B5EF4-FFF2-40B4-BE49-F238E27FC236}">
                <a16:creationId xmlns:a16="http://schemas.microsoft.com/office/drawing/2014/main" id="{A019C5EC-EC85-420A-AA34-AA1B2CD88C70}"/>
              </a:ext>
            </a:extLst>
          </p:cNvPr>
          <p:cNvSpPr/>
          <p:nvPr/>
        </p:nvSpPr>
        <p:spPr>
          <a:xfrm>
            <a:off x="2761236" y="3518556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F</a:t>
            </a: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CTP</a:t>
            </a:r>
            <a:r>
              <a:rPr lang="zh-CN" altLang="en-US"/>
              <a:t>基本工作流程</a:t>
            </a:r>
            <a:endParaRPr lang="en-US" altLang="zh-CN"/>
          </a:p>
          <a:p>
            <a:pPr lvl="1"/>
            <a:r>
              <a:rPr lang="zh-CN" altLang="en-US"/>
              <a:t>重复此过程</a:t>
            </a:r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cxnSp>
        <p:nvCxnSpPr>
          <p:cNvPr id="7" name="Straight Connector 18"/>
          <p:cNvCxnSpPr>
            <a:stCxn id="60" idx="3"/>
            <a:endCxn id="13" idx="7"/>
          </p:cNvCxnSpPr>
          <p:nvPr/>
        </p:nvCxnSpPr>
        <p:spPr>
          <a:xfrm flipH="1">
            <a:off x="5902157" y="2265344"/>
            <a:ext cx="1012238" cy="686326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8" name="Straight Connector 21"/>
          <p:cNvCxnSpPr>
            <a:stCxn id="60" idx="5"/>
            <a:endCxn id="14" idx="1"/>
          </p:cNvCxnSpPr>
          <p:nvPr/>
        </p:nvCxnSpPr>
        <p:spPr>
          <a:xfrm>
            <a:off x="7291565" y="2265344"/>
            <a:ext cx="1072348" cy="6755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9" name="Straight Connector 24"/>
          <p:cNvCxnSpPr>
            <a:stCxn id="13" idx="4"/>
            <a:endCxn id="15" idx="0"/>
          </p:cNvCxnSpPr>
          <p:nvPr/>
        </p:nvCxnSpPr>
        <p:spPr>
          <a:xfrm flipH="1">
            <a:off x="5711093" y="3406955"/>
            <a:ext cx="2479" cy="659254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10" name="Straight Connector 27"/>
          <p:cNvCxnSpPr>
            <a:stCxn id="14" idx="6"/>
            <a:endCxn id="15" idx="2"/>
          </p:cNvCxnSpPr>
          <p:nvPr/>
        </p:nvCxnSpPr>
        <p:spPr>
          <a:xfrm flipH="1">
            <a:off x="5444393" y="3129469"/>
            <a:ext cx="3374805" cy="12034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3" name="Oval 5"/>
          <p:cNvSpPr>
            <a:spLocks noChangeArrowheads="1"/>
          </p:cNvSpPr>
          <p:nvPr/>
        </p:nvSpPr>
        <p:spPr bwMode="auto">
          <a:xfrm>
            <a:off x="5446872" y="2873555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8285798" y="286276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15" name="Oval 5"/>
          <p:cNvSpPr>
            <a:spLocks noChangeArrowheads="1"/>
          </p:cNvSpPr>
          <p:nvPr/>
        </p:nvSpPr>
        <p:spPr bwMode="auto">
          <a:xfrm>
            <a:off x="5444393" y="4066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5446808" y="5103850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17" name="Oval 5"/>
          <p:cNvSpPr>
            <a:spLocks noChangeArrowheads="1"/>
          </p:cNvSpPr>
          <p:nvPr/>
        </p:nvSpPr>
        <p:spPr bwMode="auto">
          <a:xfrm>
            <a:off x="8285798" y="4066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8285798" y="512662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24" name="TextBox 155"/>
          <p:cNvSpPr txBox="1">
            <a:spLocks noChangeArrowheads="1"/>
          </p:cNvSpPr>
          <p:nvPr/>
        </p:nvSpPr>
        <p:spPr bwMode="auto">
          <a:xfrm>
            <a:off x="7814180" y="2322127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25" name="TextBox 156"/>
          <p:cNvSpPr txBox="1">
            <a:spLocks noChangeArrowheads="1"/>
          </p:cNvSpPr>
          <p:nvPr/>
        </p:nvSpPr>
        <p:spPr bwMode="auto">
          <a:xfrm>
            <a:off x="8552498" y="4771851"/>
            <a:ext cx="223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26" name="TextBox 160"/>
          <p:cNvSpPr txBox="1">
            <a:spLocks noChangeArrowheads="1"/>
          </p:cNvSpPr>
          <p:nvPr/>
        </p:nvSpPr>
        <p:spPr bwMode="auto">
          <a:xfrm>
            <a:off x="5365519" y="3656997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9" name="Straight Connector 52"/>
          <p:cNvCxnSpPr>
            <a:stCxn id="13" idx="6"/>
            <a:endCxn id="14" idx="2"/>
          </p:cNvCxnSpPr>
          <p:nvPr/>
        </p:nvCxnSpPr>
        <p:spPr>
          <a:xfrm flipV="1">
            <a:off x="5980272" y="3129469"/>
            <a:ext cx="2305526" cy="10786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30" name="TextBox 187"/>
          <p:cNvSpPr txBox="1">
            <a:spLocks noChangeArrowheads="1"/>
          </p:cNvSpPr>
          <p:nvPr/>
        </p:nvSpPr>
        <p:spPr bwMode="auto">
          <a:xfrm>
            <a:off x="7077234" y="3436392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31" name="Straight Connector 109"/>
          <p:cNvCxnSpPr>
            <a:stCxn id="15" idx="4"/>
            <a:endCxn id="16" idx="0"/>
          </p:cNvCxnSpPr>
          <p:nvPr/>
        </p:nvCxnSpPr>
        <p:spPr>
          <a:xfrm>
            <a:off x="5711093" y="4599609"/>
            <a:ext cx="2415" cy="504241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32" name="TextBox 19"/>
          <p:cNvSpPr txBox="1">
            <a:spLocks noChangeArrowheads="1"/>
          </p:cNvSpPr>
          <p:nvPr/>
        </p:nvSpPr>
        <p:spPr bwMode="auto">
          <a:xfrm>
            <a:off x="6138401" y="237292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34" name="Straight Connector 123"/>
          <p:cNvCxnSpPr>
            <a:stCxn id="17" idx="1"/>
          </p:cNvCxnSpPr>
          <p:nvPr/>
        </p:nvCxnSpPr>
        <p:spPr>
          <a:xfrm flipH="1" flipV="1">
            <a:off x="5892071" y="3341008"/>
            <a:ext cx="2471842" cy="803316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35" name="Straight Connector 128"/>
          <p:cNvCxnSpPr>
            <a:endCxn id="20" idx="1"/>
          </p:cNvCxnSpPr>
          <p:nvPr/>
        </p:nvCxnSpPr>
        <p:spPr>
          <a:xfrm>
            <a:off x="5917889" y="4477651"/>
            <a:ext cx="2446024" cy="72709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36" name="Straight Connector 132"/>
          <p:cNvCxnSpPr>
            <a:stCxn id="14" idx="4"/>
            <a:endCxn id="17" idx="0"/>
          </p:cNvCxnSpPr>
          <p:nvPr/>
        </p:nvCxnSpPr>
        <p:spPr>
          <a:xfrm>
            <a:off x="8552498" y="3396169"/>
            <a:ext cx="0" cy="67004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37" name="Straight Connector 137"/>
          <p:cNvCxnSpPr>
            <a:stCxn id="17" idx="4"/>
            <a:endCxn id="20" idx="0"/>
          </p:cNvCxnSpPr>
          <p:nvPr/>
        </p:nvCxnSpPr>
        <p:spPr>
          <a:xfrm>
            <a:off x="8552498" y="4599609"/>
            <a:ext cx="0" cy="527017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39" name="TextBox 187"/>
          <p:cNvSpPr txBox="1">
            <a:spLocks noChangeArrowheads="1"/>
          </p:cNvSpPr>
          <p:nvPr/>
        </p:nvSpPr>
        <p:spPr bwMode="auto">
          <a:xfrm>
            <a:off x="7501415" y="3726894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0" name="TextBox 187"/>
          <p:cNvSpPr txBox="1">
            <a:spLocks noChangeArrowheads="1"/>
          </p:cNvSpPr>
          <p:nvPr/>
        </p:nvSpPr>
        <p:spPr bwMode="auto">
          <a:xfrm>
            <a:off x="8525196" y="364621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" name="TextBox 187"/>
          <p:cNvSpPr txBox="1">
            <a:spLocks noChangeArrowheads="1"/>
          </p:cNvSpPr>
          <p:nvPr/>
        </p:nvSpPr>
        <p:spPr bwMode="auto">
          <a:xfrm>
            <a:off x="6455526" y="444176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3" name="TextBox 187"/>
          <p:cNvSpPr txBox="1">
            <a:spLocks noChangeArrowheads="1"/>
          </p:cNvSpPr>
          <p:nvPr/>
        </p:nvSpPr>
        <p:spPr bwMode="auto">
          <a:xfrm>
            <a:off x="5365519" y="4806987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5" name="TextBox 187"/>
          <p:cNvSpPr txBox="1">
            <a:spLocks noChangeArrowheads="1"/>
          </p:cNvSpPr>
          <p:nvPr/>
        </p:nvSpPr>
        <p:spPr bwMode="auto">
          <a:xfrm>
            <a:off x="6914395" y="2879427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60" name="Oval 5"/>
          <p:cNvSpPr>
            <a:spLocks noChangeArrowheads="1"/>
          </p:cNvSpPr>
          <p:nvPr/>
        </p:nvSpPr>
        <p:spPr bwMode="auto">
          <a:xfrm>
            <a:off x="6836280" y="181005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</a:p>
        </p:txBody>
      </p:sp>
      <p:cxnSp>
        <p:nvCxnSpPr>
          <p:cNvPr id="102" name="Straight Connector 128"/>
          <p:cNvCxnSpPr>
            <a:stCxn id="16" idx="7"/>
            <a:endCxn id="17" idx="3"/>
          </p:cNvCxnSpPr>
          <p:nvPr/>
        </p:nvCxnSpPr>
        <p:spPr>
          <a:xfrm flipV="1">
            <a:off x="5902093" y="4521494"/>
            <a:ext cx="2461820" cy="660471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04" name="Straight Connector 128"/>
          <p:cNvCxnSpPr>
            <a:stCxn id="16" idx="6"/>
            <a:endCxn id="20" idx="2"/>
          </p:cNvCxnSpPr>
          <p:nvPr/>
        </p:nvCxnSpPr>
        <p:spPr>
          <a:xfrm>
            <a:off x="5980208" y="5370550"/>
            <a:ext cx="2305590" cy="22776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12" name="TextBox 156"/>
          <p:cNvSpPr txBox="1">
            <a:spLocks noChangeArrowheads="1"/>
          </p:cNvSpPr>
          <p:nvPr/>
        </p:nvSpPr>
        <p:spPr bwMode="auto">
          <a:xfrm>
            <a:off x="6590464" y="4930850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13" name="TextBox 187"/>
          <p:cNvSpPr txBox="1">
            <a:spLocks noChangeArrowheads="1"/>
          </p:cNvSpPr>
          <p:nvPr/>
        </p:nvSpPr>
        <p:spPr bwMode="auto">
          <a:xfrm>
            <a:off x="6942296" y="5481640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7" name="灯片编号占位符 4">
            <a:extLst>
              <a:ext uri="{FF2B5EF4-FFF2-40B4-BE49-F238E27FC236}">
                <a16:creationId xmlns:a16="http://schemas.microsoft.com/office/drawing/2014/main" id="{E2E1B6B9-BD22-46FA-8798-B8B635AA3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8FBE9A15-3A8F-4FCD-BF5C-F3486D5A7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308122"/>
              </p:ext>
            </p:extLst>
          </p:nvPr>
        </p:nvGraphicFramePr>
        <p:xfrm>
          <a:off x="752097" y="2039656"/>
          <a:ext cx="194398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S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1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" name="矩形 48">
            <a:extLst>
              <a:ext uri="{FF2B5EF4-FFF2-40B4-BE49-F238E27FC236}">
                <a16:creationId xmlns:a16="http://schemas.microsoft.com/office/drawing/2014/main" id="{31578719-A47F-4146-B06B-B058C60A30A5}"/>
              </a:ext>
            </a:extLst>
          </p:cNvPr>
          <p:cNvSpPr/>
          <p:nvPr/>
        </p:nvSpPr>
        <p:spPr>
          <a:xfrm>
            <a:off x="243809" y="203965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A</a:t>
            </a: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9A086A29-262D-4A5D-84C1-ADE2DCCD3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09684"/>
              </p:ext>
            </p:extLst>
          </p:nvPr>
        </p:nvGraphicFramePr>
        <p:xfrm>
          <a:off x="752097" y="3191385"/>
          <a:ext cx="194398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A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2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S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260370"/>
                  </a:ext>
                </a:extLst>
              </a:tr>
            </a:tbl>
          </a:graphicData>
        </a:graphic>
      </p:graphicFrame>
      <p:sp>
        <p:nvSpPr>
          <p:cNvPr id="51" name="矩形 50">
            <a:extLst>
              <a:ext uri="{FF2B5EF4-FFF2-40B4-BE49-F238E27FC236}">
                <a16:creationId xmlns:a16="http://schemas.microsoft.com/office/drawing/2014/main" id="{BAAD48BC-BC2C-450F-8A2A-35228698F275}"/>
              </a:ext>
            </a:extLst>
          </p:cNvPr>
          <p:cNvSpPr/>
          <p:nvPr/>
        </p:nvSpPr>
        <p:spPr>
          <a:xfrm>
            <a:off x="257009" y="3191385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B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8FEACCCF-2960-4CBE-AE37-4B2D56292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628549"/>
              </p:ext>
            </p:extLst>
          </p:nvPr>
        </p:nvGraphicFramePr>
        <p:xfrm>
          <a:off x="752097" y="4378877"/>
          <a:ext cx="194398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A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2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B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032935"/>
                  </a:ext>
                </a:extLst>
              </a:tr>
            </a:tbl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9CE01219-DE5A-4506-8539-DED73A33150F}"/>
              </a:ext>
            </a:extLst>
          </p:cNvPr>
          <p:cNvSpPr/>
          <p:nvPr/>
        </p:nvSpPr>
        <p:spPr>
          <a:xfrm>
            <a:off x="248192" y="4378877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C</a:t>
            </a: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1F8984BA-BF84-44FF-9CBF-EF0F2A1EA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13641"/>
              </p:ext>
            </p:extLst>
          </p:nvPr>
        </p:nvGraphicFramePr>
        <p:xfrm>
          <a:off x="752097" y="5532812"/>
          <a:ext cx="194398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A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2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B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484136"/>
                  </a:ext>
                </a:extLst>
              </a:tr>
            </a:tbl>
          </a:graphicData>
        </a:graphic>
      </p:graphicFrame>
      <p:sp>
        <p:nvSpPr>
          <p:cNvPr id="55" name="矩形 54">
            <a:extLst>
              <a:ext uri="{FF2B5EF4-FFF2-40B4-BE49-F238E27FC236}">
                <a16:creationId xmlns:a16="http://schemas.microsoft.com/office/drawing/2014/main" id="{D18E8907-C72D-4836-9F06-9313F93AAF24}"/>
              </a:ext>
            </a:extLst>
          </p:cNvPr>
          <p:cNvSpPr/>
          <p:nvPr/>
        </p:nvSpPr>
        <p:spPr>
          <a:xfrm>
            <a:off x="261249" y="5532812"/>
            <a:ext cx="40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D</a:t>
            </a: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FA470A12-2669-4336-9527-CC4AA4278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587257"/>
              </p:ext>
            </p:extLst>
          </p:nvPr>
        </p:nvGraphicFramePr>
        <p:xfrm>
          <a:off x="3094012" y="2039656"/>
          <a:ext cx="194398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C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D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4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32906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21673BB5-4D64-4EC0-9F86-488B6CAC53E4}"/>
              </a:ext>
            </a:extLst>
          </p:cNvPr>
          <p:cNvSpPr/>
          <p:nvPr/>
        </p:nvSpPr>
        <p:spPr>
          <a:xfrm>
            <a:off x="2761236" y="203965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E</a:t>
            </a:r>
          </a:p>
        </p:txBody>
      </p:sp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815AF9E9-6DAE-4BE1-A049-5F9A647EC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30155"/>
              </p:ext>
            </p:extLst>
          </p:nvPr>
        </p:nvGraphicFramePr>
        <p:xfrm>
          <a:off x="3094012" y="3191385"/>
          <a:ext cx="1943982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+mj-ea"/>
                          <a:ea typeface="+mj-ea"/>
                        </a:rPr>
                        <a:t>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C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 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E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4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9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D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ea"/>
                          <a:ea typeface="+mj-ea"/>
                        </a:rPr>
                        <a:t>6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85632"/>
                  </a:ext>
                </a:extLst>
              </a:tr>
            </a:tbl>
          </a:graphicData>
        </a:graphic>
      </p:graphicFrame>
      <p:sp>
        <p:nvSpPr>
          <p:cNvPr id="59" name="矩形 58">
            <a:extLst>
              <a:ext uri="{FF2B5EF4-FFF2-40B4-BE49-F238E27FC236}">
                <a16:creationId xmlns:a16="http://schemas.microsoft.com/office/drawing/2014/main" id="{5CF5C06A-4268-4970-95A9-B1CB1C3003B4}"/>
              </a:ext>
            </a:extLst>
          </p:cNvPr>
          <p:cNvSpPr/>
          <p:nvPr/>
        </p:nvSpPr>
        <p:spPr>
          <a:xfrm>
            <a:off x="2761236" y="3191385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zh-CN" kern="0" baseline="0" dirty="0">
                <a:solidFill>
                  <a:srgbClr val="000000"/>
                </a:solidFill>
                <a:ea typeface="MS PGothic" panose="020B0600070205080204" pitchFamily="34" charset="-128"/>
              </a:rPr>
              <a:t>F</a:t>
            </a: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CTP </a:t>
            </a:r>
            <a:r>
              <a:rPr lang="zh-CN" altLang="en-US"/>
              <a:t>路由帧</a:t>
            </a:r>
            <a:r>
              <a:rPr lang="en-US" altLang="zh-CN"/>
              <a:t>(beacon)</a:t>
            </a:r>
            <a:r>
              <a:rPr lang="zh-CN" altLang="en-US"/>
              <a:t>格式</a:t>
            </a:r>
            <a:endParaRPr lang="en-US" altLang="zh-CN"/>
          </a:p>
          <a:p>
            <a:pPr lvl="1"/>
            <a:r>
              <a:rPr lang="en-US" altLang="zh-CN"/>
              <a:t>P: </a:t>
            </a:r>
            <a:r>
              <a:rPr lang="zh-CN" altLang="en-US"/>
              <a:t>路由信息请求标志位。置位</a:t>
            </a:r>
            <a:r>
              <a:rPr lang="en-US" altLang="zh-CN"/>
              <a:t>, </a:t>
            </a:r>
            <a:r>
              <a:rPr lang="zh-CN" altLang="en-US"/>
              <a:t>则收到该包的节点将发送路由帧更新路由信息</a:t>
            </a:r>
            <a:endParaRPr lang="en-US" altLang="zh-CN"/>
          </a:p>
          <a:p>
            <a:pPr lvl="1"/>
            <a:r>
              <a:rPr lang="en-US" altLang="zh-CN"/>
              <a:t>C: </a:t>
            </a:r>
            <a:r>
              <a:rPr lang="zh-CN" altLang="en-US"/>
              <a:t>拥塞标志位。置位，表示上一个</a:t>
            </a:r>
            <a:r>
              <a:rPr lang="en-US" altLang="zh-CN"/>
              <a:t>CTP</a:t>
            </a:r>
            <a:r>
              <a:rPr lang="zh-CN" altLang="en-US"/>
              <a:t>包丢失，发生拥塞</a:t>
            </a:r>
            <a:endParaRPr lang="en-US" altLang="zh-CN"/>
          </a:p>
          <a:p>
            <a:pPr lvl="1"/>
            <a:r>
              <a:rPr lang="en-US" altLang="zh-CN"/>
              <a:t>Parent: beacon</a:t>
            </a:r>
            <a:r>
              <a:rPr lang="zh-CN" altLang="en-US"/>
              <a:t>发送节点的</a:t>
            </a:r>
            <a:r>
              <a:rPr lang="en-US" altLang="zh-CN"/>
              <a:t>parent</a:t>
            </a:r>
          </a:p>
          <a:p>
            <a:pPr lvl="1"/>
            <a:r>
              <a:rPr lang="en-US" altLang="zh-CN"/>
              <a:t>ETX: </a:t>
            </a:r>
            <a:r>
              <a:rPr lang="zh-CN" altLang="en-US"/>
              <a:t>发送节点的</a:t>
            </a:r>
            <a:r>
              <a:rPr lang="en-US" altLang="zh-CN"/>
              <a:t>path ETX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grpSp>
        <p:nvGrpSpPr>
          <p:cNvPr id="16" name="组合 15"/>
          <p:cNvGrpSpPr/>
          <p:nvPr/>
        </p:nvGrpSpPr>
        <p:grpSpPr>
          <a:xfrm>
            <a:off x="6961" y="3886888"/>
            <a:ext cx="9144000" cy="1553915"/>
            <a:chOff x="0" y="1452316"/>
            <a:chExt cx="9144000" cy="155391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99687"/>
              <a:ext cx="9144000" cy="70654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6422" y="1452316"/>
              <a:ext cx="4255906" cy="491539"/>
            </a:xfrm>
            <a:prstGeom prst="rect">
              <a:avLst/>
            </a:prstGeom>
          </p:spPr>
        </p:pic>
        <p:cxnSp>
          <p:nvCxnSpPr>
            <p:cNvPr id="8" name="直接连接符 7"/>
            <p:cNvCxnSpPr/>
            <p:nvPr/>
          </p:nvCxnSpPr>
          <p:spPr bwMode="auto">
            <a:xfrm>
              <a:off x="4083050" y="1943855"/>
              <a:ext cx="396151" cy="41579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 bwMode="auto">
            <a:xfrm flipV="1">
              <a:off x="6527075" y="1912945"/>
              <a:ext cx="1765253" cy="44670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97C82546-0059-4297-A12A-801AB4A93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CTP</a:t>
            </a:r>
            <a:r>
              <a:rPr lang="zh-CN" altLang="en-US"/>
              <a:t>数据帧格式</a:t>
            </a:r>
            <a:endParaRPr lang="en-US" altLang="zh-CN"/>
          </a:p>
          <a:p>
            <a:pPr lvl="1"/>
            <a:r>
              <a:rPr lang="en-US" altLang="zh-CN"/>
              <a:t>P: </a:t>
            </a:r>
            <a:r>
              <a:rPr lang="zh-CN" altLang="en-US"/>
              <a:t>路由信息请求标志位</a:t>
            </a:r>
            <a:endParaRPr lang="en-US" altLang="zh-CN"/>
          </a:p>
          <a:p>
            <a:pPr lvl="1"/>
            <a:r>
              <a:rPr lang="en-US" altLang="zh-CN"/>
              <a:t>C</a:t>
            </a:r>
            <a:r>
              <a:rPr lang="zh-CN" altLang="en-US"/>
              <a:t>：拥塞标志位</a:t>
            </a:r>
            <a:endParaRPr lang="en-US" altLang="zh-CN"/>
          </a:p>
          <a:p>
            <a:pPr lvl="1"/>
            <a:r>
              <a:rPr lang="en-US" altLang="zh-CN"/>
              <a:t>THL: Time Has Lived, </a:t>
            </a:r>
            <a:r>
              <a:rPr lang="zh-CN" altLang="en-US"/>
              <a:t>数据包生成时为</a:t>
            </a:r>
            <a:r>
              <a:rPr lang="en-US" altLang="zh-CN"/>
              <a:t>0, </a:t>
            </a:r>
            <a:r>
              <a:rPr lang="zh-CN" altLang="en-US"/>
              <a:t>每经过一跳增加</a:t>
            </a:r>
            <a:r>
              <a:rPr lang="en-US" altLang="zh-CN"/>
              <a:t>1</a:t>
            </a:r>
          </a:p>
          <a:p>
            <a:pPr lvl="1"/>
            <a:r>
              <a:rPr lang="en-US" altLang="zh-CN"/>
              <a:t>ETX: </a:t>
            </a:r>
            <a:r>
              <a:rPr lang="zh-CN" altLang="en-US"/>
              <a:t>发送节点的</a:t>
            </a:r>
            <a:r>
              <a:rPr lang="en-US" altLang="zh-CN"/>
              <a:t>path ETX</a:t>
            </a:r>
          </a:p>
          <a:p>
            <a:pPr lvl="1"/>
            <a:r>
              <a:rPr lang="en-US" altLang="zh-CN"/>
              <a:t>Origin:  </a:t>
            </a:r>
            <a:r>
              <a:rPr lang="zh-CN" altLang="en-US"/>
              <a:t>源节点</a:t>
            </a:r>
            <a:r>
              <a:rPr lang="en-US" altLang="zh-CN"/>
              <a:t>ID</a:t>
            </a:r>
          </a:p>
          <a:p>
            <a:pPr lvl="1"/>
            <a:r>
              <a:rPr lang="en-US" altLang="zh-CN"/>
              <a:t>SeqNo: </a:t>
            </a:r>
            <a:r>
              <a:rPr lang="zh-CN" altLang="en-US"/>
              <a:t>序列号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grpSp>
        <p:nvGrpSpPr>
          <p:cNvPr id="16" name="组合 15"/>
          <p:cNvGrpSpPr/>
          <p:nvPr/>
        </p:nvGrpSpPr>
        <p:grpSpPr>
          <a:xfrm>
            <a:off x="819646" y="4683543"/>
            <a:ext cx="7656697" cy="691983"/>
            <a:chOff x="2101188" y="1667666"/>
            <a:chExt cx="7656697" cy="691983"/>
          </a:xfrm>
        </p:grpSpPr>
        <p:cxnSp>
          <p:nvCxnSpPr>
            <p:cNvPr id="8" name="直接连接符 7"/>
            <p:cNvCxnSpPr/>
            <p:nvPr/>
          </p:nvCxnSpPr>
          <p:spPr bwMode="auto">
            <a:xfrm>
              <a:off x="2101188" y="1667666"/>
              <a:ext cx="2378013" cy="69198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 bwMode="auto">
            <a:xfrm flipV="1">
              <a:off x="5658542" y="1667666"/>
              <a:ext cx="4099343" cy="69198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75525"/>
            <a:ext cx="9144000" cy="66030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6" y="4093029"/>
            <a:ext cx="8267204" cy="590514"/>
          </a:xfrm>
          <a:prstGeom prst="rect">
            <a:avLst/>
          </a:prstGeom>
        </p:spPr>
      </p:pic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BEE1279B-24E6-497F-B260-9A4AEC0F5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路由回路问题</a:t>
            </a:r>
            <a:endParaRPr lang="en-US" altLang="zh-CN" dirty="0"/>
          </a:p>
          <a:p>
            <a:pPr lvl="1"/>
            <a:r>
              <a:rPr lang="zh-CN" altLang="en-US" dirty="0"/>
              <a:t>发生原因</a:t>
            </a:r>
            <a:endParaRPr lang="en-US" altLang="zh-CN" dirty="0"/>
          </a:p>
          <a:p>
            <a:pPr lvl="2"/>
            <a:r>
              <a:rPr lang="zh-CN" altLang="en-US" dirty="0"/>
              <a:t>路由信息陈旧</a:t>
            </a:r>
            <a:r>
              <a:rPr lang="en-US" altLang="zh-CN" dirty="0"/>
              <a:t>, </a:t>
            </a:r>
            <a:r>
              <a:rPr lang="zh-CN" altLang="en-US" dirty="0"/>
              <a:t>没有及时更新 </a:t>
            </a:r>
            <a:endParaRPr lang="en-US" altLang="zh-CN" dirty="0"/>
          </a:p>
          <a:p>
            <a:r>
              <a:rPr lang="zh-CN" altLang="en-US" dirty="0"/>
              <a:t>如何发现</a:t>
            </a:r>
            <a:endParaRPr lang="en-US" altLang="zh-CN" dirty="0"/>
          </a:p>
          <a:p>
            <a:pPr lvl="1"/>
            <a:r>
              <a:rPr lang="zh-CN" altLang="en-US" dirty="0"/>
              <a:t>数据包中的节点</a:t>
            </a:r>
            <a:r>
              <a:rPr lang="en-US" altLang="zh-CN" dirty="0"/>
              <a:t>ETX</a:t>
            </a:r>
            <a:r>
              <a:rPr lang="zh-CN" altLang="en-US" dirty="0"/>
              <a:t>应该逐跳</a:t>
            </a:r>
            <a:br>
              <a:rPr lang="en-US" altLang="zh-CN" dirty="0"/>
            </a:br>
            <a:r>
              <a:rPr lang="zh-CN" altLang="en-US" dirty="0"/>
              <a:t>减小</a:t>
            </a:r>
            <a:endParaRPr lang="en-US" altLang="zh-CN" dirty="0"/>
          </a:p>
          <a:p>
            <a:pPr lvl="1"/>
            <a:r>
              <a:rPr lang="zh-CN" altLang="en-US" dirty="0"/>
              <a:t>当节点收到的数据包</a:t>
            </a:r>
            <a:r>
              <a:rPr lang="en-US" altLang="zh-CN" dirty="0"/>
              <a:t>ETX</a:t>
            </a:r>
            <a:r>
              <a:rPr lang="zh-CN" altLang="en-US" dirty="0"/>
              <a:t>比自</a:t>
            </a:r>
            <a:br>
              <a:rPr lang="en-US" altLang="zh-CN" dirty="0"/>
            </a:br>
            <a:r>
              <a:rPr lang="zh-CN" altLang="en-US" dirty="0"/>
              <a:t>己的</a:t>
            </a:r>
            <a:r>
              <a:rPr lang="en-US" altLang="zh-CN" dirty="0"/>
              <a:t>ETX</a:t>
            </a:r>
            <a:r>
              <a:rPr lang="zh-CN" altLang="en-US" dirty="0"/>
              <a:t>低时</a:t>
            </a:r>
            <a:r>
              <a:rPr lang="en-US" altLang="zh-CN" dirty="0"/>
              <a:t>, </a:t>
            </a:r>
            <a:r>
              <a:rPr lang="zh-CN" altLang="en-US" dirty="0"/>
              <a:t>说明发生回路</a:t>
            </a:r>
            <a:endParaRPr lang="en-US" altLang="zh-CN" dirty="0"/>
          </a:p>
          <a:p>
            <a:r>
              <a:rPr lang="zh-CN" altLang="en-US" dirty="0"/>
              <a:t>两种解决机制</a:t>
            </a:r>
            <a:endParaRPr lang="en-US" altLang="zh-CN" dirty="0"/>
          </a:p>
          <a:p>
            <a:pPr lvl="1"/>
            <a:r>
              <a:rPr lang="zh-CN" altLang="en-US" dirty="0"/>
              <a:t>通过广播</a:t>
            </a:r>
            <a:r>
              <a:rPr lang="en-US" altLang="zh-CN" dirty="0"/>
              <a:t>beacon</a:t>
            </a:r>
            <a:r>
              <a:rPr lang="zh-CN" altLang="en-US" dirty="0"/>
              <a:t>包来解决不一致性</a:t>
            </a:r>
            <a:endParaRPr lang="en-US" altLang="zh-CN" dirty="0"/>
          </a:p>
          <a:p>
            <a:pPr lvl="1"/>
            <a:r>
              <a:rPr lang="zh-CN" altLang="en-US" dirty="0"/>
              <a:t>当数据包</a:t>
            </a:r>
            <a:r>
              <a:rPr lang="en-US" altLang="zh-CN" dirty="0"/>
              <a:t>ETX</a:t>
            </a:r>
            <a:r>
              <a:rPr lang="zh-CN" altLang="en-US" dirty="0"/>
              <a:t>高于设定的阈值时，</a:t>
            </a:r>
            <a:endParaRPr lang="en-US" altLang="zh-CN" dirty="0"/>
          </a:p>
          <a:p>
            <a:pPr lvl="1"/>
            <a:r>
              <a:rPr lang="en-US" altLang="zh-CN" dirty="0"/>
              <a:t>   </a:t>
            </a:r>
            <a:r>
              <a:rPr lang="zh-CN" altLang="en-US" dirty="0"/>
              <a:t>不再发送该数据包</a:t>
            </a:r>
            <a:endParaRPr lang="en-US" altLang="zh-CN" dirty="0"/>
          </a:p>
        </p:txBody>
      </p:sp>
      <p:sp>
        <p:nvSpPr>
          <p:cNvPr id="61" name="Oval 182"/>
          <p:cNvSpPr/>
          <p:nvPr/>
        </p:nvSpPr>
        <p:spPr>
          <a:xfrm>
            <a:off x="5773738" y="5838825"/>
            <a:ext cx="609600" cy="609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62" name="Oval 183"/>
          <p:cNvSpPr/>
          <p:nvPr/>
        </p:nvSpPr>
        <p:spPr>
          <a:xfrm>
            <a:off x="7754938" y="5762625"/>
            <a:ext cx="609600" cy="609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3" name="Oval 185"/>
          <p:cNvSpPr>
            <a:spLocks noChangeArrowheads="1"/>
          </p:cNvSpPr>
          <p:nvPr/>
        </p:nvSpPr>
        <p:spPr bwMode="auto">
          <a:xfrm>
            <a:off x="6764338" y="4467225"/>
            <a:ext cx="609600" cy="6096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4" name="Oval 186"/>
          <p:cNvSpPr/>
          <p:nvPr/>
        </p:nvSpPr>
        <p:spPr>
          <a:xfrm>
            <a:off x="5849938" y="2638425"/>
            <a:ext cx="609600" cy="609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C</a:t>
            </a:r>
          </a:p>
        </p:txBody>
      </p:sp>
      <p:cxnSp>
        <p:nvCxnSpPr>
          <p:cNvPr id="65" name="Straight Arrow Connector 188"/>
          <p:cNvCxnSpPr/>
          <p:nvPr/>
        </p:nvCxnSpPr>
        <p:spPr>
          <a:xfrm rot="5400000" flipH="1" flipV="1">
            <a:off x="6103938" y="5178425"/>
            <a:ext cx="939800" cy="558800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190"/>
          <p:cNvCxnSpPr/>
          <p:nvPr/>
        </p:nvCxnSpPr>
        <p:spPr>
          <a:xfrm rot="16200000" flipV="1">
            <a:off x="7285038" y="4987925"/>
            <a:ext cx="774700" cy="7747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92"/>
          <p:cNvCxnSpPr/>
          <p:nvPr/>
        </p:nvCxnSpPr>
        <p:spPr>
          <a:xfrm rot="16200000" flipV="1">
            <a:off x="6065838" y="3463925"/>
            <a:ext cx="1308100" cy="6985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202"/>
          <p:cNvCxnSpPr/>
          <p:nvPr/>
        </p:nvCxnSpPr>
        <p:spPr>
          <a:xfrm rot="16200000" flipV="1">
            <a:off x="5583238" y="2066925"/>
            <a:ext cx="1155700" cy="127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 Box 194"/>
          <p:cNvSpPr txBox="1">
            <a:spLocks noChangeArrowheads="1"/>
          </p:cNvSpPr>
          <p:nvPr/>
        </p:nvSpPr>
        <p:spPr bwMode="auto">
          <a:xfrm>
            <a:off x="6459538" y="2562225"/>
            <a:ext cx="646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Calibri" panose="020F0502020204030204" pitchFamily="34" charset="0"/>
                <a:ea typeface="宋体" panose="02010600030101010101" pitchFamily="2" charset="-122"/>
              </a:rPr>
              <a:t>8.1</a:t>
            </a:r>
          </a:p>
        </p:txBody>
      </p:sp>
      <p:sp>
        <p:nvSpPr>
          <p:cNvPr id="70" name="Text Box 197"/>
          <p:cNvSpPr txBox="1">
            <a:spLocks noChangeArrowheads="1"/>
          </p:cNvSpPr>
          <p:nvPr/>
        </p:nvSpPr>
        <p:spPr bwMode="auto">
          <a:xfrm>
            <a:off x="7373938" y="4440238"/>
            <a:ext cx="646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Calibri" panose="020F0502020204030204" pitchFamily="34" charset="0"/>
                <a:ea typeface="宋体" panose="02010600030101010101" pitchFamily="2" charset="-122"/>
              </a:rPr>
              <a:t>4.6</a:t>
            </a:r>
          </a:p>
        </p:txBody>
      </p:sp>
      <p:sp>
        <p:nvSpPr>
          <p:cNvPr id="71" name="Freeform 68"/>
          <p:cNvSpPr>
            <a:spLocks noChangeArrowheads="1"/>
          </p:cNvSpPr>
          <p:nvPr/>
        </p:nvSpPr>
        <p:spPr bwMode="auto">
          <a:xfrm>
            <a:off x="6070600" y="3248025"/>
            <a:ext cx="50800" cy="2514600"/>
          </a:xfrm>
          <a:custGeom>
            <a:avLst/>
            <a:gdLst>
              <a:gd name="T0" fmla="*/ 37 w 125388"/>
              <a:gd name="T1" fmla="*/ 0 h 1860111"/>
              <a:gd name="T2" fmla="*/ 0 w 125388"/>
              <a:gd name="T3" fmla="*/ 28048484 h 1860111"/>
              <a:gd name="T4" fmla="*/ 0 60000 65536"/>
              <a:gd name="T5" fmla="*/ 0 60000 65536"/>
              <a:gd name="T6" fmla="*/ 0 w 125388"/>
              <a:gd name="T7" fmla="*/ 0 h 1860111"/>
              <a:gd name="T8" fmla="*/ 125388 w 125388"/>
              <a:gd name="T9" fmla="*/ 1860111 h 18601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5388" h="1860111">
                <a:moveTo>
                  <a:pt x="125388" y="0"/>
                </a:moveTo>
                <a:lnTo>
                  <a:pt x="0" y="1860111"/>
                </a:lnTo>
              </a:path>
            </a:pathLst>
          </a:custGeom>
          <a:noFill/>
          <a:ln w="38100" algn="ctr">
            <a:solidFill>
              <a:srgbClr val="FF0000"/>
            </a:solidFill>
            <a:prstDash val="dash"/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" name="Text Box 197"/>
          <p:cNvSpPr txBox="1">
            <a:spLocks noChangeArrowheads="1"/>
          </p:cNvSpPr>
          <p:nvPr/>
        </p:nvSpPr>
        <p:spPr bwMode="auto">
          <a:xfrm>
            <a:off x="7137400" y="5991225"/>
            <a:ext cx="646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Calibri" panose="020F0502020204030204" pitchFamily="34" charset="0"/>
                <a:ea typeface="宋体" panose="02010600030101010101" pitchFamily="2" charset="-122"/>
              </a:rPr>
              <a:t>6.3</a:t>
            </a:r>
          </a:p>
        </p:txBody>
      </p:sp>
      <p:sp>
        <p:nvSpPr>
          <p:cNvPr id="73" name="Text Box 194"/>
          <p:cNvSpPr txBox="1">
            <a:spLocks noChangeArrowheads="1"/>
          </p:cNvSpPr>
          <p:nvPr/>
        </p:nvSpPr>
        <p:spPr bwMode="auto">
          <a:xfrm>
            <a:off x="6496050" y="2557463"/>
            <a:ext cx="646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3.2</a:t>
            </a:r>
          </a:p>
        </p:txBody>
      </p:sp>
      <p:sp>
        <p:nvSpPr>
          <p:cNvPr id="74" name="Text Box 197"/>
          <p:cNvSpPr txBox="1">
            <a:spLocks noChangeArrowheads="1"/>
          </p:cNvSpPr>
          <p:nvPr/>
        </p:nvSpPr>
        <p:spPr bwMode="auto">
          <a:xfrm>
            <a:off x="6299200" y="6143625"/>
            <a:ext cx="646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Calibri" panose="020F0502020204030204" pitchFamily="34" charset="0"/>
                <a:ea typeface="宋体" panose="02010600030101010101" pitchFamily="2" charset="-122"/>
              </a:rPr>
              <a:t>5.8</a:t>
            </a:r>
          </a:p>
        </p:txBody>
      </p:sp>
      <p:sp>
        <p:nvSpPr>
          <p:cNvPr id="75" name="TextBox 20"/>
          <p:cNvSpPr txBox="1">
            <a:spLocks noChangeArrowheads="1"/>
          </p:cNvSpPr>
          <p:nvPr/>
        </p:nvSpPr>
        <p:spPr bwMode="auto">
          <a:xfrm>
            <a:off x="5927725" y="1690688"/>
            <a:ext cx="4905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X</a:t>
            </a:r>
          </a:p>
        </p:txBody>
      </p:sp>
      <p:grpSp>
        <p:nvGrpSpPr>
          <p:cNvPr id="76" name="Group 30"/>
          <p:cNvGrpSpPr/>
          <p:nvPr/>
        </p:nvGrpSpPr>
        <p:grpSpPr bwMode="auto">
          <a:xfrm>
            <a:off x="7442200" y="4005263"/>
            <a:ext cx="990600" cy="461962"/>
            <a:chOff x="7315200" y="4034135"/>
            <a:chExt cx="990600" cy="461665"/>
          </a:xfrm>
        </p:grpSpPr>
        <p:sp>
          <p:nvSpPr>
            <p:cNvPr id="77" name="Rectangle 19"/>
            <p:cNvSpPr>
              <a:spLocks noChangeArrowheads="1"/>
            </p:cNvSpPr>
            <p:nvPr/>
          </p:nvSpPr>
          <p:spPr bwMode="auto">
            <a:xfrm>
              <a:off x="7315200" y="4057710"/>
              <a:ext cx="990600" cy="381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8" name="Straight Connector 21"/>
            <p:cNvCxnSpPr>
              <a:cxnSpLocks noChangeShapeType="1"/>
            </p:cNvCxnSpPr>
            <p:nvPr/>
          </p:nvCxnSpPr>
          <p:spPr bwMode="auto">
            <a:xfrm rot="16200000" flipH="1">
              <a:off x="7733506" y="4248210"/>
              <a:ext cx="38100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" name="TextBox 22"/>
            <p:cNvSpPr txBox="1">
              <a:spLocks noChangeArrowheads="1"/>
            </p:cNvSpPr>
            <p:nvPr/>
          </p:nvSpPr>
          <p:spPr bwMode="auto">
            <a:xfrm>
              <a:off x="7391400" y="4034135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4.6</a:t>
              </a:r>
            </a:p>
          </p:txBody>
        </p:sp>
      </p:grpSp>
      <p:grpSp>
        <p:nvGrpSpPr>
          <p:cNvPr id="80" name="Group 31"/>
          <p:cNvGrpSpPr/>
          <p:nvPr/>
        </p:nvGrpSpPr>
        <p:grpSpPr bwMode="auto">
          <a:xfrm>
            <a:off x="8051800" y="5229225"/>
            <a:ext cx="990600" cy="461963"/>
            <a:chOff x="7315200" y="4034135"/>
            <a:chExt cx="990600" cy="461665"/>
          </a:xfrm>
        </p:grpSpPr>
        <p:sp>
          <p:nvSpPr>
            <p:cNvPr id="81" name="Rectangle 32"/>
            <p:cNvSpPr>
              <a:spLocks noChangeArrowheads="1"/>
            </p:cNvSpPr>
            <p:nvPr/>
          </p:nvSpPr>
          <p:spPr bwMode="auto">
            <a:xfrm>
              <a:off x="7315200" y="4057710"/>
              <a:ext cx="990600" cy="381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2" name="Straight Connector 33"/>
            <p:cNvCxnSpPr>
              <a:cxnSpLocks noChangeShapeType="1"/>
            </p:cNvCxnSpPr>
            <p:nvPr/>
          </p:nvCxnSpPr>
          <p:spPr bwMode="auto">
            <a:xfrm rot="16200000" flipH="1">
              <a:off x="7733506" y="4248210"/>
              <a:ext cx="38100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" name="TextBox 34"/>
            <p:cNvSpPr txBox="1">
              <a:spLocks noChangeArrowheads="1"/>
            </p:cNvSpPr>
            <p:nvPr/>
          </p:nvSpPr>
          <p:spPr bwMode="auto">
            <a:xfrm>
              <a:off x="7391400" y="4034135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6.3</a:t>
              </a:r>
            </a:p>
          </p:txBody>
        </p:sp>
      </p:grpSp>
      <p:grpSp>
        <p:nvGrpSpPr>
          <p:cNvPr id="84" name="Group 35"/>
          <p:cNvGrpSpPr/>
          <p:nvPr/>
        </p:nvGrpSpPr>
        <p:grpSpPr bwMode="auto">
          <a:xfrm>
            <a:off x="4775200" y="2409825"/>
            <a:ext cx="990600" cy="461963"/>
            <a:chOff x="7315200" y="4034135"/>
            <a:chExt cx="990600" cy="461665"/>
          </a:xfrm>
        </p:grpSpPr>
        <p:sp>
          <p:nvSpPr>
            <p:cNvPr id="85" name="Rectangle 36"/>
            <p:cNvSpPr>
              <a:spLocks noChangeArrowheads="1"/>
            </p:cNvSpPr>
            <p:nvPr/>
          </p:nvSpPr>
          <p:spPr bwMode="auto">
            <a:xfrm>
              <a:off x="7315200" y="4057710"/>
              <a:ext cx="990600" cy="381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6" name="Straight Connector 37"/>
            <p:cNvCxnSpPr>
              <a:cxnSpLocks noChangeShapeType="1"/>
            </p:cNvCxnSpPr>
            <p:nvPr/>
          </p:nvCxnSpPr>
          <p:spPr bwMode="auto">
            <a:xfrm rot="16200000" flipH="1">
              <a:off x="7733506" y="4248210"/>
              <a:ext cx="38100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TextBox 38"/>
            <p:cNvSpPr txBox="1">
              <a:spLocks noChangeArrowheads="1"/>
            </p:cNvSpPr>
            <p:nvPr/>
          </p:nvSpPr>
          <p:spPr bwMode="auto">
            <a:xfrm>
              <a:off x="7391400" y="4034135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8.1</a:t>
              </a:r>
            </a:p>
          </p:txBody>
        </p:sp>
      </p:grpSp>
      <p:grpSp>
        <p:nvGrpSpPr>
          <p:cNvPr id="88" name="Group 39"/>
          <p:cNvGrpSpPr/>
          <p:nvPr/>
        </p:nvGrpSpPr>
        <p:grpSpPr bwMode="auto">
          <a:xfrm>
            <a:off x="4699000" y="5838825"/>
            <a:ext cx="990600" cy="461963"/>
            <a:chOff x="7315200" y="4034135"/>
            <a:chExt cx="990600" cy="461665"/>
          </a:xfrm>
        </p:grpSpPr>
        <p:sp>
          <p:nvSpPr>
            <p:cNvPr id="89" name="Rectangle 40"/>
            <p:cNvSpPr>
              <a:spLocks noChangeArrowheads="1"/>
            </p:cNvSpPr>
            <p:nvPr/>
          </p:nvSpPr>
          <p:spPr bwMode="auto">
            <a:xfrm>
              <a:off x="7315200" y="4057710"/>
              <a:ext cx="990600" cy="381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90" name="Straight Connector 41"/>
            <p:cNvCxnSpPr>
              <a:cxnSpLocks noChangeShapeType="1"/>
            </p:cNvCxnSpPr>
            <p:nvPr/>
          </p:nvCxnSpPr>
          <p:spPr bwMode="auto">
            <a:xfrm rot="16200000" flipH="1">
              <a:off x="7733506" y="4248210"/>
              <a:ext cx="38100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TextBox 42"/>
            <p:cNvSpPr txBox="1">
              <a:spLocks noChangeArrowheads="1"/>
            </p:cNvSpPr>
            <p:nvPr/>
          </p:nvSpPr>
          <p:spPr bwMode="auto">
            <a:xfrm>
              <a:off x="7391400" y="4034135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5.8</a:t>
              </a:r>
            </a:p>
          </p:txBody>
        </p:sp>
      </p:grpSp>
      <p:sp>
        <p:nvSpPr>
          <p:cNvPr id="92" name="TextBox 44"/>
          <p:cNvSpPr txBox="1">
            <a:spLocks noChangeArrowheads="1"/>
          </p:cNvSpPr>
          <p:nvPr/>
        </p:nvSpPr>
        <p:spPr bwMode="auto">
          <a:xfrm>
            <a:off x="7442200" y="3476625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4.6 &lt; 6.3?</a:t>
            </a:r>
          </a:p>
        </p:txBody>
      </p:sp>
      <p:sp>
        <p:nvSpPr>
          <p:cNvPr id="93" name="TextBox 45"/>
          <p:cNvSpPr txBox="1">
            <a:spLocks noChangeArrowheads="1"/>
          </p:cNvSpPr>
          <p:nvPr/>
        </p:nvSpPr>
        <p:spPr bwMode="auto">
          <a:xfrm>
            <a:off x="6451600" y="1647825"/>
            <a:ext cx="152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3.2 &lt; 4.6?</a:t>
            </a:r>
          </a:p>
        </p:txBody>
      </p:sp>
      <p:sp>
        <p:nvSpPr>
          <p:cNvPr id="94" name="TextBox 46"/>
          <p:cNvSpPr txBox="1">
            <a:spLocks noChangeArrowheads="1"/>
          </p:cNvSpPr>
          <p:nvPr/>
        </p:nvSpPr>
        <p:spPr bwMode="auto">
          <a:xfrm>
            <a:off x="4850148" y="5451252"/>
            <a:ext cx="152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5.8 &lt; 8.1?</a:t>
            </a:r>
          </a:p>
        </p:txBody>
      </p:sp>
      <p:sp>
        <p:nvSpPr>
          <p:cNvPr id="95" name="TextBox 47"/>
          <p:cNvSpPr txBox="1">
            <a:spLocks noChangeArrowheads="1"/>
          </p:cNvSpPr>
          <p:nvPr/>
        </p:nvSpPr>
        <p:spPr bwMode="auto">
          <a:xfrm>
            <a:off x="7366000" y="3400425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4.6&lt;5.8?</a:t>
            </a:r>
          </a:p>
        </p:txBody>
      </p:sp>
      <p:grpSp>
        <p:nvGrpSpPr>
          <p:cNvPr id="96" name="Group 48"/>
          <p:cNvGrpSpPr/>
          <p:nvPr/>
        </p:nvGrpSpPr>
        <p:grpSpPr bwMode="auto">
          <a:xfrm>
            <a:off x="7442200" y="4010025"/>
            <a:ext cx="990600" cy="461963"/>
            <a:chOff x="7315200" y="4034135"/>
            <a:chExt cx="990600" cy="461665"/>
          </a:xfrm>
        </p:grpSpPr>
        <p:sp>
          <p:nvSpPr>
            <p:cNvPr id="97" name="Rectangle 49"/>
            <p:cNvSpPr>
              <a:spLocks noChangeArrowheads="1"/>
            </p:cNvSpPr>
            <p:nvPr/>
          </p:nvSpPr>
          <p:spPr bwMode="auto">
            <a:xfrm>
              <a:off x="7315200" y="4057710"/>
              <a:ext cx="990600" cy="381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98" name="Straight Connector 52"/>
            <p:cNvCxnSpPr>
              <a:cxnSpLocks noChangeShapeType="1"/>
            </p:cNvCxnSpPr>
            <p:nvPr/>
          </p:nvCxnSpPr>
          <p:spPr bwMode="auto">
            <a:xfrm rot="16200000" flipH="1">
              <a:off x="7733506" y="4248210"/>
              <a:ext cx="38100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9" name="TextBox 53"/>
            <p:cNvSpPr txBox="1">
              <a:spLocks noChangeArrowheads="1"/>
            </p:cNvSpPr>
            <p:nvPr/>
          </p:nvSpPr>
          <p:spPr bwMode="auto">
            <a:xfrm>
              <a:off x="7391400" y="4034135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4.6</a:t>
              </a:r>
            </a:p>
          </p:txBody>
        </p:sp>
      </p:grpSp>
      <p:sp>
        <p:nvSpPr>
          <p:cNvPr id="100" name="TextBox 58"/>
          <p:cNvSpPr txBox="1">
            <a:spLocks noChangeArrowheads="1"/>
          </p:cNvSpPr>
          <p:nvPr/>
        </p:nvSpPr>
        <p:spPr bwMode="auto">
          <a:xfrm>
            <a:off x="6451600" y="1652588"/>
            <a:ext cx="152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8.1 &lt; 4.6?</a:t>
            </a:r>
          </a:p>
        </p:txBody>
      </p:sp>
      <p:sp>
        <p:nvSpPr>
          <p:cNvPr id="45" name="灯片编号占位符 4">
            <a:extLst>
              <a:ext uri="{FF2B5EF4-FFF2-40B4-BE49-F238E27FC236}">
                <a16:creationId xmlns:a16="http://schemas.microsoft.com/office/drawing/2014/main" id="{4617AD40-5D07-497A-B4C3-50AB24099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21184E-6 L -0.0625 -0.177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-89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047 L -0.10417 -0.2654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132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031E-7 L -0.00417 0.5104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2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1.26735E-6 L 0.29999 -0.27752 " pathEditMode="relative" ptsTypes="AA">
                                      <p:cBhvr>
                                        <p:cTn id="76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047 L -0.10417 -0.26549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132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3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3" grpId="0"/>
      <p:bldP spid="75" grpId="0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10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CTP</a:t>
            </a:r>
            <a:endParaRPr lang="zh-CN" altLang="en-US" dirty="0"/>
          </a:p>
        </p:txBody>
      </p:sp>
      <p:sp>
        <p:nvSpPr>
          <p:cNvPr id="19" name="内容占位符 18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Beacon</a:t>
            </a:r>
            <a:r>
              <a:rPr lang="zh-CN" altLang="en-US"/>
              <a:t>频率问题</a:t>
            </a:r>
            <a:endParaRPr lang="en-US" altLang="zh-CN"/>
          </a:p>
          <a:p>
            <a:pPr lvl="1"/>
            <a:r>
              <a:rPr lang="en-US" altLang="zh-CN"/>
              <a:t>Beacon</a:t>
            </a:r>
            <a:r>
              <a:rPr lang="zh-CN" altLang="en-US"/>
              <a:t>用于更新</a:t>
            </a:r>
            <a:r>
              <a:rPr lang="en-US" altLang="zh-CN"/>
              <a:t>ETX</a:t>
            </a:r>
            <a:r>
              <a:rPr lang="zh-CN" altLang="en-US"/>
              <a:t>及路由信息</a:t>
            </a:r>
            <a:r>
              <a:rPr lang="en-US" altLang="zh-CN"/>
              <a:t>, </a:t>
            </a:r>
            <a:r>
              <a:rPr lang="zh-CN" altLang="en-US"/>
              <a:t>频率过高</a:t>
            </a:r>
            <a:r>
              <a:rPr lang="en-US" altLang="zh-CN"/>
              <a:t>, </a:t>
            </a:r>
            <a:r>
              <a:rPr lang="zh-CN" altLang="en-US"/>
              <a:t>路由信息准确度高</a:t>
            </a:r>
            <a:r>
              <a:rPr lang="en-US" altLang="zh-CN"/>
              <a:t>, </a:t>
            </a:r>
            <a:r>
              <a:rPr lang="zh-CN" altLang="en-US"/>
              <a:t>但开销大</a:t>
            </a:r>
            <a:r>
              <a:rPr lang="en-US" altLang="zh-CN"/>
              <a:t>; </a:t>
            </a:r>
            <a:r>
              <a:rPr lang="zh-CN" altLang="en-US"/>
              <a:t>频率过低</a:t>
            </a:r>
            <a:r>
              <a:rPr lang="en-US" altLang="zh-CN"/>
              <a:t>, </a:t>
            </a:r>
            <a:r>
              <a:rPr lang="zh-CN" altLang="en-US"/>
              <a:t>则无法及时更新路由</a:t>
            </a:r>
            <a:endParaRPr lang="en-US" altLang="zh-CN"/>
          </a:p>
          <a:p>
            <a:r>
              <a:rPr lang="zh-CN" altLang="en-US"/>
              <a:t>解决方法</a:t>
            </a:r>
            <a:endParaRPr lang="en-US" altLang="zh-CN"/>
          </a:p>
          <a:p>
            <a:pPr lvl="1"/>
            <a:r>
              <a:rPr lang="zh-CN" altLang="en-US"/>
              <a:t>自适应的调节机制</a:t>
            </a:r>
            <a:r>
              <a:rPr lang="en-US" altLang="zh-CN"/>
              <a:t>(Adaptive beaconing), beacon</a:t>
            </a:r>
            <a:r>
              <a:rPr lang="zh-CN" altLang="en-US"/>
              <a:t>间隔从小到大增加</a:t>
            </a:r>
            <a:endParaRPr lang="en-US" altLang="zh-CN"/>
          </a:p>
          <a:p>
            <a:pPr lvl="1"/>
            <a:r>
              <a:rPr lang="zh-CN" altLang="en-US"/>
              <a:t>当检测到网络不一致性时，将</a:t>
            </a:r>
            <a:r>
              <a:rPr lang="en-US" altLang="zh-CN"/>
              <a:t>beacon</a:t>
            </a:r>
            <a:r>
              <a:rPr lang="zh-CN" altLang="en-US"/>
              <a:t>间隔设成最小</a:t>
            </a:r>
            <a:endParaRPr lang="en-US" altLang="zh-CN"/>
          </a:p>
          <a:p>
            <a:pPr lvl="2"/>
            <a:r>
              <a:rPr lang="en-US" altLang="zh-CN"/>
              <a:t>E.g. ,</a:t>
            </a:r>
            <a:r>
              <a:rPr lang="zh-CN" altLang="en-US"/>
              <a:t>发生路由回路时</a:t>
            </a:r>
            <a:endParaRPr lang="en-US" altLang="zh-CN"/>
          </a:p>
          <a:p>
            <a:pPr lvl="1"/>
            <a:endParaRPr lang="en-US" altLang="zh-CN" dirty="0"/>
          </a:p>
        </p:txBody>
      </p:sp>
      <p:grpSp>
        <p:nvGrpSpPr>
          <p:cNvPr id="5" name="Group 205"/>
          <p:cNvGrpSpPr/>
          <p:nvPr/>
        </p:nvGrpSpPr>
        <p:grpSpPr bwMode="auto">
          <a:xfrm>
            <a:off x="1678026" y="4979842"/>
            <a:ext cx="6172389" cy="1075710"/>
            <a:chOff x="13536" y="12672"/>
            <a:chExt cx="4848" cy="1204"/>
          </a:xfrm>
          <a:solidFill>
            <a:srgbClr val="0000CC"/>
          </a:solidFill>
        </p:grpSpPr>
        <p:cxnSp>
          <p:nvCxnSpPr>
            <p:cNvPr id="6" name="Straight Connector 5"/>
            <p:cNvCxnSpPr/>
            <p:nvPr/>
          </p:nvCxnSpPr>
          <p:spPr>
            <a:xfrm>
              <a:off x="13536" y="13104"/>
              <a:ext cx="4848" cy="1"/>
            </a:xfrm>
            <a:prstGeom prst="line">
              <a:avLst/>
            </a:prstGeom>
            <a:grpFill/>
            <a:ln w="57150">
              <a:solidFill>
                <a:srgbClr val="0000CC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13584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3824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4208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024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416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656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7040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7856" y="12672"/>
              <a:ext cx="96" cy="432"/>
            </a:xfrm>
            <a:prstGeom prst="rect">
              <a:avLst/>
            </a:prstGeom>
            <a:grp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TextBox 14"/>
            <p:cNvSpPr txBox="1">
              <a:spLocks noChangeArrowheads="1"/>
            </p:cNvSpPr>
            <p:nvPr/>
          </p:nvSpPr>
          <p:spPr bwMode="auto">
            <a:xfrm>
              <a:off x="13632" y="13465"/>
              <a:ext cx="4656" cy="4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800" dirty="0">
                  <a:solidFill>
                    <a:srgbClr val="0000CC"/>
                  </a:solidFill>
                  <a:latin typeface="Calibri" panose="020F0502020204030204" pitchFamily="34" charset="0"/>
                </a:rPr>
                <a:t>Increasing interval      Reset interval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13680" y="13392"/>
              <a:ext cx="2208" cy="1"/>
            </a:xfrm>
            <a:prstGeom prst="line">
              <a:avLst/>
            </a:prstGeom>
            <a:grpFill/>
            <a:ln w="57150">
              <a:solidFill>
                <a:srgbClr val="0000CC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5400000" flipH="1" flipV="1">
              <a:off x="16320" y="13391"/>
              <a:ext cx="288" cy="2"/>
            </a:xfrm>
            <a:prstGeom prst="line">
              <a:avLst/>
            </a:prstGeom>
            <a:grpFill/>
            <a:ln w="57150">
              <a:solidFill>
                <a:srgbClr val="0000CC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1101953" y="4900467"/>
            <a:ext cx="563562" cy="523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TX</a:t>
            </a:r>
          </a:p>
        </p:txBody>
      </p:sp>
      <p:sp>
        <p:nvSpPr>
          <p:cNvPr id="21" name="灯片编号占位符 4">
            <a:extLst>
              <a:ext uri="{FF2B5EF4-FFF2-40B4-BE49-F238E27FC236}">
                <a16:creationId xmlns:a16="http://schemas.microsoft.com/office/drawing/2014/main" id="{5BB273A8-5D78-487E-9EC9-150B58E72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</a:t>
            </a:r>
            <a:endParaRPr lang="en-US" altLang="zh-CN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dirty="0"/>
              <a:t>IEEE 802.15.4</a:t>
            </a:r>
            <a:r>
              <a:rPr lang="zh-CN" altLang="en-US" dirty="0"/>
              <a:t>技术物理层</a:t>
            </a:r>
          </a:p>
          <a:p>
            <a:r>
              <a:rPr lang="zh-CN" altLang="en-US" dirty="0"/>
              <a:t>低功耗</a:t>
            </a:r>
            <a:r>
              <a:rPr lang="en-US" altLang="zh-CN" dirty="0"/>
              <a:t>MAC</a:t>
            </a:r>
          </a:p>
          <a:p>
            <a:r>
              <a:rPr lang="zh-CN" altLang="en-US" dirty="0"/>
              <a:t>链路质量估计</a:t>
            </a:r>
          </a:p>
          <a:p>
            <a:r>
              <a:rPr lang="en-US" altLang="zh-CN" dirty="0"/>
              <a:t>6LoWPAN</a:t>
            </a:r>
          </a:p>
          <a:p>
            <a:r>
              <a:rPr lang="en-US" altLang="zh-CN" dirty="0"/>
              <a:t>CTP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RPL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20303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低功耗有损网络中的</a:t>
            </a:r>
            <a:r>
              <a:rPr lang="en-US" altLang="zh-CN"/>
              <a:t>IPv6</a:t>
            </a:r>
            <a:r>
              <a:rPr lang="zh-CN" altLang="en-US"/>
              <a:t>路由协议 </a:t>
            </a:r>
            <a:r>
              <a:rPr lang="en-US" altLang="zh-CN"/>
              <a:t>(IPv6 Routing Protocol for Low Power and Lossy Networks)</a:t>
            </a:r>
          </a:p>
          <a:p>
            <a:pPr lvl="1"/>
            <a:r>
              <a:rPr lang="en-US" altLang="zh-CN"/>
              <a:t>IPv6</a:t>
            </a:r>
            <a:r>
              <a:rPr lang="zh-CN" altLang="en-US"/>
              <a:t>与</a:t>
            </a:r>
            <a:r>
              <a:rPr lang="en-US" altLang="zh-CN"/>
              <a:t>IEEE 802.15.4</a:t>
            </a:r>
            <a:r>
              <a:rPr lang="zh-CN" altLang="en-US"/>
              <a:t>的结合</a:t>
            </a:r>
            <a:r>
              <a:rPr lang="en-US" altLang="zh-CN"/>
              <a:t>: 6LoWPAN</a:t>
            </a:r>
          </a:p>
          <a:p>
            <a:pPr lvl="1"/>
            <a:r>
              <a:rPr lang="zh-CN" altLang="en-US"/>
              <a:t>基于</a:t>
            </a:r>
            <a:r>
              <a:rPr lang="en-US" altLang="zh-CN"/>
              <a:t>6LoWPAN</a:t>
            </a:r>
            <a:r>
              <a:rPr lang="zh-CN" altLang="en-US"/>
              <a:t>的路由策略：</a:t>
            </a:r>
            <a:r>
              <a:rPr lang="en-US" altLang="zh-CN"/>
              <a:t>RPL</a:t>
            </a:r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2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174" y="2769326"/>
            <a:ext cx="6235351" cy="3912598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3EFB4CCD-8FFC-4FDB-97D4-5DAD185ED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RPL(Ripple) , Routing Protocol for Low Power and Lossy Networks</a:t>
            </a:r>
          </a:p>
          <a:p>
            <a:r>
              <a:rPr lang="zh-CN" altLang="en-US"/>
              <a:t>组网模式：</a:t>
            </a:r>
            <a:endParaRPr lang="en-US" altLang="zh-CN"/>
          </a:p>
          <a:p>
            <a:pPr lvl="1"/>
            <a:r>
              <a:rPr lang="en-US" altLang="zh-CN"/>
              <a:t>DODAG(Destination-Oriented DAG)</a:t>
            </a:r>
            <a:r>
              <a:rPr lang="zh-CN" altLang="en-US"/>
              <a:t>，只有一个根节点的有向无环图</a:t>
            </a:r>
            <a:endParaRPr lang="en-US" altLang="zh-CN"/>
          </a:p>
          <a:p>
            <a:r>
              <a:rPr lang="zh-CN" altLang="en-US"/>
              <a:t>通信模式： </a:t>
            </a:r>
            <a:r>
              <a:rPr lang="en-US" altLang="zh-CN"/>
              <a:t>MP2P, P2MP,P2P</a:t>
            </a:r>
          </a:p>
          <a:p>
            <a:pPr lvl="1"/>
            <a:r>
              <a:rPr lang="en-US" altLang="zh-CN"/>
              <a:t>MP2P: </a:t>
            </a:r>
            <a:r>
              <a:rPr lang="zh-CN" altLang="en-US"/>
              <a:t>数据收集</a:t>
            </a:r>
            <a:endParaRPr lang="en-US" altLang="zh-CN"/>
          </a:p>
          <a:p>
            <a:pPr lvl="1"/>
            <a:r>
              <a:rPr lang="en-US" altLang="zh-CN"/>
              <a:t>P2MP: </a:t>
            </a:r>
            <a:r>
              <a:rPr lang="zh-CN" altLang="en-US"/>
              <a:t>数据分发</a:t>
            </a:r>
            <a:endParaRPr lang="en-US" altLang="zh-CN"/>
          </a:p>
          <a:p>
            <a:pPr lvl="1"/>
            <a:r>
              <a:rPr lang="en-US" altLang="zh-CN"/>
              <a:t>P2P: </a:t>
            </a:r>
            <a:r>
              <a:rPr lang="zh-CN" altLang="en-US"/>
              <a:t>点对点</a:t>
            </a:r>
            <a:r>
              <a:rPr lang="en-US" altLang="zh-CN"/>
              <a:t>, </a:t>
            </a:r>
            <a:r>
              <a:rPr lang="zh-CN" altLang="en-US"/>
              <a:t>由前两种模式结合</a:t>
            </a:r>
            <a:br>
              <a:rPr lang="en-US" altLang="zh-CN"/>
            </a:br>
            <a:r>
              <a:rPr lang="zh-CN" altLang="en-US"/>
              <a:t>实现</a:t>
            </a:r>
            <a:endParaRPr lang="en-US" altLang="zh-CN"/>
          </a:p>
          <a:p>
            <a:pPr lvl="1"/>
            <a:endParaRPr lang="en-US" altLang="zh-CN"/>
          </a:p>
          <a:p>
            <a:pPr lvl="2"/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924882" y="2743200"/>
          <a:ext cx="4219118" cy="256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Visio" r:id="rId4" imgW="2626995" imgH="1604010" progId="Visio.Drawing.15">
                  <p:embed/>
                </p:oleObj>
              </mc:Choice>
              <mc:Fallback>
                <p:oleObj name="Visio" r:id="rId4" imgW="2626995" imgH="160401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882" y="2743200"/>
                        <a:ext cx="4219118" cy="25603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A5E95D-0FE0-44C9-AE9C-F31A37805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RPL</a:t>
            </a:r>
            <a:r>
              <a:rPr lang="zh-CN" altLang="en-US"/>
              <a:t>路由建立</a:t>
            </a:r>
            <a:endParaRPr lang="en-US" altLang="zh-CN"/>
          </a:p>
          <a:p>
            <a:pPr lvl="1"/>
            <a:r>
              <a:rPr lang="zh-CN" altLang="en-US"/>
              <a:t>目标函数</a:t>
            </a:r>
            <a:endParaRPr lang="en-US" altLang="zh-CN"/>
          </a:p>
          <a:p>
            <a:pPr lvl="2"/>
            <a:r>
              <a:rPr lang="zh-CN" altLang="en-US"/>
              <a:t>选取路由度量计算</a:t>
            </a:r>
            <a:r>
              <a:rPr lang="en-US" altLang="zh-CN"/>
              <a:t>Rank</a:t>
            </a:r>
            <a:r>
              <a:rPr lang="zh-CN" altLang="en-US"/>
              <a:t>值，同时考虑路由约束条件，以选出最优路径，即</a:t>
            </a:r>
            <a:r>
              <a:rPr lang="en-US" altLang="zh-CN"/>
              <a:t>Rank</a:t>
            </a:r>
            <a:r>
              <a:rPr lang="zh-CN" altLang="en-US"/>
              <a:t>值最低的路径</a:t>
            </a:r>
            <a:endParaRPr lang="en-US" altLang="zh-CN"/>
          </a:p>
          <a:p>
            <a:pPr lvl="2"/>
            <a:r>
              <a:rPr lang="zh-CN" altLang="en-US"/>
              <a:t>路由度量：跳数、延迟、</a:t>
            </a:r>
            <a:r>
              <a:rPr lang="en-US" altLang="zh-CN"/>
              <a:t>ETX</a:t>
            </a:r>
            <a:r>
              <a:rPr lang="zh-CN" altLang="en-US"/>
              <a:t>等</a:t>
            </a:r>
            <a:endParaRPr lang="en-US" altLang="zh-CN"/>
          </a:p>
          <a:p>
            <a:pPr lvl="1"/>
            <a:r>
              <a:rPr lang="en-US" altLang="zh-CN"/>
              <a:t>DODAG</a:t>
            </a:r>
            <a:r>
              <a:rPr lang="zh-CN" altLang="en-US"/>
              <a:t>建立</a:t>
            </a:r>
            <a:endParaRPr lang="en-US" altLang="zh-CN"/>
          </a:p>
          <a:p>
            <a:pPr lvl="2"/>
            <a:r>
              <a:rPr lang="zh-CN" altLang="en-US"/>
              <a:t>上行路由建立</a:t>
            </a:r>
            <a:endParaRPr lang="en-US" altLang="zh-CN"/>
          </a:p>
          <a:p>
            <a:pPr lvl="3"/>
            <a:r>
              <a:rPr lang="zh-CN" altLang="en-US"/>
              <a:t>由根节点开始向下广播</a:t>
            </a:r>
            <a:r>
              <a:rPr lang="en-US" altLang="zh-CN"/>
              <a:t>DIO</a:t>
            </a:r>
            <a:r>
              <a:rPr lang="zh-CN" altLang="en-US"/>
              <a:t>消息，含有节点的</a:t>
            </a:r>
            <a:r>
              <a:rPr lang="en-US" altLang="zh-CN"/>
              <a:t>ID</a:t>
            </a:r>
            <a:r>
              <a:rPr lang="zh-CN" altLang="en-US"/>
              <a:t>、</a:t>
            </a:r>
            <a:r>
              <a:rPr lang="en-US" altLang="zh-CN"/>
              <a:t>Rank </a:t>
            </a:r>
            <a:r>
              <a:rPr lang="zh-CN" altLang="en-US"/>
              <a:t>值等关键信息，收到的节点依据目标函数选择是否加入或更换父节点</a:t>
            </a:r>
            <a:endParaRPr lang="en-US" altLang="zh-CN"/>
          </a:p>
          <a:p>
            <a:pPr lvl="2"/>
            <a:r>
              <a:rPr lang="zh-CN" altLang="en-US"/>
              <a:t>下行路由建立</a:t>
            </a:r>
            <a:endParaRPr lang="en-US" altLang="zh-CN"/>
          </a:p>
          <a:p>
            <a:pPr lvl="3"/>
            <a:r>
              <a:rPr lang="zh-CN" altLang="en-US"/>
              <a:t>在建立好的上行路由上，节点向父节点发送</a:t>
            </a:r>
            <a:r>
              <a:rPr lang="en-US" altLang="zh-CN"/>
              <a:t>DAO</a:t>
            </a:r>
            <a:r>
              <a:rPr lang="zh-CN" altLang="en-US"/>
              <a:t>消息，包含节点的路由前缀信息</a:t>
            </a:r>
            <a:endParaRPr lang="en-US" altLang="zh-CN"/>
          </a:p>
          <a:p>
            <a:pPr lvl="2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CF85FEEC-0B21-4EB8-9C7F-C7A99251D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DAG</a:t>
            </a:r>
            <a:r>
              <a:rPr lang="zh-CN" altLang="en-US"/>
              <a:t>上行路由建立</a:t>
            </a:r>
            <a:endParaRPr lang="en-US" altLang="zh-CN"/>
          </a:p>
          <a:p>
            <a:pPr lvl="1"/>
            <a:r>
              <a:rPr lang="zh-CN" altLang="en-US"/>
              <a:t>路由度量：</a:t>
            </a:r>
            <a:r>
              <a:rPr lang="en-US" altLang="zh-CN"/>
              <a:t>ETX, </a:t>
            </a:r>
            <a:r>
              <a:rPr lang="zh-CN" altLang="en-US"/>
              <a:t>标在每条边上</a:t>
            </a:r>
            <a:endParaRPr lang="en-US" altLang="zh-CN"/>
          </a:p>
          <a:p>
            <a:pPr lvl="1"/>
            <a:r>
              <a:rPr lang="zh-CN" altLang="en-US"/>
              <a:t>目标函数：最小化节点到根的</a:t>
            </a:r>
            <a:r>
              <a:rPr lang="en-US" altLang="zh-CN"/>
              <a:t>ETX</a:t>
            </a:r>
          </a:p>
          <a:p>
            <a:r>
              <a:rPr lang="zh-CN" altLang="en-US"/>
              <a:t>建立过程</a:t>
            </a:r>
            <a:endParaRPr lang="en-US" altLang="zh-CN"/>
          </a:p>
          <a:p>
            <a:pPr lvl="1"/>
            <a:r>
              <a:rPr lang="en-US" altLang="zh-CN"/>
              <a:t>LBR-1</a:t>
            </a:r>
            <a:r>
              <a:rPr lang="zh-CN" altLang="en-US"/>
              <a:t>广播</a:t>
            </a:r>
            <a:r>
              <a:rPr lang="en-US" altLang="zh-CN"/>
              <a:t>DIO</a:t>
            </a:r>
            <a:r>
              <a:rPr lang="zh-CN" altLang="en-US"/>
              <a:t>信息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zh-CN" altLang="en-US" dirty="0"/>
          </a:p>
        </p:txBody>
      </p:sp>
      <p:sp>
        <p:nvSpPr>
          <p:cNvPr id="134" name="Rectangle 47"/>
          <p:cNvSpPr/>
          <p:nvPr/>
        </p:nvSpPr>
        <p:spPr>
          <a:xfrm>
            <a:off x="6663055" y="1971221"/>
            <a:ext cx="193675" cy="193675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5" name="Rectangle 48"/>
          <p:cNvSpPr/>
          <p:nvPr/>
        </p:nvSpPr>
        <p:spPr>
          <a:xfrm>
            <a:off x="6994843" y="2164896"/>
            <a:ext cx="193675" cy="193675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6" name="Rectangle 49"/>
          <p:cNvSpPr/>
          <p:nvPr/>
        </p:nvSpPr>
        <p:spPr>
          <a:xfrm>
            <a:off x="7302818" y="2068059"/>
            <a:ext cx="193675" cy="193675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37" name="Straight Connector 18"/>
          <p:cNvCxnSpPr>
            <a:stCxn id="176" idx="1"/>
            <a:endCxn id="143" idx="7"/>
          </p:cNvCxnSpPr>
          <p:nvPr/>
        </p:nvCxnSpPr>
        <p:spPr>
          <a:xfrm rot="10800000" flipV="1">
            <a:off x="5789930" y="2164896"/>
            <a:ext cx="803275" cy="92710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38" name="Straight Connector 21"/>
          <p:cNvCxnSpPr>
            <a:stCxn id="176" idx="2"/>
            <a:endCxn id="144" idx="0"/>
          </p:cNvCxnSpPr>
          <p:nvPr/>
        </p:nvCxnSpPr>
        <p:spPr>
          <a:xfrm rot="5400000">
            <a:off x="6749574" y="2705440"/>
            <a:ext cx="611188" cy="635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139" name="Straight Connector 24"/>
          <p:cNvCxnSpPr>
            <a:stCxn id="176" idx="3"/>
            <a:endCxn id="145" idx="1"/>
          </p:cNvCxnSpPr>
          <p:nvPr/>
        </p:nvCxnSpPr>
        <p:spPr>
          <a:xfrm>
            <a:off x="7521893" y="2164896"/>
            <a:ext cx="968702" cy="992516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40" name="Straight Connector 27"/>
          <p:cNvCxnSpPr>
            <a:stCxn id="144" idx="6"/>
            <a:endCxn id="145" idx="2"/>
          </p:cNvCxnSpPr>
          <p:nvPr/>
        </p:nvCxnSpPr>
        <p:spPr>
          <a:xfrm>
            <a:off x="7318693" y="3280909"/>
            <a:ext cx="1093787" cy="65088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141" name="Straight Connector 39"/>
          <p:cNvCxnSpPr>
            <a:stCxn id="146" idx="4"/>
            <a:endCxn id="151" idx="7"/>
          </p:cNvCxnSpPr>
          <p:nvPr/>
        </p:nvCxnSpPr>
        <p:spPr>
          <a:xfrm rot="5400000">
            <a:off x="7954487" y="4739027"/>
            <a:ext cx="792162" cy="6572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42" name="Straight Connector 133"/>
          <p:cNvCxnSpPr>
            <a:stCxn id="145" idx="4"/>
            <a:endCxn id="146" idx="0"/>
          </p:cNvCxnSpPr>
          <p:nvPr/>
        </p:nvCxnSpPr>
        <p:spPr>
          <a:xfrm>
            <a:off x="8679180" y="3612697"/>
            <a:ext cx="0" cy="525462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43" name="Oval 5"/>
          <p:cNvSpPr>
            <a:spLocks noChangeArrowheads="1"/>
          </p:cNvSpPr>
          <p:nvPr/>
        </p:nvSpPr>
        <p:spPr bwMode="auto">
          <a:xfrm>
            <a:off x="5334318" y="3014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144" name="Oval 5"/>
          <p:cNvSpPr>
            <a:spLocks noChangeArrowheads="1"/>
          </p:cNvSpPr>
          <p:nvPr/>
        </p:nvSpPr>
        <p:spPr bwMode="auto">
          <a:xfrm>
            <a:off x="6785293" y="301420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145" name="Oval 5"/>
          <p:cNvSpPr>
            <a:spLocks noChangeArrowheads="1"/>
          </p:cNvSpPr>
          <p:nvPr/>
        </p:nvSpPr>
        <p:spPr bwMode="auto">
          <a:xfrm>
            <a:off x="8412480" y="3079297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146" name="Oval 5"/>
          <p:cNvSpPr>
            <a:spLocks noChangeArrowheads="1"/>
          </p:cNvSpPr>
          <p:nvPr/>
        </p:nvSpPr>
        <p:spPr bwMode="auto">
          <a:xfrm>
            <a:off x="8412480" y="413815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147" name="Oval 5"/>
          <p:cNvSpPr>
            <a:spLocks noChangeArrowheads="1"/>
          </p:cNvSpPr>
          <p:nvPr/>
        </p:nvSpPr>
        <p:spPr bwMode="auto">
          <a:xfrm>
            <a:off x="6401118" y="413815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48" name="Oval 5"/>
          <p:cNvSpPr>
            <a:spLocks noChangeArrowheads="1"/>
          </p:cNvSpPr>
          <p:nvPr/>
        </p:nvSpPr>
        <p:spPr bwMode="auto">
          <a:xfrm>
            <a:off x="5334318" y="4138159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149" name="Oval 5"/>
          <p:cNvSpPr>
            <a:spLocks noChangeArrowheads="1"/>
          </p:cNvSpPr>
          <p:nvPr/>
        </p:nvSpPr>
        <p:spPr bwMode="auto">
          <a:xfrm>
            <a:off x="4945380" y="5385934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</a:p>
        </p:txBody>
      </p:sp>
      <p:sp>
        <p:nvSpPr>
          <p:cNvPr id="150" name="Oval 5"/>
          <p:cNvSpPr>
            <a:spLocks noChangeArrowheads="1"/>
          </p:cNvSpPr>
          <p:nvPr/>
        </p:nvSpPr>
        <p:spPr bwMode="auto">
          <a:xfrm>
            <a:off x="6326505" y="5385934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</a:p>
        </p:txBody>
      </p:sp>
      <p:sp>
        <p:nvSpPr>
          <p:cNvPr id="151" name="Oval 5"/>
          <p:cNvSpPr>
            <a:spLocks noChangeArrowheads="1"/>
          </p:cNvSpPr>
          <p:nvPr/>
        </p:nvSpPr>
        <p:spPr bwMode="auto">
          <a:xfrm>
            <a:off x="7566343" y="5385934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</a:p>
        </p:txBody>
      </p:sp>
      <p:sp>
        <p:nvSpPr>
          <p:cNvPr id="152" name="TextBox 19"/>
          <p:cNvSpPr txBox="1">
            <a:spLocks noChangeArrowheads="1"/>
          </p:cNvSpPr>
          <p:nvPr/>
        </p:nvSpPr>
        <p:spPr bwMode="auto">
          <a:xfrm>
            <a:off x="5999480" y="2358571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53" name="Straight Connector 33"/>
          <p:cNvCxnSpPr>
            <a:stCxn id="144" idx="5"/>
            <a:endCxn id="146" idx="1"/>
          </p:cNvCxnSpPr>
          <p:nvPr/>
        </p:nvCxnSpPr>
        <p:spPr>
          <a:xfrm rot="16200000" flipH="1">
            <a:off x="7492524" y="3218202"/>
            <a:ext cx="746125" cy="1249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54" name="TextBox 155"/>
          <p:cNvSpPr txBox="1">
            <a:spLocks noChangeArrowheads="1"/>
          </p:cNvSpPr>
          <p:nvPr/>
        </p:nvSpPr>
        <p:spPr bwMode="auto">
          <a:xfrm>
            <a:off x="6994843" y="2634796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155" name="TextBox 156"/>
          <p:cNvSpPr txBox="1">
            <a:spLocks noChangeArrowheads="1"/>
          </p:cNvSpPr>
          <p:nvPr/>
        </p:nvSpPr>
        <p:spPr bwMode="auto">
          <a:xfrm>
            <a:off x="7967980" y="2358571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56" name="TextBox 160"/>
          <p:cNvSpPr txBox="1">
            <a:spLocks noChangeArrowheads="1"/>
          </p:cNvSpPr>
          <p:nvPr/>
        </p:nvSpPr>
        <p:spPr bwMode="auto">
          <a:xfrm>
            <a:off x="7698105" y="3547609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57" name="TextBox 165"/>
          <p:cNvSpPr txBox="1">
            <a:spLocks noChangeArrowheads="1"/>
          </p:cNvSpPr>
          <p:nvPr/>
        </p:nvSpPr>
        <p:spPr bwMode="auto">
          <a:xfrm>
            <a:off x="8676005" y="3685721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58" name="TextBox 187"/>
          <p:cNvSpPr txBox="1">
            <a:spLocks noChangeArrowheads="1"/>
          </p:cNvSpPr>
          <p:nvPr/>
        </p:nvSpPr>
        <p:spPr bwMode="auto">
          <a:xfrm>
            <a:off x="7721918" y="3014209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59" name="Straight Connector 52"/>
          <p:cNvCxnSpPr>
            <a:stCxn id="143" idx="6"/>
            <a:endCxn id="144" idx="2"/>
          </p:cNvCxnSpPr>
          <p:nvPr/>
        </p:nvCxnSpPr>
        <p:spPr>
          <a:xfrm>
            <a:off x="5867718" y="3280909"/>
            <a:ext cx="91757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60" name="TextBox 187"/>
          <p:cNvSpPr txBox="1">
            <a:spLocks noChangeArrowheads="1"/>
          </p:cNvSpPr>
          <p:nvPr/>
        </p:nvSpPr>
        <p:spPr bwMode="auto">
          <a:xfrm>
            <a:off x="6134418" y="3014209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61" name="Straight Connector 109"/>
          <p:cNvCxnSpPr>
            <a:stCxn id="148" idx="3"/>
            <a:endCxn id="149" idx="0"/>
          </p:cNvCxnSpPr>
          <p:nvPr/>
        </p:nvCxnSpPr>
        <p:spPr>
          <a:xfrm rot="5400000">
            <a:off x="4916011" y="4889840"/>
            <a:ext cx="792163" cy="2000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62" name="TextBox 19"/>
          <p:cNvSpPr txBox="1">
            <a:spLocks noChangeArrowheads="1"/>
          </p:cNvSpPr>
          <p:nvPr/>
        </p:nvSpPr>
        <p:spPr bwMode="auto">
          <a:xfrm>
            <a:off x="5334318" y="4865234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63" name="Straight Connector 113"/>
          <p:cNvCxnSpPr>
            <a:stCxn id="148" idx="5"/>
            <a:endCxn id="150" idx="1"/>
          </p:cNvCxnSpPr>
          <p:nvPr/>
        </p:nvCxnSpPr>
        <p:spPr>
          <a:xfrm rot="16200000" flipH="1">
            <a:off x="5662137" y="4721564"/>
            <a:ext cx="869950" cy="614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64" name="Straight Connector 123"/>
          <p:cNvCxnSpPr>
            <a:stCxn id="151" idx="0"/>
            <a:endCxn id="144" idx="4"/>
          </p:cNvCxnSpPr>
          <p:nvPr/>
        </p:nvCxnSpPr>
        <p:spPr>
          <a:xfrm rot="16200000" flipV="1">
            <a:off x="6523355" y="4076247"/>
            <a:ext cx="1838325" cy="78105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165" name="Straight Connector 128"/>
          <p:cNvCxnSpPr>
            <a:stCxn id="147" idx="5"/>
            <a:endCxn id="151" idx="1"/>
          </p:cNvCxnSpPr>
          <p:nvPr/>
        </p:nvCxnSpPr>
        <p:spPr>
          <a:xfrm rot="16200000" flipH="1">
            <a:off x="6815455" y="4635046"/>
            <a:ext cx="869950" cy="78740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66" name="Straight Connector 132"/>
          <p:cNvCxnSpPr>
            <a:stCxn id="144" idx="3"/>
            <a:endCxn id="147" idx="0"/>
          </p:cNvCxnSpPr>
          <p:nvPr/>
        </p:nvCxnSpPr>
        <p:spPr>
          <a:xfrm rot="5400000">
            <a:off x="6431280" y="3706359"/>
            <a:ext cx="668338" cy="195262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67" name="Straight Connector 137"/>
          <p:cNvCxnSpPr>
            <a:stCxn id="147" idx="2"/>
            <a:endCxn id="148" idx="6"/>
          </p:cNvCxnSpPr>
          <p:nvPr/>
        </p:nvCxnSpPr>
        <p:spPr>
          <a:xfrm rot="10800000" flipV="1">
            <a:off x="5867718" y="4404859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68" name="TextBox 187"/>
          <p:cNvSpPr txBox="1">
            <a:spLocks noChangeArrowheads="1"/>
          </p:cNvSpPr>
          <p:nvPr/>
        </p:nvSpPr>
        <p:spPr bwMode="auto">
          <a:xfrm>
            <a:off x="7345680" y="4215946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169" name="TextBox 187"/>
          <p:cNvSpPr txBox="1">
            <a:spLocks noChangeArrowheads="1"/>
          </p:cNvSpPr>
          <p:nvPr/>
        </p:nvSpPr>
        <p:spPr bwMode="auto">
          <a:xfrm>
            <a:off x="6515418" y="3685721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0" name="TextBox 187"/>
          <p:cNvSpPr txBox="1">
            <a:spLocks noChangeArrowheads="1"/>
          </p:cNvSpPr>
          <p:nvPr/>
        </p:nvSpPr>
        <p:spPr bwMode="auto">
          <a:xfrm>
            <a:off x="5999480" y="4138159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1" name="TextBox 187"/>
          <p:cNvSpPr txBox="1">
            <a:spLocks noChangeArrowheads="1"/>
          </p:cNvSpPr>
          <p:nvPr/>
        </p:nvSpPr>
        <p:spPr bwMode="auto">
          <a:xfrm>
            <a:off x="6056630" y="486523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2" name="TextBox 187"/>
          <p:cNvSpPr txBox="1">
            <a:spLocks noChangeArrowheads="1"/>
          </p:cNvSpPr>
          <p:nvPr/>
        </p:nvSpPr>
        <p:spPr bwMode="auto">
          <a:xfrm>
            <a:off x="8142605" y="486523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3" name="TextBox 187"/>
          <p:cNvSpPr txBox="1">
            <a:spLocks noChangeArrowheads="1"/>
          </p:cNvSpPr>
          <p:nvPr/>
        </p:nvSpPr>
        <p:spPr bwMode="auto">
          <a:xfrm>
            <a:off x="7129780" y="4727121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74" name="Straight Connector 54"/>
          <p:cNvCxnSpPr>
            <a:stCxn id="149" idx="6"/>
            <a:endCxn id="150" idx="2"/>
          </p:cNvCxnSpPr>
          <p:nvPr/>
        </p:nvCxnSpPr>
        <p:spPr>
          <a:xfrm>
            <a:off x="5478780" y="5652634"/>
            <a:ext cx="84772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75" name="TextBox 187"/>
          <p:cNvSpPr txBox="1">
            <a:spLocks noChangeArrowheads="1"/>
          </p:cNvSpPr>
          <p:nvPr/>
        </p:nvSpPr>
        <p:spPr bwMode="auto">
          <a:xfrm>
            <a:off x="5732780" y="5374821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6" name="Rectangle 16"/>
          <p:cNvSpPr/>
          <p:nvPr/>
        </p:nvSpPr>
        <p:spPr>
          <a:xfrm>
            <a:off x="6593205" y="1926771"/>
            <a:ext cx="928688" cy="47625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LBR-1</a:t>
            </a:r>
          </a:p>
        </p:txBody>
      </p:sp>
      <p:sp>
        <p:nvSpPr>
          <p:cNvPr id="47" name="灯片编号占位符 4">
            <a:extLst>
              <a:ext uri="{FF2B5EF4-FFF2-40B4-BE49-F238E27FC236}">
                <a16:creationId xmlns:a16="http://schemas.microsoft.com/office/drawing/2014/main" id="{E06442CB-DF28-4560-B557-76D0B5CED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DAG </a:t>
            </a:r>
            <a:r>
              <a:rPr lang="zh-CN" altLang="en-US"/>
              <a:t>建立</a:t>
            </a:r>
            <a:endParaRPr lang="en-US" altLang="zh-CN"/>
          </a:p>
          <a:p>
            <a:pPr lvl="1"/>
            <a:r>
              <a:rPr lang="zh-CN" altLang="en-US"/>
              <a:t>路由度量：</a:t>
            </a:r>
            <a:r>
              <a:rPr lang="en-US" altLang="zh-CN"/>
              <a:t>ETX, </a:t>
            </a:r>
            <a:r>
              <a:rPr lang="zh-CN" altLang="en-US"/>
              <a:t>标在每条边上</a:t>
            </a:r>
            <a:endParaRPr lang="en-US" altLang="zh-CN"/>
          </a:p>
          <a:p>
            <a:pPr lvl="1"/>
            <a:r>
              <a:rPr lang="zh-CN" altLang="en-US"/>
              <a:t>目标函数：最小化节点到根的</a:t>
            </a:r>
            <a:r>
              <a:rPr lang="en-US" altLang="zh-CN"/>
              <a:t>ETX</a:t>
            </a:r>
          </a:p>
          <a:p>
            <a:r>
              <a:rPr lang="zh-CN" altLang="en-US"/>
              <a:t>建立过程</a:t>
            </a:r>
            <a:endParaRPr lang="en-US" altLang="zh-CN"/>
          </a:p>
          <a:p>
            <a:pPr lvl="1"/>
            <a:r>
              <a:rPr lang="en-US" altLang="zh-CN"/>
              <a:t>LBR-1</a:t>
            </a:r>
            <a:r>
              <a:rPr lang="zh-CN" altLang="en-US"/>
              <a:t>广播</a:t>
            </a:r>
            <a:r>
              <a:rPr lang="en-US" altLang="zh-CN"/>
              <a:t>DIO</a:t>
            </a:r>
            <a:r>
              <a:rPr lang="zh-CN" altLang="en-US"/>
              <a:t>信息</a:t>
            </a:r>
            <a:endParaRPr lang="en-US" altLang="zh-CN"/>
          </a:p>
          <a:p>
            <a:pPr lvl="1"/>
            <a:r>
              <a:rPr lang="en-US" altLang="zh-CN"/>
              <a:t>ABC</a:t>
            </a:r>
            <a:r>
              <a:rPr lang="zh-CN" altLang="en-US"/>
              <a:t>收到，设置</a:t>
            </a:r>
            <a:r>
              <a:rPr lang="en-US" altLang="zh-CN"/>
              <a:t>LBR-1</a:t>
            </a:r>
            <a:r>
              <a:rPr lang="zh-CN" altLang="en-US"/>
              <a:t>为</a:t>
            </a:r>
            <a:br>
              <a:rPr lang="en-US" altLang="zh-CN"/>
            </a:br>
            <a:r>
              <a:rPr lang="zh-CN" altLang="en-US"/>
              <a:t>父节点，加入</a:t>
            </a:r>
            <a:r>
              <a:rPr lang="en-US" altLang="zh-CN"/>
              <a:t>DAG</a:t>
            </a:r>
          </a:p>
          <a:p>
            <a:pPr lvl="1"/>
            <a:endParaRPr lang="en-US" altLang="zh-CN"/>
          </a:p>
          <a:p>
            <a:pPr lvl="1"/>
            <a:endParaRPr lang="zh-CN" altLang="en-US" dirty="0"/>
          </a:p>
        </p:txBody>
      </p:sp>
      <p:cxnSp>
        <p:nvCxnSpPr>
          <p:cNvPr id="84" name="Straight Connector 18"/>
          <p:cNvCxnSpPr>
            <a:stCxn id="105" idx="1"/>
            <a:endCxn id="90" idx="7"/>
          </p:cNvCxnSpPr>
          <p:nvPr/>
        </p:nvCxnSpPr>
        <p:spPr>
          <a:xfrm rot="10800000" flipV="1">
            <a:off x="5868307" y="1899443"/>
            <a:ext cx="803275" cy="92710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85" name="Straight Connector 21"/>
          <p:cNvCxnSpPr>
            <a:stCxn id="105" idx="2"/>
            <a:endCxn id="91" idx="0"/>
          </p:cNvCxnSpPr>
          <p:nvPr/>
        </p:nvCxnSpPr>
        <p:spPr>
          <a:xfrm rot="5400000">
            <a:off x="6827951" y="2439987"/>
            <a:ext cx="611188" cy="635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86" name="Straight Connector 24"/>
          <p:cNvCxnSpPr>
            <a:stCxn id="105" idx="3"/>
            <a:endCxn id="92" idx="1"/>
          </p:cNvCxnSpPr>
          <p:nvPr/>
        </p:nvCxnSpPr>
        <p:spPr>
          <a:xfrm>
            <a:off x="7600270" y="1899443"/>
            <a:ext cx="968375" cy="92710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87" name="Straight Connector 27"/>
          <p:cNvCxnSpPr>
            <a:stCxn id="91" idx="6"/>
            <a:endCxn id="92" idx="2"/>
          </p:cNvCxnSpPr>
          <p:nvPr/>
        </p:nvCxnSpPr>
        <p:spPr>
          <a:xfrm>
            <a:off x="7397070" y="3015456"/>
            <a:ext cx="1093787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88" name="Straight Connector 39"/>
          <p:cNvCxnSpPr>
            <a:stCxn id="93" idx="4"/>
            <a:endCxn id="98" idx="7"/>
          </p:cNvCxnSpPr>
          <p:nvPr/>
        </p:nvCxnSpPr>
        <p:spPr>
          <a:xfrm rot="5400000">
            <a:off x="8032864" y="4473574"/>
            <a:ext cx="792162" cy="6572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89" name="Straight Connector 133"/>
          <p:cNvCxnSpPr>
            <a:stCxn id="92" idx="4"/>
            <a:endCxn id="93" idx="0"/>
          </p:cNvCxnSpPr>
          <p:nvPr/>
        </p:nvCxnSpPr>
        <p:spPr>
          <a:xfrm rot="5400000">
            <a:off x="8462282" y="3577431"/>
            <a:ext cx="590550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90" name="Oval 5"/>
          <p:cNvSpPr>
            <a:spLocks noChangeArrowheads="1"/>
          </p:cNvSpPr>
          <p:nvPr/>
        </p:nvSpPr>
        <p:spPr bwMode="auto">
          <a:xfrm>
            <a:off x="5412695" y="2748756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91" name="Oval 5"/>
          <p:cNvSpPr>
            <a:spLocks noChangeArrowheads="1"/>
          </p:cNvSpPr>
          <p:nvPr/>
        </p:nvSpPr>
        <p:spPr bwMode="auto">
          <a:xfrm>
            <a:off x="6863670" y="2748756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92" name="Oval 5"/>
          <p:cNvSpPr>
            <a:spLocks noChangeArrowheads="1"/>
          </p:cNvSpPr>
          <p:nvPr/>
        </p:nvSpPr>
        <p:spPr bwMode="auto">
          <a:xfrm>
            <a:off x="8490857" y="2748756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93" name="Oval 5"/>
          <p:cNvSpPr>
            <a:spLocks noChangeArrowheads="1"/>
          </p:cNvSpPr>
          <p:nvPr/>
        </p:nvSpPr>
        <p:spPr bwMode="auto">
          <a:xfrm>
            <a:off x="8490857" y="387270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94" name="Oval 5"/>
          <p:cNvSpPr>
            <a:spLocks noChangeArrowheads="1"/>
          </p:cNvSpPr>
          <p:nvPr/>
        </p:nvSpPr>
        <p:spPr bwMode="auto">
          <a:xfrm>
            <a:off x="6479495" y="387270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95" name="Oval 5"/>
          <p:cNvSpPr>
            <a:spLocks noChangeArrowheads="1"/>
          </p:cNvSpPr>
          <p:nvPr/>
        </p:nvSpPr>
        <p:spPr bwMode="auto">
          <a:xfrm>
            <a:off x="5412695" y="387270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96" name="Oval 5"/>
          <p:cNvSpPr>
            <a:spLocks noChangeArrowheads="1"/>
          </p:cNvSpPr>
          <p:nvPr/>
        </p:nvSpPr>
        <p:spPr bwMode="auto">
          <a:xfrm>
            <a:off x="5023757" y="51204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</a:p>
        </p:txBody>
      </p:sp>
      <p:sp>
        <p:nvSpPr>
          <p:cNvPr id="97" name="Oval 5"/>
          <p:cNvSpPr>
            <a:spLocks noChangeArrowheads="1"/>
          </p:cNvSpPr>
          <p:nvPr/>
        </p:nvSpPr>
        <p:spPr bwMode="auto">
          <a:xfrm>
            <a:off x="6404882" y="51204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</a:p>
        </p:txBody>
      </p:sp>
      <p:sp>
        <p:nvSpPr>
          <p:cNvPr id="98" name="Oval 5"/>
          <p:cNvSpPr>
            <a:spLocks noChangeArrowheads="1"/>
          </p:cNvSpPr>
          <p:nvPr/>
        </p:nvSpPr>
        <p:spPr bwMode="auto">
          <a:xfrm>
            <a:off x="7644720" y="51204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</a:p>
        </p:txBody>
      </p:sp>
      <p:sp>
        <p:nvSpPr>
          <p:cNvPr id="99" name="TextBox 19"/>
          <p:cNvSpPr txBox="1">
            <a:spLocks noChangeArrowheads="1"/>
          </p:cNvSpPr>
          <p:nvPr/>
        </p:nvSpPr>
        <p:spPr bwMode="auto">
          <a:xfrm>
            <a:off x="6077857" y="209311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00" name="Straight Connector 33"/>
          <p:cNvCxnSpPr>
            <a:stCxn id="91" idx="5"/>
            <a:endCxn id="93" idx="1"/>
          </p:cNvCxnSpPr>
          <p:nvPr/>
        </p:nvCxnSpPr>
        <p:spPr>
          <a:xfrm rot="16200000" flipH="1">
            <a:off x="7570901" y="2952749"/>
            <a:ext cx="746125" cy="1249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01" name="TextBox 155"/>
          <p:cNvSpPr txBox="1">
            <a:spLocks noChangeArrowheads="1"/>
          </p:cNvSpPr>
          <p:nvPr/>
        </p:nvSpPr>
        <p:spPr bwMode="auto">
          <a:xfrm>
            <a:off x="7073220" y="2369343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102" name="TextBox 156"/>
          <p:cNvSpPr txBox="1">
            <a:spLocks noChangeArrowheads="1"/>
          </p:cNvSpPr>
          <p:nvPr/>
        </p:nvSpPr>
        <p:spPr bwMode="auto">
          <a:xfrm>
            <a:off x="8046357" y="209311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03" name="TextBox 160"/>
          <p:cNvSpPr txBox="1">
            <a:spLocks noChangeArrowheads="1"/>
          </p:cNvSpPr>
          <p:nvPr/>
        </p:nvSpPr>
        <p:spPr bwMode="auto">
          <a:xfrm>
            <a:off x="7776482" y="32821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04" name="TextBox 165"/>
          <p:cNvSpPr txBox="1">
            <a:spLocks noChangeArrowheads="1"/>
          </p:cNvSpPr>
          <p:nvPr/>
        </p:nvSpPr>
        <p:spPr bwMode="auto">
          <a:xfrm>
            <a:off x="8754382" y="34202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05" name="Rectangle 16"/>
          <p:cNvSpPr/>
          <p:nvPr/>
        </p:nvSpPr>
        <p:spPr>
          <a:xfrm>
            <a:off x="6671582" y="1661318"/>
            <a:ext cx="928688" cy="47625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LBR-1</a:t>
            </a:r>
          </a:p>
        </p:txBody>
      </p:sp>
      <p:sp>
        <p:nvSpPr>
          <p:cNvPr id="106" name="TextBox 187"/>
          <p:cNvSpPr txBox="1">
            <a:spLocks noChangeArrowheads="1"/>
          </p:cNvSpPr>
          <p:nvPr/>
        </p:nvSpPr>
        <p:spPr bwMode="auto">
          <a:xfrm>
            <a:off x="7800295" y="27487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07" name="Straight Connector 52"/>
          <p:cNvCxnSpPr>
            <a:stCxn id="90" idx="6"/>
            <a:endCxn id="91" idx="2"/>
          </p:cNvCxnSpPr>
          <p:nvPr/>
        </p:nvCxnSpPr>
        <p:spPr>
          <a:xfrm>
            <a:off x="5946095" y="3015456"/>
            <a:ext cx="91757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08" name="TextBox 187"/>
          <p:cNvSpPr txBox="1">
            <a:spLocks noChangeArrowheads="1"/>
          </p:cNvSpPr>
          <p:nvPr/>
        </p:nvSpPr>
        <p:spPr bwMode="auto">
          <a:xfrm>
            <a:off x="6212795" y="27487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09" name="Straight Connector 109"/>
          <p:cNvCxnSpPr>
            <a:stCxn id="95" idx="3"/>
            <a:endCxn id="96" idx="0"/>
          </p:cNvCxnSpPr>
          <p:nvPr/>
        </p:nvCxnSpPr>
        <p:spPr>
          <a:xfrm rot="5400000">
            <a:off x="4994388" y="4624387"/>
            <a:ext cx="792163" cy="2000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10" name="TextBox 19"/>
          <p:cNvSpPr txBox="1">
            <a:spLocks noChangeArrowheads="1"/>
          </p:cNvSpPr>
          <p:nvPr/>
        </p:nvSpPr>
        <p:spPr bwMode="auto">
          <a:xfrm>
            <a:off x="5412695" y="4599781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11" name="Straight Connector 113"/>
          <p:cNvCxnSpPr>
            <a:stCxn id="95" idx="5"/>
            <a:endCxn id="97" idx="1"/>
          </p:cNvCxnSpPr>
          <p:nvPr/>
        </p:nvCxnSpPr>
        <p:spPr>
          <a:xfrm rot="16200000" flipH="1">
            <a:off x="5740514" y="4456111"/>
            <a:ext cx="869950" cy="614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12" name="Straight Connector 123"/>
          <p:cNvCxnSpPr>
            <a:stCxn id="98" idx="0"/>
            <a:endCxn id="91" idx="4"/>
          </p:cNvCxnSpPr>
          <p:nvPr/>
        </p:nvCxnSpPr>
        <p:spPr>
          <a:xfrm rot="16200000" flipV="1">
            <a:off x="6601732" y="3810794"/>
            <a:ext cx="1838325" cy="78105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113" name="Straight Connector 128"/>
          <p:cNvCxnSpPr>
            <a:stCxn id="94" idx="5"/>
            <a:endCxn id="98" idx="1"/>
          </p:cNvCxnSpPr>
          <p:nvPr/>
        </p:nvCxnSpPr>
        <p:spPr>
          <a:xfrm rot="16200000" flipH="1">
            <a:off x="6893832" y="4369593"/>
            <a:ext cx="869950" cy="78740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14" name="Straight Connector 132"/>
          <p:cNvCxnSpPr>
            <a:stCxn id="91" idx="3"/>
            <a:endCxn id="94" idx="0"/>
          </p:cNvCxnSpPr>
          <p:nvPr/>
        </p:nvCxnSpPr>
        <p:spPr>
          <a:xfrm rot="5400000">
            <a:off x="6509657" y="3440906"/>
            <a:ext cx="668338" cy="195262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15" name="Straight Connector 137"/>
          <p:cNvCxnSpPr>
            <a:stCxn id="94" idx="2"/>
            <a:endCxn id="95" idx="6"/>
          </p:cNvCxnSpPr>
          <p:nvPr/>
        </p:nvCxnSpPr>
        <p:spPr>
          <a:xfrm rot="10800000" flipV="1">
            <a:off x="5946095" y="4139406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16" name="TextBox 187"/>
          <p:cNvSpPr txBox="1">
            <a:spLocks noChangeArrowheads="1"/>
          </p:cNvSpPr>
          <p:nvPr/>
        </p:nvSpPr>
        <p:spPr bwMode="auto">
          <a:xfrm>
            <a:off x="7424057" y="3950493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117" name="TextBox 187"/>
          <p:cNvSpPr txBox="1">
            <a:spLocks noChangeArrowheads="1"/>
          </p:cNvSpPr>
          <p:nvPr/>
        </p:nvSpPr>
        <p:spPr bwMode="auto">
          <a:xfrm>
            <a:off x="6593795" y="34202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18" name="TextBox 187"/>
          <p:cNvSpPr txBox="1">
            <a:spLocks noChangeArrowheads="1"/>
          </p:cNvSpPr>
          <p:nvPr/>
        </p:nvSpPr>
        <p:spPr bwMode="auto">
          <a:xfrm>
            <a:off x="6077857" y="387270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19" name="TextBox 187"/>
          <p:cNvSpPr txBox="1">
            <a:spLocks noChangeArrowheads="1"/>
          </p:cNvSpPr>
          <p:nvPr/>
        </p:nvSpPr>
        <p:spPr bwMode="auto">
          <a:xfrm>
            <a:off x="6135007" y="459978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0" name="TextBox 187"/>
          <p:cNvSpPr txBox="1">
            <a:spLocks noChangeArrowheads="1"/>
          </p:cNvSpPr>
          <p:nvPr/>
        </p:nvSpPr>
        <p:spPr bwMode="auto">
          <a:xfrm>
            <a:off x="8220982" y="459978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1" name="TextBox 187"/>
          <p:cNvSpPr txBox="1">
            <a:spLocks noChangeArrowheads="1"/>
          </p:cNvSpPr>
          <p:nvPr/>
        </p:nvSpPr>
        <p:spPr bwMode="auto">
          <a:xfrm>
            <a:off x="7208157" y="44616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22" name="Straight Connector 54"/>
          <p:cNvCxnSpPr>
            <a:stCxn id="96" idx="6"/>
            <a:endCxn id="97" idx="2"/>
          </p:cNvCxnSpPr>
          <p:nvPr/>
        </p:nvCxnSpPr>
        <p:spPr>
          <a:xfrm>
            <a:off x="5557157" y="5387181"/>
            <a:ext cx="84772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23" name="TextBox 187"/>
          <p:cNvSpPr txBox="1">
            <a:spLocks noChangeArrowheads="1"/>
          </p:cNvSpPr>
          <p:nvPr/>
        </p:nvSpPr>
        <p:spPr bwMode="auto">
          <a:xfrm>
            <a:off x="5811157" y="51093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4" name="灯片编号占位符 4">
            <a:extLst>
              <a:ext uri="{FF2B5EF4-FFF2-40B4-BE49-F238E27FC236}">
                <a16:creationId xmlns:a16="http://schemas.microsoft.com/office/drawing/2014/main" id="{A6431168-2588-4921-869C-0DE05B6E5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DAG </a:t>
            </a:r>
            <a:r>
              <a:rPr lang="zh-CN" altLang="en-US" dirty="0"/>
              <a:t>建立</a:t>
            </a:r>
            <a:endParaRPr lang="en-US" altLang="zh-CN" dirty="0"/>
          </a:p>
          <a:p>
            <a:pPr lvl="1"/>
            <a:r>
              <a:rPr lang="zh-CN" altLang="en-US" dirty="0"/>
              <a:t>路由度量：</a:t>
            </a:r>
            <a:r>
              <a:rPr lang="en-US" altLang="zh-CN" dirty="0"/>
              <a:t>ETX, </a:t>
            </a:r>
            <a:r>
              <a:rPr lang="zh-CN" altLang="en-US" dirty="0"/>
              <a:t>标在每条边上</a:t>
            </a:r>
            <a:endParaRPr lang="en-US" altLang="zh-CN" dirty="0"/>
          </a:p>
          <a:p>
            <a:pPr lvl="1"/>
            <a:r>
              <a:rPr lang="zh-CN" altLang="en-US" dirty="0"/>
              <a:t>目标函数：最小化节点到根的</a:t>
            </a:r>
            <a:r>
              <a:rPr lang="en-US" altLang="zh-CN" dirty="0"/>
              <a:t>ETX</a:t>
            </a:r>
          </a:p>
          <a:p>
            <a:r>
              <a:rPr lang="zh-CN" altLang="en-US" dirty="0"/>
              <a:t>建立过程</a:t>
            </a:r>
            <a:endParaRPr lang="en-US" altLang="zh-CN" dirty="0"/>
          </a:p>
          <a:p>
            <a:pPr lvl="1"/>
            <a:r>
              <a:rPr lang="en-US" altLang="zh-CN" dirty="0"/>
              <a:t>LBR-1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</a:t>
            </a:r>
            <a:endParaRPr lang="en-US" altLang="zh-CN" dirty="0"/>
          </a:p>
          <a:p>
            <a:pPr lvl="1"/>
            <a:r>
              <a:rPr lang="en-US" altLang="zh-CN" dirty="0"/>
              <a:t>ABC</a:t>
            </a:r>
            <a:r>
              <a:rPr lang="zh-CN" altLang="en-US" dirty="0"/>
              <a:t>收到，设置</a:t>
            </a:r>
            <a:r>
              <a:rPr lang="en-US" altLang="zh-CN" dirty="0"/>
              <a:t>LBR-1</a:t>
            </a:r>
            <a:r>
              <a:rPr lang="zh-CN" altLang="en-US" dirty="0"/>
              <a:t>为</a:t>
            </a:r>
            <a:br>
              <a:rPr lang="en-US" altLang="zh-CN" dirty="0"/>
            </a:br>
            <a:r>
              <a:rPr lang="zh-CN" altLang="en-US" dirty="0"/>
              <a:t>父节点，加入</a:t>
            </a:r>
            <a:r>
              <a:rPr lang="en-US" altLang="zh-CN" dirty="0"/>
              <a:t>DAG</a:t>
            </a:r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信息，</a:t>
            </a:r>
            <a:r>
              <a:rPr lang="en-US" altLang="zh-CN" dirty="0"/>
              <a:t>B</a:t>
            </a:r>
            <a:r>
              <a:rPr lang="zh-CN" altLang="en-US" dirty="0"/>
              <a:t>添加</a:t>
            </a:r>
            <a:r>
              <a:rPr lang="en-US" altLang="zh-CN" dirty="0"/>
              <a:t>C</a:t>
            </a:r>
            <a:r>
              <a:rPr lang="zh-CN" altLang="en-US" dirty="0"/>
              <a:t>为</a:t>
            </a:r>
            <a:br>
              <a:rPr lang="en-US" altLang="zh-CN" dirty="0"/>
            </a:br>
            <a:r>
              <a:rPr lang="zh-CN" altLang="en-US" dirty="0"/>
              <a:t>可选父节点</a:t>
            </a:r>
            <a:r>
              <a:rPr lang="en-US" altLang="zh-CN" dirty="0"/>
              <a:t>; E</a:t>
            </a:r>
            <a:r>
              <a:rPr lang="zh-CN" altLang="en-US" dirty="0"/>
              <a:t>加入</a:t>
            </a:r>
            <a:r>
              <a:rPr lang="en-US" altLang="zh-CN" dirty="0"/>
              <a:t>DAG, </a:t>
            </a:r>
            <a:r>
              <a:rPr lang="zh-CN" altLang="en-US" dirty="0"/>
              <a:t>距离</a:t>
            </a:r>
            <a:r>
              <a:rPr lang="en-US" altLang="zh-CN" dirty="0"/>
              <a:t>3</a:t>
            </a:r>
            <a:br>
              <a:rPr lang="en-US" altLang="zh-CN" dirty="0"/>
            </a:b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89" name="Rectangle 45"/>
          <p:cNvSpPr/>
          <p:nvPr/>
        </p:nvSpPr>
        <p:spPr>
          <a:xfrm>
            <a:off x="8474892" y="2680493"/>
            <a:ext cx="193675" cy="193675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" name="Rectangle 47"/>
          <p:cNvSpPr/>
          <p:nvPr/>
        </p:nvSpPr>
        <p:spPr>
          <a:xfrm>
            <a:off x="8474892" y="2680493"/>
            <a:ext cx="193675" cy="193675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" name="Rectangle 49"/>
          <p:cNvSpPr/>
          <p:nvPr/>
        </p:nvSpPr>
        <p:spPr>
          <a:xfrm>
            <a:off x="8474892" y="2691606"/>
            <a:ext cx="193675" cy="193675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" name="Oval 5"/>
          <p:cNvSpPr>
            <a:spLocks noChangeArrowheads="1"/>
          </p:cNvSpPr>
          <p:nvPr/>
        </p:nvSpPr>
        <p:spPr bwMode="auto">
          <a:xfrm>
            <a:off x="8308204" y="2510631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cxnSp>
        <p:nvCxnSpPr>
          <p:cNvPr id="93" name="Straight Connector 18"/>
          <p:cNvCxnSpPr>
            <a:stCxn id="113" idx="1"/>
            <a:endCxn id="99" idx="7"/>
          </p:cNvCxnSpPr>
          <p:nvPr/>
        </p:nvCxnSpPr>
        <p:spPr>
          <a:xfrm rot="10800000" flipV="1">
            <a:off x="5685654" y="1661318"/>
            <a:ext cx="803275" cy="92710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94" name="Straight Connector 21"/>
          <p:cNvCxnSpPr>
            <a:stCxn id="113" idx="2"/>
            <a:endCxn id="100" idx="0"/>
          </p:cNvCxnSpPr>
          <p:nvPr/>
        </p:nvCxnSpPr>
        <p:spPr>
          <a:xfrm rot="5400000">
            <a:off x="6645298" y="2201862"/>
            <a:ext cx="611188" cy="635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95" name="Straight Connector 24"/>
          <p:cNvCxnSpPr>
            <a:stCxn id="113" idx="3"/>
            <a:endCxn id="92" idx="1"/>
          </p:cNvCxnSpPr>
          <p:nvPr/>
        </p:nvCxnSpPr>
        <p:spPr>
          <a:xfrm>
            <a:off x="7417617" y="1661318"/>
            <a:ext cx="968375" cy="92710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96" name="Straight Connector 27"/>
          <p:cNvCxnSpPr>
            <a:stCxn id="100" idx="6"/>
            <a:endCxn id="92" idx="2"/>
          </p:cNvCxnSpPr>
          <p:nvPr/>
        </p:nvCxnSpPr>
        <p:spPr>
          <a:xfrm>
            <a:off x="7214417" y="2777331"/>
            <a:ext cx="1093787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97" name="Straight Connector 39"/>
          <p:cNvCxnSpPr>
            <a:stCxn id="101" idx="4"/>
            <a:endCxn id="106" idx="7"/>
          </p:cNvCxnSpPr>
          <p:nvPr/>
        </p:nvCxnSpPr>
        <p:spPr>
          <a:xfrm rot="5400000">
            <a:off x="7850211" y="4235449"/>
            <a:ext cx="792162" cy="6572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98" name="Straight Connector 133"/>
          <p:cNvCxnSpPr>
            <a:stCxn id="92" idx="4"/>
            <a:endCxn id="101" idx="0"/>
          </p:cNvCxnSpPr>
          <p:nvPr/>
        </p:nvCxnSpPr>
        <p:spPr>
          <a:xfrm rot="5400000">
            <a:off x="8279629" y="3339306"/>
            <a:ext cx="590550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99" name="Oval 5"/>
          <p:cNvSpPr>
            <a:spLocks noChangeArrowheads="1"/>
          </p:cNvSpPr>
          <p:nvPr/>
        </p:nvSpPr>
        <p:spPr bwMode="auto">
          <a:xfrm>
            <a:off x="5230042" y="2510631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100" name="Oval 5"/>
          <p:cNvSpPr>
            <a:spLocks noChangeArrowheads="1"/>
          </p:cNvSpPr>
          <p:nvPr/>
        </p:nvSpPr>
        <p:spPr bwMode="auto">
          <a:xfrm>
            <a:off x="6681017" y="2510631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101" name="Oval 5"/>
          <p:cNvSpPr>
            <a:spLocks noChangeArrowheads="1"/>
          </p:cNvSpPr>
          <p:nvPr/>
        </p:nvSpPr>
        <p:spPr bwMode="auto">
          <a:xfrm>
            <a:off x="8308204" y="36345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102" name="Oval 5"/>
          <p:cNvSpPr>
            <a:spLocks noChangeArrowheads="1"/>
          </p:cNvSpPr>
          <p:nvPr/>
        </p:nvSpPr>
        <p:spPr bwMode="auto">
          <a:xfrm>
            <a:off x="6296842" y="36345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03" name="Oval 5"/>
          <p:cNvSpPr>
            <a:spLocks noChangeArrowheads="1"/>
          </p:cNvSpPr>
          <p:nvPr/>
        </p:nvSpPr>
        <p:spPr bwMode="auto">
          <a:xfrm>
            <a:off x="5230042" y="36345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104" name="Oval 5"/>
          <p:cNvSpPr>
            <a:spLocks noChangeArrowheads="1"/>
          </p:cNvSpPr>
          <p:nvPr/>
        </p:nvSpPr>
        <p:spPr bwMode="auto">
          <a:xfrm>
            <a:off x="4841104" y="488235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</a:p>
        </p:txBody>
      </p:sp>
      <p:sp>
        <p:nvSpPr>
          <p:cNvPr id="105" name="Oval 5"/>
          <p:cNvSpPr>
            <a:spLocks noChangeArrowheads="1"/>
          </p:cNvSpPr>
          <p:nvPr/>
        </p:nvSpPr>
        <p:spPr bwMode="auto">
          <a:xfrm>
            <a:off x="6222229" y="488235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</a:p>
        </p:txBody>
      </p:sp>
      <p:sp>
        <p:nvSpPr>
          <p:cNvPr id="106" name="Oval 5"/>
          <p:cNvSpPr>
            <a:spLocks noChangeArrowheads="1"/>
          </p:cNvSpPr>
          <p:nvPr/>
        </p:nvSpPr>
        <p:spPr bwMode="auto">
          <a:xfrm>
            <a:off x="7462067" y="488235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</a:p>
        </p:txBody>
      </p:sp>
      <p:sp>
        <p:nvSpPr>
          <p:cNvPr id="107" name="TextBox 19"/>
          <p:cNvSpPr txBox="1">
            <a:spLocks noChangeArrowheads="1"/>
          </p:cNvSpPr>
          <p:nvPr/>
        </p:nvSpPr>
        <p:spPr bwMode="auto">
          <a:xfrm>
            <a:off x="5895204" y="1854993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08" name="Straight Connector 33"/>
          <p:cNvCxnSpPr>
            <a:stCxn id="100" idx="5"/>
            <a:endCxn id="101" idx="1"/>
          </p:cNvCxnSpPr>
          <p:nvPr/>
        </p:nvCxnSpPr>
        <p:spPr>
          <a:xfrm rot="16200000" flipH="1">
            <a:off x="7388248" y="2714624"/>
            <a:ext cx="746125" cy="1249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09" name="TextBox 155"/>
          <p:cNvSpPr txBox="1">
            <a:spLocks noChangeArrowheads="1"/>
          </p:cNvSpPr>
          <p:nvPr/>
        </p:nvSpPr>
        <p:spPr bwMode="auto">
          <a:xfrm>
            <a:off x="6890567" y="213121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110" name="TextBox 156"/>
          <p:cNvSpPr txBox="1">
            <a:spLocks noChangeArrowheads="1"/>
          </p:cNvSpPr>
          <p:nvPr/>
        </p:nvSpPr>
        <p:spPr bwMode="auto">
          <a:xfrm>
            <a:off x="7863704" y="1854993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11" name="TextBox 160"/>
          <p:cNvSpPr txBox="1">
            <a:spLocks noChangeArrowheads="1"/>
          </p:cNvSpPr>
          <p:nvPr/>
        </p:nvSpPr>
        <p:spPr bwMode="auto">
          <a:xfrm>
            <a:off x="7593829" y="304403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12" name="TextBox 165"/>
          <p:cNvSpPr txBox="1">
            <a:spLocks noChangeArrowheads="1"/>
          </p:cNvSpPr>
          <p:nvPr/>
        </p:nvSpPr>
        <p:spPr bwMode="auto">
          <a:xfrm>
            <a:off x="8571729" y="3182143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13" name="Rectangle 16"/>
          <p:cNvSpPr/>
          <p:nvPr/>
        </p:nvSpPr>
        <p:spPr>
          <a:xfrm>
            <a:off x="6488929" y="1423193"/>
            <a:ext cx="928688" cy="47625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LBR-1</a:t>
            </a:r>
          </a:p>
        </p:txBody>
      </p:sp>
      <p:sp>
        <p:nvSpPr>
          <p:cNvPr id="114" name="TextBox 187"/>
          <p:cNvSpPr txBox="1">
            <a:spLocks noChangeArrowheads="1"/>
          </p:cNvSpPr>
          <p:nvPr/>
        </p:nvSpPr>
        <p:spPr bwMode="auto">
          <a:xfrm>
            <a:off x="7617642" y="251063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15" name="Straight Connector 52"/>
          <p:cNvCxnSpPr>
            <a:stCxn id="99" idx="6"/>
            <a:endCxn id="100" idx="2"/>
          </p:cNvCxnSpPr>
          <p:nvPr/>
        </p:nvCxnSpPr>
        <p:spPr>
          <a:xfrm>
            <a:off x="5763442" y="2777331"/>
            <a:ext cx="91757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16" name="TextBox 187"/>
          <p:cNvSpPr txBox="1">
            <a:spLocks noChangeArrowheads="1"/>
          </p:cNvSpPr>
          <p:nvPr/>
        </p:nvSpPr>
        <p:spPr bwMode="auto">
          <a:xfrm>
            <a:off x="6030142" y="251063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17" name="Straight Connector 109"/>
          <p:cNvCxnSpPr>
            <a:stCxn id="103" idx="3"/>
            <a:endCxn id="104" idx="0"/>
          </p:cNvCxnSpPr>
          <p:nvPr/>
        </p:nvCxnSpPr>
        <p:spPr>
          <a:xfrm rot="5400000">
            <a:off x="4811735" y="4386262"/>
            <a:ext cx="792163" cy="2000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18" name="TextBox 19"/>
          <p:cNvSpPr txBox="1">
            <a:spLocks noChangeArrowheads="1"/>
          </p:cNvSpPr>
          <p:nvPr/>
        </p:nvSpPr>
        <p:spPr bwMode="auto">
          <a:xfrm>
            <a:off x="5230042" y="4361656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19" name="Straight Connector 113"/>
          <p:cNvCxnSpPr>
            <a:stCxn id="103" idx="5"/>
            <a:endCxn id="105" idx="1"/>
          </p:cNvCxnSpPr>
          <p:nvPr/>
        </p:nvCxnSpPr>
        <p:spPr>
          <a:xfrm rot="16200000" flipH="1">
            <a:off x="5557861" y="4217986"/>
            <a:ext cx="869950" cy="614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20" name="Straight Connector 123"/>
          <p:cNvCxnSpPr>
            <a:stCxn id="106" idx="0"/>
            <a:endCxn id="100" idx="4"/>
          </p:cNvCxnSpPr>
          <p:nvPr/>
        </p:nvCxnSpPr>
        <p:spPr>
          <a:xfrm rot="16200000" flipV="1">
            <a:off x="6419079" y="3572669"/>
            <a:ext cx="1838325" cy="78105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121" name="Straight Connector 128"/>
          <p:cNvCxnSpPr>
            <a:stCxn id="102" idx="5"/>
            <a:endCxn id="106" idx="1"/>
          </p:cNvCxnSpPr>
          <p:nvPr/>
        </p:nvCxnSpPr>
        <p:spPr>
          <a:xfrm rot="16200000" flipH="1">
            <a:off x="6711179" y="4131468"/>
            <a:ext cx="869950" cy="78740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22" name="Straight Connector 132"/>
          <p:cNvCxnSpPr>
            <a:stCxn id="100" idx="3"/>
            <a:endCxn id="102" idx="0"/>
          </p:cNvCxnSpPr>
          <p:nvPr/>
        </p:nvCxnSpPr>
        <p:spPr>
          <a:xfrm rot="5400000">
            <a:off x="6327004" y="3202781"/>
            <a:ext cx="668338" cy="195262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123" name="Straight Connector 137"/>
          <p:cNvCxnSpPr>
            <a:stCxn id="102" idx="2"/>
            <a:endCxn id="103" idx="6"/>
          </p:cNvCxnSpPr>
          <p:nvPr/>
        </p:nvCxnSpPr>
        <p:spPr>
          <a:xfrm rot="10800000" flipV="1">
            <a:off x="5763442" y="3901281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124" name="TextBox 187"/>
          <p:cNvSpPr txBox="1">
            <a:spLocks noChangeArrowheads="1"/>
          </p:cNvSpPr>
          <p:nvPr/>
        </p:nvSpPr>
        <p:spPr bwMode="auto">
          <a:xfrm>
            <a:off x="7241404" y="37123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125" name="TextBox 187"/>
          <p:cNvSpPr txBox="1">
            <a:spLocks noChangeArrowheads="1"/>
          </p:cNvSpPr>
          <p:nvPr/>
        </p:nvSpPr>
        <p:spPr bwMode="auto">
          <a:xfrm>
            <a:off x="6411142" y="3182143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6" name="TextBox 187"/>
          <p:cNvSpPr txBox="1">
            <a:spLocks noChangeArrowheads="1"/>
          </p:cNvSpPr>
          <p:nvPr/>
        </p:nvSpPr>
        <p:spPr bwMode="auto">
          <a:xfrm>
            <a:off x="5895204" y="363458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7" name="TextBox 187"/>
          <p:cNvSpPr txBox="1">
            <a:spLocks noChangeArrowheads="1"/>
          </p:cNvSpPr>
          <p:nvPr/>
        </p:nvSpPr>
        <p:spPr bwMode="auto">
          <a:xfrm>
            <a:off x="5952354" y="43616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8" name="TextBox 187"/>
          <p:cNvSpPr txBox="1">
            <a:spLocks noChangeArrowheads="1"/>
          </p:cNvSpPr>
          <p:nvPr/>
        </p:nvSpPr>
        <p:spPr bwMode="auto">
          <a:xfrm>
            <a:off x="8038329" y="43616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9" name="TextBox 187"/>
          <p:cNvSpPr txBox="1">
            <a:spLocks noChangeArrowheads="1"/>
          </p:cNvSpPr>
          <p:nvPr/>
        </p:nvSpPr>
        <p:spPr bwMode="auto">
          <a:xfrm>
            <a:off x="7025504" y="4223543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30" name="Straight Connector 54"/>
          <p:cNvCxnSpPr>
            <a:stCxn id="104" idx="6"/>
            <a:endCxn id="105" idx="2"/>
          </p:cNvCxnSpPr>
          <p:nvPr/>
        </p:nvCxnSpPr>
        <p:spPr>
          <a:xfrm>
            <a:off x="5374504" y="5149056"/>
            <a:ext cx="84772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31" name="TextBox 187"/>
          <p:cNvSpPr txBox="1">
            <a:spLocks noChangeArrowheads="1"/>
          </p:cNvSpPr>
          <p:nvPr/>
        </p:nvSpPr>
        <p:spPr bwMode="auto">
          <a:xfrm>
            <a:off x="5628504" y="4871243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32" name="Straight Connector 51"/>
          <p:cNvCxnSpPr>
            <a:stCxn id="92" idx="2"/>
            <a:endCxn id="100" idx="6"/>
          </p:cNvCxnSpPr>
          <p:nvPr/>
        </p:nvCxnSpPr>
        <p:spPr>
          <a:xfrm rot="10800000">
            <a:off x="7214417" y="2777331"/>
            <a:ext cx="1093787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133" name="Straight Connector 62"/>
          <p:cNvCxnSpPr>
            <a:stCxn id="92" idx="4"/>
            <a:endCxn id="101" idx="0"/>
          </p:cNvCxnSpPr>
          <p:nvPr/>
        </p:nvCxnSpPr>
        <p:spPr>
          <a:xfrm rot="5400000">
            <a:off x="8279629" y="3339306"/>
            <a:ext cx="590550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49" name="灯片编号占位符 4">
            <a:extLst>
              <a:ext uri="{FF2B5EF4-FFF2-40B4-BE49-F238E27FC236}">
                <a16:creationId xmlns:a16="http://schemas.microsoft.com/office/drawing/2014/main" id="{558C8121-02A2-4D7B-9545-CD929947E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96296E-6 L -0.14375 -0.1708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87" y="-854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96296E-6 L -0.16389 2.96296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94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5.55556E-7 0.1527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63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DAG </a:t>
            </a:r>
            <a:r>
              <a:rPr lang="zh-CN" altLang="en-US" dirty="0"/>
              <a:t>建立</a:t>
            </a:r>
            <a:endParaRPr lang="en-US" altLang="zh-CN" dirty="0"/>
          </a:p>
          <a:p>
            <a:pPr lvl="1"/>
            <a:r>
              <a:rPr lang="zh-CN" altLang="en-US" dirty="0"/>
              <a:t>路由度量：</a:t>
            </a:r>
            <a:r>
              <a:rPr lang="en-US" altLang="zh-CN" dirty="0"/>
              <a:t>ETX, </a:t>
            </a:r>
            <a:r>
              <a:rPr lang="zh-CN" altLang="en-US" dirty="0"/>
              <a:t>标在每条边上</a:t>
            </a:r>
            <a:endParaRPr lang="en-US" altLang="zh-CN" dirty="0"/>
          </a:p>
          <a:p>
            <a:pPr lvl="1"/>
            <a:r>
              <a:rPr lang="zh-CN" altLang="en-US" dirty="0"/>
              <a:t>目标函数：最小化节点到根的</a:t>
            </a:r>
            <a:r>
              <a:rPr lang="en-US" altLang="zh-CN" dirty="0"/>
              <a:t>ETX</a:t>
            </a:r>
          </a:p>
          <a:p>
            <a:r>
              <a:rPr lang="zh-CN" altLang="en-US" dirty="0"/>
              <a:t>建立过程</a:t>
            </a:r>
            <a:endParaRPr lang="en-US" altLang="zh-CN" dirty="0"/>
          </a:p>
          <a:p>
            <a:pPr lvl="1"/>
            <a:r>
              <a:rPr lang="en-US" altLang="zh-CN" dirty="0"/>
              <a:t>LBR-1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</a:t>
            </a:r>
            <a:endParaRPr lang="en-US" altLang="zh-CN" dirty="0"/>
          </a:p>
          <a:p>
            <a:pPr lvl="1"/>
            <a:r>
              <a:rPr lang="en-US" altLang="zh-CN" dirty="0"/>
              <a:t>ABC</a:t>
            </a:r>
            <a:r>
              <a:rPr lang="zh-CN" altLang="en-US" dirty="0"/>
              <a:t>收到，设置</a:t>
            </a:r>
            <a:r>
              <a:rPr lang="en-US" altLang="zh-CN" dirty="0"/>
              <a:t>LBR-1</a:t>
            </a:r>
            <a:r>
              <a:rPr lang="zh-CN" altLang="en-US" dirty="0"/>
              <a:t>为</a:t>
            </a:r>
            <a:br>
              <a:rPr lang="en-US" altLang="zh-CN" dirty="0"/>
            </a:br>
            <a:r>
              <a:rPr lang="zh-CN" altLang="en-US" dirty="0"/>
              <a:t>父节点，加入</a:t>
            </a:r>
            <a:r>
              <a:rPr lang="en-US" altLang="zh-CN" dirty="0"/>
              <a:t>DAG</a:t>
            </a:r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信息，</a:t>
            </a:r>
            <a:r>
              <a:rPr lang="en-US" altLang="zh-CN" dirty="0"/>
              <a:t>B</a:t>
            </a:r>
            <a:r>
              <a:rPr lang="zh-CN" altLang="en-US" dirty="0"/>
              <a:t>添加</a:t>
            </a:r>
            <a:r>
              <a:rPr lang="en-US" altLang="zh-CN" dirty="0"/>
              <a:t>C</a:t>
            </a:r>
            <a:r>
              <a:rPr lang="zh-CN" altLang="en-US" dirty="0"/>
              <a:t>为</a:t>
            </a:r>
            <a:br>
              <a:rPr lang="en-US" altLang="zh-CN" dirty="0"/>
            </a:br>
            <a:r>
              <a:rPr lang="zh-CN" altLang="en-US" dirty="0"/>
              <a:t>可选父节点</a:t>
            </a:r>
            <a:r>
              <a:rPr lang="en-US" altLang="zh-CN" dirty="0"/>
              <a:t>; E</a:t>
            </a:r>
            <a:r>
              <a:rPr lang="zh-CN" altLang="en-US" dirty="0"/>
              <a:t>加入</a:t>
            </a:r>
            <a:r>
              <a:rPr lang="en-US" altLang="zh-CN" dirty="0"/>
              <a:t>DAG, </a:t>
            </a:r>
            <a:r>
              <a:rPr lang="zh-CN" altLang="en-US" dirty="0"/>
              <a:t>距离</a:t>
            </a:r>
            <a:r>
              <a:rPr lang="en-US" altLang="zh-CN" dirty="0"/>
              <a:t>3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</a:t>
            </a:r>
            <a:r>
              <a:rPr lang="en-US" altLang="zh-CN" dirty="0"/>
              <a:t>, B</a:t>
            </a:r>
            <a:r>
              <a:rPr lang="zh-CN" altLang="en-US" dirty="0"/>
              <a:t>发现</a:t>
            </a:r>
            <a:r>
              <a:rPr lang="en-US" altLang="zh-CN" dirty="0"/>
              <a:t>A</a:t>
            </a:r>
            <a:r>
              <a:rPr lang="zh-CN" altLang="en-US" dirty="0"/>
              <a:t>是更优</a:t>
            </a:r>
            <a:br>
              <a:rPr lang="en-US" altLang="zh-CN" dirty="0"/>
            </a:br>
            <a:r>
              <a:rPr lang="zh-CN" altLang="en-US" dirty="0"/>
              <a:t>的父节点</a:t>
            </a:r>
            <a:r>
              <a:rPr lang="en-US" altLang="zh-CN" dirty="0"/>
              <a:t>, </a:t>
            </a:r>
            <a:r>
              <a:rPr lang="zh-CN" altLang="en-US" dirty="0"/>
              <a:t>因而改路由到</a:t>
            </a:r>
            <a:r>
              <a:rPr lang="en-US" altLang="zh-CN" dirty="0"/>
              <a:t>A</a:t>
            </a:r>
            <a:br>
              <a:rPr lang="en-US" altLang="zh-CN" dirty="0"/>
            </a:br>
            <a:endParaRPr lang="en-US" altLang="zh-CN" dirty="0"/>
          </a:p>
          <a:p>
            <a:pPr lvl="1"/>
            <a:endParaRPr lang="zh-CN" altLang="en-US" dirty="0"/>
          </a:p>
        </p:txBody>
      </p:sp>
      <p:cxnSp>
        <p:nvCxnSpPr>
          <p:cNvPr id="234" name="Straight Connector 18"/>
          <p:cNvCxnSpPr>
            <a:stCxn id="255" idx="1"/>
            <a:endCxn id="240" idx="7"/>
          </p:cNvCxnSpPr>
          <p:nvPr/>
        </p:nvCxnSpPr>
        <p:spPr>
          <a:xfrm rot="10800000" flipV="1">
            <a:off x="5871029" y="1899443"/>
            <a:ext cx="803275" cy="92710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235" name="Straight Connector 21"/>
          <p:cNvCxnSpPr>
            <a:stCxn id="255" idx="2"/>
            <a:endCxn id="241" idx="0"/>
          </p:cNvCxnSpPr>
          <p:nvPr/>
        </p:nvCxnSpPr>
        <p:spPr>
          <a:xfrm rot="5400000">
            <a:off x="6830673" y="2439987"/>
            <a:ext cx="611188" cy="635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236" name="Straight Connector 24"/>
          <p:cNvCxnSpPr>
            <a:stCxn id="255" idx="3"/>
            <a:endCxn id="242" idx="1"/>
          </p:cNvCxnSpPr>
          <p:nvPr/>
        </p:nvCxnSpPr>
        <p:spPr>
          <a:xfrm>
            <a:off x="7602992" y="1899443"/>
            <a:ext cx="968375" cy="92710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237" name="Straight Connector 27"/>
          <p:cNvCxnSpPr>
            <a:stCxn id="242" idx="2"/>
            <a:endCxn id="241" idx="6"/>
          </p:cNvCxnSpPr>
          <p:nvPr/>
        </p:nvCxnSpPr>
        <p:spPr>
          <a:xfrm rot="10800000">
            <a:off x="7399792" y="3015456"/>
            <a:ext cx="1093787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238" name="Straight Connector 39"/>
          <p:cNvCxnSpPr>
            <a:stCxn id="243" idx="4"/>
            <a:endCxn id="248" idx="7"/>
          </p:cNvCxnSpPr>
          <p:nvPr/>
        </p:nvCxnSpPr>
        <p:spPr>
          <a:xfrm rot="5400000">
            <a:off x="8035586" y="4473574"/>
            <a:ext cx="792162" cy="6572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239" name="Straight Connector 133"/>
          <p:cNvCxnSpPr>
            <a:stCxn id="242" idx="4"/>
            <a:endCxn id="243" idx="0"/>
          </p:cNvCxnSpPr>
          <p:nvPr/>
        </p:nvCxnSpPr>
        <p:spPr>
          <a:xfrm rot="5400000">
            <a:off x="8465004" y="3577431"/>
            <a:ext cx="590550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240" name="Oval 5"/>
          <p:cNvSpPr>
            <a:spLocks noChangeArrowheads="1"/>
          </p:cNvSpPr>
          <p:nvPr/>
        </p:nvSpPr>
        <p:spPr bwMode="auto">
          <a:xfrm>
            <a:off x="5415417" y="2748756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241" name="Oval 5"/>
          <p:cNvSpPr>
            <a:spLocks noChangeArrowheads="1"/>
          </p:cNvSpPr>
          <p:nvPr/>
        </p:nvSpPr>
        <p:spPr bwMode="auto">
          <a:xfrm>
            <a:off x="6866392" y="2748756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242" name="Oval 5"/>
          <p:cNvSpPr>
            <a:spLocks noChangeArrowheads="1"/>
          </p:cNvSpPr>
          <p:nvPr/>
        </p:nvSpPr>
        <p:spPr bwMode="auto">
          <a:xfrm>
            <a:off x="8493579" y="2748756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243" name="Oval 5"/>
          <p:cNvSpPr>
            <a:spLocks noChangeArrowheads="1"/>
          </p:cNvSpPr>
          <p:nvPr/>
        </p:nvSpPr>
        <p:spPr bwMode="auto">
          <a:xfrm>
            <a:off x="8493579" y="3872706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244" name="Oval 5"/>
          <p:cNvSpPr>
            <a:spLocks noChangeArrowheads="1"/>
          </p:cNvSpPr>
          <p:nvPr/>
        </p:nvSpPr>
        <p:spPr bwMode="auto">
          <a:xfrm>
            <a:off x="6482217" y="387270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245" name="Oval 5"/>
          <p:cNvSpPr>
            <a:spLocks noChangeArrowheads="1"/>
          </p:cNvSpPr>
          <p:nvPr/>
        </p:nvSpPr>
        <p:spPr bwMode="auto">
          <a:xfrm>
            <a:off x="5415417" y="3872706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246" name="Oval 5"/>
          <p:cNvSpPr>
            <a:spLocks noChangeArrowheads="1"/>
          </p:cNvSpPr>
          <p:nvPr/>
        </p:nvSpPr>
        <p:spPr bwMode="auto">
          <a:xfrm>
            <a:off x="5026479" y="51204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</a:p>
        </p:txBody>
      </p:sp>
      <p:sp>
        <p:nvSpPr>
          <p:cNvPr id="247" name="Oval 5"/>
          <p:cNvSpPr>
            <a:spLocks noChangeArrowheads="1"/>
          </p:cNvSpPr>
          <p:nvPr/>
        </p:nvSpPr>
        <p:spPr bwMode="auto">
          <a:xfrm>
            <a:off x="6407604" y="51204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</a:p>
        </p:txBody>
      </p:sp>
      <p:sp>
        <p:nvSpPr>
          <p:cNvPr id="248" name="Oval 5"/>
          <p:cNvSpPr>
            <a:spLocks noChangeArrowheads="1"/>
          </p:cNvSpPr>
          <p:nvPr/>
        </p:nvSpPr>
        <p:spPr bwMode="auto">
          <a:xfrm>
            <a:off x="7647442" y="5120481"/>
            <a:ext cx="533400" cy="533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</a:p>
        </p:txBody>
      </p:sp>
      <p:sp>
        <p:nvSpPr>
          <p:cNvPr id="249" name="TextBox 19"/>
          <p:cNvSpPr txBox="1">
            <a:spLocks noChangeArrowheads="1"/>
          </p:cNvSpPr>
          <p:nvPr/>
        </p:nvSpPr>
        <p:spPr bwMode="auto">
          <a:xfrm>
            <a:off x="6080579" y="209311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50" name="Straight Connector 33"/>
          <p:cNvCxnSpPr>
            <a:stCxn id="241" idx="5"/>
            <a:endCxn id="243" idx="1"/>
          </p:cNvCxnSpPr>
          <p:nvPr/>
        </p:nvCxnSpPr>
        <p:spPr>
          <a:xfrm rot="16200000" flipH="1">
            <a:off x="7573623" y="2952749"/>
            <a:ext cx="746125" cy="1249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251" name="TextBox 155"/>
          <p:cNvSpPr txBox="1">
            <a:spLocks noChangeArrowheads="1"/>
          </p:cNvSpPr>
          <p:nvPr/>
        </p:nvSpPr>
        <p:spPr bwMode="auto">
          <a:xfrm>
            <a:off x="7075942" y="2369343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252" name="TextBox 156"/>
          <p:cNvSpPr txBox="1">
            <a:spLocks noChangeArrowheads="1"/>
          </p:cNvSpPr>
          <p:nvPr/>
        </p:nvSpPr>
        <p:spPr bwMode="auto">
          <a:xfrm>
            <a:off x="8049079" y="209311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253" name="TextBox 160"/>
          <p:cNvSpPr txBox="1">
            <a:spLocks noChangeArrowheads="1"/>
          </p:cNvSpPr>
          <p:nvPr/>
        </p:nvSpPr>
        <p:spPr bwMode="auto">
          <a:xfrm>
            <a:off x="7779204" y="32821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254" name="TextBox 165"/>
          <p:cNvSpPr txBox="1">
            <a:spLocks noChangeArrowheads="1"/>
          </p:cNvSpPr>
          <p:nvPr/>
        </p:nvSpPr>
        <p:spPr bwMode="auto">
          <a:xfrm>
            <a:off x="8757104" y="34202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255" name="Rectangle 16"/>
          <p:cNvSpPr/>
          <p:nvPr/>
        </p:nvSpPr>
        <p:spPr>
          <a:xfrm>
            <a:off x="6674304" y="1661318"/>
            <a:ext cx="928688" cy="47625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LBR-1</a:t>
            </a:r>
          </a:p>
        </p:txBody>
      </p:sp>
      <p:sp>
        <p:nvSpPr>
          <p:cNvPr id="256" name="TextBox 187"/>
          <p:cNvSpPr txBox="1">
            <a:spLocks noChangeArrowheads="1"/>
          </p:cNvSpPr>
          <p:nvPr/>
        </p:nvSpPr>
        <p:spPr bwMode="auto">
          <a:xfrm>
            <a:off x="7803017" y="27487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57" name="Straight Connector 52"/>
          <p:cNvCxnSpPr>
            <a:stCxn id="240" idx="6"/>
            <a:endCxn id="241" idx="2"/>
          </p:cNvCxnSpPr>
          <p:nvPr/>
        </p:nvCxnSpPr>
        <p:spPr>
          <a:xfrm>
            <a:off x="5948817" y="3015456"/>
            <a:ext cx="917575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258" name="TextBox 187"/>
          <p:cNvSpPr txBox="1">
            <a:spLocks noChangeArrowheads="1"/>
          </p:cNvSpPr>
          <p:nvPr/>
        </p:nvSpPr>
        <p:spPr bwMode="auto">
          <a:xfrm>
            <a:off x="6215517" y="274875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59" name="Straight Connector 109"/>
          <p:cNvCxnSpPr>
            <a:stCxn id="245" idx="3"/>
            <a:endCxn id="246" idx="0"/>
          </p:cNvCxnSpPr>
          <p:nvPr/>
        </p:nvCxnSpPr>
        <p:spPr>
          <a:xfrm rot="5400000">
            <a:off x="4997110" y="4624387"/>
            <a:ext cx="792163" cy="2000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260" name="TextBox 19"/>
          <p:cNvSpPr txBox="1">
            <a:spLocks noChangeArrowheads="1"/>
          </p:cNvSpPr>
          <p:nvPr/>
        </p:nvSpPr>
        <p:spPr bwMode="auto">
          <a:xfrm>
            <a:off x="5415417" y="4599781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61" name="Straight Connector 113"/>
          <p:cNvCxnSpPr>
            <a:stCxn id="245" idx="5"/>
            <a:endCxn id="247" idx="1"/>
          </p:cNvCxnSpPr>
          <p:nvPr/>
        </p:nvCxnSpPr>
        <p:spPr>
          <a:xfrm rot="16200000" flipH="1">
            <a:off x="5743236" y="4456111"/>
            <a:ext cx="869950" cy="614363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262" name="Straight Connector 123"/>
          <p:cNvCxnSpPr>
            <a:stCxn id="248" idx="0"/>
            <a:endCxn id="241" idx="4"/>
          </p:cNvCxnSpPr>
          <p:nvPr/>
        </p:nvCxnSpPr>
        <p:spPr>
          <a:xfrm rot="16200000" flipV="1">
            <a:off x="6604454" y="3810794"/>
            <a:ext cx="1838325" cy="78105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263" name="Straight Connector 128"/>
          <p:cNvCxnSpPr>
            <a:stCxn id="244" idx="5"/>
            <a:endCxn id="248" idx="1"/>
          </p:cNvCxnSpPr>
          <p:nvPr/>
        </p:nvCxnSpPr>
        <p:spPr>
          <a:xfrm rot="16200000" flipH="1">
            <a:off x="6896554" y="4369593"/>
            <a:ext cx="869950" cy="78740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264" name="Straight Connector 132"/>
          <p:cNvCxnSpPr>
            <a:stCxn id="241" idx="3"/>
            <a:endCxn id="244" idx="0"/>
          </p:cNvCxnSpPr>
          <p:nvPr/>
        </p:nvCxnSpPr>
        <p:spPr>
          <a:xfrm rot="5400000">
            <a:off x="6512379" y="3440906"/>
            <a:ext cx="668338" cy="195262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cxnSp>
        <p:nvCxnSpPr>
          <p:cNvPr id="265" name="Straight Connector 137"/>
          <p:cNvCxnSpPr>
            <a:stCxn id="244" idx="2"/>
            <a:endCxn id="245" idx="6"/>
          </p:cNvCxnSpPr>
          <p:nvPr/>
        </p:nvCxnSpPr>
        <p:spPr>
          <a:xfrm rot="10800000" flipV="1">
            <a:off x="5948817" y="4139406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  <a:headEnd type="none" w="lg" len="lg"/>
          </a:ln>
          <a:effectLst/>
        </p:spPr>
      </p:cxnSp>
      <p:sp>
        <p:nvSpPr>
          <p:cNvPr id="266" name="TextBox 187"/>
          <p:cNvSpPr txBox="1">
            <a:spLocks noChangeArrowheads="1"/>
          </p:cNvSpPr>
          <p:nvPr/>
        </p:nvSpPr>
        <p:spPr bwMode="auto">
          <a:xfrm>
            <a:off x="7426779" y="3950493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267" name="TextBox 187"/>
          <p:cNvSpPr txBox="1">
            <a:spLocks noChangeArrowheads="1"/>
          </p:cNvSpPr>
          <p:nvPr/>
        </p:nvSpPr>
        <p:spPr bwMode="auto">
          <a:xfrm>
            <a:off x="6596517" y="34202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268" name="TextBox 187"/>
          <p:cNvSpPr txBox="1">
            <a:spLocks noChangeArrowheads="1"/>
          </p:cNvSpPr>
          <p:nvPr/>
        </p:nvSpPr>
        <p:spPr bwMode="auto">
          <a:xfrm>
            <a:off x="6080579" y="3872706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269" name="TextBox 187"/>
          <p:cNvSpPr txBox="1">
            <a:spLocks noChangeArrowheads="1"/>
          </p:cNvSpPr>
          <p:nvPr/>
        </p:nvSpPr>
        <p:spPr bwMode="auto">
          <a:xfrm>
            <a:off x="6137729" y="459978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270" name="TextBox 187"/>
          <p:cNvSpPr txBox="1">
            <a:spLocks noChangeArrowheads="1"/>
          </p:cNvSpPr>
          <p:nvPr/>
        </p:nvSpPr>
        <p:spPr bwMode="auto">
          <a:xfrm>
            <a:off x="8223704" y="4599781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271" name="TextBox 187"/>
          <p:cNvSpPr txBox="1">
            <a:spLocks noChangeArrowheads="1"/>
          </p:cNvSpPr>
          <p:nvPr/>
        </p:nvSpPr>
        <p:spPr bwMode="auto">
          <a:xfrm>
            <a:off x="7210879" y="44616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272" name="Straight Connector 54"/>
          <p:cNvCxnSpPr>
            <a:stCxn id="246" idx="6"/>
            <a:endCxn id="247" idx="2"/>
          </p:cNvCxnSpPr>
          <p:nvPr/>
        </p:nvCxnSpPr>
        <p:spPr>
          <a:xfrm>
            <a:off x="5559879" y="5387181"/>
            <a:ext cx="84772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273" name="TextBox 187"/>
          <p:cNvSpPr txBox="1">
            <a:spLocks noChangeArrowheads="1"/>
          </p:cNvSpPr>
          <p:nvPr/>
        </p:nvSpPr>
        <p:spPr bwMode="auto">
          <a:xfrm>
            <a:off x="5813879" y="5109368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4" name="灯片编号占位符 4">
            <a:extLst>
              <a:ext uri="{FF2B5EF4-FFF2-40B4-BE49-F238E27FC236}">
                <a16:creationId xmlns:a16="http://schemas.microsoft.com/office/drawing/2014/main" id="{45A5E875-58CB-4334-9741-C0C7C68F5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RPL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DAG </a:t>
            </a:r>
            <a:r>
              <a:rPr lang="zh-CN" altLang="en-US" dirty="0"/>
              <a:t>建立</a:t>
            </a:r>
            <a:endParaRPr lang="en-US" altLang="zh-CN" dirty="0"/>
          </a:p>
          <a:p>
            <a:pPr lvl="1"/>
            <a:r>
              <a:rPr lang="zh-CN" altLang="en-US" dirty="0"/>
              <a:t>路由度量：</a:t>
            </a:r>
            <a:r>
              <a:rPr lang="en-US" altLang="zh-CN" dirty="0"/>
              <a:t>ETX, </a:t>
            </a:r>
            <a:r>
              <a:rPr lang="zh-CN" altLang="en-US" dirty="0"/>
              <a:t>标在每条边上</a:t>
            </a:r>
            <a:endParaRPr lang="en-US" altLang="zh-CN" dirty="0"/>
          </a:p>
          <a:p>
            <a:pPr lvl="1"/>
            <a:r>
              <a:rPr lang="zh-CN" altLang="en-US" dirty="0"/>
              <a:t>目标函数：最小化节点到根的</a:t>
            </a:r>
            <a:r>
              <a:rPr lang="en-US" altLang="zh-CN" dirty="0"/>
              <a:t>ETX</a:t>
            </a:r>
          </a:p>
          <a:p>
            <a:r>
              <a:rPr lang="zh-CN" altLang="en-US" dirty="0"/>
              <a:t>建立过程</a:t>
            </a:r>
            <a:endParaRPr lang="en-US" altLang="zh-CN" dirty="0"/>
          </a:p>
          <a:p>
            <a:pPr lvl="1"/>
            <a:r>
              <a:rPr lang="en-US" altLang="zh-CN" dirty="0"/>
              <a:t>LBR-1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</a:t>
            </a:r>
            <a:endParaRPr lang="en-US" altLang="zh-CN" dirty="0"/>
          </a:p>
          <a:p>
            <a:pPr lvl="1"/>
            <a:r>
              <a:rPr lang="en-US" altLang="zh-CN" dirty="0"/>
              <a:t>ABC</a:t>
            </a:r>
            <a:r>
              <a:rPr lang="zh-CN" altLang="en-US" dirty="0"/>
              <a:t>收到，设置</a:t>
            </a:r>
            <a:r>
              <a:rPr lang="en-US" altLang="zh-CN" dirty="0"/>
              <a:t>LBR-1</a:t>
            </a:r>
            <a:r>
              <a:rPr lang="zh-CN" altLang="en-US" dirty="0"/>
              <a:t>为</a:t>
            </a:r>
            <a:br>
              <a:rPr lang="en-US" altLang="zh-CN" dirty="0"/>
            </a:br>
            <a:r>
              <a:rPr lang="zh-CN" altLang="en-US" dirty="0"/>
              <a:t>父节点，加入</a:t>
            </a:r>
            <a:r>
              <a:rPr lang="en-US" altLang="zh-CN" dirty="0"/>
              <a:t>DAG</a:t>
            </a:r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信息，</a:t>
            </a:r>
            <a:r>
              <a:rPr lang="en-US" altLang="zh-CN" dirty="0"/>
              <a:t>B</a:t>
            </a:r>
            <a:r>
              <a:rPr lang="zh-CN" altLang="en-US" dirty="0"/>
              <a:t>添加</a:t>
            </a:r>
            <a:r>
              <a:rPr lang="en-US" altLang="zh-CN" dirty="0"/>
              <a:t>C</a:t>
            </a:r>
            <a:r>
              <a:rPr lang="zh-CN" altLang="en-US" dirty="0"/>
              <a:t>为</a:t>
            </a:r>
            <a:br>
              <a:rPr lang="en-US" altLang="zh-CN" dirty="0"/>
            </a:br>
            <a:r>
              <a:rPr lang="zh-CN" altLang="en-US" dirty="0"/>
              <a:t>可选父节点</a:t>
            </a:r>
            <a:r>
              <a:rPr lang="en-US" altLang="zh-CN" dirty="0"/>
              <a:t>; E</a:t>
            </a:r>
            <a:r>
              <a:rPr lang="zh-CN" altLang="en-US" dirty="0"/>
              <a:t>加入</a:t>
            </a:r>
            <a:r>
              <a:rPr lang="en-US" altLang="zh-CN" dirty="0"/>
              <a:t>DAG, </a:t>
            </a:r>
            <a:r>
              <a:rPr lang="zh-CN" altLang="en-US" dirty="0"/>
              <a:t>距离</a:t>
            </a:r>
            <a:r>
              <a:rPr lang="en-US" altLang="zh-CN" dirty="0"/>
              <a:t>3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广播</a:t>
            </a:r>
            <a:r>
              <a:rPr lang="en-US" altLang="zh-CN" dirty="0"/>
              <a:t>DIO</a:t>
            </a:r>
            <a:r>
              <a:rPr lang="zh-CN" altLang="en-US" dirty="0"/>
              <a:t>信息</a:t>
            </a:r>
            <a:r>
              <a:rPr lang="en-US" altLang="zh-CN" dirty="0"/>
              <a:t>, B</a:t>
            </a:r>
            <a:r>
              <a:rPr lang="zh-CN" altLang="en-US" dirty="0"/>
              <a:t>发现</a:t>
            </a:r>
            <a:r>
              <a:rPr lang="en-US" altLang="zh-CN" dirty="0"/>
              <a:t>A</a:t>
            </a:r>
            <a:r>
              <a:rPr lang="zh-CN" altLang="en-US" dirty="0"/>
              <a:t>是更优</a:t>
            </a:r>
            <a:br>
              <a:rPr lang="en-US" altLang="zh-CN" dirty="0"/>
            </a:br>
            <a:r>
              <a:rPr lang="zh-CN" altLang="en-US" dirty="0"/>
              <a:t>的父节点</a:t>
            </a:r>
            <a:r>
              <a:rPr lang="en-US" altLang="zh-CN" dirty="0"/>
              <a:t>, </a:t>
            </a:r>
            <a:r>
              <a:rPr lang="zh-CN" altLang="en-US" dirty="0"/>
              <a:t>因而改路由到</a:t>
            </a:r>
            <a:r>
              <a:rPr lang="en-US" altLang="zh-CN" dirty="0"/>
              <a:t>A</a:t>
            </a:r>
          </a:p>
          <a:p>
            <a:pPr lvl="1"/>
            <a:r>
              <a:rPr lang="zh-CN" altLang="en-US" dirty="0"/>
              <a:t>继续该过程</a:t>
            </a:r>
            <a:r>
              <a:rPr lang="en-US" altLang="zh-CN" dirty="0"/>
              <a:t>,  </a:t>
            </a:r>
            <a:r>
              <a:rPr lang="zh-CN" altLang="en-US" dirty="0"/>
              <a:t>直到所有节点</a:t>
            </a:r>
          </a:p>
          <a:p>
            <a:pPr lvl="1"/>
            <a:r>
              <a:rPr lang="zh-CN" altLang="en-US" dirty="0"/>
              <a:t>都加入</a:t>
            </a:r>
            <a:r>
              <a:rPr lang="en-US" altLang="zh-CN" dirty="0"/>
              <a:t>DAG</a:t>
            </a:r>
            <a:br>
              <a:rPr lang="en-US" altLang="zh-CN" dirty="0"/>
            </a:br>
            <a:endParaRPr lang="en-US" altLang="zh-CN" dirty="0"/>
          </a:p>
          <a:p>
            <a:pPr lvl="1"/>
            <a:endParaRPr lang="zh-CN" altLang="en-US" dirty="0"/>
          </a:p>
        </p:txBody>
      </p:sp>
      <p:cxnSp>
        <p:nvCxnSpPr>
          <p:cNvPr id="90" name="Straight Connector 18"/>
          <p:cNvCxnSpPr>
            <a:stCxn id="111" idx="1"/>
            <a:endCxn id="96" idx="7"/>
          </p:cNvCxnSpPr>
          <p:nvPr/>
        </p:nvCxnSpPr>
        <p:spPr>
          <a:xfrm flipH="1">
            <a:off x="5806440" y="1773011"/>
            <a:ext cx="803275" cy="92773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91" name="Straight Connector 21"/>
          <p:cNvCxnSpPr>
            <a:stCxn id="111" idx="2"/>
            <a:endCxn id="97" idx="0"/>
          </p:cNvCxnSpPr>
          <p:nvPr/>
        </p:nvCxnSpPr>
        <p:spPr>
          <a:xfrm flipH="1">
            <a:off x="7068503" y="2011136"/>
            <a:ext cx="5715" cy="61150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92" name="Straight Connector 24"/>
          <p:cNvCxnSpPr>
            <a:stCxn id="111" idx="3"/>
            <a:endCxn id="98" idx="1"/>
          </p:cNvCxnSpPr>
          <p:nvPr/>
        </p:nvCxnSpPr>
        <p:spPr>
          <a:xfrm>
            <a:off x="7538403" y="1773011"/>
            <a:ext cx="968375" cy="92773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93" name="Straight Connector 27"/>
          <p:cNvCxnSpPr>
            <a:stCxn id="97" idx="6"/>
            <a:endCxn id="98" idx="2"/>
          </p:cNvCxnSpPr>
          <p:nvPr/>
        </p:nvCxnSpPr>
        <p:spPr>
          <a:xfrm>
            <a:off x="7335203" y="2889024"/>
            <a:ext cx="1093470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94" name="Straight Connector 39"/>
          <p:cNvCxnSpPr>
            <a:stCxn id="99" idx="4"/>
            <a:endCxn id="104" idx="7"/>
          </p:cNvCxnSpPr>
          <p:nvPr/>
        </p:nvCxnSpPr>
        <p:spPr>
          <a:xfrm flipH="1">
            <a:off x="8038465" y="4279674"/>
            <a:ext cx="657225" cy="79248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95" name="Straight Connector 133"/>
          <p:cNvCxnSpPr>
            <a:stCxn id="98" idx="4"/>
            <a:endCxn id="99" idx="0"/>
          </p:cNvCxnSpPr>
          <p:nvPr/>
        </p:nvCxnSpPr>
        <p:spPr>
          <a:xfrm>
            <a:off x="8695690" y="3155724"/>
            <a:ext cx="0" cy="59055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96" name="Oval 5"/>
          <p:cNvSpPr>
            <a:spLocks noChangeArrowheads="1"/>
          </p:cNvSpPr>
          <p:nvPr/>
        </p:nvSpPr>
        <p:spPr bwMode="auto">
          <a:xfrm>
            <a:off x="5350828" y="2622324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97" name="Oval 5"/>
          <p:cNvSpPr>
            <a:spLocks noChangeArrowheads="1"/>
          </p:cNvSpPr>
          <p:nvPr/>
        </p:nvSpPr>
        <p:spPr bwMode="auto">
          <a:xfrm>
            <a:off x="6801803" y="2622324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98" name="Oval 5"/>
          <p:cNvSpPr>
            <a:spLocks noChangeArrowheads="1"/>
          </p:cNvSpPr>
          <p:nvPr/>
        </p:nvSpPr>
        <p:spPr bwMode="auto">
          <a:xfrm>
            <a:off x="8428990" y="2622324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99" name="Oval 5"/>
          <p:cNvSpPr>
            <a:spLocks noChangeArrowheads="1"/>
          </p:cNvSpPr>
          <p:nvPr/>
        </p:nvSpPr>
        <p:spPr bwMode="auto">
          <a:xfrm>
            <a:off x="8428990" y="3746274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100" name="Oval 5"/>
          <p:cNvSpPr>
            <a:spLocks noChangeArrowheads="1"/>
          </p:cNvSpPr>
          <p:nvPr/>
        </p:nvSpPr>
        <p:spPr bwMode="auto">
          <a:xfrm>
            <a:off x="6417628" y="3746274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101" name="Oval 5"/>
          <p:cNvSpPr>
            <a:spLocks noChangeArrowheads="1"/>
          </p:cNvSpPr>
          <p:nvPr/>
        </p:nvSpPr>
        <p:spPr bwMode="auto">
          <a:xfrm>
            <a:off x="5350828" y="3746274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</a:p>
        </p:txBody>
      </p:sp>
      <p:sp>
        <p:nvSpPr>
          <p:cNvPr id="102" name="Oval 5"/>
          <p:cNvSpPr>
            <a:spLocks noChangeArrowheads="1"/>
          </p:cNvSpPr>
          <p:nvPr/>
        </p:nvSpPr>
        <p:spPr bwMode="auto">
          <a:xfrm>
            <a:off x="4961890" y="4994049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</a:p>
        </p:txBody>
      </p:sp>
      <p:sp>
        <p:nvSpPr>
          <p:cNvPr id="103" name="Oval 5"/>
          <p:cNvSpPr>
            <a:spLocks noChangeArrowheads="1"/>
          </p:cNvSpPr>
          <p:nvPr/>
        </p:nvSpPr>
        <p:spPr bwMode="auto">
          <a:xfrm>
            <a:off x="6343015" y="4994049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</a:p>
        </p:txBody>
      </p:sp>
      <p:sp>
        <p:nvSpPr>
          <p:cNvPr id="104" name="Oval 5"/>
          <p:cNvSpPr>
            <a:spLocks noChangeArrowheads="1"/>
          </p:cNvSpPr>
          <p:nvPr/>
        </p:nvSpPr>
        <p:spPr bwMode="auto">
          <a:xfrm>
            <a:off x="7582853" y="4994049"/>
            <a:ext cx="533400" cy="533400"/>
          </a:xfrm>
          <a:prstGeom prst="ellipse">
            <a:avLst/>
          </a:prstGeom>
          <a:solidFill>
            <a:srgbClr val="FFC000"/>
          </a:solidFill>
          <a:ln w="19080">
            <a:solidFill>
              <a:srgbClr val="000000"/>
            </a:solidFill>
            <a:miter lim="800000"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</a:p>
        </p:txBody>
      </p:sp>
      <p:sp>
        <p:nvSpPr>
          <p:cNvPr id="105" name="TextBox 19"/>
          <p:cNvSpPr txBox="1">
            <a:spLocks noChangeArrowheads="1"/>
          </p:cNvSpPr>
          <p:nvPr/>
        </p:nvSpPr>
        <p:spPr bwMode="auto">
          <a:xfrm>
            <a:off x="6015990" y="1966686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06" name="Straight Connector 33"/>
          <p:cNvCxnSpPr>
            <a:stCxn id="97" idx="5"/>
            <a:endCxn id="99" idx="1"/>
          </p:cNvCxnSpPr>
          <p:nvPr/>
        </p:nvCxnSpPr>
        <p:spPr>
          <a:xfrm>
            <a:off x="7243445" y="3077936"/>
            <a:ext cx="1249680" cy="74676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107" name="TextBox 155"/>
          <p:cNvSpPr txBox="1">
            <a:spLocks noChangeArrowheads="1"/>
          </p:cNvSpPr>
          <p:nvPr/>
        </p:nvSpPr>
        <p:spPr bwMode="auto">
          <a:xfrm>
            <a:off x="7011353" y="2242911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108" name="TextBox 156"/>
          <p:cNvSpPr txBox="1">
            <a:spLocks noChangeArrowheads="1"/>
          </p:cNvSpPr>
          <p:nvPr/>
        </p:nvSpPr>
        <p:spPr bwMode="auto">
          <a:xfrm>
            <a:off x="7984490" y="1966686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09" name="TextBox 160"/>
          <p:cNvSpPr txBox="1">
            <a:spLocks noChangeArrowheads="1"/>
          </p:cNvSpPr>
          <p:nvPr/>
        </p:nvSpPr>
        <p:spPr bwMode="auto">
          <a:xfrm>
            <a:off x="7714615" y="315572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10" name="TextBox 165"/>
          <p:cNvSpPr txBox="1">
            <a:spLocks noChangeArrowheads="1"/>
          </p:cNvSpPr>
          <p:nvPr/>
        </p:nvSpPr>
        <p:spPr bwMode="auto">
          <a:xfrm>
            <a:off x="8692515" y="3293836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11" name="Rectangle 16"/>
          <p:cNvSpPr/>
          <p:nvPr/>
        </p:nvSpPr>
        <p:spPr>
          <a:xfrm>
            <a:off x="6609715" y="1534886"/>
            <a:ext cx="928688" cy="47625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LBR-1</a:t>
            </a:r>
          </a:p>
        </p:txBody>
      </p:sp>
      <p:sp>
        <p:nvSpPr>
          <p:cNvPr id="112" name="TextBox 187"/>
          <p:cNvSpPr txBox="1">
            <a:spLocks noChangeArrowheads="1"/>
          </p:cNvSpPr>
          <p:nvPr/>
        </p:nvSpPr>
        <p:spPr bwMode="auto">
          <a:xfrm>
            <a:off x="7738428" y="262232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13" name="Straight Connector 52"/>
          <p:cNvCxnSpPr>
            <a:stCxn id="96" idx="6"/>
            <a:endCxn id="97" idx="2"/>
          </p:cNvCxnSpPr>
          <p:nvPr/>
        </p:nvCxnSpPr>
        <p:spPr>
          <a:xfrm>
            <a:off x="5870258" y="2889024"/>
            <a:ext cx="917575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114" name="TextBox 187"/>
          <p:cNvSpPr txBox="1">
            <a:spLocks noChangeArrowheads="1"/>
          </p:cNvSpPr>
          <p:nvPr/>
        </p:nvSpPr>
        <p:spPr bwMode="auto">
          <a:xfrm>
            <a:off x="6150928" y="262232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15" name="Straight Connector 109"/>
          <p:cNvCxnSpPr>
            <a:stCxn id="101" idx="3"/>
            <a:endCxn id="102" idx="0"/>
          </p:cNvCxnSpPr>
          <p:nvPr/>
        </p:nvCxnSpPr>
        <p:spPr>
          <a:xfrm flipH="1">
            <a:off x="5214620" y="4201886"/>
            <a:ext cx="200660" cy="79248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116" name="TextBox 19"/>
          <p:cNvSpPr txBox="1">
            <a:spLocks noChangeArrowheads="1"/>
          </p:cNvSpPr>
          <p:nvPr/>
        </p:nvSpPr>
        <p:spPr bwMode="auto">
          <a:xfrm>
            <a:off x="5350828" y="4473349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17" name="Straight Connector 113"/>
          <p:cNvCxnSpPr>
            <a:stCxn id="101" idx="5"/>
            <a:endCxn id="103" idx="1"/>
          </p:cNvCxnSpPr>
          <p:nvPr/>
        </p:nvCxnSpPr>
        <p:spPr>
          <a:xfrm>
            <a:off x="5792470" y="4201886"/>
            <a:ext cx="614680" cy="87058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118" name="Straight Connector 123"/>
          <p:cNvCxnSpPr>
            <a:stCxn id="104" idx="0"/>
            <a:endCxn id="97" idx="4"/>
          </p:cNvCxnSpPr>
          <p:nvPr/>
        </p:nvCxnSpPr>
        <p:spPr>
          <a:xfrm flipH="1" flipV="1">
            <a:off x="7054533" y="3155724"/>
            <a:ext cx="781050" cy="1838325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119" name="Straight Connector 128"/>
          <p:cNvCxnSpPr>
            <a:stCxn id="100" idx="5"/>
            <a:endCxn id="104" idx="1"/>
          </p:cNvCxnSpPr>
          <p:nvPr/>
        </p:nvCxnSpPr>
        <p:spPr>
          <a:xfrm>
            <a:off x="6859270" y="4201886"/>
            <a:ext cx="788035" cy="87058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120" name="Straight Connector 132"/>
          <p:cNvCxnSpPr>
            <a:stCxn id="97" idx="3"/>
            <a:endCxn id="100" idx="0"/>
          </p:cNvCxnSpPr>
          <p:nvPr/>
        </p:nvCxnSpPr>
        <p:spPr>
          <a:xfrm flipH="1">
            <a:off x="6670675" y="3077936"/>
            <a:ext cx="195580" cy="66865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cxnSp>
        <p:nvCxnSpPr>
          <p:cNvPr id="121" name="Straight Connector 137"/>
          <p:cNvCxnSpPr>
            <a:stCxn id="100" idx="2"/>
            <a:endCxn id="101" idx="6"/>
          </p:cNvCxnSpPr>
          <p:nvPr/>
        </p:nvCxnSpPr>
        <p:spPr>
          <a:xfrm flipH="1">
            <a:off x="5870258" y="4012974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stealth" w="lg" len="lg"/>
          </a:ln>
          <a:effectLst/>
        </p:spPr>
      </p:cxnSp>
      <p:sp>
        <p:nvSpPr>
          <p:cNvPr id="122" name="TextBox 187"/>
          <p:cNvSpPr txBox="1">
            <a:spLocks noChangeArrowheads="1"/>
          </p:cNvSpPr>
          <p:nvPr/>
        </p:nvSpPr>
        <p:spPr bwMode="auto">
          <a:xfrm>
            <a:off x="7362190" y="3824061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123" name="TextBox 187"/>
          <p:cNvSpPr txBox="1">
            <a:spLocks noChangeArrowheads="1"/>
          </p:cNvSpPr>
          <p:nvPr/>
        </p:nvSpPr>
        <p:spPr bwMode="auto">
          <a:xfrm>
            <a:off x="6531928" y="3293836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4" name="TextBox 187"/>
          <p:cNvSpPr txBox="1">
            <a:spLocks noChangeArrowheads="1"/>
          </p:cNvSpPr>
          <p:nvPr/>
        </p:nvSpPr>
        <p:spPr bwMode="auto">
          <a:xfrm>
            <a:off x="6015990" y="3746274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5" name="TextBox 187"/>
          <p:cNvSpPr txBox="1">
            <a:spLocks noChangeArrowheads="1"/>
          </p:cNvSpPr>
          <p:nvPr/>
        </p:nvSpPr>
        <p:spPr bwMode="auto">
          <a:xfrm>
            <a:off x="6073140" y="4473349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6" name="TextBox 187"/>
          <p:cNvSpPr txBox="1">
            <a:spLocks noChangeArrowheads="1"/>
          </p:cNvSpPr>
          <p:nvPr/>
        </p:nvSpPr>
        <p:spPr bwMode="auto">
          <a:xfrm>
            <a:off x="8159115" y="4473349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27" name="TextBox 187"/>
          <p:cNvSpPr txBox="1">
            <a:spLocks noChangeArrowheads="1"/>
          </p:cNvSpPr>
          <p:nvPr/>
        </p:nvSpPr>
        <p:spPr bwMode="auto">
          <a:xfrm>
            <a:off x="7146290" y="4335236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28" name="Straight Connector 54"/>
          <p:cNvCxnSpPr>
            <a:stCxn id="102" idx="6"/>
            <a:endCxn id="103" idx="2"/>
          </p:cNvCxnSpPr>
          <p:nvPr/>
        </p:nvCxnSpPr>
        <p:spPr>
          <a:xfrm>
            <a:off x="5481320" y="5260749"/>
            <a:ext cx="847725" cy="0"/>
          </a:xfrm>
          <a:prstGeom prst="line">
            <a:avLst/>
          </a:prstGeom>
          <a:noFill/>
          <a:ln w="38100" cap="flat" cmpd="sng" algn="ctr">
            <a:solidFill>
              <a:srgbClr val="2D2D8A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29" name="TextBox 187"/>
          <p:cNvSpPr txBox="1">
            <a:spLocks noChangeArrowheads="1"/>
          </p:cNvSpPr>
          <p:nvPr/>
        </p:nvSpPr>
        <p:spPr bwMode="auto">
          <a:xfrm>
            <a:off x="5749290" y="4982936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</a:p>
        </p:txBody>
      </p:sp>
      <p:cxnSp>
        <p:nvCxnSpPr>
          <p:cNvPr id="130" name="Straight Connector 45"/>
          <p:cNvCxnSpPr>
            <a:stCxn id="111" idx="1"/>
            <a:endCxn id="96" idx="7"/>
          </p:cNvCxnSpPr>
          <p:nvPr/>
        </p:nvCxnSpPr>
        <p:spPr>
          <a:xfrm flipH="1">
            <a:off x="5792470" y="1773011"/>
            <a:ext cx="803275" cy="92773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none" w="lg" len="lg"/>
          </a:ln>
          <a:effectLst/>
        </p:spPr>
      </p:cxnSp>
      <p:cxnSp>
        <p:nvCxnSpPr>
          <p:cNvPr id="131" name="Straight Connector 46"/>
          <p:cNvCxnSpPr>
            <a:stCxn id="96" idx="6"/>
            <a:endCxn id="97" idx="2"/>
          </p:cNvCxnSpPr>
          <p:nvPr/>
        </p:nvCxnSpPr>
        <p:spPr>
          <a:xfrm>
            <a:off x="5870258" y="2889024"/>
            <a:ext cx="917575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none" w="lg" len="lg"/>
          </a:ln>
          <a:effectLst/>
        </p:spPr>
      </p:cxnSp>
      <p:cxnSp>
        <p:nvCxnSpPr>
          <p:cNvPr id="132" name="Straight Connector 47"/>
          <p:cNvCxnSpPr>
            <a:stCxn id="101" idx="3"/>
            <a:endCxn id="102" idx="0"/>
          </p:cNvCxnSpPr>
          <p:nvPr/>
        </p:nvCxnSpPr>
        <p:spPr>
          <a:xfrm flipH="1">
            <a:off x="5214620" y="4201886"/>
            <a:ext cx="200660" cy="79248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none" w="lg" len="lg"/>
          </a:ln>
          <a:effectLst/>
        </p:spPr>
      </p:cxnSp>
      <p:cxnSp>
        <p:nvCxnSpPr>
          <p:cNvPr id="133" name="Straight Connector 48"/>
          <p:cNvCxnSpPr>
            <a:stCxn id="101" idx="5"/>
            <a:endCxn id="103" idx="1"/>
          </p:cNvCxnSpPr>
          <p:nvPr/>
        </p:nvCxnSpPr>
        <p:spPr>
          <a:xfrm>
            <a:off x="5792470" y="4201886"/>
            <a:ext cx="614680" cy="87058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none" w="lg" len="lg"/>
          </a:ln>
          <a:effectLst/>
        </p:spPr>
      </p:cxnSp>
      <p:cxnSp>
        <p:nvCxnSpPr>
          <p:cNvPr id="134" name="Straight Connector 49"/>
          <p:cNvCxnSpPr>
            <a:stCxn id="97" idx="3"/>
            <a:endCxn id="100" idx="0"/>
          </p:cNvCxnSpPr>
          <p:nvPr/>
        </p:nvCxnSpPr>
        <p:spPr>
          <a:xfrm flipH="1">
            <a:off x="6670675" y="3077936"/>
            <a:ext cx="195580" cy="668655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none" w="lg" len="lg"/>
          </a:ln>
          <a:effectLst/>
        </p:spPr>
      </p:cxnSp>
      <p:cxnSp>
        <p:nvCxnSpPr>
          <p:cNvPr id="135" name="Straight Connector 50"/>
          <p:cNvCxnSpPr>
            <a:stCxn id="100" idx="2"/>
            <a:endCxn id="101" idx="6"/>
          </p:cNvCxnSpPr>
          <p:nvPr/>
        </p:nvCxnSpPr>
        <p:spPr>
          <a:xfrm flipH="1">
            <a:off x="5870258" y="4012974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headEnd type="none" w="lg" len="lg"/>
          </a:ln>
          <a:effectLst/>
        </p:spPr>
      </p:cxnSp>
      <p:sp>
        <p:nvSpPr>
          <p:cNvPr id="50" name="灯片编号占位符 4">
            <a:extLst>
              <a:ext uri="{FF2B5EF4-FFF2-40B4-BE49-F238E27FC236}">
                <a16:creationId xmlns:a16="http://schemas.microsoft.com/office/drawing/2014/main" id="{9C50E511-4AC6-4589-8128-64B9A7378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ldLvl="0" animBg="1"/>
      <p:bldP spid="99" grpId="0" bldLvl="0" animBg="1"/>
      <p:bldP spid="104" grpId="0" bldLvl="0" animBg="1"/>
      <p:bldP spid="107" grpId="0"/>
      <p:bldP spid="108" grpId="0"/>
      <p:bldP spid="109" grpId="0"/>
      <p:bldP spid="110" grpId="0"/>
      <p:bldP spid="112" grpId="0"/>
      <p:bldP spid="122" grpId="0"/>
      <p:bldP spid="126" grpId="0"/>
      <p:bldP spid="12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概述</a:t>
            </a:r>
            <a:endParaRPr lang="en-US" altLang="zh-CN" dirty="0"/>
          </a:p>
          <a:p>
            <a:r>
              <a:rPr lang="zh-CN" altLang="en-US" dirty="0"/>
              <a:t>关键特性</a:t>
            </a:r>
            <a:endParaRPr lang="en-US" altLang="zh-CN" dirty="0"/>
          </a:p>
          <a:p>
            <a:r>
              <a:rPr lang="zh-CN" altLang="en-US" dirty="0"/>
              <a:t>基于</a:t>
            </a:r>
            <a:r>
              <a:rPr lang="en-US" altLang="zh-CN" dirty="0"/>
              <a:t>IEEE802.15.4</a:t>
            </a:r>
            <a:r>
              <a:rPr lang="zh-CN" altLang="en-US" dirty="0"/>
              <a:t>的传感网协议架构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应用案例</a:t>
            </a:r>
            <a:endParaRPr lang="en-US" altLang="zh-CN" dirty="0"/>
          </a:p>
          <a:p>
            <a:r>
              <a:rPr lang="zh-CN" altLang="en-US" dirty="0"/>
              <a:t>研究进展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295" y="3782010"/>
            <a:ext cx="4278843" cy="29997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BLE</a:t>
            </a:r>
            <a:r>
              <a:rPr lang="zh-CN" altLang="en-US" dirty="0"/>
              <a:t>的通信场景</a:t>
            </a:r>
            <a:endParaRPr lang="en-US" altLang="zh-CN" dirty="0"/>
          </a:p>
          <a:p>
            <a:pPr lvl="1"/>
            <a:r>
              <a:rPr lang="en-US" altLang="zh-CN" dirty="0"/>
              <a:t>BLE</a:t>
            </a:r>
            <a:r>
              <a:rPr lang="zh-CN" altLang="en-US" dirty="0"/>
              <a:t>的设备构造成了星型的网络（</a:t>
            </a:r>
            <a:r>
              <a:rPr lang="en-US" altLang="zh-CN" dirty="0"/>
              <a:t>piconet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一个</a:t>
            </a:r>
            <a:r>
              <a:rPr lang="en-US" altLang="zh-CN" dirty="0"/>
              <a:t>master</a:t>
            </a:r>
            <a:r>
              <a:rPr lang="zh-CN" altLang="en-US" dirty="0"/>
              <a:t>，多个</a:t>
            </a:r>
            <a:r>
              <a:rPr lang="en-US" altLang="zh-CN" dirty="0"/>
              <a:t>slave</a:t>
            </a:r>
          </a:p>
          <a:p>
            <a:pPr lvl="2"/>
            <a:r>
              <a:rPr lang="en-US" altLang="zh-CN" dirty="0"/>
              <a:t>master</a:t>
            </a:r>
            <a:r>
              <a:rPr lang="zh-CN" altLang="zh-CN" dirty="0"/>
              <a:t>负责了整个</a:t>
            </a:r>
            <a:r>
              <a:rPr lang="en-US" altLang="zh-CN" dirty="0"/>
              <a:t>piconet</a:t>
            </a:r>
            <a:r>
              <a:rPr lang="zh-CN" altLang="zh-CN" dirty="0"/>
              <a:t>的通信协调</a:t>
            </a:r>
            <a:r>
              <a:rPr lang="zh-CN" altLang="en-US" dirty="0"/>
              <a:t>，</a:t>
            </a:r>
            <a:r>
              <a:rPr lang="en-US" altLang="zh-CN" dirty="0"/>
              <a:t>slave</a:t>
            </a:r>
            <a:r>
              <a:rPr lang="zh-CN" altLang="zh-CN" dirty="0"/>
              <a:t>只能和</a:t>
            </a:r>
            <a:r>
              <a:rPr lang="en-US" altLang="zh-CN" dirty="0"/>
              <a:t>master</a:t>
            </a:r>
            <a:r>
              <a:rPr lang="zh-CN" altLang="zh-CN" dirty="0"/>
              <a:t>通信</a:t>
            </a:r>
            <a:endParaRPr lang="en-US" altLang="zh-CN" dirty="0"/>
          </a:p>
          <a:p>
            <a:pPr lvl="2"/>
            <a:r>
              <a:rPr lang="zh-CN" altLang="zh-CN" dirty="0"/>
              <a:t>在一个</a:t>
            </a:r>
            <a:r>
              <a:rPr lang="en-US" altLang="zh-CN" dirty="0"/>
              <a:t>piconet</a:t>
            </a:r>
            <a:r>
              <a:rPr lang="zh-CN" altLang="zh-CN" dirty="0"/>
              <a:t>中，每个</a:t>
            </a:r>
            <a:r>
              <a:rPr lang="en-US" altLang="zh-CN" dirty="0"/>
              <a:t>slave</a:t>
            </a:r>
            <a:r>
              <a:rPr lang="zh-CN" altLang="zh-CN" dirty="0"/>
              <a:t>使用的是不同的通信信道</a:t>
            </a:r>
            <a:endParaRPr lang="en-US" altLang="zh-CN" dirty="0"/>
          </a:p>
          <a:p>
            <a:pPr lvl="1"/>
            <a:r>
              <a:rPr lang="zh-CN" altLang="zh-CN" dirty="0"/>
              <a:t>一个</a:t>
            </a:r>
            <a:r>
              <a:rPr lang="en-US" altLang="zh-CN" dirty="0"/>
              <a:t>BLE</a:t>
            </a:r>
            <a:r>
              <a:rPr lang="zh-CN" altLang="zh-CN" dirty="0"/>
              <a:t>设备可以同时为一个</a:t>
            </a:r>
            <a:r>
              <a:rPr lang="en-US" altLang="zh-CN" dirty="0"/>
              <a:t>piconet</a:t>
            </a:r>
            <a:r>
              <a:rPr lang="zh-CN" altLang="zh-CN" dirty="0"/>
              <a:t>的</a:t>
            </a:r>
            <a:r>
              <a:rPr lang="en-US" altLang="zh-CN" dirty="0"/>
              <a:t>slave</a:t>
            </a:r>
            <a:r>
              <a:rPr lang="zh-CN" altLang="zh-CN" dirty="0"/>
              <a:t>，也同时为另外一个</a:t>
            </a:r>
            <a:r>
              <a:rPr lang="en-US" altLang="zh-CN" dirty="0"/>
              <a:t>piconet</a:t>
            </a:r>
            <a:r>
              <a:rPr lang="zh-CN" altLang="zh-CN" dirty="0"/>
              <a:t>的</a:t>
            </a:r>
            <a:r>
              <a:rPr lang="en-US" altLang="zh-CN" dirty="0"/>
              <a:t>slave</a:t>
            </a:r>
            <a:r>
              <a:rPr lang="zh-CN" altLang="zh-CN" dirty="0"/>
              <a:t>或者</a:t>
            </a:r>
            <a:r>
              <a:rPr lang="en-US" altLang="zh-CN" dirty="0"/>
              <a:t>master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C5AC95-0758-4DDA-AFB3-688D09916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57BE11-9D5D-4CA3-95CA-82561805A1CA}"/>
              </a:ext>
            </a:extLst>
          </p:cNvPr>
          <p:cNvSpPr/>
          <p:nvPr/>
        </p:nvSpPr>
        <p:spPr>
          <a:xfrm>
            <a:off x="6972461" y="4708951"/>
            <a:ext cx="16635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80000"/>
            </a:pPr>
            <a:r>
              <a:rPr lang="zh-CN" altLang="en-US" dirty="0">
                <a:latin typeface="+mj-ea"/>
                <a:ea typeface="+mj-ea"/>
              </a:rPr>
              <a:t>相同颜色为同一个信道</a:t>
            </a: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mesh</a:t>
            </a:r>
            <a:r>
              <a:rPr lang="zh-CN" altLang="en-US" dirty="0"/>
              <a:t>组网（多跳）：网络中节点不同的角色</a:t>
            </a:r>
            <a:endParaRPr lang="en-US" altLang="zh-CN" dirty="0"/>
          </a:p>
          <a:p>
            <a:pPr lvl="1"/>
            <a:r>
              <a:rPr lang="zh-CN" altLang="en-US" dirty="0"/>
              <a:t>普通节点</a:t>
            </a:r>
            <a:r>
              <a:rPr lang="en-US" altLang="zh-CN" dirty="0"/>
              <a:t>: </a:t>
            </a:r>
            <a:r>
              <a:rPr lang="zh-CN" altLang="en-US" dirty="0"/>
              <a:t>网络边缘的节点，没有</a:t>
            </a:r>
            <a:r>
              <a:rPr lang="en-US" altLang="zh-CN" dirty="0"/>
              <a:t>relay</a:t>
            </a:r>
            <a:r>
              <a:rPr lang="zh-CN" altLang="en-US" dirty="0"/>
              <a:t>功能。</a:t>
            </a:r>
            <a:endParaRPr lang="en-US" altLang="zh-CN" dirty="0"/>
          </a:p>
          <a:p>
            <a:pPr lvl="1"/>
            <a:r>
              <a:rPr lang="zh-CN" altLang="en-US" dirty="0"/>
              <a:t>转发节点</a:t>
            </a:r>
            <a:r>
              <a:rPr lang="en-US" altLang="zh-CN" dirty="0"/>
              <a:t>: </a:t>
            </a:r>
            <a:r>
              <a:rPr lang="zh-CN" altLang="en-US" dirty="0"/>
              <a:t>具有转发功能，收到数据立即转发</a:t>
            </a:r>
            <a:endParaRPr lang="en-US" altLang="zh-CN" dirty="0"/>
          </a:p>
          <a:p>
            <a:pPr lvl="1"/>
            <a:r>
              <a:rPr lang="zh-CN" altLang="en-US" dirty="0"/>
              <a:t>朋友节点</a:t>
            </a:r>
            <a:r>
              <a:rPr lang="en-US" altLang="zh-CN" dirty="0"/>
              <a:t>: </a:t>
            </a:r>
            <a:r>
              <a:rPr lang="zh-CN" altLang="en-US" dirty="0"/>
              <a:t>特殊的转发节点，还可以暂存数据</a:t>
            </a:r>
            <a:endParaRPr lang="en-US" altLang="zh-CN" dirty="0"/>
          </a:p>
          <a:p>
            <a:pPr lvl="1"/>
            <a:r>
              <a:rPr lang="zh-CN" altLang="en-US" dirty="0"/>
              <a:t>低功耗节点：可从朋友节点查询数据，无需一直监听数据包。</a:t>
            </a:r>
            <a:endParaRPr lang="en-US" altLang="zh-CN" dirty="0"/>
          </a:p>
          <a:p>
            <a:pPr lvl="1"/>
            <a:r>
              <a:rPr lang="zh-CN" altLang="en-US" dirty="0"/>
              <a:t>朋友节点（未使用）</a:t>
            </a:r>
            <a:r>
              <a:rPr lang="en-US" altLang="zh-CN" dirty="0"/>
              <a:t>: </a:t>
            </a:r>
            <a:r>
              <a:rPr lang="zh-CN" altLang="en-US" dirty="0"/>
              <a:t>可以作为朋友节点，但未启用对应的功能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1744910" y="3661988"/>
            <a:ext cx="5794044" cy="3044430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35CF2ACE-247A-4652-896D-B7CEBD629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en-US" dirty="0"/>
              <a:t>的协议栈</a:t>
            </a:r>
            <a:endParaRPr lang="en-US" altLang="zh-CN" dirty="0"/>
          </a:p>
          <a:p>
            <a:pPr lvl="1"/>
            <a:r>
              <a:rPr lang="zh-CN" altLang="en-US" dirty="0"/>
              <a:t>低功耗物理层</a:t>
            </a:r>
            <a:endParaRPr lang="en-US" altLang="zh-CN" dirty="0"/>
          </a:p>
          <a:p>
            <a:pPr lvl="2"/>
            <a:r>
              <a:rPr lang="en-US" altLang="zh-CN" dirty="0"/>
              <a:t>40</a:t>
            </a:r>
            <a:r>
              <a:rPr lang="zh-CN" altLang="en-US" dirty="0"/>
              <a:t>个跳频信道：</a:t>
            </a:r>
            <a:r>
              <a:rPr lang="en-US" altLang="zh-CN" dirty="0"/>
              <a:t>37</a:t>
            </a:r>
            <a:r>
              <a:rPr lang="zh-CN" altLang="en-US" dirty="0"/>
              <a:t>个数据传输信道，</a:t>
            </a:r>
            <a:r>
              <a:rPr lang="en-US" altLang="zh-CN" dirty="0"/>
              <a:t>3</a:t>
            </a:r>
            <a:r>
              <a:rPr lang="zh-CN" altLang="en-US" dirty="0"/>
              <a:t>个广播信道</a:t>
            </a:r>
            <a:endParaRPr lang="en-US" altLang="zh-CN" dirty="0"/>
          </a:p>
          <a:p>
            <a:pPr lvl="1"/>
            <a:r>
              <a:rPr lang="zh-CN" altLang="en-US" dirty="0"/>
              <a:t>低功耗链路层</a:t>
            </a:r>
            <a:endParaRPr lang="en-US" altLang="zh-CN" dirty="0"/>
          </a:p>
          <a:p>
            <a:pPr lvl="2"/>
            <a:r>
              <a:rPr lang="zh-CN" altLang="en-US" dirty="0"/>
              <a:t>周期性醒睡</a:t>
            </a:r>
            <a:endParaRPr lang="en-US" altLang="zh-CN" dirty="0"/>
          </a:p>
          <a:p>
            <a:pPr lvl="1"/>
            <a:r>
              <a:rPr lang="en-US" altLang="zh-CN" dirty="0"/>
              <a:t>L2CAP</a:t>
            </a:r>
          </a:p>
          <a:p>
            <a:pPr lvl="2"/>
            <a:r>
              <a:rPr lang="zh-CN" altLang="en-US" dirty="0"/>
              <a:t>数据包融合</a:t>
            </a:r>
            <a:r>
              <a:rPr lang="en-US" altLang="zh-CN" dirty="0"/>
              <a:t>/</a:t>
            </a:r>
            <a:r>
              <a:rPr lang="zh-CN" altLang="en-US" dirty="0"/>
              <a:t>分割</a:t>
            </a:r>
            <a:endParaRPr lang="en-US" altLang="zh-CN" dirty="0"/>
          </a:p>
          <a:p>
            <a:pPr lvl="2"/>
            <a:r>
              <a:rPr lang="zh-CN" altLang="en-US" dirty="0"/>
              <a:t>控制数据包重传</a:t>
            </a:r>
            <a:endParaRPr lang="en-US" altLang="zh-CN" dirty="0"/>
          </a:p>
          <a:p>
            <a:pPr lvl="1"/>
            <a:r>
              <a:rPr lang="en-US" altLang="zh-CN" dirty="0"/>
              <a:t>GATT</a:t>
            </a:r>
            <a:r>
              <a:rPr lang="zh-CN" altLang="en-US" dirty="0"/>
              <a:t>，</a:t>
            </a:r>
            <a:r>
              <a:rPr lang="en-US" altLang="zh-CN" dirty="0"/>
              <a:t>ATT</a:t>
            </a:r>
          </a:p>
          <a:p>
            <a:pPr lvl="2"/>
            <a:r>
              <a:rPr lang="zh-CN" altLang="en-US" dirty="0"/>
              <a:t>服务交换的数据结构</a:t>
            </a:r>
            <a:endParaRPr lang="en-US" altLang="zh-CN" dirty="0"/>
          </a:p>
          <a:p>
            <a:pPr lvl="1"/>
            <a:r>
              <a:rPr lang="en-US" altLang="zh-CN" dirty="0"/>
              <a:t>SMP</a:t>
            </a:r>
          </a:p>
          <a:p>
            <a:pPr lvl="2"/>
            <a:r>
              <a:rPr lang="zh-CN" altLang="en-US" dirty="0"/>
              <a:t>密钥生成与分发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2410"/>
          <a:stretch>
            <a:fillRect/>
          </a:stretch>
        </p:blipFill>
        <p:spPr>
          <a:xfrm>
            <a:off x="3800470" y="2494266"/>
            <a:ext cx="5343530" cy="3568206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D9AD38A1-3E2C-4F5D-8A25-3F2D65D33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物理层协议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链路层协议</a:t>
            </a:r>
            <a:endParaRPr lang="en-US" altLang="zh-CN" dirty="0"/>
          </a:p>
          <a:p>
            <a:r>
              <a:rPr lang="en-US" altLang="zh-CN" dirty="0"/>
              <a:t>L2CAP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  <a:endParaRPr lang="en-US" altLang="zh-CN" dirty="0"/>
          </a:p>
          <a:p>
            <a:r>
              <a:rPr lang="en-US" altLang="zh-CN" dirty="0"/>
              <a:t>BLE mesh</a:t>
            </a:r>
          </a:p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4CBA770-BFE5-41C3-85E5-292DECE1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53522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物理层协议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信道分配</a:t>
            </a:r>
            <a:endParaRPr lang="en-US" altLang="zh-CN" dirty="0"/>
          </a:p>
          <a:p>
            <a:pPr lvl="1"/>
            <a:r>
              <a:rPr lang="zh-CN" altLang="en-US" dirty="0"/>
              <a:t>从</a:t>
            </a:r>
            <a:r>
              <a:rPr lang="en-US" altLang="zh-CN" dirty="0"/>
              <a:t>2.4GHz</a:t>
            </a:r>
            <a:r>
              <a:rPr lang="zh-CN" altLang="en-US" dirty="0"/>
              <a:t>到</a:t>
            </a:r>
            <a:r>
              <a:rPr lang="en-US" altLang="zh-CN" dirty="0"/>
              <a:t>2.480GHz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每个信道</a:t>
            </a:r>
            <a:r>
              <a:rPr lang="en-US" altLang="zh-CN" dirty="0"/>
              <a:t>2MHz</a:t>
            </a:r>
            <a:r>
              <a:rPr lang="zh-CN" altLang="en-US" dirty="0"/>
              <a:t>，总共</a:t>
            </a:r>
            <a:r>
              <a:rPr lang="en-US" altLang="zh-CN" dirty="0"/>
              <a:t>40</a:t>
            </a:r>
            <a:r>
              <a:rPr lang="zh-CN" altLang="en-US" dirty="0"/>
              <a:t>个信道（</a:t>
            </a:r>
            <a:r>
              <a:rPr lang="en-US" altLang="zh-CN" dirty="0"/>
              <a:t>0~39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37,38,39</a:t>
            </a:r>
            <a:r>
              <a:rPr lang="zh-CN" altLang="en-US" dirty="0"/>
              <a:t>为广播信道，其他为数据传输信道</a:t>
            </a:r>
            <a:endParaRPr lang="en-US" altLang="zh-CN" dirty="0"/>
          </a:p>
          <a:p>
            <a:r>
              <a:rPr lang="zh-CN" altLang="zh-CN" dirty="0"/>
              <a:t>为了减少数据传输阶段的干扰，使用</a:t>
            </a:r>
            <a:r>
              <a:rPr lang="zh-CN" altLang="en-US" dirty="0"/>
              <a:t>跳频技术</a:t>
            </a:r>
            <a:endParaRPr lang="en-US" altLang="zh-CN" dirty="0"/>
          </a:p>
          <a:p>
            <a:pPr lvl="1"/>
            <a:r>
              <a:rPr lang="zh-CN" altLang="zh-CN" dirty="0"/>
              <a:t>基础信道的跳频</a:t>
            </a:r>
            <a:endParaRPr lang="en-US" altLang="zh-CN" dirty="0"/>
          </a:p>
          <a:p>
            <a:pPr lvl="2"/>
            <a:r>
              <a:rPr lang="zh-CN" altLang="zh-CN" dirty="0"/>
              <a:t>每一对</a:t>
            </a:r>
            <a:r>
              <a:rPr lang="en-US" altLang="zh-CN" dirty="0"/>
              <a:t>master</a:t>
            </a:r>
            <a:r>
              <a:rPr lang="zh-CN" altLang="zh-CN" dirty="0"/>
              <a:t>和</a:t>
            </a:r>
            <a:r>
              <a:rPr lang="en-US" altLang="zh-CN" dirty="0"/>
              <a:t>slave</a:t>
            </a:r>
            <a:r>
              <a:rPr lang="zh-CN" altLang="zh-CN" dirty="0"/>
              <a:t>以同一种伪随机序列的方式切换信道</a:t>
            </a:r>
            <a:endParaRPr lang="en-US" altLang="zh-CN" dirty="0"/>
          </a:p>
          <a:p>
            <a:pPr lvl="2"/>
            <a:r>
              <a:rPr lang="zh-CN" altLang="zh-CN" dirty="0"/>
              <a:t>下一次跳频的信道由</a:t>
            </a:r>
            <a:r>
              <a:rPr lang="en-US" altLang="zh-CN" dirty="0" err="1"/>
              <a:t>gMap</a:t>
            </a:r>
            <a:r>
              <a:rPr lang="zh-CN" altLang="zh-CN" dirty="0"/>
              <a:t>、</a:t>
            </a:r>
            <a:r>
              <a:rPr lang="en-US" altLang="zh-CN" dirty="0"/>
              <a:t>c</a:t>
            </a:r>
            <a:r>
              <a:rPr lang="zh-CN" altLang="zh-CN" dirty="0"/>
              <a:t>和</a:t>
            </a:r>
            <a:r>
              <a:rPr lang="en-US" altLang="zh-CN" dirty="0"/>
              <a:t>hop</a:t>
            </a:r>
            <a:r>
              <a:rPr lang="zh-CN" altLang="zh-CN" dirty="0"/>
              <a:t>决定</a:t>
            </a:r>
            <a:endParaRPr lang="en-US" altLang="zh-CN" dirty="0"/>
          </a:p>
          <a:p>
            <a:pPr lvl="1"/>
            <a:r>
              <a:rPr lang="zh-CN" altLang="en-US" dirty="0"/>
              <a:t>自适应跳频</a:t>
            </a:r>
            <a:endParaRPr lang="en-US" altLang="zh-CN" dirty="0"/>
          </a:p>
          <a:p>
            <a:pPr lvl="2"/>
            <a:r>
              <a:rPr lang="en-US" altLang="zh-CN" dirty="0"/>
              <a:t>master</a:t>
            </a:r>
            <a:r>
              <a:rPr lang="zh-CN" altLang="zh-CN" dirty="0"/>
              <a:t>和</a:t>
            </a:r>
            <a:r>
              <a:rPr lang="en-US" altLang="zh-CN" dirty="0"/>
              <a:t>slave</a:t>
            </a:r>
            <a:r>
              <a:rPr lang="zh-CN" altLang="zh-CN" dirty="0"/>
              <a:t>会维护一系列的信道质量数组</a:t>
            </a:r>
            <a:r>
              <a:rPr lang="en-US" altLang="zh-CN" dirty="0"/>
              <a:t>ChM</a:t>
            </a:r>
          </a:p>
          <a:p>
            <a:pPr lvl="2"/>
            <a:r>
              <a:rPr lang="en-US" altLang="zh-CN" dirty="0" err="1"/>
              <a:t>gMap</a:t>
            </a:r>
            <a:r>
              <a:rPr lang="zh-CN" altLang="en-US" dirty="0"/>
              <a:t>根据</a:t>
            </a:r>
            <a:r>
              <a:rPr lang="en-US" altLang="zh-CN" dirty="0"/>
              <a:t>ChM</a:t>
            </a:r>
            <a:r>
              <a:rPr lang="zh-CN" altLang="zh-CN" dirty="0"/>
              <a:t>对每个信道的标记情况进行可用信道的更新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B6E838-1701-4DB7-8017-C841E6A1B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27397"/>
          <a:stretch>
            <a:fillRect/>
          </a:stretch>
        </p:blipFill>
        <p:spPr>
          <a:xfrm>
            <a:off x="1223962" y="1518912"/>
            <a:ext cx="6734175" cy="9517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物理层协议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en-US" dirty="0"/>
              <a:t>的调制方式</a:t>
            </a:r>
            <a:r>
              <a:rPr lang="en-US" altLang="zh-CN" dirty="0"/>
              <a:t>: GFSK</a:t>
            </a:r>
            <a:r>
              <a:rPr lang="zh-CN" altLang="en-US" dirty="0"/>
              <a:t>（高斯频移键控）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给定传输数据</a:t>
            </a:r>
            <a:r>
              <a:rPr lang="en-US" altLang="zh-CN" dirty="0"/>
              <a:t>101</a:t>
            </a:r>
            <a:r>
              <a:rPr lang="zh-CN" altLang="en-US" dirty="0"/>
              <a:t>，</a:t>
            </a:r>
            <a:r>
              <a:rPr lang="en-US" altLang="zh-CN" dirty="0"/>
              <a:t>FSK</a:t>
            </a:r>
            <a:r>
              <a:rPr lang="zh-CN" altLang="en-US" dirty="0"/>
              <a:t>和</a:t>
            </a:r>
            <a:r>
              <a:rPr lang="en-US" altLang="zh-CN" dirty="0"/>
              <a:t>GFSK</a:t>
            </a:r>
            <a:r>
              <a:rPr lang="zh-CN" altLang="en-US" dirty="0"/>
              <a:t>调制波形图如下所示</a:t>
            </a:r>
            <a:endParaRPr lang="en-US" altLang="zh-CN" dirty="0"/>
          </a:p>
          <a:p>
            <a:pPr lvl="1"/>
            <a:r>
              <a:rPr lang="zh-CN" altLang="en-US" dirty="0"/>
              <a:t>降低不同频率调制之间的干扰。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3568064"/>
            <a:ext cx="5956046" cy="30803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6260" y="3201649"/>
            <a:ext cx="35618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baseline="0" dirty="0"/>
              <a:t>1</a:t>
            </a:r>
            <a:endParaRPr lang="zh-CN" altLang="en-US" b="1" baseline="0" dirty="0"/>
          </a:p>
        </p:txBody>
      </p:sp>
      <p:sp>
        <p:nvSpPr>
          <p:cNvPr id="9" name="文本框 8"/>
          <p:cNvSpPr txBox="1"/>
          <p:nvPr/>
        </p:nvSpPr>
        <p:spPr>
          <a:xfrm>
            <a:off x="2785023" y="3201649"/>
            <a:ext cx="35618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baseline="0" dirty="0"/>
              <a:t>0</a:t>
            </a:r>
            <a:endParaRPr lang="zh-CN" altLang="en-US" b="1" baseline="0" dirty="0"/>
          </a:p>
        </p:txBody>
      </p:sp>
      <p:sp>
        <p:nvSpPr>
          <p:cNvPr id="11" name="文本框 10"/>
          <p:cNvSpPr txBox="1"/>
          <p:nvPr/>
        </p:nvSpPr>
        <p:spPr>
          <a:xfrm>
            <a:off x="4591050" y="3182599"/>
            <a:ext cx="35618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baseline="0" dirty="0"/>
              <a:t>1</a:t>
            </a:r>
            <a:endParaRPr lang="zh-CN" altLang="en-US" b="1" baseline="0" dirty="0"/>
          </a:p>
        </p:txBody>
      </p:sp>
      <p:sp>
        <p:nvSpPr>
          <p:cNvPr id="12" name="文本框 11"/>
          <p:cNvSpPr txBox="1"/>
          <p:nvPr/>
        </p:nvSpPr>
        <p:spPr>
          <a:xfrm>
            <a:off x="2053733" y="4150667"/>
            <a:ext cx="265970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="1" baseline="0" dirty="0"/>
              <a:t>高斯滤波原始数据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377220" y="4877423"/>
            <a:ext cx="152798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baseline="0" dirty="0"/>
              <a:t>GFSK</a:t>
            </a:r>
            <a:r>
              <a:rPr lang="zh-CN" altLang="en-US" b="1" baseline="0" dirty="0"/>
              <a:t>调制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453420" y="5644824"/>
            <a:ext cx="132921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baseline="0" dirty="0"/>
              <a:t>FSK</a:t>
            </a:r>
            <a:r>
              <a:rPr lang="zh-CN" altLang="en-US" b="1" baseline="0" dirty="0"/>
              <a:t>调制</a:t>
            </a:r>
          </a:p>
        </p:txBody>
      </p:sp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5991749" y="4016127"/>
            <a:ext cx="3121660" cy="26136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285580" y="2950338"/>
            <a:ext cx="2592693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b="1" baseline="0" dirty="0"/>
              <a:t>频谱图对比</a:t>
            </a:r>
            <a:endParaRPr lang="en-US" altLang="zh-CN" b="1" baseline="0" dirty="0"/>
          </a:p>
          <a:p>
            <a:r>
              <a:rPr lang="zh-CN" altLang="en-US" b="1" baseline="0" dirty="0"/>
              <a:t>红色：</a:t>
            </a:r>
            <a:r>
              <a:rPr lang="en-US" altLang="zh-CN" b="1" baseline="0" dirty="0"/>
              <a:t>FSK</a:t>
            </a:r>
          </a:p>
          <a:p>
            <a:r>
              <a:rPr lang="zh-CN" altLang="en-US" b="1" baseline="0" dirty="0"/>
              <a:t>黑色：</a:t>
            </a:r>
            <a:r>
              <a:rPr lang="en-US" altLang="zh-CN" b="1" baseline="0" dirty="0"/>
              <a:t>GFSK</a:t>
            </a:r>
            <a:endParaRPr lang="zh-CN" altLang="en-US" b="1" baseline="0" dirty="0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4DC73DB-E502-4FD0-A59D-EF664927A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物理层协议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物理帧结构。</a:t>
            </a:r>
            <a:endParaRPr lang="en-US" altLang="zh-CN" dirty="0"/>
          </a:p>
          <a:p>
            <a:pPr lvl="1"/>
            <a:r>
              <a:rPr lang="en-US" altLang="zh-CN" dirty="0"/>
              <a:t>preamble: 0,1</a:t>
            </a:r>
            <a:r>
              <a:rPr lang="zh-CN" altLang="en-US" dirty="0"/>
              <a:t>交替，首位</a:t>
            </a:r>
            <a:r>
              <a:rPr lang="en-US" altLang="zh-CN" dirty="0"/>
              <a:t>bit</a:t>
            </a:r>
            <a:r>
              <a:rPr lang="zh-CN" altLang="en-US" dirty="0"/>
              <a:t>和</a:t>
            </a:r>
            <a:r>
              <a:rPr lang="en-US" altLang="zh-CN" dirty="0"/>
              <a:t>Access Address</a:t>
            </a:r>
            <a:r>
              <a:rPr lang="zh-CN" altLang="en-US" dirty="0"/>
              <a:t>的首位</a:t>
            </a:r>
            <a:r>
              <a:rPr lang="en-US" altLang="zh-CN" dirty="0"/>
              <a:t>bit</a:t>
            </a:r>
            <a:r>
              <a:rPr lang="zh-CN" altLang="en-US" dirty="0"/>
              <a:t>相同</a:t>
            </a:r>
            <a:endParaRPr lang="en-US" altLang="zh-CN" dirty="0"/>
          </a:p>
          <a:p>
            <a:pPr lvl="2"/>
            <a:r>
              <a:rPr lang="en-US" altLang="zh-CN" dirty="0"/>
              <a:t>10101010 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(1Mbps</a:t>
            </a:r>
            <a:r>
              <a:rPr lang="zh-CN" altLang="en-US" dirty="0"/>
              <a:t>模式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Access Address (AA)</a:t>
            </a:r>
          </a:p>
          <a:p>
            <a:pPr lvl="2"/>
            <a:r>
              <a:rPr lang="zh-CN" altLang="en-US" dirty="0"/>
              <a:t>广播包：固定的值</a:t>
            </a:r>
            <a:r>
              <a:rPr lang="en-US" altLang="zh-CN" dirty="0"/>
              <a:t>0x8E89BED6</a:t>
            </a:r>
          </a:p>
          <a:p>
            <a:pPr lvl="2"/>
            <a:r>
              <a:rPr lang="zh-CN" altLang="en-US" dirty="0"/>
              <a:t>数据包：在建立连接过程中确定，每一对链路唯一的</a:t>
            </a:r>
            <a:r>
              <a:rPr lang="en-US" altLang="zh-CN" dirty="0"/>
              <a:t>AA</a:t>
            </a:r>
          </a:p>
          <a:p>
            <a:pPr lvl="1"/>
            <a:r>
              <a:rPr lang="en-US" altLang="zh-CN" dirty="0"/>
              <a:t>PDU</a:t>
            </a:r>
          </a:p>
          <a:p>
            <a:pPr lvl="2"/>
            <a:r>
              <a:rPr lang="zh-CN" altLang="en-US" dirty="0"/>
              <a:t>广播包：最多</a:t>
            </a:r>
            <a:r>
              <a:rPr lang="en-US" altLang="zh-CN" dirty="0"/>
              <a:t>37</a:t>
            </a:r>
            <a:r>
              <a:rPr lang="zh-CN" altLang="en-US" dirty="0"/>
              <a:t>字节，最少</a:t>
            </a:r>
            <a:r>
              <a:rPr lang="en-US" altLang="zh-CN" dirty="0"/>
              <a:t>6</a:t>
            </a:r>
            <a:r>
              <a:rPr lang="zh-CN" altLang="en-US" dirty="0"/>
              <a:t>字节</a:t>
            </a:r>
            <a:endParaRPr lang="en-US" altLang="zh-CN" dirty="0"/>
          </a:p>
          <a:p>
            <a:pPr lvl="2"/>
            <a:r>
              <a:rPr lang="zh-CN" altLang="en-US" dirty="0"/>
              <a:t>数据包：最多</a:t>
            </a:r>
            <a:r>
              <a:rPr lang="en-US" altLang="zh-CN" dirty="0"/>
              <a:t>257</a:t>
            </a:r>
            <a:r>
              <a:rPr lang="zh-CN" altLang="en-US" dirty="0"/>
              <a:t>字节，最少</a:t>
            </a:r>
            <a:r>
              <a:rPr lang="en-US" altLang="zh-CN" dirty="0"/>
              <a:t>2</a:t>
            </a:r>
            <a:r>
              <a:rPr lang="zh-CN" altLang="en-US" dirty="0"/>
              <a:t>字节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257800"/>
            <a:ext cx="8439150" cy="118110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5BDDBE-A484-4B78-9DA1-33EC7E49F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物理层协议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链路层协议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L2CAP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  <a:endParaRPr lang="en-US" altLang="zh-CN" dirty="0"/>
          </a:p>
          <a:p>
            <a:r>
              <a:rPr lang="en-US" altLang="zh-CN" dirty="0"/>
              <a:t>BLE mesh</a:t>
            </a:r>
          </a:p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4CBA770-BFE5-41C3-85E5-292DECE1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23067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24BE4-D47E-482E-9DEC-CFA6A8D7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链路层协议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5EA56-DED6-4F8F-86F7-DD061D7B6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en-US" dirty="0"/>
              <a:t>数据传输流程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数据校验</a:t>
            </a:r>
            <a:endParaRPr lang="en-US" altLang="zh-CN" dirty="0"/>
          </a:p>
          <a:p>
            <a:pPr lvl="2"/>
            <a:r>
              <a:rPr lang="zh-CN" altLang="zh-CN" dirty="0"/>
              <a:t>使用</a:t>
            </a:r>
            <a:r>
              <a:rPr lang="en-US" altLang="zh-CN" dirty="0"/>
              <a:t>CRC</a:t>
            </a:r>
            <a:r>
              <a:rPr lang="zh-CN" altLang="zh-CN" dirty="0"/>
              <a:t>实现对数据包的校验</a:t>
            </a:r>
            <a:endParaRPr lang="en-US" altLang="zh-CN" dirty="0"/>
          </a:p>
          <a:p>
            <a:pPr lvl="2"/>
            <a:r>
              <a:rPr lang="en-US" altLang="zh-CN" dirty="0"/>
              <a:t>BLE</a:t>
            </a:r>
            <a:r>
              <a:rPr lang="zh-CN" altLang="zh-CN" dirty="0"/>
              <a:t>中使用的</a:t>
            </a:r>
            <a:r>
              <a:rPr lang="en-US" altLang="zh-CN" dirty="0"/>
              <a:t>CRC</a:t>
            </a:r>
            <a:r>
              <a:rPr lang="zh-CN" altLang="zh-CN" dirty="0"/>
              <a:t>生成多项式为</a:t>
            </a:r>
            <a:r>
              <a:rPr lang="en-US" altLang="zh-CN" dirty="0"/>
              <a:t>x24+x10+x9+x6+x4+x3+x1+x</a:t>
            </a:r>
            <a:r>
              <a:rPr lang="en-US" altLang="zh-CN" baseline="30000" dirty="0"/>
              <a:t>0</a:t>
            </a:r>
          </a:p>
          <a:p>
            <a:pPr lvl="1"/>
            <a:r>
              <a:rPr lang="zh-CN" altLang="en-US" dirty="0"/>
              <a:t>数据白化</a:t>
            </a:r>
            <a:endParaRPr lang="en-US" altLang="zh-CN" dirty="0"/>
          </a:p>
          <a:p>
            <a:pPr lvl="2"/>
            <a:r>
              <a:rPr lang="zh-CN" altLang="en-US" dirty="0"/>
              <a:t>对二进制数据与一个伪随机序列进行异或操作</a:t>
            </a:r>
            <a:endParaRPr lang="en-US" altLang="zh-CN" dirty="0"/>
          </a:p>
          <a:p>
            <a:pPr lvl="2"/>
            <a:r>
              <a:rPr lang="en-US" altLang="zh-CN" dirty="0"/>
              <a:t>BLE</a:t>
            </a:r>
            <a:r>
              <a:rPr lang="zh-CN" altLang="zh-CN" dirty="0"/>
              <a:t>中使用了</a:t>
            </a:r>
            <a:r>
              <a:rPr lang="en-US" altLang="zh-CN" dirty="0"/>
              <a:t>7bit</a:t>
            </a:r>
            <a:r>
              <a:rPr lang="zh-CN" altLang="zh-CN" dirty="0"/>
              <a:t>长的随机序列进行数据白化</a:t>
            </a:r>
            <a:endParaRPr lang="zh-CN" altLang="en-US" dirty="0"/>
          </a:p>
        </p:txBody>
      </p: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F366CD85-B8DE-487B-8753-BD10F90CCA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35897" y="1569720"/>
            <a:ext cx="6148406" cy="1642712"/>
          </a:xfrm>
          <a:prstGeom prst="rect">
            <a:avLst/>
          </a:prstGeom>
        </p:spPr>
      </p:pic>
      <p:pic>
        <p:nvPicPr>
          <p:cNvPr id="9" name="图片 8" descr="墙上的钟表&#10;&#10;中度可信度描述已自动生成">
            <a:extLst>
              <a:ext uri="{FF2B5EF4-FFF2-40B4-BE49-F238E27FC236}">
                <a16:creationId xmlns:a16="http://schemas.microsoft.com/office/drawing/2014/main" id="{8C99B30D-E195-4778-B38A-610CB245798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6874" y="5588701"/>
            <a:ext cx="7294019" cy="100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2907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链路层协议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en-US" dirty="0"/>
              <a:t>链路层状态机</a:t>
            </a:r>
            <a:endParaRPr lang="en-US" altLang="zh-CN" dirty="0"/>
          </a:p>
          <a:p>
            <a:pPr lvl="1"/>
            <a:r>
              <a:rPr lang="zh-CN" altLang="en-US" dirty="0"/>
              <a:t>扫描状态</a:t>
            </a:r>
            <a:r>
              <a:rPr lang="en-US" altLang="zh-CN" dirty="0"/>
              <a:t>:</a:t>
            </a:r>
            <a:r>
              <a:rPr lang="zh-CN" altLang="en-US" dirty="0"/>
              <a:t>对广播信道</a:t>
            </a:r>
            <a:r>
              <a:rPr lang="en-US" altLang="zh-CN" dirty="0"/>
              <a:t>37</a:t>
            </a:r>
            <a:r>
              <a:rPr lang="zh-CN" altLang="en-US" dirty="0"/>
              <a:t>，</a:t>
            </a:r>
            <a:r>
              <a:rPr lang="en-US" altLang="zh-CN" dirty="0"/>
              <a:t>38</a:t>
            </a:r>
            <a:r>
              <a:rPr lang="zh-CN" altLang="en-US" dirty="0"/>
              <a:t>，</a:t>
            </a:r>
            <a:r>
              <a:rPr lang="en-US" altLang="zh-CN" dirty="0"/>
              <a:t>39</a:t>
            </a:r>
            <a:r>
              <a:rPr lang="zh-CN" altLang="en-US" dirty="0"/>
              <a:t>轮流扫描</a:t>
            </a:r>
            <a:endParaRPr lang="en-US" altLang="zh-CN" dirty="0"/>
          </a:p>
          <a:p>
            <a:pPr lvl="1"/>
            <a:r>
              <a:rPr lang="zh-CN" altLang="en-US" dirty="0"/>
              <a:t>准备状态：可以向其他状态切换的中间状态</a:t>
            </a:r>
            <a:endParaRPr lang="en-US" altLang="zh-CN" dirty="0"/>
          </a:p>
          <a:p>
            <a:pPr lvl="1"/>
            <a:r>
              <a:rPr lang="zh-CN" altLang="en-US" dirty="0"/>
              <a:t>广播状态：纯广播或者可以被连接</a:t>
            </a:r>
            <a:endParaRPr lang="en-US" altLang="zh-CN" dirty="0"/>
          </a:p>
          <a:p>
            <a:pPr lvl="1"/>
            <a:r>
              <a:rPr lang="zh-CN" altLang="en-US" dirty="0"/>
              <a:t>初始化状态：监听指定的</a:t>
            </a:r>
            <a:r>
              <a:rPr lang="en-US" altLang="zh-CN" dirty="0"/>
              <a:t>device</a:t>
            </a:r>
            <a:r>
              <a:rPr lang="zh-CN" altLang="en-US" dirty="0"/>
              <a:t>信道，等待发送连接反馈</a:t>
            </a:r>
            <a:endParaRPr lang="en-US" altLang="zh-CN" dirty="0"/>
          </a:p>
          <a:p>
            <a:pPr lvl="1"/>
            <a:r>
              <a:rPr lang="zh-CN" altLang="en-US" dirty="0"/>
              <a:t>连接状态：从广播状态或者初始化状态通过发送连接广播包</a:t>
            </a:r>
            <a:r>
              <a:rPr lang="en-US" altLang="zh-CN" dirty="0"/>
              <a:t>CONNECT_REQ</a:t>
            </a:r>
            <a:r>
              <a:rPr lang="zh-CN" altLang="en-US" dirty="0"/>
              <a:t>切换。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61" y="3968117"/>
            <a:ext cx="3972677" cy="2699383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FE08DB6F-0F7F-4C2B-86C2-A04B3FA54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AC2E3-3FAF-433B-8BC8-018CE21A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链路层协议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EAA3B9-D526-416E-BE6E-C55B6DEA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zh-CN" dirty="0"/>
              <a:t>的数据包类型</a:t>
            </a:r>
            <a:r>
              <a:rPr lang="zh-CN" altLang="en-US" dirty="0"/>
              <a:t>：</a:t>
            </a:r>
            <a:r>
              <a:rPr lang="zh-CN" altLang="zh-CN" dirty="0"/>
              <a:t>广播包和数据包</a:t>
            </a:r>
            <a:endParaRPr lang="en-US" altLang="zh-CN" dirty="0"/>
          </a:p>
          <a:p>
            <a:r>
              <a:rPr lang="zh-CN" altLang="zh-CN" dirty="0"/>
              <a:t>广播包</a:t>
            </a:r>
            <a:r>
              <a:rPr lang="zh-CN" altLang="en-US" dirty="0"/>
              <a:t>帧结构</a:t>
            </a:r>
            <a:endParaRPr lang="en-US" altLang="zh-CN" dirty="0"/>
          </a:p>
          <a:p>
            <a:pPr lvl="1"/>
            <a:r>
              <a:rPr lang="en-US" altLang="zh-CN" dirty="0"/>
              <a:t>Header</a:t>
            </a:r>
          </a:p>
          <a:p>
            <a:pPr lvl="2"/>
            <a:r>
              <a:rPr lang="en-US" altLang="zh-CN" dirty="0"/>
              <a:t>PDU type</a:t>
            </a:r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种类型）</a:t>
            </a:r>
            <a:endParaRPr lang="en-US" altLang="zh-CN" dirty="0"/>
          </a:p>
          <a:p>
            <a:pPr lvl="3"/>
            <a:r>
              <a:rPr lang="en-US" altLang="zh-CN" dirty="0"/>
              <a:t>ADV_IND (</a:t>
            </a:r>
            <a:r>
              <a:rPr lang="zh-CN" altLang="en-US" dirty="0"/>
              <a:t>可连接</a:t>
            </a:r>
            <a:r>
              <a:rPr lang="en-US" altLang="zh-CN" dirty="0"/>
              <a:t>) &lt;-&gt; </a:t>
            </a:r>
            <a:r>
              <a:rPr lang="en-US" altLang="zh-CN" dirty="0">
                <a:solidFill>
                  <a:srgbClr val="C00000"/>
                </a:solidFill>
              </a:rPr>
              <a:t>CONNECT_REQ (</a:t>
            </a:r>
            <a:r>
              <a:rPr lang="zh-CN" altLang="en-US" dirty="0">
                <a:solidFill>
                  <a:srgbClr val="C00000"/>
                </a:solidFill>
              </a:rPr>
              <a:t>连接请求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lvl="3"/>
            <a:r>
              <a:rPr lang="en-US" altLang="zh-CN" dirty="0"/>
              <a:t>ADV_DIRECT_IND (</a:t>
            </a:r>
            <a:r>
              <a:rPr lang="zh-CN" altLang="en-US" dirty="0"/>
              <a:t>定向可连接</a:t>
            </a:r>
            <a:r>
              <a:rPr lang="en-US" altLang="zh-CN" dirty="0"/>
              <a:t>), &lt;-&gt;</a:t>
            </a:r>
            <a:r>
              <a:rPr lang="en-US" altLang="zh-CN" dirty="0">
                <a:solidFill>
                  <a:srgbClr val="C00000"/>
                </a:solidFill>
              </a:rPr>
              <a:t>CONNECT_REQ (</a:t>
            </a:r>
            <a:r>
              <a:rPr lang="zh-CN" altLang="en-US" dirty="0">
                <a:solidFill>
                  <a:srgbClr val="C00000"/>
                </a:solidFill>
              </a:rPr>
              <a:t>连接请求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lvl="3"/>
            <a:r>
              <a:rPr lang="en-US" altLang="zh-CN" dirty="0"/>
              <a:t>ADV_SCAN_IND (</a:t>
            </a:r>
            <a:r>
              <a:rPr lang="zh-CN" altLang="en-US" dirty="0"/>
              <a:t>可扫描</a:t>
            </a:r>
            <a:r>
              <a:rPr lang="en-US" altLang="zh-CN" dirty="0"/>
              <a:t>) &lt;- &gt; SCAN_REQ (</a:t>
            </a:r>
            <a:r>
              <a:rPr lang="zh-CN" altLang="en-US" dirty="0"/>
              <a:t>扫描请求</a:t>
            </a:r>
            <a:r>
              <a:rPr lang="en-US" altLang="zh-CN" dirty="0"/>
              <a:t>), &lt;-&gt;SCAN_RSP (</a:t>
            </a:r>
            <a:r>
              <a:rPr lang="zh-CN" altLang="en-US" dirty="0"/>
              <a:t>扫描反馈</a:t>
            </a:r>
            <a:r>
              <a:rPr lang="en-US" altLang="zh-CN" dirty="0"/>
              <a:t>)</a:t>
            </a:r>
          </a:p>
          <a:p>
            <a:pPr lvl="3"/>
            <a:r>
              <a:rPr lang="en-US" altLang="zh-CN" dirty="0"/>
              <a:t>ADV_NONCONN_IND (</a:t>
            </a:r>
            <a:r>
              <a:rPr lang="zh-CN" altLang="en-US" dirty="0"/>
              <a:t>不可连接</a:t>
            </a:r>
            <a:r>
              <a:rPr lang="en-US" altLang="zh-CN" dirty="0"/>
              <a:t>) –x</a:t>
            </a:r>
          </a:p>
          <a:p>
            <a:pPr lvl="2"/>
            <a:r>
              <a:rPr lang="en-US" altLang="zh-CN" dirty="0" err="1"/>
              <a:t>TxAdd</a:t>
            </a:r>
            <a:r>
              <a:rPr lang="zh-CN" altLang="en-US" dirty="0"/>
              <a:t>和</a:t>
            </a:r>
            <a:r>
              <a:rPr lang="en-US" altLang="zh-CN" dirty="0" err="1"/>
              <a:t>RxAdd</a:t>
            </a:r>
            <a:r>
              <a:rPr lang="zh-CN" altLang="en-US" dirty="0"/>
              <a:t>：发送方的地址类型和接收方的地址类型</a:t>
            </a:r>
            <a:endParaRPr lang="en-US" altLang="zh-CN" dirty="0"/>
          </a:p>
          <a:p>
            <a:pPr lvl="3"/>
            <a:r>
              <a:rPr lang="en-US" altLang="zh-CN" dirty="0"/>
              <a:t>0-&gt;</a:t>
            </a:r>
            <a:r>
              <a:rPr lang="zh-CN" altLang="en-US" dirty="0"/>
              <a:t>使用厂商分配的静态地址</a:t>
            </a:r>
            <a:r>
              <a:rPr lang="en-US" altLang="zh-CN" dirty="0"/>
              <a:t>,1-&gt;</a:t>
            </a:r>
            <a:r>
              <a:rPr lang="zh-CN" altLang="en-US" dirty="0"/>
              <a:t>自己生成的随机地址</a:t>
            </a:r>
            <a:endParaRPr lang="en-US" altLang="zh-CN" dirty="0"/>
          </a:p>
          <a:p>
            <a:pPr lvl="2"/>
            <a:r>
              <a:rPr lang="en-US" altLang="zh-CN" dirty="0"/>
              <a:t>RFU</a:t>
            </a:r>
            <a:r>
              <a:rPr lang="zh-CN" altLang="en-US" dirty="0"/>
              <a:t>：保留位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161964C-763C-47AC-9ECF-2613E9D4F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85" y="5579068"/>
            <a:ext cx="5955854" cy="11225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6710980-36DC-41E1-B87A-A51679008D9B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6" r="24898" b="55990"/>
          <a:stretch/>
        </p:blipFill>
        <p:spPr>
          <a:xfrm>
            <a:off x="2850448" y="1479885"/>
            <a:ext cx="4925962" cy="7744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464166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00" y="4292646"/>
            <a:ext cx="8723200" cy="23748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链路层协议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连接请求广播包结构</a:t>
            </a:r>
            <a:r>
              <a:rPr lang="en-US" altLang="zh-CN" dirty="0"/>
              <a:t>(CONNECT_REQ)</a:t>
            </a:r>
          </a:p>
          <a:p>
            <a:pPr lvl="1">
              <a:spcBef>
                <a:spcPts val="0"/>
              </a:spcBef>
            </a:pPr>
            <a:r>
              <a:rPr lang="en-US" altLang="zh-CN" dirty="0" err="1"/>
              <a:t>initA</a:t>
            </a:r>
            <a:r>
              <a:rPr lang="en-US" altLang="zh-CN" dirty="0"/>
              <a:t>: </a:t>
            </a:r>
            <a:r>
              <a:rPr lang="zh-CN" altLang="en-US" dirty="0"/>
              <a:t>发起者的地址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AdvA</a:t>
            </a:r>
            <a:r>
              <a:rPr lang="en-US" altLang="zh-CN" dirty="0"/>
              <a:t>: </a:t>
            </a:r>
            <a:r>
              <a:rPr lang="zh-CN" altLang="en-US" dirty="0"/>
              <a:t>接收方的地址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LLData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AA: </a:t>
            </a:r>
            <a:r>
              <a:rPr lang="zh-CN" altLang="en-US" dirty="0"/>
              <a:t>建立连接后确定链路的唯一标记</a:t>
            </a:r>
            <a:r>
              <a:rPr lang="en-US" altLang="zh-CN" dirty="0"/>
              <a:t>(</a:t>
            </a:r>
            <a:r>
              <a:rPr lang="zh-CN" altLang="en-US" dirty="0"/>
              <a:t>广播包是固定的</a:t>
            </a:r>
            <a:r>
              <a:rPr lang="en-US" altLang="zh-CN" dirty="0"/>
              <a:t>)</a:t>
            </a:r>
          </a:p>
          <a:p>
            <a:pPr lvl="2">
              <a:spcBef>
                <a:spcPts val="0"/>
              </a:spcBef>
            </a:pPr>
            <a:r>
              <a:rPr lang="en-US" altLang="zh-CN" dirty="0" err="1"/>
              <a:t>WinSize,Winoffset</a:t>
            </a:r>
            <a:r>
              <a:rPr lang="en-US" altLang="zh-CN" dirty="0"/>
              <a:t>: BLE</a:t>
            </a:r>
            <a:r>
              <a:rPr lang="zh-CN" altLang="en-US" dirty="0"/>
              <a:t>处理多个连接的缓冲时间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Interval: </a:t>
            </a:r>
            <a:r>
              <a:rPr lang="zh-CN" altLang="en-US" dirty="0"/>
              <a:t>连接事件的间隔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Latency: slave</a:t>
            </a:r>
            <a:r>
              <a:rPr lang="zh-CN" altLang="en-US" dirty="0"/>
              <a:t>隔多少个连接事件再反馈</a:t>
            </a:r>
            <a:r>
              <a:rPr lang="en-US" altLang="zh-CN" dirty="0"/>
              <a:t>master</a:t>
            </a:r>
          </a:p>
          <a:p>
            <a:pPr lvl="2">
              <a:spcBef>
                <a:spcPts val="0"/>
              </a:spcBef>
            </a:pPr>
            <a:r>
              <a:rPr lang="en-US" altLang="zh-CN" dirty="0"/>
              <a:t>Timeout: </a:t>
            </a:r>
            <a:r>
              <a:rPr lang="zh-CN" altLang="en-US" dirty="0"/>
              <a:t>等待反馈的延迟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ChM: </a:t>
            </a:r>
            <a:r>
              <a:rPr lang="zh-CN" altLang="en-US" dirty="0"/>
              <a:t>信道可用情况标记</a:t>
            </a:r>
            <a:r>
              <a:rPr lang="en-US" altLang="zh-CN" dirty="0"/>
              <a:t>(40 bits, </a:t>
            </a:r>
            <a:r>
              <a:rPr lang="zh-CN" altLang="en-US" dirty="0"/>
              <a:t>每个</a:t>
            </a:r>
            <a:r>
              <a:rPr lang="en-US" altLang="zh-CN" dirty="0"/>
              <a:t>bit</a:t>
            </a:r>
            <a:r>
              <a:rPr lang="zh-CN" altLang="en-US" dirty="0"/>
              <a:t>代表一个信道</a:t>
            </a:r>
            <a:r>
              <a:rPr lang="en-US" altLang="zh-CN" dirty="0"/>
              <a:t>)</a:t>
            </a:r>
            <a:r>
              <a:rPr lang="zh-CN" altLang="en-US" dirty="0"/>
              <a:t>，与</a:t>
            </a:r>
            <a:r>
              <a:rPr lang="en-US" altLang="zh-CN" dirty="0" err="1"/>
              <a:t>gMap</a:t>
            </a:r>
            <a:r>
              <a:rPr lang="zh-CN" altLang="en-US" dirty="0"/>
              <a:t>数组对应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Hop:</a:t>
            </a:r>
            <a:r>
              <a:rPr lang="zh-CN" altLang="en-US" dirty="0"/>
              <a:t>随机跳频的增量因子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A59AE283-C4CD-4C37-BC40-8760F2BB2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677" y="4624883"/>
            <a:ext cx="7129155" cy="223311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链路层协议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连接建立过程</a:t>
            </a:r>
            <a:endParaRPr lang="en-US" altLang="zh-CN"/>
          </a:p>
          <a:p>
            <a:pPr lvl="1"/>
            <a:r>
              <a:rPr lang="en-US" altLang="zh-CN"/>
              <a:t>Master</a:t>
            </a:r>
            <a:r>
              <a:rPr lang="zh-CN" altLang="en-US"/>
              <a:t>发起连接请求</a:t>
            </a:r>
            <a:endParaRPr lang="en-US" altLang="zh-CN"/>
          </a:p>
          <a:p>
            <a:pPr lvl="1"/>
            <a:r>
              <a:rPr lang="zh-CN" altLang="en-US"/>
              <a:t>等待</a:t>
            </a:r>
            <a:r>
              <a:rPr lang="en-US" altLang="zh-CN"/>
              <a:t>1.25ms+winoffset</a:t>
            </a:r>
            <a:r>
              <a:rPr lang="zh-CN" altLang="en-US"/>
              <a:t>时间间隔（</a:t>
            </a:r>
            <a:r>
              <a:rPr lang="en-US" altLang="zh-CN"/>
              <a:t>BLE</a:t>
            </a:r>
            <a:r>
              <a:rPr lang="zh-CN" altLang="en-US"/>
              <a:t>处理多个连接的</a:t>
            </a:r>
            <a:r>
              <a:rPr lang="en-US" altLang="zh-CN"/>
              <a:t>schedule</a:t>
            </a:r>
            <a:r>
              <a:rPr lang="zh-CN" altLang="en-US"/>
              <a:t>时间）</a:t>
            </a:r>
            <a:endParaRPr lang="en-US" altLang="zh-CN"/>
          </a:p>
          <a:p>
            <a:pPr lvl="1"/>
            <a:r>
              <a:rPr lang="en-US" altLang="zh-CN"/>
              <a:t>Master</a:t>
            </a:r>
            <a:r>
              <a:rPr lang="zh-CN" altLang="en-US"/>
              <a:t>发送数据包，</a:t>
            </a:r>
            <a:r>
              <a:rPr lang="en-US" altLang="zh-CN"/>
              <a:t>slave</a:t>
            </a:r>
            <a:r>
              <a:rPr lang="zh-CN" altLang="en-US"/>
              <a:t>成功反馈，则连接成功，且连接事件间隔确认</a:t>
            </a:r>
            <a:endParaRPr lang="en-US" altLang="zh-CN"/>
          </a:p>
          <a:p>
            <a:pPr lvl="1"/>
            <a:r>
              <a:rPr lang="zh-CN" altLang="en-US"/>
              <a:t>连接失败</a:t>
            </a:r>
            <a:endParaRPr lang="en-US" altLang="zh-CN"/>
          </a:p>
          <a:p>
            <a:pPr lvl="2"/>
            <a:r>
              <a:rPr lang="zh-CN" altLang="en-US"/>
              <a:t>① </a:t>
            </a:r>
            <a:r>
              <a:rPr lang="en-US" altLang="zh-CN"/>
              <a:t>slave</a:t>
            </a:r>
            <a:r>
              <a:rPr lang="zh-CN" altLang="en-US"/>
              <a:t>没有在</a:t>
            </a:r>
            <a:r>
              <a:rPr lang="en-US" altLang="zh-CN"/>
              <a:t>winsize</a:t>
            </a:r>
            <a:r>
              <a:rPr lang="zh-CN" altLang="en-US"/>
              <a:t>时间内收到</a:t>
            </a:r>
            <a:r>
              <a:rPr lang="en-US" altLang="zh-CN"/>
              <a:t>master</a:t>
            </a:r>
            <a:r>
              <a:rPr lang="zh-CN" altLang="en-US"/>
              <a:t>数据包，失败</a:t>
            </a:r>
            <a:endParaRPr lang="en-US" altLang="zh-CN"/>
          </a:p>
          <a:p>
            <a:pPr lvl="2"/>
            <a:r>
              <a:rPr lang="zh-CN" altLang="en-US"/>
              <a:t>②</a:t>
            </a:r>
            <a:r>
              <a:rPr lang="en-US" altLang="zh-CN"/>
              <a:t> master</a:t>
            </a:r>
            <a:r>
              <a:rPr lang="zh-CN" altLang="en-US"/>
              <a:t>没有在</a:t>
            </a:r>
            <a:r>
              <a:rPr lang="en-US" altLang="zh-CN"/>
              <a:t>timeout</a:t>
            </a:r>
            <a:r>
              <a:rPr lang="zh-CN" altLang="en-US"/>
              <a:t>时间内收到</a:t>
            </a:r>
            <a:r>
              <a:rPr lang="en-US" altLang="zh-CN"/>
              <a:t>salve</a:t>
            </a:r>
            <a:r>
              <a:rPr lang="zh-CN" altLang="en-US"/>
              <a:t>反馈，失败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0342FA-9FD2-4B69-80C7-9DD59D0C5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链路层协议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数据包帧结构</a:t>
            </a:r>
            <a:endParaRPr lang="en-US" altLang="zh-CN"/>
          </a:p>
          <a:p>
            <a:pPr lvl="1"/>
            <a:r>
              <a:rPr lang="en-US" altLang="zh-CN"/>
              <a:t>Header</a:t>
            </a:r>
          </a:p>
          <a:p>
            <a:pPr lvl="2"/>
            <a:r>
              <a:rPr lang="en-US" altLang="zh-CN"/>
              <a:t>LLID: </a:t>
            </a:r>
            <a:r>
              <a:rPr lang="zh-CN" altLang="en-US"/>
              <a:t>表示数据包或者控制包</a:t>
            </a:r>
            <a:endParaRPr lang="en-US" altLang="zh-CN"/>
          </a:p>
          <a:p>
            <a:pPr lvl="2"/>
            <a:r>
              <a:rPr lang="en-US" altLang="zh-CN"/>
              <a:t>NESN</a:t>
            </a:r>
            <a:r>
              <a:rPr lang="zh-CN" altLang="en-US"/>
              <a:t>：下一个期望的包序号（停等协议</a:t>
            </a:r>
            <a:r>
              <a:rPr lang="en-US" altLang="zh-CN"/>
              <a:t>,</a:t>
            </a:r>
            <a:r>
              <a:rPr lang="zh-CN" altLang="en-US"/>
              <a:t>序号为</a:t>
            </a:r>
            <a:r>
              <a:rPr lang="en-US" altLang="zh-CN"/>
              <a:t>0/1</a:t>
            </a:r>
            <a:r>
              <a:rPr lang="zh-CN" altLang="en-US"/>
              <a:t>）</a:t>
            </a:r>
            <a:endParaRPr lang="en-US" altLang="zh-CN"/>
          </a:p>
          <a:p>
            <a:pPr lvl="2"/>
            <a:r>
              <a:rPr lang="en-US" altLang="zh-CN"/>
              <a:t>SN</a:t>
            </a:r>
            <a:r>
              <a:rPr lang="zh-CN" altLang="en-US"/>
              <a:t>：包序号（停等协议</a:t>
            </a:r>
            <a:r>
              <a:rPr lang="en-US" altLang="zh-CN"/>
              <a:t>,</a:t>
            </a:r>
            <a:r>
              <a:rPr lang="zh-CN" altLang="en-US"/>
              <a:t>序号为</a:t>
            </a:r>
            <a:r>
              <a:rPr lang="en-US" altLang="zh-CN"/>
              <a:t>0/1</a:t>
            </a:r>
            <a:r>
              <a:rPr lang="zh-CN" altLang="en-US"/>
              <a:t>）</a:t>
            </a:r>
            <a:endParaRPr lang="en-US" altLang="zh-CN"/>
          </a:p>
          <a:p>
            <a:pPr lvl="2"/>
            <a:r>
              <a:rPr lang="en-US" altLang="zh-CN"/>
              <a:t>MD</a:t>
            </a:r>
            <a:r>
              <a:rPr lang="zh-CN" altLang="en-US"/>
              <a:t>： </a:t>
            </a:r>
            <a:r>
              <a:rPr lang="en-US" altLang="zh-CN"/>
              <a:t>more data,</a:t>
            </a:r>
            <a:r>
              <a:rPr lang="zh-CN" altLang="en-US"/>
              <a:t>是否还有继续的数据包</a:t>
            </a:r>
            <a:endParaRPr lang="en-US" altLang="zh-CN"/>
          </a:p>
          <a:p>
            <a:pPr lvl="1"/>
            <a:r>
              <a:rPr lang="en-US" altLang="zh-CN"/>
              <a:t>MIC</a:t>
            </a:r>
            <a:r>
              <a:rPr lang="zh-CN" altLang="en-US"/>
              <a:t>：完整性校验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925" y="3990975"/>
            <a:ext cx="6896100" cy="240982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A1895C-2ECA-4272-9473-61FDED321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链路层协议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数据包传输</a:t>
            </a:r>
            <a:endParaRPr lang="en-US" altLang="zh-CN" dirty="0"/>
          </a:p>
          <a:p>
            <a:pPr lvl="1"/>
            <a:r>
              <a:rPr lang="en-US" altLang="zh-CN" dirty="0"/>
              <a:t>7.5ms </a:t>
            </a:r>
            <a:r>
              <a:rPr lang="zh-CN" altLang="en-US" dirty="0"/>
              <a:t>到 </a:t>
            </a:r>
            <a:r>
              <a:rPr lang="en-US" altLang="zh-CN" dirty="0"/>
              <a:t>4s</a:t>
            </a:r>
            <a:r>
              <a:rPr lang="zh-CN" altLang="en-US" dirty="0"/>
              <a:t>之间</a:t>
            </a:r>
            <a:r>
              <a:rPr lang="en-US" altLang="zh-CN" dirty="0"/>
              <a:t>, 1.25ms</a:t>
            </a:r>
            <a:r>
              <a:rPr lang="zh-CN" altLang="en-US" dirty="0"/>
              <a:t>的倍数</a:t>
            </a:r>
            <a:endParaRPr lang="en-US" altLang="zh-CN" dirty="0"/>
          </a:p>
          <a:p>
            <a:pPr lvl="1"/>
            <a:r>
              <a:rPr lang="en-US" altLang="zh-CN" dirty="0"/>
              <a:t>Master</a:t>
            </a:r>
            <a:r>
              <a:rPr lang="zh-CN" altLang="en-US" dirty="0"/>
              <a:t>发起每次通信事件，</a:t>
            </a:r>
            <a:r>
              <a:rPr lang="en-US" altLang="zh-CN" dirty="0"/>
              <a:t>slave</a:t>
            </a:r>
            <a:r>
              <a:rPr lang="zh-CN" altLang="en-US" dirty="0"/>
              <a:t>反馈</a:t>
            </a:r>
            <a:endParaRPr lang="en-US" altLang="zh-CN" dirty="0"/>
          </a:p>
          <a:p>
            <a:pPr lvl="2"/>
            <a:r>
              <a:rPr lang="zh-CN" altLang="en-US" dirty="0"/>
              <a:t>即使没有实际数据发送，也会周期性发送</a:t>
            </a:r>
            <a:r>
              <a:rPr lang="en-US" altLang="zh-CN" dirty="0"/>
              <a:t>/</a:t>
            </a:r>
            <a:r>
              <a:rPr lang="zh-CN" altLang="en-US" dirty="0"/>
              <a:t>反馈空数据包</a:t>
            </a:r>
            <a:endParaRPr lang="en-US" altLang="zh-CN" dirty="0"/>
          </a:p>
          <a:p>
            <a:pPr lvl="2"/>
            <a:r>
              <a:rPr lang="en-US" altLang="zh-CN" dirty="0"/>
              <a:t>Slave</a:t>
            </a:r>
            <a:r>
              <a:rPr lang="zh-CN" altLang="en-US" dirty="0"/>
              <a:t>可以设定</a:t>
            </a:r>
            <a:r>
              <a:rPr lang="en-US" altLang="zh-CN" dirty="0">
                <a:solidFill>
                  <a:srgbClr val="C00000"/>
                </a:solidFill>
              </a:rPr>
              <a:t>latency</a:t>
            </a:r>
            <a:r>
              <a:rPr lang="zh-CN" altLang="en-US" dirty="0"/>
              <a:t>，表示经过多少连接事件再反馈（节约能量）</a:t>
            </a:r>
            <a:endParaRPr lang="en-US" altLang="zh-CN" dirty="0"/>
          </a:p>
          <a:p>
            <a:pPr lvl="2"/>
            <a:r>
              <a:rPr lang="en-US" altLang="zh-CN" dirty="0"/>
              <a:t>Slave</a:t>
            </a:r>
            <a:r>
              <a:rPr lang="zh-CN" altLang="en-US" dirty="0"/>
              <a:t>在一个连接事件间隔中，可以连续发送多个数据包</a:t>
            </a:r>
            <a:endParaRPr lang="en-US" altLang="zh-CN" dirty="0"/>
          </a:p>
          <a:p>
            <a:pPr lvl="1"/>
            <a:r>
              <a:rPr lang="zh-CN" altLang="en-US" dirty="0"/>
              <a:t>通信完成，立刻进入休眠</a:t>
            </a:r>
            <a:endParaRPr lang="en-US" altLang="zh-CN" dirty="0"/>
          </a:p>
          <a:p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3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4257675"/>
            <a:ext cx="8067675" cy="2600325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63478464-BFC8-442B-961C-9EAEA1512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0BD7F-6B64-4F28-8E71-7B10CF48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链路层协议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992144-8C33-4C97-A16F-EE1A3F22B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zh-CN" dirty="0"/>
              <a:t>的邻居发现</a:t>
            </a:r>
            <a:endParaRPr lang="en-US" altLang="zh-CN" dirty="0"/>
          </a:p>
          <a:p>
            <a:pPr lvl="1"/>
            <a:r>
              <a:rPr lang="zh-CN" altLang="zh-CN" dirty="0"/>
              <a:t>在</a:t>
            </a:r>
            <a:r>
              <a:rPr lang="en-US" altLang="zh-CN" dirty="0"/>
              <a:t>BLE</a:t>
            </a:r>
            <a:r>
              <a:rPr lang="zh-CN" altLang="zh-CN" dirty="0"/>
              <a:t>设备建立连接组成</a:t>
            </a:r>
            <a:r>
              <a:rPr lang="en-US" altLang="zh-CN" dirty="0"/>
              <a:t>piconet</a:t>
            </a:r>
            <a:r>
              <a:rPr lang="zh-CN" altLang="zh-CN" dirty="0"/>
              <a:t>星型网络之前，</a:t>
            </a:r>
            <a:r>
              <a:rPr lang="en-US" altLang="zh-CN" dirty="0"/>
              <a:t>BLE</a:t>
            </a:r>
            <a:r>
              <a:rPr lang="zh-CN" altLang="zh-CN" dirty="0"/>
              <a:t>设备需要首先扫描周围的设备以发现潜在的可连接设备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设备</a:t>
            </a:r>
            <a:r>
              <a:rPr lang="en-US" altLang="zh-CN" dirty="0"/>
              <a:t>A</a:t>
            </a:r>
            <a:r>
              <a:rPr lang="zh-CN" altLang="en-US" dirty="0"/>
              <a:t>在扫描信道</a:t>
            </a:r>
            <a:r>
              <a:rPr lang="en-US" altLang="zh-CN" dirty="0"/>
              <a:t>38</a:t>
            </a:r>
            <a:r>
              <a:rPr lang="zh-CN" altLang="en-US" dirty="0"/>
              <a:t>的时候，发现了设备</a:t>
            </a:r>
            <a:r>
              <a:rPr lang="en-US" altLang="zh-CN" dirty="0"/>
              <a:t>B</a:t>
            </a:r>
            <a:r>
              <a:rPr lang="zh-CN" altLang="en-US" dirty="0"/>
              <a:t>，向设备</a:t>
            </a:r>
            <a:r>
              <a:rPr lang="en-US" altLang="zh-CN" dirty="0"/>
              <a:t>B</a:t>
            </a:r>
            <a:r>
              <a:rPr lang="zh-CN" altLang="en-US" dirty="0"/>
              <a:t>发送了扫描反馈数据包。其后，设备</a:t>
            </a:r>
            <a:r>
              <a:rPr lang="en-US" altLang="zh-CN" dirty="0"/>
              <a:t>A</a:t>
            </a:r>
            <a:r>
              <a:rPr lang="zh-CN" altLang="en-US" dirty="0"/>
              <a:t>和设备</a:t>
            </a:r>
            <a:r>
              <a:rPr lang="en-US" altLang="zh-CN" dirty="0"/>
              <a:t>B</a:t>
            </a:r>
            <a:r>
              <a:rPr lang="zh-CN" altLang="en-US" dirty="0"/>
              <a:t>即可进入连接建立过程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F18F7B-FF27-4F20-8330-B891311E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17" y="2380246"/>
            <a:ext cx="6484166" cy="295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74824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0E37E-33ED-4698-B0EB-30998CE27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链路层协议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6CA85-29C7-416B-BC7F-C8F82FADC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zh-CN" dirty="0"/>
              <a:t>的连接建立</a:t>
            </a:r>
            <a:endParaRPr lang="en-US" altLang="zh-CN" dirty="0"/>
          </a:p>
          <a:p>
            <a:pPr lvl="1"/>
            <a:r>
              <a:rPr lang="en-US" altLang="zh-CN" dirty="0"/>
              <a:t>master</a:t>
            </a:r>
            <a:r>
              <a:rPr lang="zh-CN" altLang="zh-CN" dirty="0"/>
              <a:t>发现邻居</a:t>
            </a:r>
            <a:r>
              <a:rPr lang="en-US" altLang="zh-CN" dirty="0"/>
              <a:t>slave</a:t>
            </a:r>
            <a:r>
              <a:rPr lang="zh-CN" altLang="en-US" dirty="0"/>
              <a:t>后，</a:t>
            </a:r>
            <a:r>
              <a:rPr lang="zh-CN" altLang="zh-CN" dirty="0"/>
              <a:t>发送广播包</a:t>
            </a:r>
            <a:r>
              <a:rPr lang="en-US" altLang="zh-CN" dirty="0"/>
              <a:t>CONNECT_REQ</a:t>
            </a:r>
            <a:r>
              <a:rPr lang="zh-CN" altLang="zh-CN" dirty="0"/>
              <a:t>以建立连接</a:t>
            </a:r>
            <a:endParaRPr lang="en-US" altLang="zh-CN" dirty="0"/>
          </a:p>
          <a:p>
            <a:pPr lvl="1"/>
            <a:r>
              <a:rPr lang="en-US" altLang="zh-CN" dirty="0"/>
              <a:t>1.25ms+Winoffset</a:t>
            </a:r>
            <a:r>
              <a:rPr lang="zh-CN" altLang="en-US" dirty="0"/>
              <a:t>后</a:t>
            </a:r>
            <a:r>
              <a:rPr lang="zh-CN" altLang="zh-CN" dirty="0"/>
              <a:t>再向该</a:t>
            </a:r>
            <a:r>
              <a:rPr lang="en-US" altLang="zh-CN" dirty="0"/>
              <a:t>slave</a:t>
            </a:r>
            <a:r>
              <a:rPr lang="zh-CN" altLang="zh-CN" dirty="0"/>
              <a:t>发送初始的连接事件同步数据包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zh-CN" dirty="0"/>
              <a:t>连接建立失败</a:t>
            </a:r>
            <a:endParaRPr lang="en-US" altLang="zh-CN" dirty="0"/>
          </a:p>
          <a:p>
            <a:pPr lvl="2"/>
            <a:r>
              <a:rPr lang="zh-CN" altLang="zh-CN" dirty="0"/>
              <a:t>当</a:t>
            </a:r>
            <a:r>
              <a:rPr lang="en-US" altLang="zh-CN" dirty="0"/>
              <a:t>slave</a:t>
            </a:r>
            <a:r>
              <a:rPr lang="zh-CN" altLang="zh-CN" dirty="0"/>
              <a:t>没有在</a:t>
            </a:r>
            <a:r>
              <a:rPr lang="en-US" altLang="zh-CN" dirty="0" err="1"/>
              <a:t>WinSize</a:t>
            </a:r>
            <a:r>
              <a:rPr lang="zh-CN" altLang="zh-CN" dirty="0"/>
              <a:t>的时间窗口内接收到来自</a:t>
            </a:r>
            <a:r>
              <a:rPr lang="en-US" altLang="zh-CN" dirty="0"/>
              <a:t>master</a:t>
            </a:r>
            <a:r>
              <a:rPr lang="zh-CN" altLang="zh-CN" dirty="0"/>
              <a:t>的初始连接事件数据包时，表示连接建立失败</a:t>
            </a:r>
          </a:p>
          <a:p>
            <a:pPr lvl="2"/>
            <a:r>
              <a:rPr lang="zh-CN" altLang="zh-CN" dirty="0"/>
              <a:t>当</a:t>
            </a:r>
            <a:r>
              <a:rPr lang="en-US" altLang="zh-CN" dirty="0"/>
              <a:t>master</a:t>
            </a:r>
            <a:r>
              <a:rPr lang="zh-CN" altLang="zh-CN" dirty="0"/>
              <a:t>没有在</a:t>
            </a:r>
            <a:r>
              <a:rPr lang="en-US" altLang="zh-CN" dirty="0"/>
              <a:t>Timeout</a:t>
            </a:r>
            <a:r>
              <a:rPr lang="zh-CN" altLang="zh-CN" dirty="0"/>
              <a:t>时延内收到</a:t>
            </a:r>
            <a:r>
              <a:rPr lang="en-US" altLang="zh-CN" dirty="0"/>
              <a:t>slave</a:t>
            </a:r>
            <a:r>
              <a:rPr lang="zh-CN" altLang="zh-CN" dirty="0"/>
              <a:t>的反馈时，连接建立失败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3C6B1F-09E6-419B-B498-21903D262D5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02" y="2619934"/>
            <a:ext cx="7569996" cy="2151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0351844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链路层协议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BLE</a:t>
            </a:r>
            <a:r>
              <a:rPr lang="zh-CN" altLang="zh-CN" dirty="0"/>
              <a:t>多个连接的维持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master</a:t>
            </a:r>
            <a:r>
              <a:rPr lang="zh-CN" altLang="en-US" dirty="0"/>
              <a:t>为了保持与多个</a:t>
            </a:r>
            <a:r>
              <a:rPr lang="en-US" altLang="zh-CN" dirty="0"/>
              <a:t>slave</a:t>
            </a:r>
            <a:r>
              <a:rPr lang="zh-CN" altLang="en-US" dirty="0"/>
              <a:t>的连接，采用了</a:t>
            </a:r>
            <a:r>
              <a:rPr lang="en-US" altLang="zh-CN" dirty="0"/>
              <a:t>TDMA</a:t>
            </a:r>
            <a:r>
              <a:rPr lang="zh-CN" altLang="en-US" dirty="0"/>
              <a:t>（时分复用）的调度方式</a:t>
            </a:r>
            <a:endParaRPr lang="en-US" altLang="zh-CN" dirty="0"/>
          </a:p>
          <a:p>
            <a:pPr lvl="1"/>
            <a:r>
              <a:rPr lang="en-US" altLang="zh-CN" dirty="0"/>
              <a:t>Master</a:t>
            </a:r>
            <a:r>
              <a:rPr lang="zh-CN" altLang="en-US" dirty="0"/>
              <a:t>和</a:t>
            </a:r>
            <a:r>
              <a:rPr lang="en-US" altLang="zh-CN" dirty="0"/>
              <a:t>slave</a:t>
            </a:r>
            <a:r>
              <a:rPr lang="zh-CN" altLang="en-US" dirty="0"/>
              <a:t>跳频以</a:t>
            </a:r>
            <a:r>
              <a:rPr lang="en-US" altLang="zh-CN" dirty="0"/>
              <a:t>0.625ms</a:t>
            </a:r>
            <a:r>
              <a:rPr lang="zh-CN" altLang="en-US" dirty="0"/>
              <a:t>的</a:t>
            </a:r>
            <a:r>
              <a:rPr lang="en-US" altLang="zh-CN" dirty="0"/>
              <a:t>slot</a:t>
            </a:r>
            <a:r>
              <a:rPr lang="zh-CN" altLang="en-US" dirty="0"/>
              <a:t>为单位同步</a:t>
            </a:r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master,</a:t>
            </a:r>
            <a:r>
              <a:rPr lang="zh-CN" altLang="en-US" dirty="0"/>
              <a:t>一个连接事件间隔内会处理完所有的</a:t>
            </a:r>
            <a:r>
              <a:rPr lang="en-US" altLang="zh-CN" dirty="0"/>
              <a:t>slave</a:t>
            </a:r>
            <a:r>
              <a:rPr lang="zh-CN" altLang="en-US" dirty="0"/>
              <a:t>通信，并且执行扫描</a:t>
            </a:r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slave</a:t>
            </a:r>
            <a:r>
              <a:rPr lang="zh-CN" altLang="en-US" dirty="0"/>
              <a:t>，</a:t>
            </a:r>
            <a:r>
              <a:rPr lang="en-US" altLang="zh-CN" dirty="0"/>
              <a:t>piconet</a:t>
            </a:r>
            <a:r>
              <a:rPr lang="zh-CN" altLang="en-US" dirty="0"/>
              <a:t>中</a:t>
            </a:r>
            <a:r>
              <a:rPr lang="en-US" altLang="zh-CN" dirty="0"/>
              <a:t>slave</a:t>
            </a:r>
            <a:r>
              <a:rPr lang="zh-CN" altLang="en-US" dirty="0"/>
              <a:t>越多，连接事件间隔越长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3776D4-35F7-4BA1-808D-22230814C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96669E-436B-40C9-B98E-A07557AF1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1574"/>
            <a:ext cx="9144000" cy="24722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物理层协议</a:t>
            </a:r>
            <a:endParaRPr lang="en-US" altLang="zh-CN" dirty="0"/>
          </a:p>
          <a:p>
            <a:r>
              <a:rPr lang="zh-CN" altLang="en-US" dirty="0"/>
              <a:t>链路层协议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L2CAP</a:t>
            </a:r>
            <a:r>
              <a:rPr lang="zh-CN" altLang="en-US" dirty="0">
                <a:solidFill>
                  <a:srgbClr val="C00000"/>
                </a:solidFill>
              </a:rPr>
              <a:t>协议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  <a:endParaRPr lang="en-US" altLang="zh-CN" dirty="0"/>
          </a:p>
          <a:p>
            <a:r>
              <a:rPr lang="en-US" altLang="zh-CN" dirty="0"/>
              <a:t>BLE mesh</a:t>
            </a:r>
          </a:p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4CBA770-BFE5-41C3-85E5-292DECE1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320053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L2CAP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数据包的分割和重组</a:t>
            </a:r>
            <a:endParaRPr lang="en-US" altLang="zh-CN" dirty="0"/>
          </a:p>
          <a:p>
            <a:pPr lvl="1"/>
            <a:r>
              <a:rPr lang="en-US" altLang="zh-CN" dirty="0"/>
              <a:t>L2CAP</a:t>
            </a:r>
            <a:r>
              <a:rPr lang="zh-CN" altLang="en-US" dirty="0"/>
              <a:t>帧格式</a:t>
            </a:r>
            <a:endParaRPr lang="en-US" altLang="zh-CN" dirty="0"/>
          </a:p>
          <a:p>
            <a:pPr lvl="2"/>
            <a:r>
              <a:rPr lang="en-US" altLang="zh-CN" dirty="0"/>
              <a:t>Length: </a:t>
            </a:r>
            <a:r>
              <a:rPr lang="zh-CN" altLang="en-US" dirty="0"/>
              <a:t>数据帧长度</a:t>
            </a:r>
            <a:endParaRPr lang="en-US" altLang="zh-CN" dirty="0"/>
          </a:p>
          <a:p>
            <a:pPr lvl="2"/>
            <a:r>
              <a:rPr lang="en-US" altLang="zh-CN" dirty="0"/>
              <a:t>Channel ID: </a:t>
            </a:r>
            <a:r>
              <a:rPr lang="zh-CN" altLang="en-US" dirty="0"/>
              <a:t>用于唯一表示当前通信链路的标识</a:t>
            </a:r>
            <a:endParaRPr lang="en-US" altLang="zh-CN" dirty="0"/>
          </a:p>
          <a:p>
            <a:pPr lvl="2"/>
            <a:r>
              <a:rPr lang="en-US" altLang="zh-CN" dirty="0"/>
              <a:t>L2CAP SDU length: </a:t>
            </a:r>
            <a:r>
              <a:rPr lang="zh-CN" altLang="en-US" dirty="0"/>
              <a:t>传输数据帧总长度（子数据帧重组后的长度）。每个子数据帧最大</a:t>
            </a:r>
            <a:r>
              <a:rPr lang="en-US" altLang="zh-CN" dirty="0"/>
              <a:t>251</a:t>
            </a:r>
            <a:r>
              <a:rPr lang="zh-CN" altLang="en-US" dirty="0"/>
              <a:t>字节。</a:t>
            </a:r>
            <a:endParaRPr lang="en-US" altLang="zh-CN" dirty="0"/>
          </a:p>
          <a:p>
            <a:pPr lvl="1"/>
            <a:r>
              <a:rPr lang="zh-CN" altLang="en-US" dirty="0"/>
              <a:t>示例</a:t>
            </a:r>
            <a:endParaRPr lang="en-US" altLang="zh-CN" dirty="0"/>
          </a:p>
          <a:p>
            <a:pPr lvl="2"/>
            <a:r>
              <a:rPr lang="zh-CN" altLang="en-US" dirty="0"/>
              <a:t>发送</a:t>
            </a:r>
            <a:r>
              <a:rPr lang="en-US" altLang="zh-CN" dirty="0"/>
              <a:t>90</a:t>
            </a:r>
            <a:r>
              <a:rPr lang="zh-CN" altLang="en-US" dirty="0"/>
              <a:t>字节数据，</a:t>
            </a:r>
            <a:r>
              <a:rPr lang="en-US" altLang="zh-CN" dirty="0"/>
              <a:t>CID</a:t>
            </a:r>
            <a:r>
              <a:rPr lang="zh-CN" altLang="en-US" dirty="0"/>
              <a:t>为</a:t>
            </a:r>
            <a:r>
              <a:rPr lang="en-US" altLang="zh-CN" dirty="0"/>
              <a:t>0x4b</a:t>
            </a:r>
            <a:r>
              <a:rPr lang="zh-CN" altLang="en-US" dirty="0"/>
              <a:t>，每个子数据帧长度最大为</a:t>
            </a:r>
            <a:r>
              <a:rPr lang="en-US" altLang="zh-CN" dirty="0"/>
              <a:t>44</a:t>
            </a:r>
            <a:r>
              <a:rPr lang="zh-CN" altLang="en-US" dirty="0"/>
              <a:t>字节（包括包头）。（</a:t>
            </a:r>
            <a:r>
              <a:rPr lang="en-US" altLang="zh-CN" dirty="0"/>
              <a:t>master, slave</a:t>
            </a:r>
            <a:r>
              <a:rPr lang="zh-CN" altLang="en-US" dirty="0"/>
              <a:t>协商达成）</a:t>
            </a:r>
            <a:endParaRPr lang="en-US" altLang="zh-CN" dirty="0"/>
          </a:p>
          <a:p>
            <a:pPr lvl="2"/>
            <a:r>
              <a:rPr lang="zh-CN" altLang="en-US" dirty="0"/>
              <a:t>注：子数据帧没有偏移编号，因为</a:t>
            </a:r>
            <a:r>
              <a:rPr lang="en-US" altLang="zh-CN" dirty="0"/>
              <a:t>BLE</a:t>
            </a:r>
            <a:r>
              <a:rPr lang="zh-CN" altLang="en-US" dirty="0"/>
              <a:t>使用停等协议</a:t>
            </a: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708" y="952500"/>
            <a:ext cx="5454292" cy="7988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9B8FE5A-C260-4305-84A9-31BB078494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042360"/>
            <a:ext cx="8346510" cy="165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4A61628B-5FBF-4DA2-A1BA-9644B1F88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L2CAP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差错控制和重传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L2CAP</a:t>
            </a:r>
            <a:r>
              <a:rPr lang="zh-CN" altLang="en-US" dirty="0"/>
              <a:t>层的差错控制主要通过重传来完成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信息帧：用来发送数据。</a:t>
            </a:r>
            <a:r>
              <a:rPr lang="en-US" altLang="zh-CN" dirty="0"/>
              <a:t>control</a:t>
            </a:r>
            <a:r>
              <a:rPr lang="zh-CN" altLang="en-US" dirty="0"/>
              <a:t>域主要定义了两种重传模式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ACK</a:t>
            </a:r>
            <a:r>
              <a:rPr lang="zh-CN" altLang="en-US" dirty="0"/>
              <a:t>超时，</a:t>
            </a:r>
            <a:r>
              <a:rPr lang="en-US" altLang="zh-CN" dirty="0"/>
              <a:t>sender</a:t>
            </a:r>
            <a:r>
              <a:rPr lang="zh-CN" altLang="en-US" dirty="0"/>
              <a:t>重传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sender</a:t>
            </a:r>
            <a:r>
              <a:rPr lang="zh-CN" altLang="en-US" dirty="0"/>
              <a:t>等待</a:t>
            </a:r>
            <a:r>
              <a:rPr lang="en-US" altLang="zh-CN" dirty="0"/>
              <a:t>receiver</a:t>
            </a:r>
            <a:r>
              <a:rPr lang="zh-CN" altLang="en-US" dirty="0"/>
              <a:t>通知再重传</a:t>
            </a:r>
            <a:endParaRPr lang="en-US" altLang="zh-CN" dirty="0"/>
          </a:p>
          <a:p>
            <a:pPr lvl="2">
              <a:spcBef>
                <a:spcPts val="0"/>
              </a:spcBef>
            </a:pPr>
            <a:endParaRPr lang="en-US" altLang="zh-CN" dirty="0"/>
          </a:p>
          <a:p>
            <a:pPr lvl="2">
              <a:spcBef>
                <a:spcPts val="0"/>
              </a:spcBef>
            </a:pPr>
            <a:endParaRPr lang="en-US" altLang="zh-CN" dirty="0"/>
          </a:p>
          <a:p>
            <a:pPr lvl="2">
              <a:spcBef>
                <a:spcPts val="0"/>
              </a:spcBef>
            </a:pP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监督帧：反馈</a:t>
            </a:r>
            <a:r>
              <a:rPr lang="en-US" altLang="zh-CN" dirty="0"/>
              <a:t>ACK/NACK</a:t>
            </a:r>
            <a:r>
              <a:rPr lang="zh-CN" altLang="en-US" dirty="0"/>
              <a:t>信息</a:t>
            </a:r>
            <a:r>
              <a:rPr lang="en-US" altLang="zh-CN" dirty="0"/>
              <a:t>. Control</a:t>
            </a:r>
            <a:r>
              <a:rPr lang="zh-CN" altLang="en-US" dirty="0"/>
              <a:t>域主要定义了反馈的类型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成功接收数据包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没有成功接收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拒绝接收数据包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拒绝接收部分数据包</a:t>
            </a:r>
            <a:endParaRPr lang="en-US" altLang="zh-CN" dirty="0"/>
          </a:p>
          <a:p>
            <a:pPr lvl="2">
              <a:spcBef>
                <a:spcPts val="0"/>
              </a:spcBef>
            </a:pPr>
            <a:endParaRPr lang="en-US" altLang="zh-CN" dirty="0"/>
          </a:p>
          <a:p>
            <a:pPr lvl="1">
              <a:spcBef>
                <a:spcPts val="0"/>
              </a:spcBef>
            </a:pPr>
            <a:endParaRPr lang="en-US" altLang="zh-CN" dirty="0"/>
          </a:p>
          <a:p>
            <a:pPr lvl="1">
              <a:spcBef>
                <a:spcPts val="0"/>
              </a:spcBef>
            </a:pPr>
            <a:endParaRPr lang="en-US" altLang="zh-CN" dirty="0"/>
          </a:p>
          <a:p>
            <a:pPr lvl="1">
              <a:spcBef>
                <a:spcPts val="0"/>
              </a:spcBef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620" y="2924274"/>
            <a:ext cx="6664018" cy="10094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867" y="5600106"/>
            <a:ext cx="6867525" cy="1123950"/>
          </a:xfrm>
          <a:prstGeom prst="rect">
            <a:avLst/>
          </a:prstGeom>
        </p:spPr>
      </p:pic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6C11A619-2E50-476D-BA8F-8B8B2C395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物理层协议</a:t>
            </a:r>
            <a:endParaRPr lang="en-US" altLang="zh-CN" dirty="0"/>
          </a:p>
          <a:p>
            <a:r>
              <a:rPr lang="zh-CN" altLang="en-US" dirty="0"/>
              <a:t>链路层协议</a:t>
            </a:r>
            <a:endParaRPr lang="en-US" altLang="zh-CN" dirty="0"/>
          </a:p>
          <a:p>
            <a:r>
              <a:rPr lang="en-US" altLang="zh-CN" dirty="0"/>
              <a:t>L2CAP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ATT</a:t>
            </a:r>
            <a:r>
              <a:rPr lang="zh-CN" altLang="en-US" dirty="0">
                <a:solidFill>
                  <a:srgbClr val="C00000"/>
                </a:solidFill>
              </a:rPr>
              <a:t>属性检索协议和</a:t>
            </a:r>
            <a:r>
              <a:rPr lang="en-US" altLang="zh-CN" dirty="0">
                <a:solidFill>
                  <a:srgbClr val="C00000"/>
                </a:solidFill>
              </a:rPr>
              <a:t>GATT</a:t>
            </a:r>
            <a:r>
              <a:rPr lang="zh-CN" altLang="en-US" dirty="0">
                <a:solidFill>
                  <a:srgbClr val="C00000"/>
                </a:solidFill>
              </a:rPr>
              <a:t>通用属性框架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BLE mesh</a:t>
            </a:r>
          </a:p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4CBA770-BFE5-41C3-85E5-292DECE1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005384"/>
      </p:ext>
    </p:extLst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461542" cy="914400"/>
          </a:xfrm>
        </p:spPr>
        <p:txBody>
          <a:bodyPr/>
          <a:lstStyle/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ATT(Attribute Protocol)</a:t>
            </a:r>
            <a:r>
              <a:rPr lang="zh-CN" altLang="en-US" dirty="0"/>
              <a:t>：提供对服务的</a:t>
            </a:r>
            <a:r>
              <a:rPr lang="zh-CN" altLang="en-US" dirty="0">
                <a:solidFill>
                  <a:srgbClr val="C00000"/>
                </a:solidFill>
              </a:rPr>
              <a:t>检索功能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GATT(Generic Attribute Profile)</a:t>
            </a:r>
            <a:r>
              <a:rPr lang="zh-CN" altLang="en-US" dirty="0"/>
              <a:t>：定义了服务存储的</a:t>
            </a:r>
            <a:r>
              <a:rPr lang="zh-CN" altLang="en-US" dirty="0">
                <a:solidFill>
                  <a:srgbClr val="C00000"/>
                </a:solidFill>
              </a:rPr>
              <a:t>数据结构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Profile</a:t>
            </a:r>
            <a:r>
              <a:rPr lang="zh-CN" altLang="en-US" dirty="0"/>
              <a:t>：</a:t>
            </a:r>
            <a:r>
              <a:rPr lang="en-US" altLang="zh-CN" dirty="0"/>
              <a:t>slave</a:t>
            </a:r>
            <a:r>
              <a:rPr lang="zh-CN" altLang="zh-CN" dirty="0"/>
              <a:t>提供的一系列服务的组合</a:t>
            </a:r>
            <a:endParaRPr lang="en-US" altLang="zh-CN" dirty="0"/>
          </a:p>
          <a:p>
            <a:pPr lvl="1"/>
            <a:r>
              <a:rPr lang="zh-CN" altLang="en-US" dirty="0"/>
              <a:t>服务：一系列具体的功能的集合</a:t>
            </a:r>
            <a:endParaRPr lang="en-US" altLang="zh-CN" dirty="0"/>
          </a:p>
          <a:p>
            <a:pPr lvl="2"/>
            <a:r>
              <a:rPr lang="zh-CN" altLang="zh-CN" dirty="0"/>
              <a:t>特征</a:t>
            </a:r>
            <a:r>
              <a:rPr lang="zh-CN" altLang="en-US" dirty="0"/>
              <a:t>：</a:t>
            </a:r>
            <a:r>
              <a:rPr lang="zh-CN" altLang="zh-CN" dirty="0"/>
              <a:t>提供的功能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7199E0A9-7473-42B7-9D7E-7443FDB30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44461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pic>
        <p:nvPicPr>
          <p:cNvPr id="17" name="图片 16" descr="5-46">
            <a:extLst>
              <a:ext uri="{FF2B5EF4-FFF2-40B4-BE49-F238E27FC236}">
                <a16:creationId xmlns:a16="http://schemas.microsoft.com/office/drawing/2014/main" id="{DE177DC6-5D3F-430E-B663-0BEDD8B497C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76804" y="3874169"/>
            <a:ext cx="4768468" cy="232630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EEA406E-9C12-47ED-AE5E-5FF4EC3B235D}"/>
              </a:ext>
            </a:extLst>
          </p:cNvPr>
          <p:cNvGrpSpPr/>
          <p:nvPr/>
        </p:nvGrpSpPr>
        <p:grpSpPr>
          <a:xfrm>
            <a:off x="440991" y="4717361"/>
            <a:ext cx="5313423" cy="2154621"/>
            <a:chOff x="440991" y="4398579"/>
            <a:chExt cx="5313423" cy="2154621"/>
          </a:xfrm>
        </p:grpSpPr>
        <p:sp>
          <p:nvSpPr>
            <p:cNvPr id="10" name="矩形 9"/>
            <p:cNvSpPr/>
            <p:nvPr/>
          </p:nvSpPr>
          <p:spPr>
            <a:xfrm>
              <a:off x="440991" y="4398579"/>
              <a:ext cx="5313423" cy="2154621"/>
            </a:xfrm>
            <a:prstGeom prst="rect">
              <a:avLst/>
            </a:prstGeom>
            <a:solidFill>
              <a:srgbClr val="FFC00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40991" y="4782627"/>
              <a:ext cx="5284744" cy="1428988"/>
            </a:xfrm>
            <a:prstGeom prst="rect">
              <a:avLst/>
            </a:prstGeom>
            <a:solidFill>
              <a:srgbClr val="FF660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440991" y="5321910"/>
              <a:ext cx="5259247" cy="889706"/>
            </a:xfrm>
            <a:prstGeom prst="roundRect">
              <a:avLst/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40991" y="4413051"/>
          <a:ext cx="7788610" cy="334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5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Handler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Value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Permission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备注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0x2800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UUID=0x1800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Generic Access</a:t>
                      </a:r>
                      <a:r>
                        <a:rPr lang="zh-CN" altLang="en-US" sz="1400" baseline="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CN" sz="1400" baseline="0" dirty="0">
                          <a:latin typeface="+mj-ea"/>
                          <a:ea typeface="+mj-ea"/>
                        </a:rPr>
                        <a:t>[service]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0x1800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UUID=0x2a00, handler=0x0102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j-ea"/>
                          <a:ea typeface="+mj-ea"/>
                        </a:rPr>
                        <a:t>Read,write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设备名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[characteristic]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0x2a00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BLE device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j-ea"/>
                          <a:ea typeface="+mj-ea"/>
                        </a:rPr>
                        <a:t>Read,write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0x0111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0x2a01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外观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[characteristic]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手机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0x0200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0x2800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UUID=0x1809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 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温度计 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[service]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0x0201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0x1809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UUID=0x2a1c,</a:t>
                      </a:r>
                    </a:p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Handler=0x0202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 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0x0202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0x2a1c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20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 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读取温度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[characteristic]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597900" cy="914400"/>
          </a:xfrm>
        </p:spPr>
        <p:txBody>
          <a:bodyPr/>
          <a:lstStyle/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zh-CN" dirty="0"/>
              <a:t>每个特征的句柄是唯一确定的，用于区分不同的特征和服务</a:t>
            </a:r>
            <a:endParaRPr lang="en-US" altLang="zh-CN" dirty="0"/>
          </a:p>
          <a:p>
            <a:pPr lvl="1"/>
            <a:r>
              <a:rPr lang="en-US" altLang="zh-CN" dirty="0"/>
              <a:t>Handler</a:t>
            </a:r>
            <a:r>
              <a:rPr lang="zh-CN" altLang="en-US" dirty="0"/>
              <a:t>：句柄，区分不同的服务或特征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UUID</a:t>
            </a:r>
            <a:r>
              <a:rPr lang="zh-CN" altLang="en-US" dirty="0"/>
              <a:t>：服务</a:t>
            </a:r>
            <a:r>
              <a:rPr lang="en-US" altLang="zh-CN" dirty="0"/>
              <a:t>/</a:t>
            </a:r>
            <a:r>
              <a:rPr lang="zh-CN" altLang="en-US" dirty="0"/>
              <a:t>特征的标志，可用系统默认，也可自定义</a:t>
            </a:r>
            <a:endParaRPr lang="en-US" altLang="zh-CN" dirty="0"/>
          </a:p>
          <a:p>
            <a:pPr lvl="1"/>
            <a:r>
              <a:rPr lang="en-US" altLang="zh-CN" dirty="0"/>
              <a:t>Value</a:t>
            </a:r>
            <a:r>
              <a:rPr lang="zh-CN" altLang="en-US" dirty="0"/>
              <a:t>：对应的值</a:t>
            </a:r>
            <a:endParaRPr lang="en-US" altLang="zh-CN" dirty="0"/>
          </a:p>
          <a:p>
            <a:pPr lvl="1"/>
            <a:r>
              <a:rPr lang="en-US" altLang="zh-CN" dirty="0"/>
              <a:t>Permission</a:t>
            </a:r>
            <a:r>
              <a:rPr lang="zh-CN" altLang="en-US" dirty="0"/>
              <a:t>：可读，可写</a:t>
            </a:r>
            <a:r>
              <a:rPr lang="en-US" altLang="zh-CN" dirty="0"/>
              <a:t> 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en-US" altLang="zh-CN" dirty="0"/>
              <a:t>ATT</a:t>
            </a:r>
            <a:r>
              <a:rPr lang="zh-CN" altLang="en-US" dirty="0"/>
              <a:t>协议：定义了如何解析发送来的</a:t>
            </a:r>
            <a:r>
              <a:rPr lang="en-US" altLang="zh-CN" dirty="0"/>
              <a:t>GATT</a:t>
            </a:r>
            <a:r>
              <a:rPr lang="zh-CN" altLang="en-US" dirty="0"/>
              <a:t>数据结构中的数据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5725735" y="4413051"/>
            <a:ext cx="1058303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aseline="0" dirty="0"/>
              <a:t>Profile</a:t>
            </a:r>
            <a:endParaRPr lang="zh-CN" altLang="en-US" baseline="0" dirty="0"/>
          </a:p>
        </p:txBody>
      </p:sp>
      <p:sp>
        <p:nvSpPr>
          <p:cNvPr id="13" name="文本框 12"/>
          <p:cNvSpPr txBox="1"/>
          <p:nvPr/>
        </p:nvSpPr>
        <p:spPr>
          <a:xfrm>
            <a:off x="5700239" y="5179026"/>
            <a:ext cx="800219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aseline="0" dirty="0"/>
              <a:t>服务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700238" y="5927907"/>
            <a:ext cx="800219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aseline="0" dirty="0"/>
              <a:t>特征</a:t>
            </a:r>
          </a:p>
        </p:txBody>
      </p:sp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7199E0A9-7473-42B7-9D7E-7443FDB30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44461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434860"/>
      </p:ext>
    </p:extLst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369300" cy="914400"/>
          </a:xfrm>
        </p:spPr>
        <p:txBody>
          <a:bodyPr/>
          <a:lstStyle/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示例：一个提供了设备名称服务和温度查询服务的手机</a:t>
            </a:r>
            <a:endParaRPr lang="en-US" altLang="zh-CN" dirty="0"/>
          </a:p>
          <a:p>
            <a:pPr lvl="1"/>
            <a:r>
              <a:rPr lang="zh-CN" altLang="en-US" dirty="0"/>
              <a:t>每个服务以</a:t>
            </a:r>
            <a:r>
              <a:rPr lang="en-US" altLang="zh-CN" dirty="0"/>
              <a:t>UUID=0x2800</a:t>
            </a:r>
            <a:r>
              <a:rPr lang="zh-CN" altLang="en-US" dirty="0"/>
              <a:t>表示开始和结束，</a:t>
            </a:r>
            <a:r>
              <a:rPr lang="en-US" altLang="zh-CN" dirty="0"/>
              <a:t>value</a:t>
            </a:r>
            <a:r>
              <a:rPr lang="zh-CN" altLang="en-US" dirty="0"/>
              <a:t>即为其包含的具体服务</a:t>
            </a:r>
            <a:endParaRPr lang="en-US" altLang="zh-CN" dirty="0"/>
          </a:p>
          <a:p>
            <a:pPr lvl="1"/>
            <a:r>
              <a:rPr lang="zh-CN" altLang="en-US" dirty="0"/>
              <a:t>服务中的</a:t>
            </a:r>
            <a:r>
              <a:rPr lang="en-US" altLang="zh-CN" dirty="0"/>
              <a:t>value</a:t>
            </a:r>
            <a:r>
              <a:rPr lang="zh-CN" altLang="en-US" dirty="0"/>
              <a:t>包含提供的特征</a:t>
            </a:r>
            <a:r>
              <a:rPr lang="en-US" altLang="zh-CN" dirty="0"/>
              <a:t>UUID</a:t>
            </a:r>
            <a:r>
              <a:rPr lang="zh-CN" altLang="en-US" dirty="0"/>
              <a:t>和</a:t>
            </a:r>
            <a:r>
              <a:rPr lang="en-US" altLang="zh-CN" dirty="0"/>
              <a:t>handler</a:t>
            </a:r>
            <a:r>
              <a:rPr lang="zh-CN" altLang="en-US" dirty="0"/>
              <a:t>（比如设备名称</a:t>
            </a:r>
            <a:r>
              <a:rPr lang="en-US" altLang="zh-CN" dirty="0"/>
              <a:t>BLE device, </a:t>
            </a:r>
            <a:r>
              <a:rPr lang="zh-CN" altLang="en-US" dirty="0"/>
              <a:t>外观编号</a:t>
            </a:r>
            <a:r>
              <a:rPr lang="en-US" altLang="zh-CN" dirty="0"/>
              <a:t>0x0100</a:t>
            </a:r>
            <a:r>
              <a:rPr lang="zh-CN" altLang="en-US" dirty="0"/>
              <a:t>表示手机）</a:t>
            </a:r>
            <a:endParaRPr lang="en-US" altLang="zh-CN" dirty="0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98A1CBFE-8E9B-483F-B7D0-07E8CDDC0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63FE7CA-3726-4B8A-B431-7EECD2B083DD}"/>
              </a:ext>
            </a:extLst>
          </p:cNvPr>
          <p:cNvGrpSpPr/>
          <p:nvPr/>
        </p:nvGrpSpPr>
        <p:grpSpPr>
          <a:xfrm>
            <a:off x="457200" y="3629170"/>
            <a:ext cx="5313423" cy="2154621"/>
            <a:chOff x="440991" y="4398579"/>
            <a:chExt cx="5313423" cy="215462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E4E447-3C47-47CC-B47A-CD20898B356A}"/>
                </a:ext>
              </a:extLst>
            </p:cNvPr>
            <p:cNvSpPr/>
            <p:nvPr/>
          </p:nvSpPr>
          <p:spPr>
            <a:xfrm>
              <a:off x="440991" y="4398579"/>
              <a:ext cx="5313423" cy="2154621"/>
            </a:xfrm>
            <a:prstGeom prst="rect">
              <a:avLst/>
            </a:prstGeom>
            <a:solidFill>
              <a:srgbClr val="FFC00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FC92A5-F8E5-4277-B10B-8D64B47916F6}"/>
                </a:ext>
              </a:extLst>
            </p:cNvPr>
            <p:cNvSpPr/>
            <p:nvPr/>
          </p:nvSpPr>
          <p:spPr>
            <a:xfrm>
              <a:off x="440991" y="4782627"/>
              <a:ext cx="5284744" cy="1428988"/>
            </a:xfrm>
            <a:prstGeom prst="rect">
              <a:avLst/>
            </a:prstGeom>
            <a:solidFill>
              <a:srgbClr val="FF660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6" name="圆角矩形 13">
              <a:extLst>
                <a:ext uri="{FF2B5EF4-FFF2-40B4-BE49-F238E27FC236}">
                  <a16:creationId xmlns:a16="http://schemas.microsoft.com/office/drawing/2014/main" id="{21608254-8818-464B-BC0A-A7840CB065CA}"/>
                </a:ext>
              </a:extLst>
            </p:cNvPr>
            <p:cNvSpPr/>
            <p:nvPr/>
          </p:nvSpPr>
          <p:spPr>
            <a:xfrm>
              <a:off x="440991" y="5321910"/>
              <a:ext cx="5259247" cy="889706"/>
            </a:xfrm>
            <a:prstGeom prst="roundRect">
              <a:avLst/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2816015-97C7-4E8D-AFD3-6E55ABAE7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881889"/>
              </p:ext>
            </p:extLst>
          </p:nvPr>
        </p:nvGraphicFramePr>
        <p:xfrm>
          <a:off x="457200" y="3324860"/>
          <a:ext cx="7788610" cy="334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5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Handler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Value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Permission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备注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0x2800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UUID=0x1800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Generic Access</a:t>
                      </a:r>
                      <a:r>
                        <a:rPr lang="zh-CN" altLang="en-US" sz="1400" baseline="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CN" sz="1400" baseline="0" dirty="0">
                          <a:latin typeface="+mj-ea"/>
                          <a:ea typeface="+mj-ea"/>
                        </a:rPr>
                        <a:t>[service]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0x1800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UUID=0x2a00, handler=0x0102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j-ea"/>
                          <a:ea typeface="+mj-ea"/>
                        </a:rPr>
                        <a:t>Read,write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设备名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[characteristic]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0x2a00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BLE device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j-ea"/>
                          <a:ea typeface="+mj-ea"/>
                        </a:rPr>
                        <a:t>Read,write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0x0111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0x2a01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0x0100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外观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[characteristic]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手机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0x0200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0x2800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UUID=0x1809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 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温度计 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[service]</a:t>
                      </a:r>
                      <a:endParaRPr lang="zh-CN" altLang="en-US" sz="14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0x0201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0x1809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UUID=0x2a1c,</a:t>
                      </a:r>
                    </a:p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Handler=0x0202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 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0x0202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0x2a1c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20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Read 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j-ea"/>
                          <a:ea typeface="+mj-ea"/>
                        </a:rPr>
                        <a:t>读取温度</a:t>
                      </a:r>
                      <a:r>
                        <a:rPr lang="en-US" altLang="zh-CN" sz="1400" dirty="0">
                          <a:latin typeface="+mj-ea"/>
                          <a:ea typeface="+mj-ea"/>
                        </a:rPr>
                        <a:t>[characteristic]</a:t>
                      </a:r>
                      <a:endParaRPr lang="zh-CN" altLang="en-US" sz="14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物理层协议</a:t>
            </a:r>
            <a:endParaRPr lang="en-US" altLang="zh-CN" dirty="0"/>
          </a:p>
          <a:p>
            <a:r>
              <a:rPr lang="zh-CN" altLang="en-US" dirty="0"/>
              <a:t>链路层协议</a:t>
            </a:r>
            <a:endParaRPr lang="en-US" altLang="zh-CN" dirty="0"/>
          </a:p>
          <a:p>
            <a:r>
              <a:rPr lang="en-US" altLang="zh-CN" dirty="0"/>
              <a:t>L2CAP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  <a:endParaRPr lang="en-US" altLang="zh-CN" dirty="0"/>
          </a:p>
          <a:p>
            <a:r>
              <a:rPr lang="en-US" altLang="zh-CN" dirty="0"/>
              <a:t>SMP</a:t>
            </a:r>
            <a:r>
              <a:rPr lang="zh-CN" altLang="en-US" dirty="0"/>
              <a:t>安全管理协议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BLE mesh</a:t>
            </a:r>
          </a:p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4CBA770-BFE5-41C3-85E5-292DECE1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326423"/>
      </p:ext>
    </p:extLst>
  </p:cSld>
  <p:clrMapOvr>
    <a:masterClrMapping/>
  </p:clrMapOvr>
  <p:transition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97" y="3766718"/>
            <a:ext cx="6272297" cy="30531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BLE Mesh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组网：四种链路类型</a:t>
            </a:r>
            <a:endParaRPr lang="en-US" altLang="zh-CN" dirty="0"/>
          </a:p>
          <a:p>
            <a:pPr lvl="1"/>
            <a:r>
              <a:rPr lang="en-US" altLang="zh-CN" dirty="0"/>
              <a:t>(1) ADV(Not Relayed)</a:t>
            </a:r>
            <a:r>
              <a:rPr lang="zh-CN" altLang="en-US" dirty="0"/>
              <a:t>：非转发节点的广播包收发</a:t>
            </a:r>
            <a:endParaRPr lang="en-US" altLang="zh-CN" dirty="0"/>
          </a:p>
          <a:p>
            <a:pPr lvl="1"/>
            <a:r>
              <a:rPr lang="en-US" altLang="zh-CN" dirty="0"/>
              <a:t>(2) ADV(Low power)</a:t>
            </a:r>
            <a:r>
              <a:rPr lang="zh-CN" altLang="en-US" dirty="0"/>
              <a:t>：用于低功耗节点与朋友节点之间收发数据包，</a:t>
            </a:r>
            <a:endParaRPr lang="en-US" altLang="zh-CN" dirty="0"/>
          </a:p>
          <a:p>
            <a:pPr lvl="1"/>
            <a:r>
              <a:rPr lang="en-US" altLang="zh-CN" dirty="0"/>
              <a:t>(3) ADV Bearer</a:t>
            </a:r>
            <a:r>
              <a:rPr lang="zh-CN" altLang="en-US" dirty="0"/>
              <a:t>：两个节点之间可以基于</a:t>
            </a:r>
            <a:r>
              <a:rPr lang="en-US" altLang="zh-CN" dirty="0"/>
              <a:t>mesh</a:t>
            </a:r>
            <a:r>
              <a:rPr lang="zh-CN" altLang="en-US" dirty="0"/>
              <a:t>协议收发广播消息，并且可以作为中继转发；</a:t>
            </a:r>
            <a:endParaRPr lang="en-US" altLang="zh-CN" dirty="0"/>
          </a:p>
          <a:p>
            <a:pPr lvl="1"/>
            <a:r>
              <a:rPr lang="en-US" altLang="zh-CN" dirty="0"/>
              <a:t>(4) GATT Bearer</a:t>
            </a:r>
            <a:r>
              <a:rPr lang="zh-CN" altLang="en-US" dirty="0"/>
              <a:t>：用于没有</a:t>
            </a:r>
            <a:r>
              <a:rPr lang="en-US" altLang="zh-CN" dirty="0"/>
              <a:t>mesh</a:t>
            </a:r>
            <a:r>
              <a:rPr lang="zh-CN" altLang="en-US" dirty="0"/>
              <a:t>能力的传统节点也能参与</a:t>
            </a:r>
            <a:r>
              <a:rPr lang="en-US" altLang="zh-CN" dirty="0"/>
              <a:t>MESH</a:t>
            </a:r>
            <a:r>
              <a:rPr lang="zh-CN" altLang="en-US" dirty="0"/>
              <a:t>网络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FA541723-1010-423A-BA80-9874CF4BF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BLE Mesh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场景：节点</a:t>
            </a:r>
            <a:r>
              <a:rPr lang="en-US" altLang="zh-CN" dirty="0"/>
              <a:t>J</a:t>
            </a:r>
            <a:r>
              <a:rPr lang="zh-CN" altLang="en-US" dirty="0"/>
              <a:t>需要发送数据包给节点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TTL</a:t>
            </a:r>
            <a:r>
              <a:rPr lang="zh-CN" altLang="en-US" dirty="0"/>
              <a:t>值设定为</a:t>
            </a:r>
            <a:r>
              <a:rPr lang="en-US" altLang="zh-CN" dirty="0"/>
              <a:t>3</a:t>
            </a:r>
          </a:p>
          <a:p>
            <a:pPr lvl="1">
              <a:spcBef>
                <a:spcPts val="0"/>
              </a:spcBef>
            </a:pPr>
            <a:r>
              <a:rPr lang="zh-CN" altLang="en-US" dirty="0"/>
              <a:t>节点</a:t>
            </a:r>
            <a:r>
              <a:rPr lang="en-US" altLang="zh-CN" dirty="0"/>
              <a:t>J</a:t>
            </a:r>
            <a:r>
              <a:rPr lang="zh-CN" altLang="en-US" dirty="0"/>
              <a:t>发送数据包给节点</a:t>
            </a:r>
            <a:r>
              <a:rPr lang="en-US" altLang="zh-CN" dirty="0"/>
              <a:t>P</a:t>
            </a:r>
          </a:p>
          <a:p>
            <a:pPr lvl="1">
              <a:spcBef>
                <a:spcPts val="0"/>
              </a:spcBef>
            </a:pPr>
            <a:r>
              <a:rPr lang="zh-CN" altLang="en-US" dirty="0"/>
              <a:t>朋友节点</a:t>
            </a:r>
            <a:r>
              <a:rPr lang="en-US" altLang="zh-CN" dirty="0"/>
              <a:t>P</a:t>
            </a:r>
            <a:r>
              <a:rPr lang="zh-CN" altLang="en-US" dirty="0"/>
              <a:t>收到收据包后，</a:t>
            </a:r>
            <a:r>
              <a:rPr lang="zh-CN" altLang="en-US" dirty="0">
                <a:solidFill>
                  <a:srgbClr val="C00000"/>
                </a:solidFill>
              </a:rPr>
              <a:t>将</a:t>
            </a:r>
            <a:r>
              <a:rPr lang="en-US" altLang="zh-CN" dirty="0">
                <a:solidFill>
                  <a:srgbClr val="C00000"/>
                </a:solidFill>
              </a:rPr>
              <a:t>TTL</a:t>
            </a:r>
            <a:r>
              <a:rPr lang="zh-CN" altLang="en-US" dirty="0">
                <a:solidFill>
                  <a:srgbClr val="C00000"/>
                </a:solidFill>
              </a:rPr>
              <a:t>修改为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/>
              <a:t>，广播该数据包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此时，节点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H</a:t>
            </a:r>
            <a:r>
              <a:rPr lang="zh-CN" altLang="en-US" dirty="0"/>
              <a:t>都会收到该数据包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转发节点</a:t>
            </a:r>
            <a:r>
              <a:rPr lang="en-US" altLang="zh-CN" dirty="0"/>
              <a:t>Q</a:t>
            </a:r>
            <a:r>
              <a:rPr lang="zh-CN" altLang="en-US" dirty="0"/>
              <a:t>收到数据包后，</a:t>
            </a:r>
            <a:r>
              <a:rPr lang="zh-CN" altLang="en-US" dirty="0">
                <a:solidFill>
                  <a:srgbClr val="C00000"/>
                </a:solidFill>
              </a:rPr>
              <a:t>将</a:t>
            </a:r>
            <a:r>
              <a:rPr lang="en-US" altLang="zh-CN" dirty="0">
                <a:solidFill>
                  <a:srgbClr val="C00000"/>
                </a:solidFill>
              </a:rPr>
              <a:t>TTL</a:t>
            </a:r>
            <a:r>
              <a:rPr lang="zh-CN" altLang="en-US" dirty="0">
                <a:solidFill>
                  <a:srgbClr val="C00000"/>
                </a:solidFill>
              </a:rPr>
              <a:t>修改为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/>
              <a:t>，广播该数据包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节点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/>
              <a:t>E</a:t>
            </a:r>
            <a:r>
              <a:rPr lang="zh-CN" altLang="en-US" dirty="0"/>
              <a:t>以及</a:t>
            </a:r>
            <a:r>
              <a:rPr lang="en-US" altLang="zh-CN" dirty="0"/>
              <a:t>R</a:t>
            </a:r>
            <a:r>
              <a:rPr lang="zh-CN" altLang="en-US" dirty="0"/>
              <a:t>都会收到该数据包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节点</a:t>
            </a:r>
            <a:r>
              <a:rPr lang="en-US" altLang="zh-CN" dirty="0"/>
              <a:t>E</a:t>
            </a:r>
            <a:r>
              <a:rPr lang="zh-CN" altLang="en-US" dirty="0"/>
              <a:t>判断</a:t>
            </a:r>
            <a:r>
              <a:rPr lang="en-US" altLang="zh-CN" dirty="0"/>
              <a:t>DST</a:t>
            </a:r>
            <a:r>
              <a:rPr lang="zh-CN" altLang="en-US" dirty="0"/>
              <a:t>地址是自己，收到数据包。节点</a:t>
            </a:r>
            <a:r>
              <a:rPr lang="en-US" altLang="zh-CN" dirty="0"/>
              <a:t>R</a:t>
            </a:r>
            <a:r>
              <a:rPr lang="zh-CN" altLang="en-US" dirty="0"/>
              <a:t>是转发节点，但是</a:t>
            </a:r>
            <a:r>
              <a:rPr lang="zh-CN" altLang="en-US" dirty="0">
                <a:solidFill>
                  <a:srgbClr val="C00000"/>
                </a:solidFill>
              </a:rPr>
              <a:t>由于</a:t>
            </a:r>
            <a:r>
              <a:rPr lang="en-US" altLang="zh-CN" dirty="0">
                <a:solidFill>
                  <a:srgbClr val="C00000"/>
                </a:solidFill>
              </a:rPr>
              <a:t>TTL</a:t>
            </a:r>
            <a:r>
              <a:rPr lang="zh-CN" altLang="en-US" dirty="0">
                <a:solidFill>
                  <a:srgbClr val="C00000"/>
                </a:solidFill>
              </a:rPr>
              <a:t>为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/>
              <a:t>，节点</a:t>
            </a:r>
            <a:r>
              <a:rPr lang="en-US" altLang="zh-CN" dirty="0"/>
              <a:t>R</a:t>
            </a:r>
            <a:r>
              <a:rPr lang="zh-CN" altLang="en-US" dirty="0"/>
              <a:t>会丢弃该数据包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51" y="4093073"/>
            <a:ext cx="6451497" cy="2764927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71D32-5938-49AC-957D-AF5A4DBED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6F640-9E18-4B6F-89C6-7CFE25ED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DABC1B-46A7-4027-8F88-C3DAE8B8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如果节点</a:t>
            </a:r>
            <a:r>
              <a:rPr lang="en-US" altLang="zh-CN" dirty="0"/>
              <a:t>E</a:t>
            </a:r>
            <a:r>
              <a:rPr lang="zh-CN" altLang="en-US" dirty="0"/>
              <a:t>想要发送数据到节点</a:t>
            </a:r>
            <a:r>
              <a:rPr lang="en-US" altLang="zh-CN" dirty="0"/>
              <a:t>L</a:t>
            </a:r>
            <a:r>
              <a:rPr lang="zh-CN" altLang="en-US" dirty="0"/>
              <a:t>，会经历哪些过程？该数据包的</a:t>
            </a:r>
            <a:r>
              <a:rPr lang="en-US" altLang="zh-CN" dirty="0"/>
              <a:t>TTL</a:t>
            </a:r>
            <a:r>
              <a:rPr lang="zh-CN" altLang="en-US" dirty="0"/>
              <a:t>设置为</a:t>
            </a:r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EDC8D8-054C-4DD8-8A9A-677EA35AE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52" y="2499392"/>
            <a:ext cx="8014848" cy="390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37277"/>
      </p:ext>
    </p:extLst>
  </p:cSld>
  <p:clrMapOvr>
    <a:masterClrMapping/>
  </p:clrMapOvr>
  <p:transition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蓝牙低功耗协议（</a:t>
            </a:r>
            <a:r>
              <a:rPr lang="en-US" altLang="zh-CN" dirty="0">
                <a:solidFill>
                  <a:srgbClr val="C00000"/>
                </a:solidFill>
              </a:rPr>
              <a:t>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物理层协议</a:t>
            </a:r>
            <a:endParaRPr lang="en-US" altLang="zh-CN" dirty="0"/>
          </a:p>
          <a:p>
            <a:r>
              <a:rPr lang="zh-CN" altLang="en-US" dirty="0"/>
              <a:t>链路层协议</a:t>
            </a:r>
            <a:endParaRPr lang="en-US" altLang="zh-CN" dirty="0"/>
          </a:p>
          <a:p>
            <a:r>
              <a:rPr lang="en-US" altLang="zh-CN" dirty="0"/>
              <a:t>L2CAP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ATT</a:t>
            </a:r>
            <a:r>
              <a:rPr lang="zh-CN" altLang="en-US" dirty="0"/>
              <a:t>属性检索协议和</a:t>
            </a:r>
            <a:r>
              <a:rPr lang="en-US" altLang="zh-CN" dirty="0"/>
              <a:t>GATT</a:t>
            </a:r>
            <a:r>
              <a:rPr lang="zh-CN" altLang="en-US" dirty="0"/>
              <a:t>通用属性框架</a:t>
            </a:r>
            <a:endParaRPr lang="en-US" altLang="zh-CN" dirty="0"/>
          </a:p>
          <a:p>
            <a:r>
              <a:rPr lang="en-US" altLang="zh-CN" dirty="0"/>
              <a:t>SMP</a:t>
            </a:r>
            <a:r>
              <a:rPr lang="zh-CN" altLang="en-US" dirty="0"/>
              <a:t>安全管理协议</a:t>
            </a:r>
            <a:endParaRPr lang="en-US" altLang="zh-CN" dirty="0"/>
          </a:p>
          <a:p>
            <a:r>
              <a:rPr lang="en-US" altLang="zh-CN" dirty="0"/>
              <a:t>BLE mesh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蓝牙 </a:t>
            </a:r>
            <a:r>
              <a:rPr lang="en-US" altLang="zh-CN" dirty="0">
                <a:solidFill>
                  <a:srgbClr val="C00000"/>
                </a:solidFill>
              </a:rPr>
              <a:t>5.x</a:t>
            </a:r>
            <a:r>
              <a:rPr lang="zh-CN" altLang="en-US" dirty="0">
                <a:solidFill>
                  <a:srgbClr val="C00000"/>
                </a:solidFill>
              </a:rPr>
              <a:t>规范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4CBA770-BFE5-41C3-85E5-292DECE1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172432"/>
      </p:ext>
    </p:extLst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1595D-3358-4DAD-A535-B4F7C334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D53A6-AC95-488A-B9BC-DF3362591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2016</a:t>
            </a:r>
            <a:r>
              <a:rPr lang="zh-CN" altLang="zh-CN" dirty="0"/>
              <a:t>年，蓝牙技术联盟公布蓝牙</a:t>
            </a:r>
            <a:r>
              <a:rPr lang="en-US" altLang="zh-CN" dirty="0"/>
              <a:t>5.0</a:t>
            </a:r>
            <a:r>
              <a:rPr lang="zh-CN" altLang="zh-CN" dirty="0"/>
              <a:t>规范，截止</a:t>
            </a:r>
            <a:r>
              <a:rPr lang="en-US" altLang="zh-CN" dirty="0"/>
              <a:t>2021</a:t>
            </a:r>
            <a:r>
              <a:rPr lang="zh-CN" altLang="zh-CN" dirty="0"/>
              <a:t>年，蓝牙规范已经迭代至</a:t>
            </a:r>
            <a:r>
              <a:rPr lang="en-US" altLang="zh-CN" dirty="0"/>
              <a:t>5.3</a:t>
            </a:r>
            <a:r>
              <a:rPr lang="zh-CN" altLang="zh-CN" dirty="0"/>
              <a:t>版本</a:t>
            </a:r>
          </a:p>
          <a:p>
            <a:r>
              <a:rPr lang="zh-CN" altLang="zh-CN" dirty="0"/>
              <a:t>针对</a:t>
            </a:r>
            <a:r>
              <a:rPr lang="en-US" altLang="zh-CN" dirty="0"/>
              <a:t>BLE</a:t>
            </a:r>
            <a:r>
              <a:rPr lang="zh-CN" altLang="zh-CN" dirty="0"/>
              <a:t>，蓝牙</a:t>
            </a:r>
            <a:r>
              <a:rPr lang="en-US" altLang="zh-CN" dirty="0"/>
              <a:t> 5.0</a:t>
            </a:r>
            <a:r>
              <a:rPr lang="zh-CN" altLang="zh-CN" dirty="0"/>
              <a:t>相比于</a:t>
            </a:r>
            <a:r>
              <a:rPr lang="en-US" altLang="zh-CN" dirty="0"/>
              <a:t>4.2</a:t>
            </a:r>
            <a:r>
              <a:rPr lang="zh-CN" altLang="zh-CN" dirty="0"/>
              <a:t>版本</a:t>
            </a:r>
            <a:r>
              <a:rPr lang="zh-CN" altLang="en-US" dirty="0"/>
              <a:t>有</a:t>
            </a:r>
            <a:r>
              <a:rPr lang="zh-CN" altLang="zh-CN" dirty="0"/>
              <a:t>三点重大更新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en-US" altLang="zh-CN" dirty="0"/>
              <a:t>2M PHY</a:t>
            </a:r>
          </a:p>
          <a:p>
            <a:pPr lvl="2"/>
            <a:r>
              <a:rPr lang="zh-CN" altLang="zh-CN" dirty="0"/>
              <a:t>蓝牙</a:t>
            </a:r>
            <a:r>
              <a:rPr lang="en-US" altLang="zh-CN" dirty="0"/>
              <a:t>5.0</a:t>
            </a:r>
            <a:r>
              <a:rPr lang="zh-CN" altLang="zh-CN" dirty="0"/>
              <a:t>中提出了</a:t>
            </a:r>
            <a:r>
              <a:rPr lang="en-US" altLang="zh-CN" dirty="0"/>
              <a:t>2M PHY</a:t>
            </a:r>
            <a:r>
              <a:rPr lang="zh-CN" altLang="zh-CN" dirty="0"/>
              <a:t>，其物理层最高速率达到了</a:t>
            </a:r>
            <a:r>
              <a:rPr lang="en-US" altLang="zh-CN" dirty="0"/>
              <a:t>2Mbps </a:t>
            </a:r>
            <a:r>
              <a:rPr lang="zh-CN" altLang="zh-CN" dirty="0"/>
              <a:t>，相较于旧版本提升了</a:t>
            </a:r>
            <a:r>
              <a:rPr lang="en-US" altLang="zh-CN" dirty="0"/>
              <a:t>1</a:t>
            </a:r>
            <a:r>
              <a:rPr lang="zh-CN" altLang="zh-CN" dirty="0"/>
              <a:t>倍</a:t>
            </a:r>
            <a:endParaRPr lang="en-US" altLang="zh-CN" dirty="0"/>
          </a:p>
          <a:p>
            <a:pPr lvl="2"/>
            <a:r>
              <a:rPr lang="zh-CN" altLang="en-US" dirty="0"/>
              <a:t>更高的数据传输速率可以为物联网设备的</a:t>
            </a:r>
            <a:r>
              <a:rPr lang="en-US" altLang="zh-CN" dirty="0"/>
              <a:t>OTA</a:t>
            </a:r>
            <a:r>
              <a:rPr lang="zh-CN" altLang="en-US" dirty="0"/>
              <a:t>空中升级等应用提供极大的便利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6398314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1595D-3358-4DAD-A535-B4F7C334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D53A6-AC95-488A-B9BC-DF3362591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 marL="457200" indent="-457200">
              <a:buFont typeface="+mj-ea"/>
              <a:buAutoNum type="circleNumDbPlain" startAt="2"/>
            </a:pPr>
            <a:r>
              <a:rPr lang="en-US" altLang="zh-CN" dirty="0"/>
              <a:t>BLE</a:t>
            </a:r>
            <a:r>
              <a:rPr lang="zh-CN" altLang="zh-CN" dirty="0"/>
              <a:t>远距离编码信道</a:t>
            </a:r>
            <a:endParaRPr lang="en-US" altLang="zh-CN" dirty="0"/>
          </a:p>
          <a:p>
            <a:pPr lvl="1"/>
            <a:r>
              <a:rPr lang="zh-CN" altLang="zh-CN" dirty="0"/>
              <a:t>蓝牙</a:t>
            </a:r>
            <a:r>
              <a:rPr lang="en-US" altLang="zh-CN" dirty="0"/>
              <a:t>5.0</a:t>
            </a:r>
            <a:r>
              <a:rPr lang="zh-CN" altLang="zh-CN" dirty="0"/>
              <a:t>中提出了编码物理层（</a:t>
            </a:r>
            <a:r>
              <a:rPr lang="en-US" altLang="zh-CN" dirty="0"/>
              <a:t>LE Coded PHY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/>
            <a:r>
              <a:rPr lang="zh-CN" altLang="zh-CN" dirty="0"/>
              <a:t>使用编码物理层，使得设备在使用相同的物理硬件的前提下变相提高了其接收灵敏度，最终实现更长的通信距离</a:t>
            </a:r>
            <a:endParaRPr lang="en-US" altLang="zh-CN" dirty="0"/>
          </a:p>
          <a:p>
            <a:pPr lvl="1"/>
            <a:r>
              <a:rPr lang="zh-CN" altLang="zh-CN" dirty="0"/>
              <a:t>增加了对信号的编码和模式映射两部分</a:t>
            </a:r>
            <a:endParaRPr lang="en-US" altLang="zh-CN" dirty="0"/>
          </a:p>
          <a:p>
            <a:pPr lvl="2"/>
            <a:r>
              <a:rPr lang="zh-CN" altLang="en-US" dirty="0"/>
              <a:t>编码：使用卷积前向纠错码（</a:t>
            </a:r>
            <a:r>
              <a:rPr lang="en-US" altLang="zh-CN" dirty="0"/>
              <a:t>Forward Error Correction</a:t>
            </a:r>
            <a:r>
              <a:rPr lang="zh-CN" altLang="en-US" dirty="0"/>
              <a:t>，</a:t>
            </a:r>
            <a:r>
              <a:rPr lang="en-US" altLang="zh-CN" dirty="0"/>
              <a:t>FEC</a:t>
            </a:r>
            <a:r>
              <a:rPr lang="zh-CN" altLang="en-US" dirty="0"/>
              <a:t>）对数据包进行编码，将</a:t>
            </a:r>
            <a:r>
              <a:rPr lang="en-US" altLang="zh-CN" dirty="0"/>
              <a:t>1bit</a:t>
            </a:r>
            <a:r>
              <a:rPr lang="zh-CN" altLang="en-US" dirty="0"/>
              <a:t>数据扩展为</a:t>
            </a:r>
            <a:r>
              <a:rPr lang="en-US" altLang="zh-CN" dirty="0"/>
              <a:t>2bit</a:t>
            </a:r>
          </a:p>
          <a:p>
            <a:pPr lvl="2"/>
            <a:r>
              <a:rPr lang="zh-CN" altLang="zh-CN" dirty="0"/>
              <a:t>模式映射：模式映射将</a:t>
            </a:r>
            <a:r>
              <a:rPr lang="en-US" altLang="zh-CN" dirty="0"/>
              <a:t>FEC</a:t>
            </a:r>
            <a:r>
              <a:rPr lang="zh-CN" altLang="zh-CN" dirty="0"/>
              <a:t>输出的每一位映射为</a:t>
            </a:r>
            <a:r>
              <a:rPr lang="en-US" altLang="zh-CN" dirty="0"/>
              <a:t>P</a:t>
            </a:r>
            <a:r>
              <a:rPr lang="zh-CN" altLang="zh-CN" dirty="0"/>
              <a:t>符号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sz="2800" dirty="0"/>
          </a:p>
          <a:p>
            <a:pPr lvl="3"/>
            <a:r>
              <a:rPr lang="zh-CN" altLang="zh-CN" dirty="0"/>
              <a:t>其中</a:t>
            </a:r>
            <a:r>
              <a:rPr lang="en-US" altLang="zh-CN" dirty="0"/>
              <a:t>S=2</a:t>
            </a:r>
            <a:r>
              <a:rPr lang="zh-CN" altLang="zh-CN" dirty="0"/>
              <a:t>编码方式对</a:t>
            </a:r>
            <a:r>
              <a:rPr lang="en-US" altLang="zh-CN" dirty="0"/>
              <a:t>FEC</a:t>
            </a:r>
            <a:r>
              <a:rPr lang="zh-CN" altLang="zh-CN" dirty="0"/>
              <a:t>输出的数据不做任何改变，</a:t>
            </a:r>
            <a:r>
              <a:rPr lang="en-US" altLang="zh-CN" dirty="0"/>
              <a:t>S=8</a:t>
            </a:r>
            <a:r>
              <a:rPr lang="zh-CN" altLang="zh-CN" dirty="0"/>
              <a:t>的编码将</a:t>
            </a:r>
            <a:r>
              <a:rPr lang="en-US" altLang="zh-CN" dirty="0"/>
              <a:t>FEC</a:t>
            </a:r>
            <a:r>
              <a:rPr lang="zh-CN" altLang="zh-CN" dirty="0"/>
              <a:t>输出的</a:t>
            </a:r>
            <a:r>
              <a:rPr lang="en-US" altLang="zh-CN" dirty="0"/>
              <a:t>2bit</a:t>
            </a:r>
            <a:r>
              <a:rPr lang="zh-CN" altLang="zh-CN" dirty="0"/>
              <a:t>数据拓展为</a:t>
            </a:r>
            <a:r>
              <a:rPr lang="en-US" altLang="zh-CN" dirty="0"/>
              <a:t>8bit</a:t>
            </a:r>
            <a:r>
              <a:rPr lang="zh-CN" altLang="zh-CN" dirty="0"/>
              <a:t>。</a:t>
            </a:r>
            <a:endParaRPr lang="en-US" altLang="zh-CN" dirty="0"/>
          </a:p>
          <a:p>
            <a:pPr lvl="3"/>
            <a:r>
              <a:rPr lang="zh-CN" altLang="zh-CN" dirty="0"/>
              <a:t>显然，使用</a:t>
            </a:r>
            <a:r>
              <a:rPr lang="en-US" altLang="zh-CN" dirty="0"/>
              <a:t>S=8</a:t>
            </a:r>
            <a:r>
              <a:rPr lang="zh-CN" altLang="zh-CN" dirty="0"/>
              <a:t>编码方式能够拥有更强的抗干扰能力</a:t>
            </a:r>
            <a:r>
              <a:rPr lang="zh-CN" altLang="en-US" dirty="0"/>
              <a:t>，</a:t>
            </a:r>
            <a:r>
              <a:rPr lang="zh-CN" altLang="zh-CN" dirty="0"/>
              <a:t>但数据率仅为使用</a:t>
            </a:r>
            <a:r>
              <a:rPr lang="en-US" altLang="zh-CN" dirty="0"/>
              <a:t>S=2</a:t>
            </a:r>
            <a:r>
              <a:rPr lang="zh-CN" altLang="zh-CN" dirty="0"/>
              <a:t>编码方式的速率的四分之一</a:t>
            </a:r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B950432-CE41-4D85-942A-FA6876EAD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358266"/>
              </p:ext>
            </p:extLst>
          </p:nvPr>
        </p:nvGraphicFramePr>
        <p:xfrm>
          <a:off x="1680411" y="4223085"/>
          <a:ext cx="5859378" cy="955509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1953126">
                  <a:extLst>
                    <a:ext uri="{9D8B030D-6E8A-4147-A177-3AD203B41FA5}">
                      <a16:colId xmlns:a16="http://schemas.microsoft.com/office/drawing/2014/main" val="3228818637"/>
                    </a:ext>
                  </a:extLst>
                </a:gridCol>
                <a:gridCol w="1953126">
                  <a:extLst>
                    <a:ext uri="{9D8B030D-6E8A-4147-A177-3AD203B41FA5}">
                      <a16:colId xmlns:a16="http://schemas.microsoft.com/office/drawing/2014/main" val="920711252"/>
                    </a:ext>
                  </a:extLst>
                </a:gridCol>
                <a:gridCol w="1953126">
                  <a:extLst>
                    <a:ext uri="{9D8B030D-6E8A-4147-A177-3AD203B41FA5}">
                      <a16:colId xmlns:a16="http://schemas.microsoft.com/office/drawing/2014/main" val="1924951273"/>
                    </a:ext>
                  </a:extLst>
                </a:gridCol>
              </a:tblGrid>
              <a:tr h="318503">
                <a:tc>
                  <a:txBody>
                    <a:bodyPr/>
                    <a:lstStyle/>
                    <a:p>
                      <a:pPr algn="ctr"/>
                      <a:r>
                        <a:rPr lang="en-US" sz="1600" kern="500">
                          <a:effectLst/>
                          <a:latin typeface="+mj-ea"/>
                          <a:ea typeface="+mj-ea"/>
                        </a:rPr>
                        <a:t>FEC</a:t>
                      </a:r>
                      <a:r>
                        <a:rPr lang="zh-CN" sz="1600" kern="500">
                          <a:effectLst/>
                          <a:latin typeface="+mj-ea"/>
                          <a:ea typeface="+mj-ea"/>
                        </a:rPr>
                        <a:t>输入</a:t>
                      </a:r>
                      <a:endParaRPr lang="zh-CN" sz="1600" kern="75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500">
                          <a:effectLst/>
                          <a:latin typeface="+mj-ea"/>
                          <a:ea typeface="+mj-ea"/>
                        </a:rPr>
                        <a:t>输入（</a:t>
                      </a:r>
                      <a:r>
                        <a:rPr lang="en-US" sz="1600" kern="500">
                          <a:effectLst/>
                          <a:latin typeface="+mj-ea"/>
                          <a:ea typeface="+mj-ea"/>
                        </a:rPr>
                        <a:t>S=2</a:t>
                      </a:r>
                      <a:r>
                        <a:rPr lang="zh-CN" sz="1600" kern="500">
                          <a:effectLst/>
                          <a:latin typeface="+mj-ea"/>
                          <a:ea typeface="+mj-ea"/>
                        </a:rPr>
                        <a:t>）</a:t>
                      </a:r>
                      <a:endParaRPr lang="zh-CN" sz="1600" kern="75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500">
                          <a:effectLst/>
                          <a:latin typeface="+mj-ea"/>
                          <a:ea typeface="+mj-ea"/>
                        </a:rPr>
                        <a:t>输入（</a:t>
                      </a:r>
                      <a:r>
                        <a:rPr lang="en-US" sz="1600" kern="500">
                          <a:effectLst/>
                          <a:latin typeface="+mj-ea"/>
                          <a:ea typeface="+mj-ea"/>
                        </a:rPr>
                        <a:t>S=8</a:t>
                      </a:r>
                      <a:r>
                        <a:rPr lang="zh-CN" sz="1600" kern="500">
                          <a:effectLst/>
                          <a:latin typeface="+mj-ea"/>
                          <a:ea typeface="+mj-ea"/>
                        </a:rPr>
                        <a:t>）</a:t>
                      </a:r>
                      <a:endParaRPr lang="zh-CN" sz="1600" kern="75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1161110"/>
                  </a:ext>
                </a:extLst>
              </a:tr>
              <a:tr h="318503">
                <a:tc>
                  <a:txBody>
                    <a:bodyPr/>
                    <a:lstStyle/>
                    <a:p>
                      <a:pPr algn="ctr"/>
                      <a:r>
                        <a:rPr lang="en-US" sz="1600" kern="500"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zh-CN" sz="1600" kern="75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500"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zh-CN" sz="1600" kern="75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500">
                          <a:effectLst/>
                          <a:latin typeface="+mj-ea"/>
                          <a:ea typeface="+mj-ea"/>
                        </a:rPr>
                        <a:t>0011</a:t>
                      </a:r>
                      <a:endParaRPr lang="zh-CN" sz="1600" kern="75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453605"/>
                  </a:ext>
                </a:extLst>
              </a:tr>
              <a:tr h="318503">
                <a:tc>
                  <a:txBody>
                    <a:bodyPr/>
                    <a:lstStyle/>
                    <a:p>
                      <a:pPr algn="ctr"/>
                      <a:r>
                        <a:rPr lang="en-US" sz="1600" kern="500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CN" sz="1600" kern="750" dirty="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500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CN" sz="1600" kern="75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500" dirty="0">
                          <a:effectLst/>
                          <a:latin typeface="+mj-ea"/>
                          <a:ea typeface="+mj-ea"/>
                        </a:rPr>
                        <a:t>1100</a:t>
                      </a:r>
                      <a:endParaRPr lang="zh-CN" sz="1600" kern="750" dirty="0">
                        <a:effectLst/>
                        <a:latin typeface="+mj-ea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4869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095044"/>
      </p:ext>
    </p:extLst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EF16E-C976-4340-9A1F-11038DB1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44720-2021-4417-8F44-BDC6580BF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zh-CN" dirty="0"/>
              <a:t>扩展广播</a:t>
            </a:r>
            <a:endParaRPr lang="en-US" altLang="zh-CN" dirty="0"/>
          </a:p>
          <a:p>
            <a:pPr lvl="1"/>
            <a:r>
              <a:rPr lang="zh-CN" altLang="zh-CN" dirty="0"/>
              <a:t>将广播信道抽象为了两类：</a:t>
            </a:r>
            <a:endParaRPr lang="en-US" altLang="zh-CN" dirty="0"/>
          </a:p>
          <a:p>
            <a:pPr lvl="2"/>
            <a:r>
              <a:rPr lang="zh-CN" altLang="zh-CN" dirty="0"/>
              <a:t>主广播信道（</a:t>
            </a:r>
            <a:r>
              <a:rPr lang="en-US" altLang="zh-CN" dirty="0"/>
              <a:t>primary advertisement channels</a:t>
            </a:r>
            <a:r>
              <a:rPr lang="zh-CN" altLang="zh-CN" dirty="0"/>
              <a:t>），</a:t>
            </a:r>
            <a:r>
              <a:rPr lang="en-US" altLang="zh-CN" dirty="0"/>
              <a:t>37</a:t>
            </a:r>
            <a:r>
              <a:rPr lang="zh-CN" altLang="zh-CN" dirty="0"/>
              <a:t>，</a:t>
            </a:r>
            <a:r>
              <a:rPr lang="en-US" altLang="zh-CN" dirty="0"/>
              <a:t>38</a:t>
            </a:r>
            <a:r>
              <a:rPr lang="zh-CN" altLang="en-US" dirty="0"/>
              <a:t>，</a:t>
            </a:r>
            <a:r>
              <a:rPr lang="en-US" altLang="zh-CN" dirty="0"/>
              <a:t>39</a:t>
            </a:r>
            <a:r>
              <a:rPr lang="zh-CN" altLang="zh-CN" dirty="0"/>
              <a:t>号</a:t>
            </a:r>
            <a:endParaRPr lang="en-US" altLang="zh-CN" dirty="0"/>
          </a:p>
          <a:p>
            <a:pPr lvl="2"/>
            <a:r>
              <a:rPr lang="zh-CN" altLang="zh-CN" dirty="0"/>
              <a:t>次要广播信道（</a:t>
            </a:r>
            <a:r>
              <a:rPr lang="en-US" altLang="zh-CN" dirty="0"/>
              <a:t>Secondary Advertising Channel</a:t>
            </a:r>
            <a:r>
              <a:rPr lang="zh-CN" altLang="zh-CN" dirty="0"/>
              <a:t>），剩余</a:t>
            </a:r>
            <a:r>
              <a:rPr lang="en-US" altLang="zh-CN" dirty="0"/>
              <a:t>37</a:t>
            </a:r>
            <a:r>
              <a:rPr lang="zh-CN" altLang="zh-CN" dirty="0"/>
              <a:t>个信道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主广播信道上广播的数据包类型为</a:t>
            </a:r>
            <a:r>
              <a:rPr lang="en-US" altLang="zh-CN" dirty="0"/>
              <a:t>ADV_EXT_IND</a:t>
            </a:r>
            <a:r>
              <a:rPr lang="zh-CN" altLang="en-US" dirty="0"/>
              <a:t>，不包含任何的数据，</a:t>
            </a:r>
            <a:r>
              <a:rPr lang="en-US" altLang="zh-CN" dirty="0" err="1"/>
              <a:t>AuxPtr</a:t>
            </a:r>
            <a:r>
              <a:rPr lang="zh-CN" altLang="en-US" dirty="0"/>
              <a:t>字段指明了下一个数据包发送的信道号</a:t>
            </a:r>
            <a:endParaRPr lang="en-US" altLang="zh-CN" dirty="0"/>
          </a:p>
          <a:p>
            <a:pPr lvl="1"/>
            <a:r>
              <a:rPr lang="zh-CN" altLang="en-US" dirty="0"/>
              <a:t>收到广播包后，接收机将跳频至指定的次要广播信道接收后续的广播数据包</a:t>
            </a:r>
            <a:endParaRPr lang="en-US" altLang="zh-CN" dirty="0"/>
          </a:p>
          <a:p>
            <a:pPr lvl="1"/>
            <a:r>
              <a:rPr lang="zh-CN" altLang="en-US" dirty="0"/>
              <a:t>次要广播信道上广播的第一个数据包类型为</a:t>
            </a:r>
            <a:r>
              <a:rPr lang="en-US" altLang="zh-CN" dirty="0"/>
              <a:t>AUX_ADV_IND</a:t>
            </a:r>
            <a:endParaRPr lang="zh-CN" altLang="en-US" dirty="0"/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36547467-E641-4084-920C-CB6E3B9477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1036" y="2712402"/>
            <a:ext cx="7915764" cy="16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7670"/>
      </p:ext>
    </p:extLst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EF16E-C976-4340-9A1F-11038DB1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蓝牙 </a:t>
            </a:r>
            <a:r>
              <a:rPr lang="en-US" altLang="zh-CN" dirty="0"/>
              <a:t>5.x</a:t>
            </a:r>
            <a:r>
              <a:rPr lang="zh-CN" altLang="en-US" dirty="0"/>
              <a:t>规范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44720-2021-4417-8F44-BDC6580BF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zh-CN" dirty="0"/>
              <a:t>室内定位辅助功能</a:t>
            </a:r>
            <a:endParaRPr lang="en-US" altLang="zh-CN" dirty="0"/>
          </a:p>
          <a:p>
            <a:pPr lvl="1"/>
            <a:r>
              <a:rPr lang="zh-CN" altLang="zh-CN" dirty="0"/>
              <a:t>配合</a:t>
            </a:r>
            <a:r>
              <a:rPr lang="en-US" altLang="zh-CN" dirty="0" err="1"/>
              <a:t>WiFi</a:t>
            </a:r>
            <a:r>
              <a:rPr lang="zh-CN" altLang="zh-CN" dirty="0"/>
              <a:t>可以实现精度小于</a:t>
            </a:r>
            <a:r>
              <a:rPr lang="en-US" altLang="zh-CN" dirty="0"/>
              <a:t>1</a:t>
            </a:r>
            <a:r>
              <a:rPr lang="zh-CN" altLang="zh-CN" dirty="0"/>
              <a:t>米的室内定位</a:t>
            </a:r>
            <a:r>
              <a:rPr lang="zh-CN" altLang="en-US" dirty="0"/>
              <a:t>，</a:t>
            </a:r>
            <a:r>
              <a:rPr lang="zh-CN" altLang="zh-CN" dirty="0"/>
              <a:t>在</a:t>
            </a:r>
            <a:r>
              <a:rPr lang="en-US" altLang="zh-CN" dirty="0"/>
              <a:t>2019</a:t>
            </a:r>
            <a:r>
              <a:rPr lang="zh-CN" altLang="zh-CN" dirty="0"/>
              <a:t>年公布的蓝牙</a:t>
            </a:r>
            <a:r>
              <a:rPr lang="en-US" altLang="zh-CN" dirty="0"/>
              <a:t>5.1</a:t>
            </a:r>
            <a:r>
              <a:rPr lang="zh-CN" altLang="zh-CN" dirty="0"/>
              <a:t>标准将这一精度提升到了厘米级别并支持测向功能</a:t>
            </a:r>
            <a:endParaRPr lang="en-US" altLang="zh-CN" dirty="0"/>
          </a:p>
          <a:p>
            <a:pPr lvl="1"/>
            <a:r>
              <a:rPr lang="zh-CN" altLang="zh-CN" dirty="0"/>
              <a:t>蓝牙</a:t>
            </a:r>
            <a:r>
              <a:rPr lang="en-US" altLang="zh-CN" dirty="0"/>
              <a:t>5.1</a:t>
            </a:r>
            <a:r>
              <a:rPr lang="zh-CN" altLang="zh-CN" dirty="0"/>
              <a:t>标准还优化了通用属性配置文件（</a:t>
            </a:r>
            <a:r>
              <a:rPr lang="en-US" altLang="zh-CN" dirty="0"/>
              <a:t>GATT</a:t>
            </a:r>
            <a:r>
              <a:rPr lang="zh-CN" altLang="zh-CN" dirty="0"/>
              <a:t>）的性能，提高了配对速度和数据传输速度</a:t>
            </a:r>
            <a:endParaRPr lang="en-US" altLang="zh-CN" dirty="0"/>
          </a:p>
          <a:p>
            <a:pPr lvl="1"/>
            <a:r>
              <a:rPr lang="en-US" altLang="zh-CN" dirty="0"/>
              <a:t>2020</a:t>
            </a:r>
            <a:r>
              <a:rPr lang="zh-CN" altLang="zh-CN" dirty="0"/>
              <a:t>年更新蓝牙</a:t>
            </a:r>
            <a:r>
              <a:rPr lang="en-US" altLang="zh-CN" dirty="0"/>
              <a:t>5.2</a:t>
            </a:r>
            <a:r>
              <a:rPr lang="zh-CN" altLang="zh-CN" dirty="0"/>
              <a:t>标准主要提供了</a:t>
            </a:r>
            <a:r>
              <a:rPr lang="en-US" altLang="zh-CN" dirty="0"/>
              <a:t>ATT</a:t>
            </a:r>
            <a:r>
              <a:rPr lang="zh-CN" altLang="zh-CN" dirty="0"/>
              <a:t>协议的升级版本</a:t>
            </a:r>
            <a:r>
              <a:rPr lang="en-US" altLang="zh-CN" dirty="0"/>
              <a:t>EATT</a:t>
            </a:r>
            <a:r>
              <a:rPr lang="zh-CN" altLang="zh-CN" dirty="0"/>
              <a:t>、增加了</a:t>
            </a:r>
            <a:r>
              <a:rPr lang="en-US" altLang="zh-CN" dirty="0"/>
              <a:t>BLE</a:t>
            </a:r>
            <a:r>
              <a:rPr lang="zh-CN" altLang="zh-CN" dirty="0"/>
              <a:t>功耗管理功能以及提供了</a:t>
            </a:r>
            <a:r>
              <a:rPr lang="en-US" altLang="zh-CN" dirty="0"/>
              <a:t>LE</a:t>
            </a:r>
            <a:r>
              <a:rPr lang="zh-CN" altLang="zh-CN" dirty="0"/>
              <a:t>同步信道功能以实现对</a:t>
            </a:r>
            <a:r>
              <a:rPr lang="en-US" altLang="zh-CN" dirty="0"/>
              <a:t>BLE</a:t>
            </a:r>
            <a:r>
              <a:rPr lang="zh-CN" altLang="zh-CN" dirty="0"/>
              <a:t>多路音频的支持</a:t>
            </a:r>
            <a:endParaRPr lang="en-US" altLang="zh-CN" dirty="0"/>
          </a:p>
          <a:p>
            <a:pPr lvl="1"/>
            <a:r>
              <a:rPr lang="en-US" altLang="zh-CN" dirty="0"/>
              <a:t>2021</a:t>
            </a:r>
            <a:r>
              <a:rPr lang="zh-CN" altLang="zh-CN" dirty="0"/>
              <a:t>年更新的蓝牙</a:t>
            </a:r>
            <a:r>
              <a:rPr lang="en-US" altLang="zh-CN" dirty="0"/>
              <a:t>5.3</a:t>
            </a:r>
            <a:r>
              <a:rPr lang="zh-CN" altLang="zh-CN" dirty="0"/>
              <a:t>标准中提出了连接降级（</a:t>
            </a:r>
            <a:r>
              <a:rPr lang="en-US" altLang="zh-CN" dirty="0"/>
              <a:t>connection </a:t>
            </a:r>
            <a:r>
              <a:rPr lang="en-US" altLang="zh-CN" dirty="0" err="1"/>
              <a:t>subrating</a:t>
            </a:r>
            <a:r>
              <a:rPr lang="zh-CN" altLang="zh-CN" dirty="0"/>
              <a:t>）功能，允许</a:t>
            </a:r>
            <a:r>
              <a:rPr lang="en-US" altLang="zh-CN" dirty="0"/>
              <a:t>BLE</a:t>
            </a:r>
            <a:r>
              <a:rPr lang="zh-CN" altLang="zh-CN" dirty="0"/>
              <a:t>实时在高占空比和低占空比之间切换，实现功耗和吞吐量之间的平衡</a:t>
            </a:r>
            <a:endParaRPr lang="en-US" altLang="zh-CN" dirty="0"/>
          </a:p>
          <a:p>
            <a:pPr lvl="1"/>
            <a:r>
              <a:rPr lang="zh-CN" altLang="zh-CN" dirty="0"/>
              <a:t>还规定了定期广播增强，允许周期性广播使用</a:t>
            </a:r>
            <a:r>
              <a:rPr lang="en-US" altLang="zh-CN" dirty="0" err="1"/>
              <a:t>AdvDataInfo</a:t>
            </a:r>
            <a:r>
              <a:rPr lang="en-US" altLang="zh-CN" dirty="0"/>
              <a:t> (ADI)</a:t>
            </a:r>
            <a:r>
              <a:rPr lang="zh-CN" altLang="zh-CN" dirty="0"/>
              <a:t>字段，扩展了周期性广播的应用场景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228848"/>
      </p:ext>
    </p:extLst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 dirty="0"/>
          </a:p>
          <a:p>
            <a:r>
              <a:rPr lang="zh-CN" altLang="en-US" sz="2800" dirty="0"/>
              <a:t>概述</a:t>
            </a:r>
            <a:endParaRPr lang="en-US" altLang="zh-CN" sz="2800" dirty="0"/>
          </a:p>
          <a:p>
            <a:r>
              <a:rPr lang="zh-CN" altLang="en-US" sz="2800" dirty="0"/>
              <a:t>基于</a:t>
            </a:r>
            <a:r>
              <a:rPr lang="en-US" altLang="zh-CN" sz="2800" dirty="0"/>
              <a:t>IEEE802.15.4</a:t>
            </a:r>
            <a:r>
              <a:rPr lang="zh-CN" altLang="en-US" sz="2800" dirty="0"/>
              <a:t>的传感网协议架构</a:t>
            </a:r>
            <a:endParaRPr lang="en-US" altLang="zh-CN" sz="2800" dirty="0"/>
          </a:p>
          <a:p>
            <a:r>
              <a:rPr lang="en-US" altLang="zh-CN" sz="2800" dirty="0"/>
              <a:t>Bluetooth</a:t>
            </a:r>
          </a:p>
          <a:p>
            <a:r>
              <a:rPr lang="zh-CN" altLang="en-US" sz="2800" dirty="0">
                <a:solidFill>
                  <a:srgbClr val="C00000"/>
                </a:solidFill>
              </a:rPr>
              <a:t>应用案例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zh-CN" altLang="en-US" sz="2800" dirty="0"/>
              <a:t>研究进展</a:t>
            </a:r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编程实例</a:t>
            </a:r>
            <a:r>
              <a:rPr lang="en-US" altLang="zh-CN"/>
              <a:t>-</a:t>
            </a:r>
            <a:r>
              <a:rPr lang="zh-CN" altLang="en-US"/>
              <a:t>智能灯泡远程控制系统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案例描述</a:t>
            </a:r>
            <a:endParaRPr lang="en-US" altLang="zh-CN"/>
          </a:p>
          <a:p>
            <a:pPr lvl="1"/>
            <a:r>
              <a:rPr lang="zh-CN" altLang="en-US"/>
              <a:t>通过搭建</a:t>
            </a:r>
            <a:r>
              <a:rPr lang="en-US" altLang="zh-CN"/>
              <a:t>RPL</a:t>
            </a:r>
            <a:r>
              <a:rPr lang="zh-CN" altLang="en-US"/>
              <a:t>边界路由器（</a:t>
            </a:r>
            <a:r>
              <a:rPr lang="en-US" altLang="zh-CN"/>
              <a:t>Border Router</a:t>
            </a:r>
            <a:r>
              <a:rPr lang="zh-CN" altLang="en-US"/>
              <a:t>），实现从因特网到传感网的穿透，从而实现对智能</a:t>
            </a:r>
            <a:r>
              <a:rPr lang="en-US" altLang="zh-CN"/>
              <a:t>LED</a:t>
            </a:r>
            <a:r>
              <a:rPr lang="zh-CN" altLang="en-US"/>
              <a:t>节点灯的远程控制</a:t>
            </a:r>
            <a:endParaRPr lang="en-US" altLang="zh-CN"/>
          </a:p>
          <a:p>
            <a:r>
              <a:rPr lang="zh-CN" altLang="en-US"/>
              <a:t>实验场景</a:t>
            </a:r>
            <a:r>
              <a:rPr lang="en-US" altLang="zh-CN"/>
              <a:t>: </a:t>
            </a:r>
          </a:p>
          <a:p>
            <a:pPr lvl="1"/>
            <a:r>
              <a:rPr lang="en-US" altLang="zh-CN"/>
              <a:t>PC</a:t>
            </a:r>
            <a:r>
              <a:rPr lang="zh-CN" altLang="en-US"/>
              <a:t>端发出一条命令，经过因特网，传到</a:t>
            </a:r>
            <a:r>
              <a:rPr lang="en-US" altLang="zh-CN"/>
              <a:t>RPL</a:t>
            </a:r>
            <a:r>
              <a:rPr lang="zh-CN" altLang="en-US"/>
              <a:t>边界路由器</a:t>
            </a:r>
            <a:endParaRPr lang="en-US" altLang="zh-CN"/>
          </a:p>
          <a:p>
            <a:pPr lvl="1"/>
            <a:r>
              <a:rPr lang="zh-CN" altLang="en-US"/>
              <a:t>再由边界路由器将携带命令的</a:t>
            </a:r>
            <a:r>
              <a:rPr lang="en-US" altLang="zh-CN"/>
              <a:t>IPv6</a:t>
            </a:r>
            <a:r>
              <a:rPr lang="zh-CN" altLang="en-US"/>
              <a:t>数据包转为符合</a:t>
            </a:r>
            <a:r>
              <a:rPr lang="en-US" altLang="zh-CN"/>
              <a:t>IEEE 802.15.4</a:t>
            </a:r>
            <a:r>
              <a:rPr lang="zh-CN" altLang="en-US"/>
              <a:t>标准的数据包，发送到智能</a:t>
            </a:r>
            <a:r>
              <a:rPr lang="en-US" altLang="zh-CN"/>
              <a:t>LED</a:t>
            </a:r>
            <a:r>
              <a:rPr lang="zh-CN" altLang="en-US"/>
              <a:t>节点上，控制</a:t>
            </a:r>
            <a:r>
              <a:rPr lang="en-US" altLang="zh-CN"/>
              <a:t>LED</a:t>
            </a:r>
            <a:r>
              <a:rPr lang="zh-CN" altLang="en-US"/>
              <a:t>灯的亮灭</a:t>
            </a:r>
            <a:endParaRPr lang="en-US" altLang="zh-CN"/>
          </a:p>
          <a:p>
            <a:pPr lvl="1"/>
            <a:endParaRPr lang="zh-CN" altLang="zh-CN"/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3" y="4654345"/>
            <a:ext cx="8369299" cy="2203655"/>
          </a:xfrm>
          <a:prstGeom prst="rect">
            <a:avLst/>
          </a:prstGeom>
          <a:noFill/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437E21A9-4717-4CD4-915C-A0BEA8CA0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\Users\cchti\AppData\Local\Temp\WeChat Files\ea63d217b104f9fa17794c53fd19d4d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1405" y="2521974"/>
            <a:ext cx="2981018" cy="29689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智能灯泡远程控制系统</a:t>
            </a:r>
            <a:r>
              <a:rPr lang="en-US" altLang="zh-CN"/>
              <a:t>-</a:t>
            </a:r>
            <a:r>
              <a:rPr lang="zh-CN" altLang="en-US"/>
              <a:t>硬件选择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RPL</a:t>
            </a:r>
            <a:r>
              <a:rPr lang="zh-CN" altLang="en-US"/>
              <a:t>边界路由（</a:t>
            </a:r>
            <a:r>
              <a:rPr lang="en-US" altLang="zh-CN"/>
              <a:t>Raspberry 3+ CC2538SF53</a:t>
            </a:r>
            <a:r>
              <a:rPr lang="zh-CN" altLang="en-US"/>
              <a:t>节点）</a:t>
            </a:r>
            <a:endParaRPr lang="en-US" altLang="zh-CN"/>
          </a:p>
          <a:p>
            <a:pPr lvl="1"/>
            <a:r>
              <a:rPr lang="zh-CN" altLang="en-US"/>
              <a:t>树莓派： 用于搭建与</a:t>
            </a:r>
            <a:r>
              <a:rPr lang="en-US" altLang="zh-CN"/>
              <a:t>Internet</a:t>
            </a:r>
            <a:r>
              <a:rPr lang="zh-CN" altLang="en-US"/>
              <a:t>连接的网络服务，并实现</a:t>
            </a:r>
            <a:r>
              <a:rPr lang="en-US" altLang="zh-CN"/>
              <a:t>RPL</a:t>
            </a:r>
            <a:r>
              <a:rPr lang="zh-CN" altLang="en-US"/>
              <a:t>和</a:t>
            </a:r>
            <a:r>
              <a:rPr lang="en-US" altLang="zh-CN"/>
              <a:t>6LoWPAN</a:t>
            </a:r>
            <a:r>
              <a:rPr lang="zh-CN" altLang="en-US"/>
              <a:t>功能</a:t>
            </a:r>
            <a:endParaRPr lang="en-US" altLang="zh-CN"/>
          </a:p>
          <a:p>
            <a:pPr lvl="1"/>
            <a:r>
              <a:rPr lang="en-US" altLang="zh-CN"/>
              <a:t>CC2538SF53</a:t>
            </a:r>
            <a:r>
              <a:rPr lang="zh-CN" altLang="zh-CN"/>
              <a:t>节点</a:t>
            </a:r>
            <a:r>
              <a:rPr lang="zh-CN" altLang="en-US"/>
              <a:t>：提供</a:t>
            </a:r>
            <a:r>
              <a:rPr lang="en-US" altLang="zh-CN"/>
              <a:t>IEEE 802.15.4</a:t>
            </a:r>
            <a:r>
              <a:rPr lang="zh-CN" altLang="en-US"/>
              <a:t>的无线电收发功能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r>
              <a:rPr lang="zh-CN" altLang="en-US"/>
              <a:t>智能</a:t>
            </a:r>
            <a:r>
              <a:rPr lang="en-US" altLang="zh-CN"/>
              <a:t>LED</a:t>
            </a:r>
            <a:r>
              <a:rPr lang="zh-CN" altLang="en-US"/>
              <a:t>节点：</a:t>
            </a:r>
            <a:r>
              <a:rPr lang="en-US" altLang="zh-CN"/>
              <a:t>CC2538SF53</a:t>
            </a:r>
            <a:r>
              <a:rPr lang="zh-CN" altLang="en-US"/>
              <a:t>节点</a:t>
            </a:r>
            <a:endParaRPr lang="en-US" altLang="zh-CN"/>
          </a:p>
          <a:p>
            <a:pPr lvl="1"/>
            <a:r>
              <a:rPr lang="zh-CN" altLang="en-US"/>
              <a:t>根据收到的</a:t>
            </a:r>
            <a:r>
              <a:rPr lang="en-US" altLang="zh-CN"/>
              <a:t>IEEE 802.15.4</a:t>
            </a:r>
            <a:r>
              <a:rPr lang="zh-CN" altLang="en-US"/>
              <a:t>数据包，控制</a:t>
            </a:r>
            <a:r>
              <a:rPr lang="en-US" altLang="zh-CN"/>
              <a:t>LED</a:t>
            </a:r>
            <a:r>
              <a:rPr lang="zh-CN" altLang="en-US"/>
              <a:t>灯的亮灭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2441286" y="4723978"/>
            <a:ext cx="1763624" cy="4206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Raspberry 3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97576" y="4723978"/>
            <a:ext cx="1917513" cy="4206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CC2538SF53 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D0F814A9-BDC1-4208-B56E-574FA9790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智能灯泡远程控制系统</a:t>
            </a:r>
            <a:r>
              <a:rPr lang="en-US" altLang="zh-CN"/>
              <a:t>-</a:t>
            </a:r>
            <a:r>
              <a:rPr lang="zh-CN" altLang="en-US"/>
              <a:t>软件环境搭建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节点操作系统：</a:t>
            </a:r>
            <a:r>
              <a:rPr lang="en-US" altLang="zh-CN"/>
              <a:t>Contiki-NG</a:t>
            </a:r>
          </a:p>
          <a:p>
            <a:pPr lvl="1"/>
            <a:r>
              <a:rPr lang="en-US" altLang="zh-CN"/>
              <a:t>Contiki-NG</a:t>
            </a:r>
            <a:r>
              <a:rPr lang="zh-CN" altLang="en-US"/>
              <a:t>的源代码：</a:t>
            </a:r>
            <a:r>
              <a:rPr lang="en-US" altLang="zh-CN">
                <a:hlinkClick r:id="rId2"/>
              </a:rPr>
              <a:t>https://github.com/contiki-ng/contiki-ng.git</a:t>
            </a:r>
            <a:endParaRPr lang="en-US" altLang="zh-CN"/>
          </a:p>
          <a:p>
            <a:pPr lvl="1"/>
            <a:r>
              <a:rPr lang="en-US" altLang="zh-CN"/>
              <a:t>Contiki-NG</a:t>
            </a:r>
            <a:r>
              <a:rPr lang="zh-CN" altLang="en-US"/>
              <a:t>配置教程：</a:t>
            </a:r>
            <a:r>
              <a:rPr lang="en-US" altLang="zh-CN"/>
              <a:t>http://anrg.usc.edu/Contiki-OS/index.php/Installation</a:t>
            </a:r>
          </a:p>
          <a:p>
            <a:r>
              <a:rPr lang="zh-CN" altLang="en-US"/>
              <a:t>应用层网络服务：</a:t>
            </a:r>
            <a:r>
              <a:rPr lang="en-US" altLang="zh-CN"/>
              <a:t>MQTT</a:t>
            </a:r>
          </a:p>
          <a:p>
            <a:pPr lvl="1"/>
            <a:r>
              <a:rPr lang="en-US" altLang="zh-CN"/>
              <a:t>MQTT </a:t>
            </a:r>
            <a:r>
              <a:rPr lang="zh-CN" altLang="en-US"/>
              <a:t>协议中有三种角色：订阅者、发布者和</a:t>
            </a:r>
            <a:r>
              <a:rPr lang="en-US" altLang="zh-CN"/>
              <a:t>MQTT </a:t>
            </a:r>
            <a:r>
              <a:rPr lang="zh-CN" altLang="en-US"/>
              <a:t>代理</a:t>
            </a:r>
            <a:endParaRPr lang="en-US" altLang="zh-CN"/>
          </a:p>
          <a:p>
            <a:pPr lvl="1"/>
            <a:r>
              <a:rPr lang="en-US" altLang="zh-CN"/>
              <a:t>MQTT</a:t>
            </a:r>
            <a:r>
              <a:rPr lang="zh-CN" altLang="en-US"/>
              <a:t>代理</a:t>
            </a:r>
            <a:r>
              <a:rPr lang="en-US" altLang="zh-CN"/>
              <a:t>:</a:t>
            </a:r>
            <a:r>
              <a:rPr lang="zh-CN" altLang="en-US"/>
              <a:t> </a:t>
            </a:r>
            <a:r>
              <a:rPr lang="en-US" altLang="zh-CN"/>
              <a:t>RPL </a:t>
            </a:r>
            <a:r>
              <a:rPr lang="zh-CN" altLang="en-US"/>
              <a:t>边界路由器</a:t>
            </a:r>
            <a:r>
              <a:rPr lang="en-US" altLang="zh-CN"/>
              <a:t>,</a:t>
            </a:r>
            <a:r>
              <a:rPr lang="zh-CN" altLang="en-US"/>
              <a:t>订阅者</a:t>
            </a:r>
            <a:r>
              <a:rPr lang="en-US" altLang="zh-CN"/>
              <a:t>:</a:t>
            </a:r>
            <a:r>
              <a:rPr lang="zh-CN" altLang="en-US"/>
              <a:t>智能</a:t>
            </a:r>
            <a:r>
              <a:rPr lang="en-US" altLang="zh-CN"/>
              <a:t>LED </a:t>
            </a:r>
            <a:r>
              <a:rPr lang="zh-CN" altLang="en-US"/>
              <a:t>节点</a:t>
            </a:r>
            <a:r>
              <a:rPr lang="en-US" altLang="zh-CN"/>
              <a:t>,</a:t>
            </a:r>
            <a:r>
              <a:rPr lang="zh-CN" altLang="en-US"/>
              <a:t>发布者</a:t>
            </a:r>
            <a:r>
              <a:rPr lang="en-US" altLang="zh-CN"/>
              <a:t>:PC</a:t>
            </a:r>
          </a:p>
          <a:p>
            <a:pPr lvl="1"/>
            <a:r>
              <a:rPr lang="en-US" altLang="zh-CN"/>
              <a:t>MQTT</a:t>
            </a:r>
            <a:r>
              <a:rPr lang="zh-CN" altLang="en-US"/>
              <a:t>安装</a:t>
            </a:r>
            <a:endParaRPr lang="en-US" altLang="zh-CN"/>
          </a:p>
          <a:p>
            <a:pPr lvl="2"/>
            <a:r>
              <a:rPr lang="en-US" altLang="zh-CN"/>
              <a:t>MQTT </a:t>
            </a:r>
            <a:r>
              <a:rPr lang="zh-CN" altLang="en-US"/>
              <a:t>客户端（订阅者、发布者）程序已在</a:t>
            </a:r>
            <a:r>
              <a:rPr lang="en-US" altLang="zh-CN"/>
              <a:t>Contiki-NG </a:t>
            </a:r>
            <a:r>
              <a:rPr lang="zh-CN" altLang="en-US"/>
              <a:t>中提供</a:t>
            </a:r>
            <a:endParaRPr lang="en-US" altLang="zh-CN"/>
          </a:p>
          <a:p>
            <a:pPr lvl="2"/>
            <a:r>
              <a:rPr lang="en-US" altLang="zh-CN"/>
              <a:t>MQTT </a:t>
            </a:r>
            <a:r>
              <a:rPr lang="zh-CN" altLang="en-US"/>
              <a:t>代理需要在树莓派上安装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8A380C4-DB03-4ED5-8003-80BF9A1A1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智能灯泡远程控制系统</a:t>
            </a:r>
            <a:r>
              <a:rPr lang="en-US" altLang="zh-CN"/>
              <a:t>-</a:t>
            </a:r>
            <a:r>
              <a:rPr lang="zh-CN" altLang="en-US"/>
              <a:t>程序编写及运行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搭建</a:t>
            </a:r>
            <a:r>
              <a:rPr lang="en-US" altLang="zh-CN" dirty="0"/>
              <a:t>RPL </a:t>
            </a:r>
            <a:r>
              <a:rPr lang="zh-CN" altLang="en-US" dirty="0"/>
              <a:t>边界路由器</a:t>
            </a:r>
            <a:endParaRPr lang="en-US" altLang="zh-CN" dirty="0"/>
          </a:p>
          <a:p>
            <a:pPr lvl="1"/>
            <a:r>
              <a:rPr lang="zh-CN" altLang="en-US" dirty="0"/>
              <a:t>树莓派编译并运行</a:t>
            </a:r>
            <a:r>
              <a:rPr lang="en-US" altLang="zh-CN" dirty="0"/>
              <a:t>Contiki-NG </a:t>
            </a:r>
            <a:r>
              <a:rPr lang="zh-CN" altLang="en-US" dirty="0"/>
              <a:t>提供的</a:t>
            </a:r>
            <a:r>
              <a:rPr lang="en-US" altLang="zh-CN" dirty="0"/>
              <a:t>native border router</a:t>
            </a:r>
            <a:r>
              <a:rPr lang="zh-CN" altLang="en-US" dirty="0"/>
              <a:t>程序</a:t>
            </a:r>
            <a:r>
              <a:rPr lang="en-US" altLang="zh-CN" dirty="0"/>
              <a:t>(example/</a:t>
            </a:r>
            <a:r>
              <a:rPr lang="en-US" altLang="zh-CN" dirty="0" err="1"/>
              <a:t>rpl</a:t>
            </a:r>
            <a:r>
              <a:rPr lang="en-US" altLang="zh-CN" dirty="0"/>
              <a:t>-border-router)</a:t>
            </a:r>
          </a:p>
          <a:p>
            <a:pPr lvl="1"/>
            <a:endParaRPr lang="en-US" altLang="zh-CN" sz="1600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CC2538SF53</a:t>
            </a:r>
            <a:r>
              <a:rPr lang="zh-CN" altLang="en-US" dirty="0"/>
              <a:t>节点上，烧写</a:t>
            </a:r>
            <a:r>
              <a:rPr lang="en-US" altLang="zh-CN" dirty="0"/>
              <a:t>slip-radio </a:t>
            </a:r>
            <a:r>
              <a:rPr lang="zh-CN" altLang="en-US" dirty="0"/>
              <a:t>程序</a:t>
            </a:r>
            <a:r>
              <a:rPr lang="en-US" altLang="zh-CN" dirty="0"/>
              <a:t>(examples/slip-radio)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在树莓派上配置串口地址指定</a:t>
            </a:r>
            <a:r>
              <a:rPr lang="en-US" altLang="zh-CN" dirty="0"/>
              <a:t>SLIP radio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1"/>
            <a:r>
              <a:rPr lang="zh-CN" altLang="en-US" dirty="0"/>
              <a:t>将树莓派上的</a:t>
            </a:r>
            <a:r>
              <a:rPr lang="en-US" altLang="zh-CN" dirty="0"/>
              <a:t>native border router</a:t>
            </a:r>
            <a:r>
              <a:rPr lang="zh-CN" altLang="en-US" dirty="0"/>
              <a:t>绑定到</a:t>
            </a:r>
            <a:r>
              <a:rPr lang="en-US" altLang="zh-CN" dirty="0"/>
              <a:t>CC2538SF53</a:t>
            </a:r>
            <a:r>
              <a:rPr lang="zh-CN" altLang="en-US" dirty="0"/>
              <a:t>节点的</a:t>
            </a:r>
            <a:r>
              <a:rPr lang="en-US" altLang="zh-CN" dirty="0"/>
              <a:t>802.15.4</a:t>
            </a:r>
            <a:r>
              <a:rPr lang="zh-CN" altLang="en-US" dirty="0"/>
              <a:t>无线电上，并生成</a:t>
            </a:r>
            <a:r>
              <a:rPr lang="en-US" altLang="zh-CN" dirty="0"/>
              <a:t>IPv6</a:t>
            </a:r>
            <a:r>
              <a:rPr lang="zh-CN" altLang="en-US" dirty="0"/>
              <a:t>地址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89" y="2482586"/>
            <a:ext cx="5950214" cy="5108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189" y="3845076"/>
            <a:ext cx="5950214" cy="5108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95" y="5881808"/>
            <a:ext cx="7723408" cy="480892"/>
          </a:xfrm>
          <a:prstGeom prst="rect">
            <a:avLst/>
          </a:prstGeom>
        </p:spPr>
      </p:pic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C713365A-BCFF-4D31-BD70-6CE6E0AD7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智能灯泡远程控制系统</a:t>
            </a:r>
            <a:r>
              <a:rPr lang="en-US" altLang="zh-CN"/>
              <a:t>-</a:t>
            </a:r>
            <a:r>
              <a:rPr lang="zh-CN" altLang="en-US"/>
              <a:t>程序编写及运行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编写并配置</a:t>
            </a:r>
            <a:r>
              <a:rPr lang="en-US" altLang="zh-CN"/>
              <a:t>MQTT </a:t>
            </a:r>
            <a:r>
              <a:rPr lang="zh-CN" altLang="en-US"/>
              <a:t>客户端服务程序</a:t>
            </a:r>
            <a:endParaRPr lang="en-US" altLang="zh-CN"/>
          </a:p>
          <a:p>
            <a:pPr lvl="1"/>
            <a:r>
              <a:rPr lang="zh-CN" altLang="en-US"/>
              <a:t>在</a:t>
            </a:r>
            <a:r>
              <a:rPr lang="en-US" altLang="zh-CN"/>
              <a:t>MQTT</a:t>
            </a:r>
            <a:r>
              <a:rPr lang="zh-CN" altLang="en-US"/>
              <a:t>客户端配置文件（</a:t>
            </a:r>
            <a:r>
              <a:rPr lang="en-US" altLang="zh-CN"/>
              <a:t>project-conf.h</a:t>
            </a:r>
            <a:r>
              <a:rPr lang="zh-CN" altLang="en-US"/>
              <a:t>）里设置</a:t>
            </a:r>
            <a:r>
              <a:rPr lang="en-US" altLang="zh-CN"/>
              <a:t>MQTT</a:t>
            </a:r>
            <a:r>
              <a:rPr lang="zh-CN" altLang="en-US"/>
              <a:t>代理的</a:t>
            </a:r>
            <a:r>
              <a:rPr lang="en-US" altLang="zh-CN"/>
              <a:t>IPv6</a:t>
            </a:r>
            <a:r>
              <a:rPr lang="zh-CN" altLang="en-US"/>
              <a:t>地址为搭建好的边界路由器的</a:t>
            </a:r>
            <a:r>
              <a:rPr lang="en-US" altLang="zh-CN"/>
              <a:t>IPv6 Global </a:t>
            </a:r>
            <a:r>
              <a:rPr lang="zh-CN" altLang="en-US"/>
              <a:t>地址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/>
              <a:t>在</a:t>
            </a:r>
            <a:r>
              <a:rPr lang="en-US" altLang="zh-CN"/>
              <a:t>MQTT</a:t>
            </a:r>
            <a:r>
              <a:rPr lang="zh-CN" altLang="en-US"/>
              <a:t>客户端程序件指定订阅的话题（</a:t>
            </a:r>
            <a:r>
              <a:rPr lang="en-US" altLang="zh-CN"/>
              <a:t>iot-2/cmd/led/fmt/json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编写</a:t>
            </a:r>
            <a:r>
              <a:rPr lang="en-US" altLang="zh-CN"/>
              <a:t>mqtt-client.c</a:t>
            </a:r>
            <a:r>
              <a:rPr lang="zh-CN" altLang="en-US"/>
              <a:t>中对</a:t>
            </a:r>
            <a:r>
              <a:rPr lang="en-US" altLang="zh-CN"/>
              <a:t>LED</a:t>
            </a:r>
            <a:r>
              <a:rPr lang="zh-CN" altLang="en-US"/>
              <a:t>灯的控制代码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797" y="2348791"/>
            <a:ext cx="6831228" cy="4415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04" y="4067648"/>
            <a:ext cx="5925791" cy="22678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58045" y="5123358"/>
            <a:ext cx="2876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//</a:t>
            </a:r>
            <a:r>
              <a:rPr lang="zh-CN" altLang="en-US" dirty="0"/>
              <a:t>命令行参数为</a:t>
            </a:r>
            <a:r>
              <a:rPr lang="en-US" altLang="zh-CN" dirty="0"/>
              <a:t>1</a:t>
            </a:r>
            <a:r>
              <a:rPr lang="zh-CN" altLang="en-US" dirty="0"/>
              <a:t>，则打开红灯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58045" y="5510349"/>
            <a:ext cx="2876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//</a:t>
            </a:r>
            <a:r>
              <a:rPr lang="zh-CN" altLang="en-US" dirty="0"/>
              <a:t>命令行参数为</a:t>
            </a:r>
            <a:r>
              <a:rPr lang="en-US" altLang="zh-CN" dirty="0"/>
              <a:t>0</a:t>
            </a:r>
            <a:r>
              <a:rPr lang="zh-CN" altLang="en-US" dirty="0"/>
              <a:t>，则关闭红灯</a:t>
            </a:r>
          </a:p>
        </p:txBody>
      </p: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75FA6F53-8733-4AE9-B24A-EA30B0A01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 dirty="0"/>
              <a:t>智能灯泡远程控制系统</a:t>
            </a:r>
            <a:r>
              <a:rPr lang="en-US" altLang="zh-CN" dirty="0"/>
              <a:t>-</a:t>
            </a:r>
            <a:r>
              <a:rPr lang="zh-CN" altLang="en-US" dirty="0"/>
              <a:t>程序编写及运行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编译后烧写到智能</a:t>
            </a:r>
            <a:r>
              <a:rPr lang="en-US" altLang="zh-CN" dirty="0"/>
              <a:t>LED</a:t>
            </a:r>
            <a:r>
              <a:rPr lang="zh-CN" altLang="en-US" dirty="0"/>
              <a:t>节点上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600" dirty="0"/>
          </a:p>
          <a:p>
            <a:endParaRPr lang="en-US" altLang="zh-CN" sz="1200" dirty="0"/>
          </a:p>
          <a:p>
            <a:r>
              <a:rPr lang="zh-CN" altLang="en-US" dirty="0"/>
              <a:t>案例验证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48" y="1867989"/>
            <a:ext cx="6683320" cy="5211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48" y="3451552"/>
            <a:ext cx="6824889" cy="780814"/>
          </a:xfrm>
          <a:prstGeom prst="rect">
            <a:avLst/>
          </a:prstGeom>
        </p:spPr>
      </p:pic>
      <p:pic>
        <p:nvPicPr>
          <p:cNvPr id="10" name="图片 9" descr="C:\Users\cchti\AppData\Local\Temp\WeChat Files\c8a9f2a656433060b76e6705d81dd32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0166" y="3994796"/>
            <a:ext cx="2006647" cy="3063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 descr="C:\Users\cchti\AppData\Local\Temp\WeChat Files\ad900424446ada993ab43379475f229.jpg"/>
          <p:cNvPicPr/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58"/>
          <a:stretch>
            <a:fillRect/>
          </a:stretch>
        </p:blipFill>
        <p:spPr bwMode="auto">
          <a:xfrm rot="5400000">
            <a:off x="5941483" y="4178819"/>
            <a:ext cx="1843202" cy="28589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/>
        </p:nvSpPr>
        <p:spPr>
          <a:xfrm>
            <a:off x="2508069" y="5526552"/>
            <a:ext cx="483325" cy="18191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40570" y="5565741"/>
            <a:ext cx="483325" cy="18191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4" name="灯片编号占位符 4">
            <a:extLst>
              <a:ext uri="{FF2B5EF4-FFF2-40B4-BE49-F238E27FC236}">
                <a16:creationId xmlns:a16="http://schemas.microsoft.com/office/drawing/2014/main" id="{277ED796-5FB7-483A-96C0-CDC82B13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 dirty="0"/>
          </a:p>
          <a:p>
            <a:r>
              <a:rPr lang="zh-CN" altLang="en-US" sz="2800" dirty="0"/>
              <a:t>概述</a:t>
            </a:r>
            <a:endParaRPr lang="en-US" altLang="zh-CN" sz="2800" dirty="0"/>
          </a:p>
          <a:p>
            <a:r>
              <a:rPr lang="zh-CN" altLang="en-US" sz="2800" dirty="0"/>
              <a:t>基于</a:t>
            </a:r>
            <a:r>
              <a:rPr lang="en-US" altLang="zh-CN" sz="2800" dirty="0"/>
              <a:t>IEEE802.15.4</a:t>
            </a:r>
            <a:r>
              <a:rPr lang="zh-CN" altLang="en-US" sz="2800" dirty="0"/>
              <a:t>的传感网协议架构</a:t>
            </a:r>
            <a:endParaRPr lang="en-US" altLang="zh-CN" sz="2800" dirty="0"/>
          </a:p>
          <a:p>
            <a:r>
              <a:rPr lang="en-US" altLang="zh-CN" sz="2800" dirty="0"/>
              <a:t>Bluetooth</a:t>
            </a:r>
          </a:p>
          <a:p>
            <a:r>
              <a:rPr lang="zh-CN" altLang="en-US" sz="2800" dirty="0"/>
              <a:t>应用案例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C00000"/>
                </a:solidFill>
              </a:rPr>
              <a:t>研究进展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研究进展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[Ipsn16] Oppcast: Exploiting Spatial and Channel Diversity for Robust Data Collection in Urban Environments</a:t>
            </a:r>
          </a:p>
          <a:p>
            <a:pPr lvl="1"/>
            <a:r>
              <a:rPr lang="zh-CN" altLang="en-US"/>
              <a:t>提供了</a:t>
            </a:r>
            <a:r>
              <a:rPr lang="zh-CN" altLang="zh-CN"/>
              <a:t>一种能够在干扰源动态变化的情况下，实现稳定的数据收集的路由协议。</a:t>
            </a:r>
            <a:endParaRPr lang="en-US" altLang="zh-CN"/>
          </a:p>
          <a:p>
            <a:pPr lvl="1"/>
            <a:r>
              <a:rPr lang="en-US" altLang="zh-CN"/>
              <a:t>Oppcast</a:t>
            </a:r>
            <a:r>
              <a:rPr lang="zh-CN" altLang="zh-CN"/>
              <a:t>背后的关键理念是它同时利用了空间和信道多样性。</a:t>
            </a:r>
            <a:endParaRPr lang="en-US" altLang="zh-CN"/>
          </a:p>
          <a:p>
            <a:pPr lvl="1"/>
            <a:r>
              <a:rPr lang="zh-CN" altLang="zh-CN"/>
              <a:t>通过结合两种机制：机会路由和多信道跳频的使用，</a:t>
            </a:r>
            <a:r>
              <a:rPr lang="en-US" altLang="zh-CN"/>
              <a:t>Oppcast</a:t>
            </a:r>
            <a:r>
              <a:rPr lang="zh-CN" altLang="zh-CN"/>
              <a:t>能够显著地增加可以用来稳定传输数据的链路，实现可靠的网络数据收集。</a:t>
            </a:r>
            <a:br>
              <a:rPr lang="en-US" altLang="zh-CN"/>
            </a:br>
            <a:br>
              <a:rPr lang="en-US" altLang="zh-CN"/>
            </a:br>
            <a:endParaRPr lang="en-US" altLang="zh-CN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857" y="4365119"/>
            <a:ext cx="5576366" cy="245478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946D3C-E02F-4128-AD66-F9BCF5996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研究进展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[mobicom17] WEBee: Physical-Layer Cross-Technology Communication via Emulation</a:t>
            </a:r>
          </a:p>
          <a:p>
            <a:pPr lvl="1"/>
            <a:r>
              <a:rPr lang="zh-CN" altLang="en-US"/>
              <a:t>实现了</a:t>
            </a:r>
            <a:r>
              <a:rPr lang="en-US" altLang="zh-CN"/>
              <a:t>WiFi</a:t>
            </a:r>
            <a:r>
              <a:rPr lang="zh-CN" altLang="en-US"/>
              <a:t>到</a:t>
            </a:r>
            <a:r>
              <a:rPr lang="en-US" altLang="zh-CN"/>
              <a:t>ZigBee</a:t>
            </a:r>
            <a:r>
              <a:rPr lang="zh-CN" altLang="en-US"/>
              <a:t>的跨技术通信，能够达到以</a:t>
            </a:r>
            <a:r>
              <a:rPr lang="en-US" altLang="zh-CN"/>
              <a:t>126Kbps</a:t>
            </a:r>
            <a:r>
              <a:rPr lang="zh-CN" altLang="en-US"/>
              <a:t>的速率实现</a:t>
            </a:r>
            <a:r>
              <a:rPr lang="en-US" altLang="zh-CN"/>
              <a:t>99%</a:t>
            </a:r>
            <a:r>
              <a:rPr lang="zh-CN" altLang="en-US"/>
              <a:t>以上收包率的传输</a:t>
            </a:r>
            <a:endParaRPr lang="en-US" altLang="zh-CN"/>
          </a:p>
          <a:p>
            <a:pPr lvl="1"/>
            <a:r>
              <a:rPr lang="zh-CN" altLang="en-US"/>
              <a:t>其背后原理是</a:t>
            </a:r>
            <a:r>
              <a:rPr lang="en-US" altLang="zh-CN"/>
              <a:t>WiFi</a:t>
            </a:r>
            <a:r>
              <a:rPr lang="zh-CN" altLang="en-US"/>
              <a:t>的物理层和</a:t>
            </a:r>
            <a:r>
              <a:rPr lang="en-US" altLang="zh-CN"/>
              <a:t>ZigBee</a:t>
            </a:r>
            <a:r>
              <a:rPr lang="zh-CN" altLang="en-US"/>
              <a:t>的物理层能够相互转换，通过在</a:t>
            </a:r>
            <a:r>
              <a:rPr lang="en-US" altLang="zh-CN"/>
              <a:t>WiFi</a:t>
            </a:r>
            <a:r>
              <a:rPr lang="zh-CN" altLang="en-US"/>
              <a:t>端选择特定的发送的数据，就能够在</a:t>
            </a:r>
            <a:r>
              <a:rPr lang="en-US" altLang="zh-CN"/>
              <a:t>ZigBee</a:t>
            </a:r>
            <a:r>
              <a:rPr lang="zh-CN" altLang="en-US"/>
              <a:t>端成功解码出跨技术通信的数据。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812" y="3921975"/>
            <a:ext cx="4806375" cy="271633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E94D6F-824D-4FCB-9FCD-45EAC27E5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  <p:transition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03225" y="2598420"/>
            <a:ext cx="8532813" cy="92333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zh-CN" altLang="en-US" sz="5400" b="1" baseline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谢谢！</a:t>
            </a:r>
            <a:endParaRPr lang="en-US" altLang="zh-CN" sz="5400" b="1" baseline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54"/>
  <p:tag name="DEFAULTHEIGHT" val="200"/>
</p:tagLst>
</file>

<file path=ppt/theme/theme1.xml><?xml version="1.0" encoding="utf-8"?>
<a:theme xmlns:a="http://schemas.openxmlformats.org/drawingml/2006/main" name="2_NCSU-CS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自定义 1">
      <a:majorFont>
        <a:latin typeface="Franklin Gothic Medium"/>
        <a:ea typeface="微软雅黑"/>
        <a:cs typeface=""/>
      </a:majorFont>
      <a:minorFont>
        <a:latin typeface="Franklin Gothic 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100000"/>
          <a:buFontTx/>
          <a:buNone/>
          <a:defRPr kumimoji="0" lang="en-US" alt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100000"/>
          <a:buFontTx/>
          <a:buNone/>
          <a:defRPr kumimoji="0" 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lnDef>
  </a:objectDefaults>
  <a:extraClrSchemeLst>
    <a:extraClrScheme>
      <a:clrScheme name="NCSU-CS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6666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SU-CS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SU-CS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SU-C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CC"/>
        </a:accent1>
        <a:accent2>
          <a:srgbClr val="6666FF"/>
        </a:accent2>
        <a:accent3>
          <a:srgbClr val="FFFFFF"/>
        </a:accent3>
        <a:accent4>
          <a:srgbClr val="000000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11095</Words>
  <Application>Microsoft Office PowerPoint</Application>
  <PresentationFormat>全屏显示(4:3)</PresentationFormat>
  <Paragraphs>2246</Paragraphs>
  <Slides>140</Slides>
  <Notes>118</Notes>
  <HiddenSlides>12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140</vt:i4>
      </vt:variant>
    </vt:vector>
  </HeadingPairs>
  <TitlesOfParts>
    <vt:vector size="155" baseType="lpstr">
      <vt:lpstr>黑体</vt:lpstr>
      <vt:lpstr>宋体</vt:lpstr>
      <vt:lpstr>微软雅黑</vt:lpstr>
      <vt:lpstr>Arial</vt:lpstr>
      <vt:lpstr>Calibri</vt:lpstr>
      <vt:lpstr>Cambria Math</vt:lpstr>
      <vt:lpstr>Franklin Gothic Book</vt:lpstr>
      <vt:lpstr>Monotype Corsiva</vt:lpstr>
      <vt:lpstr>Times</vt:lpstr>
      <vt:lpstr>Times New Roman</vt:lpstr>
      <vt:lpstr>Trebuchet MS</vt:lpstr>
      <vt:lpstr>Wingdings</vt:lpstr>
      <vt:lpstr>2_NCSU-CS</vt:lpstr>
      <vt:lpstr>Equation.DSMT4</vt:lpstr>
      <vt:lpstr>Visio</vt:lpstr>
      <vt:lpstr>第四章：低功耗短距离通信协议</vt:lpstr>
      <vt:lpstr>学习目标</vt:lpstr>
      <vt:lpstr>目录</vt:lpstr>
      <vt:lpstr>低功耗短距离通信需求</vt:lpstr>
      <vt:lpstr>低功耗短距离通信需求</vt:lpstr>
      <vt:lpstr>低功耗短距离通信需求</vt:lpstr>
      <vt:lpstr>典型协议</vt:lpstr>
      <vt:lpstr>典型协议</vt:lpstr>
      <vt:lpstr>典型协议</vt:lpstr>
      <vt:lpstr>典型协议</vt:lpstr>
      <vt:lpstr>典型协议</vt:lpstr>
      <vt:lpstr>目录</vt:lpstr>
      <vt:lpstr>关键特性</vt:lpstr>
      <vt:lpstr>功耗</vt:lpstr>
      <vt:lpstr>功耗</vt:lpstr>
      <vt:lpstr>通信距离</vt:lpstr>
      <vt:lpstr>频带和数据率</vt:lpstr>
      <vt:lpstr>频带和数据率</vt:lpstr>
      <vt:lpstr>频带和数据率</vt:lpstr>
      <vt:lpstr>频带和数据率</vt:lpstr>
      <vt:lpstr>安全性</vt:lpstr>
      <vt:lpstr>非技术特征</vt:lpstr>
      <vt:lpstr>典型协议的关键特性</vt:lpstr>
      <vt:lpstr>目录</vt:lpstr>
      <vt:lpstr>基于IEEE802.15.4的传感网协议</vt:lpstr>
      <vt:lpstr>基于IEEE802.15.4的传感网协议</vt:lpstr>
      <vt:lpstr>基于IEEE802.15.4的传感网协议</vt:lpstr>
      <vt:lpstr>IEEE 802.15.4技术物理层</vt:lpstr>
      <vt:lpstr>IEEE 802.15.4技术物理层</vt:lpstr>
      <vt:lpstr>IEEE 802.15.4技术物理层</vt:lpstr>
      <vt:lpstr>IEEE 802.15.4技术物理层</vt:lpstr>
      <vt:lpstr>IEEE 802.15.4技术物理层</vt:lpstr>
      <vt:lpstr>思考题</vt:lpstr>
      <vt:lpstr>基于IEEE802.15.4的传感网协议</vt:lpstr>
      <vt:lpstr>低功耗MAC</vt:lpstr>
      <vt:lpstr>低功耗MAC</vt:lpstr>
      <vt:lpstr>同步MAC：S-MAC</vt:lpstr>
      <vt:lpstr>同步MAC：S-MAC</vt:lpstr>
      <vt:lpstr>同步MAC：S-MAC </vt:lpstr>
      <vt:lpstr>同步MAC：S-MAC </vt:lpstr>
      <vt:lpstr>同步MAC：S-MAC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发送方发起异步MAC：LPL MAC</vt:lpstr>
      <vt:lpstr>思考题</vt:lpstr>
      <vt:lpstr>接收方发起异步MAC：RI-MAC</vt:lpstr>
      <vt:lpstr>接收方发起异步MAC：RI-MAC</vt:lpstr>
      <vt:lpstr>接收方发起异步MAC：RI-MAC</vt:lpstr>
      <vt:lpstr>接收方发起异步MAC：EE-RI-MAC</vt:lpstr>
      <vt:lpstr>接收方发起异步MAC：A-MAC</vt:lpstr>
      <vt:lpstr>基于IEEE802.15.4的传感网协议</vt:lpstr>
      <vt:lpstr>链路质量估计</vt:lpstr>
      <vt:lpstr>链路质量估计</vt:lpstr>
      <vt:lpstr>链路质量估计</vt:lpstr>
      <vt:lpstr>链路质量估计</vt:lpstr>
      <vt:lpstr>链路质量估计</vt:lpstr>
      <vt:lpstr>链路质量估计</vt:lpstr>
      <vt:lpstr>链路质量估计</vt:lpstr>
      <vt:lpstr>链路质量估计</vt:lpstr>
      <vt:lpstr>基于IEEE802.15.4的传感网协议</vt:lpstr>
      <vt:lpstr>6LoWPAN</vt:lpstr>
      <vt:lpstr>6LoWPAN</vt:lpstr>
      <vt:lpstr>6LoWPAN</vt:lpstr>
      <vt:lpstr>6LoWPAN</vt:lpstr>
      <vt:lpstr>6LoWPAN</vt:lpstr>
      <vt:lpstr>6LoWPAN</vt:lpstr>
      <vt:lpstr>基于IEEE802.15.4的传感网协议</vt:lpstr>
      <vt:lpstr>CTP</vt:lpstr>
      <vt:lpstr>思考题</vt:lpstr>
      <vt:lpstr>CTP</vt:lpstr>
      <vt:lpstr>CTP</vt:lpstr>
      <vt:lpstr>CTP</vt:lpstr>
      <vt:lpstr>CTP</vt:lpstr>
      <vt:lpstr>CTP</vt:lpstr>
      <vt:lpstr>CTP</vt:lpstr>
      <vt:lpstr>CTP</vt:lpstr>
      <vt:lpstr>基于IEEE802.15.4的传感网协议</vt:lpstr>
      <vt:lpstr>RPL</vt:lpstr>
      <vt:lpstr>RPL</vt:lpstr>
      <vt:lpstr>RPL</vt:lpstr>
      <vt:lpstr>RPL</vt:lpstr>
      <vt:lpstr>RPL</vt:lpstr>
      <vt:lpstr>RPL</vt:lpstr>
      <vt:lpstr>RPL</vt:lpstr>
      <vt:lpstr>RPL</vt:lpstr>
      <vt:lpstr>目录</vt:lpstr>
      <vt:lpstr>蓝牙低功耗协议（BLE）</vt:lpstr>
      <vt:lpstr>蓝牙低功耗协议（BLE）</vt:lpstr>
      <vt:lpstr>蓝牙低功耗协议（BLE）</vt:lpstr>
      <vt:lpstr>蓝牙低功耗协议（BLE）</vt:lpstr>
      <vt:lpstr>物理层协议</vt:lpstr>
      <vt:lpstr>物理层协议</vt:lpstr>
      <vt:lpstr>物理层协议</vt:lpstr>
      <vt:lpstr>蓝牙低功耗协议（BLE）</vt:lpstr>
      <vt:lpstr>链路层协议</vt:lpstr>
      <vt:lpstr>链路层协议</vt:lpstr>
      <vt:lpstr>链路层协议</vt:lpstr>
      <vt:lpstr>链路层协议</vt:lpstr>
      <vt:lpstr>链路层协议</vt:lpstr>
      <vt:lpstr>链路层协议</vt:lpstr>
      <vt:lpstr>链路层协议</vt:lpstr>
      <vt:lpstr>链路层协议</vt:lpstr>
      <vt:lpstr>链路层协议</vt:lpstr>
      <vt:lpstr>链路层协议</vt:lpstr>
      <vt:lpstr>蓝牙低功耗协议（BLE）</vt:lpstr>
      <vt:lpstr>L2CAP协议</vt:lpstr>
      <vt:lpstr>L2CAP协议</vt:lpstr>
      <vt:lpstr>蓝牙低功耗协议（BLE）</vt:lpstr>
      <vt:lpstr>ATT属性检索协议和GATT通用属性框架</vt:lpstr>
      <vt:lpstr>ATT属性检索协议和GATT通用属性框架</vt:lpstr>
      <vt:lpstr>ATT属性检索协议和GATT通用属性框架</vt:lpstr>
      <vt:lpstr>蓝牙低功耗协议（BLE）</vt:lpstr>
      <vt:lpstr>BLE Mesh</vt:lpstr>
      <vt:lpstr>BLE Mesh</vt:lpstr>
      <vt:lpstr>思考题</vt:lpstr>
      <vt:lpstr>蓝牙低功耗协议（BLE）</vt:lpstr>
      <vt:lpstr>蓝牙 5.x规范</vt:lpstr>
      <vt:lpstr>蓝牙 5.x规范</vt:lpstr>
      <vt:lpstr>蓝牙 5.x规范</vt:lpstr>
      <vt:lpstr>蓝牙 5.x规范</vt:lpstr>
      <vt:lpstr>目录</vt:lpstr>
      <vt:lpstr>编程实例-智能灯泡远程控制系统</vt:lpstr>
      <vt:lpstr>智能灯泡远程控制系统-硬件选择</vt:lpstr>
      <vt:lpstr>智能灯泡远程控制系统-软件环境搭建</vt:lpstr>
      <vt:lpstr>智能灯泡远程控制系统-程序编写及运行</vt:lpstr>
      <vt:lpstr>智能灯泡远程控制系统-程序编写及运行</vt:lpstr>
      <vt:lpstr>智能灯泡远程控制系统-程序编写及运行</vt:lpstr>
      <vt:lpstr>目录</vt:lpstr>
      <vt:lpstr>研究进展</vt:lpstr>
      <vt:lpstr>研究进展</vt:lpstr>
      <vt:lpstr>PowerPoint 演示文稿</vt:lpstr>
    </vt:vector>
  </TitlesOfParts>
  <Company>NCSU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Centric Storage</dc:title>
  <dc:creator>Jayush R Luniya</dc:creator>
  <cp:lastModifiedBy>野 蔓</cp:lastModifiedBy>
  <cp:revision>3310</cp:revision>
  <cp:lastPrinted>2009-04-22T19:24:00Z</cp:lastPrinted>
  <dcterms:created xsi:type="dcterms:W3CDTF">2005-04-16T16:23:00Z</dcterms:created>
  <dcterms:modified xsi:type="dcterms:W3CDTF">2022-05-05T06:38:37Z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