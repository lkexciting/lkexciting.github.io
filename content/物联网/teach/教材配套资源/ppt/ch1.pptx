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8"/>
  </p:notesMasterIdLst>
  <p:handoutMasterIdLst>
    <p:handoutMasterId r:id="rId49"/>
  </p:handoutMasterIdLst>
  <p:sldIdLst>
    <p:sldId id="336" r:id="rId2"/>
    <p:sldId id="773" r:id="rId3"/>
    <p:sldId id="669" r:id="rId4"/>
    <p:sldId id="676" r:id="rId5"/>
    <p:sldId id="772" r:id="rId6"/>
    <p:sldId id="760" r:id="rId7"/>
    <p:sldId id="721" r:id="rId8"/>
    <p:sldId id="724" r:id="rId9"/>
    <p:sldId id="723" r:id="rId10"/>
    <p:sldId id="775" r:id="rId11"/>
    <p:sldId id="761" r:id="rId12"/>
    <p:sldId id="709" r:id="rId13"/>
    <p:sldId id="710" r:id="rId14"/>
    <p:sldId id="711" r:id="rId15"/>
    <p:sldId id="728" r:id="rId16"/>
    <p:sldId id="729" r:id="rId17"/>
    <p:sldId id="726" r:id="rId18"/>
    <p:sldId id="712" r:id="rId19"/>
    <p:sldId id="713" r:id="rId20"/>
    <p:sldId id="730" r:id="rId21"/>
    <p:sldId id="718" r:id="rId22"/>
    <p:sldId id="732" r:id="rId23"/>
    <p:sldId id="733" r:id="rId24"/>
    <p:sldId id="734" r:id="rId25"/>
    <p:sldId id="736" r:id="rId26"/>
    <p:sldId id="735" r:id="rId27"/>
    <p:sldId id="737" r:id="rId28"/>
    <p:sldId id="738" r:id="rId29"/>
    <p:sldId id="739" r:id="rId30"/>
    <p:sldId id="740" r:id="rId31"/>
    <p:sldId id="742" r:id="rId32"/>
    <p:sldId id="743" r:id="rId33"/>
    <p:sldId id="744" r:id="rId34"/>
    <p:sldId id="745" r:id="rId35"/>
    <p:sldId id="746" r:id="rId36"/>
    <p:sldId id="774" r:id="rId37"/>
    <p:sldId id="762" r:id="rId38"/>
    <p:sldId id="763" r:id="rId39"/>
    <p:sldId id="764" r:id="rId40"/>
    <p:sldId id="765" r:id="rId41"/>
    <p:sldId id="766" r:id="rId42"/>
    <p:sldId id="767" r:id="rId43"/>
    <p:sldId id="768" r:id="rId44"/>
    <p:sldId id="770" r:id="rId45"/>
    <p:sldId id="771" r:id="rId46"/>
    <p:sldId id="422" r:id="rId47"/>
  </p:sldIdLst>
  <p:sldSz cx="9144000" cy="6858000" type="screen4x3"/>
  <p:notesSz cx="6858000" cy="9144000"/>
  <p:custDataLst>
    <p:tags r:id="rId50"/>
  </p:custDataLst>
  <p:defaultTextStyle>
    <a:defPPr>
      <a:defRPr lang="en-US"/>
    </a:defPPr>
    <a:lvl1pPr algn="l" rtl="0" fontAlgn="base">
      <a:spcBef>
        <a:spcPct val="0"/>
      </a:spcBef>
      <a:spcAft>
        <a:spcPct val="0"/>
      </a:spcAft>
      <a:defRPr sz="2400" kern="1200" baseline="-25000">
        <a:solidFill>
          <a:schemeClr val="tx1"/>
        </a:solidFill>
        <a:latin typeface="Arial" pitchFamily="34" charset="0"/>
        <a:ea typeface="宋体" pitchFamily="2" charset="-122"/>
        <a:cs typeface="+mn-cs"/>
      </a:defRPr>
    </a:lvl1pPr>
    <a:lvl2pPr marL="457200" algn="l" rtl="0" fontAlgn="base">
      <a:spcBef>
        <a:spcPct val="0"/>
      </a:spcBef>
      <a:spcAft>
        <a:spcPct val="0"/>
      </a:spcAft>
      <a:defRPr sz="2400" kern="1200" baseline="-25000">
        <a:solidFill>
          <a:schemeClr val="tx1"/>
        </a:solidFill>
        <a:latin typeface="Arial" pitchFamily="34" charset="0"/>
        <a:ea typeface="宋体" pitchFamily="2" charset="-122"/>
        <a:cs typeface="+mn-cs"/>
      </a:defRPr>
    </a:lvl2pPr>
    <a:lvl3pPr marL="914400" algn="l" rtl="0" fontAlgn="base">
      <a:spcBef>
        <a:spcPct val="0"/>
      </a:spcBef>
      <a:spcAft>
        <a:spcPct val="0"/>
      </a:spcAft>
      <a:defRPr sz="2400" kern="1200" baseline="-25000">
        <a:solidFill>
          <a:schemeClr val="tx1"/>
        </a:solidFill>
        <a:latin typeface="Arial" pitchFamily="34" charset="0"/>
        <a:ea typeface="宋体" pitchFamily="2" charset="-122"/>
        <a:cs typeface="+mn-cs"/>
      </a:defRPr>
    </a:lvl3pPr>
    <a:lvl4pPr marL="1371600" algn="l" rtl="0" fontAlgn="base">
      <a:spcBef>
        <a:spcPct val="0"/>
      </a:spcBef>
      <a:spcAft>
        <a:spcPct val="0"/>
      </a:spcAft>
      <a:defRPr sz="2400" kern="1200" baseline="-25000">
        <a:solidFill>
          <a:schemeClr val="tx1"/>
        </a:solidFill>
        <a:latin typeface="Arial" pitchFamily="34" charset="0"/>
        <a:ea typeface="宋体" pitchFamily="2" charset="-122"/>
        <a:cs typeface="+mn-cs"/>
      </a:defRPr>
    </a:lvl4pPr>
    <a:lvl5pPr marL="1828800" algn="l" rtl="0" fontAlgn="base">
      <a:spcBef>
        <a:spcPct val="0"/>
      </a:spcBef>
      <a:spcAft>
        <a:spcPct val="0"/>
      </a:spcAft>
      <a:defRPr sz="2400" kern="1200" baseline="-25000">
        <a:solidFill>
          <a:schemeClr val="tx1"/>
        </a:solidFill>
        <a:latin typeface="Arial" pitchFamily="34" charset="0"/>
        <a:ea typeface="宋体" pitchFamily="2" charset="-122"/>
        <a:cs typeface="+mn-cs"/>
      </a:defRPr>
    </a:lvl5pPr>
    <a:lvl6pPr marL="2286000" algn="l" defTabSz="914400" rtl="0" eaLnBrk="1" latinLnBrk="0" hangingPunct="1">
      <a:defRPr sz="2400" kern="1200" baseline="-25000">
        <a:solidFill>
          <a:schemeClr val="tx1"/>
        </a:solidFill>
        <a:latin typeface="Arial" pitchFamily="34" charset="0"/>
        <a:ea typeface="宋体" pitchFamily="2" charset="-122"/>
        <a:cs typeface="+mn-cs"/>
      </a:defRPr>
    </a:lvl6pPr>
    <a:lvl7pPr marL="2743200" algn="l" defTabSz="914400" rtl="0" eaLnBrk="1" latinLnBrk="0" hangingPunct="1">
      <a:defRPr sz="2400" kern="1200" baseline="-25000">
        <a:solidFill>
          <a:schemeClr val="tx1"/>
        </a:solidFill>
        <a:latin typeface="Arial" pitchFamily="34" charset="0"/>
        <a:ea typeface="宋体" pitchFamily="2" charset="-122"/>
        <a:cs typeface="+mn-cs"/>
      </a:defRPr>
    </a:lvl7pPr>
    <a:lvl8pPr marL="3200400" algn="l" defTabSz="914400" rtl="0" eaLnBrk="1" latinLnBrk="0" hangingPunct="1">
      <a:defRPr sz="2400" kern="1200" baseline="-25000">
        <a:solidFill>
          <a:schemeClr val="tx1"/>
        </a:solidFill>
        <a:latin typeface="Arial" pitchFamily="34" charset="0"/>
        <a:ea typeface="宋体" pitchFamily="2" charset="-122"/>
        <a:cs typeface="+mn-cs"/>
      </a:defRPr>
    </a:lvl8pPr>
    <a:lvl9pPr marL="3657600" algn="l" defTabSz="914400" rtl="0" eaLnBrk="1" latinLnBrk="0" hangingPunct="1">
      <a:defRPr sz="2400" kern="1200" baseline="-25000">
        <a:solidFill>
          <a:schemeClr val="tx1"/>
        </a:solidFill>
        <a:latin typeface="Arial" pitchFamily="34" charset="0"/>
        <a:ea typeface="宋体" pitchFamily="2" charset="-122"/>
        <a:cs typeface="+mn-cs"/>
      </a:defRPr>
    </a:lvl9pPr>
  </p:defaultTextStyle>
  <p:extLst>
    <p:ext uri="{521415D9-36F7-43E2-AB2F-B90AF26B5E84}">
      <p14:sectionLst xmlns:p14="http://schemas.microsoft.com/office/powerpoint/2010/main">
        <p14:section name="基本情况" id="{71643578-24BF-4CD0-A9B2-ADA83BB239CF}">
          <p14:sldIdLst>
            <p14:sldId id="336"/>
            <p14:sldId id="773"/>
            <p14:sldId id="669"/>
            <p14:sldId id="676"/>
            <p14:sldId id="772"/>
            <p14:sldId id="760"/>
            <p14:sldId id="721"/>
            <p14:sldId id="724"/>
            <p14:sldId id="723"/>
            <p14:sldId id="775"/>
            <p14:sldId id="761"/>
            <p14:sldId id="709"/>
            <p14:sldId id="710"/>
            <p14:sldId id="711"/>
            <p14:sldId id="728"/>
            <p14:sldId id="729"/>
            <p14:sldId id="726"/>
            <p14:sldId id="712"/>
            <p14:sldId id="713"/>
            <p14:sldId id="730"/>
            <p14:sldId id="718"/>
            <p14:sldId id="732"/>
            <p14:sldId id="733"/>
            <p14:sldId id="734"/>
            <p14:sldId id="736"/>
            <p14:sldId id="735"/>
            <p14:sldId id="737"/>
            <p14:sldId id="738"/>
            <p14:sldId id="739"/>
            <p14:sldId id="740"/>
            <p14:sldId id="742"/>
            <p14:sldId id="743"/>
            <p14:sldId id="744"/>
            <p14:sldId id="745"/>
            <p14:sldId id="746"/>
            <p14:sldId id="774"/>
            <p14:sldId id="762"/>
            <p14:sldId id="763"/>
            <p14:sldId id="764"/>
            <p14:sldId id="765"/>
            <p14:sldId id="766"/>
            <p14:sldId id="767"/>
            <p14:sldId id="768"/>
            <p14:sldId id="770"/>
            <p14:sldId id="771"/>
            <p14:sldId id="42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33"/>
    <a:srgbClr val="111F65"/>
    <a:srgbClr val="0033CC"/>
    <a:srgbClr val="E9EDF4"/>
    <a:srgbClr val="5F5F5F"/>
    <a:srgbClr val="808080"/>
    <a:srgbClr val="FF3300"/>
    <a:srgbClr val="FF6600"/>
    <a:srgbClr val="EBE2D2"/>
    <a:srgbClr val="6A96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1551" autoAdjust="0"/>
  </p:normalViewPr>
  <p:slideViewPr>
    <p:cSldViewPr snapToGrid="0">
      <p:cViewPr varScale="1">
        <p:scale>
          <a:sx n="115" d="100"/>
          <a:sy n="115" d="100"/>
        </p:scale>
        <p:origin x="134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382" y="-22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75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57753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endParaRPr lang="en-US" altLang="zh-CN"/>
          </a:p>
        </p:txBody>
      </p:sp>
      <p:sp>
        <p:nvSpPr>
          <p:cNvPr id="57754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57754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fld id="{B6987093-2FA2-4B3E-A303-E109B2C659C7}" type="slidenum">
              <a:rPr lang="zh-CN" altLang="en-US"/>
              <a:pPr>
                <a:defRPr/>
              </a:pPr>
              <a:t>‹#›</a:t>
            </a:fld>
            <a:endParaRPr lang="en-US" altLang="zh-CN"/>
          </a:p>
        </p:txBody>
      </p:sp>
    </p:spTree>
    <p:extLst>
      <p:ext uri="{BB962C8B-B14F-4D97-AF65-F5344CB8AC3E}">
        <p14:creationId xmlns:p14="http://schemas.microsoft.com/office/powerpoint/2010/main" val="590766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686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endParaRPr lang="en-US" altLang="zh-CN"/>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86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686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fld id="{C163974F-E2FC-4919-A1F7-1DAB2B1EEBC0}" type="slidenum">
              <a:rPr lang="zh-CN" altLang="en-US"/>
              <a:pPr>
                <a:defRPr/>
              </a:pPr>
              <a:t>‹#›</a:t>
            </a:fld>
            <a:endParaRPr lang="en-US" altLang="zh-CN"/>
          </a:p>
        </p:txBody>
      </p:sp>
    </p:spTree>
    <p:extLst>
      <p:ext uri="{BB962C8B-B14F-4D97-AF65-F5344CB8AC3E}">
        <p14:creationId xmlns:p14="http://schemas.microsoft.com/office/powerpoint/2010/main" val="923308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extLst/>
        </p:spPr>
        <p:txBody>
          <a:bodyPr/>
          <a:lstStyle>
            <a:lvl1pPr algn="ctr" eaLnBrk="0" hangingPunct="0">
              <a:spcBef>
                <a:spcPct val="50000"/>
              </a:spcBef>
              <a:buClr>
                <a:schemeClr val="bg1"/>
              </a:buClr>
              <a:buSzPct val="100000"/>
              <a:defRPr sz="2400" baseline="-25000">
                <a:solidFill>
                  <a:schemeClr val="tx1"/>
                </a:solidFill>
                <a:latin typeface="Arial" charset="0"/>
              </a:defRPr>
            </a:lvl1pPr>
            <a:lvl2pPr marL="742950" indent="-285750" algn="ctr" eaLnBrk="0" hangingPunct="0">
              <a:spcBef>
                <a:spcPct val="50000"/>
              </a:spcBef>
              <a:buClr>
                <a:schemeClr val="bg1"/>
              </a:buClr>
              <a:buSzPct val="100000"/>
              <a:defRPr sz="2400" baseline="-25000">
                <a:solidFill>
                  <a:schemeClr val="tx1"/>
                </a:solidFill>
                <a:latin typeface="Arial" charset="0"/>
              </a:defRPr>
            </a:lvl2pPr>
            <a:lvl3pPr marL="1143000" indent="-228600" algn="ctr" eaLnBrk="0" hangingPunct="0">
              <a:spcBef>
                <a:spcPct val="50000"/>
              </a:spcBef>
              <a:buClr>
                <a:schemeClr val="bg1"/>
              </a:buClr>
              <a:buSzPct val="100000"/>
              <a:defRPr sz="2400" baseline="-25000">
                <a:solidFill>
                  <a:schemeClr val="tx1"/>
                </a:solidFill>
                <a:latin typeface="Arial" charset="0"/>
              </a:defRPr>
            </a:lvl3pPr>
            <a:lvl4pPr marL="1600200" indent="-228600" algn="ctr" eaLnBrk="0" hangingPunct="0">
              <a:spcBef>
                <a:spcPct val="50000"/>
              </a:spcBef>
              <a:buClr>
                <a:schemeClr val="bg1"/>
              </a:buClr>
              <a:buSzPct val="100000"/>
              <a:defRPr sz="2400" baseline="-25000">
                <a:solidFill>
                  <a:schemeClr val="tx1"/>
                </a:solidFill>
                <a:latin typeface="Arial" charset="0"/>
              </a:defRPr>
            </a:lvl4pPr>
            <a:lvl5pPr marL="2057400" indent="-228600" algn="ctr" eaLnBrk="0" hangingPunct="0">
              <a:spcBef>
                <a:spcPct val="50000"/>
              </a:spcBef>
              <a:buClr>
                <a:schemeClr val="bg1"/>
              </a:buClr>
              <a:buSzPct val="100000"/>
              <a:defRPr sz="2400" baseline="-25000">
                <a:solidFill>
                  <a:schemeClr val="tx1"/>
                </a:solidFill>
                <a:latin typeface="Arial"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9pPr>
          </a:lstStyle>
          <a:p>
            <a:pPr algn="r" eaLnBrk="1" hangingPunct="1">
              <a:spcBef>
                <a:spcPct val="0"/>
              </a:spcBef>
              <a:buClrTx/>
              <a:buSzTx/>
              <a:defRPr/>
            </a:pPr>
            <a:fld id="{7ED47AB2-00CE-41E6-9820-72042BB36AE6}" type="slidenum">
              <a:rPr lang="zh-CN" altLang="en-US" sz="1200" baseline="0" smtClean="0">
                <a:latin typeface="Times New Roman" pitchFamily="18" charset="0"/>
              </a:rPr>
              <a:pPr algn="r" eaLnBrk="1" hangingPunct="1">
                <a:spcBef>
                  <a:spcPct val="0"/>
                </a:spcBef>
                <a:buClrTx/>
                <a:buSzTx/>
                <a:defRPr/>
              </a:pPr>
              <a:t>1</a:t>
            </a:fld>
            <a:endParaRPr lang="en-US" altLang="zh-CN" sz="1200" baseline="0" dirty="0">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1639048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3</a:t>
            </a:fld>
            <a:endParaRPr lang="en-US" altLang="zh-CN"/>
          </a:p>
        </p:txBody>
      </p:sp>
    </p:spTree>
    <p:extLst>
      <p:ext uri="{BB962C8B-B14F-4D97-AF65-F5344CB8AC3E}">
        <p14:creationId xmlns:p14="http://schemas.microsoft.com/office/powerpoint/2010/main" val="3652650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6</a:t>
            </a:fld>
            <a:endParaRPr lang="en-US" altLang="zh-CN"/>
          </a:p>
        </p:txBody>
      </p:sp>
    </p:spTree>
    <p:extLst>
      <p:ext uri="{BB962C8B-B14F-4D97-AF65-F5344CB8AC3E}">
        <p14:creationId xmlns:p14="http://schemas.microsoft.com/office/powerpoint/2010/main" val="3658370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11</a:t>
            </a:fld>
            <a:endParaRPr lang="en-US" altLang="zh-CN"/>
          </a:p>
        </p:txBody>
      </p:sp>
    </p:spTree>
    <p:extLst>
      <p:ext uri="{BB962C8B-B14F-4D97-AF65-F5344CB8AC3E}">
        <p14:creationId xmlns:p14="http://schemas.microsoft.com/office/powerpoint/2010/main" val="2910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12</a:t>
            </a:fld>
            <a:endParaRPr lang="en-US" altLang="zh-CN"/>
          </a:p>
        </p:txBody>
      </p:sp>
    </p:spTree>
    <p:extLst>
      <p:ext uri="{BB962C8B-B14F-4D97-AF65-F5344CB8AC3E}">
        <p14:creationId xmlns:p14="http://schemas.microsoft.com/office/powerpoint/2010/main" val="3402682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25</a:t>
            </a:fld>
            <a:endParaRPr lang="en-US" altLang="zh-CN"/>
          </a:p>
        </p:txBody>
      </p:sp>
    </p:spTree>
    <p:extLst>
      <p:ext uri="{BB962C8B-B14F-4D97-AF65-F5344CB8AC3E}">
        <p14:creationId xmlns:p14="http://schemas.microsoft.com/office/powerpoint/2010/main" val="3488626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37</a:t>
            </a:fld>
            <a:endParaRPr lang="en-US" altLang="zh-CN"/>
          </a:p>
        </p:txBody>
      </p:sp>
    </p:spTree>
    <p:extLst>
      <p:ext uri="{BB962C8B-B14F-4D97-AF65-F5344CB8AC3E}">
        <p14:creationId xmlns:p14="http://schemas.microsoft.com/office/powerpoint/2010/main" val="3653789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extLst/>
        </p:spPr>
        <p:txBody>
          <a:bodyPr/>
          <a:lstStyle>
            <a:lvl1pPr algn="ctr" eaLnBrk="0" hangingPunct="0">
              <a:spcBef>
                <a:spcPct val="50000"/>
              </a:spcBef>
              <a:buClr>
                <a:schemeClr val="bg1"/>
              </a:buClr>
              <a:buSzPct val="100000"/>
              <a:defRPr sz="2400" baseline="-25000">
                <a:solidFill>
                  <a:schemeClr val="tx1"/>
                </a:solidFill>
                <a:latin typeface="Arial" charset="0"/>
              </a:defRPr>
            </a:lvl1pPr>
            <a:lvl2pPr marL="742950" indent="-285750" algn="ctr" eaLnBrk="0" hangingPunct="0">
              <a:spcBef>
                <a:spcPct val="50000"/>
              </a:spcBef>
              <a:buClr>
                <a:schemeClr val="bg1"/>
              </a:buClr>
              <a:buSzPct val="100000"/>
              <a:defRPr sz="2400" baseline="-25000">
                <a:solidFill>
                  <a:schemeClr val="tx1"/>
                </a:solidFill>
                <a:latin typeface="Arial" charset="0"/>
              </a:defRPr>
            </a:lvl2pPr>
            <a:lvl3pPr marL="1143000" indent="-228600" algn="ctr" eaLnBrk="0" hangingPunct="0">
              <a:spcBef>
                <a:spcPct val="50000"/>
              </a:spcBef>
              <a:buClr>
                <a:schemeClr val="bg1"/>
              </a:buClr>
              <a:buSzPct val="100000"/>
              <a:defRPr sz="2400" baseline="-25000">
                <a:solidFill>
                  <a:schemeClr val="tx1"/>
                </a:solidFill>
                <a:latin typeface="Arial" charset="0"/>
              </a:defRPr>
            </a:lvl3pPr>
            <a:lvl4pPr marL="1600200" indent="-228600" algn="ctr" eaLnBrk="0" hangingPunct="0">
              <a:spcBef>
                <a:spcPct val="50000"/>
              </a:spcBef>
              <a:buClr>
                <a:schemeClr val="bg1"/>
              </a:buClr>
              <a:buSzPct val="100000"/>
              <a:defRPr sz="2400" baseline="-25000">
                <a:solidFill>
                  <a:schemeClr val="tx1"/>
                </a:solidFill>
                <a:latin typeface="Arial" charset="0"/>
              </a:defRPr>
            </a:lvl4pPr>
            <a:lvl5pPr marL="2057400" indent="-228600" algn="ctr" eaLnBrk="0" hangingPunct="0">
              <a:spcBef>
                <a:spcPct val="50000"/>
              </a:spcBef>
              <a:buClr>
                <a:schemeClr val="bg1"/>
              </a:buClr>
              <a:buSzPct val="100000"/>
              <a:defRPr sz="2400" baseline="-25000">
                <a:solidFill>
                  <a:schemeClr val="tx1"/>
                </a:solidFill>
                <a:latin typeface="Arial"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9pPr>
          </a:lstStyle>
          <a:p>
            <a:pPr algn="r" eaLnBrk="1" hangingPunct="1">
              <a:spcBef>
                <a:spcPct val="0"/>
              </a:spcBef>
              <a:buClrTx/>
              <a:buSzTx/>
              <a:defRPr/>
            </a:pPr>
            <a:fld id="{76F23777-CEBB-41C8-8BE8-AF66406041A7}" type="slidenum">
              <a:rPr lang="zh-CN" altLang="en-US" sz="1200" baseline="0" smtClean="0">
                <a:latin typeface="Times New Roman" pitchFamily="18" charset="0"/>
              </a:rPr>
              <a:pPr algn="r" eaLnBrk="1" hangingPunct="1">
                <a:spcBef>
                  <a:spcPct val="0"/>
                </a:spcBef>
                <a:buClrTx/>
                <a:buSzTx/>
                <a:defRPr/>
              </a:pPr>
              <a:t>46</a:t>
            </a:fld>
            <a:endParaRPr lang="en-US" altLang="zh-CN" sz="1200" baseline="0">
              <a:latin typeface="Times New Roman"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itchFamily="34" charset="0"/>
            </a:endParaRPr>
          </a:p>
        </p:txBody>
      </p:sp>
    </p:spTree>
    <p:extLst>
      <p:ext uri="{BB962C8B-B14F-4D97-AF65-F5344CB8AC3E}">
        <p14:creationId xmlns:p14="http://schemas.microsoft.com/office/powerpoint/2010/main" val="476642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Line 40"/>
          <p:cNvSpPr>
            <a:spLocks noChangeShapeType="1"/>
          </p:cNvSpPr>
          <p:nvPr userDrawn="1"/>
        </p:nvSpPr>
        <p:spPr bwMode="auto">
          <a:xfrm>
            <a:off x="0" y="1708558"/>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5" name="Line 41"/>
          <p:cNvSpPr>
            <a:spLocks noChangeShapeType="1"/>
          </p:cNvSpPr>
          <p:nvPr userDrawn="1"/>
        </p:nvSpPr>
        <p:spPr bwMode="auto">
          <a:xfrm>
            <a:off x="0" y="4349692"/>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3106" name="Rectangle 34"/>
          <p:cNvSpPr>
            <a:spLocks noGrp="1" noChangeArrowheads="1"/>
          </p:cNvSpPr>
          <p:nvPr>
            <p:ph type="ctrTitle" sz="quarter"/>
          </p:nvPr>
        </p:nvSpPr>
        <p:spPr>
          <a:xfrm>
            <a:off x="0" y="2420471"/>
            <a:ext cx="9144000" cy="1143000"/>
          </a:xfrm>
        </p:spPr>
        <p:txBody>
          <a:bodyPr/>
          <a:lstStyle>
            <a:lvl1pPr algn="ctr">
              <a:defRPr sz="4000" i="0">
                <a:solidFill>
                  <a:schemeClr val="tx1"/>
                </a:solidFill>
              </a:defRPr>
            </a:lvl1pPr>
          </a:lstStyle>
          <a:p>
            <a:r>
              <a:rPr lang="en-US" altLang="zh-CN" dirty="0"/>
              <a:t>Click to edit Master title style</a:t>
            </a:r>
          </a:p>
        </p:txBody>
      </p:sp>
      <p:sp>
        <p:nvSpPr>
          <p:cNvPr id="3107" name="Rectangle 35"/>
          <p:cNvSpPr>
            <a:spLocks noGrp="1" noChangeArrowheads="1"/>
          </p:cNvSpPr>
          <p:nvPr>
            <p:ph type="subTitle" sz="quarter" idx="1"/>
          </p:nvPr>
        </p:nvSpPr>
        <p:spPr>
          <a:xfrm>
            <a:off x="1638300" y="4648200"/>
            <a:ext cx="5867400" cy="1447800"/>
          </a:xfrm>
        </p:spPr>
        <p:txBody>
          <a:bodyPr lIns="92075" tIns="46038" rIns="92075" bIns="46038"/>
          <a:lstStyle>
            <a:lvl1pPr marL="0" indent="0" algn="ctr">
              <a:buFont typeface="Wingdings" pitchFamily="2" charset="2"/>
              <a:buNone/>
              <a:defRPr sz="2400"/>
            </a:lvl1pPr>
          </a:lstStyle>
          <a:p>
            <a:r>
              <a:rPr lang="en-US" altLang="zh-CN" dirty="0"/>
              <a:t>Click to edit Master subtitle style</a:t>
            </a:r>
          </a:p>
        </p:txBody>
      </p:sp>
      <p:sp>
        <p:nvSpPr>
          <p:cNvPr id="2" name="AutoShape 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6"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AutoShape 8"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AutoShape 10"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1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23499484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rtl="0" eaLnBrk="0" fontAlgn="base" hangingPunct="0">
              <a:spcBef>
                <a:spcPct val="0"/>
              </a:spcBef>
              <a:spcAft>
                <a:spcPct val="0"/>
              </a:spcAft>
              <a:defRPr lang="zh-CN" altLang="en-US" sz="3600" b="1" i="0" dirty="0">
                <a:solidFill>
                  <a:srgbClr val="C00000"/>
                </a:solidFill>
                <a:effectLst/>
                <a:latin typeface="微软雅黑" pitchFamily="34" charset="-122"/>
                <a:ea typeface="微软雅黑" pitchFamily="34" charset="-122"/>
                <a:cs typeface="+mj-cs"/>
              </a:defRPr>
            </a:lvl1pPr>
          </a:lstStyle>
          <a:p>
            <a:r>
              <a:rPr lang="zh-CN" altLang="en-US" dirty="0"/>
              <a:t>单击此处编辑母版标题样式</a:t>
            </a:r>
          </a:p>
        </p:txBody>
      </p:sp>
      <p:sp>
        <p:nvSpPr>
          <p:cNvPr id="3" name="内容占位符 2"/>
          <p:cNvSpPr>
            <a:spLocks noGrp="1"/>
          </p:cNvSpPr>
          <p:nvPr>
            <p:ph idx="1" hasCustomPrompt="1"/>
          </p:nvPr>
        </p:nvSpPr>
        <p:spPr/>
        <p:txBody>
          <a:bodyPr/>
          <a:lstStyle>
            <a:lvl1pPr marL="342900" indent="-342900">
              <a:lnSpc>
                <a:spcPct val="120000"/>
              </a:lnSpc>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nSpc>
                <a:spcPct val="120000"/>
              </a:lnSpc>
              <a:buClr>
                <a:srgbClr val="C00000"/>
              </a:buClr>
              <a:buFont typeface="Wingdings" panose="05000000000000000000" pitchFamily="2" charset="2"/>
              <a:buChar char="Ø"/>
              <a:defRPr sz="2000" b="0" i="0" strike="noStrike" baseline="0">
                <a:solidFill>
                  <a:schemeClr val="tx1"/>
                </a:solidFill>
                <a:effectLst/>
                <a:latin typeface="+mj-ea"/>
                <a:ea typeface="+mj-ea"/>
              </a:defRPr>
            </a:lvl2pPr>
            <a:lvl3pPr marL="1143000" indent="-228600">
              <a:lnSpc>
                <a:spcPct val="120000"/>
              </a:lnSpc>
              <a:buClr>
                <a:srgbClr val="C00000"/>
              </a:buClr>
              <a:buFont typeface="Wingdings" panose="05000000000000000000" pitchFamily="2" charset="2"/>
              <a:buChar char="l"/>
              <a:defRPr sz="1800" b="0" i="0" baseline="0">
                <a:solidFill>
                  <a:schemeClr val="tx1"/>
                </a:solidFill>
                <a:latin typeface="+mj-ea"/>
                <a:ea typeface="+mj-ea"/>
              </a:defRPr>
            </a:lvl3pPr>
            <a:lvl4pPr marL="1600200" indent="-228600">
              <a:lnSpc>
                <a:spcPct val="120000"/>
              </a:lnSpc>
              <a:buClr>
                <a:srgbClr val="C00000"/>
              </a:buClr>
              <a:buFont typeface="Wingdings" panose="05000000000000000000" pitchFamily="2" charset="2"/>
              <a:buChar char="ü"/>
              <a:defRPr sz="1600" baseline="0">
                <a:solidFill>
                  <a:schemeClr val="tx1"/>
                </a:solidFill>
                <a:latin typeface="+mj-ea"/>
                <a:ea typeface="+mj-ea"/>
              </a:defRPr>
            </a:lvl4pPr>
            <a:lvl5pPr marL="2057400" indent="-228600">
              <a:buClr>
                <a:srgbClr val="111F65"/>
              </a:buClr>
              <a:buFont typeface="Wingdings" panose="05000000000000000000" pitchFamily="2" charset="2"/>
              <a:buChar char="l"/>
              <a:defRPr baseline="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4" name="Line 40"/>
          <p:cNvSpPr>
            <a:spLocks noChangeShapeType="1"/>
          </p:cNvSpPr>
          <p:nvPr userDrawn="1"/>
        </p:nvSpPr>
        <p:spPr bwMode="auto">
          <a:xfrm>
            <a:off x="0" y="85344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Tree>
    <p:extLst>
      <p:ext uri="{BB962C8B-B14F-4D97-AF65-F5344CB8AC3E}">
        <p14:creationId xmlns:p14="http://schemas.microsoft.com/office/powerpoint/2010/main" val="284620849"/>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2" name="Rectangle 34"/>
          <p:cNvSpPr>
            <a:spLocks noGrp="1" noChangeArrowheads="1"/>
          </p:cNvSpPr>
          <p:nvPr>
            <p:ph type="title"/>
          </p:nvPr>
        </p:nvSpPr>
        <p:spPr bwMode="auto">
          <a:xfrm>
            <a:off x="393700" y="38100"/>
            <a:ext cx="8242300" cy="9144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ltLang="zh-CN" dirty="0"/>
              <a:t>Click to edit Master title style</a:t>
            </a:r>
          </a:p>
        </p:txBody>
      </p:sp>
      <p:sp>
        <p:nvSpPr>
          <p:cNvPr id="2087" name="Rectangle 39"/>
          <p:cNvSpPr>
            <a:spLocks noGrp="1" noChangeArrowheads="1"/>
          </p:cNvSpPr>
          <p:nvPr>
            <p:ph type="body" idx="1"/>
          </p:nvPr>
        </p:nvSpPr>
        <p:spPr bwMode="auto">
          <a:xfrm>
            <a:off x="457200" y="990600"/>
            <a:ext cx="8305800" cy="541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Tree>
  </p:cSld>
  <p:clrMap bg1="lt1" tx1="dk1" bg2="lt2" tx2="dk2" accent1="accent1" accent2="accent2" accent3="accent3" accent4="accent4" accent5="accent5" accent6="accent6" hlink="hlink" folHlink="folHlink"/>
  <p:sldLayoutIdLst>
    <p:sldLayoutId id="2147484514" r:id="rId1"/>
    <p:sldLayoutId id="2147484502" r:id="rId2"/>
  </p:sldLayoutIdLst>
  <p:transition/>
  <p:hf hdr="0" dt="0"/>
  <p:txStyles>
    <p:titleStyle>
      <a:lvl1pPr algn="l" rtl="0" eaLnBrk="0" fontAlgn="base" hangingPunct="0">
        <a:spcBef>
          <a:spcPct val="0"/>
        </a:spcBef>
        <a:spcAft>
          <a:spcPct val="0"/>
        </a:spcAft>
        <a:defRPr lang="en-US" altLang="zh-CN" sz="3600" b="1" i="0" dirty="0" smtClean="0">
          <a:solidFill>
            <a:srgbClr val="C00000"/>
          </a:solidFill>
          <a:effectLst/>
          <a:latin typeface="微软雅黑" pitchFamily="34" charset="-122"/>
          <a:ea typeface="微软雅黑" pitchFamily="34" charset="-122"/>
          <a:cs typeface="+mj-cs"/>
        </a:defRPr>
      </a:lvl1pPr>
      <a:lvl2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charset="0"/>
        </a:defRPr>
      </a:lvl5pPr>
      <a:lvl6pPr marL="4572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6pPr>
      <a:lvl7pPr marL="9144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7pPr>
      <a:lvl8pPr marL="13716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8pPr>
      <a:lvl9pPr marL="1828800" algn="l" rtl="0" fontAlgn="base">
        <a:spcBef>
          <a:spcPct val="0"/>
        </a:spcBef>
        <a:spcAft>
          <a:spcPct val="0"/>
        </a:spcAft>
        <a:defRPr sz="3600" i="1">
          <a:solidFill>
            <a:schemeClr val="folHlink"/>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q"/>
        <a:defRPr lang="en-US" altLang="zh-CN" sz="2400" b="1" baseline="0" dirty="0" smtClean="0">
          <a:solidFill>
            <a:schemeClr val="tx1"/>
          </a:solidFill>
          <a:latin typeface="微软雅黑" pitchFamily="34" charset="-122"/>
          <a:ea typeface="微软雅黑" pitchFamily="34" charset="-122"/>
          <a:cs typeface="+mn-cs"/>
        </a:defRPr>
      </a:lvl1pPr>
      <a:lvl2pPr marL="742950" indent="-285750" algn="l" rtl="0" eaLnBrk="0" fontAlgn="base" hangingPunct="0">
        <a:spcBef>
          <a:spcPct val="20000"/>
        </a:spcBef>
        <a:spcAft>
          <a:spcPct val="0"/>
        </a:spcAft>
        <a:buClr>
          <a:schemeClr val="folHlink"/>
        </a:buClr>
        <a:buFont typeface="Wingdings" pitchFamily="2" charset="2"/>
        <a:buChar char="Ø"/>
        <a:defRPr sz="2400" b="1">
          <a:solidFill>
            <a:srgbClr val="000066"/>
          </a:solidFill>
          <a:effectLst>
            <a:outerShdw blurRad="38100" dist="38100" dir="2700000" algn="tl">
              <a:srgbClr val="C0C0C0"/>
            </a:outerShdw>
          </a:effectLst>
          <a:latin typeface="Garamond" pitchFamily="18" charset="0"/>
        </a:defRPr>
      </a:lvl2pPr>
      <a:lvl3pPr marL="1143000" indent="-228600" algn="l" rtl="0" eaLnBrk="0" fontAlgn="base" hangingPunct="0">
        <a:spcBef>
          <a:spcPct val="20000"/>
        </a:spcBef>
        <a:spcAft>
          <a:spcPct val="0"/>
        </a:spcAft>
        <a:buClr>
          <a:schemeClr val="folHlink"/>
        </a:buClr>
        <a:buFont typeface="Times New Roman" pitchFamily="18" charset="0"/>
        <a:buChar char="–"/>
        <a:defRPr sz="2000" b="1" i="1">
          <a:solidFill>
            <a:srgbClr val="5F5F5F"/>
          </a:solidFill>
          <a:latin typeface="Times New Roman" pitchFamily="18" charset="0"/>
        </a:defRPr>
      </a:lvl3pPr>
      <a:lvl4pPr marL="1600200" indent="-228600" algn="l" rtl="0" eaLnBrk="0" fontAlgn="base" hangingPunct="0">
        <a:spcBef>
          <a:spcPct val="20000"/>
        </a:spcBef>
        <a:spcAft>
          <a:spcPct val="0"/>
        </a:spcAft>
        <a:buClr>
          <a:schemeClr val="folHlink"/>
        </a:buClr>
        <a:buSzPct val="100000"/>
        <a:buChar char="o"/>
        <a:defRPr sz="2000">
          <a:solidFill>
            <a:srgbClr val="FF0000"/>
          </a:solidFill>
          <a:latin typeface="+mn-lt"/>
        </a:defRPr>
      </a:lvl4pPr>
      <a:lvl5pPr marL="2057400" indent="-228600" algn="l" rtl="0" eaLnBrk="0" fontAlgn="base" hangingPunct="0">
        <a:spcBef>
          <a:spcPct val="20000"/>
        </a:spcBef>
        <a:spcAft>
          <a:spcPct val="0"/>
        </a:spcAft>
        <a:buClr>
          <a:schemeClr val="folHlink"/>
        </a:buClr>
        <a:buSzPct val="100000"/>
        <a:buFont typeface="Wingdings" pitchFamily="2" charset="2"/>
        <a:buChar char="ü"/>
        <a:defRPr sz="1600" b="1" i="1">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itchFamily="2" charset="2"/>
        <a:buChar char="ü"/>
        <a:defRPr sz="1600" b="1" i="1">
          <a:solidFill>
            <a:srgbClr val="660066"/>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3.bin"/><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611823" y="2164080"/>
            <a:ext cx="7900987" cy="1524000"/>
          </a:xfrm>
        </p:spPr>
        <p:txBody>
          <a:bodyPr/>
          <a:lstStyle/>
          <a:p>
            <a:pPr eaLnBrk="1" hangingPunct="1">
              <a:lnSpc>
                <a:spcPct val="120000"/>
              </a:lnSpc>
            </a:pPr>
            <a:r>
              <a:rPr lang="zh-CN" altLang="en-US" sz="4800">
                <a:solidFill>
                  <a:srgbClr val="800000"/>
                </a:solidFill>
              </a:rPr>
              <a:t>第一章：物联网概述</a:t>
            </a:r>
            <a:endParaRPr lang="en-US" altLang="zh-CN" sz="4800" b="1" dirty="0">
              <a:solidFill>
                <a:srgbClr val="800000"/>
              </a:solidFill>
              <a:effectLst/>
              <a:latin typeface="微软雅黑" pitchFamily="34" charset="-122"/>
              <a:ea typeface="微软雅黑"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47B961-FE50-45B0-A78A-B079036D1047}"/>
              </a:ext>
            </a:extLst>
          </p:cNvPr>
          <p:cNvSpPr>
            <a:spLocks noGrp="1"/>
          </p:cNvSpPr>
          <p:nvPr>
            <p:ph type="title"/>
          </p:nvPr>
        </p:nvSpPr>
        <p:spPr/>
        <p:txBody>
          <a:bodyPr/>
          <a:lstStyle/>
          <a:p>
            <a:r>
              <a:rPr lang="zh-CN" altLang="en-US" dirty="0"/>
              <a:t>学习目标</a:t>
            </a:r>
          </a:p>
        </p:txBody>
      </p:sp>
      <p:sp>
        <p:nvSpPr>
          <p:cNvPr id="3" name="内容占位符 2">
            <a:extLst>
              <a:ext uri="{FF2B5EF4-FFF2-40B4-BE49-F238E27FC236}">
                <a16:creationId xmlns:a16="http://schemas.microsoft.com/office/drawing/2014/main" id="{5AB7274E-2D52-40A0-B86D-55FD4459BBA0}"/>
              </a:ext>
            </a:extLst>
          </p:cNvPr>
          <p:cNvSpPr>
            <a:spLocks noGrp="1"/>
          </p:cNvSpPr>
          <p:nvPr>
            <p:ph idx="1"/>
          </p:nvPr>
        </p:nvSpPr>
        <p:spPr/>
        <p:txBody>
          <a:bodyPr/>
          <a:lstStyle/>
          <a:p>
            <a:endParaRPr lang="en-US" altLang="zh-CN" dirty="0"/>
          </a:p>
          <a:p>
            <a:r>
              <a:rPr lang="zh-CN" altLang="en-US" dirty="0"/>
              <a:t>理解物联网的定义，了解物联网的发展趋势</a:t>
            </a:r>
          </a:p>
          <a:p>
            <a:r>
              <a:rPr lang="zh-CN" altLang="en-US" dirty="0">
                <a:solidFill>
                  <a:srgbClr val="C00000"/>
                </a:solidFill>
              </a:rPr>
              <a:t>掌握</a:t>
            </a:r>
            <a:r>
              <a:rPr lang="zh-CN" altLang="en-US" dirty="0"/>
              <a:t>物联网的应用架构及挑战</a:t>
            </a:r>
          </a:p>
          <a:p>
            <a:r>
              <a:rPr lang="zh-CN" altLang="en-US" dirty="0"/>
              <a:t>了解物联网的典型应用</a:t>
            </a:r>
          </a:p>
          <a:p>
            <a:r>
              <a:rPr lang="zh-CN" altLang="en-US" dirty="0"/>
              <a:t>了解物联网相关的学术领域和学术关注点</a:t>
            </a:r>
          </a:p>
          <a:p>
            <a:r>
              <a:rPr lang="zh-CN" altLang="en-US" dirty="0">
                <a:solidFill>
                  <a:srgbClr val="C00000"/>
                </a:solidFill>
              </a:rPr>
              <a:t>掌握</a:t>
            </a:r>
            <a:r>
              <a:rPr lang="zh-CN" altLang="en-US" dirty="0"/>
              <a:t>物联网与传感网的不同点</a:t>
            </a:r>
          </a:p>
          <a:p>
            <a:endParaRPr lang="zh-CN" altLang="en-US" dirty="0"/>
          </a:p>
        </p:txBody>
      </p:sp>
      <p:sp>
        <p:nvSpPr>
          <p:cNvPr id="4" name="灯片编号占位符 4">
            <a:extLst>
              <a:ext uri="{FF2B5EF4-FFF2-40B4-BE49-F238E27FC236}">
                <a16:creationId xmlns:a16="http://schemas.microsoft.com/office/drawing/2014/main" id="{ADED19C9-18E1-4E97-AB9B-E687A015778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507530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5" name="内容占位符 2"/>
          <p:cNvSpPr>
            <a:spLocks noGrp="1"/>
          </p:cNvSpPr>
          <p:nvPr>
            <p:ph idx="1"/>
          </p:nvPr>
        </p:nvSpPr>
        <p:spPr/>
        <p:txBody>
          <a:bodyPr/>
          <a:lstStyle/>
          <a:p>
            <a:endParaRPr lang="en-US" altLang="zh-CN" sz="2800" dirty="0"/>
          </a:p>
          <a:p>
            <a:r>
              <a:rPr lang="zh-CN" altLang="en-US" sz="2800" dirty="0">
                <a:solidFill>
                  <a:srgbClr val="C00000"/>
                </a:solidFill>
              </a:rPr>
              <a:t>物联网的定义和发展趋势</a:t>
            </a:r>
            <a:endParaRPr lang="en-US" altLang="zh-CN" sz="2800" dirty="0">
              <a:solidFill>
                <a:srgbClr val="C00000"/>
              </a:solidFill>
            </a:endParaRPr>
          </a:p>
          <a:p>
            <a:r>
              <a:rPr lang="zh-CN" altLang="en-US" sz="2800" dirty="0"/>
              <a:t>物联网的应用架构及挑战</a:t>
            </a:r>
            <a:endParaRPr lang="en-US" altLang="zh-CN" sz="2800" dirty="0"/>
          </a:p>
          <a:p>
            <a:r>
              <a:rPr lang="zh-CN" altLang="en-US" sz="2800" dirty="0"/>
              <a:t>物联网典型应用</a:t>
            </a:r>
            <a:endParaRPr lang="en-US" altLang="zh-CN" sz="2800" dirty="0"/>
          </a:p>
          <a:p>
            <a:r>
              <a:rPr lang="zh-CN" altLang="en-US" sz="2800" dirty="0"/>
              <a:t>物联网相关学术研究及前沿问题 </a:t>
            </a:r>
            <a:br>
              <a:rPr lang="zh-CN" altLang="en-US" sz="2800" dirty="0"/>
            </a:br>
            <a:endParaRPr lang="en-US" altLang="zh-CN" sz="2800" dirty="0"/>
          </a:p>
        </p:txBody>
      </p:sp>
    </p:spTree>
    <p:extLst>
      <p:ext uri="{BB962C8B-B14F-4D97-AF65-F5344CB8AC3E}">
        <p14:creationId xmlns:p14="http://schemas.microsoft.com/office/powerpoint/2010/main" val="257109186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物联网的定义和发展趋势</a:t>
            </a:r>
          </a:p>
        </p:txBody>
      </p:sp>
      <p:sp>
        <p:nvSpPr>
          <p:cNvPr id="3" name="内容占位符 2"/>
          <p:cNvSpPr>
            <a:spLocks noGrp="1"/>
          </p:cNvSpPr>
          <p:nvPr>
            <p:ph idx="1"/>
          </p:nvPr>
        </p:nvSpPr>
        <p:spPr/>
        <p:txBody>
          <a:bodyPr/>
          <a:lstStyle/>
          <a:p>
            <a:pPr>
              <a:lnSpc>
                <a:spcPct val="150000"/>
              </a:lnSpc>
              <a:spcBef>
                <a:spcPts val="0"/>
              </a:spcBef>
            </a:pPr>
            <a:r>
              <a:rPr lang="zh-CN" altLang="en-US" dirty="0"/>
              <a:t>定义</a:t>
            </a:r>
            <a:endParaRPr lang="en-US" altLang="zh-CN" dirty="0"/>
          </a:p>
          <a:p>
            <a:pPr lvl="1">
              <a:lnSpc>
                <a:spcPct val="150000"/>
              </a:lnSpc>
              <a:spcBef>
                <a:spcPts val="0"/>
              </a:spcBef>
            </a:pPr>
            <a:r>
              <a:rPr lang="zh-CN" altLang="en-US" b="1" dirty="0"/>
              <a:t>物联网</a:t>
            </a:r>
            <a:r>
              <a:rPr lang="zh-CN" altLang="en-US" dirty="0"/>
              <a:t>就是</a:t>
            </a:r>
            <a:r>
              <a:rPr lang="zh-CN" altLang="en-US" dirty="0">
                <a:solidFill>
                  <a:srgbClr val="C00000"/>
                </a:solidFill>
              </a:rPr>
              <a:t>物理设备</a:t>
            </a:r>
            <a:r>
              <a:rPr lang="zh-CN" altLang="en-US" dirty="0"/>
              <a:t>以及其他</a:t>
            </a:r>
            <a:r>
              <a:rPr lang="zh-CN" altLang="en-US" dirty="0">
                <a:solidFill>
                  <a:srgbClr val="C00000"/>
                </a:solidFill>
              </a:rPr>
              <a:t>嵌入了电子器件、软件、传感器的物件</a:t>
            </a:r>
            <a:r>
              <a:rPr lang="zh-CN" altLang="en-US" dirty="0"/>
              <a:t>组成的网络。</a:t>
            </a:r>
            <a:endParaRPr lang="en-US" altLang="zh-CN" dirty="0"/>
          </a:p>
          <a:p>
            <a:pPr lvl="1">
              <a:lnSpc>
                <a:spcPct val="150000"/>
              </a:lnSpc>
              <a:spcBef>
                <a:spcPts val="0"/>
              </a:spcBef>
            </a:pPr>
            <a:r>
              <a:rPr lang="zh-CN" altLang="en-US" dirty="0">
                <a:effectLst/>
              </a:rPr>
              <a:t>这些物件具有感知能力、计算能力以及连接能力，从而能更直接地将物理世界集成到数字世界中。</a:t>
            </a:r>
            <a:endParaRPr lang="en-US" altLang="zh-CN" dirty="0">
              <a:effectLst/>
            </a:endParaRPr>
          </a:p>
        </p:txBody>
      </p:sp>
      <p:sp>
        <p:nvSpPr>
          <p:cNvPr id="6" name="灯片编号占位符 4">
            <a:extLst>
              <a:ext uri="{FF2B5EF4-FFF2-40B4-BE49-F238E27FC236}">
                <a16:creationId xmlns:a16="http://schemas.microsoft.com/office/drawing/2014/main" id="{142435C6-E38C-4300-8EEA-38AB864894AF}"/>
              </a:ext>
            </a:extLst>
          </p:cNvPr>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chemeClr val="folHlink"/>
                </a:solidFill>
                <a:latin typeface="Monotype Corsiva" pitchFamily="66" charset="0"/>
              </a:rPr>
              <a:pPr algn="r"/>
              <a:t>4</a:t>
            </a:fld>
            <a:endParaRPr lang="zh-CN" altLang="zh-CN" sz="1800" baseline="0" dirty="0">
              <a:solidFill>
                <a:schemeClr val="folHlink"/>
              </a:solidFill>
              <a:latin typeface="Monotype Corsiva" pitchFamily="66" charset="0"/>
            </a:endParaRPr>
          </a:p>
        </p:txBody>
      </p:sp>
      <p:graphicFrame>
        <p:nvGraphicFramePr>
          <p:cNvPr id="4" name="对象 3">
            <a:extLst>
              <a:ext uri="{FF2B5EF4-FFF2-40B4-BE49-F238E27FC236}">
                <a16:creationId xmlns:a16="http://schemas.microsoft.com/office/drawing/2014/main" id="{F667D821-1980-4823-B3F2-A19869786E7A}"/>
              </a:ext>
            </a:extLst>
          </p:cNvPr>
          <p:cNvGraphicFramePr>
            <a:graphicFrameLocks noChangeAspect="1"/>
          </p:cNvGraphicFramePr>
          <p:nvPr>
            <p:extLst>
              <p:ext uri="{D42A27DB-BD31-4B8C-83A1-F6EECF244321}">
                <p14:modId xmlns:p14="http://schemas.microsoft.com/office/powerpoint/2010/main" val="3972728746"/>
              </p:ext>
            </p:extLst>
          </p:nvPr>
        </p:nvGraphicFramePr>
        <p:xfrm>
          <a:off x="2567802" y="3337689"/>
          <a:ext cx="4008395" cy="3311455"/>
        </p:xfrm>
        <a:graphic>
          <a:graphicData uri="http://schemas.openxmlformats.org/presentationml/2006/ole">
            <mc:AlternateContent xmlns:mc="http://schemas.openxmlformats.org/markup-compatibility/2006">
              <mc:Choice xmlns:v="urn:schemas-microsoft-com:vml" Requires="v">
                <p:oleObj spid="_x0000_s3079" name="Image" r:id="rId3" imgW="4812480" imgH="3974400" progId="Photoshop.Image.19">
                  <p:embed/>
                </p:oleObj>
              </mc:Choice>
              <mc:Fallback>
                <p:oleObj name="Image" r:id="rId3" imgW="4812480" imgH="3974400" progId="Photoshop.Image.19">
                  <p:embed/>
                  <p:pic>
                    <p:nvPicPr>
                      <p:cNvPr id="0" name=""/>
                      <p:cNvPicPr/>
                      <p:nvPr/>
                    </p:nvPicPr>
                    <p:blipFill>
                      <a:blip r:embed="rId4"/>
                      <a:stretch>
                        <a:fillRect/>
                      </a:stretch>
                    </p:blipFill>
                    <p:spPr>
                      <a:xfrm>
                        <a:off x="2567802" y="3337689"/>
                        <a:ext cx="4008395" cy="3311455"/>
                      </a:xfrm>
                      <a:prstGeom prst="rect">
                        <a:avLst/>
                      </a:prstGeom>
                    </p:spPr>
                  </p:pic>
                </p:oleObj>
              </mc:Fallback>
            </mc:AlternateContent>
          </a:graphicData>
        </a:graphic>
      </p:graphicFrame>
    </p:spTree>
    <p:extLst>
      <p:ext uri="{BB962C8B-B14F-4D97-AF65-F5344CB8AC3E}">
        <p14:creationId xmlns:p14="http://schemas.microsoft.com/office/powerpoint/2010/main" val="119447636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717AF7-F12A-41BB-B560-185A3C866D2D}"/>
              </a:ext>
            </a:extLst>
          </p:cNvPr>
          <p:cNvSpPr>
            <a:spLocks noGrp="1"/>
          </p:cNvSpPr>
          <p:nvPr>
            <p:ph type="title"/>
          </p:nvPr>
        </p:nvSpPr>
        <p:spPr/>
        <p:txBody>
          <a:bodyPr/>
          <a:lstStyle/>
          <a:p>
            <a:r>
              <a:rPr lang="zh-CN" altLang="en-US"/>
              <a:t>物联网的定义和发展趋势</a:t>
            </a:r>
            <a:endParaRPr lang="zh-CN" altLang="en-US" dirty="0"/>
          </a:p>
        </p:txBody>
      </p:sp>
      <p:sp>
        <p:nvSpPr>
          <p:cNvPr id="3" name="内容占位符 2">
            <a:extLst>
              <a:ext uri="{FF2B5EF4-FFF2-40B4-BE49-F238E27FC236}">
                <a16:creationId xmlns:a16="http://schemas.microsoft.com/office/drawing/2014/main" id="{67C49E83-A47C-41FC-B550-E7FD0402DFB8}"/>
              </a:ext>
            </a:extLst>
          </p:cNvPr>
          <p:cNvSpPr>
            <a:spLocks noGrp="1"/>
          </p:cNvSpPr>
          <p:nvPr>
            <p:ph idx="1"/>
          </p:nvPr>
        </p:nvSpPr>
        <p:spPr/>
        <p:txBody>
          <a:bodyPr/>
          <a:lstStyle/>
          <a:p>
            <a:r>
              <a:rPr lang="zh-CN" altLang="en-US"/>
              <a:t>物联网技术的发展</a:t>
            </a:r>
            <a:endParaRPr lang="en-US" altLang="zh-CN"/>
          </a:p>
          <a:p>
            <a:pPr lvl="1"/>
            <a:r>
              <a:rPr lang="zh-CN" altLang="en-US"/>
              <a:t>学术界：</a:t>
            </a:r>
            <a:endParaRPr lang="en-US" altLang="zh-CN"/>
          </a:p>
          <a:p>
            <a:pPr lvl="2"/>
            <a:r>
              <a:rPr lang="zh-CN" altLang="en-US"/>
              <a:t>会议 </a:t>
            </a:r>
            <a:r>
              <a:rPr lang="en-US" altLang="zh-CN"/>
              <a:t>SenSys, IPSN, IoTDI</a:t>
            </a:r>
          </a:p>
          <a:p>
            <a:pPr lvl="2"/>
            <a:r>
              <a:rPr lang="zh-CN" altLang="en-US"/>
              <a:t>期刊 </a:t>
            </a:r>
            <a:r>
              <a:rPr lang="en-US" altLang="zh-CN"/>
              <a:t>IEEE IoT Journal, ACM Trans. IoT</a:t>
            </a:r>
          </a:p>
          <a:p>
            <a:pPr lvl="1"/>
            <a:r>
              <a:rPr lang="zh-CN" altLang="en-US"/>
              <a:t>工业界：</a:t>
            </a:r>
            <a:endParaRPr lang="en-US" altLang="zh-CN"/>
          </a:p>
          <a:p>
            <a:pPr lvl="2"/>
            <a:r>
              <a:rPr lang="zh-CN" altLang="en-US"/>
              <a:t> </a:t>
            </a:r>
            <a:r>
              <a:rPr lang="en-US" altLang="zh-CN"/>
              <a:t>2017 </a:t>
            </a:r>
            <a:r>
              <a:rPr lang="zh-CN" altLang="en-US"/>
              <a:t>年 </a:t>
            </a:r>
            <a:r>
              <a:rPr lang="en-US" altLang="zh-CN"/>
              <a:t>6 </a:t>
            </a:r>
            <a:r>
              <a:rPr lang="zh-CN" altLang="en-US"/>
              <a:t>月，工业和信息化部发布了</a:t>
            </a:r>
            <a:r>
              <a:rPr lang="en-US" altLang="zh-CN"/>
              <a:t>《</a:t>
            </a:r>
            <a:r>
              <a:rPr lang="zh-CN" altLang="en-US"/>
              <a:t>关于全面推进移动物联网（ </a:t>
            </a:r>
            <a:r>
              <a:rPr lang="en-US" altLang="zh-CN"/>
              <a:t>NB-IoT</a:t>
            </a:r>
            <a:r>
              <a:rPr lang="zh-CN" altLang="en-US"/>
              <a:t>）建设发展的通知</a:t>
            </a:r>
            <a:r>
              <a:rPr lang="en-US" altLang="zh-CN"/>
              <a:t>》</a:t>
            </a:r>
          </a:p>
          <a:p>
            <a:pPr lvl="2"/>
            <a:r>
              <a:rPr lang="zh-CN" altLang="en-US"/>
              <a:t>华为、中国移动、中国电信等公司投入巨资建设物联网基础设施</a:t>
            </a:r>
            <a:endParaRPr lang="en-US" altLang="zh-CN"/>
          </a:p>
          <a:p>
            <a:pPr lvl="2"/>
            <a:r>
              <a:rPr lang="zh-CN" altLang="en-US"/>
              <a:t>阿里巴巴、 </a:t>
            </a:r>
            <a:r>
              <a:rPr lang="en-US" altLang="zh-CN"/>
              <a:t>IBM</a:t>
            </a:r>
            <a:r>
              <a:rPr lang="zh-CN" altLang="en-US"/>
              <a:t>、亚马逊、微软等互联网公司及众多创业公司在物联网平台与应用方面布局，以解决大量物联网数据如何存储、查询、处理等共性问题。相继推出的物联网开发云平台如亚马逊 </a:t>
            </a:r>
            <a:r>
              <a:rPr lang="en-US" altLang="zh-CN"/>
              <a:t>IoT </a:t>
            </a:r>
            <a:r>
              <a:rPr lang="zh-CN" altLang="en-US"/>
              <a:t>平台、微软 </a:t>
            </a:r>
            <a:r>
              <a:rPr lang="en-US" altLang="zh-CN"/>
              <a:t>Azure IoT </a:t>
            </a:r>
            <a:r>
              <a:rPr lang="zh-CN" altLang="en-US"/>
              <a:t>云平台、阿里云 </a:t>
            </a:r>
            <a:r>
              <a:rPr lang="en-US" altLang="zh-CN"/>
              <a:t>Link</a:t>
            </a:r>
            <a:r>
              <a:rPr lang="zh-CN" altLang="en-US"/>
              <a:t>平台</a:t>
            </a:r>
            <a:endParaRPr lang="zh-CN" altLang="en-US" dirty="0"/>
          </a:p>
        </p:txBody>
      </p:sp>
      <p:sp>
        <p:nvSpPr>
          <p:cNvPr id="6" name="灯片编号占位符 4">
            <a:extLst>
              <a:ext uri="{FF2B5EF4-FFF2-40B4-BE49-F238E27FC236}">
                <a16:creationId xmlns:a16="http://schemas.microsoft.com/office/drawing/2014/main" id="{7C253F05-3124-4BAD-ACB5-FEAEDC3BE346}"/>
              </a:ext>
            </a:extLst>
          </p:cNvPr>
          <p:cNvSpPr txBox="1">
            <a:spLocks noChangeArrowheads="1"/>
          </p:cNvSpPr>
          <p:nvPr/>
        </p:nvSpPr>
        <p:spPr bwMode="auto">
          <a:xfrm>
            <a:off x="8229600" y="6553200"/>
            <a:ext cx="762000" cy="228600"/>
          </a:xfrm>
          <a:prstGeom prst="rect">
            <a:avLst/>
          </a:prstGeom>
          <a:noFill/>
          <a:ln w="9525">
            <a:noFill/>
            <a:miter lim="800000"/>
            <a:headEnd/>
            <a:tailEnd/>
          </a:ln>
        </p:spPr>
        <p:txBody>
          <a:bodyPr lIns="92075" tIns="46038" rIns="92075" bIns="46038" anchor="ctr"/>
          <a:lstStyle/>
          <a:p>
            <a:pPr algn="r"/>
            <a:fld id="{5C42246B-9AD6-4994-8CF2-B420465BEF68}" type="slidenum">
              <a:rPr lang="en-US" altLang="zh-CN" sz="1800" baseline="0">
                <a:solidFill>
                  <a:schemeClr val="folHlink"/>
                </a:solidFill>
                <a:latin typeface="Monotype Corsiva" pitchFamily="66" charset="0"/>
              </a:rPr>
              <a:pPr algn="r"/>
              <a:t>5</a:t>
            </a:fld>
            <a:endParaRPr lang="zh-CN" altLang="zh-CN" sz="1800" baseline="0" dirty="0">
              <a:solidFill>
                <a:schemeClr val="folHlink"/>
              </a:solidFill>
              <a:latin typeface="Monotype Corsiva" pitchFamily="66" charset="0"/>
            </a:endParaRPr>
          </a:p>
        </p:txBody>
      </p:sp>
    </p:spTree>
    <p:extLst>
      <p:ext uri="{BB962C8B-B14F-4D97-AF65-F5344CB8AC3E}">
        <p14:creationId xmlns:p14="http://schemas.microsoft.com/office/powerpoint/2010/main" val="33290918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5" name="内容占位符 2"/>
          <p:cNvSpPr>
            <a:spLocks noGrp="1"/>
          </p:cNvSpPr>
          <p:nvPr>
            <p:ph idx="1"/>
          </p:nvPr>
        </p:nvSpPr>
        <p:spPr/>
        <p:txBody>
          <a:bodyPr/>
          <a:lstStyle/>
          <a:p>
            <a:endParaRPr lang="en-US" altLang="zh-CN" sz="2800" dirty="0"/>
          </a:p>
          <a:p>
            <a:r>
              <a:rPr lang="zh-CN" altLang="en-US" sz="2800" dirty="0"/>
              <a:t>物联网的定义和发展趋势</a:t>
            </a:r>
            <a:endParaRPr lang="en-US" altLang="zh-CN" sz="2800" dirty="0"/>
          </a:p>
          <a:p>
            <a:r>
              <a:rPr lang="zh-CN" altLang="en-US" sz="2800" dirty="0">
                <a:solidFill>
                  <a:srgbClr val="C00000"/>
                </a:solidFill>
              </a:rPr>
              <a:t>物联网的应用架构及挑战</a:t>
            </a:r>
            <a:endParaRPr lang="en-US" altLang="zh-CN" sz="2800" dirty="0">
              <a:solidFill>
                <a:srgbClr val="C00000"/>
              </a:solidFill>
            </a:endParaRPr>
          </a:p>
          <a:p>
            <a:r>
              <a:rPr lang="zh-CN" altLang="en-US" sz="2800" dirty="0"/>
              <a:t>物联网典型应用</a:t>
            </a:r>
            <a:endParaRPr lang="en-US" altLang="zh-CN" sz="2800" dirty="0"/>
          </a:p>
          <a:p>
            <a:r>
              <a:rPr lang="zh-CN" altLang="en-US" sz="2800" dirty="0"/>
              <a:t>物联网相关学术研究及前沿问题 </a:t>
            </a:r>
            <a:br>
              <a:rPr lang="zh-CN" altLang="en-US" sz="2800" dirty="0"/>
            </a:br>
            <a:endParaRPr lang="en-US" altLang="zh-CN" sz="2800" dirty="0"/>
          </a:p>
        </p:txBody>
      </p:sp>
    </p:spTree>
    <p:extLst>
      <p:ext uri="{BB962C8B-B14F-4D97-AF65-F5344CB8AC3E}">
        <p14:creationId xmlns:p14="http://schemas.microsoft.com/office/powerpoint/2010/main" val="271514974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应用架构</a:t>
            </a:r>
          </a:p>
        </p:txBody>
      </p:sp>
      <p:sp>
        <p:nvSpPr>
          <p:cNvPr id="3" name="内容占位符 2"/>
          <p:cNvSpPr>
            <a:spLocks noGrp="1"/>
          </p:cNvSpPr>
          <p:nvPr>
            <p:ph idx="1"/>
          </p:nvPr>
        </p:nvSpPr>
        <p:spPr/>
        <p:txBody>
          <a:bodyPr/>
          <a:lstStyle/>
          <a:p>
            <a:r>
              <a:rPr lang="zh-CN" altLang="en-US" dirty="0"/>
              <a:t>典型物联网应用的架构</a:t>
            </a:r>
            <a:endParaRPr lang="en-US" altLang="zh-CN" dirty="0"/>
          </a:p>
          <a:p>
            <a:endParaRPr lang="en-US" altLang="zh-CN" dirty="0"/>
          </a:p>
          <a:p>
            <a:endParaRPr lang="en-US" altLang="zh-CN" dirty="0"/>
          </a:p>
          <a:p>
            <a:pPr marL="0" indent="0">
              <a:buNone/>
            </a:pPr>
            <a:endParaRPr lang="en-US" altLang="zh-CN" sz="2800" dirty="0"/>
          </a:p>
          <a:p>
            <a:r>
              <a:rPr lang="zh-CN" altLang="en-US" dirty="0"/>
              <a:t>主要部分</a:t>
            </a:r>
            <a:endParaRPr lang="en-US" altLang="zh-CN" dirty="0"/>
          </a:p>
          <a:p>
            <a:pPr lvl="1"/>
            <a:r>
              <a:rPr lang="zh-CN" altLang="en-US" dirty="0">
                <a:effectLst/>
              </a:rPr>
              <a:t>物联网设备：物联网的终端感知设备，例如</a:t>
            </a:r>
            <a:r>
              <a:rPr lang="en-US" altLang="zh-CN" dirty="0">
                <a:effectLst/>
              </a:rPr>
              <a:t>PM2.5 </a:t>
            </a:r>
            <a:r>
              <a:rPr lang="zh-CN" altLang="en-US" dirty="0">
                <a:effectLst/>
              </a:rPr>
              <a:t>感知节点</a:t>
            </a:r>
            <a:endParaRPr lang="en-US" altLang="zh-CN" dirty="0">
              <a:effectLst/>
            </a:endParaRPr>
          </a:p>
          <a:p>
            <a:pPr lvl="1"/>
            <a:r>
              <a:rPr lang="zh-CN" altLang="en-US" dirty="0">
                <a:effectLst/>
              </a:rPr>
              <a:t>网关：物联网设备通常通过无线方式接入互联网；网关通过无线接收数据，并通过有线将数据传输到物联网云平台 </a:t>
            </a:r>
            <a:endParaRPr lang="en-US" altLang="zh-CN" dirty="0">
              <a:effectLst/>
            </a:endParaRPr>
          </a:p>
          <a:p>
            <a:pPr lvl="1"/>
            <a:r>
              <a:rPr lang="zh-CN" altLang="en-US" dirty="0">
                <a:effectLst/>
              </a:rPr>
              <a:t>物联网云平台：存储物联网感知数据，提供相应的数据查询、分析、处理、展示；物联网终端、网关设备的接入和管理；设备间通信支持；多重安全防护保障等</a:t>
            </a:r>
            <a:endParaRPr lang="en-US" altLang="zh-CN" dirty="0">
              <a:effectLst/>
            </a:endParaRPr>
          </a:p>
          <a:p>
            <a:pPr lvl="1"/>
            <a:r>
              <a:rPr lang="zh-CN" altLang="en-US" dirty="0">
                <a:effectLst/>
              </a:rPr>
              <a:t>用户端：应用开发者开发的各类用户端应用</a:t>
            </a:r>
            <a:br>
              <a:rPr lang="zh-CN" altLang="en-US" dirty="0"/>
            </a:br>
            <a:br>
              <a:rPr lang="zh-CN" altLang="en-US" dirty="0"/>
            </a:br>
            <a:br>
              <a:rPr lang="zh-CN" altLang="en-US" dirty="0"/>
            </a:br>
            <a:br>
              <a:rPr lang="zh-CN" altLang="en-US" dirty="0"/>
            </a:br>
            <a:endParaRPr lang="zh-CN" altLang="en-US" dirty="0"/>
          </a:p>
        </p:txBody>
      </p:sp>
      <p:pic>
        <p:nvPicPr>
          <p:cNvPr id="5" name="图片 4">
            <a:extLst>
              <a:ext uri="{FF2B5EF4-FFF2-40B4-BE49-F238E27FC236}">
                <a16:creationId xmlns:a16="http://schemas.microsoft.com/office/drawing/2014/main" id="{06281FEC-C927-4590-B30E-9AFBF517CF0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96204" y="1339170"/>
            <a:ext cx="7551592" cy="1810030"/>
          </a:xfrm>
          <a:prstGeom prst="rect">
            <a:avLst/>
          </a:prstGeom>
          <a:noFill/>
          <a:ln>
            <a:noFill/>
          </a:ln>
        </p:spPr>
      </p:pic>
      <p:sp>
        <p:nvSpPr>
          <p:cNvPr id="7" name="灯片编号占位符 4">
            <a:extLst>
              <a:ext uri="{FF2B5EF4-FFF2-40B4-BE49-F238E27FC236}">
                <a16:creationId xmlns:a16="http://schemas.microsoft.com/office/drawing/2014/main" id="{799EBF80-A49E-4176-B32E-AC1959DBBE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60508700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应用架构</a:t>
            </a:r>
            <a:endParaRPr lang="zh-CN" altLang="en-US" dirty="0"/>
          </a:p>
        </p:txBody>
      </p:sp>
      <p:sp>
        <p:nvSpPr>
          <p:cNvPr id="3" name="内容占位符 2"/>
          <p:cNvSpPr>
            <a:spLocks noGrp="1"/>
          </p:cNvSpPr>
          <p:nvPr>
            <p:ph idx="1"/>
          </p:nvPr>
        </p:nvSpPr>
        <p:spPr/>
        <p:txBody>
          <a:bodyPr/>
          <a:lstStyle/>
          <a:p>
            <a:r>
              <a:rPr lang="zh-CN" altLang="en-US" dirty="0"/>
              <a:t>部分常见的设备与平台</a:t>
            </a:r>
            <a:endParaRPr lang="en-US" altLang="zh-CN" dirty="0"/>
          </a:p>
          <a:p>
            <a:endParaRPr lang="en-US" altLang="zh-CN" dirty="0"/>
          </a:p>
          <a:p>
            <a:endParaRPr lang="en-US" altLang="zh-CN" dirty="0"/>
          </a:p>
          <a:p>
            <a:endParaRPr lang="en-US" altLang="zh-CN" dirty="0"/>
          </a:p>
          <a:p>
            <a:endParaRPr lang="en-US" altLang="zh-CN" dirty="0"/>
          </a:p>
          <a:p>
            <a:pPr marL="0" indent="0">
              <a:buNone/>
            </a:pPr>
            <a:br>
              <a:rPr lang="zh-CN" altLang="en-US" dirty="0"/>
            </a:br>
            <a:br>
              <a:rPr lang="zh-CN" altLang="en-US" dirty="0"/>
            </a:br>
            <a:br>
              <a:rPr lang="zh-CN" altLang="en-US" dirty="0"/>
            </a:br>
            <a:br>
              <a:rPr lang="zh-CN" altLang="en-US" dirty="0"/>
            </a:br>
            <a:endParaRPr lang="zh-CN" altLang="en-US" dirty="0"/>
          </a:p>
        </p:txBody>
      </p:sp>
      <p:pic>
        <p:nvPicPr>
          <p:cNvPr id="6" name="图片 5">
            <a:extLst>
              <a:ext uri="{FF2B5EF4-FFF2-40B4-BE49-F238E27FC236}">
                <a16:creationId xmlns:a16="http://schemas.microsoft.com/office/drawing/2014/main" id="{308974D9-D4C5-4ADB-8872-7BA47652D3F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04126" y="1654139"/>
            <a:ext cx="6882879" cy="4854611"/>
          </a:xfrm>
          <a:prstGeom prst="rect">
            <a:avLst/>
          </a:prstGeom>
          <a:noFill/>
          <a:ln>
            <a:noFill/>
          </a:ln>
        </p:spPr>
      </p:pic>
      <p:sp>
        <p:nvSpPr>
          <p:cNvPr id="7" name="灯片编号占位符 4">
            <a:extLst>
              <a:ext uri="{FF2B5EF4-FFF2-40B4-BE49-F238E27FC236}">
                <a16:creationId xmlns:a16="http://schemas.microsoft.com/office/drawing/2014/main" id="{431C717F-6E54-4077-9518-A18D8B9FBF4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2133455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机遇及挑战</a:t>
            </a:r>
          </a:p>
        </p:txBody>
      </p:sp>
      <p:sp>
        <p:nvSpPr>
          <p:cNvPr id="3" name="内容占位符 2"/>
          <p:cNvSpPr>
            <a:spLocks noGrp="1"/>
          </p:cNvSpPr>
          <p:nvPr>
            <p:ph idx="1"/>
          </p:nvPr>
        </p:nvSpPr>
        <p:spPr/>
        <p:txBody>
          <a:bodyPr/>
          <a:lstStyle/>
          <a:p>
            <a:r>
              <a:rPr lang="zh-CN" altLang="en-US" dirty="0"/>
              <a:t>开发链长</a:t>
            </a:r>
            <a:endParaRPr lang="en-US" altLang="zh-CN" dirty="0"/>
          </a:p>
          <a:p>
            <a:r>
              <a:rPr lang="zh-CN" altLang="en-US" dirty="0"/>
              <a:t>物联网领域还没有出现固定的终端类型</a:t>
            </a:r>
            <a:endParaRPr lang="en-US" altLang="zh-CN" dirty="0"/>
          </a:p>
          <a:p>
            <a:r>
              <a:rPr lang="zh-CN" altLang="en-US" dirty="0"/>
              <a:t>目前，物联网应用开发的架构还是属于“垂直一体化”的</a:t>
            </a:r>
            <a:endParaRPr lang="en-US" altLang="zh-CN" dirty="0"/>
          </a:p>
          <a:p>
            <a:pPr marL="457200" lvl="1" indent="0">
              <a:buNone/>
            </a:pPr>
            <a:br>
              <a:rPr lang="zh-CN" altLang="en-US" dirty="0"/>
            </a:br>
            <a:br>
              <a:rPr lang="zh-CN" altLang="en-US" dirty="0"/>
            </a:br>
            <a:br>
              <a:rPr lang="zh-CN" altLang="en-US" dirty="0"/>
            </a:br>
            <a:endParaRPr lang="zh-CN" altLang="en-US" dirty="0"/>
          </a:p>
        </p:txBody>
      </p:sp>
      <p:graphicFrame>
        <p:nvGraphicFramePr>
          <p:cNvPr id="9" name="对象 8">
            <a:extLst>
              <a:ext uri="{FF2B5EF4-FFF2-40B4-BE49-F238E27FC236}">
                <a16:creationId xmlns:a16="http://schemas.microsoft.com/office/drawing/2014/main" id="{DB3E6933-2C2D-47EC-8FD3-76A729BB44A2}"/>
              </a:ext>
            </a:extLst>
          </p:cNvPr>
          <p:cNvGraphicFramePr>
            <a:graphicFrameLocks noChangeAspect="1"/>
          </p:cNvGraphicFramePr>
          <p:nvPr>
            <p:extLst>
              <p:ext uri="{D42A27DB-BD31-4B8C-83A1-F6EECF244321}">
                <p14:modId xmlns:p14="http://schemas.microsoft.com/office/powerpoint/2010/main" val="3896714003"/>
              </p:ext>
            </p:extLst>
          </p:nvPr>
        </p:nvGraphicFramePr>
        <p:xfrm>
          <a:off x="381000" y="2900456"/>
          <a:ext cx="4831484" cy="3079678"/>
        </p:xfrm>
        <a:graphic>
          <a:graphicData uri="http://schemas.openxmlformats.org/presentationml/2006/ole">
            <mc:AlternateContent xmlns:mc="http://schemas.openxmlformats.org/markup-compatibility/2006">
              <mc:Choice xmlns:v="urn:schemas-microsoft-com:vml" Requires="v">
                <p:oleObj spid="_x0000_s2086" name="Visio" r:id="rId3" imgW="8705778" imgH="5257885" progId="Visio.Drawing.15">
                  <p:embed/>
                </p:oleObj>
              </mc:Choice>
              <mc:Fallback>
                <p:oleObj name="Visio" r:id="rId3" imgW="8705778" imgH="5257885" progId="Visio.Drawing.15">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900456"/>
                        <a:ext cx="4831484" cy="3079678"/>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066B39A0-1623-4C40-B0B1-05BA57509FCE}"/>
              </a:ext>
            </a:extLst>
          </p:cNvPr>
          <p:cNvGraphicFramePr>
            <a:graphicFrameLocks noChangeAspect="1"/>
          </p:cNvGraphicFramePr>
          <p:nvPr>
            <p:extLst>
              <p:ext uri="{D42A27DB-BD31-4B8C-83A1-F6EECF244321}">
                <p14:modId xmlns:p14="http://schemas.microsoft.com/office/powerpoint/2010/main" val="3176789702"/>
              </p:ext>
            </p:extLst>
          </p:nvPr>
        </p:nvGraphicFramePr>
        <p:xfrm>
          <a:off x="5451216" y="2787722"/>
          <a:ext cx="2881136" cy="3264613"/>
        </p:xfrm>
        <a:graphic>
          <a:graphicData uri="http://schemas.openxmlformats.org/presentationml/2006/ole">
            <mc:AlternateContent xmlns:mc="http://schemas.openxmlformats.org/markup-compatibility/2006">
              <mc:Choice xmlns:v="urn:schemas-microsoft-com:vml" Requires="v">
                <p:oleObj spid="_x0000_s2087" name="Visio" r:id="rId5" imgW="7143822" imgH="8000829" progId="Visio.Drawing.15">
                  <p:embed/>
                </p:oleObj>
              </mc:Choice>
              <mc:Fallback>
                <p:oleObj name="Visio" r:id="rId5" imgW="7143822" imgH="8000829" progId="Visio.Drawing.15">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51216" y="2787722"/>
                        <a:ext cx="2881136" cy="3264613"/>
                      </a:xfrm>
                      <a:prstGeom prst="rect">
                        <a:avLst/>
                      </a:prstGeom>
                      <a:noFill/>
                    </p:spPr>
                  </p:pic>
                </p:oleObj>
              </mc:Fallback>
            </mc:AlternateContent>
          </a:graphicData>
        </a:graphic>
      </p:graphicFrame>
      <p:sp>
        <p:nvSpPr>
          <p:cNvPr id="8" name="灯片编号占位符 4">
            <a:extLst>
              <a:ext uri="{FF2B5EF4-FFF2-40B4-BE49-F238E27FC236}">
                <a16:creationId xmlns:a16="http://schemas.microsoft.com/office/drawing/2014/main" id="{6A36B55D-7EB3-46AF-AF62-441F90F44B8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9</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31728167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E6F8F4C-A0CE-4851-8210-78EAC1D4D231}"/>
              </a:ext>
            </a:extLst>
          </p:cNvPr>
          <p:cNvPicPr>
            <a:picLocks noChangeAspect="1"/>
          </p:cNvPicPr>
          <p:nvPr/>
        </p:nvPicPr>
        <p:blipFill rotWithShape="1">
          <a:blip r:embed="rId2"/>
          <a:srcRect t="8973" b="5815"/>
          <a:stretch/>
        </p:blipFill>
        <p:spPr>
          <a:xfrm>
            <a:off x="0" y="1465546"/>
            <a:ext cx="9144000" cy="4702480"/>
          </a:xfrm>
          <a:prstGeom prst="rect">
            <a:avLst/>
          </a:prstGeom>
        </p:spPr>
      </p:pic>
      <p:sp>
        <p:nvSpPr>
          <p:cNvPr id="2" name="标题 1">
            <a:extLst>
              <a:ext uri="{FF2B5EF4-FFF2-40B4-BE49-F238E27FC236}">
                <a16:creationId xmlns:a16="http://schemas.microsoft.com/office/drawing/2014/main" id="{A05AB1F9-E30E-448A-BD9F-B641FE7A7360}"/>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D0F19406-01D6-42BE-898D-806DA0F1D8AD}"/>
              </a:ext>
            </a:extLst>
          </p:cNvPr>
          <p:cNvSpPr>
            <a:spLocks noGrp="1"/>
          </p:cNvSpPr>
          <p:nvPr>
            <p:ph idx="1"/>
          </p:nvPr>
        </p:nvSpPr>
        <p:spPr/>
        <p:txBody>
          <a:bodyPr/>
          <a:lstStyle/>
          <a:p>
            <a:r>
              <a:rPr lang="zh-CN" altLang="zh-CN" dirty="0"/>
              <a:t>一个典型物联网应用架构包括哪些部分？物联网开发与传统</a:t>
            </a:r>
            <a:r>
              <a:rPr lang="en-US" altLang="zh-CN" dirty="0"/>
              <a:t>PC</a:t>
            </a:r>
            <a:r>
              <a:rPr lang="zh-CN" altLang="zh-CN" dirty="0"/>
              <a:t>端程序开发有什么不同？</a:t>
            </a:r>
            <a:endParaRPr lang="zh-CN" altLang="en-US" dirty="0"/>
          </a:p>
        </p:txBody>
      </p:sp>
      <p:sp>
        <p:nvSpPr>
          <p:cNvPr id="5" name="灯片编号占位符 4">
            <a:extLst>
              <a:ext uri="{FF2B5EF4-FFF2-40B4-BE49-F238E27FC236}">
                <a16:creationId xmlns:a16="http://schemas.microsoft.com/office/drawing/2014/main" id="{E9A2AA29-EC7E-4CD9-8E0D-58FE0A8BA7F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10</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9010484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5" name="内容占位符 2"/>
          <p:cNvSpPr>
            <a:spLocks noGrp="1"/>
          </p:cNvSpPr>
          <p:nvPr>
            <p:ph idx="1"/>
          </p:nvPr>
        </p:nvSpPr>
        <p:spPr/>
        <p:txBody>
          <a:bodyPr/>
          <a:lstStyle/>
          <a:p>
            <a:endParaRPr lang="en-US" altLang="zh-CN" sz="2800" dirty="0"/>
          </a:p>
          <a:p>
            <a:r>
              <a:rPr lang="zh-CN" altLang="en-US" sz="2800" dirty="0"/>
              <a:t>物联网的定义和发展趋势</a:t>
            </a:r>
            <a:endParaRPr lang="en-US" altLang="zh-CN" sz="2800" dirty="0"/>
          </a:p>
          <a:p>
            <a:r>
              <a:rPr lang="zh-CN" altLang="en-US" sz="2800" dirty="0"/>
              <a:t>物联网的应用架构及挑战</a:t>
            </a:r>
            <a:endParaRPr lang="en-US" altLang="zh-CN" sz="2800" dirty="0"/>
          </a:p>
          <a:p>
            <a:r>
              <a:rPr lang="zh-CN" altLang="en-US" sz="2800" dirty="0">
                <a:solidFill>
                  <a:srgbClr val="C00000"/>
                </a:solidFill>
              </a:rPr>
              <a:t>物联网典型应用</a:t>
            </a:r>
            <a:endParaRPr lang="en-US" altLang="zh-CN" sz="2800" dirty="0">
              <a:solidFill>
                <a:srgbClr val="C00000"/>
              </a:solidFill>
            </a:endParaRPr>
          </a:p>
          <a:p>
            <a:r>
              <a:rPr lang="zh-CN" altLang="en-US" sz="2800" dirty="0"/>
              <a:t>物联网相关学术研究及前沿问题 </a:t>
            </a:r>
            <a:br>
              <a:rPr lang="zh-CN" altLang="en-US" sz="2800" dirty="0"/>
            </a:br>
            <a:endParaRPr lang="en-US" altLang="zh-CN" sz="2800" dirty="0"/>
          </a:p>
        </p:txBody>
      </p:sp>
    </p:spTree>
    <p:extLst>
      <p:ext uri="{BB962C8B-B14F-4D97-AF65-F5344CB8AC3E}">
        <p14:creationId xmlns:p14="http://schemas.microsoft.com/office/powerpoint/2010/main" val="101412625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智慧城市</a:t>
            </a:r>
            <a:r>
              <a:rPr lang="en-US" altLang="zh-CN"/>
              <a:t>——</a:t>
            </a:r>
            <a:r>
              <a:rPr lang="zh-CN" altLang="en-US"/>
              <a:t>鸿山物联网小镇</a:t>
            </a:r>
            <a:endParaRPr lang="zh-CN" altLang="en-US" dirty="0"/>
          </a:p>
        </p:txBody>
      </p:sp>
      <p:sp>
        <p:nvSpPr>
          <p:cNvPr id="3" name="内容占位符 2"/>
          <p:cNvSpPr>
            <a:spLocks noGrp="1"/>
          </p:cNvSpPr>
          <p:nvPr>
            <p:ph idx="1"/>
          </p:nvPr>
        </p:nvSpPr>
        <p:spPr/>
        <p:txBody>
          <a:bodyPr/>
          <a:lstStyle/>
          <a:p>
            <a:r>
              <a:rPr lang="zh-CN" altLang="en-US" dirty="0"/>
              <a:t>在中国的智慧城市实践中，</a:t>
            </a:r>
            <a:r>
              <a:rPr lang="zh-CN" altLang="en-US" dirty="0">
                <a:solidFill>
                  <a:srgbClr val="C00000"/>
                </a:solidFill>
              </a:rPr>
              <a:t>无锡鸿山物联网小镇</a:t>
            </a:r>
            <a:r>
              <a:rPr lang="zh-CN" altLang="en-US" dirty="0"/>
              <a:t>在国内外物联网产业中享有盛誉</a:t>
            </a:r>
            <a:endParaRPr lang="en-US" altLang="zh-CN" dirty="0"/>
          </a:p>
          <a:p>
            <a:pPr lvl="1"/>
            <a:r>
              <a:rPr lang="zh-CN" altLang="en-US" dirty="0"/>
              <a:t>鸿山地处无锡国家传感网创新示范区，是全国首个以物联网为产业特色的小镇，又入选江苏省首批特色小镇。阿里巴巴、华为、中电海康、西门子、中国移动、中国电信等一批行业巨头纷纷抢滩入驻</a:t>
            </a:r>
            <a:endParaRPr lang="en-US" altLang="zh-CN" dirty="0"/>
          </a:p>
          <a:p>
            <a:r>
              <a:rPr lang="zh-CN" altLang="en-US" dirty="0"/>
              <a:t>六大系统模块</a:t>
            </a:r>
            <a:endParaRPr lang="en-US" altLang="zh-CN" dirty="0"/>
          </a:p>
          <a:p>
            <a:pPr lvl="1"/>
            <a:r>
              <a:rPr lang="zh-CN" altLang="en-US" dirty="0"/>
              <a:t>智慧数据系统</a:t>
            </a:r>
            <a:endParaRPr lang="en-US" altLang="zh-CN" dirty="0"/>
          </a:p>
          <a:p>
            <a:pPr lvl="1"/>
            <a:r>
              <a:rPr lang="zh-CN" altLang="en-US" dirty="0"/>
              <a:t>智慧交通系统</a:t>
            </a:r>
            <a:endParaRPr lang="en-US" altLang="zh-CN" dirty="0"/>
          </a:p>
          <a:p>
            <a:pPr lvl="1"/>
            <a:r>
              <a:rPr lang="zh-CN" altLang="en-US" dirty="0"/>
              <a:t>智慧旅游系统</a:t>
            </a:r>
            <a:endParaRPr lang="en-US" altLang="zh-CN" dirty="0"/>
          </a:p>
          <a:p>
            <a:pPr lvl="1"/>
            <a:r>
              <a:rPr lang="zh-CN" altLang="en-US" dirty="0"/>
              <a:t>智慧医疗系统</a:t>
            </a:r>
            <a:endParaRPr lang="en-US" altLang="zh-CN" dirty="0"/>
          </a:p>
          <a:p>
            <a:pPr lvl="1"/>
            <a:r>
              <a:rPr lang="zh-CN" altLang="en-US" dirty="0"/>
              <a:t>智慧农业系统</a:t>
            </a:r>
            <a:endParaRPr lang="en-US" altLang="zh-CN" dirty="0"/>
          </a:p>
          <a:p>
            <a:pPr lvl="1"/>
            <a:r>
              <a:rPr lang="zh-CN" altLang="en-US" dirty="0"/>
              <a:t>智慧社区系统</a:t>
            </a:r>
            <a:endParaRPr lang="en-US" altLang="zh-CN" dirty="0"/>
          </a:p>
          <a:p>
            <a:pPr lvl="1"/>
            <a:endParaRPr lang="zh-CN" altLang="en-US" dirty="0"/>
          </a:p>
        </p:txBody>
      </p:sp>
      <p:pic>
        <p:nvPicPr>
          <p:cNvPr id="5" name="图片 4">
            <a:extLst>
              <a:ext uri="{FF2B5EF4-FFF2-40B4-BE49-F238E27FC236}">
                <a16:creationId xmlns:a16="http://schemas.microsoft.com/office/drawing/2014/main" id="{DE0587EE-C973-4E6B-A107-32B8590F306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560565" y="3267183"/>
            <a:ext cx="4972692" cy="3133617"/>
          </a:xfrm>
          <a:prstGeom prst="rect">
            <a:avLst/>
          </a:prstGeom>
          <a:noFill/>
          <a:ln>
            <a:noFill/>
          </a:ln>
        </p:spPr>
      </p:pic>
      <p:sp>
        <p:nvSpPr>
          <p:cNvPr id="7" name="灯片编号占位符 4">
            <a:extLst>
              <a:ext uri="{FF2B5EF4-FFF2-40B4-BE49-F238E27FC236}">
                <a16:creationId xmlns:a16="http://schemas.microsoft.com/office/drawing/2014/main" id="{0103386D-4FA6-4AEE-880F-4C2814ED69F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54756894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物联网基础设施建设</a:t>
            </a:r>
            <a:endParaRPr lang="zh-CN" altLang="en-US" dirty="0"/>
          </a:p>
        </p:txBody>
      </p:sp>
      <p:sp>
        <p:nvSpPr>
          <p:cNvPr id="3" name="内容占位符 2"/>
          <p:cNvSpPr>
            <a:spLocks noGrp="1"/>
          </p:cNvSpPr>
          <p:nvPr>
            <p:ph idx="1"/>
          </p:nvPr>
        </p:nvSpPr>
        <p:spPr/>
        <p:txBody>
          <a:bodyPr/>
          <a:lstStyle/>
          <a:p>
            <a:r>
              <a:rPr lang="zh-CN" altLang="en-US" dirty="0"/>
              <a:t>为了支撑上述智能化系统，物联网基础设施的部署是十分必要的，其决定了智能化水平和最终效果</a:t>
            </a:r>
            <a:endParaRPr lang="en-US" altLang="zh-CN" dirty="0"/>
          </a:p>
          <a:p>
            <a:pPr lvl="1"/>
            <a:r>
              <a:rPr lang="zh-CN" altLang="en-US" dirty="0">
                <a:effectLst/>
              </a:rPr>
              <a:t>在鸿山物联网小镇的实施阶段，铺设了大量目的明确、分工合作的传感器节点群</a:t>
            </a:r>
            <a:endParaRPr lang="en-US" altLang="zh-CN" dirty="0">
              <a:effectLst/>
            </a:endParaRPr>
          </a:p>
          <a:p>
            <a:pPr lvl="1"/>
            <a:r>
              <a:rPr lang="zh-CN" altLang="en-US" dirty="0">
                <a:effectLst/>
              </a:rPr>
              <a:t>针对环保、城管、公安、交通、教育、健康等确定的前期示范项目，优先布设项目涉及的传感器，建设智能交通传感群、智能生态传感群、 智能能源传感群、智能农业传感群、公共服务传感群</a:t>
            </a:r>
            <a:endParaRPr lang="en-US" altLang="zh-CN" dirty="0">
              <a:effectLst/>
            </a:endParaRPr>
          </a:p>
          <a:p>
            <a:pPr lvl="1"/>
            <a:r>
              <a:rPr lang="zh-CN" altLang="en-US" dirty="0">
                <a:effectLst/>
              </a:rPr>
              <a:t>例如，智能交通传感群中的物联网设备包括智能停车闸口、停车场传感器、单车停放点电‘子围栏、 </a:t>
            </a:r>
            <a:r>
              <a:rPr lang="en-US" altLang="zh-CN" dirty="0">
                <a:effectLst/>
              </a:rPr>
              <a:t>RFID </a:t>
            </a:r>
            <a:r>
              <a:rPr lang="zh-CN" altLang="en-US" dirty="0">
                <a:effectLst/>
              </a:rPr>
              <a:t>电子车牌、路口灯控、路口信号机、公交车位置传感器、公交车车载传感器等</a:t>
            </a:r>
            <a:br>
              <a:rPr lang="zh-CN" altLang="en-US" dirty="0"/>
            </a:br>
            <a:endParaRPr lang="zh-CN" altLang="en-US" dirty="0"/>
          </a:p>
        </p:txBody>
      </p:sp>
      <p:sp>
        <p:nvSpPr>
          <p:cNvPr id="6" name="灯片编号占位符 4">
            <a:extLst>
              <a:ext uri="{FF2B5EF4-FFF2-40B4-BE49-F238E27FC236}">
                <a16:creationId xmlns:a16="http://schemas.microsoft.com/office/drawing/2014/main" id="{48DC87E6-B2BF-49EA-91FE-FE7D5EB0301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13</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948718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飞凤城市物联网平台</a:t>
            </a:r>
            <a:endParaRPr lang="zh-CN" altLang="en-US" dirty="0"/>
          </a:p>
        </p:txBody>
      </p:sp>
      <p:sp>
        <p:nvSpPr>
          <p:cNvPr id="3" name="内容占位符 2"/>
          <p:cNvSpPr>
            <a:spLocks noGrp="1"/>
          </p:cNvSpPr>
          <p:nvPr>
            <p:ph idx="1"/>
          </p:nvPr>
        </p:nvSpPr>
        <p:spPr/>
        <p:txBody>
          <a:bodyPr/>
          <a:lstStyle/>
          <a:p>
            <a:r>
              <a:rPr lang="zh-CN" altLang="en-US" dirty="0">
                <a:solidFill>
                  <a:srgbClr val="C00000"/>
                </a:solidFill>
              </a:rPr>
              <a:t>飞凤平台</a:t>
            </a:r>
            <a:r>
              <a:rPr lang="zh-CN" altLang="en-US" dirty="0"/>
              <a:t>是集阿里云在物联网领域多年的研发和积累所建设的物联网基础平台。飞凤平台作为物联网基础设施，主要解决物联网技术</a:t>
            </a:r>
            <a:r>
              <a:rPr lang="zh-CN" altLang="en-US" dirty="0">
                <a:solidFill>
                  <a:srgbClr val="C00000"/>
                </a:solidFill>
              </a:rPr>
              <a:t>“统一规则”</a:t>
            </a:r>
            <a:r>
              <a:rPr lang="zh-CN" altLang="en-US" dirty="0"/>
              <a:t>的问题</a:t>
            </a:r>
            <a:endParaRPr lang="en-US" altLang="zh-CN" dirty="0"/>
          </a:p>
          <a:p>
            <a:r>
              <a:rPr lang="zh-CN" altLang="en-US" dirty="0"/>
              <a:t>飞凤平台为物联网开发者提供一站式服务，基于飞凤平台能够实现硬件开发、数据开发、应用开发、服务开发</a:t>
            </a:r>
            <a:endParaRPr lang="en-US" altLang="zh-CN" dirty="0"/>
          </a:p>
          <a:p>
            <a:pPr lvl="1"/>
            <a:r>
              <a:rPr lang="zh-CN" altLang="en-US" b="1" dirty="0">
                <a:effectLst/>
              </a:rPr>
              <a:t>硬件开发</a:t>
            </a:r>
            <a:r>
              <a:rPr lang="zh-CN" altLang="en-US" dirty="0">
                <a:effectLst/>
              </a:rPr>
              <a:t>：提供对传感、设备、模组的开发集成管理，涉及连接、数据标准等一系列开发配套服务。 </a:t>
            </a:r>
            <a:endParaRPr lang="en-US" altLang="zh-CN" dirty="0">
              <a:effectLst/>
            </a:endParaRPr>
          </a:p>
          <a:p>
            <a:pPr lvl="1"/>
            <a:r>
              <a:rPr lang="zh-CN" altLang="en-US" b="1" dirty="0">
                <a:effectLst/>
              </a:rPr>
              <a:t>数据开发</a:t>
            </a:r>
            <a:r>
              <a:rPr lang="zh-CN" altLang="en-US" dirty="0">
                <a:effectLst/>
              </a:rPr>
              <a:t>：提供对数据接入、清洗、建模，涉及数据加工等一系列开发配套服务 </a:t>
            </a:r>
            <a:endParaRPr lang="en-US" altLang="zh-CN" dirty="0">
              <a:effectLst/>
            </a:endParaRPr>
          </a:p>
          <a:p>
            <a:pPr lvl="1"/>
            <a:r>
              <a:rPr lang="zh-CN" altLang="en-US" b="1" dirty="0">
                <a:effectLst/>
              </a:rPr>
              <a:t>应用开发</a:t>
            </a:r>
            <a:r>
              <a:rPr lang="zh-CN" altLang="en-US" dirty="0">
                <a:effectLst/>
              </a:rPr>
              <a:t>：提供对网页控制台、移动应用的开发构建，涉及开发过程的一系列配套和能力组件服务。 </a:t>
            </a:r>
            <a:endParaRPr lang="en-US" altLang="zh-CN" dirty="0">
              <a:effectLst/>
            </a:endParaRPr>
          </a:p>
          <a:p>
            <a:pPr lvl="1"/>
            <a:r>
              <a:rPr lang="zh-CN" altLang="en-US" b="1" dirty="0">
                <a:effectLst/>
              </a:rPr>
              <a:t>服务开发</a:t>
            </a:r>
            <a:r>
              <a:rPr lang="zh-CN" altLang="en-US" dirty="0">
                <a:effectLst/>
              </a:rPr>
              <a:t>：提供对服务的开发构建，涉及服务开发过程的一系列开发配套和能力组件服务 </a:t>
            </a:r>
            <a:br>
              <a:rPr lang="zh-CN" altLang="en-US" dirty="0"/>
            </a:br>
            <a:br>
              <a:rPr lang="zh-CN" altLang="en-US" dirty="0"/>
            </a:br>
            <a:br>
              <a:rPr lang="zh-CN" altLang="en-US" dirty="0"/>
            </a:br>
            <a:br>
              <a:rPr lang="zh-CN" altLang="en-US" dirty="0"/>
            </a:br>
            <a:r>
              <a:rPr lang="zh-CN" altLang="en-US" dirty="0"/>
              <a:t> </a:t>
            </a:r>
            <a:br>
              <a:rPr lang="zh-CN" altLang="en-US" dirty="0"/>
            </a:br>
            <a:endParaRPr lang="en-US" altLang="zh-CN" dirty="0"/>
          </a:p>
          <a:p>
            <a:endParaRPr lang="zh-CN" altLang="en-US" dirty="0"/>
          </a:p>
        </p:txBody>
      </p:sp>
      <p:sp>
        <p:nvSpPr>
          <p:cNvPr id="6" name="灯片编号占位符 4">
            <a:extLst>
              <a:ext uri="{FF2B5EF4-FFF2-40B4-BE49-F238E27FC236}">
                <a16:creationId xmlns:a16="http://schemas.microsoft.com/office/drawing/2014/main" id="{3EF64ECE-7851-46F7-BD98-A744CFAF30B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98034643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智慧城市创新应用</a:t>
            </a:r>
          </a:p>
        </p:txBody>
      </p:sp>
      <p:sp>
        <p:nvSpPr>
          <p:cNvPr id="3" name="内容占位符 2"/>
          <p:cNvSpPr>
            <a:spLocks noGrp="1"/>
          </p:cNvSpPr>
          <p:nvPr>
            <p:ph idx="1"/>
          </p:nvPr>
        </p:nvSpPr>
        <p:spPr/>
        <p:txBody>
          <a:bodyPr/>
          <a:lstStyle/>
          <a:p>
            <a:r>
              <a:rPr lang="zh-CN" altLang="en-US" dirty="0"/>
              <a:t>智能楼宇</a:t>
            </a:r>
            <a:endParaRPr lang="en-US" altLang="zh-CN" dirty="0"/>
          </a:p>
          <a:p>
            <a:pPr lvl="1"/>
            <a:r>
              <a:rPr lang="zh-CN" altLang="en-US" dirty="0">
                <a:effectLst/>
              </a:rPr>
              <a:t>通过在楼宇中布设多种传感器，使得人们可以方便的知道室内温度、光线强度、</a:t>
            </a:r>
            <a:r>
              <a:rPr lang="en-US" altLang="zh-CN" dirty="0">
                <a:effectLst/>
              </a:rPr>
              <a:t>PM2.5</a:t>
            </a:r>
            <a:r>
              <a:rPr lang="zh-CN" altLang="en-US" dirty="0">
                <a:effectLst/>
              </a:rPr>
              <a:t>、</a:t>
            </a:r>
            <a:r>
              <a:rPr lang="en-US" altLang="zh-CN" dirty="0">
                <a:effectLst/>
              </a:rPr>
              <a:t>CO</a:t>
            </a:r>
            <a:r>
              <a:rPr lang="en-US" altLang="zh-CN" baseline="-25000" dirty="0">
                <a:effectLst/>
              </a:rPr>
              <a:t>2</a:t>
            </a:r>
            <a:r>
              <a:rPr lang="zh-CN" altLang="en-US" dirty="0">
                <a:effectLst/>
              </a:rPr>
              <a:t>、声音、饮水情况、每个工位的使用时间等，有利于为人们创造舒适的工作生活环境。通过楼宇中能源使用的监控，也可以使人们实时知道各个地方能耗的情况，从而为节能减排提供必要的支撑数据</a:t>
            </a:r>
          </a:p>
          <a:p>
            <a:r>
              <a:rPr lang="zh-CN" altLang="en-US" dirty="0"/>
              <a:t>智能垃圾桶</a:t>
            </a:r>
            <a:endParaRPr lang="en-US" altLang="zh-CN" dirty="0"/>
          </a:p>
          <a:p>
            <a:pPr lvl="1"/>
            <a:r>
              <a:rPr lang="zh-CN" altLang="en-US" dirty="0">
                <a:effectLst/>
              </a:rPr>
              <a:t>目前，在大部分的城市中，为了检查每个垃圾桶是否溢满了，环卫工人需要在每条路线上来回查看。智能垃圾桶可以自动监测垃圾桶内的情况，一旦垃圾量达到一定程度，就会直接预警，环卫工人看到预警消息再去清运垃圾，可以大大减轻他们的工作量</a:t>
            </a:r>
          </a:p>
        </p:txBody>
      </p:sp>
      <p:sp>
        <p:nvSpPr>
          <p:cNvPr id="6" name="灯片编号占位符 4">
            <a:extLst>
              <a:ext uri="{FF2B5EF4-FFF2-40B4-BE49-F238E27FC236}">
                <a16:creationId xmlns:a16="http://schemas.microsoft.com/office/drawing/2014/main" id="{B2BFAACB-00A5-4A0C-92FB-33564FE0AD0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01826657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智慧城市创新应用</a:t>
            </a:r>
            <a:endParaRPr lang="zh-CN" altLang="en-US" dirty="0"/>
          </a:p>
        </p:txBody>
      </p:sp>
      <p:sp>
        <p:nvSpPr>
          <p:cNvPr id="3" name="内容占位符 2"/>
          <p:cNvSpPr>
            <a:spLocks noGrp="1"/>
          </p:cNvSpPr>
          <p:nvPr>
            <p:ph idx="1"/>
          </p:nvPr>
        </p:nvSpPr>
        <p:spPr/>
        <p:txBody>
          <a:bodyPr/>
          <a:lstStyle/>
          <a:p>
            <a:r>
              <a:rPr lang="zh-CN" altLang="en-US" dirty="0"/>
              <a:t>智能井盖</a:t>
            </a:r>
            <a:endParaRPr lang="en-US" altLang="zh-CN" dirty="0"/>
          </a:p>
          <a:p>
            <a:pPr lvl="1"/>
            <a:r>
              <a:rPr lang="zh-CN" altLang="en-US" dirty="0">
                <a:effectLst/>
              </a:rPr>
              <a:t>在城市中，窨井盖子被偷了，或被水冲跑了的事情时常发生，容易发生行人坠落其中的危险。在鸿山小镇，目前有 </a:t>
            </a:r>
            <a:r>
              <a:rPr lang="en-US" altLang="zh-CN" dirty="0">
                <a:effectLst/>
              </a:rPr>
              <a:t>200 </a:t>
            </a:r>
            <a:r>
              <a:rPr lang="zh-CN" altLang="en-US" dirty="0">
                <a:effectLst/>
              </a:rPr>
              <a:t>个智能窨井盖。这批智能窨井盖最大的特点，就是在窨井盖下方带有传感器，只要窨井盖倾斜程度超过 </a:t>
            </a:r>
            <a:r>
              <a:rPr lang="en-US" altLang="zh-CN" dirty="0">
                <a:effectLst/>
              </a:rPr>
              <a:t>30°</a:t>
            </a:r>
            <a:r>
              <a:rPr lang="zh-CN" altLang="en-US" dirty="0">
                <a:effectLst/>
              </a:rPr>
              <a:t>，就会自动报警。如果有人为移动的情况，窨井盖都能及时监测到，避免安全隐患的发生</a:t>
            </a:r>
          </a:p>
          <a:p>
            <a:r>
              <a:rPr lang="zh-CN" altLang="en-US" dirty="0"/>
              <a:t>智能消防</a:t>
            </a:r>
            <a:endParaRPr lang="en-US" altLang="zh-CN" dirty="0"/>
          </a:p>
          <a:p>
            <a:pPr lvl="1"/>
            <a:r>
              <a:rPr lang="zh-CN" altLang="en-US" dirty="0">
                <a:effectLst/>
              </a:rPr>
              <a:t>通过遍布城市的传感器及边缘计算网关，可提早发现火情并预警，自动提醒城管和交警疏散群众。与此同时，水源感知系统可实时调节消防栓所需水压，节省救援准备时间，提升消防人员和受困人员安全系数</a:t>
            </a:r>
            <a:endParaRPr lang="en-US" altLang="zh-CN" dirty="0">
              <a:effectLst/>
            </a:endParaRPr>
          </a:p>
          <a:p>
            <a:pPr lvl="1"/>
            <a:r>
              <a:rPr lang="en-US" altLang="zh-CN" dirty="0">
                <a:effectLst/>
              </a:rPr>
              <a:t>……</a:t>
            </a:r>
          </a:p>
        </p:txBody>
      </p:sp>
      <p:sp>
        <p:nvSpPr>
          <p:cNvPr id="6" name="灯片编号占位符 4">
            <a:extLst>
              <a:ext uri="{FF2B5EF4-FFF2-40B4-BE49-F238E27FC236}">
                <a16:creationId xmlns:a16="http://schemas.microsoft.com/office/drawing/2014/main" id="{3E69BDE3-26E6-4DEC-927F-56500706B17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50388636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智慧城市创新应用</a:t>
            </a:r>
          </a:p>
        </p:txBody>
      </p:sp>
      <p:sp>
        <p:nvSpPr>
          <p:cNvPr id="3" name="内容占位符 2"/>
          <p:cNvSpPr>
            <a:spLocks noGrp="1"/>
          </p:cNvSpPr>
          <p:nvPr>
            <p:ph idx="1"/>
          </p:nvPr>
        </p:nvSpPr>
        <p:spPr/>
        <p:txBody>
          <a:bodyPr/>
          <a:lstStyle/>
          <a:p>
            <a:endParaRPr lang="zh-CN" altLang="en-US"/>
          </a:p>
        </p:txBody>
      </p:sp>
      <p:pic>
        <p:nvPicPr>
          <p:cNvPr id="6" name="图片 5"/>
          <p:cNvPicPr/>
          <p:nvPr/>
        </p:nvPicPr>
        <p:blipFill>
          <a:blip r:embed="rId2"/>
          <a:stretch>
            <a:fillRect/>
          </a:stretch>
        </p:blipFill>
        <p:spPr>
          <a:xfrm>
            <a:off x="320675" y="947209"/>
            <a:ext cx="8502650" cy="5411470"/>
          </a:xfrm>
          <a:prstGeom prst="rect">
            <a:avLst/>
          </a:prstGeom>
        </p:spPr>
      </p:pic>
      <p:sp>
        <p:nvSpPr>
          <p:cNvPr id="5" name="灯片编号占位符 4">
            <a:extLst>
              <a:ext uri="{FF2B5EF4-FFF2-40B4-BE49-F238E27FC236}">
                <a16:creationId xmlns:a16="http://schemas.microsoft.com/office/drawing/2014/main" id="{E5963E3A-F6D2-4D09-8820-B94D8739E99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47137042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智慧城市创新应用</a:t>
            </a:r>
          </a:p>
        </p:txBody>
      </p:sp>
      <p:sp>
        <p:nvSpPr>
          <p:cNvPr id="3" name="内容占位符 2"/>
          <p:cNvSpPr>
            <a:spLocks noGrp="1"/>
          </p:cNvSpPr>
          <p:nvPr>
            <p:ph idx="1"/>
          </p:nvPr>
        </p:nvSpPr>
        <p:spPr/>
        <p:txBody>
          <a:bodyPr/>
          <a:lstStyle/>
          <a:p>
            <a:endParaRPr lang="zh-CN" altLang="en-US"/>
          </a:p>
        </p:txBody>
      </p:sp>
      <p:pic>
        <p:nvPicPr>
          <p:cNvPr id="5" name="图片 4"/>
          <p:cNvPicPr/>
          <p:nvPr/>
        </p:nvPicPr>
        <p:blipFill>
          <a:blip r:embed="rId2"/>
          <a:stretch>
            <a:fillRect/>
          </a:stretch>
        </p:blipFill>
        <p:spPr>
          <a:xfrm>
            <a:off x="288925" y="953030"/>
            <a:ext cx="8566150" cy="5511800"/>
          </a:xfrm>
          <a:prstGeom prst="rect">
            <a:avLst/>
          </a:prstGeom>
        </p:spPr>
      </p:pic>
      <p:sp>
        <p:nvSpPr>
          <p:cNvPr id="6" name="灯片编号占位符 4">
            <a:extLst>
              <a:ext uri="{FF2B5EF4-FFF2-40B4-BE49-F238E27FC236}">
                <a16:creationId xmlns:a16="http://schemas.microsoft.com/office/drawing/2014/main" id="{848EE99B-6585-4D41-B41C-2C3849BCD8F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55563972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智慧城市创新应用</a:t>
            </a:r>
          </a:p>
        </p:txBody>
      </p:sp>
      <p:sp>
        <p:nvSpPr>
          <p:cNvPr id="3" name="内容占位符 2"/>
          <p:cNvSpPr>
            <a:spLocks noGrp="1"/>
          </p:cNvSpPr>
          <p:nvPr>
            <p:ph idx="1"/>
          </p:nvPr>
        </p:nvSpPr>
        <p:spPr/>
        <p:txBody>
          <a:bodyPr/>
          <a:lstStyle/>
          <a:p>
            <a:endParaRPr lang="zh-CN" altLang="en-US"/>
          </a:p>
        </p:txBody>
      </p:sp>
      <p:pic>
        <p:nvPicPr>
          <p:cNvPr id="5" name="图片 4"/>
          <p:cNvPicPr/>
          <p:nvPr/>
        </p:nvPicPr>
        <p:blipFill>
          <a:blip r:embed="rId2"/>
          <a:stretch>
            <a:fillRect/>
          </a:stretch>
        </p:blipFill>
        <p:spPr>
          <a:xfrm>
            <a:off x="237172" y="952500"/>
            <a:ext cx="8669656" cy="5543550"/>
          </a:xfrm>
          <a:prstGeom prst="rect">
            <a:avLst/>
          </a:prstGeom>
        </p:spPr>
      </p:pic>
      <p:sp>
        <p:nvSpPr>
          <p:cNvPr id="6" name="灯片编号占位符 4">
            <a:extLst>
              <a:ext uri="{FF2B5EF4-FFF2-40B4-BE49-F238E27FC236}">
                <a16:creationId xmlns:a16="http://schemas.microsoft.com/office/drawing/2014/main" id="{5084EC64-AD3F-40E3-8A2A-0B0A3BCF4BA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19</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47480711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智慧校园</a:t>
            </a:r>
            <a:r>
              <a:rPr lang="en-US" altLang="zh-CN"/>
              <a:t>——CMU Living Lab</a:t>
            </a:r>
            <a:endParaRPr lang="zh-CN" altLang="en-US" dirty="0"/>
          </a:p>
        </p:txBody>
      </p:sp>
      <p:sp>
        <p:nvSpPr>
          <p:cNvPr id="3" name="内容占位符 2"/>
          <p:cNvSpPr>
            <a:spLocks noGrp="1"/>
          </p:cNvSpPr>
          <p:nvPr>
            <p:ph idx="1"/>
          </p:nvPr>
        </p:nvSpPr>
        <p:spPr/>
        <p:txBody>
          <a:bodyPr/>
          <a:lstStyle/>
          <a:p>
            <a:r>
              <a:rPr lang="zh-CN" altLang="en-US" dirty="0"/>
              <a:t>卡内基梅隆大学的研究者在</a:t>
            </a:r>
            <a:r>
              <a:rPr lang="en-US" altLang="zh-CN" dirty="0"/>
              <a:t>Google</a:t>
            </a:r>
            <a:r>
              <a:rPr lang="zh-CN" altLang="en-US" dirty="0"/>
              <a:t>公司的资助下，开展了一个名为</a:t>
            </a:r>
            <a:r>
              <a:rPr lang="en-US" altLang="zh-CN" dirty="0" err="1">
                <a:solidFill>
                  <a:srgbClr val="C00000"/>
                </a:solidFill>
              </a:rPr>
              <a:t>GIoTTO</a:t>
            </a:r>
            <a:r>
              <a:rPr lang="zh-CN" altLang="en-US" dirty="0"/>
              <a:t>的项目</a:t>
            </a:r>
            <a:endParaRPr lang="en-US" altLang="zh-CN" dirty="0"/>
          </a:p>
          <a:p>
            <a:pPr lvl="1"/>
            <a:r>
              <a:rPr lang="zh-CN" altLang="en-US" dirty="0"/>
              <a:t>该项目旨在创建一个传感器、设备、楼宇互相通信的基础平台，从而将一个大学校园变成一个应用创新实验室（</a:t>
            </a:r>
            <a:r>
              <a:rPr lang="en-US" altLang="zh-CN" dirty="0"/>
              <a:t>Living Lab</a:t>
            </a:r>
            <a:r>
              <a:rPr lang="zh-CN" altLang="en-US" dirty="0"/>
              <a:t>）</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2648524" y="2869197"/>
            <a:ext cx="3846951" cy="3671820"/>
          </a:xfrm>
          <a:prstGeom prst="rect">
            <a:avLst/>
          </a:prstGeom>
        </p:spPr>
      </p:pic>
      <p:sp>
        <p:nvSpPr>
          <p:cNvPr id="7" name="灯片编号占位符 4">
            <a:extLst>
              <a:ext uri="{FF2B5EF4-FFF2-40B4-BE49-F238E27FC236}">
                <a16:creationId xmlns:a16="http://schemas.microsoft.com/office/drawing/2014/main" id="{75FFC75C-8D08-4703-B695-E47BE21F192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63143665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智慧校园</a:t>
            </a:r>
            <a:r>
              <a:rPr lang="en-US" altLang="zh-CN" dirty="0"/>
              <a:t>——CMU Living Lab</a:t>
            </a:r>
            <a:endParaRPr lang="zh-CN" altLang="en-US" dirty="0"/>
          </a:p>
        </p:txBody>
      </p:sp>
      <p:sp>
        <p:nvSpPr>
          <p:cNvPr id="3" name="内容占位符 2"/>
          <p:cNvSpPr>
            <a:spLocks noGrp="1"/>
          </p:cNvSpPr>
          <p:nvPr>
            <p:ph idx="1"/>
          </p:nvPr>
        </p:nvSpPr>
        <p:spPr/>
        <p:txBody>
          <a:bodyPr/>
          <a:lstStyle/>
          <a:p>
            <a:r>
              <a:rPr lang="en-US" altLang="zh-CN" dirty="0" err="1"/>
              <a:t>GIoTTO</a:t>
            </a:r>
            <a:r>
              <a:rPr lang="zh-CN" altLang="en-US" dirty="0"/>
              <a:t>具备四个重要的特点：</a:t>
            </a:r>
          </a:p>
          <a:p>
            <a:pPr lvl="1"/>
            <a:r>
              <a:rPr lang="zh-CN" altLang="en-US" b="1" dirty="0">
                <a:effectLst/>
              </a:rPr>
              <a:t>安全与隐私敏感</a:t>
            </a:r>
            <a:endParaRPr lang="en-US" altLang="zh-CN" b="1" dirty="0">
              <a:effectLst/>
            </a:endParaRPr>
          </a:p>
          <a:p>
            <a:pPr lvl="2"/>
            <a:r>
              <a:rPr lang="en-US" altLang="zh-CN" dirty="0" err="1"/>
              <a:t>GIoTTO</a:t>
            </a:r>
            <a:r>
              <a:rPr lang="zh-CN" altLang="en-US" dirty="0"/>
              <a:t>采用</a:t>
            </a:r>
            <a:r>
              <a:rPr lang="en-US" altLang="zh-CN" dirty="0"/>
              <a:t>OAuth 2.0 </a:t>
            </a:r>
            <a:r>
              <a:rPr lang="zh-CN" altLang="en-US" dirty="0"/>
              <a:t>、</a:t>
            </a:r>
            <a:r>
              <a:rPr lang="en-US" altLang="zh-CN" dirty="0"/>
              <a:t>HTTPS/SSL</a:t>
            </a:r>
            <a:r>
              <a:rPr lang="zh-CN" altLang="en-US" dirty="0"/>
              <a:t>、访问控制层等方法，保护用户隐私</a:t>
            </a:r>
            <a:endParaRPr lang="en-US" altLang="zh-CN" dirty="0"/>
          </a:p>
          <a:p>
            <a:pPr lvl="1"/>
            <a:r>
              <a:rPr lang="zh-CN" altLang="en-US" b="1" dirty="0">
                <a:effectLst/>
              </a:rPr>
              <a:t>面向终端用户可编程</a:t>
            </a:r>
            <a:endParaRPr lang="en-US" altLang="zh-CN" b="1" dirty="0">
              <a:effectLst/>
            </a:endParaRPr>
          </a:p>
          <a:p>
            <a:pPr lvl="2"/>
            <a:r>
              <a:rPr lang="zh-CN" altLang="en-US" dirty="0"/>
              <a:t>用户可以利用</a:t>
            </a:r>
            <a:r>
              <a:rPr lang="en-US" altLang="zh-CN" dirty="0" err="1"/>
              <a:t>GIoTTO</a:t>
            </a:r>
            <a:r>
              <a:rPr lang="zh-CN" altLang="en-US" dirty="0"/>
              <a:t>提供的应用程序编程接口轻松地进行应用程序的开发</a:t>
            </a:r>
            <a:endParaRPr lang="en-US" altLang="zh-CN" dirty="0"/>
          </a:p>
          <a:p>
            <a:pPr lvl="1"/>
            <a:r>
              <a:rPr lang="zh-CN" altLang="en-US" b="1" dirty="0">
                <a:effectLst/>
              </a:rPr>
              <a:t>支持机器学习</a:t>
            </a:r>
            <a:endParaRPr lang="en-US" altLang="zh-CN" b="1" dirty="0">
              <a:effectLst/>
            </a:endParaRPr>
          </a:p>
          <a:p>
            <a:pPr lvl="2"/>
            <a:r>
              <a:rPr lang="zh-CN" altLang="en-US" dirty="0"/>
              <a:t>机器学习在</a:t>
            </a:r>
            <a:r>
              <a:rPr lang="en-US" altLang="zh-CN" dirty="0" err="1"/>
              <a:t>GIoTTO</a:t>
            </a:r>
            <a:r>
              <a:rPr lang="zh-CN" altLang="en-US" dirty="0"/>
              <a:t>中占据很重要的位置，降低了</a:t>
            </a:r>
            <a:r>
              <a:rPr lang="en-US" altLang="zh-CN" dirty="0" err="1"/>
              <a:t>GIoTTO</a:t>
            </a:r>
            <a:r>
              <a:rPr lang="zh-CN" altLang="en-US" dirty="0"/>
              <a:t>的使用难度</a:t>
            </a:r>
            <a:endParaRPr lang="en-US" altLang="zh-CN" dirty="0"/>
          </a:p>
          <a:p>
            <a:pPr lvl="1"/>
            <a:r>
              <a:rPr lang="zh-CN" altLang="en-US" b="1" dirty="0">
                <a:effectLst/>
              </a:rPr>
              <a:t>可广泛部署</a:t>
            </a:r>
            <a:endParaRPr lang="en-US" altLang="zh-CN" b="1" dirty="0">
              <a:effectLst/>
            </a:endParaRPr>
          </a:p>
          <a:p>
            <a:pPr lvl="2"/>
            <a:r>
              <a:rPr lang="en-US" altLang="zh-CN" dirty="0" err="1"/>
              <a:t>GIoTTO</a:t>
            </a:r>
            <a:r>
              <a:rPr lang="en-US" altLang="zh-CN" dirty="0"/>
              <a:t> </a:t>
            </a:r>
            <a:r>
              <a:rPr lang="zh-CN" altLang="en-US" dirty="0"/>
              <a:t>使用 </a:t>
            </a:r>
            <a:r>
              <a:rPr lang="en-US" altLang="zh-CN" dirty="0" err="1"/>
              <a:t>MongoD</a:t>
            </a:r>
            <a:r>
              <a:rPr lang="zh-CN" altLang="en-US" dirty="0"/>
              <a:t>、</a:t>
            </a:r>
            <a:r>
              <a:rPr lang="en-US" altLang="zh-CN" dirty="0" err="1"/>
              <a:t>InfluxDB</a:t>
            </a:r>
            <a:r>
              <a:rPr lang="zh-CN" altLang="en-US" dirty="0"/>
              <a:t>、</a:t>
            </a:r>
            <a:r>
              <a:rPr lang="en-US" altLang="zh-CN" dirty="0"/>
              <a:t>REDIS + REST </a:t>
            </a:r>
            <a:r>
              <a:rPr lang="zh-CN" altLang="en-US" dirty="0"/>
              <a:t>接口的方式，已在 </a:t>
            </a:r>
            <a:r>
              <a:rPr lang="en-US" altLang="zh-CN" dirty="0"/>
              <a:t>55 </a:t>
            </a:r>
            <a:r>
              <a:rPr lang="zh-CN" altLang="en-US" dirty="0"/>
              <a:t>幢建筑物（超过 </a:t>
            </a:r>
            <a:r>
              <a:rPr lang="en-US" altLang="zh-CN" dirty="0"/>
              <a:t>20 </a:t>
            </a:r>
            <a:r>
              <a:rPr lang="zh-CN" altLang="en-US" dirty="0"/>
              <a:t>万个传感器节点）上部署了多个应用</a:t>
            </a:r>
          </a:p>
        </p:txBody>
      </p:sp>
      <p:sp>
        <p:nvSpPr>
          <p:cNvPr id="6" name="灯片编号占位符 4">
            <a:extLst>
              <a:ext uri="{FF2B5EF4-FFF2-40B4-BE49-F238E27FC236}">
                <a16:creationId xmlns:a16="http://schemas.microsoft.com/office/drawing/2014/main" id="{B97829B1-EF7D-4B5F-80D8-AC429D6E0C2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78526622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智慧校园</a:t>
            </a:r>
            <a:r>
              <a:rPr lang="en-US" altLang="zh-CN"/>
              <a:t>——CMU Living Lab</a:t>
            </a:r>
            <a:endParaRPr lang="zh-CN" altLang="en-US" dirty="0"/>
          </a:p>
        </p:txBody>
      </p:sp>
      <p:sp>
        <p:nvSpPr>
          <p:cNvPr id="3" name="内容占位符 2"/>
          <p:cNvSpPr>
            <a:spLocks noGrp="1"/>
          </p:cNvSpPr>
          <p:nvPr>
            <p:ph idx="1"/>
          </p:nvPr>
        </p:nvSpPr>
        <p:spPr/>
        <p:txBody>
          <a:bodyPr/>
          <a:lstStyle/>
          <a:p>
            <a:r>
              <a:rPr lang="zh-CN" altLang="en-US" dirty="0"/>
              <a:t>系统架构</a:t>
            </a:r>
            <a:endParaRPr lang="en-US" altLang="zh-CN" dirty="0"/>
          </a:p>
          <a:p>
            <a:pPr lvl="1"/>
            <a:r>
              <a:rPr lang="zh-CN" altLang="zh-CN" b="1" dirty="0"/>
              <a:t>数据产生层</a:t>
            </a:r>
            <a:r>
              <a:rPr lang="zh-CN" altLang="en-US" dirty="0"/>
              <a:t>：由大量传感器和执行器组成</a:t>
            </a:r>
            <a:endParaRPr lang="en-US" altLang="zh-CN" dirty="0"/>
          </a:p>
          <a:p>
            <a:pPr lvl="1"/>
            <a:r>
              <a:rPr lang="zh-CN" altLang="zh-CN" b="1" dirty="0"/>
              <a:t>数据管理层</a:t>
            </a:r>
            <a:r>
              <a:rPr lang="zh-CN" altLang="en-US" dirty="0"/>
              <a:t>：中心部分，包括数据集成、云与边缘端分析计算、数据控制、机器学习等功能</a:t>
            </a:r>
            <a:endParaRPr lang="en-US" altLang="zh-CN" dirty="0"/>
          </a:p>
          <a:p>
            <a:pPr lvl="1"/>
            <a:r>
              <a:rPr lang="zh-CN" altLang="en-US" b="1" dirty="0"/>
              <a:t>应用程序服务层</a:t>
            </a:r>
            <a:r>
              <a:rPr lang="zh-CN" altLang="en-US" dirty="0"/>
              <a:t>：提供了标准的应用程序编程接口，方便用户开发</a:t>
            </a:r>
            <a:br>
              <a:rPr lang="zh-CN" altLang="en-US" dirty="0"/>
            </a:br>
            <a:endParaRPr lang="zh-CN" altLang="zh-CN" dirty="0"/>
          </a:p>
          <a:p>
            <a:endParaRPr lang="zh-CN" altLang="en-US" dirty="0"/>
          </a:p>
        </p:txBody>
      </p:sp>
      <p:pic>
        <p:nvPicPr>
          <p:cNvPr id="4" name="图片 3">
            <a:extLst>
              <a:ext uri="{FF2B5EF4-FFF2-40B4-BE49-F238E27FC236}">
                <a16:creationId xmlns:a16="http://schemas.microsoft.com/office/drawing/2014/main" id="{9FC4385D-FDDA-436A-A582-FAFE096306BB}"/>
              </a:ext>
            </a:extLst>
          </p:cNvPr>
          <p:cNvPicPr>
            <a:picLocks noChangeAspect="1"/>
          </p:cNvPicPr>
          <p:nvPr/>
        </p:nvPicPr>
        <p:blipFill>
          <a:blip r:embed="rId2"/>
          <a:stretch>
            <a:fillRect/>
          </a:stretch>
        </p:blipFill>
        <p:spPr>
          <a:xfrm>
            <a:off x="1751744" y="3306934"/>
            <a:ext cx="5640512" cy="3133321"/>
          </a:xfrm>
          <a:prstGeom prst="rect">
            <a:avLst/>
          </a:prstGeom>
        </p:spPr>
      </p:pic>
      <p:sp>
        <p:nvSpPr>
          <p:cNvPr id="7" name="灯片编号占位符 4">
            <a:extLst>
              <a:ext uri="{FF2B5EF4-FFF2-40B4-BE49-F238E27FC236}">
                <a16:creationId xmlns:a16="http://schemas.microsoft.com/office/drawing/2014/main" id="{C5F73A35-F759-4C31-9AC6-B44F4085E0C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22470200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数据产生层</a:t>
            </a:r>
            <a:endParaRPr lang="zh-CN" altLang="en-US" dirty="0"/>
          </a:p>
        </p:txBody>
      </p:sp>
      <p:sp>
        <p:nvSpPr>
          <p:cNvPr id="3" name="内容占位符 2"/>
          <p:cNvSpPr>
            <a:spLocks noGrp="1"/>
          </p:cNvSpPr>
          <p:nvPr>
            <p:ph idx="1"/>
          </p:nvPr>
        </p:nvSpPr>
        <p:spPr/>
        <p:txBody>
          <a:bodyPr/>
          <a:lstStyle/>
          <a:p>
            <a:r>
              <a:rPr lang="en-US" altLang="zh-CN" dirty="0" err="1"/>
              <a:t>GIoTTO</a:t>
            </a:r>
            <a:r>
              <a:rPr lang="en-US" altLang="zh-CN" dirty="0"/>
              <a:t> </a:t>
            </a:r>
            <a:r>
              <a:rPr lang="zh-CN" altLang="en-US" dirty="0"/>
              <a:t>支持集成多种传感器，如压力传感器、惯性传感器、声学传感器等</a:t>
            </a:r>
            <a:endParaRPr lang="en-US" altLang="zh-CN" dirty="0"/>
          </a:p>
          <a:p>
            <a:pPr lvl="1"/>
            <a:r>
              <a:rPr lang="zh-CN" altLang="en-US" dirty="0"/>
              <a:t>用户可以根据自己的需要，集成传感器到 </a:t>
            </a:r>
            <a:r>
              <a:rPr lang="en-US" altLang="zh-CN" dirty="0" err="1"/>
              <a:t>GIoTTO</a:t>
            </a:r>
            <a:r>
              <a:rPr lang="en-US" altLang="zh-CN" dirty="0"/>
              <a:t> </a:t>
            </a:r>
            <a:r>
              <a:rPr lang="zh-CN" altLang="en-US" dirty="0"/>
              <a:t>系统中，满足开发应用程序时的各种需求底层传感器产生各种各样源源不断的数据送入 </a:t>
            </a:r>
            <a:r>
              <a:rPr lang="en-US" altLang="zh-CN" dirty="0" err="1"/>
              <a:t>GIoTTO</a:t>
            </a:r>
            <a:r>
              <a:rPr lang="en-US" altLang="zh-CN" dirty="0"/>
              <a:t> </a:t>
            </a:r>
            <a:r>
              <a:rPr lang="zh-CN" altLang="en-US" dirty="0"/>
              <a:t>中对应的数据服务器中，等待用户读取使用</a:t>
            </a:r>
            <a:br>
              <a:rPr lang="zh-CN" altLang="en-US" dirty="0"/>
            </a:br>
            <a:br>
              <a:rPr lang="zh-CN" altLang="en-US" dirty="0"/>
            </a:br>
            <a:endParaRPr lang="zh-CN" altLang="zh-CN" dirty="0"/>
          </a:p>
        </p:txBody>
      </p:sp>
      <p:pic>
        <p:nvPicPr>
          <p:cNvPr id="5" name="Picture 2" descr="https://timgsa.baidu.com/timg?image&amp;quality=80&amp;size=b9999_10000&amp;sec=1558022569484&amp;di=dbbed430ac63b8042df4107abea9338b&amp;imgtype=0&amp;src=http%3A%2F%2Fimg-xz.100szy.com%2Fxinzhi_thumb%2F1516241810658.jpg">
            <a:extLst>
              <a:ext uri="{FF2B5EF4-FFF2-40B4-BE49-F238E27FC236}">
                <a16:creationId xmlns:a16="http://schemas.microsoft.com/office/drawing/2014/main" id="{C41C769E-AFC6-49CF-8683-E920CFED4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5236" y="3336104"/>
            <a:ext cx="6132815" cy="3066408"/>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4">
            <a:extLst>
              <a:ext uri="{FF2B5EF4-FFF2-40B4-BE49-F238E27FC236}">
                <a16:creationId xmlns:a16="http://schemas.microsoft.com/office/drawing/2014/main" id="{AD29F3BF-B2A3-448F-A747-13C902242CE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23</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18563635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数据管理层</a:t>
            </a:r>
          </a:p>
        </p:txBody>
      </p:sp>
      <p:sp>
        <p:nvSpPr>
          <p:cNvPr id="3" name="内容占位符 2"/>
          <p:cNvSpPr>
            <a:spLocks noGrp="1"/>
          </p:cNvSpPr>
          <p:nvPr>
            <p:ph idx="1"/>
          </p:nvPr>
        </p:nvSpPr>
        <p:spPr/>
        <p:txBody>
          <a:bodyPr/>
          <a:lstStyle/>
          <a:p>
            <a:r>
              <a:rPr lang="zh-CN" altLang="en-US" dirty="0"/>
              <a:t>连接器：</a:t>
            </a:r>
            <a:r>
              <a:rPr lang="zh-CN" altLang="zh-CN" b="0" dirty="0"/>
              <a:t>实现各种物联网设备和</a:t>
            </a:r>
            <a:r>
              <a:rPr lang="en-US" altLang="zh-CN" b="0" dirty="0" err="1"/>
              <a:t>GIoTTO</a:t>
            </a:r>
            <a:r>
              <a:rPr lang="zh-CN" altLang="zh-CN" b="0" dirty="0"/>
              <a:t>之间的通信</a:t>
            </a:r>
            <a:endParaRPr lang="en-US" altLang="zh-CN" b="0" dirty="0"/>
          </a:p>
          <a:p>
            <a:r>
              <a:rPr lang="zh-CN" altLang="zh-CN" dirty="0"/>
              <a:t>数据服务器</a:t>
            </a:r>
            <a:r>
              <a:rPr lang="zh-CN" altLang="en-US" dirty="0"/>
              <a:t>：</a:t>
            </a:r>
            <a:r>
              <a:rPr lang="zh-CN" altLang="zh-CN" b="0" dirty="0"/>
              <a:t>利用时序数据库</a:t>
            </a:r>
            <a:r>
              <a:rPr lang="en-US" altLang="zh-CN" b="0" dirty="0" err="1"/>
              <a:t>InfluxDB</a:t>
            </a:r>
            <a:r>
              <a:rPr lang="zh-CN" altLang="zh-CN" b="0" dirty="0"/>
              <a:t>存储并管理数据</a:t>
            </a:r>
            <a:endParaRPr lang="en-US" altLang="zh-CN" b="0" dirty="0"/>
          </a:p>
          <a:p>
            <a:r>
              <a:rPr lang="zh-CN" altLang="zh-CN" dirty="0"/>
              <a:t>中心服务器</a:t>
            </a:r>
            <a:r>
              <a:rPr lang="zh-CN" altLang="en-US" dirty="0"/>
              <a:t>：</a:t>
            </a:r>
            <a:r>
              <a:rPr lang="zh-CN" altLang="zh-CN" b="0" dirty="0"/>
              <a:t>数据管理层的核心</a:t>
            </a:r>
            <a:r>
              <a:rPr lang="zh-CN" altLang="en-US" b="0" dirty="0"/>
              <a:t>；</a:t>
            </a:r>
            <a:r>
              <a:rPr lang="zh-CN" altLang="zh-CN" b="0" dirty="0"/>
              <a:t>在</a:t>
            </a:r>
            <a:r>
              <a:rPr lang="en-US" altLang="zh-CN" b="0" dirty="0"/>
              <a:t>MongoDB</a:t>
            </a:r>
            <a:r>
              <a:rPr lang="zh-CN" altLang="zh-CN" b="0" dirty="0"/>
              <a:t>上托管了传感器列表、用户列表、建筑物结构列表（例如建筑物的楼层、房间号等）、访问控制列表等信息</a:t>
            </a:r>
            <a:endParaRPr lang="en-US" altLang="zh-CN" b="0" dirty="0"/>
          </a:p>
          <a:p>
            <a:pPr marL="0" indent="0">
              <a:buNone/>
            </a:pPr>
            <a:br>
              <a:rPr lang="zh-CN" altLang="en-US" dirty="0"/>
            </a:br>
            <a:br>
              <a:rPr lang="zh-CN" altLang="en-US" dirty="0"/>
            </a:br>
            <a:endParaRPr lang="zh-CN" altLang="zh-CN" dirty="0"/>
          </a:p>
        </p:txBody>
      </p:sp>
      <p:pic>
        <p:nvPicPr>
          <p:cNvPr id="6" name="图片 5">
            <a:extLst>
              <a:ext uri="{FF2B5EF4-FFF2-40B4-BE49-F238E27FC236}">
                <a16:creationId xmlns:a16="http://schemas.microsoft.com/office/drawing/2014/main" id="{67D58CB3-53B7-4C45-B6AE-3B5E72E396B2}"/>
              </a:ext>
            </a:extLst>
          </p:cNvPr>
          <p:cNvPicPr/>
          <p:nvPr/>
        </p:nvPicPr>
        <p:blipFill rotWithShape="1">
          <a:blip r:embed="rId2">
            <a:extLst>
              <a:ext uri="{28A0092B-C50C-407E-A947-70E740481C1C}">
                <a14:useLocalDpi xmlns:a14="http://schemas.microsoft.com/office/drawing/2010/main" val="0"/>
              </a:ext>
            </a:extLst>
          </a:blip>
          <a:srcRect l="11470" t="7662" b="5196"/>
          <a:stretch/>
        </p:blipFill>
        <p:spPr bwMode="auto">
          <a:xfrm>
            <a:off x="1902691" y="3429000"/>
            <a:ext cx="5735751" cy="3300417"/>
          </a:xfrm>
          <a:prstGeom prst="rect">
            <a:avLst/>
          </a:prstGeom>
          <a:ln>
            <a:noFill/>
          </a:ln>
          <a:extLst>
            <a:ext uri="{53640926-AAD7-44D8-BBD7-CCE9431645EC}">
              <a14:shadowObscured xmlns:a14="http://schemas.microsoft.com/office/drawing/2010/main"/>
            </a:ext>
          </a:extLst>
        </p:spPr>
      </p:pic>
      <p:sp>
        <p:nvSpPr>
          <p:cNvPr id="7" name="灯片编号占位符 4">
            <a:extLst>
              <a:ext uri="{FF2B5EF4-FFF2-40B4-BE49-F238E27FC236}">
                <a16:creationId xmlns:a16="http://schemas.microsoft.com/office/drawing/2014/main" id="{867D1BD3-487C-4604-A462-7D8A7DB9219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25318589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数据管理层</a:t>
            </a:r>
            <a:endParaRPr lang="zh-CN" altLang="en-US" dirty="0"/>
          </a:p>
        </p:txBody>
      </p:sp>
      <p:sp>
        <p:nvSpPr>
          <p:cNvPr id="3" name="内容占位符 2"/>
          <p:cNvSpPr>
            <a:spLocks noGrp="1"/>
          </p:cNvSpPr>
          <p:nvPr>
            <p:ph idx="1"/>
          </p:nvPr>
        </p:nvSpPr>
        <p:spPr/>
        <p:txBody>
          <a:bodyPr/>
          <a:lstStyle/>
          <a:p>
            <a:r>
              <a:rPr lang="zh-CN" altLang="en-US" dirty="0"/>
              <a:t>机器学习层：</a:t>
            </a:r>
            <a:r>
              <a:rPr lang="zh-CN" altLang="en-US" b="0" dirty="0"/>
              <a:t>是</a:t>
            </a:r>
            <a:r>
              <a:rPr lang="en-US" altLang="zh-CN" b="0" dirty="0" err="1"/>
              <a:t>GIoTTO</a:t>
            </a:r>
            <a:r>
              <a:rPr lang="zh-CN" altLang="en-US" b="0" dirty="0"/>
              <a:t>的一大亮点，使用监督学习的方式，帮助用户轻松地使用传感器数据</a:t>
            </a:r>
            <a:endParaRPr lang="en-US" altLang="zh-CN" b="0" dirty="0"/>
          </a:p>
          <a:p>
            <a:endParaRPr lang="en-US" altLang="zh-CN" b="0" dirty="0"/>
          </a:p>
          <a:p>
            <a:endParaRPr lang="en-US" altLang="zh-CN" b="0" dirty="0"/>
          </a:p>
          <a:p>
            <a:endParaRPr lang="en-US" altLang="zh-CN" b="0" dirty="0"/>
          </a:p>
          <a:p>
            <a:endParaRPr lang="en-US" altLang="zh-CN" b="0" dirty="0"/>
          </a:p>
          <a:p>
            <a:endParaRPr lang="en-US" altLang="zh-CN" sz="3200" b="0" dirty="0"/>
          </a:p>
          <a:p>
            <a:pPr lvl="1"/>
            <a:r>
              <a:rPr lang="zh-CN" altLang="en-US" dirty="0"/>
              <a:t>机器学习层使用分类算法隐藏了许多传感器细节，用户只需根据常识选择一些可能适用的传感器进行应用开发，不必纠结选择何种传感器、如何确定传感器数据阈值等细节，</a:t>
            </a:r>
            <a:r>
              <a:rPr lang="zh-CN" altLang="en-US" dirty="0">
                <a:solidFill>
                  <a:srgbClr val="C00000"/>
                </a:solidFill>
              </a:rPr>
              <a:t>极大地降低了用户开发的难度</a:t>
            </a:r>
          </a:p>
        </p:txBody>
      </p:sp>
      <p:pic>
        <p:nvPicPr>
          <p:cNvPr id="5" name="图片 4">
            <a:extLst>
              <a:ext uri="{FF2B5EF4-FFF2-40B4-BE49-F238E27FC236}">
                <a16:creationId xmlns:a16="http://schemas.microsoft.com/office/drawing/2014/main" id="{52ADDF02-236D-40E1-AE0B-CFDAE2C57F00}"/>
              </a:ext>
            </a:extLst>
          </p:cNvPr>
          <p:cNvPicPr>
            <a:picLocks noChangeAspect="1"/>
          </p:cNvPicPr>
          <p:nvPr/>
        </p:nvPicPr>
        <p:blipFill>
          <a:blip r:embed="rId3"/>
          <a:stretch>
            <a:fillRect/>
          </a:stretch>
        </p:blipFill>
        <p:spPr>
          <a:xfrm>
            <a:off x="623455" y="1987589"/>
            <a:ext cx="3728381" cy="2677656"/>
          </a:xfrm>
          <a:prstGeom prst="rect">
            <a:avLst/>
          </a:prstGeom>
        </p:spPr>
      </p:pic>
      <p:sp>
        <p:nvSpPr>
          <p:cNvPr id="8" name="文本框 7">
            <a:extLst>
              <a:ext uri="{FF2B5EF4-FFF2-40B4-BE49-F238E27FC236}">
                <a16:creationId xmlns:a16="http://schemas.microsoft.com/office/drawing/2014/main" id="{E50993FD-7864-4045-B14C-F0CEBF86C8B3}"/>
              </a:ext>
            </a:extLst>
          </p:cNvPr>
          <p:cNvSpPr txBox="1"/>
          <p:nvPr/>
        </p:nvSpPr>
        <p:spPr>
          <a:xfrm>
            <a:off x="4351836" y="2110908"/>
            <a:ext cx="4450954" cy="2350900"/>
          </a:xfrm>
          <a:prstGeom prst="rect">
            <a:avLst/>
          </a:prstGeom>
          <a:noFill/>
        </p:spPr>
        <p:txBody>
          <a:bodyPr wrap="square" rtlCol="0">
            <a:spAutoFit/>
          </a:bodyPr>
          <a:lstStyle/>
          <a:p>
            <a:pPr marL="342900" indent="-342900">
              <a:lnSpc>
                <a:spcPct val="120000"/>
              </a:lnSpc>
              <a:buClr>
                <a:srgbClr val="C00000"/>
              </a:buClr>
              <a:buFont typeface="Wingdings" panose="05000000000000000000" pitchFamily="2" charset="2"/>
              <a:buChar char="Ø"/>
            </a:pPr>
            <a:r>
              <a:rPr lang="zh-CN" altLang="en-US" b="1" baseline="0" dirty="0">
                <a:latin typeface="+mj-ea"/>
                <a:ea typeface="+mj-ea"/>
              </a:rPr>
              <a:t>机器学习层工作过程</a:t>
            </a:r>
            <a:endParaRPr lang="en-US" altLang="zh-CN" b="1" baseline="0" dirty="0">
              <a:latin typeface="+mj-ea"/>
              <a:ea typeface="+mj-ea"/>
            </a:endParaRPr>
          </a:p>
          <a:p>
            <a:pPr marL="800100" lvl="1" indent="-342900">
              <a:lnSpc>
                <a:spcPct val="120000"/>
              </a:lnSpc>
              <a:buClr>
                <a:srgbClr val="C00000"/>
              </a:buClr>
              <a:buFont typeface="Wingdings" panose="05000000000000000000" pitchFamily="2" charset="2"/>
              <a:buChar char="l"/>
            </a:pPr>
            <a:r>
              <a:rPr lang="zh-CN" altLang="en-US" sz="2000" baseline="0" dirty="0">
                <a:latin typeface="+mj-ea"/>
                <a:ea typeface="+mj-ea"/>
              </a:rPr>
              <a:t>用户选择特定数据</a:t>
            </a:r>
            <a:r>
              <a:rPr lang="zh-CN" altLang="en-US" sz="2000" baseline="0" dirty="0">
                <a:solidFill>
                  <a:srgbClr val="C00000"/>
                </a:solidFill>
                <a:latin typeface="+mj-ea"/>
                <a:ea typeface="+mj-ea"/>
              </a:rPr>
              <a:t>打标签</a:t>
            </a:r>
            <a:endParaRPr lang="en-US" altLang="zh-CN" sz="2000" baseline="0" dirty="0">
              <a:solidFill>
                <a:srgbClr val="C00000"/>
              </a:solidFill>
              <a:latin typeface="+mj-ea"/>
              <a:ea typeface="+mj-ea"/>
            </a:endParaRPr>
          </a:p>
          <a:p>
            <a:pPr marL="800100" lvl="1" indent="-342900">
              <a:lnSpc>
                <a:spcPct val="120000"/>
              </a:lnSpc>
              <a:buClr>
                <a:srgbClr val="C00000"/>
              </a:buClr>
              <a:buFont typeface="Wingdings" panose="05000000000000000000" pitchFamily="2" charset="2"/>
              <a:buChar char="l"/>
            </a:pPr>
            <a:r>
              <a:rPr lang="zh-CN" altLang="en-US" sz="2000" baseline="0" dirty="0">
                <a:latin typeface="+mj-ea"/>
                <a:ea typeface="+mj-ea"/>
              </a:rPr>
              <a:t>机器学习层</a:t>
            </a:r>
            <a:r>
              <a:rPr lang="zh-CN" altLang="en-US" sz="2000" baseline="0" dirty="0">
                <a:solidFill>
                  <a:srgbClr val="C00000"/>
                </a:solidFill>
                <a:latin typeface="+mj-ea"/>
                <a:ea typeface="+mj-ea"/>
              </a:rPr>
              <a:t>训练分类器</a:t>
            </a:r>
            <a:r>
              <a:rPr lang="zh-CN" altLang="en-US" sz="2000" baseline="0" dirty="0">
                <a:latin typeface="+mj-ea"/>
                <a:ea typeface="+mj-ea"/>
              </a:rPr>
              <a:t>，得到虚拟传感器</a:t>
            </a:r>
            <a:endParaRPr lang="en-US" altLang="zh-CN" sz="2000" baseline="0" dirty="0">
              <a:latin typeface="+mj-ea"/>
              <a:ea typeface="+mj-ea"/>
            </a:endParaRPr>
          </a:p>
          <a:p>
            <a:pPr marL="800100" lvl="1" indent="-342900">
              <a:lnSpc>
                <a:spcPct val="120000"/>
              </a:lnSpc>
              <a:buClr>
                <a:srgbClr val="C00000"/>
              </a:buClr>
              <a:buFont typeface="Wingdings" panose="05000000000000000000" pitchFamily="2" charset="2"/>
              <a:buChar char="l"/>
            </a:pPr>
            <a:r>
              <a:rPr lang="zh-CN" altLang="en-US" sz="2000" baseline="0" dirty="0">
                <a:latin typeface="+mj-ea"/>
                <a:ea typeface="+mj-ea"/>
              </a:rPr>
              <a:t>虚拟传感器</a:t>
            </a:r>
            <a:r>
              <a:rPr lang="zh-CN" altLang="en-US" sz="2000" baseline="0" dirty="0">
                <a:solidFill>
                  <a:srgbClr val="C00000"/>
                </a:solidFill>
                <a:latin typeface="+mj-ea"/>
                <a:ea typeface="+mj-ea"/>
              </a:rPr>
              <a:t>实时分类</a:t>
            </a:r>
            <a:r>
              <a:rPr lang="zh-CN" altLang="en-US" sz="2000" baseline="0" dirty="0">
                <a:latin typeface="+mj-ea"/>
                <a:ea typeface="+mj-ea"/>
              </a:rPr>
              <a:t>，进行</a:t>
            </a:r>
            <a:r>
              <a:rPr lang="zh-CN" altLang="en-US" sz="2000" baseline="0" dirty="0">
                <a:solidFill>
                  <a:srgbClr val="C00000"/>
                </a:solidFill>
                <a:latin typeface="+mj-ea"/>
                <a:ea typeface="+mj-ea"/>
              </a:rPr>
              <a:t>状态监测</a:t>
            </a:r>
          </a:p>
        </p:txBody>
      </p:sp>
    </p:spTree>
    <p:extLst>
      <p:ext uri="{BB962C8B-B14F-4D97-AF65-F5344CB8AC3E}">
        <p14:creationId xmlns:p14="http://schemas.microsoft.com/office/powerpoint/2010/main" val="397292210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应用程序服务层</a:t>
            </a:r>
          </a:p>
        </p:txBody>
      </p:sp>
      <p:sp>
        <p:nvSpPr>
          <p:cNvPr id="3" name="内容占位符 2"/>
          <p:cNvSpPr>
            <a:spLocks noGrp="1"/>
          </p:cNvSpPr>
          <p:nvPr>
            <p:ph idx="1"/>
          </p:nvPr>
        </p:nvSpPr>
        <p:spPr/>
        <p:txBody>
          <a:bodyPr/>
          <a:lstStyle/>
          <a:p>
            <a:r>
              <a:rPr lang="en-US" altLang="zh-CN" dirty="0" err="1"/>
              <a:t>GIoTTO</a:t>
            </a:r>
            <a:r>
              <a:rPr lang="zh-CN" altLang="en-US" dirty="0"/>
              <a:t>提供了标准的应用程序编程接口帮助用户轻松构建应用程序</a:t>
            </a:r>
            <a:endParaRPr lang="en-US" altLang="zh-CN" dirty="0"/>
          </a:p>
          <a:p>
            <a:pPr lvl="1"/>
            <a:r>
              <a:rPr lang="zh-CN" altLang="en-US" dirty="0"/>
              <a:t>开发应用程序的时候，用户不需要关心通信协议、数据格式等细节</a:t>
            </a:r>
            <a:endParaRPr lang="en-US" altLang="zh-CN" dirty="0"/>
          </a:p>
          <a:p>
            <a:pPr lvl="1"/>
            <a:r>
              <a:rPr lang="zh-CN" altLang="en-US" dirty="0"/>
              <a:t>用户选择时间间隔和数据粒度，通过系统提供的接口访问数据服务器中的时序数据</a:t>
            </a:r>
            <a:endParaRPr lang="en-US" altLang="zh-CN" dirty="0"/>
          </a:p>
          <a:p>
            <a:pPr lvl="1"/>
            <a:r>
              <a:rPr lang="zh-CN" altLang="en-US" dirty="0"/>
              <a:t>这种访问形式不仅简化了用户操作，还有利于保护数据安全</a:t>
            </a:r>
            <a:br>
              <a:rPr lang="zh-CN" altLang="en-US" dirty="0"/>
            </a:br>
            <a:endParaRPr lang="zh-CN" altLang="en-US" dirty="0"/>
          </a:p>
        </p:txBody>
      </p:sp>
      <p:pic>
        <p:nvPicPr>
          <p:cNvPr id="5122" name="Picture 2" descr="https://timgsa.baidu.com/timg?image&amp;quality=80&amp;size=b9999_10000&amp;sec=1558023850422&amp;di=bed72fc41fa10d8e49b0320fcae1bc36&amp;imgtype=0&amp;src=http%3A%2F%2Fa2.att.hudong.com%2F63%2F76%2F20300542655748145387761994911.jpg">
            <a:extLst>
              <a:ext uri="{FF2B5EF4-FFF2-40B4-BE49-F238E27FC236}">
                <a16:creationId xmlns:a16="http://schemas.microsoft.com/office/drawing/2014/main" id="{1BF56645-E49C-4FCD-BDC8-A2C8050C09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505" y="3690081"/>
            <a:ext cx="6405014" cy="2438400"/>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4">
            <a:extLst>
              <a:ext uri="{FF2B5EF4-FFF2-40B4-BE49-F238E27FC236}">
                <a16:creationId xmlns:a16="http://schemas.microsoft.com/office/drawing/2014/main" id="{B019B088-EBFF-4CC0-A681-E0C3F29B500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51152760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安全与隐私</a:t>
            </a:r>
          </a:p>
        </p:txBody>
      </p:sp>
      <p:sp>
        <p:nvSpPr>
          <p:cNvPr id="3" name="内容占位符 2"/>
          <p:cNvSpPr>
            <a:spLocks noGrp="1"/>
          </p:cNvSpPr>
          <p:nvPr>
            <p:ph idx="1"/>
          </p:nvPr>
        </p:nvSpPr>
        <p:spPr/>
        <p:txBody>
          <a:bodyPr/>
          <a:lstStyle/>
          <a:p>
            <a:pPr>
              <a:spcBef>
                <a:spcPts val="0"/>
              </a:spcBef>
            </a:pPr>
            <a:r>
              <a:rPr lang="en-US" altLang="zh-CN" dirty="0"/>
              <a:t>HTTPS</a:t>
            </a:r>
          </a:p>
          <a:p>
            <a:pPr lvl="1">
              <a:spcBef>
                <a:spcPts val="0"/>
              </a:spcBef>
            </a:pPr>
            <a:r>
              <a:rPr lang="zh-CN" altLang="en-US" dirty="0">
                <a:effectLst/>
              </a:rPr>
              <a:t>用户与 </a:t>
            </a:r>
            <a:r>
              <a:rPr lang="en-US" altLang="zh-CN" dirty="0" err="1">
                <a:effectLst/>
              </a:rPr>
              <a:t>GIoTTO</a:t>
            </a:r>
            <a:r>
              <a:rPr lang="en-US" altLang="zh-CN" dirty="0">
                <a:effectLst/>
              </a:rPr>
              <a:t> </a:t>
            </a:r>
            <a:r>
              <a:rPr lang="zh-CN" altLang="en-US" dirty="0">
                <a:effectLst/>
              </a:rPr>
              <a:t>的通信建立在以</a:t>
            </a:r>
            <a:r>
              <a:rPr lang="en-US" altLang="zh-CN" dirty="0">
                <a:effectLst/>
              </a:rPr>
              <a:t>HTTPS </a:t>
            </a:r>
            <a:r>
              <a:rPr lang="zh-CN" altLang="en-US" dirty="0">
                <a:effectLst/>
              </a:rPr>
              <a:t>为基础的加密连接上</a:t>
            </a:r>
            <a:endParaRPr lang="en-US" altLang="zh-CN" dirty="0">
              <a:effectLst/>
            </a:endParaRPr>
          </a:p>
          <a:p>
            <a:pPr>
              <a:spcBef>
                <a:spcPts val="0"/>
              </a:spcBef>
            </a:pPr>
            <a:r>
              <a:rPr lang="en-US" altLang="zh-CN" dirty="0"/>
              <a:t>OAuth 2.0 </a:t>
            </a:r>
          </a:p>
          <a:p>
            <a:pPr lvl="1">
              <a:spcBef>
                <a:spcPts val="0"/>
              </a:spcBef>
            </a:pPr>
            <a:r>
              <a:rPr lang="zh-CN" altLang="en-US" dirty="0">
                <a:effectLst/>
              </a:rPr>
              <a:t>使用 </a:t>
            </a:r>
            <a:r>
              <a:rPr lang="en-US" altLang="zh-CN" dirty="0">
                <a:effectLst/>
              </a:rPr>
              <a:t>OAuth 2.0 </a:t>
            </a:r>
            <a:r>
              <a:rPr lang="zh-CN" altLang="en-US" dirty="0">
                <a:effectLst/>
              </a:rPr>
              <a:t>协议进行用户认证与授权 </a:t>
            </a:r>
            <a:endParaRPr lang="en-US" altLang="zh-CN" dirty="0">
              <a:effectLst/>
            </a:endParaRPr>
          </a:p>
          <a:p>
            <a:pPr>
              <a:spcBef>
                <a:spcPts val="0"/>
              </a:spcBef>
            </a:pPr>
            <a:r>
              <a:rPr lang="zh-CN" altLang="en-US" dirty="0"/>
              <a:t>访问控制层 </a:t>
            </a:r>
            <a:endParaRPr lang="en-US" altLang="zh-CN" dirty="0"/>
          </a:p>
          <a:p>
            <a:pPr lvl="1">
              <a:spcBef>
                <a:spcPts val="0"/>
              </a:spcBef>
            </a:pPr>
            <a:r>
              <a:rPr lang="zh-CN" altLang="en-US" dirty="0">
                <a:effectLst/>
              </a:rPr>
              <a:t>使用访问控制层进行访问控制，实现数据安全保护</a:t>
            </a:r>
            <a:endParaRPr lang="en-US" altLang="zh-CN" dirty="0">
              <a:effectLst/>
            </a:endParaRPr>
          </a:p>
          <a:p>
            <a:pPr lvl="1">
              <a:spcBef>
                <a:spcPts val="0"/>
              </a:spcBef>
            </a:pPr>
            <a:r>
              <a:rPr lang="zh-CN" altLang="en-US" dirty="0">
                <a:effectLst/>
              </a:rPr>
              <a:t>两种用户类型：管理员和普通用户</a:t>
            </a:r>
            <a:br>
              <a:rPr lang="zh-CN" altLang="en-US" dirty="0">
                <a:effectLst/>
              </a:rPr>
            </a:br>
            <a:br>
              <a:rPr lang="zh-CN" altLang="en-US" dirty="0">
                <a:effectLst/>
              </a:rPr>
            </a:br>
            <a:br>
              <a:rPr lang="zh-CN" altLang="en-US" dirty="0"/>
            </a:br>
            <a:endParaRPr lang="zh-CN" altLang="en-US" dirty="0"/>
          </a:p>
        </p:txBody>
      </p:sp>
      <p:pic>
        <p:nvPicPr>
          <p:cNvPr id="4" name="图片 3">
            <a:extLst>
              <a:ext uri="{FF2B5EF4-FFF2-40B4-BE49-F238E27FC236}">
                <a16:creationId xmlns:a16="http://schemas.microsoft.com/office/drawing/2014/main" id="{968F22E1-A469-4FF8-A443-3DC5CC4E95F0}"/>
              </a:ext>
            </a:extLst>
          </p:cNvPr>
          <p:cNvPicPr>
            <a:picLocks noChangeAspect="1"/>
          </p:cNvPicPr>
          <p:nvPr/>
        </p:nvPicPr>
        <p:blipFill>
          <a:blip r:embed="rId2"/>
          <a:stretch>
            <a:fillRect/>
          </a:stretch>
        </p:blipFill>
        <p:spPr>
          <a:xfrm>
            <a:off x="2505255" y="3879855"/>
            <a:ext cx="4019189" cy="2843802"/>
          </a:xfrm>
          <a:prstGeom prst="rect">
            <a:avLst/>
          </a:prstGeom>
        </p:spPr>
      </p:pic>
      <p:sp>
        <p:nvSpPr>
          <p:cNvPr id="7" name="灯片编号占位符 4">
            <a:extLst>
              <a:ext uri="{FF2B5EF4-FFF2-40B4-BE49-F238E27FC236}">
                <a16:creationId xmlns:a16="http://schemas.microsoft.com/office/drawing/2014/main" id="{1017683E-DB6C-409D-870C-E27F38521E3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83295892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开发流程</a:t>
            </a:r>
            <a:endParaRPr lang="zh-CN" altLang="en-US" dirty="0"/>
          </a:p>
        </p:txBody>
      </p:sp>
      <p:sp>
        <p:nvSpPr>
          <p:cNvPr id="3" name="内容占位符 2"/>
          <p:cNvSpPr>
            <a:spLocks noGrp="1"/>
          </p:cNvSpPr>
          <p:nvPr>
            <p:ph idx="1"/>
          </p:nvPr>
        </p:nvSpPr>
        <p:spPr/>
        <p:txBody>
          <a:bodyPr/>
          <a:lstStyle/>
          <a:p>
            <a:r>
              <a:rPr lang="zh-CN" altLang="en-US" dirty="0"/>
              <a:t>案例：帮助学生查找安静且有空闲座位的教室的应用程序</a:t>
            </a:r>
            <a:endParaRPr lang="en-US" altLang="zh-CN" dirty="0"/>
          </a:p>
          <a:p>
            <a:r>
              <a:rPr lang="zh-CN" altLang="en-US" dirty="0"/>
              <a:t>所需传感器：声音传感器、加速度计</a:t>
            </a:r>
            <a:endParaRPr lang="en-US" altLang="zh-CN" dirty="0"/>
          </a:p>
          <a:p>
            <a:r>
              <a:rPr lang="zh-CN" altLang="en-US" dirty="0"/>
              <a:t>流程</a:t>
            </a:r>
            <a:endParaRPr lang="en-US" altLang="zh-CN" dirty="0"/>
          </a:p>
          <a:p>
            <a:pPr marL="914400" lvl="1" indent="-457200">
              <a:buFont typeface="+mj-ea"/>
              <a:buAutoNum type="circleNumDbPlain"/>
            </a:pPr>
            <a:r>
              <a:rPr lang="zh-CN" altLang="en-US" dirty="0">
                <a:effectLst/>
              </a:rPr>
              <a:t>实现虚拟分贝计。训练声音传感器收集的声音数据，区分环境的嘈杂</a:t>
            </a:r>
            <a:r>
              <a:rPr lang="en-US" altLang="zh-CN" dirty="0">
                <a:effectLst/>
              </a:rPr>
              <a:t>/</a:t>
            </a:r>
            <a:r>
              <a:rPr lang="zh-CN" altLang="en-US" dirty="0">
                <a:effectLst/>
              </a:rPr>
              <a:t>安静</a:t>
            </a:r>
            <a:endParaRPr lang="en-US" altLang="zh-CN" dirty="0">
              <a:effectLst/>
            </a:endParaRPr>
          </a:p>
          <a:p>
            <a:pPr marL="914400" lvl="1" indent="-457200">
              <a:buFont typeface="+mj-ea"/>
              <a:buAutoNum type="circleNumDbPlain"/>
            </a:pPr>
            <a:r>
              <a:rPr lang="zh-CN" altLang="en-US" dirty="0">
                <a:effectLst/>
              </a:rPr>
              <a:t>实现座位占用虚拟传感器。训练安装在座椅上的加速度计收集的数据，区分座椅上是否有人</a:t>
            </a:r>
            <a:endParaRPr lang="en-US" altLang="zh-CN" dirty="0">
              <a:effectLst/>
            </a:endParaRPr>
          </a:p>
          <a:p>
            <a:pPr marL="914400" lvl="1" indent="-457200">
              <a:buFont typeface="+mj-ea"/>
              <a:buAutoNum type="circleNumDbPlain"/>
            </a:pPr>
            <a:r>
              <a:rPr lang="zh-CN" altLang="en-US" dirty="0">
                <a:effectLst/>
              </a:rPr>
              <a:t>实现最终的安静环境下空闲座位的虚拟传感器。结合前两步得到的分贝计以及座位占用传感器，达到检测安静环境下空闲座位的目的 </a:t>
            </a:r>
            <a:endParaRPr lang="en-US" altLang="zh-CN" dirty="0">
              <a:effectLst/>
            </a:endParaRPr>
          </a:p>
          <a:p>
            <a:pPr marL="914400" lvl="1" indent="-457200">
              <a:buFont typeface="+mj-ea"/>
              <a:buAutoNum type="circleNumDbPlain"/>
            </a:pPr>
            <a:r>
              <a:rPr lang="zh-CN" altLang="en-US" dirty="0">
                <a:effectLst/>
              </a:rPr>
              <a:t>终端用户编程。开发人员根据得到的虚拟传感器数据开发应用程序，帮助学生寻找安静环境下的空闲座位</a:t>
            </a:r>
            <a:br>
              <a:rPr lang="zh-CN" altLang="en-US" dirty="0"/>
            </a:br>
            <a:br>
              <a:rPr lang="zh-CN" altLang="en-US" dirty="0"/>
            </a:br>
            <a:br>
              <a:rPr lang="zh-CN" altLang="en-US" dirty="0"/>
            </a:br>
            <a:endParaRPr lang="zh-CN" altLang="en-US" dirty="0"/>
          </a:p>
        </p:txBody>
      </p:sp>
      <p:sp>
        <p:nvSpPr>
          <p:cNvPr id="6" name="灯片编号占位符 4">
            <a:extLst>
              <a:ext uri="{FF2B5EF4-FFF2-40B4-BE49-F238E27FC236}">
                <a16:creationId xmlns:a16="http://schemas.microsoft.com/office/drawing/2014/main" id="{8BAFCD23-42C8-4C99-8EDB-063E68F989C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6118980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空气质量监测</a:t>
            </a:r>
            <a:r>
              <a:rPr lang="en-US" altLang="zh-CN" dirty="0"/>
              <a:t>——Mosaic</a:t>
            </a:r>
            <a:endParaRPr lang="zh-CN" altLang="en-US" dirty="0"/>
          </a:p>
        </p:txBody>
      </p:sp>
      <p:sp>
        <p:nvSpPr>
          <p:cNvPr id="3" name="内容占位符 2"/>
          <p:cNvSpPr>
            <a:spLocks noGrp="1"/>
          </p:cNvSpPr>
          <p:nvPr>
            <p:ph idx="1"/>
          </p:nvPr>
        </p:nvSpPr>
        <p:spPr/>
        <p:txBody>
          <a:bodyPr/>
          <a:lstStyle/>
          <a:p>
            <a:r>
              <a:rPr lang="zh-CN" altLang="en-US" dirty="0"/>
              <a:t>空气质量通常用空气质量指数（ </a:t>
            </a:r>
            <a:r>
              <a:rPr lang="en-US" altLang="zh-CN" dirty="0"/>
              <a:t>air quality index, AQI</a:t>
            </a:r>
            <a:r>
              <a:rPr lang="zh-CN" altLang="en-US" dirty="0"/>
              <a:t>）来衡量</a:t>
            </a:r>
            <a:endParaRPr lang="en-US" altLang="zh-CN" dirty="0"/>
          </a:p>
          <a:p>
            <a:pPr lvl="1"/>
            <a:r>
              <a:rPr lang="en-US" altLang="zh-CN" dirty="0">
                <a:effectLst/>
              </a:rPr>
              <a:t>AQI </a:t>
            </a:r>
            <a:r>
              <a:rPr lang="zh-CN" altLang="en-US" dirty="0">
                <a:effectLst/>
              </a:rPr>
              <a:t>是考虑了粒子浓度、臭氧、二氧化碳、二氧化硫等的一个综合指标</a:t>
            </a:r>
            <a:endParaRPr lang="en-US" altLang="zh-CN" dirty="0">
              <a:effectLst/>
            </a:endParaRPr>
          </a:p>
          <a:p>
            <a:pPr lvl="1"/>
            <a:r>
              <a:rPr lang="zh-CN" altLang="en-US" dirty="0">
                <a:effectLst/>
              </a:rPr>
              <a:t>颗粒物（ </a:t>
            </a:r>
            <a:r>
              <a:rPr lang="en-US" altLang="zh-CN" dirty="0">
                <a:effectLst/>
              </a:rPr>
              <a:t>PM</a:t>
            </a:r>
            <a:r>
              <a:rPr lang="zh-CN" altLang="en-US" dirty="0">
                <a:effectLst/>
              </a:rPr>
              <a:t>）是影响空气质量的一个重要因素，通常所说的 </a:t>
            </a:r>
            <a:r>
              <a:rPr lang="en-US" altLang="zh-CN" dirty="0">
                <a:effectLst/>
              </a:rPr>
              <a:t>PM2.5 </a:t>
            </a:r>
            <a:r>
              <a:rPr lang="zh-CN" altLang="en-US" dirty="0">
                <a:effectLst/>
              </a:rPr>
              <a:t>是指粒子直径小于 </a:t>
            </a:r>
            <a:r>
              <a:rPr lang="en-US" altLang="zh-CN" dirty="0">
                <a:effectLst/>
              </a:rPr>
              <a:t>2.5µm </a:t>
            </a:r>
            <a:r>
              <a:rPr lang="zh-CN" altLang="en-US" dirty="0">
                <a:effectLst/>
              </a:rPr>
              <a:t>的粒子； </a:t>
            </a:r>
            <a:r>
              <a:rPr lang="en-US" altLang="zh-CN" dirty="0">
                <a:effectLst/>
              </a:rPr>
              <a:t>PM10 </a:t>
            </a:r>
            <a:r>
              <a:rPr lang="zh-CN" altLang="en-US" dirty="0">
                <a:effectLst/>
              </a:rPr>
              <a:t>则是指粒子直径小于 </a:t>
            </a:r>
            <a:r>
              <a:rPr lang="en-US" altLang="zh-CN" dirty="0">
                <a:effectLst/>
              </a:rPr>
              <a:t>10µm </a:t>
            </a:r>
            <a:r>
              <a:rPr lang="zh-CN" altLang="en-US" dirty="0">
                <a:effectLst/>
              </a:rPr>
              <a:t>的粒子</a:t>
            </a:r>
            <a:endParaRPr lang="en-US" altLang="zh-CN" dirty="0">
              <a:effectLst/>
            </a:endParaRPr>
          </a:p>
          <a:p>
            <a:r>
              <a:rPr lang="zh-CN" altLang="en-US" dirty="0"/>
              <a:t>传统的空气质量的监测方法</a:t>
            </a:r>
            <a:endParaRPr lang="en-US" altLang="zh-CN" dirty="0"/>
          </a:p>
          <a:p>
            <a:pPr lvl="1"/>
            <a:r>
              <a:rPr lang="zh-CN" altLang="en-US" dirty="0">
                <a:effectLst/>
              </a:rPr>
              <a:t>依靠卫星遥感 </a:t>
            </a:r>
            <a:endParaRPr lang="en-US" altLang="zh-CN" dirty="0">
              <a:effectLst/>
            </a:endParaRPr>
          </a:p>
          <a:p>
            <a:pPr lvl="2"/>
            <a:r>
              <a:rPr lang="zh-CN" altLang="en-US" dirty="0"/>
              <a:t>粗粒度测量，主要测量高层大气中空气质量情况</a:t>
            </a:r>
            <a:endParaRPr lang="en-US" altLang="zh-CN" dirty="0"/>
          </a:p>
          <a:p>
            <a:pPr lvl="1"/>
            <a:r>
              <a:rPr lang="zh-CN" altLang="en-US" dirty="0">
                <a:effectLst/>
              </a:rPr>
              <a:t>依靠空气质量监测站 </a:t>
            </a:r>
            <a:endParaRPr lang="en-US" altLang="zh-CN" dirty="0">
              <a:effectLst/>
            </a:endParaRPr>
          </a:p>
          <a:p>
            <a:pPr lvl="2"/>
            <a:r>
              <a:rPr lang="zh-CN" altLang="en-US" dirty="0"/>
              <a:t>造价不菲，每年维护费用高昂，因此部署比较稀疏 </a:t>
            </a:r>
            <a:br>
              <a:rPr lang="zh-CN" altLang="en-US" dirty="0"/>
            </a:br>
            <a:br>
              <a:rPr lang="zh-CN" altLang="en-US" dirty="0"/>
            </a:br>
            <a:r>
              <a:rPr lang="zh-CN" altLang="en-US" dirty="0"/>
              <a:t> </a:t>
            </a:r>
            <a:br>
              <a:rPr lang="zh-CN" altLang="en-US" dirty="0"/>
            </a:br>
            <a:br>
              <a:rPr lang="zh-CN" altLang="en-US" dirty="0"/>
            </a:br>
            <a:br>
              <a:rPr lang="zh-CN" altLang="en-US" dirty="0"/>
            </a:br>
            <a:br>
              <a:rPr lang="zh-CN" altLang="en-US" dirty="0"/>
            </a:br>
            <a:br>
              <a:rPr lang="zh-CN" altLang="en-US" dirty="0"/>
            </a:br>
            <a:br>
              <a:rPr lang="zh-CN" altLang="en-US" dirty="0"/>
            </a:br>
            <a:endParaRPr lang="zh-CN" altLang="en-US" dirty="0"/>
          </a:p>
        </p:txBody>
      </p:sp>
      <p:sp>
        <p:nvSpPr>
          <p:cNvPr id="6" name="灯片编号占位符 4">
            <a:extLst>
              <a:ext uri="{FF2B5EF4-FFF2-40B4-BE49-F238E27FC236}">
                <a16:creationId xmlns:a16="http://schemas.microsoft.com/office/drawing/2014/main" id="{9FF0A164-1321-40F8-96B4-9528CFC19B6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29</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71774594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空气质量监测</a:t>
            </a:r>
            <a:r>
              <a:rPr lang="en-US" altLang="zh-CN" dirty="0"/>
              <a:t>——Mosaic</a:t>
            </a:r>
            <a:endParaRPr lang="zh-CN" altLang="en-US" dirty="0"/>
          </a:p>
        </p:txBody>
      </p:sp>
      <p:sp>
        <p:nvSpPr>
          <p:cNvPr id="3" name="内容占位符 2"/>
          <p:cNvSpPr>
            <a:spLocks noGrp="1"/>
          </p:cNvSpPr>
          <p:nvPr>
            <p:ph idx="1"/>
          </p:nvPr>
        </p:nvSpPr>
        <p:spPr/>
        <p:txBody>
          <a:bodyPr/>
          <a:lstStyle/>
          <a:p>
            <a:r>
              <a:rPr lang="en-US" altLang="zh-CN" dirty="0"/>
              <a:t>Mosaic</a:t>
            </a:r>
            <a:r>
              <a:rPr lang="zh-CN" altLang="en-US" dirty="0"/>
              <a:t>基本思想：</a:t>
            </a:r>
            <a:endParaRPr lang="en-US" altLang="zh-CN" dirty="0"/>
          </a:p>
          <a:p>
            <a:pPr lvl="1"/>
            <a:r>
              <a:rPr lang="zh-CN" altLang="en-US" dirty="0"/>
              <a:t>通过设计低成本的空气质量监测节点，并将其安装在移动的车辆上，对城市空气质量进行细粒度监测</a:t>
            </a:r>
            <a:br>
              <a:rPr lang="zh-CN" altLang="en-US" dirty="0"/>
            </a:br>
            <a:br>
              <a:rPr lang="zh-CN" altLang="en-US" dirty="0"/>
            </a:br>
            <a:r>
              <a:rPr lang="zh-CN" altLang="en-US" dirty="0"/>
              <a:t> </a:t>
            </a:r>
            <a:br>
              <a:rPr lang="zh-CN" altLang="en-US" dirty="0"/>
            </a:br>
            <a:br>
              <a:rPr lang="zh-CN" altLang="en-US" dirty="0"/>
            </a:br>
            <a:br>
              <a:rPr lang="zh-CN" altLang="en-US" dirty="0"/>
            </a:br>
            <a:br>
              <a:rPr lang="zh-CN" altLang="en-US" dirty="0"/>
            </a:br>
            <a:br>
              <a:rPr lang="zh-CN" altLang="en-US" dirty="0"/>
            </a:br>
            <a:br>
              <a:rPr lang="zh-CN" altLang="en-US" dirty="0"/>
            </a:br>
            <a:endParaRPr lang="zh-CN" altLang="en-US" dirty="0"/>
          </a:p>
        </p:txBody>
      </p:sp>
      <p:pic>
        <p:nvPicPr>
          <p:cNvPr id="4" name="图片 3">
            <a:extLst>
              <a:ext uri="{FF2B5EF4-FFF2-40B4-BE49-F238E27FC236}">
                <a16:creationId xmlns:a16="http://schemas.microsoft.com/office/drawing/2014/main" id="{CA57257B-8A05-4380-8AFE-36BB3DE9202D}"/>
              </a:ext>
            </a:extLst>
          </p:cNvPr>
          <p:cNvPicPr>
            <a:picLocks noChangeAspect="1"/>
          </p:cNvPicPr>
          <p:nvPr/>
        </p:nvPicPr>
        <p:blipFill>
          <a:blip r:embed="rId2"/>
          <a:stretch>
            <a:fillRect/>
          </a:stretch>
        </p:blipFill>
        <p:spPr>
          <a:xfrm>
            <a:off x="4817723" y="2902450"/>
            <a:ext cx="3504683" cy="3543300"/>
          </a:xfrm>
          <a:prstGeom prst="rect">
            <a:avLst/>
          </a:prstGeom>
        </p:spPr>
      </p:pic>
      <p:sp>
        <p:nvSpPr>
          <p:cNvPr id="6" name="文本框 5">
            <a:extLst>
              <a:ext uri="{FF2B5EF4-FFF2-40B4-BE49-F238E27FC236}">
                <a16:creationId xmlns:a16="http://schemas.microsoft.com/office/drawing/2014/main" id="{F6BFD63F-CF14-4EF6-B52E-534EB9E9E690}"/>
              </a:ext>
            </a:extLst>
          </p:cNvPr>
          <p:cNvSpPr txBox="1"/>
          <p:nvPr/>
        </p:nvSpPr>
        <p:spPr>
          <a:xfrm>
            <a:off x="457200" y="2331011"/>
            <a:ext cx="3869078" cy="3015697"/>
          </a:xfrm>
          <a:prstGeom prst="rect">
            <a:avLst/>
          </a:prstGeom>
          <a:noFill/>
        </p:spPr>
        <p:txBody>
          <a:bodyPr wrap="square" rtlCol="0">
            <a:spAutoFit/>
          </a:bodyPr>
          <a:lstStyle/>
          <a:p>
            <a:pPr marL="342900" indent="-342900">
              <a:buClr>
                <a:srgbClr val="C00000"/>
              </a:buClr>
              <a:buFont typeface="Wingdings" panose="05000000000000000000" pitchFamily="2" charset="2"/>
              <a:buChar char="q"/>
            </a:pPr>
            <a:r>
              <a:rPr lang="zh-CN" altLang="en-US" b="1" baseline="0" dirty="0">
                <a:latin typeface="微软雅黑" pitchFamily="34" charset="-122"/>
                <a:ea typeface="微软雅黑" pitchFamily="34" charset="-122"/>
              </a:rPr>
              <a:t>优势</a:t>
            </a:r>
            <a:endParaRPr lang="en-US" altLang="zh-CN" b="1" baseline="0" dirty="0">
              <a:latin typeface="微软雅黑" pitchFamily="34" charset="-122"/>
              <a:ea typeface="微软雅黑" pitchFamily="34" charset="-122"/>
            </a:endParaRPr>
          </a:p>
          <a:p>
            <a:pPr marL="800100" lvl="1" indent="-342900">
              <a:lnSpc>
                <a:spcPct val="120000"/>
              </a:lnSpc>
              <a:buClr>
                <a:srgbClr val="C00000"/>
              </a:buClr>
              <a:buFont typeface="Wingdings" panose="05000000000000000000" pitchFamily="2" charset="2"/>
              <a:buChar char="Ø"/>
            </a:pPr>
            <a:r>
              <a:rPr lang="zh-CN" altLang="en-US" sz="2000" baseline="0" dirty="0">
                <a:latin typeface="+mj-ea"/>
                <a:ea typeface="+mj-ea"/>
              </a:rPr>
              <a:t>单个节点成本低，可以部署许多个节点达到对空气质量的细粒度监测</a:t>
            </a:r>
            <a:endParaRPr lang="en-US" altLang="zh-CN" sz="2000" baseline="0" dirty="0">
              <a:latin typeface="+mj-ea"/>
              <a:ea typeface="+mj-ea"/>
            </a:endParaRPr>
          </a:p>
          <a:p>
            <a:pPr marL="800100" lvl="1" indent="-342900">
              <a:lnSpc>
                <a:spcPct val="120000"/>
              </a:lnSpc>
              <a:buClr>
                <a:srgbClr val="C00000"/>
              </a:buClr>
              <a:buFont typeface="Wingdings" panose="05000000000000000000" pitchFamily="2" charset="2"/>
              <a:buChar char="Ø"/>
            </a:pPr>
            <a:r>
              <a:rPr lang="zh-CN" altLang="en-US" sz="2000" baseline="0" dirty="0">
                <a:latin typeface="+mj-ea"/>
                <a:ea typeface="+mj-ea"/>
              </a:rPr>
              <a:t>为了进一步降低节点的数目，可以通过移动感知的思想达到测量数据在时间和空间上的良好折中</a:t>
            </a:r>
          </a:p>
        </p:txBody>
      </p:sp>
      <p:sp>
        <p:nvSpPr>
          <p:cNvPr id="8" name="文本框 7">
            <a:extLst>
              <a:ext uri="{FF2B5EF4-FFF2-40B4-BE49-F238E27FC236}">
                <a16:creationId xmlns:a16="http://schemas.microsoft.com/office/drawing/2014/main" id="{70530165-174A-4146-B39C-11AF4C93956B}"/>
              </a:ext>
            </a:extLst>
          </p:cNvPr>
          <p:cNvSpPr txBox="1"/>
          <p:nvPr/>
        </p:nvSpPr>
        <p:spPr>
          <a:xfrm>
            <a:off x="4572000" y="2331011"/>
            <a:ext cx="1143000" cy="461665"/>
          </a:xfrm>
          <a:prstGeom prst="rect">
            <a:avLst/>
          </a:prstGeom>
          <a:noFill/>
        </p:spPr>
        <p:txBody>
          <a:bodyPr wrap="square" rtlCol="0">
            <a:spAutoFit/>
          </a:bodyPr>
          <a:lstStyle/>
          <a:p>
            <a:pPr marL="342900" indent="-342900">
              <a:buClr>
                <a:srgbClr val="C00000"/>
              </a:buClr>
              <a:buFont typeface="Wingdings" panose="05000000000000000000" pitchFamily="2" charset="2"/>
              <a:buChar char="q"/>
            </a:pPr>
            <a:r>
              <a:rPr lang="zh-CN" altLang="en-US" b="1" baseline="0" dirty="0">
                <a:latin typeface="微软雅黑" pitchFamily="34" charset="-122"/>
                <a:ea typeface="微软雅黑" pitchFamily="34" charset="-122"/>
              </a:rPr>
              <a:t>架构</a:t>
            </a:r>
          </a:p>
        </p:txBody>
      </p:sp>
      <p:sp>
        <p:nvSpPr>
          <p:cNvPr id="9" name="灯片编号占位符 4">
            <a:extLst>
              <a:ext uri="{FF2B5EF4-FFF2-40B4-BE49-F238E27FC236}">
                <a16:creationId xmlns:a16="http://schemas.microsoft.com/office/drawing/2014/main" id="{D62150F3-4E17-4114-8AFF-262DDA1E747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73081598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传感器节点</a:t>
            </a:r>
          </a:p>
        </p:txBody>
      </p:sp>
      <p:sp>
        <p:nvSpPr>
          <p:cNvPr id="3" name="内容占位符 2"/>
          <p:cNvSpPr>
            <a:spLocks noGrp="1"/>
          </p:cNvSpPr>
          <p:nvPr>
            <p:ph idx="1"/>
          </p:nvPr>
        </p:nvSpPr>
        <p:spPr/>
        <p:txBody>
          <a:bodyPr/>
          <a:lstStyle/>
          <a:p>
            <a:r>
              <a:rPr lang="zh-CN" altLang="en-US" dirty="0"/>
              <a:t>开发了三种不同类型的传感器节点：</a:t>
            </a:r>
            <a:endParaRPr lang="en-US" altLang="zh-CN" dirty="0"/>
          </a:p>
          <a:p>
            <a:pPr lvl="1">
              <a:spcBef>
                <a:spcPts val="0"/>
              </a:spcBef>
            </a:pPr>
            <a:r>
              <a:rPr lang="en-US" altLang="zh-CN" dirty="0"/>
              <a:t>Mosaic </a:t>
            </a:r>
            <a:r>
              <a:rPr lang="zh-CN" altLang="en-US" dirty="0"/>
              <a:t>节点版本 </a:t>
            </a:r>
            <a:r>
              <a:rPr lang="en-US" altLang="zh-CN" dirty="0"/>
              <a:t>1 </a:t>
            </a:r>
            <a:r>
              <a:rPr lang="zh-CN" altLang="en-US" dirty="0"/>
              <a:t>和版本</a:t>
            </a:r>
            <a:r>
              <a:rPr lang="en-US" altLang="zh-CN" dirty="0"/>
              <a:t>2 </a:t>
            </a:r>
            <a:r>
              <a:rPr lang="zh-CN" altLang="en-US" dirty="0"/>
              <a:t>用于室外空气质量监测</a:t>
            </a:r>
            <a:endParaRPr lang="en-US" altLang="zh-CN" dirty="0"/>
          </a:p>
          <a:p>
            <a:pPr lvl="1">
              <a:spcBef>
                <a:spcPts val="0"/>
              </a:spcBef>
            </a:pPr>
            <a:r>
              <a:rPr lang="en-US" altLang="zh-CN" dirty="0" err="1"/>
              <a:t>miniMosaic</a:t>
            </a:r>
            <a:r>
              <a:rPr lang="en-US" altLang="zh-CN" dirty="0"/>
              <a:t> </a:t>
            </a:r>
            <a:r>
              <a:rPr lang="zh-CN" altLang="en-US" dirty="0"/>
              <a:t>主要用于室内空气监测，通过蓝牙与手机进行通信</a:t>
            </a:r>
            <a:endParaRPr lang="en-US" altLang="zh-CN" dirty="0"/>
          </a:p>
          <a:p>
            <a:r>
              <a:rPr lang="en-US" altLang="zh-CN" dirty="0"/>
              <a:t>Mosaic </a:t>
            </a:r>
            <a:r>
              <a:rPr lang="zh-CN" altLang="en-US" dirty="0"/>
              <a:t>节点一般由以下几个功能部分构成：</a:t>
            </a:r>
            <a:endParaRPr lang="en-US" altLang="zh-CN" dirty="0"/>
          </a:p>
          <a:p>
            <a:pPr lvl="1"/>
            <a:r>
              <a:rPr lang="zh-CN" altLang="en-US" dirty="0"/>
              <a:t>微处理器：</a:t>
            </a:r>
            <a:r>
              <a:rPr lang="en-US" altLang="zh-CN" dirty="0"/>
              <a:t>Mosaic </a:t>
            </a:r>
            <a:r>
              <a:rPr lang="zh-CN" altLang="en-US" dirty="0"/>
              <a:t>节点版本 </a:t>
            </a:r>
            <a:r>
              <a:rPr lang="en-US" altLang="zh-CN" dirty="0"/>
              <a:t>1 </a:t>
            </a:r>
            <a:r>
              <a:rPr lang="zh-CN" altLang="en-US" dirty="0"/>
              <a:t>和 </a:t>
            </a:r>
            <a:r>
              <a:rPr lang="en-US" altLang="zh-CN" dirty="0" err="1"/>
              <a:t>miniMosaic</a:t>
            </a:r>
            <a:r>
              <a:rPr lang="en-US" altLang="zh-CN" dirty="0"/>
              <a:t> </a:t>
            </a:r>
            <a:r>
              <a:rPr lang="zh-CN" altLang="en-US" dirty="0"/>
              <a:t>是基于 </a:t>
            </a:r>
            <a:r>
              <a:rPr lang="en-US" altLang="zh-CN" dirty="0"/>
              <a:t>Arduino </a:t>
            </a:r>
            <a:r>
              <a:rPr lang="zh-CN" altLang="en-US" dirty="0"/>
              <a:t>平台的传感器节点</a:t>
            </a:r>
            <a:endParaRPr lang="en-US" altLang="zh-CN" dirty="0"/>
          </a:p>
          <a:p>
            <a:pPr lvl="1"/>
            <a:r>
              <a:rPr lang="zh-CN" altLang="en-US" dirty="0"/>
              <a:t>电源：主要通过车载电源供电</a:t>
            </a:r>
            <a:endParaRPr lang="en-US" altLang="zh-CN" dirty="0"/>
          </a:p>
          <a:p>
            <a:pPr lvl="1"/>
            <a:r>
              <a:rPr lang="zh-CN" altLang="en-US" dirty="0"/>
              <a:t>传感器：</a:t>
            </a:r>
            <a:r>
              <a:rPr lang="en-US" altLang="zh-CN" dirty="0"/>
              <a:t>Mosaic </a:t>
            </a:r>
            <a:r>
              <a:rPr lang="zh-CN" altLang="en-US" dirty="0"/>
              <a:t>节点使用了温</a:t>
            </a:r>
            <a:r>
              <a:rPr lang="en-US" altLang="zh-CN" dirty="0"/>
              <a:t>/</a:t>
            </a:r>
            <a:r>
              <a:rPr lang="zh-CN" altLang="en-US" dirty="0"/>
              <a:t>湿度、</a:t>
            </a:r>
            <a:r>
              <a:rPr lang="en-US" altLang="zh-CN" dirty="0"/>
              <a:t>GPS </a:t>
            </a:r>
            <a:r>
              <a:rPr lang="zh-CN" altLang="en-US" dirty="0"/>
              <a:t>等，并采用了粒子传感器用于粒子浓度的测量。版本 </a:t>
            </a:r>
            <a:r>
              <a:rPr lang="en-US" altLang="zh-CN" dirty="0"/>
              <a:t>1 </a:t>
            </a:r>
            <a:r>
              <a:rPr lang="zh-CN" altLang="en-US" dirty="0"/>
              <a:t>采用了 </a:t>
            </a:r>
            <a:r>
              <a:rPr lang="en-US" altLang="zh-CN" dirty="0"/>
              <a:t>PPD42NS </a:t>
            </a:r>
            <a:r>
              <a:rPr lang="zh-CN" altLang="en-US" dirty="0"/>
              <a:t>粒子传感器，而在版本 </a:t>
            </a:r>
            <a:r>
              <a:rPr lang="en-US" altLang="zh-CN" dirty="0"/>
              <a:t>2 </a:t>
            </a:r>
            <a:r>
              <a:rPr lang="zh-CN" altLang="en-US" dirty="0"/>
              <a:t>采用 </a:t>
            </a:r>
            <a:r>
              <a:rPr lang="en-US" altLang="zh-CN" dirty="0"/>
              <a:t>SDS011 </a:t>
            </a:r>
            <a:r>
              <a:rPr lang="zh-CN" altLang="en-US" dirty="0"/>
              <a:t>传感器</a:t>
            </a:r>
            <a:endParaRPr lang="en-US" altLang="zh-CN" dirty="0"/>
          </a:p>
        </p:txBody>
      </p:sp>
      <p:pic>
        <p:nvPicPr>
          <p:cNvPr id="5" name="图片 4">
            <a:extLst>
              <a:ext uri="{FF2B5EF4-FFF2-40B4-BE49-F238E27FC236}">
                <a16:creationId xmlns:a16="http://schemas.microsoft.com/office/drawing/2014/main" id="{565A179D-7011-4887-9970-469641C7B5A5}"/>
              </a:ext>
            </a:extLst>
          </p:cNvPr>
          <p:cNvPicPr>
            <a:picLocks noChangeAspect="1"/>
          </p:cNvPicPr>
          <p:nvPr/>
        </p:nvPicPr>
        <p:blipFill rotWithShape="1">
          <a:blip r:embed="rId2"/>
          <a:srcRect l="1677" t="15345" b="10645"/>
          <a:stretch/>
        </p:blipFill>
        <p:spPr>
          <a:xfrm>
            <a:off x="205472" y="5058757"/>
            <a:ext cx="8733057" cy="1515004"/>
          </a:xfrm>
          <a:prstGeom prst="rect">
            <a:avLst/>
          </a:prstGeom>
        </p:spPr>
      </p:pic>
      <p:sp>
        <p:nvSpPr>
          <p:cNvPr id="7" name="灯片编号占位符 4">
            <a:extLst>
              <a:ext uri="{FF2B5EF4-FFF2-40B4-BE49-F238E27FC236}">
                <a16:creationId xmlns:a16="http://schemas.microsoft.com/office/drawing/2014/main" id="{C5A5D1CC-8D43-4E19-9A3B-FB7E2919E9F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91649481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传感器节点</a:t>
            </a:r>
            <a:endParaRPr lang="zh-CN" altLang="en-US" dirty="0"/>
          </a:p>
        </p:txBody>
      </p:sp>
      <p:sp>
        <p:nvSpPr>
          <p:cNvPr id="3" name="内容占位符 2"/>
          <p:cNvSpPr>
            <a:spLocks noGrp="1"/>
          </p:cNvSpPr>
          <p:nvPr>
            <p:ph idx="1"/>
          </p:nvPr>
        </p:nvSpPr>
        <p:spPr/>
        <p:txBody>
          <a:bodyPr/>
          <a:lstStyle/>
          <a:p>
            <a:r>
              <a:rPr lang="zh-CN" altLang="en-US" dirty="0"/>
              <a:t>粒子传感器测量 </a:t>
            </a:r>
            <a:r>
              <a:rPr lang="en-US" altLang="zh-CN" dirty="0"/>
              <a:t>PM2.5 </a:t>
            </a:r>
            <a:r>
              <a:rPr lang="zh-CN" altLang="en-US" dirty="0"/>
              <a:t>浓度原理：</a:t>
            </a:r>
            <a:endParaRPr lang="en-US" altLang="zh-CN" dirty="0"/>
          </a:p>
          <a:p>
            <a:pPr lvl="1"/>
            <a:r>
              <a:rPr lang="zh-CN" altLang="en-US" dirty="0"/>
              <a:t>传感器一般搭载一个风扇，向上提供稳定的空气流。 激光发射器发出一束红外激光。激光照射到空气流上，被空气流中的粒子反射，并被光传感器感知。空气中粒子的数据可以通过反射的强弱程度来测量</a:t>
            </a:r>
            <a:br>
              <a:rPr lang="zh-CN" altLang="en-US" dirty="0"/>
            </a:br>
            <a:br>
              <a:rPr lang="zh-CN" altLang="en-US" dirty="0"/>
            </a:br>
            <a:endParaRPr lang="zh-CN" altLang="en-US" dirty="0"/>
          </a:p>
        </p:txBody>
      </p:sp>
      <p:pic>
        <p:nvPicPr>
          <p:cNvPr id="4" name="图片 3">
            <a:extLst>
              <a:ext uri="{FF2B5EF4-FFF2-40B4-BE49-F238E27FC236}">
                <a16:creationId xmlns:a16="http://schemas.microsoft.com/office/drawing/2014/main" id="{38255D22-DC5A-4A18-AE53-30F36BBE9C68}"/>
              </a:ext>
            </a:extLst>
          </p:cNvPr>
          <p:cNvPicPr>
            <a:picLocks noChangeAspect="1"/>
          </p:cNvPicPr>
          <p:nvPr/>
        </p:nvPicPr>
        <p:blipFill>
          <a:blip r:embed="rId2"/>
          <a:stretch>
            <a:fillRect/>
          </a:stretch>
        </p:blipFill>
        <p:spPr>
          <a:xfrm>
            <a:off x="2663931" y="2910583"/>
            <a:ext cx="3892338" cy="3909317"/>
          </a:xfrm>
          <a:prstGeom prst="rect">
            <a:avLst/>
          </a:prstGeom>
        </p:spPr>
      </p:pic>
      <p:sp>
        <p:nvSpPr>
          <p:cNvPr id="7" name="灯片编号占位符 4">
            <a:extLst>
              <a:ext uri="{FF2B5EF4-FFF2-40B4-BE49-F238E27FC236}">
                <a16:creationId xmlns:a16="http://schemas.microsoft.com/office/drawing/2014/main" id="{C1196E6C-A4CA-4B1A-8495-4F4B5E85F87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87806296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传感器节点</a:t>
            </a:r>
            <a:endParaRPr lang="zh-CN" altLang="en-US" dirty="0"/>
          </a:p>
        </p:txBody>
      </p:sp>
      <p:sp>
        <p:nvSpPr>
          <p:cNvPr id="3" name="内容占位符 2"/>
          <p:cNvSpPr>
            <a:spLocks noGrp="1"/>
          </p:cNvSpPr>
          <p:nvPr>
            <p:ph idx="1"/>
          </p:nvPr>
        </p:nvSpPr>
        <p:spPr/>
        <p:txBody>
          <a:bodyPr/>
          <a:lstStyle/>
          <a:p>
            <a:r>
              <a:rPr lang="zh-CN" altLang="en-US" dirty="0"/>
              <a:t>需解决的关键问题</a:t>
            </a:r>
            <a:endParaRPr lang="en-US" altLang="zh-CN" dirty="0"/>
          </a:p>
          <a:p>
            <a:pPr lvl="1"/>
            <a:r>
              <a:rPr lang="zh-CN" altLang="en-US" dirty="0"/>
              <a:t>传感器节点的部署 </a:t>
            </a:r>
            <a:endParaRPr lang="en-US" altLang="zh-CN" dirty="0"/>
          </a:p>
          <a:p>
            <a:pPr lvl="2"/>
            <a:r>
              <a:rPr lang="zh-CN" altLang="en-US" dirty="0"/>
              <a:t>本案例中，传感器节点一般部署在固定行驶轨迹的公交车上。那么，给定节点数目，如何部署使得覆盖的范围最大？或者说，要覆盖指定的区域，最少要部署多少个节点，怎么部署？ </a:t>
            </a:r>
            <a:endParaRPr lang="en-US" altLang="zh-CN" dirty="0"/>
          </a:p>
          <a:p>
            <a:pPr lvl="1"/>
            <a:r>
              <a:rPr lang="zh-CN" altLang="en-US" dirty="0"/>
              <a:t>传感器数据的校准</a:t>
            </a:r>
            <a:endParaRPr lang="en-US" altLang="zh-CN" dirty="0"/>
          </a:p>
          <a:p>
            <a:pPr lvl="2"/>
            <a:r>
              <a:rPr lang="zh-CN" altLang="en-US" dirty="0"/>
              <a:t>低成本的粒子传感器的测量精度比较有限，需要借助高精度的空气质量监测站或者较高精度的 </a:t>
            </a:r>
            <a:r>
              <a:rPr lang="en-US" altLang="zh-CN" dirty="0" err="1"/>
              <a:t>Dylos</a:t>
            </a:r>
            <a:r>
              <a:rPr lang="en-US" altLang="zh-CN" dirty="0"/>
              <a:t> </a:t>
            </a:r>
            <a:r>
              <a:rPr lang="zh-CN" altLang="en-US" dirty="0"/>
              <a:t>手持设备进行数据校准。数据校准可以发生在两个层面：</a:t>
            </a:r>
            <a:r>
              <a:rPr lang="en-US" altLang="zh-CN" dirty="0"/>
              <a:t>1.</a:t>
            </a:r>
            <a:r>
              <a:rPr lang="zh-CN" altLang="en-US" dirty="0"/>
              <a:t> 节点层面。在节点上就将原始数据转换为校准后的数据。</a:t>
            </a:r>
            <a:r>
              <a:rPr lang="en-US" altLang="zh-CN" dirty="0"/>
              <a:t>2.</a:t>
            </a:r>
            <a:r>
              <a:rPr lang="zh-CN" altLang="en-US" dirty="0"/>
              <a:t>云端。在云端进行数据校准的一个好处是可以利用多个传感器的在线数据，甚至是采集到的来自空气质量监测站的高精度数据</a:t>
            </a:r>
            <a:br>
              <a:rPr lang="zh-CN" altLang="en-US" dirty="0"/>
            </a:br>
            <a:br>
              <a:rPr lang="zh-CN" altLang="en-US" dirty="0"/>
            </a:br>
            <a:br>
              <a:rPr lang="zh-CN" altLang="en-US" dirty="0"/>
            </a:br>
            <a:endParaRPr lang="zh-CN" altLang="en-US" dirty="0"/>
          </a:p>
        </p:txBody>
      </p:sp>
      <p:sp>
        <p:nvSpPr>
          <p:cNvPr id="6" name="灯片编号占位符 4">
            <a:extLst>
              <a:ext uri="{FF2B5EF4-FFF2-40B4-BE49-F238E27FC236}">
                <a16:creationId xmlns:a16="http://schemas.microsoft.com/office/drawing/2014/main" id="{0CD1255D-D89B-4090-B310-9754A41F1BC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33</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63961737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传输技术、云端及用户端</a:t>
            </a:r>
          </a:p>
        </p:txBody>
      </p:sp>
      <p:sp>
        <p:nvSpPr>
          <p:cNvPr id="3" name="内容占位符 2"/>
          <p:cNvSpPr>
            <a:spLocks noGrp="1"/>
          </p:cNvSpPr>
          <p:nvPr>
            <p:ph idx="1"/>
          </p:nvPr>
        </p:nvSpPr>
        <p:spPr/>
        <p:txBody>
          <a:bodyPr/>
          <a:lstStyle/>
          <a:p>
            <a:pPr>
              <a:spcBef>
                <a:spcPts val="0"/>
              </a:spcBef>
            </a:pPr>
            <a:r>
              <a:rPr lang="zh-CN" altLang="en-US" dirty="0"/>
              <a:t>传输技术</a:t>
            </a:r>
            <a:endParaRPr lang="en-US" altLang="zh-CN" dirty="0"/>
          </a:p>
          <a:p>
            <a:pPr lvl="1">
              <a:spcBef>
                <a:spcPts val="0"/>
              </a:spcBef>
            </a:pPr>
            <a:r>
              <a:rPr lang="zh-CN" altLang="en-US" dirty="0"/>
              <a:t>用于室外的 </a:t>
            </a:r>
            <a:r>
              <a:rPr lang="en-US" altLang="zh-CN" dirty="0"/>
              <a:t>Mosaic </a:t>
            </a:r>
            <a:r>
              <a:rPr lang="zh-CN" altLang="en-US" dirty="0"/>
              <a:t>节点版本 </a:t>
            </a:r>
            <a:r>
              <a:rPr lang="en-US" altLang="zh-CN" dirty="0"/>
              <a:t>1 </a:t>
            </a:r>
            <a:r>
              <a:rPr lang="zh-CN" altLang="en-US" dirty="0"/>
              <a:t>和版本 </a:t>
            </a:r>
            <a:r>
              <a:rPr lang="en-US" altLang="zh-CN" dirty="0"/>
              <a:t>2 </a:t>
            </a:r>
            <a:r>
              <a:rPr lang="zh-CN" altLang="en-US" dirty="0"/>
              <a:t>主要用 </a:t>
            </a:r>
            <a:r>
              <a:rPr lang="en-US" altLang="zh-CN" dirty="0"/>
              <a:t>GPRS </a:t>
            </a:r>
            <a:r>
              <a:rPr lang="zh-CN" altLang="en-US" dirty="0"/>
              <a:t>传输</a:t>
            </a:r>
            <a:endParaRPr lang="en-US" altLang="zh-CN" dirty="0"/>
          </a:p>
          <a:p>
            <a:pPr lvl="1">
              <a:spcBef>
                <a:spcPts val="0"/>
              </a:spcBef>
            </a:pPr>
            <a:r>
              <a:rPr lang="zh-CN" altLang="en-US" dirty="0"/>
              <a:t>用于室内的 </a:t>
            </a:r>
            <a:r>
              <a:rPr lang="en-US" altLang="zh-CN" dirty="0" err="1"/>
              <a:t>miniMosaic</a:t>
            </a:r>
            <a:r>
              <a:rPr lang="zh-CN" altLang="en-US" dirty="0"/>
              <a:t>节点通过蓝牙与手机进行数据传输</a:t>
            </a:r>
            <a:endParaRPr lang="en-US" altLang="zh-CN" dirty="0"/>
          </a:p>
          <a:p>
            <a:pPr>
              <a:spcBef>
                <a:spcPts val="0"/>
              </a:spcBef>
            </a:pPr>
            <a:r>
              <a:rPr lang="zh-CN" altLang="en-US" dirty="0"/>
              <a:t>云端</a:t>
            </a:r>
            <a:endParaRPr lang="en-US" altLang="zh-CN" dirty="0"/>
          </a:p>
          <a:p>
            <a:pPr lvl="1">
              <a:spcBef>
                <a:spcPts val="0"/>
              </a:spcBef>
            </a:pPr>
            <a:r>
              <a:rPr lang="zh-CN" altLang="en-US" dirty="0"/>
              <a:t>阿里云服务，两个云服务器</a:t>
            </a:r>
            <a:endParaRPr lang="en-US" altLang="zh-CN" dirty="0"/>
          </a:p>
          <a:p>
            <a:pPr lvl="1">
              <a:spcBef>
                <a:spcPts val="0"/>
              </a:spcBef>
            </a:pPr>
            <a:r>
              <a:rPr lang="zh-CN" altLang="en-US" dirty="0"/>
              <a:t>数据：来自传感器节点的原始传感数据以及来自高精度空气监测站以及较高精度 </a:t>
            </a:r>
            <a:r>
              <a:rPr lang="en-US" altLang="zh-CN" dirty="0" err="1"/>
              <a:t>Dylos</a:t>
            </a:r>
            <a:r>
              <a:rPr lang="en-US" altLang="zh-CN" dirty="0"/>
              <a:t> </a:t>
            </a:r>
            <a:r>
              <a:rPr lang="zh-CN" altLang="en-US" dirty="0"/>
              <a:t>手持设备的感知数据</a:t>
            </a:r>
            <a:endParaRPr lang="en-US" altLang="zh-CN" dirty="0"/>
          </a:p>
          <a:p>
            <a:pPr lvl="1">
              <a:spcBef>
                <a:spcPts val="0"/>
              </a:spcBef>
            </a:pPr>
            <a:r>
              <a:rPr lang="zh-CN" altLang="en-US" dirty="0"/>
              <a:t>核心服务：</a:t>
            </a:r>
            <a:r>
              <a:rPr lang="zh-CN" altLang="en-US" b="1" dirty="0"/>
              <a:t>云端的数据校准</a:t>
            </a:r>
            <a:r>
              <a:rPr lang="zh-CN" altLang="en-US" dirty="0"/>
              <a:t>。使用了一个在线的多跳校准方法：当一个移动节点与另一个高精度参考节点相遇时，就形成了一个匹配点；相遇多次后，就形成了多个匹配点；移动节点可以借助多个匹配点形成一个校准模型对其数据进行校准</a:t>
            </a:r>
            <a:endParaRPr lang="en-US" altLang="zh-CN" dirty="0"/>
          </a:p>
          <a:p>
            <a:pPr>
              <a:spcBef>
                <a:spcPts val="0"/>
              </a:spcBef>
            </a:pPr>
            <a:r>
              <a:rPr lang="zh-CN" altLang="en-US" dirty="0"/>
              <a:t>用户端</a:t>
            </a:r>
            <a:endParaRPr lang="en-US" altLang="zh-CN" dirty="0"/>
          </a:p>
          <a:p>
            <a:pPr lvl="1">
              <a:spcBef>
                <a:spcPts val="0"/>
              </a:spcBef>
            </a:pPr>
            <a:r>
              <a:rPr lang="zh-CN" altLang="zh-CN" dirty="0"/>
              <a:t>开发了基于</a:t>
            </a:r>
            <a:r>
              <a:rPr lang="en-US" altLang="zh-CN" dirty="0"/>
              <a:t>Web</a:t>
            </a:r>
            <a:r>
              <a:rPr lang="zh-CN" altLang="zh-CN" dirty="0"/>
              <a:t>的应用和手机</a:t>
            </a:r>
            <a:r>
              <a:rPr lang="en-US" altLang="zh-CN" dirty="0"/>
              <a:t>App</a:t>
            </a:r>
            <a:r>
              <a:rPr lang="zh-CN" altLang="zh-CN" dirty="0"/>
              <a:t>来支持用户对空气质量数据的查询和可视化</a:t>
            </a:r>
            <a:br>
              <a:rPr lang="zh-CN" altLang="en-US" dirty="0"/>
            </a:br>
            <a:endParaRPr lang="zh-CN" altLang="en-US" dirty="0"/>
          </a:p>
        </p:txBody>
      </p:sp>
      <p:sp>
        <p:nvSpPr>
          <p:cNvPr id="6" name="灯片编号占位符 4">
            <a:extLst>
              <a:ext uri="{FF2B5EF4-FFF2-40B4-BE49-F238E27FC236}">
                <a16:creationId xmlns:a16="http://schemas.microsoft.com/office/drawing/2014/main" id="{81183EEA-5220-4CE5-8EAF-19433F3A6FD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52048856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传输技术、云端及用户端</a:t>
            </a:r>
            <a:endParaRPr lang="zh-CN" altLang="en-US" dirty="0"/>
          </a:p>
        </p:txBody>
      </p:sp>
      <p:sp>
        <p:nvSpPr>
          <p:cNvPr id="3" name="内容占位符 2"/>
          <p:cNvSpPr>
            <a:spLocks noGrp="1"/>
          </p:cNvSpPr>
          <p:nvPr>
            <p:ph idx="1"/>
          </p:nvPr>
        </p:nvSpPr>
        <p:spPr/>
        <p:txBody>
          <a:bodyPr/>
          <a:lstStyle/>
          <a:p>
            <a:r>
              <a:rPr lang="zh-CN" altLang="en-US" dirty="0"/>
              <a:t>结合多元线性模型与随机森林模型的二阶段数据校准方法</a:t>
            </a:r>
            <a:endParaRPr lang="en-US" altLang="zh-CN" dirty="0"/>
          </a:p>
          <a:p>
            <a:pPr lvl="1"/>
            <a:r>
              <a:rPr lang="zh-CN" altLang="en-US" dirty="0"/>
              <a:t>特征提取（粒子传感器数据、温湿度、速度等），并采用多元最小二乘法方法决定多元线性模型的参数</a:t>
            </a:r>
            <a:endParaRPr lang="en-US" altLang="zh-CN" dirty="0"/>
          </a:p>
          <a:p>
            <a:pPr lvl="1"/>
            <a:r>
              <a:rPr lang="zh-CN" altLang="en-US" dirty="0"/>
              <a:t>使用随机森林模型再去拟合多元线性模型的残差，得到校准数据</a:t>
            </a:r>
            <a:br>
              <a:rPr lang="zh-CN" altLang="en-US" dirty="0"/>
            </a:br>
            <a:br>
              <a:rPr lang="zh-CN" altLang="en-US" dirty="0"/>
            </a:br>
            <a:br>
              <a:rPr lang="zh-CN" altLang="en-US" dirty="0"/>
            </a:br>
            <a:endParaRPr lang="zh-CN" altLang="en-US" dirty="0"/>
          </a:p>
        </p:txBody>
      </p:sp>
      <p:pic>
        <p:nvPicPr>
          <p:cNvPr id="4" name="图片 3">
            <a:extLst>
              <a:ext uri="{FF2B5EF4-FFF2-40B4-BE49-F238E27FC236}">
                <a16:creationId xmlns:a16="http://schemas.microsoft.com/office/drawing/2014/main" id="{13CC1A9C-2146-43D8-A9B9-08CCD10BA0B0}"/>
              </a:ext>
            </a:extLst>
          </p:cNvPr>
          <p:cNvPicPr>
            <a:picLocks noChangeAspect="1"/>
          </p:cNvPicPr>
          <p:nvPr/>
        </p:nvPicPr>
        <p:blipFill>
          <a:blip r:embed="rId2"/>
          <a:stretch>
            <a:fillRect/>
          </a:stretch>
        </p:blipFill>
        <p:spPr>
          <a:xfrm>
            <a:off x="1007909" y="2696283"/>
            <a:ext cx="7464818" cy="3398348"/>
          </a:xfrm>
          <a:prstGeom prst="rect">
            <a:avLst/>
          </a:prstGeom>
        </p:spPr>
      </p:pic>
      <p:sp>
        <p:nvSpPr>
          <p:cNvPr id="7" name="灯片编号占位符 4">
            <a:extLst>
              <a:ext uri="{FF2B5EF4-FFF2-40B4-BE49-F238E27FC236}">
                <a16:creationId xmlns:a16="http://schemas.microsoft.com/office/drawing/2014/main" id="{722BA3B3-12A9-49B7-A6CA-67D1A6393D1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94749446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DB134D6-5117-422A-863A-41F19BAF1748}"/>
              </a:ext>
            </a:extLst>
          </p:cNvPr>
          <p:cNvPicPr>
            <a:picLocks noChangeAspect="1"/>
          </p:cNvPicPr>
          <p:nvPr/>
        </p:nvPicPr>
        <p:blipFill rotWithShape="1">
          <a:blip r:embed="rId2"/>
          <a:srcRect t="8973" b="5815"/>
          <a:stretch/>
        </p:blipFill>
        <p:spPr>
          <a:xfrm>
            <a:off x="0" y="1465546"/>
            <a:ext cx="9144000" cy="4702480"/>
          </a:xfrm>
          <a:prstGeom prst="rect">
            <a:avLst/>
          </a:prstGeom>
        </p:spPr>
      </p:pic>
      <p:sp>
        <p:nvSpPr>
          <p:cNvPr id="2" name="标题 1">
            <a:extLst>
              <a:ext uri="{FF2B5EF4-FFF2-40B4-BE49-F238E27FC236}">
                <a16:creationId xmlns:a16="http://schemas.microsoft.com/office/drawing/2014/main" id="{FD6098C0-EF11-4CDB-80CC-D4119217EE57}"/>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F4D11226-ED83-49DE-8696-7C3272B8891C}"/>
              </a:ext>
            </a:extLst>
          </p:cNvPr>
          <p:cNvSpPr>
            <a:spLocks noGrp="1"/>
          </p:cNvSpPr>
          <p:nvPr>
            <p:ph idx="1"/>
          </p:nvPr>
        </p:nvSpPr>
        <p:spPr/>
        <p:txBody>
          <a:bodyPr/>
          <a:lstStyle/>
          <a:p>
            <a:r>
              <a:rPr lang="zh-CN" altLang="zh-CN" dirty="0"/>
              <a:t>物联网的定义是什么？你能列举出一种生活中的物联网应用吗？</a:t>
            </a:r>
            <a:endParaRPr lang="zh-CN" altLang="en-US" dirty="0"/>
          </a:p>
        </p:txBody>
      </p:sp>
      <p:sp>
        <p:nvSpPr>
          <p:cNvPr id="5" name="灯片编号占位符 4">
            <a:extLst>
              <a:ext uri="{FF2B5EF4-FFF2-40B4-BE49-F238E27FC236}">
                <a16:creationId xmlns:a16="http://schemas.microsoft.com/office/drawing/2014/main" id="{F5058A76-AA4D-4ADD-994E-F964C712AC1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67479855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目录</a:t>
            </a:r>
            <a:endParaRPr lang="zh-CN" altLang="en-US" dirty="0"/>
          </a:p>
        </p:txBody>
      </p:sp>
      <p:sp>
        <p:nvSpPr>
          <p:cNvPr id="5" name="内容占位符 2"/>
          <p:cNvSpPr>
            <a:spLocks noGrp="1"/>
          </p:cNvSpPr>
          <p:nvPr>
            <p:ph idx="1"/>
          </p:nvPr>
        </p:nvSpPr>
        <p:spPr/>
        <p:txBody>
          <a:bodyPr/>
          <a:lstStyle/>
          <a:p>
            <a:endParaRPr lang="en-US" altLang="zh-CN" sz="2800" dirty="0"/>
          </a:p>
          <a:p>
            <a:r>
              <a:rPr lang="zh-CN" altLang="en-US" sz="2800" dirty="0"/>
              <a:t>物联网的定义和发展趋势</a:t>
            </a:r>
            <a:endParaRPr lang="en-US" altLang="zh-CN" sz="2800" dirty="0"/>
          </a:p>
          <a:p>
            <a:r>
              <a:rPr lang="zh-CN" altLang="en-US" sz="2800" dirty="0"/>
              <a:t>物联网的应用架构及挑战</a:t>
            </a:r>
            <a:endParaRPr lang="en-US" altLang="zh-CN" sz="2800" dirty="0"/>
          </a:p>
          <a:p>
            <a:r>
              <a:rPr lang="zh-CN" altLang="en-US" sz="2800" dirty="0">
                <a:solidFill>
                  <a:srgbClr val="333333"/>
                </a:solidFill>
              </a:rPr>
              <a:t>物联网典型应用</a:t>
            </a:r>
            <a:endParaRPr lang="en-US" altLang="zh-CN" sz="2800" dirty="0">
              <a:solidFill>
                <a:srgbClr val="333333"/>
              </a:solidFill>
            </a:endParaRPr>
          </a:p>
          <a:p>
            <a:r>
              <a:rPr lang="zh-CN" altLang="en-US" sz="2800" dirty="0">
                <a:solidFill>
                  <a:srgbClr val="C00000"/>
                </a:solidFill>
              </a:rPr>
              <a:t>物联网相关学术研究及前沿问题 </a:t>
            </a:r>
            <a:br>
              <a:rPr lang="zh-CN" altLang="en-US" sz="2800" dirty="0"/>
            </a:br>
            <a:endParaRPr lang="en-US" altLang="zh-CN" sz="2800" dirty="0"/>
          </a:p>
        </p:txBody>
      </p:sp>
    </p:spTree>
    <p:extLst>
      <p:ext uri="{BB962C8B-B14F-4D97-AF65-F5344CB8AC3E}">
        <p14:creationId xmlns:p14="http://schemas.microsoft.com/office/powerpoint/2010/main" val="423837971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027C1B-163C-47A9-9D5E-52320B32F545}"/>
              </a:ext>
            </a:extLst>
          </p:cNvPr>
          <p:cNvSpPr>
            <a:spLocks noGrp="1"/>
          </p:cNvSpPr>
          <p:nvPr>
            <p:ph type="title"/>
          </p:nvPr>
        </p:nvSpPr>
        <p:spPr/>
        <p:txBody>
          <a:bodyPr/>
          <a:lstStyle/>
          <a:p>
            <a:r>
              <a:rPr lang="zh-CN" altLang="en-US" dirty="0"/>
              <a:t>相关学术研究领域</a:t>
            </a:r>
          </a:p>
        </p:txBody>
      </p:sp>
      <p:sp>
        <p:nvSpPr>
          <p:cNvPr id="3" name="内容占位符 2">
            <a:extLst>
              <a:ext uri="{FF2B5EF4-FFF2-40B4-BE49-F238E27FC236}">
                <a16:creationId xmlns:a16="http://schemas.microsoft.com/office/drawing/2014/main" id="{D8B4FB92-E6DA-4048-81FE-498AC1E0D4B5}"/>
              </a:ext>
            </a:extLst>
          </p:cNvPr>
          <p:cNvSpPr>
            <a:spLocks noGrp="1"/>
          </p:cNvSpPr>
          <p:nvPr>
            <p:ph idx="1"/>
          </p:nvPr>
        </p:nvSpPr>
        <p:spPr/>
        <p:txBody>
          <a:bodyPr/>
          <a:lstStyle/>
          <a:p>
            <a:r>
              <a:rPr lang="zh-CN" altLang="en-US" dirty="0"/>
              <a:t>无线射频识别 （</a:t>
            </a:r>
            <a:r>
              <a:rPr lang="en-US" altLang="zh-CN" dirty="0"/>
              <a:t>RFID</a:t>
            </a:r>
            <a:r>
              <a:rPr lang="zh-CN" altLang="en-US" dirty="0"/>
              <a:t>）</a:t>
            </a:r>
          </a:p>
          <a:p>
            <a:pPr lvl="1"/>
            <a:r>
              <a:rPr lang="zh-CN" altLang="en-US" dirty="0"/>
              <a:t>一个典型</a:t>
            </a:r>
            <a:r>
              <a:rPr lang="en-US" altLang="zh-CN" dirty="0"/>
              <a:t>RFID</a:t>
            </a:r>
            <a:r>
              <a:rPr lang="zh-CN" altLang="en-US" dirty="0"/>
              <a:t>系统由一个有源的阅读器和若干无源的标签构成</a:t>
            </a:r>
          </a:p>
          <a:p>
            <a:pPr lvl="1"/>
            <a:r>
              <a:rPr lang="zh-CN" altLang="en-US" dirty="0"/>
              <a:t>应用广泛，如身份识别、供应链管理、仓储管理等</a:t>
            </a:r>
          </a:p>
          <a:p>
            <a:r>
              <a:rPr lang="zh-CN" altLang="en-US" dirty="0"/>
              <a:t>普适计算（</a:t>
            </a:r>
            <a:r>
              <a:rPr lang="en-US" altLang="zh-CN" dirty="0"/>
              <a:t>Pervasive computing</a:t>
            </a:r>
            <a:r>
              <a:rPr lang="zh-CN" altLang="en-US" dirty="0"/>
              <a:t>）</a:t>
            </a:r>
          </a:p>
          <a:p>
            <a:pPr lvl="1"/>
            <a:r>
              <a:rPr lang="zh-CN" altLang="en-US" dirty="0"/>
              <a:t>强调在任何时间、地点都可以进行计算</a:t>
            </a:r>
          </a:p>
          <a:p>
            <a:pPr lvl="1"/>
            <a:r>
              <a:rPr lang="zh-CN" altLang="en-US" dirty="0"/>
              <a:t>特别关注用户行为及所处环境 （也称上下文）感知</a:t>
            </a:r>
          </a:p>
          <a:p>
            <a:r>
              <a:rPr lang="zh-CN" altLang="en-US" dirty="0"/>
              <a:t>无线传感器网络 （</a:t>
            </a:r>
            <a:r>
              <a:rPr lang="en-US" altLang="zh-CN" dirty="0"/>
              <a:t>Wireless sensor network</a:t>
            </a:r>
            <a:r>
              <a:rPr lang="zh-CN" altLang="en-US" dirty="0"/>
              <a:t>）</a:t>
            </a:r>
          </a:p>
          <a:p>
            <a:pPr lvl="1"/>
            <a:r>
              <a:rPr lang="zh-CN" altLang="en-US" dirty="0"/>
              <a:t>集成大量微型化的传感器节点，组成多跳传输的无线传感网</a:t>
            </a:r>
          </a:p>
          <a:p>
            <a:pPr lvl="1"/>
            <a:r>
              <a:rPr lang="zh-CN" altLang="en-US" dirty="0"/>
              <a:t>经过</a:t>
            </a:r>
            <a:r>
              <a:rPr lang="en-US" altLang="zh-CN" dirty="0"/>
              <a:t>20</a:t>
            </a:r>
            <a:r>
              <a:rPr lang="zh-CN" altLang="en-US" dirty="0"/>
              <a:t>多年发展，已形成了较为完善的软硬件系统</a:t>
            </a:r>
            <a:br>
              <a:rPr lang="zh-CN" altLang="en-US" dirty="0"/>
            </a:br>
            <a:endParaRPr lang="zh-CN" altLang="en-US" dirty="0"/>
          </a:p>
          <a:p>
            <a:endParaRPr lang="zh-CN" altLang="en-US" dirty="0"/>
          </a:p>
          <a:p>
            <a:endParaRPr lang="zh-CN" altLang="en-US" dirty="0"/>
          </a:p>
        </p:txBody>
      </p:sp>
      <p:sp>
        <p:nvSpPr>
          <p:cNvPr id="4" name="灯片编号占位符 4">
            <a:extLst>
              <a:ext uri="{FF2B5EF4-FFF2-40B4-BE49-F238E27FC236}">
                <a16:creationId xmlns:a16="http://schemas.microsoft.com/office/drawing/2014/main" id="{BB92F739-0F49-449D-AD69-F71C92E20AA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1121410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BD76FE-FAE3-4AA1-9EAB-6C57ACAFDBD9}"/>
              </a:ext>
            </a:extLst>
          </p:cNvPr>
          <p:cNvSpPr>
            <a:spLocks noGrp="1"/>
          </p:cNvSpPr>
          <p:nvPr>
            <p:ph type="title"/>
          </p:nvPr>
        </p:nvSpPr>
        <p:spPr/>
        <p:txBody>
          <a:bodyPr/>
          <a:lstStyle/>
          <a:p>
            <a:r>
              <a:rPr lang="zh-CN" altLang="en-US" dirty="0"/>
              <a:t>物联网的关注点及其前沿挑战</a:t>
            </a:r>
          </a:p>
        </p:txBody>
      </p:sp>
      <p:sp>
        <p:nvSpPr>
          <p:cNvPr id="3" name="内容占位符 2">
            <a:extLst>
              <a:ext uri="{FF2B5EF4-FFF2-40B4-BE49-F238E27FC236}">
                <a16:creationId xmlns:a16="http://schemas.microsoft.com/office/drawing/2014/main" id="{B751FADB-2AB7-4CBC-8CC9-6E9283492B5E}"/>
              </a:ext>
            </a:extLst>
          </p:cNvPr>
          <p:cNvSpPr>
            <a:spLocks noGrp="1"/>
          </p:cNvSpPr>
          <p:nvPr>
            <p:ph idx="1"/>
          </p:nvPr>
        </p:nvSpPr>
        <p:spPr/>
        <p:txBody>
          <a:bodyPr/>
          <a:lstStyle/>
          <a:p>
            <a:r>
              <a:rPr lang="zh-CN" altLang="en-US" dirty="0"/>
              <a:t>供电技术方面：持续研究中</a:t>
            </a:r>
            <a:r>
              <a:rPr lang="en-US" altLang="zh-CN" dirty="0"/>
              <a:t>…</a:t>
            </a:r>
          </a:p>
          <a:p>
            <a:pPr lvl="1"/>
            <a:r>
              <a:rPr lang="zh-CN" altLang="en-US" dirty="0"/>
              <a:t>电池供电  可再生能源供电、无线后向散射技术</a:t>
            </a:r>
            <a:r>
              <a:rPr lang="en-US" altLang="zh-CN" dirty="0"/>
              <a:t>, …</a:t>
            </a:r>
          </a:p>
          <a:p>
            <a:r>
              <a:rPr lang="zh-CN" altLang="en-US" dirty="0"/>
              <a:t>节点平台方面：集成到开放，组件更加丰富</a:t>
            </a:r>
          </a:p>
          <a:p>
            <a:pPr lvl="1"/>
            <a:r>
              <a:rPr lang="en-US" altLang="zh-CN" dirty="0" err="1"/>
              <a:t>MicaZ</a:t>
            </a:r>
            <a:r>
              <a:rPr lang="en-US" altLang="zh-CN" dirty="0"/>
              <a:t>, </a:t>
            </a:r>
            <a:r>
              <a:rPr lang="en-US" altLang="zh-CN" dirty="0" err="1"/>
              <a:t>TelosB</a:t>
            </a:r>
            <a:r>
              <a:rPr lang="en-US" altLang="zh-CN" dirty="0"/>
              <a:t> </a:t>
            </a:r>
            <a:r>
              <a:rPr lang="en-US" altLang="zh-CN" dirty="0">
                <a:sym typeface="Wingdings" panose="05000000000000000000" pitchFamily="2" charset="2"/>
              </a:rPr>
              <a:t></a:t>
            </a:r>
            <a:r>
              <a:rPr lang="en-US" altLang="zh-CN" dirty="0"/>
              <a:t> Arduino, </a:t>
            </a:r>
            <a:r>
              <a:rPr lang="en-US" altLang="zh-CN" dirty="0" err="1"/>
              <a:t>LinkIt</a:t>
            </a:r>
            <a:r>
              <a:rPr lang="en-US" altLang="zh-CN" dirty="0"/>
              <a:t> One, Beagle Bone, …</a:t>
            </a:r>
          </a:p>
          <a:p>
            <a:r>
              <a:rPr lang="zh-CN" altLang="en-US" dirty="0"/>
              <a:t>通信与组网方面：多跳 </a:t>
            </a:r>
            <a:r>
              <a:rPr lang="en-US" altLang="zh-CN" dirty="0">
                <a:sym typeface="Wingdings" panose="05000000000000000000" pitchFamily="2" charset="2"/>
              </a:rPr>
              <a:t></a:t>
            </a:r>
            <a:r>
              <a:rPr lang="zh-CN" altLang="en-US" dirty="0"/>
              <a:t> 单跳</a:t>
            </a:r>
          </a:p>
          <a:p>
            <a:pPr lvl="1"/>
            <a:r>
              <a:rPr lang="zh-CN" altLang="en-US" dirty="0"/>
              <a:t>多跳</a:t>
            </a:r>
            <a:r>
              <a:rPr lang="en-US" altLang="zh-CN" dirty="0"/>
              <a:t>ZigBee </a:t>
            </a:r>
            <a:r>
              <a:rPr lang="en-US" altLang="zh-CN" dirty="0">
                <a:sym typeface="Wingdings" panose="05000000000000000000" pitchFamily="2" charset="2"/>
              </a:rPr>
              <a:t></a:t>
            </a:r>
            <a:r>
              <a:rPr lang="en-US" altLang="zh-CN" dirty="0"/>
              <a:t> BLE</a:t>
            </a:r>
            <a:r>
              <a:rPr lang="zh-CN" altLang="en-US" dirty="0"/>
              <a:t>，</a:t>
            </a:r>
            <a:r>
              <a:rPr lang="en-US" altLang="zh-CN" dirty="0" err="1"/>
              <a:t>LoRa</a:t>
            </a:r>
            <a:r>
              <a:rPr lang="zh-CN" altLang="en-US" dirty="0"/>
              <a:t>，</a:t>
            </a:r>
            <a:r>
              <a:rPr lang="en-US" altLang="zh-CN" dirty="0"/>
              <a:t>NB-IoT</a:t>
            </a:r>
          </a:p>
          <a:p>
            <a:r>
              <a:rPr lang="zh-CN" altLang="en-US" dirty="0"/>
              <a:t>智能感知方面：感知更加智能，计算方式改变</a:t>
            </a:r>
          </a:p>
          <a:p>
            <a:pPr lvl="1"/>
            <a:r>
              <a:rPr lang="zh-CN" altLang="en-US" dirty="0"/>
              <a:t>简单的温湿度、光照 </a:t>
            </a:r>
            <a:r>
              <a:rPr lang="en-US" altLang="zh-CN" dirty="0">
                <a:sym typeface="Wingdings" panose="05000000000000000000" pitchFamily="2" charset="2"/>
              </a:rPr>
              <a:t></a:t>
            </a:r>
            <a:r>
              <a:rPr lang="zh-CN" altLang="en-US" dirty="0"/>
              <a:t> 精确手势识别、智能人机交互</a:t>
            </a:r>
          </a:p>
          <a:p>
            <a:pPr lvl="1"/>
            <a:r>
              <a:rPr lang="zh-CN" altLang="en-US" dirty="0"/>
              <a:t>计算移到边缘端</a:t>
            </a:r>
          </a:p>
          <a:p>
            <a:endParaRPr lang="zh-CN" altLang="en-US" dirty="0"/>
          </a:p>
        </p:txBody>
      </p:sp>
      <p:sp>
        <p:nvSpPr>
          <p:cNvPr id="4" name="灯片编号占位符 4">
            <a:extLst>
              <a:ext uri="{FF2B5EF4-FFF2-40B4-BE49-F238E27FC236}">
                <a16:creationId xmlns:a16="http://schemas.microsoft.com/office/drawing/2014/main" id="{5192BF19-AD36-472C-9A7C-64795242ED0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39</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68661060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E8BEF-A0F9-48F4-B11A-BCCA501780DE}"/>
              </a:ext>
            </a:extLst>
          </p:cNvPr>
          <p:cNvSpPr>
            <a:spLocks noGrp="1"/>
          </p:cNvSpPr>
          <p:nvPr>
            <p:ph type="title"/>
          </p:nvPr>
        </p:nvSpPr>
        <p:spPr/>
        <p:txBody>
          <a:bodyPr/>
          <a:lstStyle/>
          <a:p>
            <a:r>
              <a:rPr lang="zh-CN" altLang="en-US" dirty="0"/>
              <a:t>供电技术方面</a:t>
            </a:r>
          </a:p>
        </p:txBody>
      </p:sp>
      <p:sp>
        <p:nvSpPr>
          <p:cNvPr id="3" name="内容占位符 2">
            <a:extLst>
              <a:ext uri="{FF2B5EF4-FFF2-40B4-BE49-F238E27FC236}">
                <a16:creationId xmlns:a16="http://schemas.microsoft.com/office/drawing/2014/main" id="{9396DA4D-B0F0-44FF-86F3-54C0935ACF2F}"/>
              </a:ext>
            </a:extLst>
          </p:cNvPr>
          <p:cNvSpPr>
            <a:spLocks noGrp="1"/>
          </p:cNvSpPr>
          <p:nvPr>
            <p:ph idx="1"/>
          </p:nvPr>
        </p:nvSpPr>
        <p:spPr/>
        <p:txBody>
          <a:bodyPr/>
          <a:lstStyle/>
          <a:p>
            <a:r>
              <a:rPr lang="zh-CN" altLang="en-US" dirty="0"/>
              <a:t>使用可再生能源</a:t>
            </a:r>
          </a:p>
          <a:p>
            <a:pPr lvl="1"/>
            <a:r>
              <a:rPr lang="zh-CN" altLang="en-US" dirty="0"/>
              <a:t>存储能量的方式：使用充电电池；使用超电容</a:t>
            </a:r>
          </a:p>
          <a:p>
            <a:r>
              <a:rPr lang="zh-CN" altLang="en-US" dirty="0"/>
              <a:t>后向散射技术</a:t>
            </a:r>
          </a:p>
          <a:p>
            <a:pPr lvl="1"/>
            <a:r>
              <a:rPr lang="zh-CN" altLang="en-US" dirty="0"/>
              <a:t>无线后向散射技术：一个无源设备（标签）必须跟一个有源设备（阅读器）进行通信 </a:t>
            </a:r>
          </a:p>
          <a:p>
            <a:pPr lvl="1"/>
            <a:r>
              <a:rPr lang="zh-CN" altLang="en-US" dirty="0"/>
              <a:t>环境后向散射（ </a:t>
            </a:r>
            <a:r>
              <a:rPr lang="en-US" altLang="zh-CN" dirty="0"/>
              <a:t>ambient backscatter</a:t>
            </a:r>
            <a:r>
              <a:rPr lang="zh-CN" altLang="en-US" dirty="0"/>
              <a:t>）：摆脱了有源阅读器的限制，允许两个无源的物联网设备进行通信。</a:t>
            </a:r>
          </a:p>
        </p:txBody>
      </p:sp>
      <p:pic>
        <p:nvPicPr>
          <p:cNvPr id="4" name="图片 3">
            <a:extLst>
              <a:ext uri="{FF2B5EF4-FFF2-40B4-BE49-F238E27FC236}">
                <a16:creationId xmlns:a16="http://schemas.microsoft.com/office/drawing/2014/main" id="{3356E674-88BD-41F0-A1BC-A3139568BE19}"/>
              </a:ext>
            </a:extLst>
          </p:cNvPr>
          <p:cNvPicPr>
            <a:picLocks noChangeAspect="1"/>
          </p:cNvPicPr>
          <p:nvPr/>
        </p:nvPicPr>
        <p:blipFill>
          <a:blip r:embed="rId2"/>
          <a:stretch>
            <a:fillRect/>
          </a:stretch>
        </p:blipFill>
        <p:spPr>
          <a:xfrm>
            <a:off x="2883652" y="4067870"/>
            <a:ext cx="3784272" cy="2599630"/>
          </a:xfrm>
          <a:prstGeom prst="rect">
            <a:avLst/>
          </a:prstGeom>
        </p:spPr>
      </p:pic>
      <p:sp>
        <p:nvSpPr>
          <p:cNvPr id="5" name="灯片编号占位符 4">
            <a:extLst>
              <a:ext uri="{FF2B5EF4-FFF2-40B4-BE49-F238E27FC236}">
                <a16:creationId xmlns:a16="http://schemas.microsoft.com/office/drawing/2014/main" id="{BA71EE35-EABF-46DC-9C4B-48F34F086C7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3844294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4FB233-5AE9-4173-8A0B-7FD76C7646AC}"/>
              </a:ext>
            </a:extLst>
          </p:cNvPr>
          <p:cNvSpPr>
            <a:spLocks noGrp="1"/>
          </p:cNvSpPr>
          <p:nvPr>
            <p:ph type="title"/>
          </p:nvPr>
        </p:nvSpPr>
        <p:spPr/>
        <p:txBody>
          <a:bodyPr/>
          <a:lstStyle/>
          <a:p>
            <a:r>
              <a:rPr lang="zh-CN" altLang="en-US" dirty="0"/>
              <a:t>节点平台方面</a:t>
            </a:r>
          </a:p>
        </p:txBody>
      </p:sp>
      <p:sp>
        <p:nvSpPr>
          <p:cNvPr id="3" name="内容占位符 2">
            <a:extLst>
              <a:ext uri="{FF2B5EF4-FFF2-40B4-BE49-F238E27FC236}">
                <a16:creationId xmlns:a16="http://schemas.microsoft.com/office/drawing/2014/main" id="{119DCAD3-E658-46CB-895B-A52ACAD18C1A}"/>
              </a:ext>
            </a:extLst>
          </p:cNvPr>
          <p:cNvSpPr>
            <a:spLocks noGrp="1"/>
          </p:cNvSpPr>
          <p:nvPr>
            <p:ph idx="1"/>
          </p:nvPr>
        </p:nvSpPr>
        <p:spPr/>
        <p:txBody>
          <a:bodyPr/>
          <a:lstStyle/>
          <a:p>
            <a:r>
              <a:rPr lang="zh-CN" altLang="en-US" dirty="0"/>
              <a:t>传统传感平台 </a:t>
            </a:r>
          </a:p>
          <a:p>
            <a:pPr lvl="1"/>
            <a:r>
              <a:rPr lang="zh-CN" altLang="en-US" dirty="0"/>
              <a:t>包括：</a:t>
            </a:r>
            <a:r>
              <a:rPr lang="en-US" altLang="zh-CN" dirty="0" err="1"/>
              <a:t>MicaZ</a:t>
            </a:r>
            <a:r>
              <a:rPr lang="en-US" altLang="zh-CN" dirty="0"/>
              <a:t> </a:t>
            </a:r>
            <a:r>
              <a:rPr lang="zh-CN" altLang="en-US" dirty="0"/>
              <a:t>、</a:t>
            </a:r>
            <a:r>
              <a:rPr lang="en-US" altLang="zh-CN" dirty="0" err="1"/>
              <a:t>TelosB</a:t>
            </a:r>
            <a:r>
              <a:rPr lang="en-US" altLang="zh-CN" dirty="0"/>
              <a:t> ……</a:t>
            </a:r>
          </a:p>
          <a:p>
            <a:pPr lvl="1"/>
            <a:r>
              <a:rPr lang="zh-CN" altLang="en-US" dirty="0"/>
              <a:t>节点集成了通用的传感器、</a:t>
            </a:r>
            <a:r>
              <a:rPr lang="en-US" altLang="zh-CN" dirty="0"/>
              <a:t>802.15.4 </a:t>
            </a:r>
            <a:r>
              <a:rPr lang="zh-CN" altLang="en-US" dirty="0"/>
              <a:t>通信芯片、低功耗微控制器等，具有感知、通信和计算能力，是无线传感器网络研究的基础。但这些平台难以直接应用在实际的物联网场景中 </a:t>
            </a:r>
          </a:p>
          <a:p>
            <a:r>
              <a:rPr lang="zh-CN" altLang="en-US" dirty="0"/>
              <a:t>智能硬件（</a:t>
            </a:r>
            <a:r>
              <a:rPr lang="en-US" altLang="zh-CN" dirty="0"/>
              <a:t>smart things</a:t>
            </a:r>
            <a:r>
              <a:rPr lang="zh-CN" altLang="en-US" dirty="0"/>
              <a:t>）：功能强大的平台</a:t>
            </a:r>
          </a:p>
          <a:p>
            <a:pPr lvl="1"/>
            <a:r>
              <a:rPr lang="zh-CN" altLang="en-US" dirty="0"/>
              <a:t>包括：</a:t>
            </a:r>
            <a:r>
              <a:rPr lang="en-US" altLang="zh-CN" dirty="0">
                <a:solidFill>
                  <a:srgbClr val="C00000"/>
                </a:solidFill>
              </a:rPr>
              <a:t>Arduino</a:t>
            </a:r>
            <a:r>
              <a:rPr lang="zh-CN" altLang="en-US" dirty="0">
                <a:solidFill>
                  <a:srgbClr val="C00000"/>
                </a:solidFill>
              </a:rPr>
              <a:t>、树莓派</a:t>
            </a:r>
            <a:r>
              <a:rPr lang="en-US" altLang="zh-CN" dirty="0"/>
              <a:t>……</a:t>
            </a:r>
          </a:p>
          <a:p>
            <a:pPr lvl="1"/>
            <a:r>
              <a:rPr lang="zh-CN" altLang="en-US" dirty="0"/>
              <a:t>与传统传感平台的区别：</a:t>
            </a:r>
          </a:p>
          <a:p>
            <a:pPr lvl="2"/>
            <a:r>
              <a:rPr lang="zh-CN" altLang="en-US" dirty="0"/>
              <a:t>扩展性和易用性：</a:t>
            </a:r>
            <a:r>
              <a:rPr lang="en-US" altLang="zh-CN" dirty="0"/>
              <a:t>Arduino </a:t>
            </a:r>
            <a:r>
              <a:rPr lang="zh-CN" altLang="en-US" dirty="0"/>
              <a:t>主板及扩展板包含很多接口，可以支持多种不同类型的功能模块</a:t>
            </a:r>
          </a:p>
          <a:p>
            <a:pPr lvl="2"/>
            <a:r>
              <a:rPr lang="zh-CN" altLang="en-US" dirty="0"/>
              <a:t>节点平台的异构性进一步加剧</a:t>
            </a:r>
          </a:p>
          <a:p>
            <a:endParaRPr lang="zh-CN" altLang="en-US" dirty="0"/>
          </a:p>
        </p:txBody>
      </p:sp>
      <p:sp>
        <p:nvSpPr>
          <p:cNvPr id="4" name="灯片编号占位符 4">
            <a:extLst>
              <a:ext uri="{FF2B5EF4-FFF2-40B4-BE49-F238E27FC236}">
                <a16:creationId xmlns:a16="http://schemas.microsoft.com/office/drawing/2014/main" id="{31198127-BA55-4513-A840-F19EBA2E98A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23781007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423603-CF56-4B5B-B3DA-C4185EA3DCDC}"/>
              </a:ext>
            </a:extLst>
          </p:cNvPr>
          <p:cNvSpPr>
            <a:spLocks noGrp="1"/>
          </p:cNvSpPr>
          <p:nvPr>
            <p:ph type="title"/>
          </p:nvPr>
        </p:nvSpPr>
        <p:spPr/>
        <p:txBody>
          <a:bodyPr/>
          <a:lstStyle/>
          <a:p>
            <a:r>
              <a:rPr lang="zh-CN" altLang="en-US" dirty="0"/>
              <a:t>节点平台方面</a:t>
            </a:r>
          </a:p>
        </p:txBody>
      </p:sp>
      <p:sp>
        <p:nvSpPr>
          <p:cNvPr id="3" name="内容占位符 2">
            <a:extLst>
              <a:ext uri="{FF2B5EF4-FFF2-40B4-BE49-F238E27FC236}">
                <a16:creationId xmlns:a16="http://schemas.microsoft.com/office/drawing/2014/main" id="{4959DB06-E859-4C8E-9EF6-45D0C36BEEB8}"/>
              </a:ext>
            </a:extLst>
          </p:cNvPr>
          <p:cNvSpPr>
            <a:spLocks noGrp="1"/>
          </p:cNvSpPr>
          <p:nvPr>
            <p:ph idx="1"/>
          </p:nvPr>
        </p:nvSpPr>
        <p:spPr/>
        <p:txBody>
          <a:bodyPr/>
          <a:lstStyle/>
          <a:p>
            <a:r>
              <a:rPr lang="en-US" altLang="zh-CN" dirty="0" err="1"/>
              <a:t>TinyLink</a:t>
            </a:r>
            <a:r>
              <a:rPr lang="zh-CN" altLang="en-US" dirty="0"/>
              <a:t>（ </a:t>
            </a:r>
            <a:r>
              <a:rPr lang="en-US" altLang="zh-CN" dirty="0"/>
              <a:t>http://tinylink.emnets.org</a:t>
            </a:r>
            <a:r>
              <a:rPr lang="zh-CN" altLang="en-US" dirty="0"/>
              <a:t>） </a:t>
            </a:r>
          </a:p>
          <a:p>
            <a:pPr lvl="1"/>
            <a:r>
              <a:rPr lang="zh-CN" altLang="en-US" dirty="0"/>
              <a:t>系统改变了传统嵌入式开发自底向上的模式，将其变为自顶向下的模式。这样由软件定义硬件、自顶向下的开发模型将大大加速物联网应用的开发</a:t>
            </a:r>
          </a:p>
          <a:p>
            <a:pPr lvl="1"/>
            <a:r>
              <a:rPr lang="zh-CN" altLang="en-US" dirty="0"/>
              <a:t>开发流程：</a:t>
            </a:r>
          </a:p>
          <a:p>
            <a:pPr marL="1257300" lvl="2" indent="-342900">
              <a:buFont typeface="+mj-ea"/>
              <a:buAutoNum type="circleNumDbPlain"/>
            </a:pPr>
            <a:r>
              <a:rPr lang="zh-CN" altLang="en-US" dirty="0"/>
              <a:t>开发者首先基于抽象的编程语言进行应用的开发</a:t>
            </a:r>
          </a:p>
          <a:p>
            <a:pPr marL="1257300" lvl="2" indent="-342900">
              <a:buFont typeface="+mj-ea"/>
              <a:buAutoNum type="circleNumDbPlain"/>
            </a:pPr>
            <a:r>
              <a:rPr lang="en-US" altLang="zh-CN" dirty="0" err="1"/>
              <a:t>TinyLink</a:t>
            </a:r>
            <a:r>
              <a:rPr lang="en-US" altLang="zh-CN" dirty="0"/>
              <a:t> </a:t>
            </a:r>
            <a:r>
              <a:rPr lang="zh-CN" altLang="en-US" dirty="0"/>
              <a:t>系统对代码进行自动分析，获得应用所需要的组件（如 </a:t>
            </a:r>
            <a:r>
              <a:rPr lang="en-US" altLang="zh-CN" dirty="0"/>
              <a:t>PM2.5 </a:t>
            </a:r>
            <a:r>
              <a:rPr lang="zh-CN" altLang="en-US" dirty="0"/>
              <a:t>传感器、 </a:t>
            </a:r>
            <a:r>
              <a:rPr lang="en-US" altLang="zh-CN" dirty="0"/>
              <a:t>GPS </a:t>
            </a:r>
            <a:r>
              <a:rPr lang="zh-CN" altLang="en-US" dirty="0"/>
              <a:t>等）</a:t>
            </a:r>
          </a:p>
          <a:p>
            <a:pPr marL="1257300" lvl="2" indent="-342900">
              <a:buFont typeface="+mj-ea"/>
              <a:buAutoNum type="circleNumDbPlain"/>
            </a:pPr>
            <a:r>
              <a:rPr lang="zh-CN" altLang="en-US" dirty="0"/>
              <a:t>系统在综合考虑各种硬件限制条件的基础上，自动给出硬件选型的建议 </a:t>
            </a:r>
          </a:p>
          <a:p>
            <a:pPr marL="1257300" lvl="2" indent="-342900">
              <a:buFont typeface="+mj-ea"/>
              <a:buAutoNum type="circleNumDbPlain"/>
            </a:pPr>
            <a:r>
              <a:rPr lang="zh-CN" altLang="en-US" dirty="0"/>
              <a:t>当硬件定型，上层应用代码将自动交叉编译成硬件匹配的目标代码 </a:t>
            </a:r>
            <a:br>
              <a:rPr lang="zh-CN" altLang="en-US" dirty="0"/>
            </a:br>
            <a:br>
              <a:rPr lang="zh-CN" altLang="en-US" dirty="0"/>
            </a:br>
            <a:br>
              <a:rPr lang="zh-CN" altLang="en-US" dirty="0"/>
            </a:br>
            <a:r>
              <a:rPr lang="zh-CN" altLang="en-US" dirty="0"/>
              <a:t> </a:t>
            </a:r>
            <a:br>
              <a:rPr lang="zh-CN" altLang="en-US" dirty="0"/>
            </a:br>
            <a:endParaRPr lang="zh-CN" altLang="en-US" dirty="0"/>
          </a:p>
          <a:p>
            <a:endParaRPr lang="zh-CN" altLang="en-US" dirty="0"/>
          </a:p>
        </p:txBody>
      </p:sp>
      <p:sp>
        <p:nvSpPr>
          <p:cNvPr id="4" name="灯片编号占位符 4">
            <a:extLst>
              <a:ext uri="{FF2B5EF4-FFF2-40B4-BE49-F238E27FC236}">
                <a16:creationId xmlns:a16="http://schemas.microsoft.com/office/drawing/2014/main" id="{3496D7CB-55B5-4A10-AC72-C827F59D0C7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27525555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33EEB8-734B-441F-B578-F19367E0F1A5}"/>
              </a:ext>
            </a:extLst>
          </p:cNvPr>
          <p:cNvSpPr>
            <a:spLocks noGrp="1"/>
          </p:cNvSpPr>
          <p:nvPr>
            <p:ph type="title"/>
          </p:nvPr>
        </p:nvSpPr>
        <p:spPr/>
        <p:txBody>
          <a:bodyPr/>
          <a:lstStyle/>
          <a:p>
            <a:r>
              <a:rPr lang="zh-CN" altLang="en-US" dirty="0"/>
              <a:t>通信与组网方面</a:t>
            </a:r>
          </a:p>
        </p:txBody>
      </p:sp>
      <p:sp>
        <p:nvSpPr>
          <p:cNvPr id="3" name="内容占位符 2">
            <a:extLst>
              <a:ext uri="{FF2B5EF4-FFF2-40B4-BE49-F238E27FC236}">
                <a16:creationId xmlns:a16="http://schemas.microsoft.com/office/drawing/2014/main" id="{5A103FF9-379D-458E-9781-166DF32E9F94}"/>
              </a:ext>
            </a:extLst>
          </p:cNvPr>
          <p:cNvSpPr>
            <a:spLocks noGrp="1"/>
          </p:cNvSpPr>
          <p:nvPr>
            <p:ph idx="1"/>
          </p:nvPr>
        </p:nvSpPr>
        <p:spPr/>
        <p:txBody>
          <a:bodyPr/>
          <a:lstStyle/>
          <a:p>
            <a:r>
              <a:rPr lang="zh-CN" altLang="en-US" dirty="0"/>
              <a:t>低功耗短距离通信技术</a:t>
            </a:r>
          </a:p>
          <a:p>
            <a:pPr lvl="1"/>
            <a:r>
              <a:rPr lang="zh-CN" altLang="en-US" dirty="0"/>
              <a:t>如 </a:t>
            </a:r>
            <a:r>
              <a:rPr lang="en-US" altLang="zh-CN" dirty="0"/>
              <a:t>IEEE 802.15.4</a:t>
            </a:r>
          </a:p>
          <a:p>
            <a:pPr lvl="1"/>
            <a:r>
              <a:rPr lang="zh-CN" altLang="en-US" dirty="0"/>
              <a:t>节点间传输距离短：＜</a:t>
            </a:r>
            <a:r>
              <a:rPr lang="en-US" altLang="zh-CN" dirty="0"/>
              <a:t>100m</a:t>
            </a:r>
          </a:p>
          <a:p>
            <a:pPr lvl="1"/>
            <a:r>
              <a:rPr lang="zh-CN" altLang="en-US" dirty="0"/>
              <a:t>多跳路由协议：</a:t>
            </a:r>
            <a:r>
              <a:rPr lang="en-US" altLang="zh-CN" dirty="0"/>
              <a:t>CTP</a:t>
            </a:r>
            <a:r>
              <a:rPr lang="zh-CN" altLang="en-US" dirty="0"/>
              <a:t>、</a:t>
            </a:r>
            <a:r>
              <a:rPr lang="en-US" altLang="zh-CN" dirty="0"/>
              <a:t>RPL</a:t>
            </a:r>
            <a:r>
              <a:rPr lang="zh-CN" altLang="en-US" dirty="0"/>
              <a:t>、</a:t>
            </a:r>
            <a:r>
              <a:rPr lang="en-US" altLang="zh-CN" dirty="0"/>
              <a:t>LLN</a:t>
            </a:r>
          </a:p>
          <a:p>
            <a:r>
              <a:rPr lang="zh-CN" altLang="en-US" dirty="0"/>
              <a:t>低功耗广域网（ </a:t>
            </a:r>
            <a:r>
              <a:rPr lang="en-US" altLang="zh-CN" dirty="0"/>
              <a:t>LPWAN</a:t>
            </a:r>
            <a:r>
              <a:rPr lang="zh-CN" altLang="en-US" dirty="0"/>
              <a:t>）</a:t>
            </a:r>
          </a:p>
          <a:p>
            <a:pPr lvl="1"/>
            <a:r>
              <a:rPr lang="zh-CN" altLang="en-US" dirty="0"/>
              <a:t>代表性技术：</a:t>
            </a:r>
            <a:r>
              <a:rPr lang="en-US" altLang="zh-CN" dirty="0">
                <a:solidFill>
                  <a:srgbClr val="C00000"/>
                </a:solidFill>
              </a:rPr>
              <a:t>NB-IoT</a:t>
            </a:r>
            <a:r>
              <a:rPr lang="zh-CN" altLang="en-US" dirty="0">
                <a:solidFill>
                  <a:srgbClr val="C00000"/>
                </a:solidFill>
              </a:rPr>
              <a:t>、 </a:t>
            </a:r>
            <a:r>
              <a:rPr lang="en-US" altLang="zh-CN" dirty="0" err="1">
                <a:solidFill>
                  <a:srgbClr val="C00000"/>
                </a:solidFill>
              </a:rPr>
              <a:t>LoRa</a:t>
            </a:r>
            <a:r>
              <a:rPr lang="zh-CN" altLang="en-US" dirty="0">
                <a:solidFill>
                  <a:srgbClr val="C00000"/>
                </a:solidFill>
              </a:rPr>
              <a:t>、 </a:t>
            </a:r>
            <a:r>
              <a:rPr lang="en-US" altLang="zh-CN" dirty="0" err="1">
                <a:solidFill>
                  <a:srgbClr val="C00000"/>
                </a:solidFill>
              </a:rPr>
              <a:t>SigFox</a:t>
            </a:r>
            <a:endParaRPr lang="en-US" altLang="zh-CN" dirty="0">
              <a:solidFill>
                <a:srgbClr val="C00000"/>
              </a:solidFill>
            </a:endParaRPr>
          </a:p>
          <a:p>
            <a:pPr lvl="1"/>
            <a:r>
              <a:rPr lang="zh-CN" altLang="en-US" dirty="0"/>
              <a:t>具有前景，但未必可以取代已有的技术</a:t>
            </a:r>
          </a:p>
          <a:p>
            <a:pPr lvl="2"/>
            <a:r>
              <a:rPr lang="zh-CN" altLang="en-US" dirty="0"/>
              <a:t>针对室外大范围部署， </a:t>
            </a:r>
            <a:r>
              <a:rPr lang="en-US" altLang="zh-CN" dirty="0"/>
              <a:t>LPWAN </a:t>
            </a:r>
            <a:r>
              <a:rPr lang="zh-CN" altLang="en-US" dirty="0"/>
              <a:t>是一个很好的解决方案。</a:t>
            </a:r>
            <a:endParaRPr lang="en-US" altLang="zh-CN" dirty="0"/>
          </a:p>
          <a:p>
            <a:pPr lvl="2"/>
            <a:r>
              <a:rPr lang="en-US" altLang="zh-CN" dirty="0"/>
              <a:t>NB-IoT </a:t>
            </a:r>
            <a:r>
              <a:rPr lang="zh-CN" altLang="en-US" dirty="0"/>
              <a:t>是基于 </a:t>
            </a:r>
            <a:r>
              <a:rPr lang="en-US" altLang="zh-CN" dirty="0"/>
              <a:t>LTE </a:t>
            </a:r>
            <a:r>
              <a:rPr lang="zh-CN" altLang="en-US" dirty="0"/>
              <a:t>的改进版本，具有技术成熟、可以复用已有基站的好处。 </a:t>
            </a:r>
            <a:endParaRPr lang="en-US" altLang="zh-CN" dirty="0"/>
          </a:p>
          <a:p>
            <a:pPr lvl="2"/>
            <a:r>
              <a:rPr lang="en-US" altLang="zh-CN" dirty="0" err="1"/>
              <a:t>LoRa</a:t>
            </a:r>
            <a:r>
              <a:rPr lang="en-US" altLang="zh-CN" dirty="0"/>
              <a:t> </a:t>
            </a:r>
            <a:r>
              <a:rPr lang="zh-CN" altLang="en-US" dirty="0"/>
              <a:t>需要部署 </a:t>
            </a:r>
            <a:r>
              <a:rPr lang="en-US" altLang="zh-CN" dirty="0" err="1"/>
              <a:t>LoRa</a:t>
            </a:r>
            <a:r>
              <a:rPr lang="en-US" altLang="zh-CN" dirty="0"/>
              <a:t> </a:t>
            </a:r>
            <a:r>
              <a:rPr lang="zh-CN" altLang="en-US" dirty="0"/>
              <a:t>基站，但也适用于智慧园区等场景中，而且 </a:t>
            </a:r>
            <a:r>
              <a:rPr lang="en-US" altLang="zh-CN" dirty="0" err="1"/>
              <a:t>LoRa</a:t>
            </a:r>
            <a:r>
              <a:rPr lang="en-US" altLang="zh-CN" dirty="0"/>
              <a:t> </a:t>
            </a:r>
            <a:r>
              <a:rPr lang="zh-CN" altLang="en-US" dirty="0"/>
              <a:t>技术开放程度更高，更容易二次开发</a:t>
            </a:r>
          </a:p>
        </p:txBody>
      </p:sp>
      <p:sp>
        <p:nvSpPr>
          <p:cNvPr id="4" name="灯片编号占位符 4">
            <a:extLst>
              <a:ext uri="{FF2B5EF4-FFF2-40B4-BE49-F238E27FC236}">
                <a16:creationId xmlns:a16="http://schemas.microsoft.com/office/drawing/2014/main" id="{CA2C4AFB-CDEB-40AE-81C8-617DACD6DFC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43</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53233828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8A982A-697B-4C6B-A0E3-B076B4D7B9C4}"/>
              </a:ext>
            </a:extLst>
          </p:cNvPr>
          <p:cNvSpPr>
            <a:spLocks noGrp="1"/>
          </p:cNvSpPr>
          <p:nvPr>
            <p:ph type="title"/>
          </p:nvPr>
        </p:nvSpPr>
        <p:spPr/>
        <p:txBody>
          <a:bodyPr/>
          <a:lstStyle/>
          <a:p>
            <a:r>
              <a:rPr lang="zh-CN" altLang="en-US" dirty="0"/>
              <a:t>智能感知方面</a:t>
            </a:r>
          </a:p>
        </p:txBody>
      </p:sp>
      <p:sp>
        <p:nvSpPr>
          <p:cNvPr id="3" name="内容占位符 2">
            <a:extLst>
              <a:ext uri="{FF2B5EF4-FFF2-40B4-BE49-F238E27FC236}">
                <a16:creationId xmlns:a16="http://schemas.microsoft.com/office/drawing/2014/main" id="{290B3E7E-EAF3-4DFA-9DE1-2B62F287576D}"/>
              </a:ext>
            </a:extLst>
          </p:cNvPr>
          <p:cNvSpPr>
            <a:spLocks noGrp="1"/>
          </p:cNvSpPr>
          <p:nvPr>
            <p:ph idx="1"/>
          </p:nvPr>
        </p:nvSpPr>
        <p:spPr/>
        <p:txBody>
          <a:bodyPr/>
          <a:lstStyle/>
          <a:p>
            <a:r>
              <a:rPr lang="zh-CN" altLang="en-US" dirty="0"/>
              <a:t>智能感知技术得到了很大的关注和发展，具有三个典型的特征： </a:t>
            </a:r>
          </a:p>
          <a:p>
            <a:pPr lvl="1"/>
            <a:r>
              <a:rPr lang="zh-CN" altLang="en-US" dirty="0"/>
              <a:t>新的感知手段和感知场景不断涌现</a:t>
            </a:r>
          </a:p>
          <a:p>
            <a:pPr lvl="1"/>
            <a:r>
              <a:rPr lang="zh-CN" altLang="en-US" dirty="0"/>
              <a:t>特别关注与人的交互</a:t>
            </a:r>
          </a:p>
          <a:p>
            <a:pPr lvl="1"/>
            <a:r>
              <a:rPr lang="zh-CN" altLang="en-US" dirty="0"/>
              <a:t>催生新的通信与计算模式：边缘计算等</a:t>
            </a:r>
          </a:p>
        </p:txBody>
      </p:sp>
      <p:pic>
        <p:nvPicPr>
          <p:cNvPr id="4" name="图片 3">
            <a:extLst>
              <a:ext uri="{FF2B5EF4-FFF2-40B4-BE49-F238E27FC236}">
                <a16:creationId xmlns:a16="http://schemas.microsoft.com/office/drawing/2014/main" id="{FAC13659-F33E-4909-924F-518557A5C845}"/>
              </a:ext>
            </a:extLst>
          </p:cNvPr>
          <p:cNvPicPr>
            <a:picLocks noChangeAspect="1"/>
          </p:cNvPicPr>
          <p:nvPr/>
        </p:nvPicPr>
        <p:blipFill>
          <a:blip r:embed="rId2"/>
          <a:stretch>
            <a:fillRect/>
          </a:stretch>
        </p:blipFill>
        <p:spPr>
          <a:xfrm>
            <a:off x="541306" y="3214254"/>
            <a:ext cx="3776038" cy="3332764"/>
          </a:xfrm>
          <a:prstGeom prst="rect">
            <a:avLst/>
          </a:prstGeom>
        </p:spPr>
      </p:pic>
      <p:pic>
        <p:nvPicPr>
          <p:cNvPr id="5" name="图片 4">
            <a:extLst>
              <a:ext uri="{FF2B5EF4-FFF2-40B4-BE49-F238E27FC236}">
                <a16:creationId xmlns:a16="http://schemas.microsoft.com/office/drawing/2014/main" id="{5FAA93E0-612C-4E58-89C9-5631B144080E}"/>
              </a:ext>
            </a:extLst>
          </p:cNvPr>
          <p:cNvPicPr>
            <a:picLocks noChangeAspect="1"/>
          </p:cNvPicPr>
          <p:nvPr/>
        </p:nvPicPr>
        <p:blipFill>
          <a:blip r:embed="rId3"/>
          <a:stretch>
            <a:fillRect/>
          </a:stretch>
        </p:blipFill>
        <p:spPr>
          <a:xfrm>
            <a:off x="4373339" y="3183432"/>
            <a:ext cx="4232513" cy="3332763"/>
          </a:xfrm>
          <a:prstGeom prst="rect">
            <a:avLst/>
          </a:prstGeom>
        </p:spPr>
      </p:pic>
      <p:sp>
        <p:nvSpPr>
          <p:cNvPr id="6" name="灯片编号占位符 4">
            <a:extLst>
              <a:ext uri="{FF2B5EF4-FFF2-40B4-BE49-F238E27FC236}">
                <a16:creationId xmlns:a16="http://schemas.microsoft.com/office/drawing/2014/main" id="{5CC5EB8B-87C0-4C54-AAD1-6EE82B1DBE6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228326308"/>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FCF1C-1C00-48CD-8053-5985F0FC768B}"/>
              </a:ext>
            </a:extLst>
          </p:cNvPr>
          <p:cNvSpPr>
            <a:spLocks noGrp="1"/>
          </p:cNvSpPr>
          <p:nvPr>
            <p:ph type="title"/>
          </p:nvPr>
        </p:nvSpPr>
        <p:spPr/>
        <p:txBody>
          <a:bodyPr/>
          <a:lstStyle/>
          <a:p>
            <a:r>
              <a:rPr lang="zh-CN" altLang="en-US" dirty="0"/>
              <a:t>智能感知方面</a:t>
            </a:r>
          </a:p>
        </p:txBody>
      </p:sp>
      <p:sp>
        <p:nvSpPr>
          <p:cNvPr id="3" name="内容占位符 2">
            <a:extLst>
              <a:ext uri="{FF2B5EF4-FFF2-40B4-BE49-F238E27FC236}">
                <a16:creationId xmlns:a16="http://schemas.microsoft.com/office/drawing/2014/main" id="{55ACA8B4-DC92-4512-A594-CE1899445401}"/>
              </a:ext>
            </a:extLst>
          </p:cNvPr>
          <p:cNvSpPr>
            <a:spLocks noGrp="1"/>
          </p:cNvSpPr>
          <p:nvPr>
            <p:ph idx="1"/>
          </p:nvPr>
        </p:nvSpPr>
        <p:spPr/>
        <p:txBody>
          <a:bodyPr/>
          <a:lstStyle/>
          <a:p>
            <a:r>
              <a:rPr lang="zh-CN" altLang="en-US" dirty="0"/>
              <a:t>边缘计算：</a:t>
            </a:r>
            <a:endParaRPr lang="en-US" altLang="zh-CN" dirty="0"/>
          </a:p>
          <a:p>
            <a:pPr lvl="1"/>
            <a:r>
              <a:rPr lang="zh-CN" altLang="en-US" dirty="0"/>
              <a:t>“边缘计算”是在</a:t>
            </a:r>
            <a:r>
              <a:rPr lang="zh-CN" altLang="en-US" b="1" dirty="0"/>
              <a:t>靠近物或数据源头的网络边缘侧</a:t>
            </a:r>
            <a:r>
              <a:rPr lang="zh-CN" altLang="en-US" dirty="0"/>
              <a:t>，融合网络、计算、存储、应用核心能力的开放平台，就近提供边缘智能服务 </a:t>
            </a:r>
          </a:p>
          <a:p>
            <a:pPr lvl="1"/>
            <a:r>
              <a:rPr lang="zh-CN" altLang="en-US" dirty="0"/>
              <a:t>狭义：指在边缘网关上进行计算 </a:t>
            </a:r>
          </a:p>
          <a:p>
            <a:pPr lvl="1"/>
            <a:r>
              <a:rPr lang="zh-CN" altLang="en-US" dirty="0"/>
              <a:t>广义：也包括在物联网设备上计算</a:t>
            </a:r>
          </a:p>
          <a:p>
            <a:r>
              <a:rPr lang="zh-CN" altLang="en-US" dirty="0"/>
              <a:t>以 </a:t>
            </a:r>
            <a:r>
              <a:rPr lang="en-US" altLang="zh-CN" dirty="0" err="1"/>
              <a:t>WiFi</a:t>
            </a:r>
            <a:r>
              <a:rPr lang="en-US" altLang="zh-CN" dirty="0"/>
              <a:t> </a:t>
            </a:r>
            <a:r>
              <a:rPr lang="zh-CN" altLang="en-US" dirty="0"/>
              <a:t>路由器为例， 要进行边缘计算需将其变为智能网关 </a:t>
            </a:r>
          </a:p>
          <a:p>
            <a:pPr lvl="1"/>
            <a:r>
              <a:rPr lang="zh-CN" altLang="en-US" dirty="0"/>
              <a:t>功能模块</a:t>
            </a:r>
          </a:p>
          <a:p>
            <a:pPr lvl="1"/>
            <a:r>
              <a:rPr lang="zh-CN" altLang="en-US" dirty="0"/>
              <a:t>连接模块</a:t>
            </a:r>
          </a:p>
          <a:p>
            <a:pPr lvl="1"/>
            <a:r>
              <a:rPr lang="zh-CN" altLang="en-US" dirty="0"/>
              <a:t>管理模块</a:t>
            </a:r>
          </a:p>
          <a:p>
            <a:pPr lvl="1"/>
            <a:r>
              <a:rPr lang="zh-CN" altLang="en-US" dirty="0"/>
              <a:t>安全模块</a:t>
            </a:r>
          </a:p>
          <a:p>
            <a:pPr lvl="1"/>
            <a:r>
              <a:rPr lang="zh-CN" altLang="en-US" dirty="0"/>
              <a:t>计算和存储模块</a:t>
            </a:r>
          </a:p>
        </p:txBody>
      </p:sp>
      <p:pic>
        <p:nvPicPr>
          <p:cNvPr id="4" name="图片 3">
            <a:extLst>
              <a:ext uri="{FF2B5EF4-FFF2-40B4-BE49-F238E27FC236}">
                <a16:creationId xmlns:a16="http://schemas.microsoft.com/office/drawing/2014/main" id="{105D4DC3-6E1C-45EF-9A66-70621A347C5B}"/>
              </a:ext>
            </a:extLst>
          </p:cNvPr>
          <p:cNvPicPr>
            <a:picLocks noChangeAspect="1"/>
          </p:cNvPicPr>
          <p:nvPr/>
        </p:nvPicPr>
        <p:blipFill>
          <a:blip r:embed="rId2"/>
          <a:stretch>
            <a:fillRect/>
          </a:stretch>
        </p:blipFill>
        <p:spPr>
          <a:xfrm>
            <a:off x="3388345" y="3695700"/>
            <a:ext cx="4982110" cy="2858695"/>
          </a:xfrm>
          <a:prstGeom prst="rect">
            <a:avLst/>
          </a:prstGeom>
        </p:spPr>
      </p:pic>
      <p:sp>
        <p:nvSpPr>
          <p:cNvPr id="5" name="灯片编号占位符 4">
            <a:extLst>
              <a:ext uri="{FF2B5EF4-FFF2-40B4-BE49-F238E27FC236}">
                <a16:creationId xmlns:a16="http://schemas.microsoft.com/office/drawing/2014/main" id="{CE97B1C2-1E0C-46B6-BCF6-4DCCFC52303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6057645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403225" y="2598420"/>
            <a:ext cx="8532813" cy="92333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aseline="-25000">
                <a:solidFill>
                  <a:schemeClr val="tx1"/>
                </a:solidFill>
                <a:latin typeface="Arial" charset="0"/>
                <a:ea typeface="宋体" charset="-122"/>
              </a:defRPr>
            </a:lvl1pPr>
            <a:lvl2pPr marL="742950" indent="-285750" eaLnBrk="0" hangingPunct="0">
              <a:defRPr sz="2400" baseline="-25000">
                <a:solidFill>
                  <a:schemeClr val="tx1"/>
                </a:solidFill>
                <a:latin typeface="Arial" charset="0"/>
                <a:ea typeface="宋体" charset="-122"/>
              </a:defRPr>
            </a:lvl2pPr>
            <a:lvl3pPr marL="1143000" indent="-228600" eaLnBrk="0" hangingPunct="0">
              <a:defRPr sz="2400" baseline="-25000">
                <a:solidFill>
                  <a:schemeClr val="tx1"/>
                </a:solidFill>
                <a:latin typeface="Arial" charset="0"/>
                <a:ea typeface="宋体" charset="-122"/>
              </a:defRPr>
            </a:lvl3pPr>
            <a:lvl4pPr marL="1600200" indent="-228600" eaLnBrk="0" hangingPunct="0">
              <a:defRPr sz="2400" baseline="-25000">
                <a:solidFill>
                  <a:schemeClr val="tx1"/>
                </a:solidFill>
                <a:latin typeface="Arial" charset="0"/>
                <a:ea typeface="宋体" charset="-122"/>
              </a:defRPr>
            </a:lvl4pPr>
            <a:lvl5pPr marL="2057400" indent="-228600" eaLnBrk="0" hangingPunct="0">
              <a:defRPr sz="2400" baseline="-25000">
                <a:solidFill>
                  <a:schemeClr val="tx1"/>
                </a:solidFill>
                <a:latin typeface="Arial" charset="0"/>
                <a:ea typeface="宋体" charset="-122"/>
              </a:defRPr>
            </a:lvl5pPr>
            <a:lvl6pPr marL="2514600" indent="-228600" eaLnBrk="0" fontAlgn="base" hangingPunct="0">
              <a:spcBef>
                <a:spcPct val="0"/>
              </a:spcBef>
              <a:spcAft>
                <a:spcPct val="0"/>
              </a:spcAft>
              <a:defRPr sz="2400" baseline="-25000">
                <a:solidFill>
                  <a:schemeClr val="tx1"/>
                </a:solidFill>
                <a:latin typeface="Arial" charset="0"/>
                <a:ea typeface="宋体" charset="-122"/>
              </a:defRPr>
            </a:lvl6pPr>
            <a:lvl7pPr marL="2971800" indent="-228600" eaLnBrk="0" fontAlgn="base" hangingPunct="0">
              <a:spcBef>
                <a:spcPct val="0"/>
              </a:spcBef>
              <a:spcAft>
                <a:spcPct val="0"/>
              </a:spcAft>
              <a:defRPr sz="2400" baseline="-25000">
                <a:solidFill>
                  <a:schemeClr val="tx1"/>
                </a:solidFill>
                <a:latin typeface="Arial" charset="0"/>
                <a:ea typeface="宋体" charset="-122"/>
              </a:defRPr>
            </a:lvl7pPr>
            <a:lvl8pPr marL="3429000" indent="-228600" eaLnBrk="0" fontAlgn="base" hangingPunct="0">
              <a:spcBef>
                <a:spcPct val="0"/>
              </a:spcBef>
              <a:spcAft>
                <a:spcPct val="0"/>
              </a:spcAft>
              <a:defRPr sz="2400" baseline="-25000">
                <a:solidFill>
                  <a:schemeClr val="tx1"/>
                </a:solidFill>
                <a:latin typeface="Arial" charset="0"/>
                <a:ea typeface="宋体" charset="-122"/>
              </a:defRPr>
            </a:lvl8pPr>
            <a:lvl9pPr marL="3886200" indent="-228600" eaLnBrk="0" fontAlgn="base" hangingPunct="0">
              <a:spcBef>
                <a:spcPct val="0"/>
              </a:spcBef>
              <a:spcAft>
                <a:spcPct val="0"/>
              </a:spcAft>
              <a:defRPr sz="2400" baseline="-25000">
                <a:solidFill>
                  <a:schemeClr val="tx1"/>
                </a:solidFill>
                <a:latin typeface="Arial" charset="0"/>
                <a:ea typeface="宋体" charset="-122"/>
              </a:defRPr>
            </a:lvl9pPr>
          </a:lstStyle>
          <a:p>
            <a:pPr algn="ctr" eaLnBrk="1" hangingPunct="1">
              <a:spcBef>
                <a:spcPts val="600"/>
              </a:spcBef>
            </a:pPr>
            <a:r>
              <a:rPr lang="zh-CN" altLang="en-US" sz="5400" b="1" baseline="0" dirty="0">
                <a:solidFill>
                  <a:srgbClr val="C00000"/>
                </a:solidFill>
                <a:latin typeface="黑体" pitchFamily="49" charset="-122"/>
                <a:ea typeface="黑体" pitchFamily="49" charset="-122"/>
              </a:rPr>
              <a:t>谢谢！</a:t>
            </a:r>
            <a:endParaRPr lang="en-US" altLang="zh-CN" sz="5400" b="1" baseline="0" dirty="0">
              <a:solidFill>
                <a:srgbClr val="C00000"/>
              </a:solidFill>
              <a:latin typeface="黑体" pitchFamily="49" charset="-122"/>
              <a:ea typeface="黑体" pitchFamily="49"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54"/>
  <p:tag name="DEFAULTHEIGHT" val="200"/>
</p:tagLst>
</file>

<file path=ppt/theme/theme1.xml><?xml version="1.0" encoding="utf-8"?>
<a:theme xmlns:a="http://schemas.openxmlformats.org/drawingml/2006/main" name="NCSU-CS">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自定义 1">
      <a:majorFont>
        <a:latin typeface="Franklin Gothic Medium"/>
        <a:ea typeface="微软雅黑"/>
        <a:cs typeface=""/>
      </a:majorFont>
      <a:minorFont>
        <a:latin typeface="Franklin Gothic 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
            <a:schemeClr val="bg1"/>
          </a:buClr>
          <a:buSzPct val="100000"/>
          <a:buFontTx/>
          <a:buNone/>
          <a:tabLst/>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
            <a:schemeClr val="bg1"/>
          </a:buClr>
          <a:buSzPct val="100000"/>
          <a:buFontTx/>
          <a:buNone/>
          <a:tabLst/>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charset="0"/>
          </a:defRPr>
        </a:defPPr>
      </a:lstStyle>
    </a:lnDef>
  </a:objectDefaults>
  <a:extraClrSchemeLst>
    <a:extraClrScheme>
      <a:clrScheme name="NCSU-CS 1">
        <a:dk1>
          <a:srgbClr val="000000"/>
        </a:dk1>
        <a:lt1>
          <a:srgbClr val="FFFFFF"/>
        </a:lt1>
        <a:dk2>
          <a:srgbClr val="3333FF"/>
        </a:dk2>
        <a:lt2>
          <a:srgbClr val="00FFFF"/>
        </a:lt2>
        <a:accent1>
          <a:srgbClr val="00CCCC"/>
        </a:accent1>
        <a:accent2>
          <a:srgbClr val="6666FF"/>
        </a:accent2>
        <a:accent3>
          <a:srgbClr val="ADADFF"/>
        </a:accent3>
        <a:accent4>
          <a:srgbClr val="DADADA"/>
        </a:accent4>
        <a:accent5>
          <a:srgbClr val="AAE2E2"/>
        </a:accent5>
        <a:accent6>
          <a:srgbClr val="5C5CE7"/>
        </a:accent6>
        <a:hlink>
          <a:srgbClr val="CCCCFF"/>
        </a:hlink>
        <a:folHlink>
          <a:srgbClr val="CC99FF"/>
        </a:folHlink>
      </a:clrScheme>
      <a:clrMap bg1="dk2" tx1="lt1" bg2="dk1" tx2="lt2" accent1="accent1" accent2="accent2" accent3="accent3" accent4="accent4" accent5="accent5" accent6="accent6" hlink="hlink" folHlink="folHlink"/>
    </a:extraClrScheme>
    <a:extraClrScheme>
      <a:clrScheme name="NCSU-CS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NCSU-CS 3">
        <a:dk1>
          <a:srgbClr val="000000"/>
        </a:dk1>
        <a:lt1>
          <a:srgbClr val="FFFFFF"/>
        </a:lt1>
        <a:dk2>
          <a:srgbClr val="000000"/>
        </a:dk2>
        <a:lt2>
          <a:srgbClr val="CBCBCB"/>
        </a:lt2>
        <a:accent1>
          <a:srgbClr val="B2B2B2"/>
        </a:accent1>
        <a:accent2>
          <a:srgbClr val="DDDDDD"/>
        </a:accent2>
        <a:accent3>
          <a:srgbClr val="FFFFFF"/>
        </a:accent3>
        <a:accent4>
          <a:srgbClr val="000000"/>
        </a:accent4>
        <a:accent5>
          <a:srgbClr val="D5D5D5"/>
        </a:accent5>
        <a:accent6>
          <a:srgbClr val="C8C8C8"/>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NCSU-CS 4">
        <a:dk1>
          <a:srgbClr val="000000"/>
        </a:dk1>
        <a:lt1>
          <a:srgbClr val="FFFFFF"/>
        </a:lt1>
        <a:dk2>
          <a:srgbClr val="000000"/>
        </a:dk2>
        <a:lt2>
          <a:srgbClr val="777777"/>
        </a:lt2>
        <a:accent1>
          <a:srgbClr val="00CCCC"/>
        </a:accent1>
        <a:accent2>
          <a:srgbClr val="6666FF"/>
        </a:accent2>
        <a:accent3>
          <a:srgbClr val="FFFFFF"/>
        </a:accent3>
        <a:accent4>
          <a:srgbClr val="000000"/>
        </a:accent4>
        <a:accent5>
          <a:srgbClr val="AAE2E2"/>
        </a:accent5>
        <a:accent6>
          <a:srgbClr val="5C5CE7"/>
        </a:accent6>
        <a:hlink>
          <a:srgbClr val="CCCCFF"/>
        </a:hlink>
        <a:folHlink>
          <a:srgbClr val="CC99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NCSU-CS</Template>
  <TotalTime>33903</TotalTime>
  <Words>3517</Words>
  <Application>Microsoft Office PowerPoint</Application>
  <PresentationFormat>全屏显示(4:3)</PresentationFormat>
  <Paragraphs>331</Paragraphs>
  <Slides>46</Slides>
  <Notes>8</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46</vt:i4>
      </vt:variant>
    </vt:vector>
  </HeadingPairs>
  <TitlesOfParts>
    <vt:vector size="58" baseType="lpstr">
      <vt:lpstr>黑体</vt:lpstr>
      <vt:lpstr>宋体</vt:lpstr>
      <vt:lpstr>微软雅黑</vt:lpstr>
      <vt:lpstr>Arial</vt:lpstr>
      <vt:lpstr>Franklin Gothic Book</vt:lpstr>
      <vt:lpstr>Garamond</vt:lpstr>
      <vt:lpstr>Monotype Corsiva</vt:lpstr>
      <vt:lpstr>Times New Roman</vt:lpstr>
      <vt:lpstr>Wingdings</vt:lpstr>
      <vt:lpstr>NCSU-CS</vt:lpstr>
      <vt:lpstr>Image</vt:lpstr>
      <vt:lpstr>Visio</vt:lpstr>
      <vt:lpstr>第一章：物联网概述</vt:lpstr>
      <vt:lpstr>学习目标</vt:lpstr>
      <vt:lpstr>目录</vt:lpstr>
      <vt:lpstr>物联网的定义和发展趋势</vt:lpstr>
      <vt:lpstr>物联网的定义和发展趋势</vt:lpstr>
      <vt:lpstr>目录</vt:lpstr>
      <vt:lpstr>应用架构</vt:lpstr>
      <vt:lpstr>应用架构</vt:lpstr>
      <vt:lpstr>机遇及挑战</vt:lpstr>
      <vt:lpstr>思考题</vt:lpstr>
      <vt:lpstr>目录</vt:lpstr>
      <vt:lpstr>智慧城市——鸿山物联网小镇</vt:lpstr>
      <vt:lpstr>物联网基础设施建设</vt:lpstr>
      <vt:lpstr>飞凤城市物联网平台</vt:lpstr>
      <vt:lpstr>智慧城市创新应用</vt:lpstr>
      <vt:lpstr>智慧城市创新应用</vt:lpstr>
      <vt:lpstr>智慧城市创新应用</vt:lpstr>
      <vt:lpstr>智慧城市创新应用</vt:lpstr>
      <vt:lpstr>智慧城市创新应用</vt:lpstr>
      <vt:lpstr>智慧校园——CMU Living Lab</vt:lpstr>
      <vt:lpstr>智慧校园——CMU Living Lab</vt:lpstr>
      <vt:lpstr>智慧校园——CMU Living Lab</vt:lpstr>
      <vt:lpstr>数据产生层</vt:lpstr>
      <vt:lpstr>数据管理层</vt:lpstr>
      <vt:lpstr>数据管理层</vt:lpstr>
      <vt:lpstr>应用程序服务层</vt:lpstr>
      <vt:lpstr>安全与隐私</vt:lpstr>
      <vt:lpstr>开发流程</vt:lpstr>
      <vt:lpstr>空气质量监测——Mosaic</vt:lpstr>
      <vt:lpstr>空气质量监测——Mosaic</vt:lpstr>
      <vt:lpstr>传感器节点</vt:lpstr>
      <vt:lpstr>传感器节点</vt:lpstr>
      <vt:lpstr>传感器节点</vt:lpstr>
      <vt:lpstr>传输技术、云端及用户端</vt:lpstr>
      <vt:lpstr>传输技术、云端及用户端</vt:lpstr>
      <vt:lpstr>思考题</vt:lpstr>
      <vt:lpstr>目录</vt:lpstr>
      <vt:lpstr>相关学术研究领域</vt:lpstr>
      <vt:lpstr>物联网的关注点及其前沿挑战</vt:lpstr>
      <vt:lpstr>供电技术方面</vt:lpstr>
      <vt:lpstr>节点平台方面</vt:lpstr>
      <vt:lpstr>节点平台方面</vt:lpstr>
      <vt:lpstr>通信与组网方面</vt:lpstr>
      <vt:lpstr>智能感知方面</vt:lpstr>
      <vt:lpstr>智能感知方面</vt:lpstr>
      <vt:lpstr>PowerPoint 演示文稿</vt:lpstr>
    </vt:vector>
  </TitlesOfParts>
  <Company>NCSU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Centric Storage</dc:title>
  <dc:creator>Jayush R Luniya</dc:creator>
  <cp:lastModifiedBy>野 蔓</cp:lastModifiedBy>
  <cp:revision>2124</cp:revision>
  <cp:lastPrinted>2009-04-22T19:24:48Z</cp:lastPrinted>
  <dcterms:created xsi:type="dcterms:W3CDTF">2005-04-16T16:23:33Z</dcterms:created>
  <dcterms:modified xsi:type="dcterms:W3CDTF">2022-05-23T08:22:00Z</dcterms:modified>
</cp:coreProperties>
</file>