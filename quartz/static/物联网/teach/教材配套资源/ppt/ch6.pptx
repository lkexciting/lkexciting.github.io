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4"/>
  </p:notesMasterIdLst>
  <p:handoutMasterIdLst>
    <p:handoutMasterId r:id="rId125"/>
  </p:handoutMasterIdLst>
  <p:sldIdLst>
    <p:sldId id="825" r:id="rId2"/>
    <p:sldId id="1216" r:id="rId3"/>
    <p:sldId id="1199" r:id="rId4"/>
    <p:sldId id="948" r:id="rId5"/>
    <p:sldId id="1157" r:id="rId6"/>
    <p:sldId id="889" r:id="rId7"/>
    <p:sldId id="780" r:id="rId8"/>
    <p:sldId id="781" r:id="rId9"/>
    <p:sldId id="782" r:id="rId10"/>
    <p:sldId id="783" r:id="rId11"/>
    <p:sldId id="784" r:id="rId12"/>
    <p:sldId id="785" r:id="rId13"/>
    <p:sldId id="1203" r:id="rId14"/>
    <p:sldId id="1217" r:id="rId15"/>
    <p:sldId id="1165" r:id="rId16"/>
    <p:sldId id="1226" r:id="rId17"/>
    <p:sldId id="1166" r:id="rId18"/>
    <p:sldId id="1167" r:id="rId19"/>
    <p:sldId id="1168" r:id="rId20"/>
    <p:sldId id="1169" r:id="rId21"/>
    <p:sldId id="1170" r:id="rId22"/>
    <p:sldId id="1171" r:id="rId23"/>
    <p:sldId id="1185" r:id="rId24"/>
    <p:sldId id="1187" r:id="rId25"/>
    <p:sldId id="1188" r:id="rId26"/>
    <p:sldId id="1190" r:id="rId27"/>
    <p:sldId id="1191" r:id="rId28"/>
    <p:sldId id="1192" r:id="rId29"/>
    <p:sldId id="1193" r:id="rId30"/>
    <p:sldId id="1172" r:id="rId31"/>
    <p:sldId id="1173" r:id="rId32"/>
    <p:sldId id="1174" r:id="rId33"/>
    <p:sldId id="1176" r:id="rId34"/>
    <p:sldId id="1177" r:id="rId35"/>
    <p:sldId id="1178" r:id="rId36"/>
    <p:sldId id="1179" r:id="rId37"/>
    <p:sldId id="1180" r:id="rId38"/>
    <p:sldId id="1181" r:id="rId39"/>
    <p:sldId id="1182" r:id="rId40"/>
    <p:sldId id="1184" r:id="rId41"/>
    <p:sldId id="1194" r:id="rId42"/>
    <p:sldId id="1228" r:id="rId43"/>
    <p:sldId id="1195" r:id="rId44"/>
    <p:sldId id="1219" r:id="rId45"/>
    <p:sldId id="838" r:id="rId46"/>
    <p:sldId id="839" r:id="rId47"/>
    <p:sldId id="1201" r:id="rId48"/>
    <p:sldId id="788" r:id="rId49"/>
    <p:sldId id="790" r:id="rId50"/>
    <p:sldId id="1156" r:id="rId51"/>
    <p:sldId id="903" r:id="rId52"/>
    <p:sldId id="1215" r:id="rId53"/>
    <p:sldId id="1220" r:id="rId54"/>
    <p:sldId id="1200" r:id="rId55"/>
    <p:sldId id="1097" r:id="rId56"/>
    <p:sldId id="1050" r:id="rId57"/>
    <p:sldId id="1202" r:id="rId58"/>
    <p:sldId id="1088" r:id="rId59"/>
    <p:sldId id="1135" r:id="rId60"/>
    <p:sldId id="1033" r:id="rId61"/>
    <p:sldId id="1092" r:id="rId62"/>
    <p:sldId id="1093" r:id="rId63"/>
    <p:sldId id="1043" r:id="rId64"/>
    <p:sldId id="962" r:id="rId65"/>
    <p:sldId id="1100" r:id="rId66"/>
    <p:sldId id="886" r:id="rId67"/>
    <p:sldId id="935" r:id="rId68"/>
    <p:sldId id="936" r:id="rId69"/>
    <p:sldId id="937" r:id="rId70"/>
    <p:sldId id="1099" r:id="rId71"/>
    <p:sldId id="1221" r:id="rId72"/>
    <p:sldId id="946" r:id="rId73"/>
    <p:sldId id="1101" r:id="rId74"/>
    <p:sldId id="876" r:id="rId75"/>
    <p:sldId id="1018" r:id="rId76"/>
    <p:sldId id="1213" r:id="rId77"/>
    <p:sldId id="1023" r:id="rId78"/>
    <p:sldId id="1222" r:id="rId79"/>
    <p:sldId id="1158" r:id="rId80"/>
    <p:sldId id="1159" r:id="rId81"/>
    <p:sldId id="1160" r:id="rId82"/>
    <p:sldId id="1161" r:id="rId83"/>
    <p:sldId id="1162" r:id="rId84"/>
    <p:sldId id="1164" r:id="rId85"/>
    <p:sldId id="1223" r:id="rId86"/>
    <p:sldId id="1208" r:id="rId87"/>
    <p:sldId id="989" r:id="rId88"/>
    <p:sldId id="1000" r:id="rId89"/>
    <p:sldId id="988" r:id="rId90"/>
    <p:sldId id="965" r:id="rId91"/>
    <p:sldId id="1001" r:id="rId92"/>
    <p:sldId id="1019" r:id="rId93"/>
    <p:sldId id="1224" r:id="rId94"/>
    <p:sldId id="934" r:id="rId95"/>
    <p:sldId id="874" r:id="rId96"/>
    <p:sldId id="857" r:id="rId97"/>
    <p:sldId id="864" r:id="rId98"/>
    <p:sldId id="1029" r:id="rId99"/>
    <p:sldId id="862" r:id="rId100"/>
    <p:sldId id="815" r:id="rId101"/>
    <p:sldId id="932" r:id="rId102"/>
    <p:sldId id="1196" r:id="rId103"/>
    <p:sldId id="971" r:id="rId104"/>
    <p:sldId id="1046" r:id="rId105"/>
    <p:sldId id="929" r:id="rId106"/>
    <p:sldId id="931" r:id="rId107"/>
    <p:sldId id="1111" r:id="rId108"/>
    <p:sldId id="1112" r:id="rId109"/>
    <p:sldId id="1113" r:id="rId110"/>
    <p:sldId id="1114" r:id="rId111"/>
    <p:sldId id="1115" r:id="rId112"/>
    <p:sldId id="842" r:id="rId113"/>
    <p:sldId id="892" r:id="rId114"/>
    <p:sldId id="908" r:id="rId115"/>
    <p:sldId id="911" r:id="rId116"/>
    <p:sldId id="1122" r:id="rId117"/>
    <p:sldId id="891" r:id="rId118"/>
    <p:sldId id="1229" r:id="rId119"/>
    <p:sldId id="840" r:id="rId120"/>
    <p:sldId id="1108" r:id="rId121"/>
    <p:sldId id="841" r:id="rId122"/>
    <p:sldId id="422" r:id="rId123"/>
  </p:sldIdLst>
  <p:sldSz cx="9144000" cy="6858000" type="screen4x3"/>
  <p:notesSz cx="6858000" cy="9144000"/>
  <p:custDataLst>
    <p:tags r:id="rId126"/>
  </p:custDataLst>
  <p:defaultTextStyle>
    <a:defPPr>
      <a:defRPr lang="en-US"/>
    </a:defPPr>
    <a:lvl1pPr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04">
          <p15:clr>
            <a:srgbClr val="A4A3A4"/>
          </p15:clr>
        </p15:guide>
      </p15:sldGuideLst>
    </p:ext>
    <p:ext uri="{2D200454-40CA-4A62-9FC3-DE9A4176ACB9}">
      <p15:notesGuideLst xmlns:p15="http://schemas.microsoft.com/office/powerpoint/2012/main">
        <p15:guide id="1" orient="horz" pos="2880">
          <p15:clr>
            <a:srgbClr val="A4A3A4"/>
          </p15:clr>
        </p15:guide>
        <p15:guide id="2" pos="217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C9FF2"/>
    <a:srgbClr val="C00000"/>
    <a:srgbClr val="0033CC"/>
    <a:srgbClr val="111F65"/>
    <a:srgbClr val="E9EDF4"/>
    <a:srgbClr val="5F5F5F"/>
    <a:srgbClr val="333333"/>
    <a:srgbClr val="808080"/>
    <a:srgbClr val="FF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96323" autoAdjust="0"/>
  </p:normalViewPr>
  <p:slideViewPr>
    <p:cSldViewPr snapToGrid="0">
      <p:cViewPr varScale="1">
        <p:scale>
          <a:sx n="121" d="100"/>
          <a:sy n="121" d="100"/>
        </p:scale>
        <p:origin x="1422" y="102"/>
      </p:cViewPr>
      <p:guideLst>
        <p:guide orient="horz" pos="2160"/>
        <p:guide pos="29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15462"/>
    </p:cViewPr>
  </p:sorterViewPr>
  <p:notesViewPr>
    <p:cSldViewPr snapToGrid="0">
      <p:cViewPr>
        <p:scale>
          <a:sx n="66" d="100"/>
          <a:sy n="66" d="100"/>
        </p:scale>
        <p:origin x="-2382" y="-222"/>
      </p:cViewPr>
      <p:guideLst>
        <p:guide orient="horz" pos="2880"/>
        <p:guide pos="2178"/>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75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57753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57754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57754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ClrTx/>
              <a:buSzTx/>
              <a:defRPr sz="1200" baseline="0">
                <a:effectLst/>
                <a:latin typeface="Times New Roman" panose="02020603050405020304" pitchFamily="18" charset="0"/>
                <a:ea typeface="+mn-ea"/>
              </a:defRPr>
            </a:lvl1pPr>
          </a:lstStyle>
          <a:p>
            <a:pPr>
              <a:defRPr/>
            </a:pPr>
            <a:fld id="{B6987093-2FA2-4B3E-A303-E109B2C659C7}" type="slidenum">
              <a:rPr lang="zh-CN" altLang="en-US"/>
              <a:t>‹#›</a:t>
            </a:fld>
            <a:endParaRPr lang="en-US" altLang="zh-CN"/>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ClrTx/>
              <a:buSzTx/>
              <a:defRPr sz="1200" baseline="0">
                <a:effectLst/>
                <a:latin typeface="Times New Roman" panose="02020603050405020304" pitchFamily="18" charset="0"/>
                <a:ea typeface="+mn-ea"/>
              </a:defRPr>
            </a:lvl1pPr>
          </a:lstStyle>
          <a:p>
            <a:pPr>
              <a:defRPr/>
            </a:pPr>
            <a:fld id="{C163974F-E2FC-4919-A1F7-1DAB2B1EEBC0}" type="slidenum">
              <a:rPr lang="zh-CN" altLang="en-US"/>
              <a:t>‹#›</a:t>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panose="020B0604020202020204" pitchFamily="34" charset="0"/>
              </a:defRPr>
            </a:lvl1pPr>
            <a:lvl2pPr marL="742950" indent="-285750" algn="ctr" eaLnBrk="0" hangingPunct="0">
              <a:spcBef>
                <a:spcPct val="50000"/>
              </a:spcBef>
              <a:buClr>
                <a:schemeClr val="bg1"/>
              </a:buClr>
              <a:buSzPct val="100000"/>
              <a:defRPr sz="2400" baseline="-25000">
                <a:solidFill>
                  <a:schemeClr val="tx1"/>
                </a:solidFill>
                <a:latin typeface="Arial" panose="020B0604020202020204" pitchFamily="34" charset="0"/>
              </a:defRPr>
            </a:lvl2pPr>
            <a:lvl3pPr marL="11430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3pPr>
            <a:lvl4pPr marL="16002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4pPr>
            <a:lvl5pPr marL="20574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9pPr>
          </a:lstStyle>
          <a:p>
            <a:pPr algn="r" eaLnBrk="1" hangingPunct="1">
              <a:spcBef>
                <a:spcPct val="0"/>
              </a:spcBef>
              <a:buClrTx/>
              <a:buSzTx/>
              <a:defRPr/>
            </a:pPr>
            <a:fld id="{7ED47AB2-00CE-41E6-9820-72042BB36AE6}" type="slidenum">
              <a:rPr lang="zh-CN" altLang="en-US" sz="1200" baseline="0" smtClean="0">
                <a:latin typeface="Times New Roman" panose="02020603050405020304" pitchFamily="18" charset="0"/>
              </a:rPr>
              <a:t>1</a:t>
            </a:fld>
            <a:endParaRPr lang="en-US" altLang="zh-CN" sz="1200" baseline="0">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a:t>OneLink</a:t>
            </a:r>
          </a:p>
          <a:p>
            <a:r>
              <a:rPr lang="zh-CN" altLang="en-US" b="1"/>
              <a:t>如我们刚才提到的共享单车，每个单车是如何接入网络的呢？一般都使用移动提供的物联网卡，而移动的</a:t>
            </a:r>
            <a:r>
              <a:rPr lang="en-US" altLang="zh-CN" b="1"/>
              <a:t>onelink</a:t>
            </a:r>
            <a:r>
              <a:rPr lang="zh-CN" altLang="en-US" b="1"/>
              <a:t>平台也可以向单车管理公司提供车是否在线（获取卡状态信息）和流量使用情况等接口</a:t>
            </a:r>
            <a:endParaRPr lang="zh-CN" altLang="en-US"/>
          </a:p>
          <a:p>
            <a:endParaRPr lang="en-US" altLang="zh-CN"/>
          </a:p>
          <a:p>
            <a:r>
              <a:rPr lang="zh-CN" altLang="en-US" b="1"/>
              <a:t>金融行业：</a:t>
            </a:r>
            <a:r>
              <a:rPr lang="zh-CN" altLang="en-US"/>
              <a:t>移动</a:t>
            </a:r>
            <a:r>
              <a:rPr lang="en-US" altLang="zh-CN"/>
              <a:t>POS</a:t>
            </a:r>
            <a:r>
              <a:rPr lang="zh-CN" altLang="en-US"/>
              <a:t>通过中国移动</a:t>
            </a:r>
            <a:r>
              <a:rPr lang="en-US" altLang="zh-CN"/>
              <a:t>GPRS</a:t>
            </a:r>
            <a:r>
              <a:rPr lang="zh-CN" altLang="en-US"/>
              <a:t>网络，连接金融服务机构，实现用户的灵活刷卡消费。</a:t>
            </a:r>
            <a:endParaRPr lang="en-US" altLang="zh-CN"/>
          </a:p>
          <a:p>
            <a:r>
              <a:rPr lang="zh-CN" altLang="en-US"/>
              <a:t>典型客户需求</a:t>
            </a:r>
            <a:r>
              <a:rPr lang="en-US" altLang="zh-CN"/>
              <a:t>:</a:t>
            </a:r>
            <a:r>
              <a:rPr lang="zh-CN" altLang="en-US"/>
              <a:t>快速大批量业务办理，灵活计费方式。</a:t>
            </a:r>
          </a:p>
          <a:p>
            <a:endParaRPr lang="zh-CN" altLang="en-US"/>
          </a:p>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9</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sz="2000"/>
              <a:t>开关机控制，智能控温，智慧节能，在线固件升级，定障等</a:t>
            </a:r>
            <a:endParaRPr lang="en-US" altLang="zh-CN" sz="2000"/>
          </a:p>
          <a:p>
            <a:pPr lvl="1"/>
            <a:r>
              <a:rPr lang="en-US" altLang="zh-CN" sz="2000"/>
              <a:t>2016</a:t>
            </a:r>
            <a:r>
              <a:rPr lang="zh-CN" altLang="en-US" sz="2000"/>
              <a:t>年</a:t>
            </a:r>
            <a:r>
              <a:rPr lang="en-US" altLang="zh-CN" sz="2000"/>
              <a:t>9</a:t>
            </a:r>
            <a:r>
              <a:rPr lang="zh-CN" altLang="en-US" sz="2000"/>
              <a:t>月，</a:t>
            </a:r>
            <a:r>
              <a:rPr lang="en-US" altLang="zh-CN" sz="2000"/>
              <a:t>U+</a:t>
            </a:r>
            <a:r>
              <a:rPr lang="zh-CN" altLang="en-US" sz="2000"/>
              <a:t>大数据与广东电网合作，通过大数据进行电网的</a:t>
            </a:r>
            <a:r>
              <a:rPr lang="en-US" altLang="zh-CN" sz="2000"/>
              <a:t>"</a:t>
            </a:r>
            <a:r>
              <a:rPr lang="zh-CN" altLang="en-US" sz="2000"/>
              <a:t>削峰填谷</a:t>
            </a:r>
            <a:r>
              <a:rPr lang="en-US" altLang="zh-CN" sz="2000"/>
              <a:t>"</a:t>
            </a:r>
            <a:r>
              <a:rPr lang="zh-CN" altLang="en-US" sz="2000"/>
              <a:t>节能</a:t>
            </a:r>
            <a:r>
              <a:rPr lang="en-US" altLang="zh-CN" sz="2000"/>
              <a:t>15%</a:t>
            </a:r>
          </a:p>
          <a:p>
            <a:endParaRPr lang="en-US" altLang="zh-CN"/>
          </a:p>
          <a:p>
            <a:r>
              <a:rPr lang="zh-CN" altLang="en-US"/>
              <a:t>海尔空调出厂自带入网模块，连接上自家的</a:t>
            </a:r>
            <a:r>
              <a:rPr lang="en-US" altLang="zh-CN"/>
              <a:t>U+</a:t>
            </a:r>
            <a:r>
              <a:rPr lang="zh-CN" altLang="en-US"/>
              <a:t>云平台，为用户提供与设备相关的控制和智能化服务。</a:t>
            </a:r>
            <a:endParaRPr lang="en-US" altLang="zh-CN"/>
          </a:p>
          <a:p>
            <a:r>
              <a:rPr lang="zh-CN" altLang="en-US"/>
              <a:t>与此同时，设备管理也可以方便厂商进行固件的升级和大数据分析，以提供更高阶的服务，并且提高用电效率（与广东电网合作节能</a:t>
            </a:r>
            <a:r>
              <a:rPr lang="en-US" altLang="zh-CN"/>
              <a:t>15%</a:t>
            </a:r>
            <a:r>
              <a:rPr lang="zh-CN" altLang="en-US"/>
              <a:t>）</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为了方便用户开发</a:t>
            </a:r>
            <a:r>
              <a:rPr lang="en-US" altLang="zh-CN"/>
              <a:t>IoT</a:t>
            </a:r>
            <a:r>
              <a:rPr lang="zh-CN" altLang="en-US"/>
              <a:t>应用，阿里云</a:t>
            </a:r>
            <a:r>
              <a:rPr lang="en-US" altLang="zh-CN"/>
              <a:t>iot</a:t>
            </a:r>
            <a:r>
              <a:rPr lang="zh-CN" altLang="en-US"/>
              <a:t>推出了</a:t>
            </a:r>
            <a:r>
              <a:rPr lang="en-US" altLang="zh-CN"/>
              <a:t>Link</a:t>
            </a:r>
            <a:r>
              <a:rPr lang="zh-CN" altLang="en-US"/>
              <a:t> </a:t>
            </a:r>
            <a:r>
              <a:rPr lang="en-US" altLang="zh-CN"/>
              <a:t>Develop</a:t>
            </a:r>
            <a:r>
              <a:rPr lang="zh-CN" altLang="en-US"/>
              <a:t>平台，从设备端、云端和移动显示端入手简化开发步骤，降低开发难度</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11</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菜鸟物流通过对每个快件、物流过程的每个步骤的数据上网，逐渐构建了一个“物流大数据平台”</a:t>
            </a:r>
            <a:endParaRPr lang="en-US" altLang="zh-CN"/>
          </a:p>
          <a:p>
            <a:r>
              <a:rPr lang="zh-CN" altLang="en-US"/>
              <a:t>他可以通过用户的快件信息对用户进行画像和精准营销</a:t>
            </a:r>
            <a:endParaRPr lang="en-US" altLang="zh-CN"/>
          </a:p>
          <a:p>
            <a:r>
              <a:rPr lang="zh-CN" altLang="en-US"/>
              <a:t>可以通过收集到的城市中的物流数据升级社区零售和区域精准营销</a:t>
            </a:r>
            <a:endParaRPr lang="en-US" altLang="zh-CN"/>
          </a:p>
          <a:p>
            <a:r>
              <a:rPr lang="zh-CN" altLang="en-US"/>
              <a:t>城市间的物流数据可以用来优化调车算法，提升物流的效率</a:t>
            </a:r>
            <a:endParaRPr lang="en-US" altLang="zh-CN"/>
          </a:p>
          <a:p>
            <a:endParaRPr lang="en-US" altLang="zh-CN"/>
          </a:p>
          <a:p>
            <a:r>
              <a:rPr lang="en-US" altLang="zh-CN"/>
              <a:t>Ref</a:t>
            </a:r>
            <a:endParaRPr lang="en-GB" altLang="zh-CN"/>
          </a:p>
          <a:p>
            <a:r>
              <a:rPr lang="en-GB" altLang="zh-CN"/>
              <a:t>http://www.doc88.com/p-9109612155692.html</a:t>
            </a:r>
          </a:p>
          <a:p>
            <a:r>
              <a:rPr lang="en-GB" altLang="zh-CN"/>
              <a:t>https://www.50yc.com/information/hangye-wuliu/10923</a:t>
            </a:r>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12</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13</a:t>
            </a:fld>
            <a:endParaRPr lang="en-US" altLang="zh-CN"/>
          </a:p>
        </p:txBody>
      </p:sp>
    </p:spTree>
    <p:extLst>
      <p:ext uri="{BB962C8B-B14F-4D97-AF65-F5344CB8AC3E}">
        <p14:creationId xmlns:p14="http://schemas.microsoft.com/office/powerpoint/2010/main" val="2593541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简化？</a:t>
            </a:r>
            <a:r>
              <a:rPr lang="en-US" altLang="zh-CN" dirty="0"/>
              <a:t>2.0</a:t>
            </a:r>
            <a:r>
              <a:rPr lang="zh-CN" altLang="en-US" dirty="0"/>
              <a:t>（</a:t>
            </a:r>
            <a:r>
              <a:rPr lang="en-US" altLang="zh-CN" dirty="0"/>
              <a:t>3.3</a:t>
            </a:r>
            <a:r>
              <a:rPr lang="zh-CN" altLang="en-US" dirty="0"/>
              <a:t>最新进展）</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18</a:t>
            </a:fld>
            <a:endParaRPr lang="en-US" altLang="zh-CN"/>
          </a:p>
        </p:txBody>
      </p:sp>
    </p:spTree>
    <p:extLst>
      <p:ext uri="{BB962C8B-B14F-4D97-AF65-F5344CB8AC3E}">
        <p14:creationId xmlns:p14="http://schemas.microsoft.com/office/powerpoint/2010/main" val="3623920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21</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23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If the request message is Non-confirmable, then the response SHOULD be returned in a Non-confirmable message as well.</a:t>
            </a:r>
          </a:p>
          <a:p>
            <a:r>
              <a:rPr lang="en-US" altLang="zh-CN"/>
              <a:t>A token is intended for use as a client-local identifier for differentiating between concurrent requests</a:t>
            </a:r>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26</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28</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29</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30</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31</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34</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Arial" panose="020B0604020202020204" pitchFamily="34" charset="0"/>
                <a:ea typeface="+mn-ea"/>
                <a:cs typeface="+mn-cs"/>
              </a:rPr>
              <a:t>Each time a Client sends a new packet of one of these</a:t>
            </a:r>
            <a:r>
              <a:rPr kumimoji="1" lang="en-US" altLang="zh-CN" sz="1200" b="0" i="0" kern="1200" baseline="0" dirty="0">
                <a:solidFill>
                  <a:schemeClr val="tx1"/>
                </a:solidFill>
                <a:effectLst/>
                <a:latin typeface="Arial" panose="020B0604020202020204" pitchFamily="34" charset="0"/>
                <a:ea typeface="+mn-ea"/>
                <a:cs typeface="+mn-cs"/>
              </a:rPr>
              <a:t> </a:t>
            </a:r>
            <a:r>
              <a:rPr kumimoji="1" lang="en-US" altLang="zh-CN" sz="1200" b="0" i="0" kern="1200" dirty="0">
                <a:solidFill>
                  <a:schemeClr val="tx1"/>
                </a:solidFill>
                <a:effectLst/>
                <a:latin typeface="Arial" panose="020B0604020202020204" pitchFamily="34" charset="0"/>
                <a:ea typeface="+mn-ea"/>
                <a:cs typeface="+mn-cs"/>
              </a:rPr>
              <a:t>types it MUST assign it a currently unused Packet Identifier.</a:t>
            </a:r>
          </a:p>
          <a:p>
            <a:r>
              <a:rPr kumimoji="1" lang="en-US" altLang="zh-CN" sz="1200" b="0" i="0" kern="1200" dirty="0">
                <a:solidFill>
                  <a:schemeClr val="tx1"/>
                </a:solidFill>
                <a:effectLst/>
                <a:latin typeface="Arial" panose="020B0604020202020204" pitchFamily="34" charset="0"/>
                <a:ea typeface="+mn-ea"/>
                <a:cs typeface="+mn-cs"/>
              </a:rPr>
              <a:t>If a Client re-sends a</a:t>
            </a:r>
            <a:r>
              <a:rPr kumimoji="1" lang="en-US" altLang="zh-CN" sz="1200" b="0" i="0" kern="1200" baseline="0" dirty="0">
                <a:solidFill>
                  <a:schemeClr val="tx1"/>
                </a:solidFill>
                <a:effectLst/>
                <a:latin typeface="Arial" panose="020B0604020202020204" pitchFamily="34" charset="0"/>
                <a:ea typeface="+mn-ea"/>
                <a:cs typeface="+mn-cs"/>
              </a:rPr>
              <a:t> </a:t>
            </a:r>
            <a:r>
              <a:rPr kumimoji="1" lang="en-US" altLang="zh-CN" sz="1200" b="0" i="0" kern="1200" dirty="0">
                <a:solidFill>
                  <a:schemeClr val="tx1"/>
                </a:solidFill>
                <a:effectLst/>
                <a:latin typeface="Arial" panose="020B0604020202020204" pitchFamily="34" charset="0"/>
                <a:ea typeface="+mn-ea"/>
                <a:cs typeface="+mn-cs"/>
              </a:rPr>
              <a:t>particular Control Packet, then it MUST use the same Packet Identifier in subsequent re-sends of that</a:t>
            </a:r>
            <a:r>
              <a:rPr kumimoji="1" lang="en-US" altLang="zh-CN" sz="1200" b="0" i="0" kern="1200" baseline="0" dirty="0">
                <a:solidFill>
                  <a:schemeClr val="tx1"/>
                </a:solidFill>
                <a:effectLst/>
                <a:latin typeface="Arial" panose="020B0604020202020204" pitchFamily="34" charset="0"/>
                <a:ea typeface="+mn-ea"/>
                <a:cs typeface="+mn-cs"/>
              </a:rPr>
              <a:t> </a:t>
            </a:r>
            <a:r>
              <a:rPr kumimoji="1" lang="en-US" altLang="zh-CN" sz="1200" b="0" i="0" kern="1200" dirty="0">
                <a:solidFill>
                  <a:schemeClr val="tx1"/>
                </a:solidFill>
                <a:effectLst/>
                <a:latin typeface="Arial" panose="020B0604020202020204" pitchFamily="34" charset="0"/>
                <a:ea typeface="+mn-ea"/>
                <a:cs typeface="+mn-cs"/>
              </a:rPr>
              <a:t>packet.</a:t>
            </a:r>
          </a:p>
          <a:p>
            <a:r>
              <a:rPr kumimoji="1" lang="en-US" altLang="zh-CN" sz="1200" b="0" i="0" kern="1200" dirty="0">
                <a:solidFill>
                  <a:schemeClr val="tx1"/>
                </a:solidFill>
                <a:effectLst/>
                <a:latin typeface="Arial" panose="020B0604020202020204" pitchFamily="34" charset="0"/>
                <a:ea typeface="+mn-ea"/>
                <a:cs typeface="+mn-cs"/>
              </a:rPr>
              <a:t>The Packet Identifier becomes available for reuse after the Client has processed the</a:t>
            </a:r>
            <a:r>
              <a:rPr kumimoji="1" lang="en-US" altLang="zh-CN" sz="1200" b="0" i="0" kern="1200" baseline="0" dirty="0">
                <a:solidFill>
                  <a:schemeClr val="tx1"/>
                </a:solidFill>
                <a:effectLst/>
                <a:latin typeface="Arial" panose="020B0604020202020204" pitchFamily="34" charset="0"/>
                <a:ea typeface="+mn-ea"/>
                <a:cs typeface="+mn-cs"/>
              </a:rPr>
              <a:t> </a:t>
            </a:r>
            <a:r>
              <a:rPr kumimoji="1" lang="en-US" altLang="zh-CN" sz="1200" b="0" i="0" kern="1200" dirty="0">
                <a:solidFill>
                  <a:schemeClr val="tx1"/>
                </a:solidFill>
                <a:effectLst/>
                <a:latin typeface="Arial" panose="020B0604020202020204" pitchFamily="34" charset="0"/>
                <a:ea typeface="+mn-ea"/>
                <a:cs typeface="+mn-cs"/>
              </a:rPr>
              <a:t>corresponding acknowledgement packet.</a:t>
            </a:r>
          </a:p>
          <a:p>
            <a:r>
              <a:rPr kumimoji="1" lang="en-US" altLang="zh-CN" sz="1200" b="0" i="0" kern="1200" dirty="0">
                <a:solidFill>
                  <a:schemeClr val="tx1"/>
                </a:solidFill>
                <a:effectLst/>
                <a:latin typeface="Arial" panose="020B0604020202020204" pitchFamily="34" charset="0"/>
                <a:ea typeface="+mn-ea"/>
                <a:cs typeface="+mn-cs"/>
              </a:rPr>
              <a:t>A PUBACK, PUBREC or PUBREL Packet MUST contain the same Packet Identifier as the PUBLISH</a:t>
            </a:r>
            <a:r>
              <a:rPr kumimoji="1" lang="en-US" altLang="zh-CN" sz="1200" b="0" i="0" kern="1200" baseline="0" dirty="0">
                <a:solidFill>
                  <a:schemeClr val="tx1"/>
                </a:solidFill>
                <a:effectLst/>
                <a:latin typeface="Arial" panose="020B0604020202020204" pitchFamily="34" charset="0"/>
                <a:ea typeface="+mn-ea"/>
                <a:cs typeface="+mn-cs"/>
              </a:rPr>
              <a:t> P</a:t>
            </a:r>
            <a:r>
              <a:rPr kumimoji="1" lang="en-US" altLang="zh-CN" sz="1200" b="0" i="0" kern="1200" dirty="0">
                <a:solidFill>
                  <a:schemeClr val="tx1"/>
                </a:solidFill>
                <a:effectLst/>
                <a:latin typeface="Arial" panose="020B0604020202020204" pitchFamily="34" charset="0"/>
                <a:ea typeface="+mn-ea"/>
                <a:cs typeface="+mn-cs"/>
              </a:rPr>
              <a:t>acket that was originally sent.</a:t>
            </a:r>
            <a:br>
              <a:rPr lang="en-US" altLang="zh-CN" dirty="0"/>
            </a:br>
            <a:endParaRPr lang="en-US" altLang="zh-CN" dirty="0"/>
          </a:p>
          <a:p>
            <a:r>
              <a:rPr lang="zh-CN" altLang="en-US" dirty="0"/>
              <a:t>诗意图</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37</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41</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42</a:t>
            </a:fld>
            <a:endParaRPr lang="en-US" altLang="zh-CN"/>
          </a:p>
        </p:txBody>
      </p:sp>
    </p:spTree>
    <p:extLst>
      <p:ext uri="{BB962C8B-B14F-4D97-AF65-F5344CB8AC3E}">
        <p14:creationId xmlns:p14="http://schemas.microsoft.com/office/powerpoint/2010/main" val="38661865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a:solidFill>
                  <a:schemeClr val="tx1"/>
                </a:solidFill>
                <a:effectLst/>
                <a:latin typeface="Arial" panose="020B0604020202020204" pitchFamily="34" charset="0"/>
                <a:ea typeface="+mn-ea"/>
                <a:cs typeface="+mn-cs"/>
              </a:rPr>
              <a:t>18</a:t>
            </a:r>
            <a:r>
              <a:rPr kumimoji="1" lang="zh-CN" altLang="en-US" sz="1200" b="0" i="0" kern="1200">
                <a:solidFill>
                  <a:schemeClr val="tx1"/>
                </a:solidFill>
                <a:effectLst/>
                <a:latin typeface="Arial" panose="020B0604020202020204" pitchFamily="34" charset="0"/>
                <a:ea typeface="+mn-ea"/>
                <a:cs typeface="+mn-cs"/>
              </a:rPr>
              <a:t>年</a:t>
            </a:r>
            <a:r>
              <a:rPr kumimoji="1" lang="en-US" altLang="zh-CN" sz="1200" b="0" i="0" kern="1200">
                <a:solidFill>
                  <a:schemeClr val="tx1"/>
                </a:solidFill>
                <a:effectLst/>
                <a:latin typeface="Arial" panose="020B0604020202020204" pitchFamily="34" charset="0"/>
                <a:ea typeface="+mn-ea"/>
                <a:cs typeface="+mn-cs"/>
              </a:rPr>
              <a:t>11</a:t>
            </a:r>
            <a:r>
              <a:rPr kumimoji="1" lang="zh-CN" altLang="en-US" sz="1200" b="0" i="0" kern="1200">
                <a:solidFill>
                  <a:schemeClr val="tx1"/>
                </a:solidFill>
                <a:effectLst/>
                <a:latin typeface="Arial" panose="020B0604020202020204" pitchFamily="34" charset="0"/>
                <a:ea typeface="+mn-ea"/>
                <a:cs typeface="+mn-cs"/>
              </a:rPr>
              <a:t>月，</a:t>
            </a:r>
            <a:r>
              <a:rPr kumimoji="1" lang="en-US" altLang="zh-CN" sz="1200" b="0" i="0" kern="1200" err="1">
                <a:solidFill>
                  <a:schemeClr val="tx1"/>
                </a:solidFill>
                <a:effectLst/>
                <a:latin typeface="Arial" panose="020B0604020202020204" pitchFamily="34" charset="0"/>
                <a:ea typeface="+mn-ea"/>
                <a:cs typeface="+mn-cs"/>
              </a:rPr>
              <a:t>AIoT</a:t>
            </a:r>
            <a:r>
              <a:rPr kumimoji="1" lang="zh-CN" altLang="en-US" sz="1200" b="0" i="0" kern="1200">
                <a:solidFill>
                  <a:schemeClr val="tx1"/>
                </a:solidFill>
                <a:effectLst/>
                <a:latin typeface="Arial" panose="020B0604020202020204" pitchFamily="34" charset="0"/>
                <a:ea typeface="+mn-ea"/>
                <a:cs typeface="+mn-cs"/>
              </a:rPr>
              <a:t>技术前沿论坛</a:t>
            </a:r>
            <a:r>
              <a:rPr kumimoji="1" lang="en-US" altLang="zh-CN" sz="1200" b="0" i="0" kern="1200">
                <a:solidFill>
                  <a:schemeClr val="tx1"/>
                </a:solidFill>
                <a:effectLst/>
                <a:latin typeface="Arial" panose="020B0604020202020204" pitchFamily="34" charset="0"/>
                <a:ea typeface="+mn-ea"/>
                <a:cs typeface="+mn-cs"/>
              </a:rPr>
              <a:t>·OASES</a:t>
            </a:r>
            <a:r>
              <a:rPr kumimoji="1" lang="zh-CN" altLang="en-US" sz="1200" b="0" i="0" kern="1200">
                <a:solidFill>
                  <a:schemeClr val="tx1"/>
                </a:solidFill>
                <a:effectLst/>
                <a:latin typeface="Arial" panose="020B0604020202020204" pitchFamily="34" charset="0"/>
                <a:ea typeface="+mn-ea"/>
                <a:cs typeface="+mn-cs"/>
              </a:rPr>
              <a:t>联盟行业技术交流会在京举行。百度安全专家代表、泰尔实验室专家、业界安全专家、</a:t>
            </a:r>
            <a:r>
              <a:rPr kumimoji="1" lang="en-US" altLang="zh-CN" sz="1200" b="0" i="0" kern="1200">
                <a:solidFill>
                  <a:schemeClr val="tx1"/>
                </a:solidFill>
                <a:effectLst/>
                <a:latin typeface="Arial" panose="020B0604020202020204" pitchFamily="34" charset="0"/>
                <a:ea typeface="+mn-ea"/>
                <a:cs typeface="+mn-cs"/>
              </a:rPr>
              <a:t>OASES</a:t>
            </a:r>
            <a:r>
              <a:rPr kumimoji="1" lang="zh-CN" altLang="en-US" sz="1200" b="0" i="0" kern="1200">
                <a:solidFill>
                  <a:schemeClr val="tx1"/>
                </a:solidFill>
                <a:effectLst/>
                <a:latin typeface="Arial" panose="020B0604020202020204" pitchFamily="34" charset="0"/>
                <a:ea typeface="+mn-ea"/>
                <a:cs typeface="+mn-cs"/>
              </a:rPr>
              <a:t>联盟成员代表，齐聚一堂，围绕</a:t>
            </a:r>
            <a:r>
              <a:rPr kumimoji="1" lang="en-US" altLang="zh-CN" sz="1200" b="0" i="0" kern="1200" err="1">
                <a:solidFill>
                  <a:schemeClr val="tx1"/>
                </a:solidFill>
                <a:effectLst/>
                <a:latin typeface="Arial" panose="020B0604020202020204" pitchFamily="34" charset="0"/>
                <a:ea typeface="+mn-ea"/>
                <a:cs typeface="+mn-cs"/>
              </a:rPr>
              <a:t>AIoT</a:t>
            </a:r>
            <a:r>
              <a:rPr kumimoji="1" lang="zh-CN" altLang="en-US" sz="1200" b="0" i="0" kern="1200">
                <a:solidFill>
                  <a:schemeClr val="tx1"/>
                </a:solidFill>
                <a:effectLst/>
                <a:latin typeface="Arial" panose="020B0604020202020204" pitchFamily="34" charset="0"/>
                <a:ea typeface="+mn-ea"/>
                <a:cs typeface="+mn-cs"/>
              </a:rPr>
              <a:t>行业安全挑战、现状、发展趋势，安全生态建设等话题，进行了深度交流。</a:t>
            </a:r>
            <a:endParaRPr kumimoji="1" lang="en-US" altLang="zh-CN" sz="1200" b="0" i="0" kern="1200">
              <a:solidFill>
                <a:schemeClr val="tx1"/>
              </a:solidFill>
              <a:latin typeface="Arial" panose="020B0604020202020204" pitchFamily="34" charset="0"/>
              <a:ea typeface="+mn-ea"/>
              <a:cs typeface="+mn-cs"/>
            </a:endParaRPr>
          </a:p>
          <a:p>
            <a:endParaRPr kumimoji="1" lang="en-US" altLang="zh-CN" sz="1200" b="0" i="0" kern="1200">
              <a:solidFill>
                <a:schemeClr val="tx1"/>
              </a:solidFill>
              <a:latin typeface="Arial" panose="020B0604020202020204" pitchFamily="34" charset="0"/>
              <a:ea typeface="+mn-ea"/>
              <a:cs typeface="+mn-cs"/>
            </a:endParaRPr>
          </a:p>
          <a:p>
            <a:r>
              <a:rPr kumimoji="1" lang="zh-CN" altLang="en-US" sz="1200" b="0" i="0" kern="1200">
                <a:solidFill>
                  <a:schemeClr val="tx1"/>
                </a:solidFill>
                <a:latin typeface="Arial" panose="020B0604020202020204" pitchFamily="34" charset="0"/>
                <a:ea typeface="+mn-ea"/>
                <a:cs typeface="+mn-cs"/>
              </a:rPr>
              <a:t>百度</a:t>
            </a:r>
            <a:r>
              <a:rPr kumimoji="1" lang="en-US" altLang="zh-CN" sz="1200" b="0" i="0" kern="1200">
                <a:solidFill>
                  <a:schemeClr val="tx1"/>
                </a:solidFill>
                <a:latin typeface="Arial" panose="020B0604020202020204" pitchFamily="34" charset="0"/>
                <a:ea typeface="+mn-ea"/>
                <a:cs typeface="+mn-cs"/>
              </a:rPr>
              <a:t>AI</a:t>
            </a:r>
            <a:r>
              <a:rPr kumimoji="1" lang="zh-CN" altLang="en-US" sz="1200" b="0" i="0" kern="1200">
                <a:solidFill>
                  <a:schemeClr val="tx1"/>
                </a:solidFill>
                <a:latin typeface="Arial" panose="020B0604020202020204" pitchFamily="34" charset="0"/>
                <a:ea typeface="+mn-ea"/>
                <a:cs typeface="+mn-cs"/>
              </a:rPr>
              <a:t>安全团队对超过</a:t>
            </a:r>
            <a:r>
              <a:rPr kumimoji="1" lang="en-US" altLang="zh-CN" sz="1200" b="0" i="0" kern="1200">
                <a:solidFill>
                  <a:schemeClr val="tx1"/>
                </a:solidFill>
                <a:latin typeface="Arial" panose="020B0604020202020204" pitchFamily="34" charset="0"/>
                <a:ea typeface="+mn-ea"/>
                <a:cs typeface="+mn-cs"/>
              </a:rPr>
              <a:t>40</a:t>
            </a:r>
            <a:r>
              <a:rPr kumimoji="1" lang="zh-CN" altLang="en-US" sz="1200" b="0" i="0" kern="1200">
                <a:solidFill>
                  <a:schemeClr val="tx1"/>
                </a:solidFill>
                <a:latin typeface="Arial" panose="020B0604020202020204" pitchFamily="34" charset="0"/>
                <a:ea typeface="+mn-ea"/>
                <a:cs typeface="+mn-cs"/>
              </a:rPr>
              <a:t>款智能终端进行了</a:t>
            </a:r>
            <a:r>
              <a:rPr kumimoji="1" lang="en-US" altLang="zh-CN" sz="1200" b="0" i="0" kern="1200">
                <a:solidFill>
                  <a:schemeClr val="tx1"/>
                </a:solidFill>
                <a:latin typeface="Arial" panose="020B0604020202020204" pitchFamily="34" charset="0"/>
                <a:ea typeface="+mn-ea"/>
                <a:cs typeface="+mn-cs"/>
              </a:rPr>
              <a:t>OTA</a:t>
            </a:r>
            <a:r>
              <a:rPr kumimoji="1" lang="zh-CN" altLang="en-US" sz="1200" b="0" i="0" kern="1200">
                <a:solidFill>
                  <a:schemeClr val="tx1"/>
                </a:solidFill>
                <a:latin typeface="Arial" panose="020B0604020202020204" pitchFamily="34" charset="0"/>
                <a:ea typeface="+mn-ea"/>
                <a:cs typeface="+mn-cs"/>
              </a:rPr>
              <a:t>安全评估，数据显示：</a:t>
            </a:r>
            <a:r>
              <a:rPr kumimoji="1" lang="en-US" altLang="zh-CN" sz="1200" b="0" i="0" kern="1200">
                <a:solidFill>
                  <a:schemeClr val="tx1"/>
                </a:solidFill>
                <a:latin typeface="Arial" panose="020B0604020202020204" pitchFamily="34" charset="0"/>
                <a:ea typeface="+mn-ea"/>
                <a:cs typeface="+mn-cs"/>
              </a:rPr>
              <a:t>95%</a:t>
            </a:r>
            <a:r>
              <a:rPr kumimoji="1" lang="zh-CN" altLang="en-US" sz="1200" b="0" i="0" kern="1200">
                <a:solidFill>
                  <a:schemeClr val="tx1"/>
                </a:solidFill>
                <a:latin typeface="Arial" panose="020B0604020202020204" pitchFamily="34" charset="0"/>
                <a:ea typeface="+mn-ea"/>
                <a:cs typeface="+mn-cs"/>
              </a:rPr>
              <a:t>设备未能保护</a:t>
            </a:r>
            <a:r>
              <a:rPr kumimoji="1" lang="en-US" altLang="zh-CN" sz="1200" b="0" i="0" kern="1200">
                <a:solidFill>
                  <a:schemeClr val="tx1"/>
                </a:solidFill>
                <a:latin typeface="Arial" panose="020B0604020202020204" pitchFamily="34" charset="0"/>
                <a:ea typeface="+mn-ea"/>
                <a:cs typeface="+mn-cs"/>
              </a:rPr>
              <a:t>OTA</a:t>
            </a:r>
            <a:r>
              <a:rPr kumimoji="1" lang="zh-CN" altLang="en-US" sz="1200" b="0" i="0" kern="1200">
                <a:solidFill>
                  <a:schemeClr val="tx1"/>
                </a:solidFill>
                <a:latin typeface="Arial" panose="020B0604020202020204" pitchFamily="34" charset="0"/>
                <a:ea typeface="+mn-ea"/>
                <a:cs typeface="+mn-cs"/>
              </a:rPr>
              <a:t>升级包的数据内容，</a:t>
            </a:r>
            <a:r>
              <a:rPr kumimoji="1" lang="en-US" altLang="zh-CN" sz="1200" b="0" i="0" kern="1200">
                <a:solidFill>
                  <a:schemeClr val="tx1"/>
                </a:solidFill>
                <a:latin typeface="Arial" panose="020B0604020202020204" pitchFamily="34" charset="0"/>
                <a:ea typeface="+mn-ea"/>
                <a:cs typeface="+mn-cs"/>
              </a:rPr>
              <a:t>90%</a:t>
            </a:r>
            <a:r>
              <a:rPr kumimoji="1" lang="zh-CN" altLang="en-US" sz="1200" b="0" i="0" kern="1200">
                <a:solidFill>
                  <a:schemeClr val="tx1"/>
                </a:solidFill>
                <a:latin typeface="Arial" panose="020B0604020202020204" pitchFamily="34" charset="0"/>
                <a:ea typeface="+mn-ea"/>
                <a:cs typeface="+mn-cs"/>
              </a:rPr>
              <a:t>设备无法抵御通信过程中的中间人攻击，</a:t>
            </a:r>
            <a:r>
              <a:rPr kumimoji="1" lang="en-US" altLang="zh-CN" sz="1200" b="0" i="0" kern="1200">
                <a:solidFill>
                  <a:schemeClr val="tx1"/>
                </a:solidFill>
                <a:latin typeface="Arial" panose="020B0604020202020204" pitchFamily="34" charset="0"/>
                <a:ea typeface="+mn-ea"/>
                <a:cs typeface="+mn-cs"/>
              </a:rPr>
              <a:t>61%</a:t>
            </a:r>
            <a:r>
              <a:rPr kumimoji="1" lang="zh-CN" altLang="en-US" sz="1200" b="0" i="0" kern="1200">
                <a:solidFill>
                  <a:schemeClr val="tx1"/>
                </a:solidFill>
                <a:latin typeface="Arial" panose="020B0604020202020204" pitchFamily="34" charset="0"/>
                <a:ea typeface="+mn-ea"/>
                <a:cs typeface="+mn-cs"/>
              </a:rPr>
              <a:t>设备可强制将系统</a:t>
            </a:r>
            <a:r>
              <a:rPr kumimoji="1" lang="en-US" altLang="zh-CN" sz="1200" b="0" i="0" kern="1200">
                <a:solidFill>
                  <a:schemeClr val="tx1"/>
                </a:solidFill>
                <a:latin typeface="Arial" panose="020B0604020202020204" pitchFamily="34" charset="0"/>
                <a:ea typeface="+mn-ea"/>
                <a:cs typeface="+mn-cs"/>
              </a:rPr>
              <a:t>/APP</a:t>
            </a:r>
            <a:r>
              <a:rPr kumimoji="1" lang="zh-CN" altLang="en-US" sz="1200" b="0" i="0" kern="1200">
                <a:solidFill>
                  <a:schemeClr val="tx1"/>
                </a:solidFill>
                <a:latin typeface="Arial" panose="020B0604020202020204" pitchFamily="34" charset="0"/>
                <a:ea typeface="+mn-ea"/>
                <a:cs typeface="+mn-cs"/>
              </a:rPr>
              <a:t>版本降级至低版本。</a:t>
            </a:r>
            <a:endParaRPr kumimoji="1" lang="en-US" altLang="zh-CN" sz="1200" b="0" i="0" kern="1200">
              <a:solidFill>
                <a:schemeClr val="tx1"/>
              </a:solidFill>
              <a:latin typeface="Arial" panose="020B0604020202020204" pitchFamily="34" charset="0"/>
              <a:ea typeface="+mn-ea"/>
              <a:cs typeface="+mn-cs"/>
            </a:endParaRPr>
          </a:p>
          <a:p>
            <a:endParaRPr lang="en-US" altLang="zh-CN"/>
          </a:p>
          <a:p>
            <a:r>
              <a:rPr kumimoji="1" lang="zh-CN" altLang="en-US" sz="1200" b="0" i="0" kern="1200">
                <a:solidFill>
                  <a:schemeClr val="tx1"/>
                </a:solidFill>
                <a:latin typeface="Arial" panose="020B0604020202020204" pitchFamily="34" charset="0"/>
                <a:ea typeface="+mn-ea"/>
                <a:cs typeface="+mn-cs"/>
              </a:rPr>
              <a:t>一加手机就曾被发现存在</a:t>
            </a:r>
            <a:r>
              <a:rPr kumimoji="1" lang="en-US" altLang="zh-CN" sz="1200" b="0" i="0" kern="1200">
                <a:solidFill>
                  <a:schemeClr val="tx1"/>
                </a:solidFill>
                <a:latin typeface="Arial" panose="020B0604020202020204" pitchFamily="34" charset="0"/>
                <a:ea typeface="+mn-ea"/>
                <a:cs typeface="+mn-cs"/>
              </a:rPr>
              <a:t>OTA</a:t>
            </a:r>
            <a:r>
              <a:rPr kumimoji="1" lang="zh-CN" altLang="en-US" sz="1200" b="0" i="0" kern="1200">
                <a:solidFill>
                  <a:schemeClr val="tx1"/>
                </a:solidFill>
                <a:latin typeface="Arial" panose="020B0604020202020204" pitchFamily="34" charset="0"/>
                <a:ea typeface="+mn-ea"/>
                <a:cs typeface="+mn-cs"/>
              </a:rPr>
              <a:t>安全问题，给品牌带来了严重负面影响。研究人员从一加手机</a:t>
            </a:r>
            <a:r>
              <a:rPr kumimoji="1" lang="en-US" altLang="zh-CN" sz="1200" b="0" i="0" kern="1200">
                <a:solidFill>
                  <a:schemeClr val="tx1"/>
                </a:solidFill>
                <a:latin typeface="Arial" panose="020B0604020202020204" pitchFamily="34" charset="0"/>
                <a:ea typeface="+mn-ea"/>
                <a:cs typeface="+mn-cs"/>
              </a:rPr>
              <a:t>1/X/2/3/3T </a:t>
            </a:r>
            <a:r>
              <a:rPr kumimoji="1" lang="en-US" altLang="zh-CN" sz="1200" b="0" i="0" kern="1200" err="1">
                <a:solidFill>
                  <a:schemeClr val="tx1"/>
                </a:solidFill>
                <a:latin typeface="Arial" panose="020B0604020202020204" pitchFamily="34" charset="0"/>
                <a:ea typeface="+mn-ea"/>
                <a:cs typeface="+mn-cs"/>
              </a:rPr>
              <a:t>OxygenOS</a:t>
            </a:r>
            <a:r>
              <a:rPr kumimoji="1" lang="zh-CN" altLang="en-US" sz="1200" b="0" i="0" kern="1200">
                <a:solidFill>
                  <a:schemeClr val="tx1"/>
                </a:solidFill>
                <a:latin typeface="Arial" panose="020B0604020202020204" pitchFamily="34" charset="0"/>
                <a:ea typeface="+mn-ea"/>
                <a:cs typeface="+mn-cs"/>
              </a:rPr>
              <a:t>及</a:t>
            </a:r>
            <a:r>
              <a:rPr kumimoji="1" lang="en-US" altLang="zh-CN" sz="1200" b="0" i="0" kern="1200" err="1">
                <a:solidFill>
                  <a:schemeClr val="tx1"/>
                </a:solidFill>
                <a:latin typeface="Arial" panose="020B0604020202020204" pitchFamily="34" charset="0"/>
                <a:ea typeface="+mn-ea"/>
                <a:cs typeface="+mn-cs"/>
              </a:rPr>
              <a:t>HydrogenOS</a:t>
            </a:r>
            <a:r>
              <a:rPr kumimoji="1" lang="zh-CN" altLang="en-US" sz="1200" b="0" i="0" kern="1200">
                <a:solidFill>
                  <a:schemeClr val="tx1"/>
                </a:solidFill>
                <a:latin typeface="Arial" panose="020B0604020202020204" pitchFamily="34" charset="0"/>
                <a:ea typeface="+mn-ea"/>
                <a:cs typeface="+mn-cs"/>
              </a:rPr>
              <a:t>最新版本</a:t>
            </a:r>
            <a:r>
              <a:rPr kumimoji="1" lang="en-US" altLang="zh-CN" sz="1200" b="0" i="0" kern="1200">
                <a:solidFill>
                  <a:schemeClr val="tx1"/>
                </a:solidFill>
                <a:latin typeface="Arial" panose="020B0604020202020204" pitchFamily="34" charset="0"/>
                <a:ea typeface="+mn-ea"/>
                <a:cs typeface="+mn-cs"/>
              </a:rPr>
              <a:t>(4.1.3/3.0)</a:t>
            </a:r>
            <a:r>
              <a:rPr kumimoji="1" lang="zh-CN" altLang="en-US" sz="1200" b="0" i="0" kern="1200">
                <a:solidFill>
                  <a:schemeClr val="tx1"/>
                </a:solidFill>
                <a:latin typeface="Arial" panose="020B0604020202020204" pitchFamily="34" charset="0"/>
                <a:ea typeface="+mn-ea"/>
                <a:cs typeface="+mn-cs"/>
              </a:rPr>
              <a:t>及以下版本发现漏洞，该漏洞允许攻击者以中间人劫持方式介入</a:t>
            </a:r>
            <a:r>
              <a:rPr kumimoji="1" lang="en-US" altLang="zh-CN" sz="1200" b="0" i="0" kern="1200">
                <a:solidFill>
                  <a:schemeClr val="tx1"/>
                </a:solidFill>
                <a:latin typeface="Arial" panose="020B0604020202020204" pitchFamily="34" charset="0"/>
                <a:ea typeface="+mn-ea"/>
                <a:cs typeface="+mn-cs"/>
              </a:rPr>
              <a:t>OTA</a:t>
            </a:r>
            <a:r>
              <a:rPr kumimoji="1" lang="zh-CN" altLang="en-US" sz="1200" b="0" i="0" kern="1200">
                <a:solidFill>
                  <a:schemeClr val="tx1"/>
                </a:solidFill>
                <a:latin typeface="Arial" panose="020B0604020202020204" pitchFamily="34" charset="0"/>
                <a:ea typeface="+mn-ea"/>
                <a:cs typeface="+mn-cs"/>
              </a:rPr>
              <a:t>升级过程，对</a:t>
            </a:r>
            <a:r>
              <a:rPr kumimoji="1" lang="en-US" altLang="zh-CN" sz="1200" b="0" i="0" kern="1200" err="1">
                <a:solidFill>
                  <a:schemeClr val="tx1"/>
                </a:solidFill>
                <a:latin typeface="Arial" panose="020B0604020202020204" pitchFamily="34" charset="0"/>
                <a:ea typeface="+mn-ea"/>
                <a:cs typeface="+mn-cs"/>
              </a:rPr>
              <a:t>OxygenOS</a:t>
            </a:r>
            <a:r>
              <a:rPr kumimoji="1" lang="en-US" altLang="zh-CN" sz="1200" b="0" i="0" kern="1200">
                <a:solidFill>
                  <a:schemeClr val="tx1"/>
                </a:solidFill>
                <a:latin typeface="Arial" panose="020B0604020202020204" pitchFamily="34" charset="0"/>
                <a:ea typeface="+mn-ea"/>
                <a:cs typeface="+mn-cs"/>
              </a:rPr>
              <a:t>/</a:t>
            </a:r>
            <a:r>
              <a:rPr kumimoji="1" lang="en-US" altLang="zh-CN" sz="1200" b="0" i="0" kern="1200" err="1">
                <a:solidFill>
                  <a:schemeClr val="tx1"/>
                </a:solidFill>
                <a:latin typeface="Arial" panose="020B0604020202020204" pitchFamily="34" charset="0"/>
                <a:ea typeface="+mn-ea"/>
                <a:cs typeface="+mn-cs"/>
              </a:rPr>
              <a:t>HydrogenOS</a:t>
            </a:r>
            <a:r>
              <a:rPr kumimoji="1" lang="zh-CN" altLang="en-US" sz="1200" b="0" i="0" kern="1200">
                <a:solidFill>
                  <a:schemeClr val="tx1"/>
                </a:solidFill>
                <a:latin typeface="Arial" panose="020B0604020202020204" pitchFamily="34" charset="0"/>
                <a:ea typeface="+mn-ea"/>
                <a:cs typeface="+mn-cs"/>
              </a:rPr>
              <a:t>版本进行降级，甚至替换</a:t>
            </a:r>
            <a:r>
              <a:rPr kumimoji="1" lang="en-US" altLang="zh-CN" sz="1200" b="0" i="0" kern="1200">
                <a:solidFill>
                  <a:schemeClr val="tx1"/>
                </a:solidFill>
                <a:latin typeface="Arial" panose="020B0604020202020204" pitchFamily="34" charset="0"/>
                <a:ea typeface="+mn-ea"/>
                <a:cs typeface="+mn-cs"/>
              </a:rPr>
              <a:t>(</a:t>
            </a:r>
            <a:r>
              <a:rPr kumimoji="1" lang="zh-CN" altLang="en-US" sz="1200" b="0" i="0" kern="1200">
                <a:solidFill>
                  <a:schemeClr val="tx1"/>
                </a:solidFill>
                <a:latin typeface="Arial" panose="020B0604020202020204" pitchFamily="34" charset="0"/>
                <a:ea typeface="+mn-ea"/>
                <a:cs typeface="+mn-cs"/>
              </a:rPr>
              <a:t>反之亦然</a:t>
            </a:r>
            <a:r>
              <a:rPr kumimoji="1" lang="en-US" altLang="zh-CN" sz="1200" b="0" i="0" kern="1200">
                <a:solidFill>
                  <a:schemeClr val="tx1"/>
                </a:solidFill>
                <a:latin typeface="Arial" panose="020B0604020202020204" pitchFamily="34" charset="0"/>
                <a:ea typeface="+mn-ea"/>
                <a:cs typeface="+mn-cs"/>
              </a:rPr>
              <a:t>)</a:t>
            </a:r>
            <a:r>
              <a:rPr kumimoji="1" lang="zh-CN" altLang="en-US" sz="1200" b="0" i="0" kern="1200">
                <a:solidFill>
                  <a:schemeClr val="tx1"/>
                </a:solidFill>
                <a:latin typeface="Arial" panose="020B0604020202020204" pitchFamily="34" charset="0"/>
                <a:ea typeface="+mn-ea"/>
                <a:cs typeface="+mn-cs"/>
              </a:rPr>
              <a:t>，导致引起拒绝服务。除此之外，物理攻击者也可以利用该漏洞更轻松地对设备进行其他操作。</a:t>
            </a:r>
            <a:endParaRPr kumimoji="1" lang="en-US" altLang="zh-CN" sz="1200" b="0" i="0" kern="1200">
              <a:solidFill>
                <a:schemeClr val="tx1"/>
              </a:solidFill>
              <a:latin typeface="Arial" panose="020B0604020202020204" pitchFamily="34" charset="0"/>
              <a:ea typeface="+mn-ea"/>
              <a:cs typeface="+mn-cs"/>
            </a:endParaRPr>
          </a:p>
          <a:p>
            <a:endParaRPr lang="zh-CN" altLang="en-US"/>
          </a:p>
          <a:p>
            <a:r>
              <a:rPr lang="zh-CN" altLang="en-US"/>
              <a:t>通过系统降级以及利用老漏洞攻击者可以完成</a:t>
            </a:r>
            <a:r>
              <a:rPr lang="en-US" altLang="zh-CN"/>
              <a:t>3</a:t>
            </a:r>
            <a:r>
              <a:rPr lang="zh-CN" altLang="en-US"/>
              <a:t>个不同目的</a:t>
            </a:r>
            <a:r>
              <a:rPr lang="en-US" altLang="zh-CN"/>
              <a:t>:</a:t>
            </a:r>
          </a:p>
          <a:p>
            <a:r>
              <a:rPr lang="en-US" altLang="zh-CN"/>
              <a:t>1 </a:t>
            </a:r>
            <a:r>
              <a:rPr lang="zh-CN" altLang="en-US"/>
              <a:t>破坏机密性：泄漏用户数据</a:t>
            </a:r>
          </a:p>
          <a:p>
            <a:r>
              <a:rPr lang="en-US" altLang="zh-CN"/>
              <a:t>2 </a:t>
            </a:r>
            <a:r>
              <a:rPr lang="zh-CN" altLang="en-US"/>
              <a:t>破坏完整性：在设备上执行代码以用于其他目的</a:t>
            </a:r>
          </a:p>
          <a:p>
            <a:r>
              <a:rPr lang="en-US" altLang="zh-CN"/>
              <a:t>3 </a:t>
            </a:r>
            <a:r>
              <a:rPr lang="zh-CN" altLang="en-US"/>
              <a:t>解锁</a:t>
            </a:r>
            <a:r>
              <a:rPr lang="en-US" altLang="zh-CN"/>
              <a:t>/</a:t>
            </a:r>
            <a:r>
              <a:rPr lang="zh-CN" altLang="en-US"/>
              <a:t>越狱设备</a:t>
            </a:r>
          </a:p>
          <a:p>
            <a:endParaRPr lang="en-US" altLang="zh-CN"/>
          </a:p>
          <a:p>
            <a:r>
              <a:rPr lang="zh-CN" altLang="en-US"/>
              <a:t>签名校验：保证升级包来源可信；保证升级包内容在传递过程中未被篡改</a:t>
            </a:r>
            <a:endParaRPr lang="en-US" altLang="zh-CN"/>
          </a:p>
          <a:p>
            <a:r>
              <a:rPr lang="zh-CN" altLang="en-US"/>
              <a:t>双向认证：认证客户端和服务端；保证升级包来源与去处均可信</a:t>
            </a:r>
            <a:endParaRPr lang="en-US" altLang="zh-CN"/>
          </a:p>
          <a:p>
            <a:r>
              <a:rPr lang="zh-CN" altLang="en-US"/>
              <a:t>升级包加密：保证升级包内容不被第三方窥视</a:t>
            </a:r>
            <a:endParaRPr lang="en-US" altLang="zh-CN"/>
          </a:p>
          <a:p>
            <a:r>
              <a:rPr lang="zh-CN" altLang="en-US"/>
              <a:t>通讯安全防护：</a:t>
            </a:r>
          </a:p>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例一：根据土壤湿度决定要不要灌溉</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54</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a:t>Conflict</a:t>
            </a:r>
            <a:r>
              <a:rPr kumimoji="1" lang="zh-CN" altLang="en-US"/>
              <a:t> </a:t>
            </a:r>
            <a:r>
              <a:rPr kumimoji="1" lang="en-US" altLang="zh-CN"/>
              <a:t>if</a:t>
            </a:r>
            <a:r>
              <a:rPr kumimoji="1" lang="zh-CN" altLang="en-US"/>
              <a:t> </a:t>
            </a:r>
            <a:r>
              <a:rPr kumimoji="1" lang="en-US" altLang="zh-CN"/>
              <a:t>light</a:t>
            </a:r>
            <a:r>
              <a:rPr kumimoji="1" lang="zh-CN" altLang="en-US"/>
              <a:t> </a:t>
            </a:r>
            <a:r>
              <a:rPr kumimoji="1" lang="en-US" altLang="zh-CN"/>
              <a:t>=12000</a:t>
            </a:r>
            <a:r>
              <a:rPr kumimoji="1" lang="zh-CN" altLang="en-US"/>
              <a:t> </a:t>
            </a:r>
            <a:r>
              <a:rPr kumimoji="1" lang="en-US" altLang="zh-CN"/>
              <a:t>at</a:t>
            </a:r>
            <a:r>
              <a:rPr kumimoji="1" lang="zh-CN" altLang="en-US"/>
              <a:t> </a:t>
            </a:r>
            <a:r>
              <a:rPr kumimoji="1" lang="en-US" altLang="zh-CN"/>
              <a:t>19:01</a:t>
            </a:r>
            <a:r>
              <a:rPr kumimoji="1" lang="zh-CN" altLang="en-US"/>
              <a:t> </a:t>
            </a:r>
            <a:r>
              <a:rPr kumimoji="1" lang="en-US" altLang="zh-CN"/>
              <a:t>!</a:t>
            </a:r>
          </a:p>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56</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a:t>Conflict</a:t>
            </a:r>
            <a:r>
              <a:rPr kumimoji="1" lang="zh-CN" altLang="en-US"/>
              <a:t> </a:t>
            </a:r>
            <a:r>
              <a:rPr kumimoji="1" lang="en-US" altLang="zh-CN"/>
              <a:t>if</a:t>
            </a:r>
            <a:r>
              <a:rPr kumimoji="1" lang="zh-CN" altLang="en-US"/>
              <a:t> </a:t>
            </a:r>
            <a:r>
              <a:rPr kumimoji="1" lang="en-US" altLang="zh-CN"/>
              <a:t>light</a:t>
            </a:r>
            <a:r>
              <a:rPr kumimoji="1" lang="zh-CN" altLang="en-US"/>
              <a:t> </a:t>
            </a:r>
            <a:r>
              <a:rPr kumimoji="1" lang="en-US" altLang="zh-CN"/>
              <a:t>=12000</a:t>
            </a:r>
            <a:r>
              <a:rPr kumimoji="1" lang="zh-CN" altLang="en-US"/>
              <a:t> </a:t>
            </a:r>
            <a:r>
              <a:rPr kumimoji="1" lang="en-US" altLang="zh-CN"/>
              <a:t>at</a:t>
            </a:r>
            <a:r>
              <a:rPr kumimoji="1" lang="zh-CN" altLang="en-US"/>
              <a:t> </a:t>
            </a:r>
            <a:r>
              <a:rPr kumimoji="1" lang="en-US" altLang="zh-CN"/>
              <a:t>19:01</a:t>
            </a:r>
            <a:r>
              <a:rPr kumimoji="1" lang="zh-CN" altLang="en-US"/>
              <a:t> </a:t>
            </a:r>
            <a:r>
              <a:rPr kumimoji="1" lang="en-US" altLang="zh-CN"/>
              <a:t>!</a:t>
            </a:r>
          </a:p>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57</a:t>
            </a:fld>
            <a:endParaRPr lang="en-US" altLang="zh-CN"/>
          </a:p>
        </p:txBody>
      </p:sp>
    </p:spTree>
    <p:extLst>
      <p:ext uri="{BB962C8B-B14F-4D97-AF65-F5344CB8AC3E}">
        <p14:creationId xmlns:p14="http://schemas.microsoft.com/office/powerpoint/2010/main" val="1909213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58</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60</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61</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62</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不公平：规则数目</a:t>
            </a:r>
            <a:r>
              <a:rPr lang="en-US" altLang="zh-CN"/>
              <a:t>+</a:t>
            </a:r>
            <a:r>
              <a:rPr lang="zh-CN" altLang="en-US"/>
              <a:t>数据率</a:t>
            </a:r>
            <a:endParaRPr lang="en-US" altLang="zh-CN"/>
          </a:p>
          <a:p>
            <a:r>
              <a:rPr lang="zh-CN" altLang="en-US"/>
              <a:t>多用户，怎么保证用户间的公平性？每个用户要有一个</a:t>
            </a:r>
            <a:r>
              <a:rPr lang="en-US" altLang="zh-CN" err="1"/>
              <a:t>qos</a:t>
            </a:r>
            <a:r>
              <a:rPr lang="zh-CN" altLang="en-US"/>
              <a:t>的保障，在这个</a:t>
            </a:r>
            <a:r>
              <a:rPr lang="en-US" altLang="zh-CN"/>
              <a:t>constraint</a:t>
            </a:r>
            <a:r>
              <a:rPr lang="zh-CN" altLang="en-US"/>
              <a:t>下如何</a:t>
            </a:r>
            <a:r>
              <a:rPr lang="en-US" altLang="zh-CN"/>
              <a:t>schedule</a:t>
            </a:r>
            <a:r>
              <a:rPr lang="zh-CN" altLang="en-US"/>
              <a:t>？</a:t>
            </a:r>
            <a:endParaRPr lang="en-US" altLang="zh-CN"/>
          </a:p>
          <a:p>
            <a:r>
              <a:rPr lang="en-US" altLang="zh-CN"/>
              <a:t>-&gt;</a:t>
            </a:r>
            <a:r>
              <a:rPr lang="en-US" altLang="zh-CN" err="1"/>
              <a:t>rt-ifttt</a:t>
            </a:r>
            <a:r>
              <a:rPr lang="zh-CN" altLang="en-US"/>
              <a:t> </a:t>
            </a:r>
            <a:r>
              <a:rPr lang="en-US" altLang="zh-CN" err="1"/>
              <a:t>multiqueue</a:t>
            </a:r>
            <a:r>
              <a:rPr lang="zh-CN" altLang="en-US"/>
              <a:t> </a:t>
            </a:r>
            <a:r>
              <a:rPr lang="en-US" altLang="zh-CN"/>
              <a:t>+</a:t>
            </a:r>
            <a:r>
              <a:rPr lang="zh-CN" altLang="en-US"/>
              <a:t> </a:t>
            </a:r>
            <a:r>
              <a:rPr lang="en-US" altLang="zh-CN"/>
              <a:t>priority</a:t>
            </a:r>
            <a:r>
              <a:rPr lang="zh-CN" altLang="en-US"/>
              <a:t> </a:t>
            </a:r>
            <a:r>
              <a:rPr lang="en-US" altLang="zh-CN"/>
              <a:t>(</a:t>
            </a:r>
            <a:r>
              <a:rPr lang="en-US" altLang="zh-CN" err="1"/>
              <a:t>sigcomm</a:t>
            </a:r>
            <a:r>
              <a:rPr lang="zh-CN" altLang="en-US"/>
              <a:t> </a:t>
            </a:r>
            <a:r>
              <a:rPr lang="en-US" altLang="zh-CN" err="1"/>
              <a:t>kaichen</a:t>
            </a:r>
            <a:r>
              <a:rPr lang="en-US" altLang="zh-CN"/>
              <a:t>)</a:t>
            </a:r>
          </a:p>
          <a:p>
            <a:endParaRPr lang="en-US" altLang="zh-CN"/>
          </a:p>
          <a:p>
            <a:r>
              <a:rPr lang="zh-CN" altLang="en-US"/>
              <a:t>云端</a:t>
            </a:r>
            <a:r>
              <a:rPr lang="en-US" altLang="zh-CN"/>
              <a:t>workload</a:t>
            </a:r>
            <a:r>
              <a:rPr lang="zh-CN" altLang="en-US"/>
              <a:t> </a:t>
            </a:r>
            <a:r>
              <a:rPr lang="en-US" altLang="zh-CN"/>
              <a:t>prediction</a:t>
            </a:r>
          </a:p>
          <a:p>
            <a:endParaRPr lang="en-US" altLang="zh-CN"/>
          </a:p>
          <a:p>
            <a:r>
              <a:rPr lang="zh-CN" altLang="en-US"/>
              <a:t>规则引擎是否可以用</a:t>
            </a:r>
            <a:r>
              <a:rPr lang="en-US" altLang="zh-CN" err="1"/>
              <a:t>mapreduce</a:t>
            </a:r>
            <a:r>
              <a:rPr lang="zh-CN" altLang="en-US"/>
              <a:t>？</a:t>
            </a:r>
            <a:endParaRPr lang="en-US" altLang="zh-CN"/>
          </a:p>
          <a:p>
            <a:r>
              <a:rPr lang="zh-CN" altLang="en-US"/>
              <a:t>每一个项目开一个规则引擎执行器</a:t>
            </a:r>
            <a:endParaRPr lang="en-US" altLang="zh-CN"/>
          </a:p>
          <a:p>
            <a:endParaRPr lang="en-US" altLang="zh-CN"/>
          </a:p>
          <a:p>
            <a:r>
              <a:rPr lang="zh-CN" altLang="en-US"/>
              <a:t>工业界：首先对数据进行认证</a:t>
            </a:r>
            <a:endParaRPr lang="en-US" altLang="zh-CN"/>
          </a:p>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63</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IFTTT</a:t>
            </a:r>
            <a:r>
              <a:rPr lang="zh-CN" altLang="en-US"/>
              <a:t>作为管理中枢，耦合性太强，执行各种规则的过程中会面临各类问题</a:t>
            </a:r>
            <a:endParaRPr lang="en-US" altLang="zh-CN"/>
          </a:p>
          <a:p>
            <a:r>
              <a:rPr lang="zh-CN" altLang="en-US"/>
              <a:t>规则引擎的执行方式对</a:t>
            </a:r>
            <a:r>
              <a:rPr lang="en-US" altLang="zh-CN"/>
              <a:t>IFTTT</a:t>
            </a:r>
            <a:r>
              <a:rPr lang="zh-CN" altLang="en-US"/>
              <a:t>进行解耦，只做“传令官”，将原先的问题分散到其它服务各自处理</a:t>
            </a:r>
          </a:p>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64</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下面介绍后端服务中的时序数据库和流计算</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65</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67</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为何规则引擎写“</a:t>
            </a:r>
            <a:r>
              <a:rPr lang="en-US" altLang="zh-CN"/>
              <a:t>From</a:t>
            </a:r>
            <a:r>
              <a:rPr lang="en-US" altLang="zh-CN" baseline="0"/>
              <a:t> /pk1/ + /update</a:t>
            </a:r>
            <a:r>
              <a:rPr lang="zh-CN" altLang="en-US" baseline="0"/>
              <a:t>”，中间的</a:t>
            </a:r>
            <a:r>
              <a:rPr lang="en-US" altLang="zh-CN" baseline="0"/>
              <a:t>”</a:t>
            </a:r>
            <a:r>
              <a:rPr lang="en-US" altLang="zh-CN" baseline="0" err="1"/>
              <a:t>controlApp</a:t>
            </a:r>
            <a:r>
              <a:rPr lang="en-US" altLang="zh-CN" baseline="0"/>
              <a:t>”</a:t>
            </a:r>
            <a:r>
              <a:rPr lang="zh-CN" altLang="en-US" baseline="0"/>
              <a:t>可以换成其它</a:t>
            </a:r>
            <a:r>
              <a:rPr lang="en-US" altLang="zh-CN" baseline="0"/>
              <a:t>Topic</a:t>
            </a:r>
            <a:r>
              <a:rPr lang="zh-CN" altLang="en-US" baseline="0"/>
              <a:t>，也就是说除了手机，还有其它终端可以发布命令消息控制灯泡</a:t>
            </a:r>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68</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75</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latin typeface="Calibri" panose="020F0502020204030204"/>
                <a:cs typeface="Calibri" panose="020F0502020204030204"/>
              </a:rPr>
              <a:t>阿里在2019年1月收购了Flink母公司</a:t>
            </a:r>
            <a:r>
              <a:rPr lang="zh-CN">
                <a:latin typeface="Arial" panose="020B0604020202020204"/>
                <a:cs typeface="Arial" panose="020B0604020202020204"/>
              </a:rPr>
              <a:t>Data Artisans</a:t>
            </a:r>
          </a:p>
          <a:p>
            <a:r>
              <a:rPr lang="zh-CN">
                <a:latin typeface="Arial" panose="020B0604020202020204"/>
                <a:cs typeface="Arial" panose="020B0604020202020204"/>
              </a:rPr>
              <a:t>阿里云实时计算服务，前身即阿里云流计算，基于</a:t>
            </a:r>
            <a:r>
              <a:rPr lang="en-US" altLang="zh-CN">
                <a:latin typeface="Arial" panose="020B0604020202020204"/>
                <a:cs typeface="Arial" panose="020B0604020202020204"/>
              </a:rPr>
              <a:t>Blink</a:t>
            </a:r>
            <a:r>
              <a:rPr lang="zh-CN">
                <a:latin typeface="Arial" panose="020B0604020202020204"/>
                <a:cs typeface="Arial" panose="020B0604020202020204"/>
              </a:rPr>
              <a:t>，而</a:t>
            </a:r>
            <a:r>
              <a:rPr lang="en-US" altLang="zh-CN" err="1">
                <a:latin typeface="Arial" panose="020B0604020202020204"/>
                <a:cs typeface="Arial" panose="020B0604020202020204"/>
              </a:rPr>
              <a:t>Blink基于Flink</a:t>
            </a:r>
            <a:endParaRPr lang="zh-CN" altLang="en-US" err="1">
              <a:latin typeface="Arial" panose="020B0604020202020204"/>
              <a:cs typeface="Arial" panose="020B0604020202020204"/>
            </a:endParaRP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a:t>77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79</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80</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82</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83</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a:t>传统</a:t>
            </a:r>
            <a:r>
              <a:rPr lang="en-US" altLang="zh-CN"/>
              <a:t>PaaS</a:t>
            </a:r>
            <a:r>
              <a:rPr lang="zh-CN" altLang="en-US"/>
              <a:t>模式下，在开发这个应用之前，开发者需要对云主机进行管理：购买服务的时候选择合适的资源配置，为了保证云主机安全要做很多工作</a:t>
            </a:r>
            <a:endParaRPr lang="en-US" altLang="zh-CN"/>
          </a:p>
          <a:p>
            <a:r>
              <a:rPr lang="zh-CN" altLang="en-US"/>
              <a:t>之后安装运行时和依赖</a:t>
            </a:r>
            <a:endParaRPr lang="en-US" altLang="zh-CN"/>
          </a:p>
          <a:p>
            <a:r>
              <a:rPr lang="zh-CN" altLang="en-US"/>
              <a:t>为了控制成本，存储大量数据是还要使用云平台的存储服务</a:t>
            </a:r>
            <a:endParaRPr lang="en-US" altLang="zh-CN"/>
          </a:p>
          <a:p>
            <a:r>
              <a:rPr lang="zh-CN" altLang="en-US"/>
              <a:t>完成以上操作之后，才能开始部署应用逻辑</a:t>
            </a:r>
            <a:endParaRPr lang="en-US" altLang="zh-CN"/>
          </a:p>
          <a:p>
            <a:r>
              <a:rPr lang="zh-CN" altLang="en-US"/>
              <a:t>如果应用用的人比较多，还要手动配置</a:t>
            </a:r>
            <a:r>
              <a:rPr lang="en-US" altLang="zh-CN"/>
              <a:t>autoscaling</a:t>
            </a:r>
            <a:r>
              <a:rPr lang="zh-CN" altLang="en-US"/>
              <a:t>策略来保证高峰访问不崩溃</a:t>
            </a:r>
            <a:endParaRPr lang="en-US" altLang="zh-CN"/>
          </a:p>
          <a:p>
            <a:endParaRPr lang="en-GB" altLang="zh-CN"/>
          </a:p>
          <a:p>
            <a:r>
              <a:rPr lang="zh-CN" altLang="en-GB"/>
              <a:t>从</a:t>
            </a:r>
            <a:r>
              <a:rPr lang="zh-CN" altLang="en-US"/>
              <a:t>以上步骤看来，传统</a:t>
            </a:r>
            <a:r>
              <a:rPr lang="en-US" altLang="zh-CN"/>
              <a:t>PaaS</a:t>
            </a:r>
            <a:r>
              <a:rPr lang="zh-CN" altLang="en-US"/>
              <a:t>模式对于用户的要求较高，除了编写应用逻辑之外的额外时间较长。</a:t>
            </a:r>
            <a:endParaRPr lang="en-US" altLang="zh-CN"/>
          </a:p>
          <a:p>
            <a:r>
              <a:rPr lang="zh-CN" altLang="en-US"/>
              <a:t>为了解决这个问题，无服务器计算应运而生</a:t>
            </a:r>
            <a:endParaRPr lang="en-GB" altLang="zh-CN"/>
          </a:p>
          <a:p>
            <a:r>
              <a:rPr lang="en-GB" altLang="zh-CN"/>
              <a:t>https://www.cnblogs.com/nineep/p/6828469.html</a:t>
            </a:r>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87</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然而使用无服务器计算构建这个应用，步骤就会减少很多，只需要开通对象存储之后直接编写应用逻辑即可。</a:t>
            </a:r>
            <a:endParaRPr lang="en-US" altLang="zh-CN"/>
          </a:p>
          <a:p>
            <a:r>
              <a:rPr lang="zh-CN" altLang="en-US"/>
              <a:t>运行环境、按需扩容等工作服务器都会帮你做好。</a:t>
            </a:r>
            <a:endParaRPr lang="en-US" altLang="zh-CN"/>
          </a:p>
          <a:p>
            <a:endParaRPr lang="en-US" altLang="zh-CN"/>
          </a:p>
          <a:p>
            <a:r>
              <a:rPr lang="zh-CN" altLang="en-US"/>
              <a:t>从下表可以看到这两种模式的区别。</a:t>
            </a:r>
            <a:endParaRPr lang="en-US" altLang="zh-CN"/>
          </a:p>
          <a:p>
            <a:r>
              <a:rPr lang="en-US" altLang="zh-CN"/>
              <a:t>Paas</a:t>
            </a:r>
            <a:r>
              <a:rPr lang="zh-CN" altLang="en-US"/>
              <a:t>的优势在于自由度高，语言支持丰富，但是无服务器计算，不同的云平台只支持有限的几种语言。</a:t>
            </a:r>
            <a:endParaRPr lang="en-US" altLang="zh-CN"/>
          </a:p>
          <a:p>
            <a:r>
              <a:rPr lang="zh-CN" altLang="en-US"/>
              <a:t>运行时环境</a:t>
            </a:r>
            <a:r>
              <a:rPr lang="en-US" altLang="zh-CN"/>
              <a:t>……</a:t>
            </a:r>
          </a:p>
          <a:p>
            <a:r>
              <a:rPr lang="zh-CN" altLang="en-US"/>
              <a:t>依赖</a:t>
            </a:r>
            <a:r>
              <a:rPr lang="en-US" altLang="zh-CN"/>
              <a:t>……</a:t>
            </a:r>
          </a:p>
          <a:p>
            <a:r>
              <a:rPr lang="zh-CN" altLang="en-US"/>
              <a:t>运维</a:t>
            </a:r>
            <a:r>
              <a:rPr lang="en-US" altLang="zh-CN"/>
              <a:t>……</a:t>
            </a:r>
          </a:p>
          <a:p>
            <a:r>
              <a:rPr lang="zh-CN" altLang="en-US"/>
              <a:t>这两种模式的计费方式也截然不同，无服务器计算模式是按照实际使用量计费，空闲时不计费，在大部分情况下会比传统模式更加节约成本</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88</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a:solidFill>
                  <a:schemeClr val="tx1"/>
                </a:solidFill>
                <a:effectLst/>
                <a:latin typeface="Arial" panose="020B0604020202020204" pitchFamily="34" charset="0"/>
                <a:ea typeface="+mn-ea"/>
                <a:cs typeface="+mn-cs"/>
              </a:rPr>
              <a:t>借助 </a:t>
            </a:r>
            <a:r>
              <a:rPr kumimoji="1" lang="en-US" altLang="zh-CN" sz="1200" b="0" i="0" kern="1200">
                <a:solidFill>
                  <a:schemeClr val="tx1"/>
                </a:solidFill>
                <a:effectLst/>
                <a:latin typeface="Arial" panose="020B0604020202020204" pitchFamily="34" charset="0"/>
                <a:ea typeface="+mn-ea"/>
                <a:cs typeface="+mn-cs"/>
              </a:rPr>
              <a:t>Amazon EC2</a:t>
            </a:r>
            <a:r>
              <a:rPr kumimoji="1" lang="zh-CN" altLang="en-US" sz="1200" b="0" i="0" kern="1200">
                <a:solidFill>
                  <a:schemeClr val="tx1"/>
                </a:solidFill>
                <a:effectLst/>
                <a:latin typeface="Arial" panose="020B0604020202020204" pitchFamily="34" charset="0"/>
                <a:ea typeface="+mn-ea"/>
                <a:cs typeface="+mn-cs"/>
              </a:rPr>
              <a:t>，您可以在</a:t>
            </a:r>
            <a:r>
              <a:rPr kumimoji="1" lang="zh-CN" altLang="en-US" sz="1200" b="1" i="0" kern="1200">
                <a:solidFill>
                  <a:schemeClr val="tx1"/>
                </a:solidFill>
                <a:effectLst/>
                <a:latin typeface="Arial" panose="020B0604020202020204" pitchFamily="34" charset="0"/>
                <a:ea typeface="+mn-ea"/>
                <a:cs typeface="+mn-cs"/>
              </a:rPr>
              <a:t>几分钟</a:t>
            </a:r>
            <a:r>
              <a:rPr kumimoji="1" lang="zh-CN" altLang="en-US" sz="1200" b="0" i="0" kern="1200">
                <a:solidFill>
                  <a:schemeClr val="tx1"/>
                </a:solidFill>
                <a:effectLst/>
                <a:latin typeface="Arial" panose="020B0604020202020204" pitchFamily="34" charset="0"/>
                <a:ea typeface="+mn-ea"/>
                <a:cs typeface="+mn-cs"/>
              </a:rPr>
              <a:t>（而不是几小时或几天）内增加或减少容量。您可以同时管理一个、数百个，甚至数千个服务器实例。</a:t>
            </a:r>
            <a:endParaRPr kumimoji="1" lang="en-US" altLang="zh-CN" sz="1200" b="0" i="0" kern="120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en-GB" altLang="zh-CN" sz="1200" b="0" i="0" kern="1200">
                <a:solidFill>
                  <a:schemeClr val="tx1"/>
                </a:solidFill>
                <a:effectLst/>
                <a:latin typeface="Arial" panose="020B0604020202020204" pitchFamily="34" charset="0"/>
                <a:ea typeface="+mn-ea"/>
                <a:cs typeface="+mn-cs"/>
              </a:rPr>
              <a:t>Auto Scaling</a:t>
            </a:r>
            <a:r>
              <a:rPr kumimoji="1" lang="zh-CN" altLang="en-US" sz="1200" b="0" i="0" kern="1200">
                <a:solidFill>
                  <a:schemeClr val="tx1"/>
                </a:solidFill>
                <a:effectLst/>
                <a:latin typeface="Arial" panose="020B0604020202020204" pitchFamily="34" charset="0"/>
                <a:ea typeface="+mn-ea"/>
                <a:cs typeface="+mn-cs"/>
              </a:rPr>
              <a:t>根据计划进行扩展允许您在已知负载变化之前扩展应用程序。例如，每周 </a:t>
            </a:r>
            <a:r>
              <a:rPr kumimoji="1" lang="en-US" altLang="zh-CN" sz="1200" b="0" i="0" kern="1200">
                <a:solidFill>
                  <a:schemeClr val="tx1"/>
                </a:solidFill>
                <a:effectLst/>
                <a:latin typeface="Arial" panose="020B0604020202020204" pitchFamily="34" charset="0"/>
                <a:ea typeface="+mn-ea"/>
                <a:cs typeface="+mn-cs"/>
              </a:rPr>
              <a:t>Web </a:t>
            </a:r>
            <a:r>
              <a:rPr kumimoji="1" lang="zh-CN" altLang="en-US" sz="1200" b="0" i="0" kern="1200">
                <a:solidFill>
                  <a:schemeClr val="tx1"/>
                </a:solidFill>
                <a:effectLst/>
                <a:latin typeface="Arial" panose="020B0604020202020204" pitchFamily="34" charset="0"/>
                <a:ea typeface="+mn-ea"/>
                <a:cs typeface="+mn-cs"/>
              </a:rPr>
              <a:t>应用程序的流量在星期三开始增加，星期四仍然保持较高水平，然后在星期五开始减少。您可以根据 </a:t>
            </a:r>
            <a:r>
              <a:rPr kumimoji="1" lang="en-US" altLang="zh-CN" sz="1200" b="0" i="0" kern="1200">
                <a:solidFill>
                  <a:schemeClr val="tx1"/>
                </a:solidFill>
                <a:effectLst/>
                <a:latin typeface="Arial" panose="020B0604020202020204" pitchFamily="34" charset="0"/>
                <a:ea typeface="+mn-ea"/>
                <a:cs typeface="+mn-cs"/>
              </a:rPr>
              <a:t>Web </a:t>
            </a:r>
            <a:r>
              <a:rPr kumimoji="1" lang="zh-CN" altLang="en-US" sz="1200" b="0" i="0" kern="1200">
                <a:solidFill>
                  <a:schemeClr val="tx1"/>
                </a:solidFill>
                <a:effectLst/>
                <a:latin typeface="Arial" panose="020B0604020202020204" pitchFamily="34" charset="0"/>
                <a:ea typeface="+mn-ea"/>
                <a:cs typeface="+mn-cs"/>
              </a:rPr>
              <a:t>应用程序的</a:t>
            </a:r>
            <a:r>
              <a:rPr kumimoji="1" lang="zh-CN" altLang="en-US" sz="1200" b="1" i="0" kern="1200">
                <a:solidFill>
                  <a:schemeClr val="tx1"/>
                </a:solidFill>
                <a:effectLst/>
                <a:latin typeface="Arial" panose="020B0604020202020204" pitchFamily="34" charset="0"/>
                <a:ea typeface="+mn-ea"/>
                <a:cs typeface="+mn-cs"/>
              </a:rPr>
              <a:t>已知流量模式规划</a:t>
            </a:r>
            <a:r>
              <a:rPr kumimoji="1" lang="zh-CN" altLang="en-US" sz="1200" b="0" i="0" kern="1200">
                <a:solidFill>
                  <a:schemeClr val="tx1"/>
                </a:solidFill>
                <a:effectLst/>
                <a:latin typeface="Arial" panose="020B0604020202020204" pitchFamily="34" charset="0"/>
                <a:ea typeface="+mn-ea"/>
                <a:cs typeface="+mn-cs"/>
              </a:rPr>
              <a:t>扩展活动。</a:t>
            </a:r>
            <a:endParaRPr kumimoji="1" lang="en-US" altLang="zh-CN" sz="1200" b="0" i="0" kern="120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i="0" kern="120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a:t>应用程序所需计算资源的伸缩</a:t>
            </a:r>
            <a:r>
              <a:rPr kumimoji="1" lang="zh-CN" altLang="en-US" b="1"/>
              <a:t>能在毫秒级别</a:t>
            </a:r>
            <a:r>
              <a:rPr kumimoji="1" lang="zh-CN" altLang="en-US"/>
              <a:t>由 </a:t>
            </a:r>
            <a:r>
              <a:rPr kumimoji="1" lang="en-US" altLang="zh-CN"/>
              <a:t>serverless </a:t>
            </a:r>
            <a:r>
              <a:rPr kumimoji="1" lang="zh-CN" altLang="en-US"/>
              <a:t>计算平台</a:t>
            </a:r>
            <a:r>
              <a:rPr kumimoji="1" lang="zh-CN" altLang="en-US" b="1"/>
              <a:t>自动</a:t>
            </a:r>
            <a:r>
              <a:rPr kumimoji="1" lang="zh-CN" altLang="en-US"/>
              <a:t>完成</a:t>
            </a:r>
          </a:p>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89</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现在典型的无服务器计算服务有。。</a:t>
            </a:r>
            <a:endParaRPr lang="en-US" altLang="zh-CN"/>
          </a:p>
          <a:p>
            <a:r>
              <a:rPr lang="zh-CN" altLang="en-US"/>
              <a:t>分别支持这样几种语言，其中</a:t>
            </a:r>
            <a:r>
              <a:rPr lang="en-US" altLang="zh-CN"/>
              <a:t>java</a:t>
            </a:r>
            <a:r>
              <a:rPr lang="zh-CN" altLang="en-US"/>
              <a:t>和</a:t>
            </a:r>
            <a:r>
              <a:rPr lang="en-US" altLang="zh-CN"/>
              <a:t>nodejs</a:t>
            </a:r>
            <a:r>
              <a:rPr lang="zh-CN" altLang="en-US"/>
              <a:t>是支持率最高的语言</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90</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使用无服务器计算可以实现</a:t>
            </a:r>
            <a:endParaRPr lang="en-US" altLang="zh-CN"/>
          </a:p>
          <a:p>
            <a:r>
              <a:rPr lang="zh-CN" altLang="en-US"/>
              <a:t>无服务器云端</a:t>
            </a:r>
            <a:r>
              <a:rPr lang="en-US" altLang="zh-CN"/>
              <a:t>API</a:t>
            </a:r>
            <a:r>
              <a:rPr lang="zh-CN" altLang="en-US"/>
              <a:t>，可以让用户使用</a:t>
            </a:r>
            <a:r>
              <a:rPr lang="en-US" altLang="zh-CN"/>
              <a:t>RESTful</a:t>
            </a:r>
            <a:r>
              <a:rPr lang="zh-CN" altLang="en-US"/>
              <a:t> </a:t>
            </a:r>
            <a:r>
              <a:rPr lang="en-US" altLang="zh-CN"/>
              <a:t>api</a:t>
            </a:r>
            <a:r>
              <a:rPr lang="zh-CN" altLang="en-US"/>
              <a:t>访问</a:t>
            </a:r>
            <a:endParaRPr lang="en-US" altLang="zh-CN"/>
          </a:p>
          <a:p>
            <a:endParaRPr lang="zh-CN" altLang="en-US"/>
          </a:p>
          <a:p>
            <a:r>
              <a:rPr lang="zh-CN" altLang="en-US"/>
              <a:t>也很容易的可以实现基于事件触发的和定时触发的服务</a:t>
            </a:r>
            <a:endParaRPr lang="en-US" altLang="zh-CN"/>
          </a:p>
          <a:p>
            <a:r>
              <a:rPr lang="zh-CN" altLang="en-US"/>
              <a:t>也可以配合对象存储实现一个</a:t>
            </a:r>
            <a:r>
              <a:rPr lang="en-US" altLang="zh-CN"/>
              <a:t>web</a:t>
            </a:r>
            <a:r>
              <a:rPr lang="zh-CN" altLang="en-US"/>
              <a:t>服务器</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91</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95</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传统的云计算厂商与亚马逊，微软；和其他的相关厂商如硬件厂商</a:t>
            </a:r>
            <a:r>
              <a:rPr lang="en-US" altLang="zh-CN" dirty="0"/>
              <a:t>INTEL, ARM</a:t>
            </a:r>
            <a:r>
              <a:rPr lang="zh-CN" altLang="en-US" dirty="0"/>
              <a:t>和</a:t>
            </a:r>
            <a:r>
              <a:rPr lang="en-US" altLang="zh-CN" dirty="0"/>
              <a:t>Linux</a:t>
            </a:r>
            <a:r>
              <a:rPr lang="zh-CN" altLang="en-US" dirty="0"/>
              <a:t>、</a:t>
            </a:r>
            <a:r>
              <a:rPr lang="en-US" altLang="zh-CN" dirty="0"/>
              <a:t>apache</a:t>
            </a:r>
            <a:r>
              <a:rPr lang="zh-CN" altLang="en-US" dirty="0"/>
              <a:t>均开始布局边缘计算</a:t>
            </a:r>
          </a:p>
          <a:p>
            <a:endParaRPr kumimoji="1"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96</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a:solidFill>
                  <a:schemeClr val="tx1"/>
                </a:solidFill>
                <a:effectLst/>
                <a:latin typeface="Arial" panose="020B0604020202020204" pitchFamily="34" charset="0"/>
                <a:ea typeface="+mn-ea"/>
                <a:cs typeface="+mn-cs"/>
              </a:rPr>
              <a:t>从上表可以看出，这四大边缘计算厂商都将容器技术作为自己计算平台的支撑技术。</a:t>
            </a:r>
            <a:endParaRPr lang="zh-CN" altLang="en-US"/>
          </a:p>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99</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100</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AWS</a:t>
            </a:r>
            <a:r>
              <a:rPr lang="en-US" altLang="zh-CN" baseline="0"/>
              <a:t> </a:t>
            </a:r>
            <a:r>
              <a:rPr lang="en-US" altLang="zh-CN" baseline="0" err="1"/>
              <a:t>IoT</a:t>
            </a:r>
            <a:r>
              <a:rPr lang="zh-CN" altLang="en-US" baseline="0"/>
              <a:t>于</a:t>
            </a:r>
            <a:r>
              <a:rPr lang="en-US" altLang="zh-CN" baseline="0"/>
              <a:t>2015</a:t>
            </a:r>
            <a:r>
              <a:rPr lang="zh-CN" altLang="en-US" baseline="0"/>
              <a:t>年</a:t>
            </a:r>
            <a:r>
              <a:rPr lang="en-US" altLang="zh-CN" baseline="0"/>
              <a:t>10</a:t>
            </a:r>
            <a:r>
              <a:rPr lang="zh-CN" altLang="en-US" baseline="0"/>
              <a:t>月开放</a:t>
            </a:r>
            <a:r>
              <a:rPr lang="en-US" altLang="zh-CN" baseline="0"/>
              <a:t>beta</a:t>
            </a:r>
            <a:r>
              <a:rPr lang="zh-CN" altLang="en-US" baseline="0"/>
              <a:t>，</a:t>
            </a:r>
            <a:r>
              <a:rPr lang="en-US" altLang="zh-CN" baseline="0"/>
              <a:t>12</a:t>
            </a:r>
            <a:r>
              <a:rPr lang="zh-CN" altLang="en-US" baseline="0"/>
              <a:t>月正式版。</a:t>
            </a:r>
            <a:r>
              <a:rPr lang="en-US" altLang="zh-CN" baseline="0"/>
              <a:t>ref</a:t>
            </a:r>
            <a:r>
              <a:rPr lang="zh-CN" altLang="en-US" baseline="0"/>
              <a:t>：</a:t>
            </a:r>
            <a:r>
              <a:rPr lang="en-US" altLang="zh-CN" baseline="0"/>
              <a:t>https://amazonaws-china.com/cn/blogs/aws/aws-iot-now-generally-available/</a:t>
            </a:r>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101</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整体架构和组件构成</a:t>
            </a:r>
            <a:endParaRPr lang="en-US" altLang="zh-CN"/>
          </a:p>
          <a:p>
            <a:r>
              <a:rPr lang="zh-CN" altLang="en-US">
                <a:latin typeface="宋体" panose="02010600030101010101" pitchFamily="2" charset="-122"/>
                <a:ea typeface="宋体" panose="02010600030101010101" pitchFamily="2" charset="-122"/>
              </a:rPr>
              <a:t>Thing SDK：将物联网设备接入设备网关，成为物联网系统一部分</a:t>
            </a:r>
            <a:endParaRPr lang="en-US" altLang="zh-CN">
              <a:latin typeface="宋体" panose="02010600030101010101" pitchFamily="2" charset="-122"/>
              <a:ea typeface="宋体" panose="02010600030101010101" pitchFamily="2" charset="-122"/>
            </a:endParaRPr>
          </a:p>
          <a:p>
            <a:r>
              <a:rPr lang="en-US" altLang="zh-CN"/>
              <a:t>AWS SDK: </a:t>
            </a:r>
            <a:r>
              <a:rPr lang="zh-CN" altLang="en-US"/>
              <a:t>可以让应用程序连接到设备影子及获取物联网系统的信息</a:t>
            </a:r>
            <a:endParaRPr lang="zh-CN" altLang="en-US">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102</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103</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104</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105</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t>DynamoDB</a:t>
            </a:r>
            <a:r>
              <a:rPr lang="en-US" altLang="zh-CN"/>
              <a:t>: </a:t>
            </a:r>
            <a:r>
              <a:rPr lang="zh-CN" altLang="en-US"/>
              <a:t>亚马逊的</a:t>
            </a:r>
            <a:r>
              <a:rPr lang="en-US" altLang="zh-CN"/>
              <a:t>NoSQL</a:t>
            </a:r>
            <a:r>
              <a:rPr lang="zh-CN" altLang="en-US"/>
              <a:t>数据库</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106</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a:t>特点和后一页重复</a:t>
            </a:r>
          </a:p>
          <a:p>
            <a:endParaRPr kumimoji="1" lang="zh-CN" altLang="en-US"/>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107</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109</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azure</a:t>
            </a:r>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110</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物联网平台：搭建安全、性能强大的数据通道</a:t>
            </a:r>
            <a:endParaRPr lang="en-US" altLang="zh-CN"/>
          </a:p>
          <a:p>
            <a:r>
              <a:rPr lang="en-US" altLang="zh-CN"/>
              <a:t>LD</a:t>
            </a:r>
            <a:r>
              <a:rPr lang="zh-CN" altLang="en-US"/>
              <a:t>：提供一站式</a:t>
            </a:r>
            <a:r>
              <a:rPr lang="en-US" altLang="zh-CN"/>
              <a:t>IoT</a:t>
            </a:r>
            <a:r>
              <a:rPr lang="zh-CN" altLang="en-US"/>
              <a:t>开发服务</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113</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b="1"/>
              <a:t>Qos0</a:t>
            </a:r>
            <a:r>
              <a:rPr kumimoji="1" lang="zh-CN" altLang="en-US" b="1"/>
              <a:t>：</a:t>
            </a:r>
            <a:r>
              <a:rPr kumimoji="1" lang="zh-CN" altLang="en-US" sz="1200" b="0" i="0" kern="1200">
                <a:solidFill>
                  <a:schemeClr val="tx1"/>
                </a:solidFill>
                <a:effectLst/>
                <a:latin typeface="Arial" panose="020B0604020202020204" pitchFamily="34" charset="0"/>
                <a:ea typeface="+mn-ea"/>
                <a:cs typeface="+mn-cs"/>
              </a:rPr>
              <a:t>发送者只发送一次消息，不进行重试，</a:t>
            </a:r>
            <a:r>
              <a:rPr kumimoji="1" lang="en-US" altLang="zh-CN" sz="1200" b="0" i="0" kern="1200">
                <a:solidFill>
                  <a:schemeClr val="tx1"/>
                </a:solidFill>
                <a:effectLst/>
                <a:latin typeface="Arial" panose="020B0604020202020204" pitchFamily="34" charset="0"/>
                <a:ea typeface="+mn-ea"/>
                <a:cs typeface="+mn-cs"/>
              </a:rPr>
              <a:t>Broker</a:t>
            </a:r>
            <a:r>
              <a:rPr kumimoji="1" lang="zh-CN" altLang="en-US" sz="1200" b="0" i="0" kern="1200">
                <a:solidFill>
                  <a:schemeClr val="tx1"/>
                </a:solidFill>
                <a:effectLst/>
                <a:latin typeface="Arial" panose="020B0604020202020204" pitchFamily="34" charset="0"/>
                <a:ea typeface="+mn-ea"/>
                <a:cs typeface="+mn-cs"/>
              </a:rPr>
              <a:t>不会返回确认消息。在</a:t>
            </a:r>
            <a:r>
              <a:rPr kumimoji="1" lang="en-US" altLang="zh-CN" sz="1200" b="0" i="0" kern="1200">
                <a:solidFill>
                  <a:schemeClr val="tx1"/>
                </a:solidFill>
                <a:effectLst/>
                <a:latin typeface="Arial" panose="020B0604020202020204" pitchFamily="34" charset="0"/>
                <a:ea typeface="+mn-ea"/>
                <a:cs typeface="+mn-cs"/>
              </a:rPr>
              <a:t>Qos0</a:t>
            </a:r>
            <a:r>
              <a:rPr kumimoji="1" lang="zh-CN" altLang="en-US" sz="1200" b="0" i="0" kern="1200">
                <a:solidFill>
                  <a:schemeClr val="tx1"/>
                </a:solidFill>
                <a:effectLst/>
                <a:latin typeface="Arial" panose="020B0604020202020204" pitchFamily="34" charset="0"/>
                <a:ea typeface="+mn-ea"/>
                <a:cs typeface="+mn-cs"/>
              </a:rPr>
              <a:t>情况下，</a:t>
            </a:r>
            <a:r>
              <a:rPr kumimoji="1" lang="en-US" altLang="zh-CN" sz="1200" b="1" i="0" kern="1200">
                <a:solidFill>
                  <a:schemeClr val="tx1"/>
                </a:solidFill>
                <a:effectLst/>
                <a:latin typeface="Arial" panose="020B0604020202020204" pitchFamily="34" charset="0"/>
                <a:ea typeface="+mn-ea"/>
                <a:cs typeface="+mn-cs"/>
              </a:rPr>
              <a:t>Broker</a:t>
            </a:r>
            <a:r>
              <a:rPr kumimoji="1" lang="zh-CN" altLang="en-US" sz="1200" b="1" i="0" kern="1200">
                <a:solidFill>
                  <a:schemeClr val="tx1"/>
                </a:solidFill>
                <a:effectLst/>
                <a:latin typeface="Arial" panose="020B0604020202020204" pitchFamily="34" charset="0"/>
                <a:ea typeface="+mn-ea"/>
                <a:cs typeface="+mn-cs"/>
              </a:rPr>
              <a:t>可能没有接受到消息</a:t>
            </a:r>
            <a:endParaRPr kumimoji="1" lang="en-US" altLang="zh-CN" sz="1200" b="1" i="0" kern="1200">
              <a:solidFill>
                <a:schemeClr val="tx1"/>
              </a:solidFill>
              <a:effectLst/>
              <a:latin typeface="Arial" panose="020B0604020202020204" pitchFamily="34" charset="0"/>
              <a:ea typeface="+mn-ea"/>
              <a:cs typeface="+mn-cs"/>
            </a:endParaRPr>
          </a:p>
          <a:p>
            <a:r>
              <a:rPr kumimoji="1" lang="en-GB" altLang="zh-CN" sz="1200" b="1" i="0" kern="1200">
                <a:solidFill>
                  <a:schemeClr val="tx1"/>
                </a:solidFill>
                <a:effectLst/>
                <a:latin typeface="Arial" panose="020B0604020202020204" pitchFamily="34" charset="0"/>
                <a:ea typeface="+mn-ea"/>
                <a:cs typeface="+mn-cs"/>
              </a:rPr>
              <a:t>Qos1</a:t>
            </a:r>
            <a:r>
              <a:rPr kumimoji="1" lang="zh-CN" altLang="en-US" sz="1200" b="1" i="0" kern="1200">
                <a:solidFill>
                  <a:schemeClr val="tx1"/>
                </a:solidFill>
                <a:effectLst/>
                <a:latin typeface="Arial" panose="020B0604020202020204" pitchFamily="34" charset="0"/>
                <a:ea typeface="+mn-ea"/>
                <a:cs typeface="+mn-cs"/>
              </a:rPr>
              <a:t>：</a:t>
            </a:r>
            <a:r>
              <a:rPr kumimoji="1" lang="zh-CN" altLang="en-US" sz="1200" b="0" i="0" kern="1200">
                <a:solidFill>
                  <a:schemeClr val="tx1"/>
                </a:solidFill>
                <a:effectLst/>
                <a:latin typeface="Arial" panose="020B0604020202020204" pitchFamily="34" charset="0"/>
                <a:ea typeface="+mn-ea"/>
                <a:cs typeface="+mn-cs"/>
              </a:rPr>
              <a:t>发送者最少发送一次消息，确保消息到达</a:t>
            </a:r>
            <a:r>
              <a:rPr kumimoji="1" lang="en-GB" altLang="zh-CN" sz="1200" b="0" i="0" kern="1200">
                <a:solidFill>
                  <a:schemeClr val="tx1"/>
                </a:solidFill>
                <a:effectLst/>
                <a:latin typeface="Arial" panose="020B0604020202020204" pitchFamily="34" charset="0"/>
                <a:ea typeface="+mn-ea"/>
                <a:cs typeface="+mn-cs"/>
              </a:rPr>
              <a:t>Broker</a:t>
            </a:r>
            <a:r>
              <a:rPr kumimoji="1" lang="zh-CN" altLang="en-GB" sz="1200" b="0" i="0" kern="1200">
                <a:solidFill>
                  <a:schemeClr val="tx1"/>
                </a:solidFill>
                <a:effectLst/>
                <a:latin typeface="Arial" panose="020B0604020202020204" pitchFamily="34" charset="0"/>
                <a:ea typeface="+mn-ea"/>
                <a:cs typeface="+mn-cs"/>
              </a:rPr>
              <a:t>，</a:t>
            </a:r>
            <a:r>
              <a:rPr kumimoji="1" lang="en-GB" altLang="zh-CN" sz="1200" b="0" i="0" kern="1200">
                <a:solidFill>
                  <a:schemeClr val="tx1"/>
                </a:solidFill>
                <a:effectLst/>
                <a:latin typeface="Arial" panose="020B0604020202020204" pitchFamily="34" charset="0"/>
                <a:ea typeface="+mn-ea"/>
                <a:cs typeface="+mn-cs"/>
              </a:rPr>
              <a:t>Broker</a:t>
            </a:r>
            <a:r>
              <a:rPr kumimoji="1" lang="zh-CN" altLang="en-US" sz="1200" b="0" i="0" kern="1200">
                <a:solidFill>
                  <a:schemeClr val="tx1"/>
                </a:solidFill>
                <a:effectLst/>
                <a:latin typeface="Arial" panose="020B0604020202020204" pitchFamily="34" charset="0"/>
                <a:ea typeface="+mn-ea"/>
                <a:cs typeface="+mn-cs"/>
              </a:rPr>
              <a:t>需要返回确认消息</a:t>
            </a:r>
            <a:r>
              <a:rPr kumimoji="1" lang="en-GB" altLang="zh-CN" sz="1200" b="0" i="0" kern="1200">
                <a:solidFill>
                  <a:schemeClr val="tx1"/>
                </a:solidFill>
                <a:effectLst/>
                <a:latin typeface="Arial" panose="020B0604020202020204" pitchFamily="34" charset="0"/>
                <a:ea typeface="+mn-ea"/>
                <a:cs typeface="+mn-cs"/>
              </a:rPr>
              <a:t>PUBACK</a:t>
            </a:r>
            <a:r>
              <a:rPr kumimoji="1" lang="zh-CN" altLang="en-GB" sz="1200" b="0" i="0" kern="1200">
                <a:solidFill>
                  <a:schemeClr val="tx1"/>
                </a:solidFill>
                <a:effectLst/>
                <a:latin typeface="Arial" panose="020B0604020202020204" pitchFamily="34" charset="0"/>
                <a:ea typeface="+mn-ea"/>
                <a:cs typeface="+mn-cs"/>
              </a:rPr>
              <a:t>。</a:t>
            </a:r>
            <a:r>
              <a:rPr kumimoji="1" lang="zh-CN" altLang="en-US" sz="1200" b="0" i="0" kern="1200">
                <a:solidFill>
                  <a:schemeClr val="tx1"/>
                </a:solidFill>
                <a:effectLst/>
                <a:latin typeface="Arial" panose="020B0604020202020204" pitchFamily="34" charset="0"/>
                <a:ea typeface="+mn-ea"/>
                <a:cs typeface="+mn-cs"/>
              </a:rPr>
              <a:t>在</a:t>
            </a:r>
            <a:r>
              <a:rPr kumimoji="1" lang="en-GB" altLang="zh-CN" sz="1200" b="0" i="0" kern="1200">
                <a:solidFill>
                  <a:schemeClr val="tx1"/>
                </a:solidFill>
                <a:effectLst/>
                <a:latin typeface="Arial" panose="020B0604020202020204" pitchFamily="34" charset="0"/>
                <a:ea typeface="+mn-ea"/>
                <a:cs typeface="+mn-cs"/>
              </a:rPr>
              <a:t>Qos1</a:t>
            </a:r>
            <a:r>
              <a:rPr kumimoji="1" lang="zh-CN" altLang="en-US" sz="1200" b="0" i="0" kern="1200">
                <a:solidFill>
                  <a:schemeClr val="tx1"/>
                </a:solidFill>
                <a:effectLst/>
                <a:latin typeface="Arial" panose="020B0604020202020204" pitchFamily="34" charset="0"/>
                <a:ea typeface="+mn-ea"/>
                <a:cs typeface="+mn-cs"/>
              </a:rPr>
              <a:t>情况下，</a:t>
            </a:r>
            <a:r>
              <a:rPr kumimoji="1" lang="en-GB" altLang="zh-CN" sz="1200" b="1" i="0" kern="1200">
                <a:solidFill>
                  <a:schemeClr val="tx1"/>
                </a:solidFill>
                <a:effectLst/>
                <a:latin typeface="Arial" panose="020B0604020202020204" pitchFamily="34" charset="0"/>
                <a:ea typeface="+mn-ea"/>
                <a:cs typeface="+mn-cs"/>
              </a:rPr>
              <a:t>Broker</a:t>
            </a:r>
            <a:r>
              <a:rPr kumimoji="1" lang="zh-CN" altLang="en-US" sz="1200" b="1" i="0" kern="1200">
                <a:solidFill>
                  <a:schemeClr val="tx1"/>
                </a:solidFill>
                <a:effectLst/>
                <a:latin typeface="Arial" panose="020B0604020202020204" pitchFamily="34" charset="0"/>
                <a:ea typeface="+mn-ea"/>
                <a:cs typeface="+mn-cs"/>
              </a:rPr>
              <a:t>可能接受到重复消息</a:t>
            </a:r>
            <a:endParaRPr kumimoji="1" lang="en-US" altLang="zh-CN" sz="1200" b="1" i="0" kern="1200">
              <a:solidFill>
                <a:schemeClr val="tx1"/>
              </a:solidFill>
              <a:effectLst/>
              <a:latin typeface="Arial" panose="020B0604020202020204" pitchFamily="34" charset="0"/>
              <a:ea typeface="+mn-ea"/>
              <a:cs typeface="+mn-cs"/>
            </a:endParaRPr>
          </a:p>
          <a:p>
            <a:r>
              <a:rPr kumimoji="1" lang="en-US" altLang="zh-CN" sz="1200" b="1" i="0" kern="1200">
                <a:solidFill>
                  <a:schemeClr val="tx1"/>
                </a:solidFill>
                <a:effectLst/>
                <a:latin typeface="Arial" panose="020B0604020202020204" pitchFamily="34" charset="0"/>
                <a:ea typeface="+mn-ea"/>
                <a:cs typeface="+mn-cs"/>
              </a:rPr>
              <a:t>Qos2</a:t>
            </a:r>
            <a:r>
              <a:rPr kumimoji="1" lang="zh-CN" altLang="en-US" sz="1200" b="1" i="0" kern="1200">
                <a:solidFill>
                  <a:schemeClr val="tx1"/>
                </a:solidFill>
                <a:effectLst/>
                <a:latin typeface="Arial" panose="020B0604020202020204" pitchFamily="34" charset="0"/>
                <a:ea typeface="+mn-ea"/>
                <a:cs typeface="+mn-cs"/>
              </a:rPr>
              <a:t>：</a:t>
            </a:r>
            <a:r>
              <a:rPr kumimoji="1" lang="zh-CN" altLang="en-US" sz="1200" b="0" i="0" kern="1200">
                <a:solidFill>
                  <a:schemeClr val="tx1"/>
                </a:solidFill>
                <a:effectLst/>
                <a:latin typeface="Arial" panose="020B0604020202020204" pitchFamily="34" charset="0"/>
                <a:ea typeface="+mn-ea"/>
                <a:cs typeface="+mn-cs"/>
              </a:rPr>
              <a:t>使用</a:t>
            </a:r>
            <a:r>
              <a:rPr kumimoji="1" lang="zh-CN" altLang="en-US" sz="1200" b="1" i="0" kern="1200">
                <a:solidFill>
                  <a:schemeClr val="tx1"/>
                </a:solidFill>
                <a:effectLst/>
                <a:latin typeface="Arial" panose="020B0604020202020204" pitchFamily="34" charset="0"/>
                <a:ea typeface="+mn-ea"/>
                <a:cs typeface="+mn-cs"/>
              </a:rPr>
              <a:t>两阶段确认</a:t>
            </a:r>
            <a:r>
              <a:rPr kumimoji="1" lang="zh-CN" altLang="en-US" sz="1200" b="0" i="0" kern="1200">
                <a:solidFill>
                  <a:schemeClr val="tx1"/>
                </a:solidFill>
                <a:effectLst/>
                <a:latin typeface="Arial" panose="020B0604020202020204" pitchFamily="34" charset="0"/>
                <a:ea typeface="+mn-ea"/>
                <a:cs typeface="+mn-cs"/>
              </a:rPr>
              <a:t>来保证消息的不丢失和不重复。在</a:t>
            </a:r>
            <a:r>
              <a:rPr kumimoji="1" lang="en-US" altLang="zh-CN" sz="1200" b="0" i="0" kern="1200">
                <a:solidFill>
                  <a:schemeClr val="tx1"/>
                </a:solidFill>
                <a:effectLst/>
                <a:latin typeface="Arial" panose="020B0604020202020204" pitchFamily="34" charset="0"/>
                <a:ea typeface="+mn-ea"/>
                <a:cs typeface="+mn-cs"/>
              </a:rPr>
              <a:t>Qos2</a:t>
            </a:r>
            <a:r>
              <a:rPr kumimoji="1" lang="zh-CN" altLang="en-US" sz="1200" b="0" i="0" kern="1200">
                <a:solidFill>
                  <a:schemeClr val="tx1"/>
                </a:solidFill>
                <a:effectLst/>
                <a:latin typeface="Arial" panose="020B0604020202020204" pitchFamily="34" charset="0"/>
                <a:ea typeface="+mn-ea"/>
                <a:cs typeface="+mn-cs"/>
              </a:rPr>
              <a:t>情况下，</a:t>
            </a:r>
            <a:r>
              <a:rPr kumimoji="1" lang="en-US" altLang="zh-CN" sz="1200" b="1" i="0" kern="1200">
                <a:solidFill>
                  <a:schemeClr val="tx1"/>
                </a:solidFill>
                <a:effectLst/>
                <a:latin typeface="Arial" panose="020B0604020202020204" pitchFamily="34" charset="0"/>
                <a:ea typeface="+mn-ea"/>
                <a:cs typeface="+mn-cs"/>
              </a:rPr>
              <a:t>Broker</a:t>
            </a:r>
            <a:r>
              <a:rPr kumimoji="1" lang="zh-CN" altLang="en-US" sz="1200" b="1" i="0" kern="1200">
                <a:solidFill>
                  <a:schemeClr val="tx1"/>
                </a:solidFill>
                <a:effectLst/>
                <a:latin typeface="Arial" panose="020B0604020202020204" pitchFamily="34" charset="0"/>
                <a:ea typeface="+mn-ea"/>
                <a:cs typeface="+mn-cs"/>
              </a:rPr>
              <a:t>肯定会收到消息，且只收到一次</a:t>
            </a:r>
            <a:endParaRPr kumimoji="1" lang="en-US" altLang="zh-CN" sz="1200" b="1" i="0" kern="1200">
              <a:solidFill>
                <a:schemeClr val="tx1"/>
              </a:solidFill>
              <a:effectLst/>
              <a:latin typeface="Arial" panose="020B0604020202020204" pitchFamily="34" charset="0"/>
              <a:ea typeface="+mn-ea"/>
              <a:cs typeface="+mn-cs"/>
            </a:endParaRPr>
          </a:p>
          <a:p>
            <a:r>
              <a:rPr kumimoji="1" lang="zh-CN" altLang="en-US" sz="1200" b="1" i="0" kern="1200">
                <a:solidFill>
                  <a:schemeClr val="tx1"/>
                </a:solidFill>
                <a:effectLst/>
                <a:latin typeface="Arial" panose="020B0604020202020204" pitchFamily="34" charset="0"/>
                <a:ea typeface="+mn-ea"/>
                <a:cs typeface="+mn-cs"/>
              </a:rPr>
              <a:t>猜测不支持</a:t>
            </a:r>
            <a:r>
              <a:rPr kumimoji="1" lang="en-US" altLang="zh-CN" sz="1200" b="1" i="0" kern="1200">
                <a:solidFill>
                  <a:schemeClr val="tx1"/>
                </a:solidFill>
                <a:effectLst/>
                <a:latin typeface="Arial" panose="020B0604020202020204" pitchFamily="34" charset="0"/>
                <a:ea typeface="+mn-ea"/>
                <a:cs typeface="+mn-cs"/>
              </a:rPr>
              <a:t>QoS2</a:t>
            </a:r>
            <a:r>
              <a:rPr kumimoji="1" lang="zh-CN" altLang="en-US" sz="1200" b="1" i="0" kern="1200">
                <a:solidFill>
                  <a:schemeClr val="tx1"/>
                </a:solidFill>
                <a:effectLst/>
                <a:latin typeface="Arial" panose="020B0604020202020204" pitchFamily="34" charset="0"/>
                <a:ea typeface="+mn-ea"/>
                <a:cs typeface="+mn-cs"/>
              </a:rPr>
              <a:t>的原因：</a:t>
            </a:r>
            <a:r>
              <a:rPr lang="zh-CN" altLang="en-US" b="1"/>
              <a:t>运行在阿里云服务器上的</a:t>
            </a:r>
            <a:r>
              <a:rPr lang="en-US" altLang="zh-CN" b="1"/>
              <a:t>broker</a:t>
            </a:r>
            <a:r>
              <a:rPr lang="zh-CN" altLang="en-US" b="1"/>
              <a:t>开销会很大</a:t>
            </a:r>
            <a:endParaRPr kumimoji="1" lang="en-US" altLang="zh-CN" sz="1200" b="1" i="0" kern="1200">
              <a:solidFill>
                <a:schemeClr val="tx1"/>
              </a:solidFill>
              <a:effectLst/>
              <a:latin typeface="Arial" panose="020B0604020202020204" pitchFamily="34" charset="0"/>
              <a:ea typeface="+mn-ea"/>
              <a:cs typeface="+mn-cs"/>
            </a:endParaRPr>
          </a:p>
          <a:p>
            <a:r>
              <a:rPr kumimoji="1" lang="zh-CN" altLang="en-US" sz="1200" b="0" i="0" kern="1200">
                <a:solidFill>
                  <a:schemeClr val="tx1"/>
                </a:solidFill>
                <a:effectLst/>
                <a:latin typeface="Arial" panose="020B0604020202020204" pitchFamily="34" charset="0"/>
                <a:ea typeface="+mn-ea"/>
                <a:cs typeface="+mn-cs"/>
              </a:rPr>
              <a:t>与</a:t>
            </a:r>
            <a:r>
              <a:rPr kumimoji="1" lang="en-US" altLang="zh-CN" sz="1200" b="0" i="0" kern="1200">
                <a:solidFill>
                  <a:schemeClr val="tx1"/>
                </a:solidFill>
                <a:effectLst/>
                <a:latin typeface="Arial" panose="020B0604020202020204" pitchFamily="34" charset="0"/>
                <a:ea typeface="+mn-ea"/>
                <a:cs typeface="+mn-cs"/>
              </a:rPr>
              <a:t>Qos1</a:t>
            </a:r>
            <a:r>
              <a:rPr kumimoji="1" lang="zh-CN" altLang="en-US" sz="1200" b="0" i="0" kern="1200">
                <a:solidFill>
                  <a:schemeClr val="tx1"/>
                </a:solidFill>
                <a:effectLst/>
                <a:latin typeface="Arial" panose="020B0604020202020204" pitchFamily="34" charset="0"/>
                <a:ea typeface="+mn-ea"/>
                <a:cs typeface="+mn-cs"/>
              </a:rPr>
              <a:t>相比，</a:t>
            </a:r>
            <a:r>
              <a:rPr kumimoji="1" lang="en-US" altLang="zh-CN" sz="1200" b="0" i="0" kern="1200">
                <a:solidFill>
                  <a:schemeClr val="tx1"/>
                </a:solidFill>
                <a:effectLst/>
                <a:latin typeface="Arial" panose="020B0604020202020204" pitchFamily="34" charset="0"/>
                <a:ea typeface="+mn-ea"/>
                <a:cs typeface="+mn-cs"/>
              </a:rPr>
              <a:t>Qos2</a:t>
            </a:r>
            <a:r>
              <a:rPr kumimoji="1" lang="zh-CN" altLang="en-US" sz="1200" b="0" i="0" kern="1200">
                <a:solidFill>
                  <a:schemeClr val="tx1"/>
                </a:solidFill>
                <a:effectLst/>
                <a:latin typeface="Arial" panose="020B0604020202020204" pitchFamily="34" charset="0"/>
                <a:ea typeface="+mn-ea"/>
                <a:cs typeface="+mn-cs"/>
              </a:rPr>
              <a:t>的开销会很大，因为</a:t>
            </a:r>
            <a:r>
              <a:rPr kumimoji="1" lang="en-US" altLang="zh-CN" sz="1200" b="0" i="0" kern="1200">
                <a:solidFill>
                  <a:schemeClr val="tx1"/>
                </a:solidFill>
                <a:effectLst/>
                <a:latin typeface="Arial" panose="020B0604020202020204" pitchFamily="34" charset="0"/>
                <a:ea typeface="+mn-ea"/>
                <a:cs typeface="+mn-cs"/>
              </a:rPr>
              <a:t>Broker</a:t>
            </a:r>
            <a:r>
              <a:rPr kumimoji="1" lang="zh-CN" altLang="en-US" sz="1200" b="0" i="0" kern="1200">
                <a:solidFill>
                  <a:schemeClr val="tx1"/>
                </a:solidFill>
                <a:effectLst/>
                <a:latin typeface="Arial" panose="020B0604020202020204" pitchFamily="34" charset="0"/>
                <a:ea typeface="+mn-ea"/>
                <a:cs typeface="+mn-cs"/>
              </a:rPr>
              <a:t>有额外的两个动作：</a:t>
            </a:r>
          </a:p>
          <a:p>
            <a:r>
              <a:rPr kumimoji="1" lang="en-US" altLang="zh-CN" sz="1200" b="0" i="0" kern="1200">
                <a:solidFill>
                  <a:schemeClr val="tx1"/>
                </a:solidFill>
                <a:effectLst/>
                <a:latin typeface="Arial" panose="020B0604020202020204" pitchFamily="34" charset="0"/>
                <a:ea typeface="+mn-ea"/>
                <a:cs typeface="+mn-cs"/>
              </a:rPr>
              <a:t>1.</a:t>
            </a:r>
            <a:r>
              <a:rPr kumimoji="1" lang="zh-CN" altLang="en-US" sz="1200" b="0" i="0" kern="1200">
                <a:solidFill>
                  <a:schemeClr val="tx1"/>
                </a:solidFill>
                <a:effectLst/>
                <a:latin typeface="Arial" panose="020B0604020202020204" pitchFamily="34" charset="0"/>
                <a:ea typeface="+mn-ea"/>
                <a:cs typeface="+mn-cs"/>
              </a:rPr>
              <a:t> 去重。为了保证消息不重复，</a:t>
            </a:r>
            <a:r>
              <a:rPr kumimoji="1" lang="en-US" altLang="zh-CN" sz="1200" b="0" i="0" kern="1200">
                <a:solidFill>
                  <a:schemeClr val="tx1"/>
                </a:solidFill>
                <a:effectLst/>
                <a:latin typeface="Arial" panose="020B0604020202020204" pitchFamily="34" charset="0"/>
                <a:ea typeface="+mn-ea"/>
                <a:cs typeface="+mn-cs"/>
              </a:rPr>
              <a:t>Broker</a:t>
            </a:r>
            <a:r>
              <a:rPr kumimoji="1" lang="zh-CN" altLang="en-US" sz="1200" b="0" i="0" kern="1200">
                <a:solidFill>
                  <a:schemeClr val="tx1"/>
                </a:solidFill>
                <a:effectLst/>
                <a:latin typeface="Arial" panose="020B0604020202020204" pitchFamily="34" charset="0"/>
                <a:ea typeface="+mn-ea"/>
                <a:cs typeface="+mn-cs"/>
              </a:rPr>
              <a:t>必须进行去重处理；</a:t>
            </a:r>
            <a:r>
              <a:rPr kumimoji="1" lang="en-US" altLang="zh-CN" sz="1200" b="0" i="0" kern="1200">
                <a:solidFill>
                  <a:schemeClr val="tx1"/>
                </a:solidFill>
                <a:effectLst/>
                <a:latin typeface="Arial" panose="020B0604020202020204" pitchFamily="34" charset="0"/>
                <a:ea typeface="+mn-ea"/>
                <a:cs typeface="+mn-cs"/>
              </a:rPr>
              <a:t>0</a:t>
            </a:r>
            <a:endParaRPr kumimoji="1" lang="zh-CN" altLang="en-US" sz="1200" b="0" i="0" kern="1200">
              <a:solidFill>
                <a:schemeClr val="tx1"/>
              </a:solidFill>
              <a:effectLst/>
              <a:latin typeface="Arial" panose="020B0604020202020204" pitchFamily="34" charset="0"/>
              <a:ea typeface="+mn-ea"/>
              <a:cs typeface="+mn-cs"/>
            </a:endParaRPr>
          </a:p>
          <a:p>
            <a:r>
              <a:rPr kumimoji="1" lang="en-US" altLang="zh-CN" sz="1200" b="0" i="0" kern="1200">
                <a:solidFill>
                  <a:schemeClr val="tx1"/>
                </a:solidFill>
                <a:effectLst/>
                <a:latin typeface="Arial" panose="020B0604020202020204" pitchFamily="34" charset="0"/>
                <a:ea typeface="+mn-ea"/>
                <a:cs typeface="+mn-cs"/>
              </a:rPr>
              <a:t>2.</a:t>
            </a:r>
            <a:r>
              <a:rPr kumimoji="1" lang="zh-CN" altLang="en-US" sz="1200" b="0" i="0" kern="1200">
                <a:solidFill>
                  <a:schemeClr val="tx1"/>
                </a:solidFill>
                <a:effectLst/>
                <a:latin typeface="Arial" panose="020B0604020202020204" pitchFamily="34" charset="0"/>
                <a:ea typeface="+mn-ea"/>
                <a:cs typeface="+mn-cs"/>
              </a:rPr>
              <a:t> 确保响应消息</a:t>
            </a:r>
            <a:r>
              <a:rPr kumimoji="1" lang="en-US" altLang="zh-CN" sz="1200" b="0" i="0" kern="1200">
                <a:solidFill>
                  <a:schemeClr val="tx1"/>
                </a:solidFill>
                <a:effectLst/>
                <a:latin typeface="Arial" panose="020B0604020202020204" pitchFamily="34" charset="0"/>
                <a:ea typeface="+mn-ea"/>
                <a:cs typeface="+mn-cs"/>
              </a:rPr>
              <a:t>PUBREC</a:t>
            </a:r>
            <a:r>
              <a:rPr kumimoji="1" lang="zh-CN" altLang="en-US" sz="1200" b="0" i="0" kern="1200">
                <a:solidFill>
                  <a:schemeClr val="tx1"/>
                </a:solidFill>
                <a:effectLst/>
                <a:latin typeface="Arial" panose="020B0604020202020204" pitchFamily="34" charset="0"/>
                <a:ea typeface="+mn-ea"/>
                <a:cs typeface="+mn-cs"/>
              </a:rPr>
              <a:t>到达客户端。</a:t>
            </a:r>
            <a:r>
              <a:rPr kumimoji="1" lang="en-US" altLang="zh-CN" sz="1200" b="0" i="0" kern="1200">
                <a:solidFill>
                  <a:schemeClr val="tx1"/>
                </a:solidFill>
                <a:effectLst/>
                <a:latin typeface="Arial" panose="020B0604020202020204" pitchFamily="34" charset="0"/>
                <a:ea typeface="+mn-ea"/>
                <a:cs typeface="+mn-cs"/>
              </a:rPr>
              <a:t>Broker</a:t>
            </a:r>
            <a:r>
              <a:rPr kumimoji="1" lang="zh-CN" altLang="en-US" sz="1200" b="0" i="0" kern="1200">
                <a:solidFill>
                  <a:schemeClr val="tx1"/>
                </a:solidFill>
                <a:effectLst/>
                <a:latin typeface="Arial" panose="020B0604020202020204" pitchFamily="34" charset="0"/>
                <a:ea typeface="+mn-ea"/>
                <a:cs typeface="+mn-cs"/>
              </a:rPr>
              <a:t>必须等待客户端对</a:t>
            </a:r>
            <a:r>
              <a:rPr kumimoji="1" lang="en-US" altLang="zh-CN" sz="1200" b="0" i="0" kern="1200">
                <a:solidFill>
                  <a:schemeClr val="tx1"/>
                </a:solidFill>
                <a:effectLst/>
                <a:latin typeface="Arial" panose="020B0604020202020204" pitchFamily="34" charset="0"/>
                <a:ea typeface="+mn-ea"/>
                <a:cs typeface="+mn-cs"/>
              </a:rPr>
              <a:t>PUBREC</a:t>
            </a:r>
            <a:r>
              <a:rPr kumimoji="1" lang="zh-CN" altLang="en-US" sz="1200" b="0" i="0" kern="1200">
                <a:solidFill>
                  <a:schemeClr val="tx1"/>
                </a:solidFill>
                <a:effectLst/>
                <a:latin typeface="Arial" panose="020B0604020202020204" pitchFamily="34" charset="0"/>
                <a:ea typeface="+mn-ea"/>
                <a:cs typeface="+mn-cs"/>
              </a:rPr>
              <a:t>消息的响应</a:t>
            </a:r>
            <a:r>
              <a:rPr kumimoji="1" lang="en-US" altLang="zh-CN" sz="1200" b="0" i="0" kern="1200">
                <a:solidFill>
                  <a:schemeClr val="tx1"/>
                </a:solidFill>
                <a:effectLst/>
                <a:latin typeface="Arial" panose="020B0604020202020204" pitchFamily="34" charset="0"/>
                <a:ea typeface="+mn-ea"/>
                <a:cs typeface="+mn-cs"/>
              </a:rPr>
              <a:t>PUBREL</a:t>
            </a:r>
            <a:r>
              <a:rPr kumimoji="1" lang="zh-CN" altLang="en-US" sz="1200" b="0" i="0" kern="1200">
                <a:solidFill>
                  <a:schemeClr val="tx1"/>
                </a:solidFill>
                <a:effectLst/>
                <a:latin typeface="Arial" panose="020B0604020202020204" pitchFamily="34" charset="0"/>
                <a:ea typeface="+mn-ea"/>
                <a:cs typeface="+mn-cs"/>
              </a:rPr>
              <a:t>，只有收到客户端的确认消息后，</a:t>
            </a:r>
            <a:r>
              <a:rPr kumimoji="1" lang="en-US" altLang="zh-CN" sz="1200" b="0" i="0" kern="1200">
                <a:solidFill>
                  <a:schemeClr val="tx1"/>
                </a:solidFill>
                <a:effectLst/>
                <a:latin typeface="Arial" panose="020B0604020202020204" pitchFamily="34" charset="0"/>
                <a:ea typeface="+mn-ea"/>
                <a:cs typeface="+mn-cs"/>
              </a:rPr>
              <a:t>Broker</a:t>
            </a:r>
            <a:r>
              <a:rPr kumimoji="1" lang="zh-CN" altLang="en-US" sz="1200" b="0" i="0" kern="1200">
                <a:solidFill>
                  <a:schemeClr val="tx1"/>
                </a:solidFill>
                <a:effectLst/>
                <a:latin typeface="Arial" panose="020B0604020202020204" pitchFamily="34" charset="0"/>
                <a:ea typeface="+mn-ea"/>
                <a:cs typeface="+mn-cs"/>
              </a:rPr>
              <a:t>才能对订阅者投递消息。</a:t>
            </a:r>
          </a:p>
          <a:p>
            <a:endParaRPr kumimoji="1" lang="zh-CN" altLang="en-US" sz="1200" b="0" i="0" kern="120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114</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120</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panose="020B0604020202020204" pitchFamily="34" charset="0"/>
              </a:defRPr>
            </a:lvl1pPr>
            <a:lvl2pPr marL="742950" indent="-285750" algn="ctr" eaLnBrk="0" hangingPunct="0">
              <a:spcBef>
                <a:spcPct val="50000"/>
              </a:spcBef>
              <a:buClr>
                <a:schemeClr val="bg1"/>
              </a:buClr>
              <a:buSzPct val="100000"/>
              <a:defRPr sz="2400" baseline="-25000">
                <a:solidFill>
                  <a:schemeClr val="tx1"/>
                </a:solidFill>
                <a:latin typeface="Arial" panose="020B0604020202020204" pitchFamily="34" charset="0"/>
              </a:defRPr>
            </a:lvl2pPr>
            <a:lvl3pPr marL="11430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3pPr>
            <a:lvl4pPr marL="16002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4pPr>
            <a:lvl5pPr marL="20574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9pPr>
          </a:lstStyle>
          <a:p>
            <a:pPr algn="r" eaLnBrk="1" hangingPunct="1">
              <a:spcBef>
                <a:spcPct val="0"/>
              </a:spcBef>
              <a:buClrTx/>
              <a:buSzTx/>
              <a:defRPr/>
            </a:pPr>
            <a:fld id="{76F23777-CEBB-41C8-8BE8-AF66406041A7}" type="slidenum">
              <a:rPr lang="zh-CN" altLang="en-US" sz="1200" baseline="0" smtClean="0">
                <a:latin typeface="Times New Roman" panose="02020603050405020304" pitchFamily="18" charset="0"/>
              </a:rPr>
              <a:t>122</a:t>
            </a:fld>
            <a:endParaRPr lang="en-US" altLang="zh-CN" sz="1200" baseline="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4" name="Line 40">
            <a:extLst>
              <a:ext uri="{FF2B5EF4-FFF2-40B4-BE49-F238E27FC236}">
                <a16:creationId xmlns:a16="http://schemas.microsoft.com/office/drawing/2014/main" id="{32FAEEE7-902E-4DCC-BB7D-5BCD8355E24C}"/>
              </a:ext>
            </a:extLst>
          </p:cNvPr>
          <p:cNvSpPr>
            <a:spLocks noChangeShapeType="1"/>
          </p:cNvSpPr>
          <p:nvPr userDrawn="1"/>
        </p:nvSpPr>
        <p:spPr bwMode="auto">
          <a:xfrm>
            <a:off x="0" y="1708558"/>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5" name="Line 41">
            <a:extLst>
              <a:ext uri="{FF2B5EF4-FFF2-40B4-BE49-F238E27FC236}">
                <a16:creationId xmlns:a16="http://schemas.microsoft.com/office/drawing/2014/main" id="{1699F513-8D15-47EA-867E-3053B3C75500}"/>
              </a:ext>
            </a:extLst>
          </p:cNvPr>
          <p:cNvSpPr>
            <a:spLocks noChangeShapeType="1"/>
          </p:cNvSpPr>
          <p:nvPr userDrawn="1"/>
        </p:nvSpPr>
        <p:spPr bwMode="auto">
          <a:xfrm>
            <a:off x="0" y="4349692"/>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6" name="Rectangle 34">
            <a:extLst>
              <a:ext uri="{FF2B5EF4-FFF2-40B4-BE49-F238E27FC236}">
                <a16:creationId xmlns:a16="http://schemas.microsoft.com/office/drawing/2014/main" id="{84481A03-2A0E-452A-9C40-85F64D560127}"/>
              </a:ext>
            </a:extLst>
          </p:cNvPr>
          <p:cNvSpPr>
            <a:spLocks noGrp="1" noChangeArrowheads="1"/>
          </p:cNvSpPr>
          <p:nvPr>
            <p:ph type="ctrTitle" sz="quarter"/>
          </p:nvPr>
        </p:nvSpPr>
        <p:spPr>
          <a:xfrm>
            <a:off x="0" y="2420471"/>
            <a:ext cx="9144000" cy="1143000"/>
          </a:xfrm>
        </p:spPr>
        <p:txBody>
          <a:bodyPr/>
          <a:lstStyle>
            <a:lvl1pPr algn="ctr">
              <a:defRPr sz="4000" i="0">
                <a:solidFill>
                  <a:schemeClr val="tx1"/>
                </a:solidFill>
              </a:defRPr>
            </a:lvl1pPr>
          </a:lstStyle>
          <a:p>
            <a:r>
              <a:rPr lang="en-US" altLang="zh-CN" dirty="0"/>
              <a:t>Click to edit Master title style</a:t>
            </a:r>
          </a:p>
        </p:txBody>
      </p:sp>
      <p:sp>
        <p:nvSpPr>
          <p:cNvPr id="17" name="Rectangle 35">
            <a:extLst>
              <a:ext uri="{FF2B5EF4-FFF2-40B4-BE49-F238E27FC236}">
                <a16:creationId xmlns:a16="http://schemas.microsoft.com/office/drawing/2014/main" id="{CC1A1776-A952-44B6-818C-DB88017106B0}"/>
              </a:ext>
            </a:extLst>
          </p:cNvPr>
          <p:cNvSpPr>
            <a:spLocks noGrp="1" noChangeArrowheads="1"/>
          </p:cNvSpPr>
          <p:nvPr>
            <p:ph type="subTitle" sz="quarter" idx="1"/>
          </p:nvPr>
        </p:nvSpPr>
        <p:spPr>
          <a:xfrm>
            <a:off x="1638300" y="4648200"/>
            <a:ext cx="5867400" cy="1447800"/>
          </a:xfrm>
        </p:spPr>
        <p:txBody>
          <a:bodyPr lIns="92075" tIns="46038" rIns="92075" bIns="46038"/>
          <a:lstStyle>
            <a:lvl1pPr marL="0" indent="0" algn="ctr">
              <a:buFont typeface="Wingdings" pitchFamily="2" charset="2"/>
              <a:buNone/>
              <a:defRPr sz="2400"/>
            </a:lvl1pPr>
          </a:lstStyle>
          <a:p>
            <a:r>
              <a:rPr lang="en-US" altLang="zh-CN" dirty="0"/>
              <a:t>Click to edit Master subtitle style</a:t>
            </a:r>
          </a:p>
        </p:txBody>
      </p:sp>
      <p:sp>
        <p:nvSpPr>
          <p:cNvPr id="18" name="AutoShape 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EA303F49-4948-48AC-95E3-5B40D9D073A0}"/>
              </a:ext>
            </a:extLst>
          </p:cNvPr>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AutoShape 4"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7A1B1BFA-A957-4EB9-8D02-E9C6F285AD01}"/>
              </a:ext>
            </a:extLst>
          </p:cNvPr>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AutoShape 6"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47AE37F8-321F-489B-A422-FE9FA627841D}"/>
              </a:ext>
            </a:extLst>
          </p:cNvPr>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AutoShape 8"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1FAC868B-29D6-499E-A025-8C60AD444796}"/>
              </a:ext>
            </a:extLst>
          </p:cNvPr>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AutoShape 10"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9C15F987-769A-49BC-B746-6596023A745F}"/>
              </a:ext>
            </a:extLst>
          </p:cNvPr>
          <p:cNvSpPr>
            <a:spLocks noChangeAspect="1" noChangeArrowheads="1"/>
          </p:cNvSpPr>
          <p:nvPr userDrawn="1"/>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1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E3ED266E-9D92-4DBB-99B4-5FA5F384643E}"/>
              </a:ext>
            </a:extLst>
          </p:cNvPr>
          <p:cNvSpPr>
            <a:spLocks noChangeAspect="1" noChangeArrowheads="1"/>
          </p:cNvSpPr>
          <p:nvPr userDrawn="1"/>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A976C004-7F59-473F-AAFD-971C903F6058}"/>
              </a:ext>
            </a:extLst>
          </p:cNvPr>
          <p:cNvSpPr>
            <a:spLocks noGrp="1"/>
          </p:cNvSpPr>
          <p:nvPr>
            <p:ph type="title"/>
          </p:nvPr>
        </p:nvSpPr>
        <p:spPr>
          <a:xfrm>
            <a:off x="393700" y="38100"/>
            <a:ext cx="8242300" cy="914400"/>
          </a:xfrm>
        </p:spPr>
        <p:txBody>
          <a:bodyPr/>
          <a:lstStyle>
            <a:lvl1pPr algn="l" rtl="0" eaLnBrk="0" fontAlgn="base" hangingPunct="0">
              <a:spcBef>
                <a:spcPct val="0"/>
              </a:spcBef>
              <a:spcAft>
                <a:spcPct val="0"/>
              </a:spcAft>
              <a:defRPr lang="zh-CN" altLang="en-US" sz="3600" b="1" i="0" dirty="0">
                <a:solidFill>
                  <a:srgbClr val="C00000"/>
                </a:solidFill>
                <a:effectLst/>
                <a:latin typeface="微软雅黑" pitchFamily="34" charset="-122"/>
                <a:ea typeface="微软雅黑" pitchFamily="34" charset="-122"/>
                <a:cs typeface="+mj-cs"/>
              </a:defRPr>
            </a:lvl1pPr>
          </a:lstStyle>
          <a:p>
            <a:r>
              <a:rPr lang="zh-CN" altLang="en-US" dirty="0"/>
              <a:t>单击此处编辑母版标题样式</a:t>
            </a:r>
          </a:p>
        </p:txBody>
      </p:sp>
      <p:sp>
        <p:nvSpPr>
          <p:cNvPr id="6" name="内容占位符 2">
            <a:extLst>
              <a:ext uri="{FF2B5EF4-FFF2-40B4-BE49-F238E27FC236}">
                <a16:creationId xmlns:a16="http://schemas.microsoft.com/office/drawing/2014/main" id="{B4CA3E64-9A53-44BF-A1D6-1513F874CFE9}"/>
              </a:ext>
            </a:extLst>
          </p:cNvPr>
          <p:cNvSpPr>
            <a:spLocks noGrp="1"/>
          </p:cNvSpPr>
          <p:nvPr>
            <p:ph idx="1" hasCustomPrompt="1"/>
          </p:nvPr>
        </p:nvSpPr>
        <p:spPr>
          <a:xfrm>
            <a:off x="457200" y="990600"/>
            <a:ext cx="8305800" cy="5410200"/>
          </a:xfrm>
        </p:spPr>
        <p:txBody>
          <a:bodyPr/>
          <a:lstStyle>
            <a:lvl1pPr marL="342900" indent="-342900">
              <a:lnSpc>
                <a:spcPct val="120000"/>
              </a:lnSpc>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nSpc>
                <a:spcPct val="120000"/>
              </a:lnSpc>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nSpc>
                <a:spcPct val="120000"/>
              </a:lnSpc>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nSpc>
                <a:spcPct val="120000"/>
              </a:lnSpc>
              <a:buClr>
                <a:srgbClr val="C00000"/>
              </a:buClr>
              <a:buFont typeface="Wingdings" panose="05000000000000000000" pitchFamily="2" charset="2"/>
              <a:buChar char="ü"/>
              <a:defRPr sz="1600" b="0" baseline="0">
                <a:solidFill>
                  <a:schemeClr val="tx1"/>
                </a:solidFill>
                <a:latin typeface="+mj-ea"/>
                <a:ea typeface="+mj-ea"/>
              </a:defRPr>
            </a:lvl4pPr>
            <a:lvl5pPr marL="2057400" indent="-228600">
              <a:buClr>
                <a:srgbClr val="111F65"/>
              </a:buClr>
              <a:buFont typeface="Wingdings" panose="05000000000000000000" pitchFamily="2" charset="2"/>
              <a:buChar char="l"/>
              <a:defRPr baseline="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7" name="Line 40">
            <a:extLst>
              <a:ext uri="{FF2B5EF4-FFF2-40B4-BE49-F238E27FC236}">
                <a16:creationId xmlns:a16="http://schemas.microsoft.com/office/drawing/2014/main" id="{B336680A-F309-466C-8971-0F4995B6A230}"/>
              </a:ext>
            </a:extLst>
          </p:cNvPr>
          <p:cNvSpPr>
            <a:spLocks noChangeShapeType="1"/>
          </p:cNvSpPr>
          <p:nvPr userDrawn="1"/>
        </p:nvSpPr>
        <p:spPr bwMode="auto">
          <a:xfrm>
            <a:off x="0" y="85344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2" name="Rectangle 34"/>
          <p:cNvSpPr>
            <a:spLocks noGrp="1" noChangeArrowheads="1"/>
          </p:cNvSpPr>
          <p:nvPr>
            <p:ph type="title"/>
          </p:nvPr>
        </p:nvSpPr>
        <p:spPr bwMode="auto">
          <a:xfrm>
            <a:off x="393700" y="38100"/>
            <a:ext cx="8242300" cy="914400"/>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a:t>Click to edit Master title style</a:t>
            </a:r>
          </a:p>
        </p:txBody>
      </p:sp>
      <p:sp>
        <p:nvSpPr>
          <p:cNvPr id="2087" name="Rectangle 39"/>
          <p:cNvSpPr>
            <a:spLocks noGrp="1" noChangeArrowheads="1"/>
          </p:cNvSpPr>
          <p:nvPr>
            <p:ph type="body" idx="1"/>
          </p:nvPr>
        </p:nvSpPr>
        <p:spPr bwMode="auto">
          <a:xfrm>
            <a:off x="457200" y="990600"/>
            <a:ext cx="8305800" cy="5410200"/>
          </a:xfrm>
          <a:prstGeom prst="rect">
            <a:avLst/>
          </a:prstGeom>
          <a:noFill/>
          <a:ln w="9525">
            <a:noFill/>
            <a:miter lim="800000"/>
          </a:ln>
          <a:effectLst/>
        </p:spPr>
        <p:txBody>
          <a:bodyPr vert="horz" wrap="square" lIns="91440" tIns="45720" rIns="91440" bIns="45720" numCol="1" anchor="t" anchorCtr="0" compatLnSpc="1"/>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hdr="0" ftr="0" dt="0"/>
  <p:txStyles>
    <p:titleStyle>
      <a:lvl1pPr algn="l" rtl="0" eaLnBrk="0" fontAlgn="base" hangingPunct="0">
        <a:spcBef>
          <a:spcPct val="0"/>
        </a:spcBef>
        <a:spcAft>
          <a:spcPct val="0"/>
        </a:spcAft>
        <a:defRPr lang="en-US" altLang="zh-CN" sz="3600" b="1" i="0" dirty="0" smtClean="0">
          <a:solidFill>
            <a:srgbClr val="C00000"/>
          </a:solidFill>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2pPr>
      <a:lvl3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3pPr>
      <a:lvl4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4pPr>
      <a:lvl5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5pPr>
      <a:lvl6pPr marL="4572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6pPr>
      <a:lvl7pPr marL="9144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7pPr>
      <a:lvl8pPr marL="13716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8pPr>
      <a:lvl9pPr marL="18288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Tx/>
        <a:buFont typeface="Wingdings" panose="05000000000000000000" pitchFamily="2" charset="2"/>
        <a:buChar char="l"/>
        <a:defRPr lang="en-US" altLang="zh-CN" sz="2400" b="1" baseline="0" dirty="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lang="en-US" altLang="zh-CN" sz="2400" b="1" baseline="0" dirty="0">
          <a:solidFill>
            <a:schemeClr val="tx1"/>
          </a:solidFill>
          <a:effectLst/>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1" baseline="0" dirty="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dirty="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dirty="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tif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jpeg"/><Relationship Id="rId9" Type="http://schemas.openxmlformats.org/officeDocument/2006/relationships/image" Target="../media/image2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image" Target="../media/image32.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tiff"/></Relationships>
</file>

<file path=ppt/slides/_rels/slide27.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tif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4.tif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5.tiff"/></Relationships>
</file>

<file path=ppt/slides/_rels/slide88.xml.rels><?xml version="1.0" encoding="UTF-8" standalone="yes"?>
<Relationships xmlns="http://schemas.openxmlformats.org/package/2006/relationships"><Relationship Id="rId3" Type="http://schemas.openxmlformats.org/officeDocument/2006/relationships/image" Target="../media/image56.tif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7.tif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9.tiff"/></Relationships>
</file>

<file path=ppt/slides/_rels/slide96.xml.rels><?xml version="1.0" encoding="UTF-8" standalone="yes"?>
<Relationships xmlns="http://schemas.openxmlformats.org/package/2006/relationships"><Relationship Id="rId8" Type="http://schemas.openxmlformats.org/officeDocument/2006/relationships/image" Target="../media/image63.jpeg"/><Relationship Id="rId3" Type="http://schemas.openxmlformats.org/officeDocument/2006/relationships/image" Target="../media/image60.jpeg"/><Relationship Id="rId7" Type="http://schemas.openxmlformats.org/officeDocument/2006/relationships/image" Target="../media/image62.jpe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15.jpeg"/><Relationship Id="rId10" Type="http://schemas.openxmlformats.org/officeDocument/2006/relationships/image" Target="../media/image65.jpeg"/><Relationship Id="rId4" Type="http://schemas.openxmlformats.org/officeDocument/2006/relationships/image" Target="../media/image14.jpeg"/><Relationship Id="rId9" Type="http://schemas.openxmlformats.org/officeDocument/2006/relationships/image" Target="../media/image64.jpeg"/></Relationships>
</file>

<file path=ppt/slides/_rels/slide97.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8.tiff"/></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3.tif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sz="quarter"/>
          </p:nvPr>
        </p:nvSpPr>
        <p:spPr/>
        <p:txBody>
          <a:bodyPr/>
          <a:lstStyle/>
          <a:p>
            <a:r>
              <a:rPr lang="zh-CN" altLang="en-US" dirty="0">
                <a:solidFill>
                  <a:srgbClr val="C00000"/>
                </a:solidFill>
              </a:rPr>
              <a:t>第六章：物联网云平台</a:t>
            </a:r>
            <a:endParaRPr lang="en-US" altLang="zh-CN" dirty="0">
              <a:solidFill>
                <a:srgbClr val="C00000"/>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1200F5-07E2-4E06-80CA-62C6F0FE94A5}"/>
              </a:ext>
            </a:extLst>
          </p:cNvPr>
          <p:cNvSpPr>
            <a:spLocks noGrp="1"/>
          </p:cNvSpPr>
          <p:nvPr>
            <p:ph type="title"/>
          </p:nvPr>
        </p:nvSpPr>
        <p:spPr/>
        <p:txBody>
          <a:bodyPr/>
          <a:lstStyle/>
          <a:p>
            <a:r>
              <a:rPr lang="zh-CN" altLang="en-US"/>
              <a:t>学习目标</a:t>
            </a:r>
            <a:endParaRPr lang="zh-CN" altLang="en-US" dirty="0"/>
          </a:p>
        </p:txBody>
      </p:sp>
      <p:sp>
        <p:nvSpPr>
          <p:cNvPr id="3" name="内容占位符 2">
            <a:extLst>
              <a:ext uri="{FF2B5EF4-FFF2-40B4-BE49-F238E27FC236}">
                <a16:creationId xmlns:a16="http://schemas.microsoft.com/office/drawing/2014/main" id="{6B6BD9F5-B84E-4116-A398-13FB44400953}"/>
              </a:ext>
            </a:extLst>
          </p:cNvPr>
          <p:cNvSpPr>
            <a:spLocks noGrp="1"/>
          </p:cNvSpPr>
          <p:nvPr>
            <p:ph idx="1"/>
          </p:nvPr>
        </p:nvSpPr>
        <p:spPr/>
        <p:txBody>
          <a:bodyPr/>
          <a:lstStyle/>
          <a:p>
            <a:endParaRPr lang="en-US" altLang="zh-CN" dirty="0"/>
          </a:p>
          <a:p>
            <a:r>
              <a:rPr lang="zh-CN" altLang="en-US" dirty="0"/>
              <a:t>了解物联网云平台的作用以及与传统云平台的区别</a:t>
            </a:r>
          </a:p>
          <a:p>
            <a:r>
              <a:rPr lang="zh-CN" altLang="en-US" dirty="0"/>
              <a:t>了解物联网云平台的</a:t>
            </a:r>
            <a:r>
              <a:rPr lang="en-US" altLang="zh-CN" dirty="0"/>
              <a:t>8</a:t>
            </a:r>
            <a:r>
              <a:rPr lang="zh-CN" altLang="en-US" dirty="0"/>
              <a:t>个主要功能</a:t>
            </a:r>
          </a:p>
          <a:p>
            <a:r>
              <a:rPr lang="zh-CN" altLang="en-US" dirty="0">
                <a:solidFill>
                  <a:srgbClr val="C00000"/>
                </a:solidFill>
              </a:rPr>
              <a:t>掌握</a:t>
            </a:r>
            <a:r>
              <a:rPr lang="en-US" altLang="zh-CN" dirty="0"/>
              <a:t>HTTP</a:t>
            </a:r>
            <a:r>
              <a:rPr lang="zh-CN" altLang="en-US" dirty="0"/>
              <a:t>、</a:t>
            </a:r>
            <a:r>
              <a:rPr lang="en-US" altLang="zh-CN" dirty="0"/>
              <a:t>MQTT</a:t>
            </a:r>
            <a:r>
              <a:rPr lang="zh-CN" altLang="en-US" dirty="0"/>
              <a:t>、</a:t>
            </a:r>
            <a:r>
              <a:rPr lang="en-US" altLang="zh-CN" dirty="0" err="1"/>
              <a:t>CoAP</a:t>
            </a:r>
            <a:r>
              <a:rPr lang="zh-CN" altLang="en-US" dirty="0"/>
              <a:t>协议的传输模型和报文格式</a:t>
            </a:r>
          </a:p>
          <a:p>
            <a:r>
              <a:rPr lang="zh-CN" altLang="en-US" dirty="0">
                <a:solidFill>
                  <a:srgbClr val="C00000"/>
                </a:solidFill>
              </a:rPr>
              <a:t>掌握</a:t>
            </a:r>
            <a:r>
              <a:rPr lang="zh-CN" altLang="en-US" dirty="0"/>
              <a:t>判定</a:t>
            </a:r>
            <a:r>
              <a:rPr lang="en-US" altLang="zh-CN" dirty="0"/>
              <a:t>IFTTT</a:t>
            </a:r>
            <a:r>
              <a:rPr lang="zh-CN" altLang="en-US" dirty="0"/>
              <a:t>规则冲突的方法</a:t>
            </a:r>
          </a:p>
          <a:p>
            <a:r>
              <a:rPr lang="zh-CN" altLang="en-US" dirty="0"/>
              <a:t>了解</a:t>
            </a:r>
            <a:r>
              <a:rPr lang="en-US" altLang="zh-CN" dirty="0"/>
              <a:t>Amazon AWS IoT</a:t>
            </a:r>
            <a:r>
              <a:rPr lang="zh-CN" altLang="en-US" dirty="0"/>
              <a:t>、</a:t>
            </a:r>
            <a:r>
              <a:rPr lang="en-US" altLang="zh-CN" dirty="0"/>
              <a:t>Microsoft Azure IoT</a:t>
            </a:r>
            <a:r>
              <a:rPr lang="zh-CN" altLang="en-US" dirty="0"/>
              <a:t>和阿里云</a:t>
            </a:r>
            <a:r>
              <a:rPr lang="en-US" altLang="zh-CN" dirty="0"/>
              <a:t>IoT</a:t>
            </a:r>
            <a:r>
              <a:rPr lang="zh-CN" altLang="en-US" dirty="0"/>
              <a:t>的关键特性</a:t>
            </a:r>
          </a:p>
          <a:p>
            <a:endParaRPr lang="zh-CN" altLang="en-US" dirty="0"/>
          </a:p>
        </p:txBody>
      </p:sp>
    </p:spTree>
    <p:extLst>
      <p:ext uri="{BB962C8B-B14F-4D97-AF65-F5344CB8AC3E}">
        <p14:creationId xmlns:p14="http://schemas.microsoft.com/office/powerpoint/2010/main" val="150377143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solidFill>
                  <a:srgbClr val="C00000"/>
                </a:solidFill>
              </a:rPr>
              <a:t>概述</a:t>
            </a:r>
            <a:endParaRPr lang="en-US" altLang="zh-CN" sz="2800" dirty="0">
              <a:solidFill>
                <a:srgbClr val="C00000"/>
              </a:solidFill>
            </a:endParaRPr>
          </a:p>
          <a:p>
            <a:r>
              <a:rPr lang="zh-CN" altLang="en-US" sz="2800" dirty="0"/>
              <a:t>物联网云平台主要功能</a:t>
            </a:r>
            <a:endParaRPr lang="en-US" altLang="zh-CN" sz="2800" dirty="0"/>
          </a:p>
          <a:p>
            <a:r>
              <a:rPr lang="zh-CN" altLang="en-US" sz="2800" dirty="0"/>
              <a:t>典型物联网云平台</a:t>
            </a:r>
            <a:endParaRPr lang="en-US" altLang="zh-CN" sz="2800" dirty="0"/>
          </a:p>
          <a:p>
            <a:r>
              <a:rPr lang="zh-CN" altLang="en-US" sz="2800" dirty="0"/>
              <a:t>总结与展望</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云平台是物联网应用的关键一环</a:t>
            </a:r>
          </a:p>
        </p:txBody>
      </p:sp>
      <p:sp>
        <p:nvSpPr>
          <p:cNvPr id="3" name="内容占位符 2"/>
          <p:cNvSpPr>
            <a:spLocks noGrp="1"/>
          </p:cNvSpPr>
          <p:nvPr>
            <p:ph idx="1"/>
          </p:nvPr>
        </p:nvSpPr>
        <p:spPr/>
        <p:txBody>
          <a:bodyPr/>
          <a:lstStyle/>
          <a:p>
            <a:r>
              <a:rPr lang="zh-CN" altLang="en-US" dirty="0"/>
              <a:t>城市大脑</a:t>
            </a:r>
            <a:endParaRPr lang="en-US" altLang="zh-CN" dirty="0"/>
          </a:p>
          <a:p>
            <a:pPr lvl="1"/>
            <a:r>
              <a:rPr lang="zh-CN" altLang="en-US" dirty="0"/>
              <a:t>云平台通过</a:t>
            </a:r>
            <a:r>
              <a:rPr lang="zh-CN" altLang="en-US" dirty="0">
                <a:solidFill>
                  <a:srgbClr val="C00000"/>
                </a:solidFill>
              </a:rPr>
              <a:t>收集和智能分析</a:t>
            </a:r>
            <a:r>
              <a:rPr lang="zh-CN" altLang="en-US" dirty="0"/>
              <a:t>从城市各处采集到海量异构数据，来</a:t>
            </a:r>
            <a:r>
              <a:rPr lang="zh-CN" altLang="en-US" dirty="0">
                <a:solidFill>
                  <a:srgbClr val="C00000"/>
                </a:solidFill>
              </a:rPr>
              <a:t>优化</a:t>
            </a:r>
            <a:r>
              <a:rPr lang="zh-CN" altLang="en-US" dirty="0"/>
              <a:t>城市运行状态</a:t>
            </a:r>
            <a:r>
              <a:rPr lang="en-US" altLang="zh-CN" dirty="0"/>
              <a:t>(</a:t>
            </a:r>
            <a:r>
              <a:rPr lang="zh-CN" altLang="en-US" dirty="0"/>
              <a:t>如控制交通信号灯提高通行效率</a:t>
            </a:r>
            <a:r>
              <a:rPr lang="en-US" altLang="zh-CN" dirty="0"/>
              <a:t>)</a:t>
            </a:r>
            <a:r>
              <a:rPr lang="zh-CN" altLang="en-US" dirty="0"/>
              <a:t>、</a:t>
            </a:r>
            <a:r>
              <a:rPr lang="zh-CN" altLang="en-US" dirty="0">
                <a:solidFill>
                  <a:srgbClr val="C00000"/>
                </a:solidFill>
              </a:rPr>
              <a:t>预防</a:t>
            </a:r>
            <a:r>
              <a:rPr lang="zh-CN" altLang="en-US" dirty="0"/>
              <a:t>破坏性事件 </a:t>
            </a:r>
            <a:r>
              <a:rPr lang="en-US" altLang="zh-CN" dirty="0"/>
              <a:t>(</a:t>
            </a:r>
            <a:r>
              <a:rPr lang="zh-CN" altLang="en-US" dirty="0"/>
              <a:t>如火情预警、人脸识别追踪罪犯</a:t>
            </a:r>
            <a:r>
              <a:rPr lang="en-US" altLang="zh-CN" dirty="0"/>
              <a:t>) </a:t>
            </a:r>
            <a:r>
              <a:rPr lang="zh-CN" altLang="en-US" dirty="0"/>
              <a:t>和</a:t>
            </a:r>
            <a:r>
              <a:rPr lang="zh-CN" altLang="en-US" dirty="0">
                <a:solidFill>
                  <a:srgbClr val="C00000"/>
                </a:solidFill>
              </a:rPr>
              <a:t>辅助</a:t>
            </a:r>
            <a:r>
              <a:rPr lang="zh-CN" altLang="en-US" dirty="0"/>
              <a:t>政府的决策。</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grpSp>
        <p:nvGrpSpPr>
          <p:cNvPr id="9" name="组合 8">
            <a:extLst>
              <a:ext uri="{FF2B5EF4-FFF2-40B4-BE49-F238E27FC236}">
                <a16:creationId xmlns:a16="http://schemas.microsoft.com/office/drawing/2014/main" id="{913C1B8E-EE47-4C4F-A7CC-02A32EC7862F}"/>
              </a:ext>
            </a:extLst>
          </p:cNvPr>
          <p:cNvGrpSpPr/>
          <p:nvPr/>
        </p:nvGrpSpPr>
        <p:grpSpPr>
          <a:xfrm>
            <a:off x="1482623" y="3038073"/>
            <a:ext cx="6217254" cy="3074957"/>
            <a:chOff x="1719489" y="3211323"/>
            <a:chExt cx="6217254" cy="3074957"/>
          </a:xfrm>
        </p:grpSpPr>
        <p:sp>
          <p:nvSpPr>
            <p:cNvPr id="23" name="圆角矩形 4"/>
            <p:cNvSpPr/>
            <p:nvPr/>
          </p:nvSpPr>
          <p:spPr bwMode="auto">
            <a:xfrm>
              <a:off x="2820222" y="3343167"/>
              <a:ext cx="4000006" cy="2884602"/>
            </a:xfrm>
            <a:prstGeom prst="round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pic>
          <p:nvPicPr>
            <p:cNvPr id="8" name="图片 5"/>
            <p:cNvPicPr>
              <a:picLocks noChangeAspect="1"/>
            </p:cNvPicPr>
            <p:nvPr/>
          </p:nvPicPr>
          <p:blipFill>
            <a:blip r:embed="rId3">
              <a:extLst>
                <a:ext uri="{BEBA8EAE-BF5A-486C-A8C5-ECC9F3942E4B}">
                  <a14:imgProps xmlns:a14="http://schemas.microsoft.com/office/drawing/2010/main">
                    <a14:imgLayer r:embed="rId4">
                      <a14:imgEffect>
                        <a14:artisticPaintBrush/>
                      </a14:imgEffect>
                    </a14:imgLayer>
                  </a14:imgProps>
                </a:ext>
              </a:extLst>
            </a:blip>
            <a:stretch>
              <a:fillRect/>
            </a:stretch>
          </p:blipFill>
          <p:spPr>
            <a:xfrm>
              <a:off x="3182586" y="3380875"/>
              <a:ext cx="3121713" cy="2815765"/>
            </a:xfrm>
            <a:prstGeom prst="rect">
              <a:avLst/>
            </a:prstGeom>
            <a:solidFill>
              <a:schemeClr val="bg1"/>
            </a:solidFill>
          </p:spPr>
        </p:pic>
        <p:pic>
          <p:nvPicPr>
            <p:cNvPr id="11" name="图片 6"/>
            <p:cNvPicPr>
              <a:picLocks noChangeAspect="1"/>
            </p:cNvPicPr>
            <p:nvPr/>
          </p:nvPicPr>
          <p:blipFill>
            <a:blip r:embed="rId5"/>
            <a:stretch>
              <a:fillRect/>
            </a:stretch>
          </p:blipFill>
          <p:spPr>
            <a:xfrm>
              <a:off x="1747085" y="3385350"/>
              <a:ext cx="763113" cy="711667"/>
            </a:xfrm>
            <a:prstGeom prst="rect">
              <a:avLst/>
            </a:prstGeom>
          </p:spPr>
        </p:pic>
        <p:pic>
          <p:nvPicPr>
            <p:cNvPr id="12" name="图片 8"/>
            <p:cNvPicPr>
              <a:picLocks noChangeAspect="1"/>
            </p:cNvPicPr>
            <p:nvPr/>
          </p:nvPicPr>
          <p:blipFill>
            <a:blip r:embed="rId6"/>
            <a:stretch>
              <a:fillRect/>
            </a:stretch>
          </p:blipFill>
          <p:spPr>
            <a:xfrm>
              <a:off x="7012561" y="4970678"/>
              <a:ext cx="823899" cy="617924"/>
            </a:xfrm>
            <a:prstGeom prst="rect">
              <a:avLst/>
            </a:prstGeom>
          </p:spPr>
        </p:pic>
        <p:pic>
          <p:nvPicPr>
            <p:cNvPr id="13" name="图片 9"/>
            <p:cNvPicPr>
              <a:picLocks noChangeAspect="1"/>
            </p:cNvPicPr>
            <p:nvPr/>
          </p:nvPicPr>
          <p:blipFill>
            <a:blip r:embed="rId7"/>
            <a:stretch>
              <a:fillRect/>
            </a:stretch>
          </p:blipFill>
          <p:spPr>
            <a:xfrm>
              <a:off x="6963191" y="3211323"/>
              <a:ext cx="973552" cy="753718"/>
            </a:xfrm>
            <a:prstGeom prst="rect">
              <a:avLst/>
            </a:prstGeom>
          </p:spPr>
        </p:pic>
        <p:pic>
          <p:nvPicPr>
            <p:cNvPr id="14" name="图片 14"/>
            <p:cNvPicPr>
              <a:picLocks noChangeAspect="1"/>
            </p:cNvPicPr>
            <p:nvPr/>
          </p:nvPicPr>
          <p:blipFill>
            <a:blip r:embed="rId8"/>
            <a:stretch>
              <a:fillRect/>
            </a:stretch>
          </p:blipFill>
          <p:spPr>
            <a:xfrm>
              <a:off x="7087938" y="5615404"/>
              <a:ext cx="735800" cy="670876"/>
            </a:xfrm>
            <a:prstGeom prst="rect">
              <a:avLst/>
            </a:prstGeom>
          </p:spPr>
        </p:pic>
        <p:pic>
          <p:nvPicPr>
            <p:cNvPr id="16" name="图片 21"/>
            <p:cNvPicPr>
              <a:picLocks noChangeAspect="1"/>
            </p:cNvPicPr>
            <p:nvPr/>
          </p:nvPicPr>
          <p:blipFill>
            <a:blip r:embed="rId9"/>
            <a:stretch>
              <a:fillRect/>
            </a:stretch>
          </p:blipFill>
          <p:spPr>
            <a:xfrm>
              <a:off x="7087938" y="3860826"/>
              <a:ext cx="676049" cy="623467"/>
            </a:xfrm>
            <a:prstGeom prst="rect">
              <a:avLst/>
            </a:prstGeom>
          </p:spPr>
        </p:pic>
        <p:pic>
          <p:nvPicPr>
            <p:cNvPr id="17" name="图片 23"/>
            <p:cNvPicPr>
              <a:picLocks noChangeAspect="1"/>
            </p:cNvPicPr>
            <p:nvPr/>
          </p:nvPicPr>
          <p:blipFill>
            <a:blip r:embed="rId10"/>
            <a:stretch>
              <a:fillRect/>
            </a:stretch>
          </p:blipFill>
          <p:spPr>
            <a:xfrm>
              <a:off x="1747085" y="4034544"/>
              <a:ext cx="822587" cy="535638"/>
            </a:xfrm>
            <a:prstGeom prst="rect">
              <a:avLst/>
            </a:prstGeom>
          </p:spPr>
        </p:pic>
        <p:sp>
          <p:nvSpPr>
            <p:cNvPr id="18" name="云形 32"/>
            <p:cNvSpPr/>
            <p:nvPr/>
          </p:nvSpPr>
          <p:spPr bwMode="auto">
            <a:xfrm>
              <a:off x="3503730" y="3922990"/>
              <a:ext cx="1167642" cy="865767"/>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2400" b="1" i="0" u="none" strike="noStrike" cap="none" normalizeH="0" baseline="-25000" dirty="0">
                  <a:ln>
                    <a:noFill/>
                  </a:ln>
                  <a:solidFill>
                    <a:schemeClr val="tx1"/>
                  </a:solidFill>
                  <a:latin typeface="+mj-ea"/>
                  <a:ea typeface="+mj-ea"/>
                </a:rPr>
                <a:t>智能算法</a:t>
              </a:r>
            </a:p>
          </p:txBody>
        </p:sp>
        <p:sp>
          <p:nvSpPr>
            <p:cNvPr id="19" name="云形 33"/>
            <p:cNvSpPr/>
            <p:nvPr/>
          </p:nvSpPr>
          <p:spPr bwMode="auto">
            <a:xfrm>
              <a:off x="4830399" y="3922990"/>
              <a:ext cx="1167642" cy="865767"/>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2400" b="1" i="0" u="none" strike="noStrike" cap="none" normalizeH="0" baseline="-25000" dirty="0">
                  <a:ln>
                    <a:noFill/>
                  </a:ln>
                  <a:solidFill>
                    <a:schemeClr val="tx1"/>
                  </a:solidFill>
                  <a:latin typeface="+mj-ea"/>
                  <a:ea typeface="+mj-ea"/>
                </a:rPr>
                <a:t>数据存储</a:t>
              </a:r>
            </a:p>
          </p:txBody>
        </p:sp>
        <p:pic>
          <p:nvPicPr>
            <p:cNvPr id="20" name="图片 34"/>
            <p:cNvPicPr>
              <a:picLocks noChangeAspect="1"/>
            </p:cNvPicPr>
            <p:nvPr/>
          </p:nvPicPr>
          <p:blipFill>
            <a:blip r:embed="rId11"/>
            <a:stretch>
              <a:fillRect/>
            </a:stretch>
          </p:blipFill>
          <p:spPr>
            <a:xfrm>
              <a:off x="1747085" y="4880843"/>
              <a:ext cx="777763" cy="698219"/>
            </a:xfrm>
            <a:prstGeom prst="rect">
              <a:avLst/>
            </a:prstGeom>
          </p:spPr>
        </p:pic>
        <p:pic>
          <p:nvPicPr>
            <p:cNvPr id="21" name="图片 35"/>
            <p:cNvPicPr>
              <a:picLocks noChangeAspect="1"/>
            </p:cNvPicPr>
            <p:nvPr/>
          </p:nvPicPr>
          <p:blipFill>
            <a:blip r:embed="rId12"/>
            <a:stretch>
              <a:fillRect/>
            </a:stretch>
          </p:blipFill>
          <p:spPr>
            <a:xfrm>
              <a:off x="1719489" y="5560447"/>
              <a:ext cx="849652" cy="705030"/>
            </a:xfrm>
            <a:prstGeom prst="rect">
              <a:avLst/>
            </a:prstGeom>
          </p:spPr>
        </p:pic>
        <p:cxnSp>
          <p:nvCxnSpPr>
            <p:cNvPr id="25" name="直线箭头连接符 24"/>
            <p:cNvCxnSpPr/>
            <p:nvPr/>
          </p:nvCxnSpPr>
          <p:spPr bwMode="auto">
            <a:xfrm>
              <a:off x="2569141" y="5279640"/>
              <a:ext cx="560880"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6" name="直线箭头连接符 25"/>
            <p:cNvCxnSpPr/>
            <p:nvPr/>
          </p:nvCxnSpPr>
          <p:spPr bwMode="auto">
            <a:xfrm>
              <a:off x="2569141" y="5900693"/>
              <a:ext cx="560880" cy="0"/>
            </a:xfrm>
            <a:prstGeom prst="straightConnector1">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27" name="直线箭头连接符 26"/>
            <p:cNvCxnSpPr/>
            <p:nvPr/>
          </p:nvCxnSpPr>
          <p:spPr bwMode="auto">
            <a:xfrm>
              <a:off x="2539782" y="3692426"/>
              <a:ext cx="560880"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28" name="直线箭头连接符 27"/>
            <p:cNvCxnSpPr/>
            <p:nvPr/>
          </p:nvCxnSpPr>
          <p:spPr bwMode="auto">
            <a:xfrm>
              <a:off x="2539782" y="4313479"/>
              <a:ext cx="560880" cy="0"/>
            </a:xfrm>
            <a:prstGeom prst="straightConnector1">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29" name="直线箭头连接符 28"/>
            <p:cNvCxnSpPr/>
            <p:nvPr/>
          </p:nvCxnSpPr>
          <p:spPr bwMode="auto">
            <a:xfrm>
              <a:off x="6504174" y="3651946"/>
              <a:ext cx="560880" cy="0"/>
            </a:xfrm>
            <a:prstGeom prst="straightConnector1">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30" name="直线箭头连接符 29"/>
            <p:cNvCxnSpPr/>
            <p:nvPr/>
          </p:nvCxnSpPr>
          <p:spPr bwMode="auto">
            <a:xfrm>
              <a:off x="6504174" y="4272999"/>
              <a:ext cx="560880"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31" name="直线箭头连接符 30"/>
            <p:cNvCxnSpPr/>
            <p:nvPr/>
          </p:nvCxnSpPr>
          <p:spPr bwMode="auto">
            <a:xfrm>
              <a:off x="6482113" y="5266005"/>
              <a:ext cx="560880" cy="0"/>
            </a:xfrm>
            <a:prstGeom prst="straightConnector1">
              <a:avLst/>
            </a:prstGeom>
            <a:solidFill>
              <a:schemeClr val="accent1"/>
            </a:solidFill>
            <a:ln w="28575" cap="flat" cmpd="sng" algn="ctr">
              <a:solidFill>
                <a:schemeClr val="tx1"/>
              </a:solidFill>
              <a:prstDash val="solid"/>
              <a:round/>
              <a:headEnd type="triangle" w="med" len="med"/>
              <a:tailEnd type="none" w="med" len="med"/>
            </a:ln>
            <a:effectLst/>
          </p:spPr>
        </p:cxnSp>
        <p:cxnSp>
          <p:nvCxnSpPr>
            <p:cNvPr id="32" name="直线箭头连接符 31"/>
            <p:cNvCxnSpPr/>
            <p:nvPr/>
          </p:nvCxnSpPr>
          <p:spPr bwMode="auto">
            <a:xfrm>
              <a:off x="6482113" y="5887058"/>
              <a:ext cx="560880"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grpSp>
      <p:sp>
        <p:nvSpPr>
          <p:cNvPr id="33" name="灯片编号占位符 4">
            <a:extLst>
              <a:ext uri="{FF2B5EF4-FFF2-40B4-BE49-F238E27FC236}">
                <a16:creationId xmlns:a16="http://schemas.microsoft.com/office/drawing/2014/main" id="{E26DE47B-7BBB-4B30-9108-7DB2342F97B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bwMode="auto">
          <a:xfrm>
            <a:off x="1178351" y="2007110"/>
            <a:ext cx="6862713" cy="2779135"/>
          </a:xfrm>
          <a:prstGeom prst="round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latin typeface="+mn-ea"/>
              <a:ea typeface="+mn-ea"/>
            </a:endParaRPr>
          </a:p>
        </p:txBody>
      </p:sp>
      <p:pic>
        <p:nvPicPr>
          <p:cNvPr id="11" name="图片 10"/>
          <p:cNvPicPr>
            <a:picLocks noChangeAspect="1"/>
          </p:cNvPicPr>
          <p:nvPr/>
        </p:nvPicPr>
        <p:blipFill>
          <a:blip r:embed="rId2"/>
          <a:stretch>
            <a:fillRect/>
          </a:stretch>
        </p:blipFill>
        <p:spPr>
          <a:xfrm>
            <a:off x="106139" y="5735235"/>
            <a:ext cx="1814988" cy="1018095"/>
          </a:xfrm>
          <a:prstGeom prst="rect">
            <a:avLst/>
          </a:prstGeom>
        </p:spPr>
      </p:pic>
      <p:sp>
        <p:nvSpPr>
          <p:cNvPr id="3" name="标题 2"/>
          <p:cNvSpPr>
            <a:spLocks noGrp="1"/>
          </p:cNvSpPr>
          <p:nvPr>
            <p:ph type="title"/>
          </p:nvPr>
        </p:nvSpPr>
        <p:spPr/>
        <p:txBody>
          <a:bodyPr/>
          <a:lstStyle/>
          <a:p>
            <a:r>
              <a:rPr lang="zh-CN" altLang="en-US" dirty="0"/>
              <a:t>云平台是物联网应用的关键一环</a:t>
            </a:r>
          </a:p>
        </p:txBody>
      </p:sp>
      <p:sp>
        <p:nvSpPr>
          <p:cNvPr id="2" name="内容占位符 1"/>
          <p:cNvSpPr>
            <a:spLocks noGrp="1"/>
          </p:cNvSpPr>
          <p:nvPr>
            <p:ph idx="1"/>
          </p:nvPr>
        </p:nvSpPr>
        <p:spPr/>
        <p:txBody>
          <a:bodyPr/>
          <a:lstStyle/>
          <a:p>
            <a:r>
              <a:rPr lang="zh-CN" altLang="en-US"/>
              <a:t>共享单车</a:t>
            </a:r>
            <a:endParaRPr lang="en-US" altLang="zh-CN"/>
          </a:p>
          <a:p>
            <a:pPr lvl="1"/>
            <a:r>
              <a:rPr lang="zh-CN" altLang="en-US"/>
              <a:t>通过云平台实现车辆管理、计时计费等功能 </a:t>
            </a:r>
            <a:endParaRPr lang="en-US" altLang="zh-CN"/>
          </a:p>
          <a:p>
            <a:endParaRPr lang="zh-CN" altLang="en-US" dirty="0"/>
          </a:p>
        </p:txBody>
      </p:sp>
      <p:pic>
        <p:nvPicPr>
          <p:cNvPr id="9" name="图片 8"/>
          <p:cNvPicPr>
            <a:picLocks noChangeAspect="1"/>
          </p:cNvPicPr>
          <p:nvPr/>
        </p:nvPicPr>
        <p:blipFill>
          <a:blip r:embed="rId3"/>
          <a:stretch>
            <a:fillRect/>
          </a:stretch>
        </p:blipFill>
        <p:spPr>
          <a:xfrm>
            <a:off x="5650818" y="5061775"/>
            <a:ext cx="1841060" cy="1325563"/>
          </a:xfrm>
          <a:prstGeom prst="rect">
            <a:avLst/>
          </a:prstGeom>
        </p:spPr>
      </p:pic>
      <p:pic>
        <p:nvPicPr>
          <p:cNvPr id="10" name="图片 9"/>
          <p:cNvPicPr>
            <a:picLocks noChangeAspect="1"/>
          </p:cNvPicPr>
          <p:nvPr/>
        </p:nvPicPr>
        <p:blipFill>
          <a:blip r:embed="rId4"/>
          <a:stretch>
            <a:fillRect/>
          </a:stretch>
        </p:blipFill>
        <p:spPr>
          <a:xfrm>
            <a:off x="2223356" y="5138775"/>
            <a:ext cx="1072591" cy="1472540"/>
          </a:xfrm>
          <a:prstGeom prst="rect">
            <a:avLst/>
          </a:prstGeom>
        </p:spPr>
      </p:pic>
      <p:grpSp>
        <p:nvGrpSpPr>
          <p:cNvPr id="18" name="组合 17"/>
          <p:cNvGrpSpPr/>
          <p:nvPr/>
        </p:nvGrpSpPr>
        <p:grpSpPr>
          <a:xfrm>
            <a:off x="1553441" y="2127159"/>
            <a:ext cx="6113318" cy="901422"/>
            <a:chOff x="1384712" y="2516437"/>
            <a:chExt cx="6113318" cy="901422"/>
          </a:xfrm>
        </p:grpSpPr>
        <p:sp>
          <p:nvSpPr>
            <p:cNvPr id="12" name="矩形 11"/>
            <p:cNvSpPr/>
            <p:nvPr/>
          </p:nvSpPr>
          <p:spPr bwMode="auto">
            <a:xfrm>
              <a:off x="1384712" y="2516437"/>
              <a:ext cx="6113318" cy="900028"/>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zh-CN" altLang="en-US" baseline="0" dirty="0">
                  <a:latin typeface="+mn-ea"/>
                  <a:ea typeface="+mn-ea"/>
                </a:rPr>
                <a:t>共享单车应用</a:t>
              </a:r>
              <a:endParaRPr kumimoji="0" lang="zh-CN" altLang="en-US" sz="2400" b="0" i="0" u="none" strike="noStrike" cap="none" normalizeH="0" baseline="0" dirty="0">
                <a:ln>
                  <a:noFill/>
                </a:ln>
                <a:solidFill>
                  <a:schemeClr val="tx1"/>
                </a:solidFill>
                <a:latin typeface="+mn-ea"/>
                <a:ea typeface="+mn-ea"/>
              </a:endParaRPr>
            </a:p>
          </p:txBody>
        </p:sp>
        <p:sp>
          <p:nvSpPr>
            <p:cNvPr id="13" name="矩形 12"/>
            <p:cNvSpPr/>
            <p:nvPr/>
          </p:nvSpPr>
          <p:spPr bwMode="auto">
            <a:xfrm>
              <a:off x="1389908" y="3001213"/>
              <a:ext cx="1461654" cy="416646"/>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2400" b="0" i="0" u="none" strike="noStrike" cap="none" normalizeH="0" baseline="0">
                  <a:ln>
                    <a:noFill/>
                  </a:ln>
                  <a:solidFill>
                    <a:schemeClr val="tx1"/>
                  </a:solidFill>
                  <a:latin typeface="+mn-ea"/>
                  <a:ea typeface="+mn-ea"/>
                </a:rPr>
                <a:t>单车管理</a:t>
              </a:r>
            </a:p>
          </p:txBody>
        </p:sp>
        <p:sp>
          <p:nvSpPr>
            <p:cNvPr id="14" name="矩形 13"/>
            <p:cNvSpPr/>
            <p:nvPr/>
          </p:nvSpPr>
          <p:spPr bwMode="auto">
            <a:xfrm>
              <a:off x="2851562" y="3001213"/>
              <a:ext cx="1461654" cy="416646"/>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2400" b="0" i="0" u="none" strike="noStrike" cap="none" normalizeH="0" baseline="0" dirty="0">
                  <a:ln>
                    <a:noFill/>
                  </a:ln>
                  <a:solidFill>
                    <a:schemeClr val="tx1"/>
                  </a:solidFill>
                  <a:latin typeface="+mn-ea"/>
                  <a:ea typeface="+mn-ea"/>
                </a:rPr>
                <a:t>远程解锁</a:t>
              </a:r>
            </a:p>
          </p:txBody>
        </p:sp>
        <p:sp>
          <p:nvSpPr>
            <p:cNvPr id="15" name="矩形 14"/>
            <p:cNvSpPr/>
            <p:nvPr/>
          </p:nvSpPr>
          <p:spPr bwMode="auto">
            <a:xfrm>
              <a:off x="5089614" y="3001213"/>
              <a:ext cx="933103" cy="416646"/>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2400" b="0" i="0" u="none" strike="noStrike" cap="none" normalizeH="0" baseline="0">
                  <a:ln>
                    <a:noFill/>
                  </a:ln>
                  <a:solidFill>
                    <a:schemeClr val="tx1"/>
                  </a:solidFill>
                  <a:latin typeface="+mn-ea"/>
                  <a:ea typeface="+mn-ea"/>
                </a:rPr>
                <a:t>计费</a:t>
              </a:r>
            </a:p>
          </p:txBody>
        </p:sp>
        <p:sp>
          <p:nvSpPr>
            <p:cNvPr id="16" name="矩形 15"/>
            <p:cNvSpPr/>
            <p:nvPr/>
          </p:nvSpPr>
          <p:spPr bwMode="auto">
            <a:xfrm>
              <a:off x="6031180" y="3001213"/>
              <a:ext cx="1461654" cy="416646"/>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zh-CN" altLang="en-US" baseline="0">
                  <a:latin typeface="+mn-ea"/>
                  <a:ea typeface="+mn-ea"/>
                </a:rPr>
                <a:t>用户管理</a:t>
              </a:r>
              <a:endParaRPr kumimoji="0" lang="zh-CN" altLang="en-US" sz="2400" b="0" i="0" u="none" strike="noStrike" cap="none" normalizeH="0" baseline="0">
                <a:ln>
                  <a:noFill/>
                </a:ln>
                <a:solidFill>
                  <a:schemeClr val="tx1"/>
                </a:solidFill>
                <a:latin typeface="+mn-ea"/>
                <a:ea typeface="+mn-ea"/>
              </a:endParaRPr>
            </a:p>
          </p:txBody>
        </p:sp>
        <p:sp>
          <p:nvSpPr>
            <p:cNvPr id="17" name="文本框 16"/>
            <p:cNvSpPr txBox="1"/>
            <p:nvPr/>
          </p:nvSpPr>
          <p:spPr>
            <a:xfrm>
              <a:off x="4398552" y="2874356"/>
              <a:ext cx="595035" cy="338554"/>
            </a:xfrm>
            <a:prstGeom prst="rect">
              <a:avLst/>
            </a:prstGeom>
            <a:noFill/>
            <a:ln w="19050">
              <a:noFill/>
            </a:ln>
          </p:spPr>
          <p:txBody>
            <a:bodyPr wrap="none" rtlCol="0">
              <a:spAutoFit/>
            </a:bodyPr>
            <a:lstStyle/>
            <a:p>
              <a:r>
                <a:rPr kumimoji="1" lang="en-US" altLang="zh-CN">
                  <a:latin typeface="+mn-ea"/>
                  <a:ea typeface="+mn-ea"/>
                </a:rPr>
                <a:t>……</a:t>
              </a:r>
              <a:endParaRPr kumimoji="1" lang="zh-CN" altLang="en-US">
                <a:latin typeface="+mn-ea"/>
                <a:ea typeface="+mn-ea"/>
              </a:endParaRPr>
            </a:p>
          </p:txBody>
        </p:sp>
      </p:grpSp>
      <p:sp>
        <p:nvSpPr>
          <p:cNvPr id="19" name="矩形 18"/>
          <p:cNvSpPr/>
          <p:nvPr/>
        </p:nvSpPr>
        <p:spPr bwMode="auto">
          <a:xfrm>
            <a:off x="1552691" y="3807898"/>
            <a:ext cx="2412423" cy="428553"/>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2400" b="0" i="0" u="none" strike="noStrike" cap="none" normalizeH="0" baseline="0">
                <a:ln>
                  <a:noFill/>
                </a:ln>
                <a:solidFill>
                  <a:schemeClr val="tx1"/>
                </a:solidFill>
                <a:latin typeface="+mn-ea"/>
                <a:ea typeface="+mn-ea"/>
              </a:rPr>
              <a:t>连接管理平台</a:t>
            </a:r>
          </a:p>
        </p:txBody>
      </p:sp>
      <p:sp>
        <p:nvSpPr>
          <p:cNvPr id="22" name="矩形 21"/>
          <p:cNvSpPr/>
          <p:nvPr/>
        </p:nvSpPr>
        <p:spPr bwMode="auto">
          <a:xfrm>
            <a:off x="457200" y="5875045"/>
            <a:ext cx="556433" cy="440914"/>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rgbClr val="C00000"/>
              </a:solidFill>
              <a:effectLst>
                <a:outerShdw blurRad="38100" dist="38100" dir="2700000" algn="tl">
                  <a:srgbClr val="000000">
                    <a:alpha val="43137"/>
                  </a:srgbClr>
                </a:outerShdw>
              </a:effectLst>
              <a:latin typeface="+mn-ea"/>
              <a:ea typeface="+mn-ea"/>
            </a:endParaRPr>
          </a:p>
        </p:txBody>
      </p:sp>
      <p:cxnSp>
        <p:nvCxnSpPr>
          <p:cNvPr id="24" name="直线连接符 23"/>
          <p:cNvCxnSpPr/>
          <p:nvPr/>
        </p:nvCxnSpPr>
        <p:spPr bwMode="auto">
          <a:xfrm flipV="1">
            <a:off x="1013633" y="5740715"/>
            <a:ext cx="1209723" cy="360268"/>
          </a:xfrm>
          <a:prstGeom prst="line">
            <a:avLst/>
          </a:prstGeom>
          <a:solidFill>
            <a:schemeClr val="accent1"/>
          </a:solidFill>
          <a:ln w="38100" cap="flat" cmpd="sng" algn="ctr">
            <a:solidFill>
              <a:srgbClr val="C00000"/>
            </a:solidFill>
            <a:prstDash val="solid"/>
            <a:round/>
            <a:headEnd type="none" w="med" len="med"/>
            <a:tailEnd type="arrow" w="med" len="med"/>
          </a:ln>
          <a:effectLst/>
        </p:spPr>
      </p:cxnSp>
      <p:sp>
        <p:nvSpPr>
          <p:cNvPr id="27" name="矩形 26"/>
          <p:cNvSpPr/>
          <p:nvPr/>
        </p:nvSpPr>
        <p:spPr bwMode="auto">
          <a:xfrm>
            <a:off x="1553048" y="3181769"/>
            <a:ext cx="6113318" cy="428553"/>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zh-CN" altLang="en-US" baseline="0">
                <a:latin typeface="+mn-ea"/>
                <a:ea typeface="+mn-ea"/>
              </a:rPr>
              <a:t>物联网云基础设施（计算、存储）</a:t>
            </a:r>
            <a:endParaRPr kumimoji="0" lang="zh-CN" altLang="en-US" sz="2400" b="0" i="0" u="none" strike="noStrike" cap="none" normalizeH="0" baseline="0">
              <a:ln>
                <a:noFill/>
              </a:ln>
              <a:solidFill>
                <a:schemeClr val="tx1"/>
              </a:solidFill>
              <a:latin typeface="+mn-ea"/>
              <a:ea typeface="+mn-ea"/>
            </a:endParaRPr>
          </a:p>
        </p:txBody>
      </p:sp>
      <p:cxnSp>
        <p:nvCxnSpPr>
          <p:cNvPr id="20" name="直线箭头连接符 19"/>
          <p:cNvCxnSpPr/>
          <p:nvPr/>
        </p:nvCxnSpPr>
        <p:spPr bwMode="auto">
          <a:xfrm flipV="1">
            <a:off x="2761348" y="2960846"/>
            <a:ext cx="0" cy="2111608"/>
          </a:xfrm>
          <a:prstGeom prst="straightConnector1">
            <a:avLst/>
          </a:prstGeom>
          <a:solidFill>
            <a:schemeClr val="accent1"/>
          </a:solidFill>
          <a:ln w="57150" cap="flat" cmpd="sng" algn="ctr">
            <a:solidFill>
              <a:srgbClr val="C00000"/>
            </a:solidFill>
            <a:prstDash val="sysDash"/>
            <a:round/>
            <a:headEnd type="none" w="med" len="med"/>
            <a:tailEnd type="triangle"/>
          </a:ln>
          <a:effectLst/>
        </p:spPr>
      </p:cxnSp>
      <p:sp>
        <p:nvSpPr>
          <p:cNvPr id="28" name="文本框 27"/>
          <p:cNvSpPr txBox="1"/>
          <p:nvPr/>
        </p:nvSpPr>
        <p:spPr>
          <a:xfrm>
            <a:off x="3594044" y="4354161"/>
            <a:ext cx="2031325" cy="461665"/>
          </a:xfrm>
          <a:prstGeom prst="rect">
            <a:avLst/>
          </a:prstGeom>
          <a:noFill/>
        </p:spPr>
        <p:txBody>
          <a:bodyPr wrap="none" rtlCol="0">
            <a:spAutoFit/>
          </a:bodyPr>
          <a:lstStyle/>
          <a:p>
            <a:r>
              <a:rPr kumimoji="1" lang="zh-CN" altLang="en-US" b="1" baseline="0">
                <a:solidFill>
                  <a:srgbClr val="C00000"/>
                </a:solidFill>
                <a:latin typeface="+mn-ea"/>
                <a:ea typeface="+mn-ea"/>
              </a:rPr>
              <a:t>物联网云平台</a:t>
            </a:r>
          </a:p>
        </p:txBody>
      </p:sp>
      <p:sp>
        <p:nvSpPr>
          <p:cNvPr id="29" name="文本框 28"/>
          <p:cNvSpPr txBox="1"/>
          <p:nvPr/>
        </p:nvSpPr>
        <p:spPr>
          <a:xfrm>
            <a:off x="1385405" y="4342071"/>
            <a:ext cx="1122423" cy="338554"/>
          </a:xfrm>
          <a:prstGeom prst="rect">
            <a:avLst/>
          </a:prstGeom>
          <a:noFill/>
        </p:spPr>
        <p:txBody>
          <a:bodyPr wrap="none" rtlCol="0">
            <a:spAutoFit/>
          </a:bodyPr>
          <a:lstStyle/>
          <a:p>
            <a:r>
              <a:rPr lang="en-US" altLang="zh-CN" b="1" dirty="0">
                <a:latin typeface="+mn-ea"/>
                <a:ea typeface="+mn-ea"/>
              </a:rPr>
              <a:t>MQTT/</a:t>
            </a:r>
            <a:r>
              <a:rPr lang="en-US" altLang="zh-CN" b="1" dirty="0" err="1">
                <a:latin typeface="+mn-ea"/>
                <a:ea typeface="+mn-ea"/>
              </a:rPr>
              <a:t>CoAP</a:t>
            </a:r>
            <a:endParaRPr lang="zh-CN" altLang="en-US" b="1" dirty="0">
              <a:latin typeface="+mn-ea"/>
              <a:ea typeface="+mn-ea"/>
            </a:endParaRPr>
          </a:p>
        </p:txBody>
      </p:sp>
      <p:cxnSp>
        <p:nvCxnSpPr>
          <p:cNvPr id="30" name="直线箭头连接符 29"/>
          <p:cNvCxnSpPr>
            <a:cxnSpLocks/>
          </p:cNvCxnSpPr>
          <p:nvPr/>
        </p:nvCxnSpPr>
        <p:spPr bwMode="auto">
          <a:xfrm flipV="1">
            <a:off x="6571348" y="2960846"/>
            <a:ext cx="0" cy="2111608"/>
          </a:xfrm>
          <a:prstGeom prst="straightConnector1">
            <a:avLst/>
          </a:prstGeom>
          <a:solidFill>
            <a:schemeClr val="accent1"/>
          </a:solidFill>
          <a:ln w="57150" cap="flat" cmpd="sng" algn="ctr">
            <a:solidFill>
              <a:srgbClr val="C00000"/>
            </a:solidFill>
            <a:prstDash val="sysDash"/>
            <a:round/>
            <a:headEnd type="none" w="med" len="med"/>
            <a:tailEnd type="triangle"/>
          </a:ln>
          <a:effectLst/>
        </p:spPr>
      </p:cxnSp>
      <p:sp>
        <p:nvSpPr>
          <p:cNvPr id="31" name="文本框 30"/>
          <p:cNvSpPr txBox="1"/>
          <p:nvPr/>
        </p:nvSpPr>
        <p:spPr>
          <a:xfrm>
            <a:off x="6589728" y="4342071"/>
            <a:ext cx="1122423" cy="338554"/>
          </a:xfrm>
          <a:prstGeom prst="rect">
            <a:avLst/>
          </a:prstGeom>
          <a:noFill/>
        </p:spPr>
        <p:txBody>
          <a:bodyPr wrap="none" rtlCol="0">
            <a:spAutoFit/>
          </a:bodyPr>
          <a:lstStyle/>
          <a:p>
            <a:r>
              <a:rPr lang="en-US" altLang="zh-CN" b="1">
                <a:latin typeface="+mn-ea"/>
                <a:ea typeface="+mn-ea"/>
              </a:rPr>
              <a:t>MQTT/HTTP</a:t>
            </a:r>
            <a:endParaRPr lang="zh-CN" altLang="en-US" b="1">
              <a:latin typeface="+mn-ea"/>
              <a:ea typeface="+mn-ea"/>
            </a:endParaRPr>
          </a:p>
        </p:txBody>
      </p:sp>
      <p:sp>
        <p:nvSpPr>
          <p:cNvPr id="32" name="灯片编号占位符 4">
            <a:extLst>
              <a:ext uri="{FF2B5EF4-FFF2-40B4-BE49-F238E27FC236}">
                <a16:creationId xmlns:a16="http://schemas.microsoft.com/office/drawing/2014/main" id="{093B7D55-B366-4F84-BD98-49C618689D6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物联网云平台与传统云平台的区别</a:t>
            </a:r>
            <a:endParaRPr lang="zh-CN" altLang="en-US" dirty="0"/>
          </a:p>
        </p:txBody>
      </p:sp>
      <p:sp>
        <p:nvSpPr>
          <p:cNvPr id="3" name="内容占位符 2"/>
          <p:cNvSpPr>
            <a:spLocks noGrp="1"/>
          </p:cNvSpPr>
          <p:nvPr>
            <p:ph idx="1"/>
          </p:nvPr>
        </p:nvSpPr>
        <p:spPr/>
        <p:txBody>
          <a:bodyPr/>
          <a:lstStyle/>
          <a:p>
            <a:r>
              <a:rPr lang="zh-CN" altLang="en-US"/>
              <a:t>设备的连接</a:t>
            </a:r>
            <a:endParaRPr lang="en-US" altLang="zh-CN"/>
          </a:p>
          <a:p>
            <a:pPr lvl="1"/>
            <a:r>
              <a:rPr lang="zh-CN" altLang="en-US"/>
              <a:t>需要以轻量级的方式，支持多种异构物联网设备的连接 </a:t>
            </a:r>
            <a:endParaRPr lang="en-US" altLang="zh-CN"/>
          </a:p>
          <a:p>
            <a:r>
              <a:rPr lang="zh-CN" altLang="en-US"/>
              <a:t>设备的管理</a:t>
            </a:r>
            <a:endParaRPr lang="en-US" altLang="zh-CN"/>
          </a:p>
          <a:p>
            <a:pPr lvl="1"/>
            <a:r>
              <a:rPr lang="zh-CN" altLang="en-US"/>
              <a:t>需要管理大量且处于各种不同状态的物联网设备 </a:t>
            </a:r>
            <a:endParaRPr lang="en-US" altLang="zh-CN"/>
          </a:p>
          <a:p>
            <a:r>
              <a:rPr lang="zh-CN" altLang="en-US"/>
              <a:t>数据的存储</a:t>
            </a:r>
            <a:endParaRPr lang="en-US" altLang="zh-CN"/>
          </a:p>
          <a:p>
            <a:pPr lvl="1"/>
            <a:r>
              <a:rPr lang="zh-CN" altLang="en-US"/>
              <a:t>需要存储、管理大量时序数据</a:t>
            </a:r>
          </a:p>
          <a:p>
            <a:r>
              <a:rPr lang="zh-CN" altLang="en-US"/>
              <a:t>安全认证</a:t>
            </a:r>
            <a:endParaRPr lang="en-US" altLang="zh-CN"/>
          </a:p>
          <a:p>
            <a:pPr lvl="1"/>
            <a:r>
              <a:rPr lang="zh-CN" altLang="en-US"/>
              <a:t>物联网设备更容易被攻击，需要更好的安全认证机制</a:t>
            </a:r>
          </a:p>
          <a:p>
            <a:r>
              <a:rPr lang="zh-CN" altLang="en-US"/>
              <a:t>支持高并发的计算模式</a:t>
            </a:r>
            <a:endParaRPr lang="en-US" altLang="zh-CN"/>
          </a:p>
          <a:p>
            <a:pPr lvl="1"/>
            <a:r>
              <a:rPr lang="zh-CN" altLang="en-US"/>
              <a:t>物联网设备数量巨大，处理同时产生的海量流式数据需要高并发的计算模式。</a:t>
            </a:r>
            <a:endParaRPr lang="zh-CN" altLang="en-US" dirty="0"/>
          </a:p>
        </p:txBody>
      </p:sp>
      <p:sp>
        <p:nvSpPr>
          <p:cNvPr id="6" name="灯片编号占位符 4">
            <a:extLst>
              <a:ext uri="{FF2B5EF4-FFF2-40B4-BE49-F238E27FC236}">
                <a16:creationId xmlns:a16="http://schemas.microsoft.com/office/drawing/2014/main" id="{4B0912E9-5AD9-41DC-A691-7F5F3633B38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物联网云平台：各公司的重点发展方向</a:t>
            </a:r>
          </a:p>
        </p:txBody>
      </p:sp>
      <p:sp>
        <p:nvSpPr>
          <p:cNvPr id="3" name="内容占位符 2"/>
          <p:cNvSpPr>
            <a:spLocks noGrp="1"/>
          </p:cNvSpPr>
          <p:nvPr>
            <p:ph idx="1"/>
          </p:nvPr>
        </p:nvSpPr>
        <p:spPr/>
        <p:txBody>
          <a:bodyPr/>
          <a:lstStyle/>
          <a:p>
            <a:r>
              <a:rPr lang="zh-CN" altLang="en-US"/>
              <a:t>通信运营商</a:t>
            </a:r>
            <a:endParaRPr lang="en-US" altLang="zh-CN"/>
          </a:p>
          <a:p>
            <a:pPr lvl="1"/>
            <a:r>
              <a:rPr lang="zh-CN" altLang="en-US"/>
              <a:t>中国移动</a:t>
            </a:r>
            <a:r>
              <a:rPr lang="en-US" altLang="zh-CN"/>
              <a:t>OneLink</a:t>
            </a:r>
          </a:p>
          <a:p>
            <a:r>
              <a:rPr lang="zh-CN" altLang="en-US"/>
              <a:t>设备提供商</a:t>
            </a:r>
            <a:endParaRPr lang="en-US" altLang="zh-CN"/>
          </a:p>
          <a:p>
            <a:pPr lvl="1"/>
            <a:r>
              <a:rPr lang="zh-CN" altLang="en-US"/>
              <a:t>庆科云</a:t>
            </a:r>
            <a:endParaRPr lang="en-US" altLang="zh-CN"/>
          </a:p>
          <a:p>
            <a:pPr lvl="1"/>
            <a:r>
              <a:rPr lang="zh-CN" altLang="en-US"/>
              <a:t>海尔优家</a:t>
            </a:r>
            <a:endParaRPr lang="en-US" altLang="zh-CN"/>
          </a:p>
          <a:p>
            <a:r>
              <a:rPr lang="zh-CN" altLang="en-US"/>
              <a:t>互联网</a:t>
            </a:r>
            <a:r>
              <a:rPr lang="en-US" altLang="zh-CN"/>
              <a:t>/</a:t>
            </a:r>
            <a:r>
              <a:rPr lang="zh-CN" altLang="en-US"/>
              <a:t>云服务厂商</a:t>
            </a:r>
            <a:endParaRPr lang="en-US" altLang="zh-CN"/>
          </a:p>
          <a:p>
            <a:pPr lvl="1"/>
            <a:r>
              <a:rPr lang="en-US" altLang="zh-CN"/>
              <a:t>Amazon – AWS</a:t>
            </a:r>
            <a:r>
              <a:rPr lang="zh-CN" altLang="en-US"/>
              <a:t> </a:t>
            </a:r>
            <a:r>
              <a:rPr lang="en-US" altLang="zh-CN"/>
              <a:t>IoT</a:t>
            </a:r>
          </a:p>
          <a:p>
            <a:pPr lvl="1"/>
            <a:r>
              <a:rPr lang="zh-CN" altLang="en-US"/>
              <a:t>阿里巴巴</a:t>
            </a:r>
            <a:r>
              <a:rPr lang="en-US" altLang="zh-CN"/>
              <a:t> – </a:t>
            </a:r>
            <a:r>
              <a:rPr lang="zh-CN" altLang="en-US"/>
              <a:t>阿里云 </a:t>
            </a:r>
            <a:r>
              <a:rPr lang="en-US" altLang="zh-CN"/>
              <a:t>IoT</a:t>
            </a:r>
          </a:p>
          <a:p>
            <a:r>
              <a:rPr lang="zh-CN" altLang="en-US"/>
              <a:t>创业公司</a:t>
            </a:r>
            <a:endParaRPr lang="en-US" altLang="zh-CN"/>
          </a:p>
          <a:p>
            <a:pPr lvl="1"/>
            <a:r>
              <a:rPr lang="zh-CN" altLang="en-US"/>
              <a:t>涂鸦智能</a:t>
            </a:r>
            <a:endParaRPr lang="en-US" altLang="zh-CN"/>
          </a:p>
          <a:p>
            <a:pPr lvl="1"/>
            <a:r>
              <a:rPr lang="en-US" altLang="zh-CN"/>
              <a:t>AbleCloud</a:t>
            </a:r>
            <a:endParaRPr lang="zh-CN" altLang="en-US"/>
          </a:p>
          <a:p>
            <a:endParaRPr lang="zh-CN" altLang="en-US" dirty="0"/>
          </a:p>
        </p:txBody>
      </p:sp>
      <p:pic>
        <p:nvPicPr>
          <p:cNvPr id="4" name="Picture 2" descr="https://timgsa.baidu.com/timg?image&amp;quality=80&amp;size=b9999_10000&amp;sec=1535574703203&amp;di=e3faa834d8cfe6cbc1a8b07482f655fd&amp;imgtype=0&amp;src=http%3A%2F%2F5b0988e595225.cdn.sohucs.com%2Fimages%2F20180118%2Ff43b63beabb940f5be57afaa5652bebf.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7361" y="934990"/>
            <a:ext cx="2240703" cy="15919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https://timgsa.baidu.com/timg?image&amp;quality=80&amp;size=b9999_10000&amp;sec=1535574739795&amp;di=fc60cc0cb5966d17e58eaf679cf367f9&amp;imgtype=0&amp;src=http%3A%2F%2Farticle.fd.zol-img.com.cn%2Ft_s501x2000%2Fg5%2FM00%2F06%2F04%2FChMkJ1kVfwCIOVr7AABbQZEmM_IAAcU2QCo5bwAAFtZ76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8177" y="2526341"/>
            <a:ext cx="2721274" cy="11406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https://timgsa.baidu.com/timg?image&amp;quality=80&amp;size=b9999_10000&amp;sec=1535574784356&amp;di=3e3b8c1c0554c3d0f68441827e9828d4&amp;imgtype=0&amp;src=http%3A%2F%2F5b0988e595225.cdn.sohucs.com%2Fimages%2F20180105%2F5288d413d7194feeb340f0e2b4cd49e6.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9798" y="2748695"/>
            <a:ext cx="2085296" cy="20852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s://timgsa.baidu.com/timg?image&amp;quality=80&amp;size=b9999_10000&amp;sec=1535574719820&amp;di=a8442adf410e96156af1844527df1179&amp;imgtype=0&amp;src=http%3A%2F%2Fimage20.it168.com%2F201702_670x502%2F2798%2F520782e14d5ca88a.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21896" y="1583431"/>
            <a:ext cx="2309886" cy="1320427"/>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9798" y="4604516"/>
            <a:ext cx="1752988" cy="493028"/>
          </a:xfrm>
          <a:prstGeom prst="rect">
            <a:avLst/>
          </a:prstGeom>
        </p:spPr>
      </p:pic>
      <p:pic>
        <p:nvPicPr>
          <p:cNvPr id="10" name="Picture 2" descr="https://timgsa.baidu.com/timg?image&amp;quality=80&amp;size=b9999_10000&amp;sec=1535701106700&amp;di=6b9b71635a6f970136abb934be59178a&amp;imgtype=0&amp;src=http%3A%2F%2Fimg.mp.itc.cn%2Fupload%2F20160422%2Ff56962aab1a1427ab450188ecb79aeb9_th.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80758" y="3932104"/>
            <a:ext cx="2498693" cy="6517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s://timgsa.baidu.com/timg?image&amp;quality=80&amp;size=b9999_10000&amp;sec=1535701137068&amp;di=e7a32a1d47202726718dd306f142bf80&amp;imgtype=0&amp;src=http%3A%2F%2Fimg3.cyzone.cn%2Fuploadfile%2F2016%2F1226%2F20161226023753403.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04724" y="5274569"/>
            <a:ext cx="2505876" cy="88550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查看源图像">
            <a:extLst>
              <a:ext uri="{FF2B5EF4-FFF2-40B4-BE49-F238E27FC236}">
                <a16:creationId xmlns:a16="http://schemas.microsoft.com/office/drawing/2014/main" id="{26B6BF47-87EE-458B-BCDE-CDE89CE637E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96736" y="4700737"/>
            <a:ext cx="2381250" cy="1257300"/>
          </a:xfrm>
          <a:prstGeom prst="rect">
            <a:avLst/>
          </a:prstGeom>
          <a:noFill/>
          <a:extLst>
            <a:ext uri="{909E8E84-426E-40DD-AFC4-6F175D3DCCD1}">
              <a14:hiddenFill xmlns:a14="http://schemas.microsoft.com/office/drawing/2010/main">
                <a:solidFill>
                  <a:srgbClr val="FFFFFF"/>
                </a:solidFill>
              </a14:hiddenFill>
            </a:ext>
          </a:extLst>
        </p:spPr>
      </p:pic>
      <p:sp>
        <p:nvSpPr>
          <p:cNvPr id="12" name="灯片编号占位符 4">
            <a:extLst>
              <a:ext uri="{FF2B5EF4-FFF2-40B4-BE49-F238E27FC236}">
                <a16:creationId xmlns:a16="http://schemas.microsoft.com/office/drawing/2014/main" id="{BB0CC763-B3AA-49D4-ADC0-82FC41DB17D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物联网云平台分类</a:t>
            </a:r>
          </a:p>
        </p:txBody>
      </p:sp>
      <p:sp>
        <p:nvSpPr>
          <p:cNvPr id="3" name="内容占位符 2"/>
          <p:cNvSpPr>
            <a:spLocks noGrp="1"/>
          </p:cNvSpPr>
          <p:nvPr>
            <p:ph idx="1"/>
          </p:nvPr>
        </p:nvSpPr>
        <p:spPr/>
        <p:txBody>
          <a:bodyPr/>
          <a:lstStyle/>
          <a:p>
            <a:r>
              <a:rPr lang="zh-CN" altLang="en-US" dirty="0"/>
              <a:t>根据服务的逻辑关系，现有的物联网云平台可分为以下</a:t>
            </a:r>
            <a:r>
              <a:rPr lang="en-US" altLang="zh-CN" dirty="0"/>
              <a:t>4</a:t>
            </a:r>
            <a:r>
              <a:rPr lang="zh-CN" altLang="en-US" dirty="0"/>
              <a:t>类</a:t>
            </a:r>
            <a:endParaRPr lang="en-US" altLang="zh-CN" dirty="0"/>
          </a:p>
          <a:p>
            <a:pPr lvl="1"/>
            <a:r>
              <a:rPr lang="zh-CN" altLang="en-US" b="1" dirty="0">
                <a:solidFill>
                  <a:srgbClr val="C00000"/>
                </a:solidFill>
              </a:rPr>
              <a:t>连接管理平台</a:t>
            </a:r>
            <a:r>
              <a:rPr lang="en-US" altLang="zh-CN" b="1" dirty="0">
                <a:solidFill>
                  <a:srgbClr val="C00000"/>
                </a:solidFill>
              </a:rPr>
              <a:t>CMP(Connectivity</a:t>
            </a:r>
            <a:r>
              <a:rPr lang="zh-CN" altLang="en-US" b="1" dirty="0">
                <a:solidFill>
                  <a:srgbClr val="C00000"/>
                </a:solidFill>
              </a:rPr>
              <a:t> </a:t>
            </a:r>
            <a:r>
              <a:rPr lang="en-US" altLang="zh-CN" b="1" dirty="0">
                <a:solidFill>
                  <a:srgbClr val="C00000"/>
                </a:solidFill>
              </a:rPr>
              <a:t>Management</a:t>
            </a:r>
            <a:r>
              <a:rPr lang="zh-CN" altLang="en-US" b="1" dirty="0">
                <a:solidFill>
                  <a:srgbClr val="C00000"/>
                </a:solidFill>
              </a:rPr>
              <a:t> </a:t>
            </a:r>
            <a:r>
              <a:rPr lang="en-US" altLang="zh-CN" b="1" dirty="0">
                <a:solidFill>
                  <a:srgbClr val="C00000"/>
                </a:solidFill>
              </a:rPr>
              <a:t>Platform)</a:t>
            </a:r>
          </a:p>
          <a:p>
            <a:pPr lvl="1"/>
            <a:r>
              <a:rPr lang="zh-CN" altLang="en-US" b="1" dirty="0">
                <a:solidFill>
                  <a:srgbClr val="C00000"/>
                </a:solidFill>
              </a:rPr>
              <a:t>设备管理平台</a:t>
            </a:r>
            <a:r>
              <a:rPr lang="en-US" altLang="zh-CN" b="1" dirty="0">
                <a:solidFill>
                  <a:srgbClr val="C00000"/>
                </a:solidFill>
              </a:rPr>
              <a:t>DMP(Device</a:t>
            </a:r>
            <a:r>
              <a:rPr lang="zh-CN" altLang="en-US" b="1" dirty="0">
                <a:solidFill>
                  <a:srgbClr val="C00000"/>
                </a:solidFill>
              </a:rPr>
              <a:t> </a:t>
            </a:r>
            <a:r>
              <a:rPr lang="en-US" altLang="zh-CN" b="1" dirty="0">
                <a:solidFill>
                  <a:srgbClr val="C00000"/>
                </a:solidFill>
              </a:rPr>
              <a:t>Management</a:t>
            </a:r>
            <a:r>
              <a:rPr lang="zh-CN" altLang="en-US" b="1" dirty="0">
                <a:solidFill>
                  <a:srgbClr val="C00000"/>
                </a:solidFill>
              </a:rPr>
              <a:t> </a:t>
            </a:r>
            <a:r>
              <a:rPr lang="en-US" altLang="zh-CN" b="1" dirty="0">
                <a:solidFill>
                  <a:srgbClr val="C00000"/>
                </a:solidFill>
              </a:rPr>
              <a:t>Platform)</a:t>
            </a:r>
          </a:p>
          <a:p>
            <a:pPr lvl="1"/>
            <a:r>
              <a:rPr lang="zh-CN" altLang="en-US" b="1" dirty="0">
                <a:solidFill>
                  <a:srgbClr val="C00000"/>
                </a:solidFill>
              </a:rPr>
              <a:t>应用使能平台</a:t>
            </a:r>
            <a:r>
              <a:rPr lang="en-US" altLang="zh-CN" b="1" dirty="0">
                <a:solidFill>
                  <a:srgbClr val="C00000"/>
                </a:solidFill>
              </a:rPr>
              <a:t>AEP(Application</a:t>
            </a:r>
            <a:r>
              <a:rPr lang="zh-CN" altLang="en-US" b="1" dirty="0">
                <a:solidFill>
                  <a:srgbClr val="C00000"/>
                </a:solidFill>
              </a:rPr>
              <a:t> </a:t>
            </a:r>
            <a:r>
              <a:rPr lang="en-US" altLang="zh-CN" b="1" dirty="0">
                <a:solidFill>
                  <a:srgbClr val="C00000"/>
                </a:solidFill>
              </a:rPr>
              <a:t>Enablement</a:t>
            </a:r>
            <a:r>
              <a:rPr lang="zh-CN" altLang="en-US" b="1" dirty="0">
                <a:solidFill>
                  <a:srgbClr val="C00000"/>
                </a:solidFill>
              </a:rPr>
              <a:t> </a:t>
            </a:r>
            <a:r>
              <a:rPr lang="en-US" altLang="zh-CN" b="1" dirty="0">
                <a:solidFill>
                  <a:srgbClr val="C00000"/>
                </a:solidFill>
              </a:rPr>
              <a:t>Platform)</a:t>
            </a:r>
          </a:p>
          <a:p>
            <a:pPr lvl="1"/>
            <a:r>
              <a:rPr lang="zh-CN" altLang="en-US" b="1" dirty="0">
                <a:solidFill>
                  <a:srgbClr val="C00000"/>
                </a:solidFill>
              </a:rPr>
              <a:t>业务分析平台</a:t>
            </a:r>
            <a:r>
              <a:rPr lang="en-US" altLang="zh-CN" b="1" dirty="0">
                <a:solidFill>
                  <a:srgbClr val="C00000"/>
                </a:solidFill>
              </a:rPr>
              <a:t>BAP(Business</a:t>
            </a:r>
            <a:r>
              <a:rPr lang="zh-CN" altLang="en-US" b="1" dirty="0">
                <a:solidFill>
                  <a:srgbClr val="C00000"/>
                </a:solidFill>
              </a:rPr>
              <a:t> </a:t>
            </a:r>
            <a:r>
              <a:rPr lang="en-US" altLang="zh-CN" b="1" dirty="0">
                <a:solidFill>
                  <a:srgbClr val="C00000"/>
                </a:solidFill>
              </a:rPr>
              <a:t>Analytics</a:t>
            </a:r>
            <a:r>
              <a:rPr lang="zh-CN" altLang="en-US" b="1" dirty="0">
                <a:solidFill>
                  <a:srgbClr val="C00000"/>
                </a:solidFill>
              </a:rPr>
              <a:t> </a:t>
            </a:r>
            <a:r>
              <a:rPr lang="en-US" altLang="zh-CN" b="1" dirty="0">
                <a:solidFill>
                  <a:srgbClr val="C00000"/>
                </a:solidFill>
              </a:rPr>
              <a:t>Platform)</a:t>
            </a:r>
          </a:p>
          <a:p>
            <a:endParaRPr lang="en-US" altLang="zh-CN" dirty="0"/>
          </a:p>
          <a:p>
            <a:r>
              <a:rPr lang="zh-CN" altLang="en-US" dirty="0"/>
              <a:t>以上四类并非相互排斥，一个物联网云平台可能会提供多类服务</a:t>
            </a:r>
            <a:endParaRPr lang="en-US" altLang="zh-CN" dirty="0"/>
          </a:p>
          <a:p>
            <a:endParaRPr lang="zh-CN" altLang="en-US" dirty="0"/>
          </a:p>
          <a:p>
            <a:endParaRPr lang="zh-CN" altLang="en-US" dirty="0"/>
          </a:p>
        </p:txBody>
      </p:sp>
      <p:sp>
        <p:nvSpPr>
          <p:cNvPr id="10" name="灯片编号占位符 4">
            <a:extLst>
              <a:ext uri="{FF2B5EF4-FFF2-40B4-BE49-F238E27FC236}">
                <a16:creationId xmlns:a16="http://schemas.microsoft.com/office/drawing/2014/main" id="{9A3FAA3D-3E9C-4001-BECD-778EA08BE3A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连接管理平台</a:t>
            </a:r>
            <a:r>
              <a:rPr lang="en-US" altLang="zh-CN"/>
              <a:t>CMP</a:t>
            </a:r>
            <a:endParaRPr lang="zh-CN" altLang="en-US"/>
          </a:p>
        </p:txBody>
      </p:sp>
      <p:sp>
        <p:nvSpPr>
          <p:cNvPr id="3" name="内容占位符 2"/>
          <p:cNvSpPr>
            <a:spLocks noGrp="1"/>
          </p:cNvSpPr>
          <p:nvPr>
            <p:ph idx="1"/>
          </p:nvPr>
        </p:nvSpPr>
        <p:spPr/>
        <p:txBody>
          <a:bodyPr/>
          <a:lstStyle/>
          <a:p>
            <a:r>
              <a:rPr lang="zh-CN" altLang="en-US" dirty="0"/>
              <a:t>主要功能</a:t>
            </a:r>
            <a:endParaRPr lang="en-US" altLang="zh-CN" dirty="0"/>
          </a:p>
          <a:p>
            <a:pPr lvl="1"/>
            <a:r>
              <a:rPr lang="zh-CN" altLang="en-US" dirty="0"/>
              <a:t>网络资源管理、</a:t>
            </a:r>
            <a:r>
              <a:rPr lang="en-GB" altLang="zh-CN" dirty="0"/>
              <a:t>SIM</a:t>
            </a:r>
            <a:r>
              <a:rPr lang="zh-CN" altLang="en-US" dirty="0"/>
              <a:t>卡管控、连接资费管理、套餐管理、网络用量管理、账单管理、故障管理等</a:t>
            </a:r>
            <a:endParaRPr lang="en-US" altLang="zh-CN" dirty="0"/>
          </a:p>
          <a:p>
            <a:r>
              <a:rPr lang="zh-CN" altLang="en-US" dirty="0"/>
              <a:t>代表性平台</a:t>
            </a:r>
            <a:endParaRPr lang="en-US" altLang="zh-CN" dirty="0"/>
          </a:p>
          <a:p>
            <a:pPr lvl="1"/>
            <a:r>
              <a:rPr lang="zh-CN" altLang="en-US" dirty="0"/>
              <a:t>国外：爱立信</a:t>
            </a:r>
            <a:r>
              <a:rPr lang="en-US" altLang="zh-CN" dirty="0"/>
              <a:t>-</a:t>
            </a:r>
            <a:r>
              <a:rPr lang="en-GB" altLang="zh-CN" dirty="0"/>
              <a:t>DCP</a:t>
            </a:r>
            <a:r>
              <a:rPr lang="zh-CN" altLang="en-GB" dirty="0"/>
              <a:t>、</a:t>
            </a:r>
            <a:r>
              <a:rPr lang="zh-CN" altLang="en-US" dirty="0"/>
              <a:t>沃达丰</a:t>
            </a:r>
            <a:r>
              <a:rPr lang="en-US" altLang="zh-CN" dirty="0"/>
              <a:t>-</a:t>
            </a:r>
            <a:r>
              <a:rPr lang="en-GB" altLang="zh-CN" dirty="0"/>
              <a:t>GDSP</a:t>
            </a:r>
            <a:endParaRPr lang="en-US" altLang="zh-CN" dirty="0"/>
          </a:p>
          <a:p>
            <a:pPr lvl="1"/>
            <a:r>
              <a:rPr lang="zh-CN" altLang="en-US" dirty="0"/>
              <a:t>国内：中国移动</a:t>
            </a:r>
            <a:r>
              <a:rPr lang="en-US" altLang="zh-CN" dirty="0" err="1"/>
              <a:t>OneLink</a:t>
            </a:r>
            <a:endParaRPr lang="en-US" altLang="zh-CN" dirty="0"/>
          </a:p>
          <a:p>
            <a:r>
              <a:rPr lang="zh-CN" altLang="en-US" dirty="0"/>
              <a:t>案例：中国移动</a:t>
            </a:r>
            <a:r>
              <a:rPr lang="en-US" altLang="zh-CN" dirty="0" err="1"/>
              <a:t>OneLink</a:t>
            </a:r>
            <a:endParaRPr lang="en-US" altLang="zh-CN" dirty="0"/>
          </a:p>
          <a:p>
            <a:pPr lvl="1"/>
            <a:r>
              <a:rPr lang="zh-CN" altLang="en-US" dirty="0"/>
              <a:t>如我们刚才提到的共享单车，每个单车是如何接入网络的呢？</a:t>
            </a:r>
            <a:endParaRPr lang="en-US" altLang="zh-CN" dirty="0"/>
          </a:p>
          <a:p>
            <a:pPr lvl="1"/>
            <a:r>
              <a:rPr lang="zh-CN" altLang="en-US" dirty="0"/>
              <a:t>目前一般都使用移动提供的物联网卡，而移动的</a:t>
            </a:r>
            <a:r>
              <a:rPr lang="en-US" altLang="zh-CN" dirty="0" err="1"/>
              <a:t>OneLink</a:t>
            </a:r>
            <a:r>
              <a:rPr lang="zh-CN" altLang="en-US" dirty="0"/>
              <a:t>平台也可以向单车管理公司提供获取卡状态信息</a:t>
            </a:r>
            <a:r>
              <a:rPr lang="en-US" altLang="zh-CN" dirty="0"/>
              <a:t>(</a:t>
            </a:r>
            <a:r>
              <a:rPr lang="zh-CN" altLang="en-US" dirty="0"/>
              <a:t>单车是否在线</a:t>
            </a:r>
            <a:r>
              <a:rPr lang="en-US" altLang="zh-CN" dirty="0"/>
              <a:t>)</a:t>
            </a:r>
            <a:r>
              <a:rPr lang="zh-CN" altLang="en-US" dirty="0"/>
              <a:t> 、基于网络的定位服务</a:t>
            </a:r>
            <a:r>
              <a:rPr lang="en-US" altLang="zh-CN" dirty="0"/>
              <a:t>(</a:t>
            </a:r>
            <a:r>
              <a:rPr lang="zh-CN" altLang="en-US" dirty="0"/>
              <a:t>用来追踪车辆</a:t>
            </a:r>
            <a:r>
              <a:rPr lang="en-US" altLang="zh-CN" dirty="0"/>
              <a:t>)</a:t>
            </a:r>
            <a:r>
              <a:rPr lang="zh-CN" altLang="en-US" dirty="0"/>
              <a:t>和流量使用情况</a:t>
            </a:r>
            <a:r>
              <a:rPr lang="en-US" altLang="zh-CN" dirty="0"/>
              <a:t>(</a:t>
            </a:r>
            <a:r>
              <a:rPr lang="zh-CN" altLang="en-US" dirty="0"/>
              <a:t>用来计算共享单车的网络成本</a:t>
            </a:r>
            <a:r>
              <a:rPr lang="en-US" altLang="zh-CN" dirty="0"/>
              <a:t>) </a:t>
            </a:r>
            <a:r>
              <a:rPr lang="zh-CN" altLang="en-US" dirty="0"/>
              <a:t>等接口</a:t>
            </a:r>
            <a:endParaRPr lang="en-US" altLang="zh-CN" dirty="0"/>
          </a:p>
        </p:txBody>
      </p:sp>
      <p:sp>
        <p:nvSpPr>
          <p:cNvPr id="8" name="灯片编号占位符 4">
            <a:extLst>
              <a:ext uri="{FF2B5EF4-FFF2-40B4-BE49-F238E27FC236}">
                <a16:creationId xmlns:a16="http://schemas.microsoft.com/office/drawing/2014/main" id="{629A4725-FBBD-4F43-81E7-2150861C911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设备管理平台</a:t>
            </a:r>
            <a:r>
              <a:rPr lang="en-US" altLang="zh-CN"/>
              <a:t>DMP</a:t>
            </a:r>
            <a:endParaRPr lang="zh-CN" altLang="en-US"/>
          </a:p>
        </p:txBody>
      </p:sp>
      <p:sp>
        <p:nvSpPr>
          <p:cNvPr id="3" name="内容占位符 2"/>
          <p:cNvSpPr>
            <a:spLocks noGrp="1"/>
          </p:cNvSpPr>
          <p:nvPr>
            <p:ph idx="1"/>
          </p:nvPr>
        </p:nvSpPr>
        <p:spPr/>
        <p:txBody>
          <a:bodyPr/>
          <a:lstStyle/>
          <a:p>
            <a:r>
              <a:rPr lang="zh-CN" altLang="en-US" dirty="0"/>
              <a:t>主要功能</a:t>
            </a:r>
            <a:endParaRPr lang="en-US" altLang="zh-CN" dirty="0"/>
          </a:p>
          <a:p>
            <a:pPr lvl="1"/>
            <a:r>
              <a:rPr lang="zh-CN" altLang="en-US" dirty="0"/>
              <a:t>物联网设备管理（如配置、重启、关闭、恢复出厂设置、固件版本升级</a:t>
            </a:r>
            <a:r>
              <a:rPr lang="en-US" altLang="zh-CN" dirty="0"/>
              <a:t>/</a:t>
            </a:r>
            <a:r>
              <a:rPr lang="zh-CN" altLang="en-US" dirty="0"/>
              <a:t>回退等），设备现场产生的数据的查询、基于现场数据的报警功能和设备生命周期管理等</a:t>
            </a:r>
            <a:endParaRPr lang="en-US" altLang="zh-CN" dirty="0"/>
          </a:p>
          <a:p>
            <a:r>
              <a:rPr lang="zh-CN" altLang="en-US" dirty="0"/>
              <a:t>代表性平台</a:t>
            </a:r>
            <a:endParaRPr lang="en-GB" altLang="zh-CN" dirty="0"/>
          </a:p>
          <a:p>
            <a:pPr lvl="1"/>
            <a:r>
              <a:rPr lang="en-GB" altLang="zh-CN" dirty="0"/>
              <a:t>IBM</a:t>
            </a:r>
            <a:r>
              <a:rPr lang="zh-CN" altLang="en-US" dirty="0"/>
              <a:t> </a:t>
            </a:r>
            <a:r>
              <a:rPr lang="en-US" altLang="zh-CN" dirty="0"/>
              <a:t>–</a:t>
            </a:r>
            <a:r>
              <a:rPr lang="zh-CN" altLang="en-US" dirty="0"/>
              <a:t> </a:t>
            </a:r>
            <a:r>
              <a:rPr lang="en-GB" altLang="zh-CN" dirty="0"/>
              <a:t>Watson</a:t>
            </a:r>
            <a:r>
              <a:rPr lang="zh-CN" altLang="en-US" dirty="0"/>
              <a:t>、</a:t>
            </a:r>
            <a:r>
              <a:rPr lang="en-GB" altLang="zh-CN" dirty="0"/>
              <a:t>GE</a:t>
            </a:r>
            <a:r>
              <a:rPr lang="zh-CN" altLang="en-US" dirty="0"/>
              <a:t> </a:t>
            </a:r>
            <a:r>
              <a:rPr lang="en-US" altLang="zh-CN" dirty="0"/>
              <a:t>–</a:t>
            </a:r>
            <a:r>
              <a:rPr lang="zh-CN" altLang="en-US" dirty="0"/>
              <a:t> </a:t>
            </a:r>
            <a:r>
              <a:rPr lang="en-GB" altLang="zh-CN" dirty="0"/>
              <a:t>Predix</a:t>
            </a:r>
            <a:r>
              <a:rPr lang="zh-CN" altLang="en-US" dirty="0"/>
              <a:t>、三一重工</a:t>
            </a:r>
            <a:r>
              <a:rPr lang="en-US" altLang="zh-CN" dirty="0"/>
              <a:t>-</a:t>
            </a:r>
            <a:r>
              <a:rPr lang="zh-CN" altLang="en-US" dirty="0"/>
              <a:t>根云、海尔</a:t>
            </a:r>
            <a:r>
              <a:rPr lang="en-US" altLang="zh-CN" dirty="0"/>
              <a:t>-U+</a:t>
            </a:r>
            <a:r>
              <a:rPr lang="zh-CN" altLang="en-GB" dirty="0"/>
              <a:t> </a:t>
            </a:r>
            <a:r>
              <a:rPr lang="zh-CN" altLang="en-US" dirty="0"/>
              <a:t>等</a:t>
            </a:r>
            <a:endParaRPr lang="en-US" altLang="zh-CN" dirty="0"/>
          </a:p>
          <a:p>
            <a:r>
              <a:rPr lang="zh-CN" altLang="en-US" dirty="0"/>
              <a:t>案例：海尔家居设备使用海尔</a:t>
            </a:r>
            <a:r>
              <a:rPr lang="en-US" altLang="zh-CN" dirty="0"/>
              <a:t>U+</a:t>
            </a:r>
            <a:r>
              <a:rPr lang="zh-CN" altLang="en-US" dirty="0"/>
              <a:t>入网并实现智能化</a:t>
            </a:r>
          </a:p>
          <a:p>
            <a:pPr lvl="1"/>
            <a:r>
              <a:rPr lang="zh-CN" altLang="en-US" dirty="0"/>
              <a:t>智能洗衣机：根据放入衣物的材质、颜色提示水温和设定洗涤模式</a:t>
            </a:r>
            <a:endParaRPr lang="en-US" altLang="zh-CN" dirty="0"/>
          </a:p>
          <a:p>
            <a:pPr lvl="1"/>
            <a:r>
              <a:rPr lang="zh-CN" altLang="en-US" dirty="0"/>
              <a:t>智能空气管家：根据室内外温度与空气质量选择温度与净化模式</a:t>
            </a:r>
            <a:endParaRPr lang="en-US" altLang="zh-CN" dirty="0"/>
          </a:p>
          <a:p>
            <a:pPr lvl="1"/>
            <a:r>
              <a:rPr lang="zh-CN" altLang="en-US" dirty="0"/>
              <a:t>智能热水器：可通过云平台智能调整峰谷用电，在闲时加热水并存储</a:t>
            </a:r>
            <a:endParaRPr lang="en-US" altLang="zh-CN" dirty="0"/>
          </a:p>
        </p:txBody>
      </p:sp>
      <p:pic>
        <p:nvPicPr>
          <p:cNvPr id="4" name="图片 4"/>
          <p:cNvPicPr>
            <a:picLocks noChangeAspect="1"/>
          </p:cNvPicPr>
          <p:nvPr/>
        </p:nvPicPr>
        <p:blipFill>
          <a:blip r:embed="rId3"/>
          <a:stretch>
            <a:fillRect/>
          </a:stretch>
        </p:blipFill>
        <p:spPr>
          <a:xfrm>
            <a:off x="1742463" y="5444596"/>
            <a:ext cx="945086" cy="1210235"/>
          </a:xfrm>
          <a:prstGeom prst="rect">
            <a:avLst/>
          </a:prstGeom>
        </p:spPr>
      </p:pic>
      <p:pic>
        <p:nvPicPr>
          <p:cNvPr id="6" name="图片 7"/>
          <p:cNvPicPr>
            <a:picLocks noChangeAspect="1"/>
          </p:cNvPicPr>
          <p:nvPr/>
        </p:nvPicPr>
        <p:blipFill>
          <a:blip r:embed="rId4"/>
          <a:stretch>
            <a:fillRect/>
          </a:stretch>
        </p:blipFill>
        <p:spPr>
          <a:xfrm>
            <a:off x="4271204" y="5424707"/>
            <a:ext cx="677791" cy="1199362"/>
          </a:xfrm>
          <a:prstGeom prst="rect">
            <a:avLst/>
          </a:prstGeom>
        </p:spPr>
      </p:pic>
      <p:pic>
        <p:nvPicPr>
          <p:cNvPr id="7" name="图片 8"/>
          <p:cNvPicPr>
            <a:picLocks noChangeAspect="1"/>
          </p:cNvPicPr>
          <p:nvPr/>
        </p:nvPicPr>
        <p:blipFill>
          <a:blip r:embed="rId5"/>
          <a:stretch>
            <a:fillRect/>
          </a:stretch>
        </p:blipFill>
        <p:spPr>
          <a:xfrm>
            <a:off x="6532650" y="5584136"/>
            <a:ext cx="1366599" cy="854764"/>
          </a:xfrm>
          <a:prstGeom prst="rect">
            <a:avLst/>
          </a:prstGeom>
        </p:spPr>
      </p:pic>
      <p:sp>
        <p:nvSpPr>
          <p:cNvPr id="13" name="灯片编号占位符 4">
            <a:extLst>
              <a:ext uri="{FF2B5EF4-FFF2-40B4-BE49-F238E27FC236}">
                <a16:creationId xmlns:a16="http://schemas.microsoft.com/office/drawing/2014/main" id="{95E13E6B-1068-47E3-B65F-AF54927B166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10</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应用使能平台</a:t>
            </a:r>
            <a:r>
              <a:rPr lang="en-US" altLang="zh-CN"/>
              <a:t>AEP</a:t>
            </a:r>
            <a:endParaRPr lang="zh-CN" altLang="en-US"/>
          </a:p>
        </p:txBody>
      </p:sp>
      <p:sp>
        <p:nvSpPr>
          <p:cNvPr id="3" name="内容占位符 2"/>
          <p:cNvSpPr>
            <a:spLocks noGrp="1"/>
          </p:cNvSpPr>
          <p:nvPr>
            <p:ph idx="1"/>
          </p:nvPr>
        </p:nvSpPr>
        <p:spPr/>
        <p:txBody>
          <a:bodyPr/>
          <a:lstStyle/>
          <a:p>
            <a:r>
              <a:rPr lang="zh-CN" altLang="en-GB" dirty="0"/>
              <a:t>功能</a:t>
            </a:r>
            <a:endParaRPr lang="en-US" altLang="zh-CN" dirty="0"/>
          </a:p>
          <a:p>
            <a:pPr lvl="1"/>
            <a:r>
              <a:rPr lang="zh-CN" altLang="en-US" dirty="0"/>
              <a:t>为应用开发者提供了成套开发工具、中间件、业务逻辑引擎、</a:t>
            </a:r>
            <a:r>
              <a:rPr lang="en-GB" altLang="zh-CN" dirty="0"/>
              <a:t>API</a:t>
            </a:r>
            <a:r>
              <a:rPr lang="zh-CN" altLang="en-US" dirty="0"/>
              <a:t>接口、应用服务器等工具，以节省开发时间。</a:t>
            </a:r>
            <a:endParaRPr lang="en-US" altLang="zh-CN" dirty="0"/>
          </a:p>
          <a:p>
            <a:endParaRPr lang="en-US" altLang="zh-CN" dirty="0"/>
          </a:p>
          <a:p>
            <a:r>
              <a:rPr lang="zh-CN" altLang="en-US" dirty="0"/>
              <a:t>代表性平台</a:t>
            </a:r>
            <a:endParaRPr lang="en-US" altLang="zh-CN" dirty="0"/>
          </a:p>
          <a:p>
            <a:pPr lvl="1"/>
            <a:r>
              <a:rPr lang="zh-CN" altLang="en-US" dirty="0"/>
              <a:t>阿里云</a:t>
            </a:r>
            <a:r>
              <a:rPr lang="en-US" altLang="zh-CN" dirty="0"/>
              <a:t>IoT</a:t>
            </a:r>
            <a:r>
              <a:rPr lang="zh-CN" altLang="en-US" dirty="0"/>
              <a:t>，</a:t>
            </a:r>
            <a:r>
              <a:rPr lang="en-GB" altLang="zh-CN" dirty="0"/>
              <a:t>AW</a:t>
            </a:r>
            <a:r>
              <a:rPr lang="en-US" altLang="zh-CN" dirty="0"/>
              <a:t>S</a:t>
            </a:r>
            <a:r>
              <a:rPr lang="zh-CN" altLang="en-US" dirty="0"/>
              <a:t> </a:t>
            </a:r>
            <a:r>
              <a:rPr lang="en-US" altLang="zh-CN" dirty="0"/>
              <a:t>–</a:t>
            </a:r>
            <a:r>
              <a:rPr lang="zh-CN" altLang="en-US" dirty="0"/>
              <a:t> </a:t>
            </a:r>
            <a:r>
              <a:rPr lang="en-GB" altLang="zh-CN" dirty="0"/>
              <a:t>IoT</a:t>
            </a:r>
            <a:r>
              <a:rPr lang="zh-CN" altLang="en-US" dirty="0"/>
              <a:t>，涂鸦智能等</a:t>
            </a:r>
            <a:endParaRPr lang="en-US" altLang="zh-CN" dirty="0"/>
          </a:p>
          <a:p>
            <a:endParaRPr lang="en-US" altLang="zh-CN" dirty="0"/>
          </a:p>
          <a:p>
            <a:r>
              <a:rPr lang="zh-CN" altLang="en-US" dirty="0"/>
              <a:t>案例：阿里云</a:t>
            </a:r>
            <a:r>
              <a:rPr lang="en-US" altLang="zh-CN" dirty="0"/>
              <a:t>IoT</a:t>
            </a:r>
            <a:r>
              <a:rPr lang="zh-CN" altLang="en-US" dirty="0"/>
              <a:t>的</a:t>
            </a:r>
            <a:r>
              <a:rPr lang="en-US" altLang="zh-CN" dirty="0"/>
              <a:t>Link</a:t>
            </a:r>
            <a:r>
              <a:rPr lang="zh-CN" altLang="en-US" dirty="0"/>
              <a:t> </a:t>
            </a:r>
            <a:r>
              <a:rPr lang="en-US" altLang="zh-CN" dirty="0"/>
              <a:t>Develop</a:t>
            </a:r>
            <a:r>
              <a:rPr lang="zh-CN" altLang="en-US" dirty="0"/>
              <a:t>简化物联网开发</a:t>
            </a:r>
            <a:endParaRPr lang="en-US" altLang="zh-CN" dirty="0"/>
          </a:p>
          <a:p>
            <a:pPr lvl="1"/>
            <a:r>
              <a:rPr lang="zh-CN" altLang="en-US" dirty="0"/>
              <a:t>设备端、服务、移动端一站式开发</a:t>
            </a:r>
            <a:endParaRPr lang="en-US" altLang="zh-CN" dirty="0"/>
          </a:p>
          <a:p>
            <a:pPr lvl="1"/>
            <a:r>
              <a:rPr lang="zh-CN" altLang="en-US" dirty="0"/>
              <a:t>可视化搭建</a:t>
            </a:r>
            <a:r>
              <a:rPr lang="en-US" altLang="zh-CN" dirty="0"/>
              <a:t>Web</a:t>
            </a:r>
            <a:r>
              <a:rPr lang="zh-CN" altLang="en-US" dirty="0"/>
              <a:t>和移动前端</a:t>
            </a:r>
            <a:endParaRPr lang="en-US" altLang="zh-CN" dirty="0"/>
          </a:p>
          <a:p>
            <a:pPr lvl="1"/>
            <a:r>
              <a:rPr lang="zh-CN" altLang="en-US" dirty="0"/>
              <a:t>可视化流式服务编排，方便用户实现云端逻辑</a:t>
            </a:r>
          </a:p>
          <a:p>
            <a:endParaRPr lang="zh-CN" altLang="en-US" dirty="0"/>
          </a:p>
        </p:txBody>
      </p:sp>
      <p:sp>
        <p:nvSpPr>
          <p:cNvPr id="8" name="灯片编号占位符 4">
            <a:extLst>
              <a:ext uri="{FF2B5EF4-FFF2-40B4-BE49-F238E27FC236}">
                <a16:creationId xmlns:a16="http://schemas.microsoft.com/office/drawing/2014/main" id="{84A3DFEB-6A1F-489F-B541-7F0ECC3D999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11</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业务分析平台</a:t>
            </a:r>
            <a:r>
              <a:rPr lang="en-US" altLang="zh-CN"/>
              <a:t>BAP</a:t>
            </a:r>
            <a:endParaRPr lang="zh-CN" altLang="en-US"/>
          </a:p>
        </p:txBody>
      </p:sp>
      <p:sp>
        <p:nvSpPr>
          <p:cNvPr id="3" name="内容占位符 2"/>
          <p:cNvSpPr>
            <a:spLocks noGrp="1"/>
          </p:cNvSpPr>
          <p:nvPr>
            <p:ph idx="1"/>
          </p:nvPr>
        </p:nvSpPr>
        <p:spPr/>
        <p:txBody>
          <a:bodyPr/>
          <a:lstStyle/>
          <a:p>
            <a:r>
              <a:rPr lang="zh-CN" altLang="en-US" dirty="0"/>
              <a:t>功能</a:t>
            </a:r>
            <a:endParaRPr lang="en-US" altLang="zh-CN" dirty="0"/>
          </a:p>
          <a:p>
            <a:pPr lvl="1"/>
            <a:r>
              <a:rPr lang="zh-CN" altLang="en-US" dirty="0"/>
              <a:t>将沉淀在平台上结构化和非结构化数据智能分析处理，形成具有预测性、可认知的业务分析逻辑</a:t>
            </a:r>
            <a:endParaRPr lang="en-US" altLang="zh-CN" dirty="0"/>
          </a:p>
          <a:p>
            <a:endParaRPr lang="en-US" altLang="zh-CN" dirty="0"/>
          </a:p>
          <a:p>
            <a:r>
              <a:rPr lang="zh-CN" altLang="en-US" dirty="0"/>
              <a:t>代表性平台</a:t>
            </a:r>
            <a:endParaRPr lang="en-US" altLang="zh-CN" dirty="0"/>
          </a:p>
          <a:p>
            <a:pPr lvl="1"/>
            <a:r>
              <a:rPr lang="en-US" altLang="zh-CN" dirty="0"/>
              <a:t>Azure IoT</a:t>
            </a:r>
            <a:r>
              <a:rPr lang="zh-CN" altLang="en-US" dirty="0"/>
              <a:t>、阿里云</a:t>
            </a:r>
            <a:r>
              <a:rPr lang="en-US" altLang="zh-CN" dirty="0"/>
              <a:t>+</a:t>
            </a:r>
            <a:r>
              <a:rPr lang="zh-CN" altLang="en-US" dirty="0"/>
              <a:t>西门子</a:t>
            </a:r>
            <a:r>
              <a:rPr lang="en-US" altLang="zh-CN" dirty="0" err="1"/>
              <a:t>MindSphere</a:t>
            </a:r>
            <a:endParaRPr lang="en-US" altLang="zh-CN" dirty="0"/>
          </a:p>
          <a:p>
            <a:endParaRPr lang="en-US" altLang="zh-CN" dirty="0"/>
          </a:p>
          <a:p>
            <a:r>
              <a:rPr lang="zh-CN" altLang="en-US" dirty="0"/>
              <a:t>目前</a:t>
            </a:r>
            <a:r>
              <a:rPr lang="en-GB" altLang="zh-CN" dirty="0"/>
              <a:t>BAP</a:t>
            </a:r>
            <a:r>
              <a:rPr lang="zh-CN" altLang="en-US" dirty="0"/>
              <a:t>平台发展仍未成熟</a:t>
            </a:r>
            <a:endParaRPr lang="en-US" altLang="zh-CN" dirty="0"/>
          </a:p>
          <a:p>
            <a:endParaRPr lang="en-US" altLang="zh-CN" dirty="0"/>
          </a:p>
          <a:p>
            <a:endParaRPr lang="zh-CN" altLang="en-US" dirty="0"/>
          </a:p>
        </p:txBody>
      </p:sp>
      <p:sp>
        <p:nvSpPr>
          <p:cNvPr id="6" name="灯片编号占位符 4">
            <a:extLst>
              <a:ext uri="{FF2B5EF4-FFF2-40B4-BE49-F238E27FC236}">
                <a16:creationId xmlns:a16="http://schemas.microsoft.com/office/drawing/2014/main" id="{58F734D2-CAAA-45EB-86C2-387F9AC7A57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12</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p>
        </p:txBody>
      </p:sp>
      <p:sp>
        <p:nvSpPr>
          <p:cNvPr id="5" name="内容占位符 2"/>
          <p:cNvSpPr>
            <a:spLocks noGrp="1"/>
          </p:cNvSpPr>
          <p:nvPr>
            <p:ph idx="1"/>
          </p:nvPr>
        </p:nvSpPr>
        <p:spPr/>
        <p:txBody>
          <a:bodyPr/>
          <a:lstStyle/>
          <a:p>
            <a:endParaRPr lang="en-US" altLang="zh-CN" sz="2800" dirty="0"/>
          </a:p>
          <a:p>
            <a:r>
              <a:rPr lang="zh-CN" altLang="en-US" sz="2800" dirty="0"/>
              <a:t>概述</a:t>
            </a:r>
            <a:endParaRPr lang="en-US" altLang="zh-CN" sz="2800" dirty="0"/>
          </a:p>
          <a:p>
            <a:r>
              <a:rPr lang="zh-CN" altLang="en-US" sz="2800" dirty="0">
                <a:solidFill>
                  <a:srgbClr val="C00000"/>
                </a:solidFill>
              </a:rPr>
              <a:t>物联网云平台主要功能</a:t>
            </a:r>
            <a:endParaRPr lang="en-US" altLang="zh-CN" sz="2800" dirty="0">
              <a:solidFill>
                <a:srgbClr val="C00000"/>
              </a:solidFill>
            </a:endParaRPr>
          </a:p>
          <a:p>
            <a:r>
              <a:rPr lang="zh-CN" altLang="en-US" sz="2800" dirty="0"/>
              <a:t>典型物联网云平台</a:t>
            </a:r>
            <a:endParaRPr lang="en-US" altLang="zh-CN" sz="2800" dirty="0"/>
          </a:p>
          <a:p>
            <a:r>
              <a:rPr lang="zh-CN" altLang="en-US" sz="2800" dirty="0"/>
              <a:t>总结与展望</a:t>
            </a:r>
          </a:p>
        </p:txBody>
      </p:sp>
    </p:spTree>
    <p:extLst>
      <p:ext uri="{BB962C8B-B14F-4D97-AF65-F5344CB8AC3E}">
        <p14:creationId xmlns:p14="http://schemas.microsoft.com/office/powerpoint/2010/main" val="417526765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solidFill>
                  <a:srgbClr val="C00000"/>
                </a:solidFill>
              </a:rPr>
              <a:t>设备连接</a:t>
            </a:r>
          </a:p>
          <a:p>
            <a:r>
              <a:rPr lang="zh-CN" altLang="en-US" dirty="0"/>
              <a:t>设备管理</a:t>
            </a:r>
          </a:p>
          <a:p>
            <a:r>
              <a:rPr lang="en-US" altLang="zh-CN" dirty="0"/>
              <a:t>IFTTT</a:t>
            </a:r>
            <a:r>
              <a:rPr lang="zh-CN" altLang="en-US" dirty="0"/>
              <a:t>与规则引擎</a:t>
            </a:r>
          </a:p>
          <a:p>
            <a:r>
              <a:rPr lang="zh-CN" altLang="en-US" dirty="0"/>
              <a:t>时序数据库与流计算</a:t>
            </a:r>
          </a:p>
          <a:p>
            <a:r>
              <a:rPr lang="zh-CN" altLang="en-US" dirty="0"/>
              <a:t>安全认证</a:t>
            </a:r>
          </a:p>
          <a:p>
            <a:r>
              <a:rPr lang="zh-CN" altLang="en-US" dirty="0"/>
              <a:t>无服务器计算</a:t>
            </a:r>
          </a:p>
          <a:p>
            <a:r>
              <a:rPr lang="zh-CN" altLang="en-US" dirty="0"/>
              <a:t>边缘计算</a:t>
            </a:r>
          </a:p>
          <a:p>
            <a:endParaRPr lang="zh-CN" altLang="en-US" dirty="0"/>
          </a:p>
        </p:txBody>
      </p:sp>
    </p:spTree>
    <p:extLst>
      <p:ext uri="{BB962C8B-B14F-4D97-AF65-F5344CB8AC3E}">
        <p14:creationId xmlns:p14="http://schemas.microsoft.com/office/powerpoint/2010/main" val="24074419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设备连接</a:t>
            </a:r>
          </a:p>
        </p:txBody>
      </p:sp>
      <p:sp>
        <p:nvSpPr>
          <p:cNvPr id="2" name="内容占位符 1"/>
          <p:cNvSpPr>
            <a:spLocks noGrp="1"/>
          </p:cNvSpPr>
          <p:nvPr>
            <p:ph idx="1"/>
          </p:nvPr>
        </p:nvSpPr>
        <p:spPr/>
        <p:txBody>
          <a:bodyPr/>
          <a:lstStyle/>
          <a:p>
            <a:r>
              <a:rPr lang="zh-CN" altLang="en-US" dirty="0"/>
              <a:t>物联网设备连接至</a:t>
            </a:r>
            <a:r>
              <a:rPr lang="en-US" altLang="zh-CN" dirty="0"/>
              <a:t>IoT</a:t>
            </a:r>
            <a:r>
              <a:rPr lang="zh-CN" altLang="en-US" dirty="0"/>
              <a:t>云的方式</a:t>
            </a:r>
            <a:endParaRPr lang="en-US" altLang="zh-CN" dirty="0"/>
          </a:p>
          <a:p>
            <a:pPr lvl="1"/>
            <a:r>
              <a:rPr lang="zh-CN" altLang="zh-CN" dirty="0"/>
              <a:t>一些性能较低的物联网设备，通过轻量级、低功耗的协议发给物联网网关，网关对报文进行协议转换，并将转换后的报文发送至云平台</a:t>
            </a:r>
            <a:endParaRPr lang="en-US" altLang="zh-CN" dirty="0"/>
          </a:p>
          <a:p>
            <a:pPr lvl="1"/>
            <a:endParaRPr lang="en-US" altLang="zh-CN" dirty="0"/>
          </a:p>
          <a:p>
            <a:pPr lvl="1"/>
            <a:endParaRPr lang="en-US" altLang="zh-CN" dirty="0"/>
          </a:p>
          <a:p>
            <a:pPr lvl="1"/>
            <a:endParaRPr lang="en-US" altLang="zh-CN" dirty="0"/>
          </a:p>
          <a:p>
            <a:pPr lvl="1"/>
            <a:r>
              <a:rPr lang="zh-CN" altLang="zh-CN" dirty="0"/>
              <a:t>另一些性能较好的物联网设备，可以在本地构建起</a:t>
            </a:r>
            <a:r>
              <a:rPr lang="en-US" altLang="zh-CN" dirty="0"/>
              <a:t>HTTP</a:t>
            </a:r>
            <a:r>
              <a:rPr lang="zh-CN" altLang="zh-CN" dirty="0"/>
              <a:t>协议栈，可以直接与云平台通过数据传输协议进行通信</a:t>
            </a:r>
            <a:endParaRPr lang="zh-CN" altLang="en-US" dirty="0"/>
          </a:p>
        </p:txBody>
      </p:sp>
      <p:pic>
        <p:nvPicPr>
          <p:cNvPr id="6" name="图片 7"/>
          <p:cNvPicPr>
            <a:picLocks noChangeAspect="1"/>
          </p:cNvPicPr>
          <p:nvPr/>
        </p:nvPicPr>
        <p:blipFill>
          <a:blip r:embed="rId2"/>
          <a:stretch>
            <a:fillRect/>
          </a:stretch>
        </p:blipFill>
        <p:spPr>
          <a:xfrm>
            <a:off x="1665116" y="2282109"/>
            <a:ext cx="6146276" cy="1723765"/>
          </a:xfrm>
          <a:prstGeom prst="rect">
            <a:avLst/>
          </a:prstGeom>
        </p:spPr>
      </p:pic>
      <p:pic>
        <p:nvPicPr>
          <p:cNvPr id="7" name="图片 8"/>
          <p:cNvPicPr>
            <a:picLocks noChangeAspect="1"/>
          </p:cNvPicPr>
          <p:nvPr/>
        </p:nvPicPr>
        <p:blipFill>
          <a:blip r:embed="rId3"/>
          <a:stretch>
            <a:fillRect/>
          </a:stretch>
        </p:blipFill>
        <p:spPr>
          <a:xfrm>
            <a:off x="1536962" y="4764759"/>
            <a:ext cx="6146276" cy="1700366"/>
          </a:xfrm>
          <a:prstGeom prst="rect">
            <a:avLst/>
          </a:prstGeom>
        </p:spPr>
      </p:pic>
      <p:sp>
        <p:nvSpPr>
          <p:cNvPr id="8" name="灯片编号占位符 4">
            <a:extLst>
              <a:ext uri="{FF2B5EF4-FFF2-40B4-BE49-F238E27FC236}">
                <a16:creationId xmlns:a16="http://schemas.microsoft.com/office/drawing/2014/main" id="{7306E1B3-475B-46B4-BCA5-EA6FB248F80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15</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98A9DA-E2D6-4F13-B7A7-E042FBC9BDEF}"/>
              </a:ext>
            </a:extLst>
          </p:cNvPr>
          <p:cNvSpPr>
            <a:spLocks noGrp="1"/>
          </p:cNvSpPr>
          <p:nvPr>
            <p:ph type="title"/>
          </p:nvPr>
        </p:nvSpPr>
        <p:spPr/>
        <p:txBody>
          <a:bodyPr/>
          <a:lstStyle/>
          <a:p>
            <a:r>
              <a:rPr lang="zh-CN" altLang="en-US" dirty="0"/>
              <a:t>设备连接</a:t>
            </a:r>
          </a:p>
        </p:txBody>
      </p:sp>
      <p:sp>
        <p:nvSpPr>
          <p:cNvPr id="3" name="内容占位符 2">
            <a:extLst>
              <a:ext uri="{FF2B5EF4-FFF2-40B4-BE49-F238E27FC236}">
                <a16:creationId xmlns:a16="http://schemas.microsoft.com/office/drawing/2014/main" id="{DFA8E0F3-2B6F-4AEC-BC95-239541E6417F}"/>
              </a:ext>
            </a:extLst>
          </p:cNvPr>
          <p:cNvSpPr>
            <a:spLocks noGrp="1"/>
          </p:cNvSpPr>
          <p:nvPr>
            <p:ph idx="1"/>
          </p:nvPr>
        </p:nvSpPr>
        <p:spPr/>
        <p:txBody>
          <a:bodyPr/>
          <a:lstStyle/>
          <a:p>
            <a:r>
              <a:rPr lang="zh-CN" altLang="en-US" dirty="0"/>
              <a:t>常见数据传输协议</a:t>
            </a:r>
            <a:endParaRPr lang="en-US" altLang="zh-CN" dirty="0"/>
          </a:p>
          <a:p>
            <a:pPr lvl="1"/>
            <a:r>
              <a:rPr lang="en-US" altLang="zh-CN" dirty="0">
                <a:solidFill>
                  <a:srgbClr val="C00000"/>
                </a:solidFill>
              </a:rPr>
              <a:t>HTTP</a:t>
            </a:r>
          </a:p>
          <a:p>
            <a:pPr lvl="1"/>
            <a:r>
              <a:rPr lang="en-US" altLang="zh-CN" dirty="0"/>
              <a:t>HTTPS</a:t>
            </a:r>
          </a:p>
          <a:p>
            <a:pPr lvl="1"/>
            <a:r>
              <a:rPr lang="en-US" altLang="zh-CN" dirty="0">
                <a:solidFill>
                  <a:srgbClr val="C00000"/>
                </a:solidFill>
              </a:rPr>
              <a:t>MQTT</a:t>
            </a:r>
          </a:p>
          <a:p>
            <a:pPr lvl="1"/>
            <a:r>
              <a:rPr lang="en-US" altLang="zh-CN" dirty="0" err="1">
                <a:solidFill>
                  <a:srgbClr val="C00000"/>
                </a:solidFill>
              </a:rPr>
              <a:t>CoAP</a:t>
            </a:r>
            <a:endParaRPr lang="zh-CN" altLang="en-US" dirty="0">
              <a:solidFill>
                <a:srgbClr val="C00000"/>
              </a:solidFill>
            </a:endParaRPr>
          </a:p>
        </p:txBody>
      </p:sp>
    </p:spTree>
    <p:extLst>
      <p:ext uri="{BB962C8B-B14F-4D97-AF65-F5344CB8AC3E}">
        <p14:creationId xmlns:p14="http://schemas.microsoft.com/office/powerpoint/2010/main" val="14287729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a:t>
            </a:r>
            <a:endParaRPr lang="zh-CN" altLang="en-US" dirty="0"/>
          </a:p>
        </p:txBody>
      </p:sp>
      <p:sp>
        <p:nvSpPr>
          <p:cNvPr id="3" name="内容占位符 2"/>
          <p:cNvSpPr>
            <a:spLocks noGrp="1"/>
          </p:cNvSpPr>
          <p:nvPr>
            <p:ph idx="1"/>
          </p:nvPr>
        </p:nvSpPr>
        <p:spPr/>
        <p:txBody>
          <a:bodyPr/>
          <a:lstStyle/>
          <a:p>
            <a:r>
              <a:rPr lang="en-US" altLang="zh-CN" dirty="0"/>
              <a:t>HTTP(Hyper Text Transfer Protocol)</a:t>
            </a:r>
          </a:p>
          <a:p>
            <a:pPr lvl="1"/>
            <a:r>
              <a:rPr lang="zh-CN" altLang="en-US" dirty="0"/>
              <a:t>用于传输万维网文档</a:t>
            </a:r>
            <a:endParaRPr lang="en-US" altLang="zh-CN" dirty="0"/>
          </a:p>
        </p:txBody>
      </p:sp>
      <p:pic>
        <p:nvPicPr>
          <p:cNvPr id="2050" name="Picture 2" descr="F:\实验室相关\书籍\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002" y="2012452"/>
            <a:ext cx="6009695" cy="4769348"/>
          </a:xfrm>
          <a:prstGeom prst="rect">
            <a:avLst/>
          </a:prstGeom>
          <a:noFill/>
          <a:extLst>
            <a:ext uri="{909E8E84-426E-40DD-AFC4-6F175D3DCCD1}">
              <a14:hiddenFill xmlns:a14="http://schemas.microsoft.com/office/drawing/2010/main">
                <a:solidFill>
                  <a:srgbClr val="FFFFFF"/>
                </a:solidFill>
              </a14:hiddenFill>
            </a:ext>
          </a:extLst>
        </p:spPr>
      </p:pic>
      <p:sp>
        <p:nvSpPr>
          <p:cNvPr id="9" name="灯片编号占位符 4">
            <a:extLst>
              <a:ext uri="{FF2B5EF4-FFF2-40B4-BE49-F238E27FC236}">
                <a16:creationId xmlns:a16="http://schemas.microsoft.com/office/drawing/2014/main" id="{F97E2619-A481-446E-AEA2-213AE8D12FB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17</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a:t>
            </a:r>
            <a:endParaRPr lang="zh-CN" altLang="en-US" dirty="0"/>
          </a:p>
        </p:txBody>
      </p:sp>
      <p:sp>
        <p:nvSpPr>
          <p:cNvPr id="3" name="内容占位符 2"/>
          <p:cNvSpPr>
            <a:spLocks noGrp="1"/>
          </p:cNvSpPr>
          <p:nvPr>
            <p:ph idx="1"/>
          </p:nvPr>
        </p:nvSpPr>
        <p:spPr/>
        <p:txBody>
          <a:bodyPr/>
          <a:lstStyle/>
          <a:p>
            <a:r>
              <a:rPr lang="zh-CN" altLang="en-US"/>
              <a:t>请求报文格式</a:t>
            </a:r>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r>
              <a:rPr lang="zh-CN" altLang="en-US"/>
              <a:t>示例</a:t>
            </a:r>
          </a:p>
          <a:p>
            <a:endParaRPr lang="zh-CN" altLang="en-US" dirty="0"/>
          </a:p>
        </p:txBody>
      </p:sp>
      <p:sp>
        <p:nvSpPr>
          <p:cNvPr id="4" name="TextBox 3"/>
          <p:cNvSpPr txBox="1"/>
          <p:nvPr/>
        </p:nvSpPr>
        <p:spPr>
          <a:xfrm>
            <a:off x="5216893" y="2261937"/>
            <a:ext cx="184731" cy="338554"/>
          </a:xfrm>
          <a:prstGeom prst="rect">
            <a:avLst/>
          </a:prstGeom>
          <a:noFill/>
        </p:spPr>
        <p:txBody>
          <a:bodyPr wrap="none" rtlCol="0">
            <a:spAutoFit/>
          </a:bodyPr>
          <a:lstStyle/>
          <a:p>
            <a:endParaRPr lang="zh-CN" altLang="en-US"/>
          </a:p>
        </p:txBody>
      </p:sp>
      <p:sp>
        <p:nvSpPr>
          <p:cNvPr id="5" name="TextBox 4"/>
          <p:cNvSpPr txBox="1"/>
          <p:nvPr/>
        </p:nvSpPr>
        <p:spPr>
          <a:xfrm>
            <a:off x="776731" y="4690690"/>
            <a:ext cx="7590539" cy="1672253"/>
          </a:xfrm>
          <a:prstGeom prst="rect">
            <a:avLst/>
          </a:prstGeom>
          <a:noFill/>
        </p:spPr>
        <p:txBody>
          <a:bodyPr wrap="none" rtlCol="0">
            <a:spAutoFit/>
          </a:bodyPr>
          <a:lstStyle/>
          <a:p>
            <a:r>
              <a:rPr lang="en-US" altLang="zh-CN" sz="2200" dirty="0">
                <a:latin typeface="Courier New" panose="02070309020205020404" pitchFamily="49" charset="0"/>
                <a:cs typeface="Courier New" panose="02070309020205020404" pitchFamily="49" charset="0"/>
              </a:rPr>
              <a:t>POST http://tinylink.emnets.org/index.php HTTP/1.1 \r\n</a:t>
            </a:r>
          </a:p>
          <a:p>
            <a:r>
              <a:rPr lang="en-US" altLang="zh-CN" sz="2200" dirty="0" err="1">
                <a:latin typeface="Courier New" panose="02070309020205020404" pitchFamily="49" charset="0"/>
                <a:cs typeface="Courier New" panose="02070309020205020404" pitchFamily="49" charset="0"/>
              </a:rPr>
              <a:t>Connection:keep-alive</a:t>
            </a:r>
            <a:r>
              <a:rPr lang="en-US" altLang="zh-CN" sz="2200" dirty="0">
                <a:latin typeface="Courier New" panose="02070309020205020404" pitchFamily="49" charset="0"/>
                <a:cs typeface="Courier New" panose="02070309020205020404" pitchFamily="49" charset="0"/>
              </a:rPr>
              <a:t> \r\n</a:t>
            </a:r>
          </a:p>
          <a:p>
            <a:r>
              <a:rPr lang="en-US" altLang="zh-CN" sz="2200" dirty="0" err="1">
                <a:latin typeface="Courier New" panose="02070309020205020404" pitchFamily="49" charset="0"/>
                <a:cs typeface="Courier New" panose="02070309020205020404" pitchFamily="49" charset="0"/>
              </a:rPr>
              <a:t>Host:x.x.x.x</a:t>
            </a:r>
            <a:r>
              <a:rPr lang="en-US" altLang="zh-CN" sz="2200" dirty="0">
                <a:latin typeface="Courier New" panose="02070309020205020404" pitchFamily="49" charset="0"/>
                <a:cs typeface="Courier New" panose="02070309020205020404" pitchFamily="49" charset="0"/>
              </a:rPr>
              <a:t> \r\n</a:t>
            </a:r>
          </a:p>
          <a:p>
            <a:r>
              <a:rPr lang="en-US" altLang="zh-CN" sz="2200" dirty="0">
                <a:latin typeface="Courier New" panose="02070309020205020404" pitchFamily="49" charset="0"/>
                <a:cs typeface="Courier New" panose="02070309020205020404" pitchFamily="49" charset="0"/>
              </a:rPr>
              <a:t>\r\n</a:t>
            </a:r>
          </a:p>
          <a:p>
            <a:r>
              <a:rPr lang="en-US" altLang="zh-CN" sz="2200" dirty="0">
                <a:latin typeface="Courier New" panose="02070309020205020404" pitchFamily="49" charset="0"/>
                <a:cs typeface="Courier New" panose="02070309020205020404" pitchFamily="49" charset="0"/>
              </a:rPr>
              <a:t>-----------------------------178337587380872764801987301</a:t>
            </a:r>
            <a:endParaRPr lang="zh-CN"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Content-Disposition: form-data; name="upload"; filename="test.cpp"</a:t>
            </a:r>
            <a:endParaRPr lang="zh-CN"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a:t>
            </a:r>
            <a:endParaRPr lang="zh-CN" altLang="en-US" sz="2200" dirty="0">
              <a:latin typeface="Courier New" panose="02070309020205020404" pitchFamily="49" charset="0"/>
              <a:cs typeface="Courier New" panose="02070309020205020404" pitchFamily="49" charset="0"/>
            </a:endParaRPr>
          </a:p>
        </p:txBody>
      </p:sp>
      <p:pic>
        <p:nvPicPr>
          <p:cNvPr id="1026" name="Picture 2" descr="F:\实验室相关\书籍\http.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185" y="1511735"/>
            <a:ext cx="6011631" cy="2580667"/>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4">
            <a:extLst>
              <a:ext uri="{FF2B5EF4-FFF2-40B4-BE49-F238E27FC236}">
                <a16:creationId xmlns:a16="http://schemas.microsoft.com/office/drawing/2014/main" id="{26C7EA89-B1C7-4B45-85BF-23491C85C4E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18</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a:t>
            </a:r>
            <a:endParaRPr lang="zh-CN" altLang="en-US" dirty="0"/>
          </a:p>
        </p:txBody>
      </p:sp>
      <p:sp>
        <p:nvSpPr>
          <p:cNvPr id="3" name="内容占位符 2"/>
          <p:cNvSpPr>
            <a:spLocks noGrp="1"/>
          </p:cNvSpPr>
          <p:nvPr>
            <p:ph idx="1"/>
          </p:nvPr>
        </p:nvSpPr>
        <p:spPr/>
        <p:txBody>
          <a:bodyPr/>
          <a:lstStyle/>
          <a:p>
            <a:r>
              <a:rPr lang="zh-CN" altLang="en-US"/>
              <a:t>应答报文格式</a:t>
            </a:r>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r>
              <a:rPr lang="zh-CN" altLang="en-US"/>
              <a:t>示例</a:t>
            </a:r>
          </a:p>
          <a:p>
            <a:endParaRPr lang="zh-CN" altLang="en-US"/>
          </a:p>
        </p:txBody>
      </p:sp>
      <p:pic>
        <p:nvPicPr>
          <p:cNvPr id="3075" name="Picture 3" descr="F:\实验室相关\书籍\http应答报文.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000" y="1511164"/>
            <a:ext cx="6012000" cy="2550644"/>
          </a:xfrm>
          <a:prstGeom prst="rect">
            <a:avLst/>
          </a:prstGeom>
          <a:noFill/>
          <a:extLst>
            <a:ext uri="{909E8E84-426E-40DD-AFC4-6F175D3DCCD1}">
              <a14:hiddenFill xmlns:a14="http://schemas.microsoft.com/office/drawing/2010/main">
                <a:solidFill>
                  <a:srgbClr val="FFFFFF"/>
                </a:solidFill>
              </a14:hiddenFill>
            </a:ext>
          </a:extLst>
        </p:spPr>
      </p:pic>
      <p:sp>
        <p:nvSpPr>
          <p:cNvPr id="8" name="灯片编号占位符 4">
            <a:extLst>
              <a:ext uri="{FF2B5EF4-FFF2-40B4-BE49-F238E27FC236}">
                <a16:creationId xmlns:a16="http://schemas.microsoft.com/office/drawing/2014/main" id="{8BA57AA3-D568-4C33-B767-555BA7318F2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19</a:t>
            </a:fld>
            <a:endParaRPr lang="zh-CN" altLang="zh-CN" sz="1800" baseline="0">
              <a:solidFill>
                <a:schemeClr val="folHlink"/>
              </a:solidFill>
              <a:latin typeface="Monotype Corsiva" panose="03010101010201010101" pitchFamily="66" charset="0"/>
            </a:endParaRPr>
          </a:p>
        </p:txBody>
      </p:sp>
      <p:sp>
        <p:nvSpPr>
          <p:cNvPr id="9" name="TextBox 4">
            <a:extLst>
              <a:ext uri="{FF2B5EF4-FFF2-40B4-BE49-F238E27FC236}">
                <a16:creationId xmlns:a16="http://schemas.microsoft.com/office/drawing/2014/main" id="{527D984A-11DC-4709-8B87-1BEA27B21BA5}"/>
              </a:ext>
            </a:extLst>
          </p:cNvPr>
          <p:cNvSpPr txBox="1"/>
          <p:nvPr/>
        </p:nvSpPr>
        <p:spPr>
          <a:xfrm>
            <a:off x="776731" y="4690690"/>
            <a:ext cx="6468437" cy="1446550"/>
          </a:xfrm>
          <a:prstGeom prst="rect">
            <a:avLst/>
          </a:prstGeom>
          <a:noFill/>
        </p:spPr>
        <p:txBody>
          <a:bodyPr wrap="none" rtlCol="0">
            <a:spAutoFit/>
          </a:bodyPr>
          <a:lstStyle/>
          <a:p>
            <a:r>
              <a:rPr lang="pt-BR" altLang="zh-CN" sz="2200" dirty="0">
                <a:latin typeface="Courier New" panose="02070309020205020404" pitchFamily="49" charset="0"/>
                <a:cs typeface="Courier New" panose="02070309020205020404" pitchFamily="49" charset="0"/>
              </a:rPr>
              <a:t>HTTP/1.1 200 OK \r\n</a:t>
            </a:r>
          </a:p>
          <a:p>
            <a:r>
              <a:rPr lang="pt-BR" altLang="zh-CN" sz="2200" dirty="0">
                <a:latin typeface="Courier New" panose="02070309020205020404" pitchFamily="49" charset="0"/>
                <a:cs typeface="Courier New" panose="02070309020205020404" pitchFamily="49" charset="0"/>
              </a:rPr>
              <a:t>Cache-Control:no-store, no-cache \r\n</a:t>
            </a:r>
          </a:p>
          <a:p>
            <a:r>
              <a:rPr lang="pt-BR" altLang="zh-CN" sz="2200" dirty="0">
                <a:latin typeface="Courier New" panose="02070309020205020404" pitchFamily="49" charset="0"/>
                <a:cs typeface="Courier New" panose="02070309020205020404" pitchFamily="49" charset="0"/>
              </a:rPr>
              <a:t>Connection:Keep-Alive \r\n</a:t>
            </a:r>
          </a:p>
          <a:p>
            <a:r>
              <a:rPr lang="pt-BR" altLang="zh-CN" sz="2200" dirty="0">
                <a:latin typeface="Courier New" panose="02070309020205020404" pitchFamily="49" charset="0"/>
                <a:cs typeface="Courier New" panose="02070309020205020404" pitchFamily="49" charset="0"/>
              </a:rPr>
              <a:t>\r\n</a:t>
            </a:r>
          </a:p>
          <a:p>
            <a:r>
              <a:rPr lang="pt-BR" altLang="zh-CN" sz="2200" dirty="0">
                <a:latin typeface="Courier New" panose="02070309020205020404" pitchFamily="49" charset="0"/>
                <a:cs typeface="Courier New" panose="02070309020205020404" pitchFamily="49" charset="0"/>
              </a:rPr>
              <a:t>&lt;html lang="zh-CN" xmlns="http://www.w3.org/1999/xhtml"&gt;</a:t>
            </a:r>
          </a:p>
          <a:p>
            <a:r>
              <a:rPr lang="pt-BR" altLang="zh-CN" sz="2200" dirty="0">
                <a:latin typeface="Courier New" panose="02070309020205020404" pitchFamily="49" charset="0"/>
                <a:cs typeface="Courier New" panose="02070309020205020404" pitchFamily="49" charset="0"/>
              </a:rPr>
              <a: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a:t>
            </a:r>
            <a:endParaRPr lang="zh-CN" altLang="en-US" dirty="0"/>
          </a:p>
        </p:txBody>
      </p:sp>
      <p:sp>
        <p:nvSpPr>
          <p:cNvPr id="3" name="内容占位符 2"/>
          <p:cNvSpPr>
            <a:spLocks noGrp="1"/>
          </p:cNvSpPr>
          <p:nvPr>
            <p:ph idx="1"/>
          </p:nvPr>
        </p:nvSpPr>
        <p:spPr/>
        <p:txBody>
          <a:bodyPr/>
          <a:lstStyle/>
          <a:p>
            <a:r>
              <a:rPr lang="zh-CN" altLang="en-US"/>
              <a:t>部分常用请求方法</a:t>
            </a:r>
            <a:endParaRPr lang="en-US" altLang="zh-CN"/>
          </a:p>
          <a:p>
            <a:pPr lvl="1"/>
            <a:endParaRPr lang="en-US" altLang="zh-CN"/>
          </a:p>
          <a:p>
            <a:pPr lvl="1"/>
            <a:endParaRPr lang="en-US" altLang="zh-CN"/>
          </a:p>
          <a:p>
            <a:pPr lvl="1"/>
            <a:endParaRPr lang="en-US" altLang="zh-CN"/>
          </a:p>
          <a:p>
            <a:pPr lvl="1"/>
            <a:endParaRPr lang="en-US" altLang="zh-CN"/>
          </a:p>
          <a:p>
            <a:r>
              <a:rPr lang="zh-CN" altLang="en-US"/>
              <a:t>请求返回状态码</a:t>
            </a:r>
            <a:endParaRPr lang="en-US" altLang="zh-CN" dirty="0"/>
          </a:p>
        </p:txBody>
      </p:sp>
      <p:graphicFrame>
        <p:nvGraphicFramePr>
          <p:cNvPr id="6" name="表格 5"/>
          <p:cNvGraphicFramePr>
            <a:graphicFrameLocks noGrp="1"/>
          </p:cNvGraphicFramePr>
          <p:nvPr>
            <p:extLst>
              <p:ext uri="{D42A27DB-BD31-4B8C-83A1-F6EECF244321}">
                <p14:modId xmlns:p14="http://schemas.microsoft.com/office/powerpoint/2010/main" val="580586640"/>
              </p:ext>
            </p:extLst>
          </p:nvPr>
        </p:nvGraphicFramePr>
        <p:xfrm>
          <a:off x="1378017" y="3802698"/>
          <a:ext cx="6387966" cy="2225040"/>
        </p:xfrm>
        <a:graphic>
          <a:graphicData uri="http://schemas.openxmlformats.org/drawingml/2006/table">
            <a:tbl>
              <a:tblPr firstRow="1" bandRow="1">
                <a:tableStyleId>{93296810-A885-4BE3-A3E7-6D5BEEA58F35}</a:tableStyleId>
              </a:tblPr>
              <a:tblGrid>
                <a:gridCol w="920817">
                  <a:extLst>
                    <a:ext uri="{9D8B030D-6E8A-4147-A177-3AD203B41FA5}">
                      <a16:colId xmlns:a16="http://schemas.microsoft.com/office/drawing/2014/main" val="20000"/>
                    </a:ext>
                  </a:extLst>
                </a:gridCol>
                <a:gridCol w="5467149">
                  <a:extLst>
                    <a:ext uri="{9D8B030D-6E8A-4147-A177-3AD203B41FA5}">
                      <a16:colId xmlns:a16="http://schemas.microsoft.com/office/drawing/2014/main" val="20001"/>
                    </a:ext>
                  </a:extLst>
                </a:gridCol>
              </a:tblGrid>
              <a:tr h="370840">
                <a:tc>
                  <a:txBody>
                    <a:bodyPr/>
                    <a:lstStyle/>
                    <a:p>
                      <a:r>
                        <a:rPr lang="zh-CN" altLang="en-US">
                          <a:latin typeface="+mj-ea"/>
                          <a:ea typeface="+mj-ea"/>
                        </a:rPr>
                        <a:t>状态码</a:t>
                      </a:r>
                    </a:p>
                  </a:txBody>
                  <a:tcPr/>
                </a:tc>
                <a:tc>
                  <a:txBody>
                    <a:bodyPr/>
                    <a:lstStyle/>
                    <a:p>
                      <a:r>
                        <a:rPr lang="zh-CN" altLang="en-US">
                          <a:latin typeface="+mj-ea"/>
                          <a:ea typeface="+mj-ea"/>
                        </a:rPr>
                        <a:t>含义</a:t>
                      </a:r>
                    </a:p>
                  </a:txBody>
                  <a:tcPr/>
                </a:tc>
                <a:extLst>
                  <a:ext uri="{0D108BD9-81ED-4DB2-BD59-A6C34878D82A}">
                    <a16:rowId xmlns:a16="http://schemas.microsoft.com/office/drawing/2014/main" val="10000"/>
                  </a:ext>
                </a:extLst>
              </a:tr>
              <a:tr h="370840">
                <a:tc>
                  <a:txBody>
                    <a:bodyPr/>
                    <a:lstStyle/>
                    <a:p>
                      <a:r>
                        <a:rPr lang="en-US" altLang="zh-CN" dirty="0">
                          <a:latin typeface="+mj-ea"/>
                          <a:ea typeface="+mj-ea"/>
                        </a:rPr>
                        <a:t>1xx</a:t>
                      </a:r>
                      <a:endParaRPr lang="zh-CN" altLang="en-US" dirty="0">
                        <a:latin typeface="+mj-ea"/>
                        <a:ea typeface="+mj-ea"/>
                      </a:endParaRPr>
                    </a:p>
                  </a:txBody>
                  <a:tcPr/>
                </a:tc>
                <a:tc>
                  <a:txBody>
                    <a:bodyPr/>
                    <a:lstStyle/>
                    <a:p>
                      <a:r>
                        <a:rPr lang="zh-CN" altLang="en-US" dirty="0">
                          <a:latin typeface="+mj-ea"/>
                          <a:ea typeface="+mj-ea"/>
                        </a:rPr>
                        <a:t>通知消息，如请求已收到或正在处理</a:t>
                      </a:r>
                    </a:p>
                  </a:txBody>
                  <a:tcPr/>
                </a:tc>
                <a:extLst>
                  <a:ext uri="{0D108BD9-81ED-4DB2-BD59-A6C34878D82A}">
                    <a16:rowId xmlns:a16="http://schemas.microsoft.com/office/drawing/2014/main" val="10001"/>
                  </a:ext>
                </a:extLst>
              </a:tr>
              <a:tr h="370840">
                <a:tc>
                  <a:txBody>
                    <a:bodyPr/>
                    <a:lstStyle/>
                    <a:p>
                      <a:r>
                        <a:rPr lang="en-US" altLang="zh-CN">
                          <a:latin typeface="+mj-ea"/>
                          <a:ea typeface="+mj-ea"/>
                        </a:rPr>
                        <a:t>2xx</a:t>
                      </a:r>
                      <a:endParaRPr lang="zh-CN" altLang="en-US">
                        <a:latin typeface="+mj-ea"/>
                        <a:ea typeface="+mj-ea"/>
                      </a:endParaRPr>
                    </a:p>
                  </a:txBody>
                  <a:tcPr/>
                </a:tc>
                <a:tc>
                  <a:txBody>
                    <a:bodyPr/>
                    <a:lstStyle/>
                    <a:p>
                      <a:r>
                        <a:rPr lang="zh-CN" altLang="en-US">
                          <a:latin typeface="+mj-ea"/>
                          <a:ea typeface="+mj-ea"/>
                        </a:rPr>
                        <a:t>成功</a:t>
                      </a:r>
                    </a:p>
                  </a:txBody>
                  <a:tcPr/>
                </a:tc>
                <a:extLst>
                  <a:ext uri="{0D108BD9-81ED-4DB2-BD59-A6C34878D82A}">
                    <a16:rowId xmlns:a16="http://schemas.microsoft.com/office/drawing/2014/main" val="10002"/>
                  </a:ext>
                </a:extLst>
              </a:tr>
              <a:tr h="370840">
                <a:tc>
                  <a:txBody>
                    <a:bodyPr/>
                    <a:lstStyle/>
                    <a:p>
                      <a:r>
                        <a:rPr lang="en-US" altLang="zh-CN">
                          <a:latin typeface="+mj-ea"/>
                          <a:ea typeface="+mj-ea"/>
                        </a:rPr>
                        <a:t>3xx</a:t>
                      </a:r>
                      <a:endParaRPr lang="zh-CN" altLang="en-US">
                        <a:latin typeface="+mj-ea"/>
                        <a:ea typeface="+mj-ea"/>
                      </a:endParaRPr>
                    </a:p>
                  </a:txBody>
                  <a:tcPr/>
                </a:tc>
                <a:tc>
                  <a:txBody>
                    <a:bodyPr/>
                    <a:lstStyle/>
                    <a:p>
                      <a:r>
                        <a:rPr lang="zh-CN" altLang="en-US">
                          <a:latin typeface="+mj-ea"/>
                          <a:ea typeface="+mj-ea"/>
                        </a:rPr>
                        <a:t>重定向，浏览器如要完成请求还需进一步行动</a:t>
                      </a:r>
                    </a:p>
                  </a:txBody>
                  <a:tcPr/>
                </a:tc>
                <a:extLst>
                  <a:ext uri="{0D108BD9-81ED-4DB2-BD59-A6C34878D82A}">
                    <a16:rowId xmlns:a16="http://schemas.microsoft.com/office/drawing/2014/main" val="10003"/>
                  </a:ext>
                </a:extLst>
              </a:tr>
              <a:tr h="370840">
                <a:tc>
                  <a:txBody>
                    <a:bodyPr/>
                    <a:lstStyle/>
                    <a:p>
                      <a:r>
                        <a:rPr lang="en-US" altLang="zh-CN">
                          <a:latin typeface="+mj-ea"/>
                          <a:ea typeface="+mj-ea"/>
                        </a:rPr>
                        <a:t>4xx</a:t>
                      </a:r>
                      <a:endParaRPr lang="zh-CN" altLang="en-US">
                        <a:latin typeface="+mj-ea"/>
                        <a:ea typeface="+mj-ea"/>
                      </a:endParaRPr>
                    </a:p>
                  </a:txBody>
                  <a:tcPr/>
                </a:tc>
                <a:tc>
                  <a:txBody>
                    <a:bodyPr/>
                    <a:lstStyle/>
                    <a:p>
                      <a:r>
                        <a:rPr lang="zh-CN" altLang="en-US">
                          <a:latin typeface="+mj-ea"/>
                          <a:ea typeface="+mj-ea"/>
                        </a:rPr>
                        <a:t>浏览器请求错误，例如页面不存在或请求语法不正确</a:t>
                      </a:r>
                    </a:p>
                  </a:txBody>
                  <a:tcPr/>
                </a:tc>
                <a:extLst>
                  <a:ext uri="{0D108BD9-81ED-4DB2-BD59-A6C34878D82A}">
                    <a16:rowId xmlns:a16="http://schemas.microsoft.com/office/drawing/2014/main" val="10004"/>
                  </a:ext>
                </a:extLst>
              </a:tr>
              <a:tr h="370840">
                <a:tc>
                  <a:txBody>
                    <a:bodyPr/>
                    <a:lstStyle/>
                    <a:p>
                      <a:r>
                        <a:rPr lang="en-US" altLang="zh-CN">
                          <a:latin typeface="+mj-ea"/>
                          <a:ea typeface="+mj-ea"/>
                        </a:rPr>
                        <a:t>5xx</a:t>
                      </a:r>
                      <a:endParaRPr lang="zh-CN" altLang="en-US">
                        <a:latin typeface="+mj-ea"/>
                        <a:ea typeface="+mj-ea"/>
                      </a:endParaRPr>
                    </a:p>
                  </a:txBody>
                  <a:tcPr/>
                </a:tc>
                <a:tc>
                  <a:txBody>
                    <a:bodyPr/>
                    <a:lstStyle/>
                    <a:p>
                      <a:r>
                        <a:rPr lang="zh-CN" altLang="en-US" dirty="0">
                          <a:latin typeface="+mj-ea"/>
                          <a:ea typeface="+mj-ea"/>
                        </a:rPr>
                        <a:t>服务器差错，服务器失效</a:t>
                      </a:r>
                    </a:p>
                  </a:txBody>
                  <a:tcPr/>
                </a:tc>
                <a:extLst>
                  <a:ext uri="{0D108BD9-81ED-4DB2-BD59-A6C34878D82A}">
                    <a16:rowId xmlns:a16="http://schemas.microsoft.com/office/drawing/2014/main" val="10005"/>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284208132"/>
              </p:ext>
            </p:extLst>
          </p:nvPr>
        </p:nvGraphicFramePr>
        <p:xfrm>
          <a:off x="901566" y="1577023"/>
          <a:ext cx="7340868" cy="1478280"/>
        </p:xfrm>
        <a:graphic>
          <a:graphicData uri="http://schemas.openxmlformats.org/drawingml/2006/table">
            <a:tbl>
              <a:tblPr firstRow="1" bandRow="1">
                <a:tableStyleId>{93296810-A885-4BE3-A3E7-6D5BEEA58F35}</a:tableStyleId>
              </a:tblPr>
              <a:tblGrid>
                <a:gridCol w="1171074">
                  <a:extLst>
                    <a:ext uri="{9D8B030D-6E8A-4147-A177-3AD203B41FA5}">
                      <a16:colId xmlns:a16="http://schemas.microsoft.com/office/drawing/2014/main" val="20000"/>
                    </a:ext>
                  </a:extLst>
                </a:gridCol>
                <a:gridCol w="6169794">
                  <a:extLst>
                    <a:ext uri="{9D8B030D-6E8A-4147-A177-3AD203B41FA5}">
                      <a16:colId xmlns:a16="http://schemas.microsoft.com/office/drawing/2014/main" val="20001"/>
                    </a:ext>
                  </a:extLst>
                </a:gridCol>
              </a:tblGrid>
              <a:tr h="370840">
                <a:tc>
                  <a:txBody>
                    <a:bodyPr/>
                    <a:lstStyle/>
                    <a:p>
                      <a:r>
                        <a:rPr lang="zh-CN" altLang="en-US">
                          <a:latin typeface="+mj-ea"/>
                          <a:ea typeface="+mj-ea"/>
                        </a:rPr>
                        <a:t>请求方法</a:t>
                      </a:r>
                    </a:p>
                  </a:txBody>
                  <a:tcPr/>
                </a:tc>
                <a:tc>
                  <a:txBody>
                    <a:bodyPr/>
                    <a:lstStyle/>
                    <a:p>
                      <a:r>
                        <a:rPr lang="zh-CN" altLang="en-US">
                          <a:latin typeface="+mj-ea"/>
                          <a:ea typeface="+mj-ea"/>
                        </a:rPr>
                        <a:t>意义</a:t>
                      </a:r>
                    </a:p>
                  </a:txBody>
                  <a:tcPr/>
                </a:tc>
                <a:extLst>
                  <a:ext uri="{0D108BD9-81ED-4DB2-BD59-A6C34878D82A}">
                    <a16:rowId xmlns:a16="http://schemas.microsoft.com/office/drawing/2014/main" val="10000"/>
                  </a:ext>
                </a:extLst>
              </a:tr>
              <a:tr h="370840">
                <a:tc>
                  <a:txBody>
                    <a:bodyPr/>
                    <a:lstStyle/>
                    <a:p>
                      <a:r>
                        <a:rPr lang="en-US" altLang="zh-CN">
                          <a:latin typeface="+mj-ea"/>
                          <a:ea typeface="+mj-ea"/>
                        </a:rPr>
                        <a:t>GET</a:t>
                      </a:r>
                      <a:endParaRPr lang="zh-CN" altLang="en-US">
                        <a:latin typeface="+mj-ea"/>
                        <a:ea typeface="+mj-ea"/>
                      </a:endParaRPr>
                    </a:p>
                  </a:txBody>
                  <a:tcPr/>
                </a:tc>
                <a:tc>
                  <a:txBody>
                    <a:bodyPr/>
                    <a:lstStyle/>
                    <a:p>
                      <a:r>
                        <a:rPr lang="zh-CN" altLang="en-US">
                          <a:latin typeface="+mj-ea"/>
                          <a:ea typeface="+mj-ea"/>
                        </a:rPr>
                        <a:t>读取一个</a:t>
                      </a:r>
                      <a:r>
                        <a:rPr lang="en-US" altLang="zh-CN">
                          <a:latin typeface="+mj-ea"/>
                          <a:ea typeface="+mj-ea"/>
                        </a:rPr>
                        <a:t>Web</a:t>
                      </a:r>
                      <a:r>
                        <a:rPr lang="zh-CN" altLang="en-US">
                          <a:latin typeface="+mj-ea"/>
                          <a:ea typeface="+mj-ea"/>
                        </a:rPr>
                        <a:t>页面</a:t>
                      </a:r>
                    </a:p>
                  </a:txBody>
                  <a:tcPr/>
                </a:tc>
                <a:extLst>
                  <a:ext uri="{0D108BD9-81ED-4DB2-BD59-A6C34878D82A}">
                    <a16:rowId xmlns:a16="http://schemas.microsoft.com/office/drawing/2014/main" val="10001"/>
                  </a:ext>
                </a:extLst>
              </a:tr>
              <a:tr h="370840">
                <a:tc>
                  <a:txBody>
                    <a:bodyPr/>
                    <a:lstStyle/>
                    <a:p>
                      <a:r>
                        <a:rPr lang="en-US" altLang="zh-CN">
                          <a:latin typeface="+mj-ea"/>
                          <a:ea typeface="+mj-ea"/>
                        </a:rPr>
                        <a:t>POST</a:t>
                      </a:r>
                      <a:endParaRPr lang="zh-CN" altLang="en-US">
                        <a:latin typeface="+mj-ea"/>
                        <a:ea typeface="+mj-ea"/>
                      </a:endParaRPr>
                    </a:p>
                  </a:txBody>
                  <a:tcPr/>
                </a:tc>
                <a:tc>
                  <a:txBody>
                    <a:bodyPr/>
                    <a:lstStyle/>
                    <a:p>
                      <a:r>
                        <a:rPr lang="zh-CN" altLang="en-US" dirty="0">
                          <a:latin typeface="+mj-ea"/>
                          <a:ea typeface="+mj-ea"/>
                        </a:rPr>
                        <a:t>当提交表单时需要用到</a:t>
                      </a:r>
                      <a:r>
                        <a:rPr lang="en-US" altLang="zh-CN" dirty="0">
                          <a:latin typeface="+mj-ea"/>
                          <a:ea typeface="+mj-ea"/>
                        </a:rPr>
                        <a:t>POST</a:t>
                      </a:r>
                      <a:r>
                        <a:rPr lang="zh-CN" altLang="en-US" dirty="0">
                          <a:latin typeface="+mj-ea"/>
                          <a:ea typeface="+mj-ea"/>
                        </a:rPr>
                        <a:t>，需要上传附加数据到服务器</a:t>
                      </a:r>
                    </a:p>
                  </a:txBody>
                  <a:tcPr/>
                </a:tc>
                <a:extLst>
                  <a:ext uri="{0D108BD9-81ED-4DB2-BD59-A6C34878D82A}">
                    <a16:rowId xmlns:a16="http://schemas.microsoft.com/office/drawing/2014/main" val="10002"/>
                  </a:ext>
                </a:extLst>
              </a:tr>
              <a:tr h="335013">
                <a:tc>
                  <a:txBody>
                    <a:bodyPr/>
                    <a:lstStyle/>
                    <a:p>
                      <a:r>
                        <a:rPr lang="en-US" altLang="zh-CN">
                          <a:latin typeface="+mj-ea"/>
                          <a:ea typeface="+mj-ea"/>
                        </a:rPr>
                        <a:t>DELETE</a:t>
                      </a:r>
                      <a:endParaRPr lang="zh-CN" altLang="en-US">
                        <a:latin typeface="+mj-ea"/>
                        <a:ea typeface="+mj-ea"/>
                      </a:endParaRPr>
                    </a:p>
                  </a:txBody>
                  <a:tcPr/>
                </a:tc>
                <a:tc>
                  <a:txBody>
                    <a:bodyPr/>
                    <a:lstStyle/>
                    <a:p>
                      <a:r>
                        <a:rPr lang="zh-CN" altLang="en-US" sz="1800" kern="1200" dirty="0">
                          <a:effectLst/>
                          <a:latin typeface="+mj-ea"/>
                          <a:ea typeface="+mj-ea"/>
                        </a:rPr>
                        <a:t>请求服务器删除指定的页面</a:t>
                      </a:r>
                      <a:endParaRPr lang="zh-CN" altLang="en-US" dirty="0">
                        <a:latin typeface="+mj-ea"/>
                        <a:ea typeface="+mj-ea"/>
                      </a:endParaRPr>
                    </a:p>
                  </a:txBody>
                  <a:tcPr/>
                </a:tc>
                <a:extLst>
                  <a:ext uri="{0D108BD9-81ED-4DB2-BD59-A6C34878D82A}">
                    <a16:rowId xmlns:a16="http://schemas.microsoft.com/office/drawing/2014/main" val="10003"/>
                  </a:ext>
                </a:extLst>
              </a:tr>
            </a:tbl>
          </a:graphicData>
        </a:graphic>
      </p:graphicFrame>
      <p:sp>
        <p:nvSpPr>
          <p:cNvPr id="8" name="灯片编号占位符 4">
            <a:extLst>
              <a:ext uri="{FF2B5EF4-FFF2-40B4-BE49-F238E27FC236}">
                <a16:creationId xmlns:a16="http://schemas.microsoft.com/office/drawing/2014/main" id="{4C8BC46A-B91B-4F6F-8520-D43BB268BB1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20</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a:t>
            </a:r>
            <a:endParaRPr lang="zh-CN" altLang="en-US" dirty="0"/>
          </a:p>
        </p:txBody>
      </p:sp>
      <p:sp>
        <p:nvSpPr>
          <p:cNvPr id="3" name="内容占位符 2"/>
          <p:cNvSpPr>
            <a:spLocks noGrp="1"/>
          </p:cNvSpPr>
          <p:nvPr>
            <p:ph idx="1"/>
          </p:nvPr>
        </p:nvSpPr>
        <p:spPr>
          <a:xfrm>
            <a:off x="457200" y="990600"/>
            <a:ext cx="5161280" cy="5410200"/>
          </a:xfrm>
        </p:spPr>
        <p:txBody>
          <a:bodyPr/>
          <a:lstStyle/>
          <a:p>
            <a:r>
              <a:rPr lang="zh-CN" altLang="en-US"/>
              <a:t>示例：上传一个温度数值</a:t>
            </a:r>
            <a:r>
              <a:rPr lang="en-US" altLang="zh-CN"/>
              <a:t>(25</a:t>
            </a:r>
            <a:r>
              <a:rPr lang="zh-CN" altLang="en-US"/>
              <a:t>度</a:t>
            </a:r>
            <a:r>
              <a:rPr lang="en-US" altLang="zh-CN"/>
              <a:t>) </a:t>
            </a:r>
            <a:r>
              <a:rPr lang="zh-CN" altLang="en-US"/>
              <a:t>到云平台</a:t>
            </a:r>
            <a:endParaRPr lang="en-US" altLang="zh-CN" dirty="0"/>
          </a:p>
        </p:txBody>
      </p:sp>
      <p:pic>
        <p:nvPicPr>
          <p:cNvPr id="1026" name="Picture 2" descr="F:\实验室相关\书籍\HTTP示例.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052" y="1931119"/>
            <a:ext cx="7307897" cy="4926881"/>
          </a:xfrm>
          <a:prstGeom prst="rect">
            <a:avLst/>
          </a:prstGeom>
          <a:noFill/>
          <a:extLst>
            <a:ext uri="{909E8E84-426E-40DD-AFC4-6F175D3DCCD1}">
              <a14:hiddenFill xmlns:a14="http://schemas.microsoft.com/office/drawing/2010/main">
                <a:solidFill>
                  <a:srgbClr val="FFFFFF"/>
                </a:solidFill>
              </a14:hiddenFill>
            </a:ext>
          </a:extLst>
        </p:spPr>
      </p:pic>
      <p:sp>
        <p:nvSpPr>
          <p:cNvPr id="10" name="灯片编号占位符 4">
            <a:extLst>
              <a:ext uri="{FF2B5EF4-FFF2-40B4-BE49-F238E27FC236}">
                <a16:creationId xmlns:a16="http://schemas.microsoft.com/office/drawing/2014/main" id="{D3B0A025-37AE-4FF6-9171-61FF33D0E71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21</a:t>
            </a:fld>
            <a:endParaRPr lang="zh-CN" altLang="zh-CN" sz="1800" baseline="0">
              <a:solidFill>
                <a:schemeClr val="folHlink"/>
              </a:solidFill>
              <a:latin typeface="Monotype Corsiva" panose="03010101010201010101" pitchFamily="66"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393921147"/>
              </p:ext>
            </p:extLst>
          </p:nvPr>
        </p:nvGraphicFramePr>
        <p:xfrm>
          <a:off x="5618480" y="952500"/>
          <a:ext cx="3373120" cy="1381760"/>
        </p:xfrm>
        <a:graphic>
          <a:graphicData uri="http://schemas.openxmlformats.org/drawingml/2006/table">
            <a:tbl>
              <a:tblPr firstRow="1" bandRow="1">
                <a:tableStyleId>{93296810-A885-4BE3-A3E7-6D5BEEA58F35}</a:tableStyleId>
              </a:tblPr>
              <a:tblGrid>
                <a:gridCol w="142240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tblGrid>
              <a:tr h="370840">
                <a:tc>
                  <a:txBody>
                    <a:bodyPr/>
                    <a:lstStyle/>
                    <a:p>
                      <a:pPr algn="ctr"/>
                      <a:r>
                        <a:rPr lang="zh-CN" altLang="en-US" dirty="0">
                          <a:latin typeface="+mj-ea"/>
                          <a:ea typeface="+mj-ea"/>
                        </a:rPr>
                        <a:t>报文</a:t>
                      </a:r>
                    </a:p>
                  </a:txBody>
                  <a:tcPr/>
                </a:tc>
                <a:tc>
                  <a:txBody>
                    <a:bodyPr/>
                    <a:lstStyle/>
                    <a:p>
                      <a:pPr algn="ctr"/>
                      <a:r>
                        <a:rPr lang="zh-CN" altLang="en-US">
                          <a:latin typeface="+mj-ea"/>
                          <a:ea typeface="+mj-ea"/>
                        </a:rPr>
                        <a:t>长度（字节）</a:t>
                      </a:r>
                    </a:p>
                  </a:txBody>
                  <a:tcPr/>
                </a:tc>
                <a:extLst>
                  <a:ext uri="{0D108BD9-81ED-4DB2-BD59-A6C34878D82A}">
                    <a16:rowId xmlns:a16="http://schemas.microsoft.com/office/drawing/2014/main" val="10000"/>
                  </a:ext>
                </a:extLst>
              </a:tr>
              <a:tr h="370840">
                <a:tc>
                  <a:txBody>
                    <a:bodyPr/>
                    <a:lstStyle/>
                    <a:p>
                      <a:pPr algn="ctr"/>
                      <a:r>
                        <a:rPr lang="en-US" altLang="zh-CN">
                          <a:latin typeface="+mj-ea"/>
                          <a:ea typeface="+mj-ea"/>
                        </a:rPr>
                        <a:t>HTTP</a:t>
                      </a:r>
                      <a:r>
                        <a:rPr lang="zh-CN" altLang="en-US">
                          <a:latin typeface="+mj-ea"/>
                          <a:ea typeface="+mj-ea"/>
                        </a:rPr>
                        <a:t>报文</a:t>
                      </a:r>
                    </a:p>
                  </a:txBody>
                  <a:tcPr/>
                </a:tc>
                <a:tc>
                  <a:txBody>
                    <a:bodyPr/>
                    <a:lstStyle/>
                    <a:p>
                      <a:pPr algn="ctr"/>
                      <a:r>
                        <a:rPr lang="en-US" altLang="zh-CN" dirty="0">
                          <a:latin typeface="+mj-ea"/>
                          <a:ea typeface="+mj-ea"/>
                        </a:rPr>
                        <a:t>824</a:t>
                      </a:r>
                      <a:endParaRPr lang="zh-CN" altLang="en-US" dirty="0">
                        <a:latin typeface="+mj-ea"/>
                        <a:ea typeface="+mj-ea"/>
                      </a:endParaRPr>
                    </a:p>
                  </a:txBody>
                  <a:tcPr/>
                </a:tc>
                <a:extLst>
                  <a:ext uri="{0D108BD9-81ED-4DB2-BD59-A6C34878D82A}">
                    <a16:rowId xmlns:a16="http://schemas.microsoft.com/office/drawing/2014/main" val="10001"/>
                  </a:ext>
                </a:extLst>
              </a:tr>
              <a:tr h="370840">
                <a:tc>
                  <a:txBody>
                    <a:bodyPr/>
                    <a:lstStyle/>
                    <a:p>
                      <a:pPr algn="ctr"/>
                      <a:r>
                        <a:rPr lang="en-US" altLang="zh-CN">
                          <a:latin typeface="+mj-ea"/>
                          <a:ea typeface="+mj-ea"/>
                        </a:rPr>
                        <a:t>TCP</a:t>
                      </a:r>
                      <a:r>
                        <a:rPr lang="zh-CN" altLang="en-US">
                          <a:latin typeface="+mj-ea"/>
                          <a:ea typeface="+mj-ea"/>
                        </a:rPr>
                        <a:t>控制头</a:t>
                      </a:r>
                    </a:p>
                  </a:txBody>
                  <a:tcPr/>
                </a:tc>
                <a:tc>
                  <a:txBody>
                    <a:bodyPr/>
                    <a:lstStyle/>
                    <a:p>
                      <a:pPr algn="ctr"/>
                      <a:r>
                        <a:rPr lang="en-US" altLang="zh-CN" dirty="0">
                          <a:latin typeface="+mj-ea"/>
                          <a:ea typeface="+mj-ea"/>
                        </a:rPr>
                        <a:t>20</a:t>
                      </a:r>
                      <a:r>
                        <a:rPr lang="zh-CN" altLang="en-US" dirty="0">
                          <a:latin typeface="+mj-ea"/>
                          <a:ea typeface="+mj-ea"/>
                        </a:rPr>
                        <a:t>（固定头部）</a:t>
                      </a:r>
                      <a:r>
                        <a:rPr lang="en-US" altLang="zh-CN" dirty="0">
                          <a:latin typeface="+mj-ea"/>
                          <a:ea typeface="+mj-ea"/>
                        </a:rPr>
                        <a:t>+12</a:t>
                      </a:r>
                      <a:r>
                        <a:rPr lang="zh-CN" altLang="en-US" dirty="0">
                          <a:latin typeface="+mj-ea"/>
                          <a:ea typeface="+mj-ea"/>
                        </a:rPr>
                        <a:t>（选项）</a:t>
                      </a:r>
                    </a:p>
                  </a:txBody>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a:t>
            </a:r>
            <a:endParaRPr lang="zh-CN" altLang="en-US" dirty="0"/>
          </a:p>
        </p:txBody>
      </p:sp>
      <p:sp>
        <p:nvSpPr>
          <p:cNvPr id="3" name="内容占位符 2"/>
          <p:cNvSpPr>
            <a:spLocks noGrp="1"/>
          </p:cNvSpPr>
          <p:nvPr>
            <p:ph idx="1"/>
          </p:nvPr>
        </p:nvSpPr>
        <p:spPr/>
        <p:txBody>
          <a:bodyPr/>
          <a:lstStyle/>
          <a:p>
            <a:r>
              <a:rPr lang="zh-CN" altLang="en-US" dirty="0"/>
              <a:t>无状态</a:t>
            </a:r>
            <a:endParaRPr lang="en-US" altLang="zh-CN" dirty="0"/>
          </a:p>
          <a:p>
            <a:pPr lvl="1"/>
            <a:r>
              <a:rPr lang="en-US" altLang="zh-CN" dirty="0"/>
              <a:t>HTTP</a:t>
            </a:r>
            <a:r>
              <a:rPr lang="zh-CN" altLang="en-US" dirty="0"/>
              <a:t>请求是无状态的，每次请求都相互独立，请求之前需要建立</a:t>
            </a:r>
            <a:r>
              <a:rPr lang="en-US" altLang="zh-CN" dirty="0"/>
              <a:t>TCP</a:t>
            </a:r>
            <a:r>
              <a:rPr lang="zh-CN" altLang="en-US" dirty="0"/>
              <a:t>连接</a:t>
            </a:r>
            <a:endParaRPr lang="en-US" altLang="zh-CN" dirty="0"/>
          </a:p>
          <a:p>
            <a:r>
              <a:rPr lang="zh-CN" altLang="en-US" dirty="0"/>
              <a:t>主动请求</a:t>
            </a:r>
            <a:endParaRPr lang="en-US" altLang="zh-CN" dirty="0"/>
          </a:p>
          <a:p>
            <a:pPr lvl="1"/>
            <a:r>
              <a:rPr lang="en-US" altLang="zh-CN" dirty="0"/>
              <a:t>HTTP</a:t>
            </a:r>
            <a:r>
              <a:rPr lang="zh-CN" altLang="en-US" dirty="0"/>
              <a:t>都是客户端主动发起，服务端被动接收并处理请求，对于设备下行控制场景需要设备端搭建</a:t>
            </a:r>
            <a:r>
              <a:rPr lang="en-US" altLang="zh-CN" dirty="0"/>
              <a:t>Web Server</a:t>
            </a:r>
            <a:r>
              <a:rPr lang="zh-CN" altLang="en-US" dirty="0"/>
              <a:t>才能实现</a:t>
            </a:r>
            <a:endParaRPr lang="en-US" altLang="zh-CN" dirty="0"/>
          </a:p>
          <a:p>
            <a:r>
              <a:rPr lang="zh-CN" altLang="en-US" dirty="0"/>
              <a:t>协议包头较长</a:t>
            </a:r>
            <a:endParaRPr lang="en-US" altLang="zh-CN" dirty="0"/>
          </a:p>
          <a:p>
            <a:pPr lvl="1"/>
            <a:r>
              <a:rPr lang="en-US" altLang="zh-CN" dirty="0"/>
              <a:t>HTTP</a:t>
            </a:r>
            <a:r>
              <a:rPr lang="zh-CN" altLang="en-US" dirty="0"/>
              <a:t>请求返回协议携带很多首部行，会增加整个报文长度，对于物联网设备短消息、低频率场景而言是一个重量级数据传输协议</a:t>
            </a:r>
            <a:endParaRPr lang="en-US" altLang="zh-CN" dirty="0"/>
          </a:p>
        </p:txBody>
      </p:sp>
      <p:sp>
        <p:nvSpPr>
          <p:cNvPr id="6" name="灯片编号占位符 4">
            <a:extLst>
              <a:ext uri="{FF2B5EF4-FFF2-40B4-BE49-F238E27FC236}">
                <a16:creationId xmlns:a16="http://schemas.microsoft.com/office/drawing/2014/main" id="{24B03F07-9BDD-486A-9F0E-0096ABDB09E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22</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en-US" altLang="zh-CN"/>
              <a:t>CoAP</a:t>
            </a:r>
            <a:r>
              <a:rPr lang="zh-CN" altLang="en-US"/>
              <a:t>（</a:t>
            </a:r>
            <a:r>
              <a:rPr lang="en-US" altLang="zh-CN"/>
              <a:t>Constrained Application Protocol</a:t>
            </a:r>
            <a:r>
              <a:rPr lang="zh-CN" altLang="en-US"/>
              <a:t>）</a:t>
            </a:r>
            <a:endParaRPr lang="en-US" altLang="zh-CN"/>
          </a:p>
          <a:p>
            <a:pPr lvl="1"/>
            <a:r>
              <a:rPr lang="zh-CN" altLang="en-US"/>
              <a:t>定义：</a:t>
            </a:r>
            <a:r>
              <a:rPr lang="en-US" altLang="zh-CN"/>
              <a:t> CoAP</a:t>
            </a:r>
            <a:r>
              <a:rPr lang="zh-CN" altLang="en-US"/>
              <a:t>是一种</a:t>
            </a:r>
            <a:r>
              <a:rPr lang="en-US" altLang="zh-CN"/>
              <a:t>M2M</a:t>
            </a:r>
            <a:r>
              <a:rPr lang="zh-CN" altLang="en-US"/>
              <a:t>（</a:t>
            </a:r>
            <a:r>
              <a:rPr lang="en-US" altLang="zh-CN"/>
              <a:t>machine-to-machine</a:t>
            </a:r>
            <a:r>
              <a:rPr lang="zh-CN" altLang="en-US"/>
              <a:t>）数据传输协议，主要用于物联网中资源受限的节点和网络应用。</a:t>
            </a:r>
            <a:endParaRPr lang="en-US" altLang="zh-CN"/>
          </a:p>
          <a:p>
            <a:pPr lvl="1"/>
            <a:r>
              <a:rPr lang="zh-CN" altLang="en-US"/>
              <a:t>非确认式请求</a:t>
            </a:r>
            <a:r>
              <a:rPr lang="en-US" altLang="zh-CN"/>
              <a:t>-</a:t>
            </a:r>
            <a:r>
              <a:rPr lang="zh-CN" altLang="en-US"/>
              <a:t>响应消息传输模型</a:t>
            </a:r>
            <a:endParaRPr lang="en-US" altLang="zh-CN"/>
          </a:p>
          <a:p>
            <a:pPr lvl="1"/>
            <a:endParaRPr lang="en-US" altLang="zh-CN"/>
          </a:p>
          <a:p>
            <a:pPr lvl="1"/>
            <a:endParaRPr lang="en-US" altLang="zh-CN"/>
          </a:p>
          <a:p>
            <a:pPr lvl="1"/>
            <a:endParaRPr lang="en-US" altLang="zh-CN"/>
          </a:p>
          <a:p>
            <a:pPr lvl="1"/>
            <a:endParaRPr lang="en-US" altLang="zh-CN"/>
          </a:p>
          <a:p>
            <a:pPr lvl="1"/>
            <a:r>
              <a:rPr lang="zh-CN" altLang="en-US"/>
              <a:t>确认式请求</a:t>
            </a:r>
            <a:r>
              <a:rPr lang="en-US" altLang="zh-CN"/>
              <a:t>-</a:t>
            </a:r>
            <a:r>
              <a:rPr lang="zh-CN" altLang="en-US"/>
              <a:t>响应消息传输模型</a:t>
            </a:r>
            <a:endParaRPr lang="en-US" altLang="zh-CN"/>
          </a:p>
          <a:p>
            <a:pPr lvl="1"/>
            <a:endParaRPr lang="en-US" altLang="zh-CN" dirty="0"/>
          </a:p>
        </p:txBody>
      </p:sp>
      <p:sp>
        <p:nvSpPr>
          <p:cNvPr id="6" name="灯片编号占位符 4">
            <a:extLst>
              <a:ext uri="{FF2B5EF4-FFF2-40B4-BE49-F238E27FC236}">
                <a16:creationId xmlns:a16="http://schemas.microsoft.com/office/drawing/2014/main" id="{ACB66944-7E43-484A-911E-38D3BC51B7E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23</a:t>
            </a:fld>
            <a:endParaRPr lang="zh-CN" altLang="zh-CN" sz="1800" baseline="0" dirty="0">
              <a:solidFill>
                <a:schemeClr val="folHlink"/>
              </a:solidFill>
              <a:latin typeface="Monotype Corsiva" panose="03010101010201010101" pitchFamily="66" charset="0"/>
            </a:endParaRPr>
          </a:p>
        </p:txBody>
      </p:sp>
      <p:sp>
        <p:nvSpPr>
          <p:cNvPr id="7" name="TextBox 4">
            <a:extLst>
              <a:ext uri="{FF2B5EF4-FFF2-40B4-BE49-F238E27FC236}">
                <a16:creationId xmlns:a16="http://schemas.microsoft.com/office/drawing/2014/main" id="{7504F7FA-DC22-490E-8547-6BD3B34EE3B5}"/>
              </a:ext>
            </a:extLst>
          </p:cNvPr>
          <p:cNvSpPr txBox="1"/>
          <p:nvPr/>
        </p:nvSpPr>
        <p:spPr>
          <a:xfrm>
            <a:off x="4139933" y="2757185"/>
            <a:ext cx="4546867" cy="1538370"/>
          </a:xfrm>
          <a:prstGeom prst="rect">
            <a:avLst/>
          </a:prstGeom>
          <a:noFill/>
        </p:spPr>
        <p:txBody>
          <a:bodyPr wrap="square" rtlCol="0">
            <a:spAutoFit/>
          </a:bodyPr>
          <a:lstStyle/>
          <a:p>
            <a:pPr marL="342900" indent="-342900">
              <a:lnSpc>
                <a:spcPct val="120000"/>
              </a:lnSpc>
              <a:buFont typeface="Wingdings" panose="05000000000000000000" pitchFamily="2" charset="2"/>
              <a:buChar char="l"/>
            </a:pPr>
            <a:r>
              <a:rPr lang="en-US" altLang="zh-CN" sz="2000" baseline="0" dirty="0">
                <a:latin typeface="+mj-ea"/>
                <a:ea typeface="+mj-ea"/>
              </a:rPr>
              <a:t>Request</a:t>
            </a:r>
            <a:r>
              <a:rPr lang="zh-CN" altLang="en-US" sz="2000" baseline="0" dirty="0">
                <a:latin typeface="+mj-ea"/>
                <a:ea typeface="+mj-ea"/>
              </a:rPr>
              <a:t>和</a:t>
            </a:r>
            <a:r>
              <a:rPr lang="en-US" altLang="zh-CN" sz="2000" baseline="0" dirty="0">
                <a:latin typeface="+mj-ea"/>
                <a:ea typeface="+mj-ea"/>
              </a:rPr>
              <a:t>Response</a:t>
            </a:r>
            <a:r>
              <a:rPr lang="zh-CN" altLang="en-US" sz="2000" baseline="0" dirty="0">
                <a:latin typeface="+mj-ea"/>
                <a:ea typeface="+mj-ea"/>
              </a:rPr>
              <a:t>只发送一次，没有</a:t>
            </a:r>
            <a:r>
              <a:rPr lang="en-US" altLang="zh-CN" sz="2000" baseline="0" dirty="0">
                <a:latin typeface="+mj-ea"/>
                <a:ea typeface="+mj-ea"/>
              </a:rPr>
              <a:t>ACK</a:t>
            </a:r>
            <a:r>
              <a:rPr lang="zh-CN" altLang="en-US" sz="2000" baseline="0" dirty="0">
                <a:latin typeface="+mj-ea"/>
                <a:ea typeface="+mj-ea"/>
              </a:rPr>
              <a:t>确认</a:t>
            </a:r>
            <a:endParaRPr lang="en-US" altLang="zh-CN" sz="2000" baseline="0" dirty="0">
              <a:latin typeface="+mj-ea"/>
              <a:ea typeface="+mj-ea"/>
            </a:endParaRPr>
          </a:p>
          <a:p>
            <a:pPr marL="342900" indent="-342900">
              <a:lnSpc>
                <a:spcPct val="120000"/>
              </a:lnSpc>
              <a:buFont typeface="Wingdings" panose="05000000000000000000" pitchFamily="2" charset="2"/>
              <a:buChar char="l"/>
            </a:pPr>
            <a:r>
              <a:rPr lang="en-US" altLang="zh-CN" sz="2000" baseline="0" dirty="0">
                <a:latin typeface="+mj-ea"/>
                <a:ea typeface="+mj-ea"/>
              </a:rPr>
              <a:t>Request</a:t>
            </a:r>
            <a:r>
              <a:rPr lang="zh-CN" altLang="en-US" sz="2000" baseline="0" dirty="0">
                <a:latin typeface="+mj-ea"/>
                <a:ea typeface="+mj-ea"/>
              </a:rPr>
              <a:t>和</a:t>
            </a:r>
            <a:r>
              <a:rPr lang="en-US" altLang="zh-CN" sz="2000" baseline="0" dirty="0">
                <a:latin typeface="+mj-ea"/>
                <a:ea typeface="+mj-ea"/>
              </a:rPr>
              <a:t>Response</a:t>
            </a:r>
            <a:r>
              <a:rPr lang="zh-CN" altLang="en-US" sz="2000" baseline="0" dirty="0">
                <a:latin typeface="+mj-ea"/>
                <a:ea typeface="+mj-ea"/>
              </a:rPr>
              <a:t>中任何一个丢失都会导致</a:t>
            </a:r>
            <a:r>
              <a:rPr lang="zh-CN" altLang="en-US" sz="2000" baseline="0" dirty="0">
                <a:solidFill>
                  <a:srgbClr val="C00000"/>
                </a:solidFill>
                <a:latin typeface="+mj-ea"/>
                <a:ea typeface="+mj-ea"/>
              </a:rPr>
              <a:t>数据传输失败</a:t>
            </a:r>
          </a:p>
        </p:txBody>
      </p:sp>
      <p:pic>
        <p:nvPicPr>
          <p:cNvPr id="8" name="Picture 2" descr="F:\实验室相关\书籍\CoAP.png">
            <a:extLst>
              <a:ext uri="{FF2B5EF4-FFF2-40B4-BE49-F238E27FC236}">
                <a16:creationId xmlns:a16="http://schemas.microsoft.com/office/drawing/2014/main" id="{B51E8094-ABB8-4D44-A82B-02CCF82D02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4817" y="2757185"/>
            <a:ext cx="1650022" cy="17045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F:\实验室相关\书籍\CoAP.png">
            <a:extLst>
              <a:ext uri="{FF2B5EF4-FFF2-40B4-BE49-F238E27FC236}">
                <a16:creationId xmlns:a16="http://schemas.microsoft.com/office/drawing/2014/main" id="{D515D1A1-79A0-4CE8-931A-FD76AB94DD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64817" y="4803590"/>
            <a:ext cx="1650022" cy="170451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7">
            <a:extLst>
              <a:ext uri="{FF2B5EF4-FFF2-40B4-BE49-F238E27FC236}">
                <a16:creationId xmlns:a16="http://schemas.microsoft.com/office/drawing/2014/main" id="{6FBE7526-4B27-44FF-AE62-3579F78B2EE3}"/>
              </a:ext>
            </a:extLst>
          </p:cNvPr>
          <p:cNvSpPr txBox="1"/>
          <p:nvPr/>
        </p:nvSpPr>
        <p:spPr>
          <a:xfrm>
            <a:off x="4139933" y="4862430"/>
            <a:ext cx="4546867" cy="1538370"/>
          </a:xfrm>
          <a:prstGeom prst="rect">
            <a:avLst/>
          </a:prstGeom>
          <a:noFill/>
        </p:spPr>
        <p:txBody>
          <a:bodyPr wrap="square" rtlCol="0">
            <a:spAutoFit/>
          </a:bodyPr>
          <a:lstStyle/>
          <a:p>
            <a:pPr marL="342900" indent="-342900">
              <a:lnSpc>
                <a:spcPct val="120000"/>
              </a:lnSpc>
              <a:buFont typeface="Wingdings" panose="05000000000000000000" pitchFamily="2" charset="2"/>
              <a:buChar char="l"/>
            </a:pPr>
            <a:r>
              <a:rPr lang="en-US" altLang="zh-CN" sz="2000" baseline="0" dirty="0">
                <a:latin typeface="+mj-ea"/>
                <a:ea typeface="+mj-ea"/>
              </a:rPr>
              <a:t>Request</a:t>
            </a:r>
            <a:r>
              <a:rPr lang="zh-CN" altLang="en-US" sz="2000" baseline="0" dirty="0">
                <a:latin typeface="+mj-ea"/>
                <a:ea typeface="+mj-ea"/>
              </a:rPr>
              <a:t>和</a:t>
            </a:r>
            <a:r>
              <a:rPr lang="en-US" altLang="zh-CN" sz="2000" baseline="0" dirty="0">
                <a:latin typeface="+mj-ea"/>
                <a:ea typeface="+mj-ea"/>
              </a:rPr>
              <a:t>Response</a:t>
            </a:r>
            <a:r>
              <a:rPr lang="zh-CN" altLang="en-US" sz="2000" baseline="0" dirty="0">
                <a:latin typeface="+mj-ea"/>
                <a:ea typeface="+mj-ea"/>
              </a:rPr>
              <a:t>任何一个丢失都会导致</a:t>
            </a:r>
            <a:r>
              <a:rPr lang="zh-CN" altLang="en-US" sz="2000" baseline="0" dirty="0">
                <a:solidFill>
                  <a:srgbClr val="C00000"/>
                </a:solidFill>
                <a:latin typeface="+mj-ea"/>
                <a:ea typeface="+mj-ea"/>
              </a:rPr>
              <a:t>重传</a:t>
            </a:r>
            <a:endParaRPr lang="en-US" altLang="zh-CN" sz="2000" baseline="0" dirty="0">
              <a:solidFill>
                <a:srgbClr val="C00000"/>
              </a:solidFill>
              <a:latin typeface="+mj-ea"/>
              <a:ea typeface="+mj-ea"/>
            </a:endParaRPr>
          </a:p>
          <a:p>
            <a:pPr marL="342900" indent="-342900">
              <a:lnSpc>
                <a:spcPct val="120000"/>
              </a:lnSpc>
              <a:buFont typeface="Wingdings" panose="05000000000000000000" pitchFamily="2" charset="2"/>
              <a:buChar char="l"/>
            </a:pPr>
            <a:r>
              <a:rPr lang="en-US" altLang="zh-CN" sz="2000" baseline="0" dirty="0">
                <a:latin typeface="+mj-ea"/>
                <a:ea typeface="+mj-ea"/>
              </a:rPr>
              <a:t>ACK</a:t>
            </a:r>
            <a:r>
              <a:rPr lang="zh-CN" altLang="en-US" sz="2000" baseline="0" dirty="0">
                <a:latin typeface="+mj-ea"/>
                <a:ea typeface="+mj-ea"/>
              </a:rPr>
              <a:t>和数据作为</a:t>
            </a:r>
            <a:r>
              <a:rPr lang="en-US" altLang="zh-CN" sz="2000" baseline="0" dirty="0">
                <a:latin typeface="+mj-ea"/>
                <a:ea typeface="+mj-ea"/>
              </a:rPr>
              <a:t>Response</a:t>
            </a:r>
            <a:r>
              <a:rPr lang="zh-CN" altLang="en-US" sz="2000" baseline="0" dirty="0">
                <a:latin typeface="+mj-ea"/>
                <a:ea typeface="+mj-ea"/>
              </a:rPr>
              <a:t>同时到达请求端</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zh-CN" altLang="en-US" dirty="0"/>
              <a:t>报文格式</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版本：</a:t>
            </a:r>
            <a:r>
              <a:rPr lang="en-US" altLang="zh-CN" dirty="0"/>
              <a:t>01</a:t>
            </a:r>
          </a:p>
          <a:p>
            <a:pPr lvl="1"/>
            <a:r>
              <a:rPr lang="zh-CN" altLang="en-US" dirty="0"/>
              <a:t>类型：</a:t>
            </a:r>
            <a:endParaRPr lang="en-US" altLang="zh-CN" dirty="0"/>
          </a:p>
        </p:txBody>
      </p:sp>
      <p:graphicFrame>
        <p:nvGraphicFramePr>
          <p:cNvPr id="8" name="表格 3"/>
          <p:cNvGraphicFramePr>
            <a:graphicFrameLocks noGrp="1"/>
          </p:cNvGraphicFramePr>
          <p:nvPr>
            <p:extLst>
              <p:ext uri="{D42A27DB-BD31-4B8C-83A1-F6EECF244321}">
                <p14:modId xmlns:p14="http://schemas.microsoft.com/office/powerpoint/2010/main" val="3060342831"/>
              </p:ext>
            </p:extLst>
          </p:nvPr>
        </p:nvGraphicFramePr>
        <p:xfrm>
          <a:off x="338695" y="4008120"/>
          <a:ext cx="8466610" cy="2392680"/>
        </p:xfrm>
        <a:graphic>
          <a:graphicData uri="http://schemas.openxmlformats.org/drawingml/2006/table">
            <a:tbl>
              <a:tblPr firstRow="1" bandRow="1">
                <a:tableStyleId>{93296810-A885-4BE3-A3E7-6D5BEEA58F35}</a:tableStyleId>
              </a:tblPr>
              <a:tblGrid>
                <a:gridCol w="555057">
                  <a:extLst>
                    <a:ext uri="{9D8B030D-6E8A-4147-A177-3AD203B41FA5}">
                      <a16:colId xmlns:a16="http://schemas.microsoft.com/office/drawing/2014/main" val="20000"/>
                    </a:ext>
                  </a:extLst>
                </a:gridCol>
                <a:gridCol w="3850105">
                  <a:extLst>
                    <a:ext uri="{9D8B030D-6E8A-4147-A177-3AD203B41FA5}">
                      <a16:colId xmlns:a16="http://schemas.microsoft.com/office/drawing/2014/main" val="20001"/>
                    </a:ext>
                  </a:extLst>
                </a:gridCol>
                <a:gridCol w="4061448">
                  <a:extLst>
                    <a:ext uri="{9D8B030D-6E8A-4147-A177-3AD203B41FA5}">
                      <a16:colId xmlns:a16="http://schemas.microsoft.com/office/drawing/2014/main" val="20002"/>
                    </a:ext>
                  </a:extLst>
                </a:gridCol>
              </a:tblGrid>
              <a:tr h="370840">
                <a:tc>
                  <a:txBody>
                    <a:bodyPr/>
                    <a:lstStyle/>
                    <a:p>
                      <a:pPr algn="ctr"/>
                      <a:r>
                        <a:rPr lang="zh-CN" altLang="en-US" dirty="0">
                          <a:latin typeface="+mj-ea"/>
                          <a:ea typeface="+mj-ea"/>
                        </a:rPr>
                        <a:t>值</a:t>
                      </a:r>
                    </a:p>
                  </a:txBody>
                  <a:tcPr/>
                </a:tc>
                <a:tc>
                  <a:txBody>
                    <a:bodyPr/>
                    <a:lstStyle/>
                    <a:p>
                      <a:pPr algn="ctr"/>
                      <a:r>
                        <a:rPr lang="zh-CN" altLang="en-US" dirty="0">
                          <a:latin typeface="+mj-ea"/>
                          <a:ea typeface="+mj-ea"/>
                        </a:rPr>
                        <a:t>消息类型</a:t>
                      </a:r>
                    </a:p>
                  </a:txBody>
                  <a:tcPr/>
                </a:tc>
                <a:tc>
                  <a:txBody>
                    <a:bodyPr/>
                    <a:lstStyle/>
                    <a:p>
                      <a:r>
                        <a:rPr lang="zh-CN" altLang="en-US">
                          <a:latin typeface="+mj-ea"/>
                          <a:ea typeface="+mj-ea"/>
                        </a:rPr>
                        <a:t>描述</a:t>
                      </a:r>
                    </a:p>
                  </a:txBody>
                  <a:tcPr/>
                </a:tc>
                <a:extLst>
                  <a:ext uri="{0D108BD9-81ED-4DB2-BD59-A6C34878D82A}">
                    <a16:rowId xmlns:a16="http://schemas.microsoft.com/office/drawing/2014/main" val="10000"/>
                  </a:ext>
                </a:extLst>
              </a:tr>
              <a:tr h="370840">
                <a:tc>
                  <a:txBody>
                    <a:bodyPr/>
                    <a:lstStyle/>
                    <a:p>
                      <a:pPr algn="ctr"/>
                      <a:r>
                        <a:rPr lang="en-US" altLang="zh-CN">
                          <a:latin typeface="+mj-ea"/>
                          <a:ea typeface="+mj-ea"/>
                        </a:rPr>
                        <a:t>00</a:t>
                      </a:r>
                      <a:endParaRPr lang="zh-CN" altLang="en-US">
                        <a:latin typeface="+mj-ea"/>
                        <a:ea typeface="+mj-ea"/>
                      </a:endParaRPr>
                    </a:p>
                  </a:txBody>
                  <a:tcPr/>
                </a:tc>
                <a:tc>
                  <a:txBody>
                    <a:bodyPr/>
                    <a:lstStyle/>
                    <a:p>
                      <a:pPr algn="ctr"/>
                      <a:r>
                        <a:rPr lang="en-US" altLang="zh-CN" dirty="0">
                          <a:latin typeface="+mj-ea"/>
                          <a:ea typeface="+mj-ea"/>
                        </a:rPr>
                        <a:t>Confirmable message</a:t>
                      </a:r>
                      <a:endParaRPr lang="zh-CN" altLang="en-US" dirty="0">
                        <a:latin typeface="+mj-ea"/>
                        <a:ea typeface="+mj-ea"/>
                      </a:endParaRPr>
                    </a:p>
                  </a:txBody>
                  <a:tcPr/>
                </a:tc>
                <a:tc>
                  <a:txBody>
                    <a:bodyPr/>
                    <a:lstStyle/>
                    <a:p>
                      <a:r>
                        <a:rPr lang="zh-CN" altLang="en-US">
                          <a:latin typeface="+mj-ea"/>
                          <a:ea typeface="+mj-ea"/>
                        </a:rPr>
                        <a:t>请求消息（需要返回确认），使用停止等待</a:t>
                      </a:r>
                      <a:r>
                        <a:rPr lang="en-US" altLang="zh-CN">
                          <a:latin typeface="+mj-ea"/>
                          <a:ea typeface="+mj-ea"/>
                        </a:rPr>
                        <a:t>+</a:t>
                      </a:r>
                      <a:r>
                        <a:rPr lang="zh-CN" altLang="en-US">
                          <a:latin typeface="+mj-ea"/>
                          <a:ea typeface="+mj-ea"/>
                        </a:rPr>
                        <a:t>指数退避实现重传</a:t>
                      </a:r>
                    </a:p>
                  </a:txBody>
                  <a:tcPr/>
                </a:tc>
                <a:extLst>
                  <a:ext uri="{0D108BD9-81ED-4DB2-BD59-A6C34878D82A}">
                    <a16:rowId xmlns:a16="http://schemas.microsoft.com/office/drawing/2014/main" val="10001"/>
                  </a:ext>
                </a:extLst>
              </a:tr>
              <a:tr h="370840">
                <a:tc>
                  <a:txBody>
                    <a:bodyPr/>
                    <a:lstStyle/>
                    <a:p>
                      <a:pPr algn="ctr"/>
                      <a:r>
                        <a:rPr lang="en-US" altLang="zh-CN">
                          <a:latin typeface="+mj-ea"/>
                          <a:ea typeface="+mj-ea"/>
                        </a:rPr>
                        <a:t>01</a:t>
                      </a:r>
                      <a:endParaRPr lang="zh-CN" altLang="en-US">
                        <a:latin typeface="+mj-ea"/>
                        <a:ea typeface="+mj-ea"/>
                      </a:endParaRPr>
                    </a:p>
                  </a:txBody>
                  <a:tcPr/>
                </a:tc>
                <a:tc>
                  <a:txBody>
                    <a:bodyPr/>
                    <a:lstStyle/>
                    <a:p>
                      <a:pPr algn="ctr"/>
                      <a:r>
                        <a:rPr lang="en-US" altLang="zh-CN">
                          <a:latin typeface="+mj-ea"/>
                          <a:ea typeface="+mj-ea"/>
                        </a:rPr>
                        <a:t>Non-confirmable message</a:t>
                      </a:r>
                      <a:endParaRPr lang="zh-CN" altLang="en-US">
                        <a:latin typeface="+mj-ea"/>
                        <a:ea typeface="+mj-ea"/>
                      </a:endParaRPr>
                    </a:p>
                  </a:txBody>
                  <a:tcPr/>
                </a:tc>
                <a:tc>
                  <a:txBody>
                    <a:bodyPr/>
                    <a:lstStyle/>
                    <a:p>
                      <a:r>
                        <a:rPr lang="zh-CN" altLang="en-US">
                          <a:latin typeface="+mj-ea"/>
                          <a:ea typeface="+mj-ea"/>
                        </a:rPr>
                        <a:t>请求消息（不需要返回确认）</a:t>
                      </a:r>
                    </a:p>
                  </a:txBody>
                  <a:tcPr/>
                </a:tc>
                <a:extLst>
                  <a:ext uri="{0D108BD9-81ED-4DB2-BD59-A6C34878D82A}">
                    <a16:rowId xmlns:a16="http://schemas.microsoft.com/office/drawing/2014/main" val="10002"/>
                  </a:ext>
                </a:extLst>
              </a:tr>
              <a:tr h="370840">
                <a:tc>
                  <a:txBody>
                    <a:bodyPr/>
                    <a:lstStyle/>
                    <a:p>
                      <a:pPr algn="ctr"/>
                      <a:r>
                        <a:rPr lang="en-US" altLang="zh-CN">
                          <a:latin typeface="+mj-ea"/>
                          <a:ea typeface="+mj-ea"/>
                        </a:rPr>
                        <a:t>10</a:t>
                      </a:r>
                      <a:endParaRPr lang="zh-CN" altLang="en-US">
                        <a:latin typeface="+mj-ea"/>
                        <a:ea typeface="+mj-ea"/>
                      </a:endParaRPr>
                    </a:p>
                  </a:txBody>
                  <a:tcPr/>
                </a:tc>
                <a:tc>
                  <a:txBody>
                    <a:bodyPr/>
                    <a:lstStyle/>
                    <a:p>
                      <a:pPr algn="ctr"/>
                      <a:r>
                        <a:rPr lang="en-US" altLang="zh-CN">
                          <a:latin typeface="+mj-ea"/>
                          <a:ea typeface="+mj-ea"/>
                        </a:rPr>
                        <a:t>ACK</a:t>
                      </a:r>
                      <a:r>
                        <a:rPr lang="zh-CN" altLang="en-US">
                          <a:latin typeface="+mj-ea"/>
                          <a:ea typeface="+mj-ea"/>
                        </a:rPr>
                        <a:t>（</a:t>
                      </a:r>
                      <a:r>
                        <a:rPr lang="en-US" altLang="zh-CN">
                          <a:latin typeface="+mj-ea"/>
                          <a:ea typeface="+mj-ea"/>
                        </a:rPr>
                        <a:t>Acknowledgement message</a:t>
                      </a:r>
                      <a:r>
                        <a:rPr lang="zh-CN" altLang="en-US">
                          <a:latin typeface="+mj-ea"/>
                          <a:ea typeface="+mj-ea"/>
                        </a:rPr>
                        <a:t>）</a:t>
                      </a:r>
                    </a:p>
                  </a:txBody>
                  <a:tcPr/>
                </a:tc>
                <a:tc>
                  <a:txBody>
                    <a:bodyPr/>
                    <a:lstStyle/>
                    <a:p>
                      <a:r>
                        <a:rPr lang="zh-CN" altLang="en-US">
                          <a:latin typeface="+mj-ea"/>
                          <a:ea typeface="+mj-ea"/>
                        </a:rPr>
                        <a:t>确认消息（针对处理正确的请求消息）</a:t>
                      </a:r>
                    </a:p>
                  </a:txBody>
                  <a:tcPr/>
                </a:tc>
                <a:extLst>
                  <a:ext uri="{0D108BD9-81ED-4DB2-BD59-A6C34878D82A}">
                    <a16:rowId xmlns:a16="http://schemas.microsoft.com/office/drawing/2014/main" val="10003"/>
                  </a:ext>
                </a:extLst>
              </a:tr>
              <a:tr h="370840">
                <a:tc>
                  <a:txBody>
                    <a:bodyPr/>
                    <a:lstStyle/>
                    <a:p>
                      <a:pPr algn="ctr"/>
                      <a:r>
                        <a:rPr lang="en-US" altLang="zh-CN" dirty="0">
                          <a:latin typeface="+mj-ea"/>
                          <a:ea typeface="+mj-ea"/>
                        </a:rPr>
                        <a:t>11</a:t>
                      </a:r>
                      <a:endParaRPr lang="zh-CN" altLang="en-US" dirty="0">
                        <a:latin typeface="+mj-ea"/>
                        <a:ea typeface="+mj-ea"/>
                      </a:endParaRPr>
                    </a:p>
                  </a:txBody>
                  <a:tcPr/>
                </a:tc>
                <a:tc>
                  <a:txBody>
                    <a:bodyPr/>
                    <a:lstStyle/>
                    <a:p>
                      <a:pPr algn="ctr"/>
                      <a:r>
                        <a:rPr lang="en-US" altLang="zh-CN">
                          <a:latin typeface="+mj-ea"/>
                          <a:ea typeface="+mj-ea"/>
                        </a:rPr>
                        <a:t>RST</a:t>
                      </a:r>
                      <a:r>
                        <a:rPr lang="zh-CN" altLang="en-US">
                          <a:latin typeface="+mj-ea"/>
                          <a:ea typeface="+mj-ea"/>
                        </a:rPr>
                        <a:t>（</a:t>
                      </a:r>
                      <a:r>
                        <a:rPr lang="en-US" altLang="zh-CN">
                          <a:latin typeface="+mj-ea"/>
                          <a:ea typeface="+mj-ea"/>
                        </a:rPr>
                        <a:t>Reset Message</a:t>
                      </a:r>
                      <a:r>
                        <a:rPr lang="zh-CN" altLang="en-US">
                          <a:latin typeface="+mj-ea"/>
                          <a:ea typeface="+mj-ea"/>
                        </a:rPr>
                        <a:t>）</a:t>
                      </a:r>
                    </a:p>
                  </a:txBody>
                  <a:tcPr/>
                </a:tc>
                <a:tc>
                  <a:txBody>
                    <a:bodyPr/>
                    <a:lstStyle/>
                    <a:p>
                      <a:r>
                        <a:rPr lang="zh-CN" altLang="en-US" dirty="0">
                          <a:latin typeface="+mj-ea"/>
                          <a:ea typeface="+mj-ea"/>
                        </a:rPr>
                        <a:t>错误消息（针对处理错误的请求消息）</a:t>
                      </a:r>
                    </a:p>
                  </a:txBody>
                  <a:tcPr/>
                </a:tc>
                <a:extLst>
                  <a:ext uri="{0D108BD9-81ED-4DB2-BD59-A6C34878D82A}">
                    <a16:rowId xmlns:a16="http://schemas.microsoft.com/office/drawing/2014/main" val="10004"/>
                  </a:ext>
                </a:extLst>
              </a:tr>
            </a:tbl>
          </a:graphicData>
        </a:graphic>
      </p:graphicFrame>
      <p:pic>
        <p:nvPicPr>
          <p:cNvPr id="9" name="图片 8" descr="D:\孙普\赵丽欣\新建文件夹\tp\7-10.tif">
            <a:extLst>
              <a:ext uri="{FF2B5EF4-FFF2-40B4-BE49-F238E27FC236}">
                <a16:creationId xmlns:a16="http://schemas.microsoft.com/office/drawing/2014/main" id="{CD4039A0-4CD6-409F-8ADB-187A891D0FE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75254" y="1568417"/>
            <a:ext cx="8793492" cy="1396164"/>
          </a:xfrm>
          <a:prstGeom prst="rect">
            <a:avLst/>
          </a:prstGeom>
          <a:noFill/>
          <a:ln>
            <a:noFill/>
          </a:ln>
        </p:spPr>
      </p:pic>
      <p:sp>
        <p:nvSpPr>
          <p:cNvPr id="10" name="矩形 9">
            <a:extLst>
              <a:ext uri="{FF2B5EF4-FFF2-40B4-BE49-F238E27FC236}">
                <a16:creationId xmlns:a16="http://schemas.microsoft.com/office/drawing/2014/main" id="{B34D6A5F-9E62-4971-9C0E-305341B499C9}"/>
              </a:ext>
            </a:extLst>
          </p:cNvPr>
          <p:cNvSpPr/>
          <p:nvPr/>
        </p:nvSpPr>
        <p:spPr>
          <a:xfrm>
            <a:off x="184879" y="1905175"/>
            <a:ext cx="1080891" cy="270861"/>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6" name="直接箭头连接符 5"/>
          <p:cNvCxnSpPr>
            <a:cxnSpLocks/>
          </p:cNvCxnSpPr>
          <p:nvPr/>
        </p:nvCxnSpPr>
        <p:spPr bwMode="auto">
          <a:xfrm>
            <a:off x="381000" y="2163535"/>
            <a:ext cx="562276" cy="1137804"/>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4" name="灯片编号占位符 4">
            <a:extLst>
              <a:ext uri="{FF2B5EF4-FFF2-40B4-BE49-F238E27FC236}">
                <a16:creationId xmlns:a16="http://schemas.microsoft.com/office/drawing/2014/main" id="{B1FA5E49-F423-4213-8D58-BA119288A60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zh-CN" altLang="en-US" dirty="0"/>
              <a:t>报文格式</a:t>
            </a:r>
            <a:endParaRPr lang="en-US" altLang="zh-CN" dirty="0"/>
          </a:p>
          <a:p>
            <a:endParaRPr lang="en-US" altLang="zh-CN" dirty="0"/>
          </a:p>
          <a:p>
            <a:pPr lvl="1"/>
            <a:endParaRPr lang="en-US" altLang="zh-CN" dirty="0"/>
          </a:p>
          <a:p>
            <a:pPr lvl="1"/>
            <a:endParaRPr lang="en-US" altLang="zh-CN" dirty="0"/>
          </a:p>
          <a:p>
            <a:pPr lvl="1"/>
            <a:endParaRPr lang="en-US" altLang="zh-CN" dirty="0"/>
          </a:p>
          <a:p>
            <a:pPr lvl="1"/>
            <a:r>
              <a:rPr lang="en-US" altLang="zh-CN" dirty="0"/>
              <a:t>Code</a:t>
            </a:r>
            <a:r>
              <a:rPr lang="zh-CN" altLang="en-US" dirty="0"/>
              <a:t>字段格式</a:t>
            </a:r>
            <a:endParaRPr lang="en-US" altLang="zh-CN" dirty="0"/>
          </a:p>
          <a:p>
            <a:pPr lvl="1"/>
            <a:endParaRPr lang="en-US" altLang="zh-CN" dirty="0"/>
          </a:p>
          <a:p>
            <a:pPr lvl="1"/>
            <a:endParaRPr lang="en-US" altLang="zh-CN" dirty="0"/>
          </a:p>
          <a:p>
            <a:pPr lvl="1"/>
            <a:endParaRPr lang="en-US" altLang="zh-CN" dirty="0"/>
          </a:p>
          <a:p>
            <a:pPr lvl="1"/>
            <a:r>
              <a:rPr lang="zh-CN" altLang="en-US" dirty="0"/>
              <a:t>消息</a:t>
            </a:r>
            <a:r>
              <a:rPr lang="en-US" altLang="zh-CN" dirty="0"/>
              <a:t>ID</a:t>
            </a:r>
          </a:p>
          <a:p>
            <a:pPr lvl="2"/>
            <a:r>
              <a:rPr lang="zh-CN" altLang="en-US" dirty="0"/>
              <a:t>检测重复消息，确保同一份消息在接收端只被处理一次</a:t>
            </a:r>
            <a:endParaRPr lang="en-US" altLang="zh-CN" dirty="0"/>
          </a:p>
          <a:p>
            <a:pPr lvl="2"/>
            <a:r>
              <a:rPr lang="en-US" altLang="zh-CN" dirty="0"/>
              <a:t>ACK/RST</a:t>
            </a:r>
            <a:r>
              <a:rPr lang="zh-CN" altLang="en-US" dirty="0"/>
              <a:t>返回确认</a:t>
            </a:r>
            <a:r>
              <a:rPr lang="en-US" altLang="zh-CN" dirty="0"/>
              <a:t>/</a:t>
            </a:r>
            <a:r>
              <a:rPr lang="zh-CN" altLang="en-US" dirty="0"/>
              <a:t>拒绝数据包序号</a:t>
            </a:r>
            <a:endParaRPr lang="en-US" altLang="zh-CN" dirty="0"/>
          </a:p>
        </p:txBody>
      </p:sp>
      <p:pic>
        <p:nvPicPr>
          <p:cNvPr id="2050" name="Picture 2" descr="F:\实验室相关\书籍\Code格式.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713" y="3710940"/>
            <a:ext cx="3364028" cy="9409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格 3"/>
          <p:cNvGraphicFramePr>
            <a:graphicFrameLocks noGrp="1"/>
          </p:cNvGraphicFramePr>
          <p:nvPr>
            <p:extLst>
              <p:ext uri="{D42A27DB-BD31-4B8C-83A1-F6EECF244321}">
                <p14:modId xmlns:p14="http://schemas.microsoft.com/office/powerpoint/2010/main" val="3406599074"/>
              </p:ext>
            </p:extLst>
          </p:nvPr>
        </p:nvGraphicFramePr>
        <p:xfrm>
          <a:off x="5305798" y="3064543"/>
          <a:ext cx="2793076" cy="2225040"/>
        </p:xfrm>
        <a:graphic>
          <a:graphicData uri="http://schemas.openxmlformats.org/drawingml/2006/table">
            <a:tbl>
              <a:tblPr firstRow="1" bandRow="1">
                <a:tableStyleId>{93296810-A885-4BE3-A3E7-6D5BEEA58F35}</a:tableStyleId>
              </a:tblPr>
              <a:tblGrid>
                <a:gridCol w="765125">
                  <a:extLst>
                    <a:ext uri="{9D8B030D-6E8A-4147-A177-3AD203B41FA5}">
                      <a16:colId xmlns:a16="http://schemas.microsoft.com/office/drawing/2014/main" val="20000"/>
                    </a:ext>
                  </a:extLst>
                </a:gridCol>
                <a:gridCol w="1002832">
                  <a:extLst>
                    <a:ext uri="{9D8B030D-6E8A-4147-A177-3AD203B41FA5}">
                      <a16:colId xmlns:a16="http://schemas.microsoft.com/office/drawing/2014/main" val="20001"/>
                    </a:ext>
                  </a:extLst>
                </a:gridCol>
                <a:gridCol w="1025119">
                  <a:extLst>
                    <a:ext uri="{9D8B030D-6E8A-4147-A177-3AD203B41FA5}">
                      <a16:colId xmlns:a16="http://schemas.microsoft.com/office/drawing/2014/main" val="20002"/>
                    </a:ext>
                  </a:extLst>
                </a:gridCol>
              </a:tblGrid>
              <a:tr h="370840">
                <a:tc>
                  <a:txBody>
                    <a:bodyPr/>
                    <a:lstStyle/>
                    <a:p>
                      <a:r>
                        <a:rPr lang="zh-CN" altLang="en-US">
                          <a:latin typeface="+mj-ea"/>
                          <a:ea typeface="+mj-ea"/>
                        </a:rPr>
                        <a:t>类别</a:t>
                      </a:r>
                    </a:p>
                  </a:txBody>
                  <a:tcPr/>
                </a:tc>
                <a:tc>
                  <a:txBody>
                    <a:bodyPr/>
                    <a:lstStyle/>
                    <a:p>
                      <a:r>
                        <a:rPr lang="zh-CN" altLang="en-US" dirty="0">
                          <a:latin typeface="+mj-ea"/>
                          <a:ea typeface="+mj-ea"/>
                        </a:rPr>
                        <a:t>详细</a:t>
                      </a:r>
                    </a:p>
                  </a:txBody>
                  <a:tcPr/>
                </a:tc>
                <a:tc>
                  <a:txBody>
                    <a:bodyPr/>
                    <a:lstStyle/>
                    <a:p>
                      <a:r>
                        <a:rPr lang="zh-CN" altLang="en-US">
                          <a:latin typeface="+mj-ea"/>
                          <a:ea typeface="+mj-ea"/>
                        </a:rPr>
                        <a:t>描述</a:t>
                      </a:r>
                    </a:p>
                  </a:txBody>
                  <a:tcPr/>
                </a:tc>
                <a:extLst>
                  <a:ext uri="{0D108BD9-81ED-4DB2-BD59-A6C34878D82A}">
                    <a16:rowId xmlns:a16="http://schemas.microsoft.com/office/drawing/2014/main" val="10000"/>
                  </a:ext>
                </a:extLst>
              </a:tr>
              <a:tr h="370840">
                <a:tc>
                  <a:txBody>
                    <a:bodyPr/>
                    <a:lstStyle/>
                    <a:p>
                      <a:r>
                        <a:rPr lang="en-US" altLang="zh-CN">
                          <a:latin typeface="+mj-ea"/>
                          <a:ea typeface="+mj-ea"/>
                        </a:rPr>
                        <a:t>0</a:t>
                      </a:r>
                      <a:endParaRPr lang="zh-CN" altLang="en-US">
                        <a:latin typeface="+mj-ea"/>
                        <a:ea typeface="+mj-ea"/>
                      </a:endParaRPr>
                    </a:p>
                  </a:txBody>
                  <a:tcPr/>
                </a:tc>
                <a:tc>
                  <a:txBody>
                    <a:bodyPr/>
                    <a:lstStyle/>
                    <a:p>
                      <a:r>
                        <a:rPr lang="en-US" altLang="zh-CN">
                          <a:latin typeface="+mj-ea"/>
                          <a:ea typeface="+mj-ea"/>
                        </a:rPr>
                        <a:t>00</a:t>
                      </a:r>
                      <a:endParaRPr lang="zh-CN" altLang="en-US">
                        <a:latin typeface="+mj-ea"/>
                        <a:ea typeface="+mj-ea"/>
                      </a:endParaRPr>
                    </a:p>
                  </a:txBody>
                  <a:tcPr/>
                </a:tc>
                <a:tc>
                  <a:txBody>
                    <a:bodyPr/>
                    <a:lstStyle/>
                    <a:p>
                      <a:r>
                        <a:rPr lang="zh-CN" altLang="en-US">
                          <a:latin typeface="+mj-ea"/>
                          <a:ea typeface="+mj-ea"/>
                        </a:rPr>
                        <a:t>空消息</a:t>
                      </a:r>
                    </a:p>
                  </a:txBody>
                  <a:tcPr/>
                </a:tc>
                <a:extLst>
                  <a:ext uri="{0D108BD9-81ED-4DB2-BD59-A6C34878D82A}">
                    <a16:rowId xmlns:a16="http://schemas.microsoft.com/office/drawing/2014/main" val="10001"/>
                  </a:ext>
                </a:extLst>
              </a:tr>
              <a:tr h="370840">
                <a:tc>
                  <a:txBody>
                    <a:bodyPr/>
                    <a:lstStyle/>
                    <a:p>
                      <a:r>
                        <a:rPr lang="en-US" altLang="zh-CN">
                          <a:latin typeface="+mj-ea"/>
                          <a:ea typeface="+mj-ea"/>
                        </a:rPr>
                        <a:t>0</a:t>
                      </a:r>
                      <a:endParaRPr lang="zh-CN" altLang="en-US">
                        <a:latin typeface="+mj-ea"/>
                        <a:ea typeface="+mj-ea"/>
                      </a:endParaRPr>
                    </a:p>
                  </a:txBody>
                  <a:tcPr/>
                </a:tc>
                <a:tc>
                  <a:txBody>
                    <a:bodyPr/>
                    <a:lstStyle/>
                    <a:p>
                      <a:r>
                        <a:rPr lang="en-US" altLang="zh-CN" dirty="0">
                          <a:latin typeface="+mj-ea"/>
                          <a:ea typeface="+mj-ea"/>
                        </a:rPr>
                        <a:t>01~31</a:t>
                      </a:r>
                      <a:endParaRPr lang="zh-CN" altLang="en-US" dirty="0">
                        <a:latin typeface="+mj-ea"/>
                        <a:ea typeface="+mj-ea"/>
                      </a:endParaRPr>
                    </a:p>
                  </a:txBody>
                  <a:tcPr/>
                </a:tc>
                <a:tc>
                  <a:txBody>
                    <a:bodyPr/>
                    <a:lstStyle/>
                    <a:p>
                      <a:r>
                        <a:rPr lang="zh-CN" altLang="en-US" dirty="0">
                          <a:latin typeface="+mj-ea"/>
                          <a:ea typeface="+mj-ea"/>
                        </a:rPr>
                        <a:t>请求</a:t>
                      </a:r>
                    </a:p>
                  </a:txBody>
                  <a:tcPr/>
                </a:tc>
                <a:extLst>
                  <a:ext uri="{0D108BD9-81ED-4DB2-BD59-A6C34878D82A}">
                    <a16:rowId xmlns:a16="http://schemas.microsoft.com/office/drawing/2014/main" val="10002"/>
                  </a:ext>
                </a:extLst>
              </a:tr>
              <a:tr h="370840">
                <a:tc>
                  <a:txBody>
                    <a:bodyPr/>
                    <a:lstStyle/>
                    <a:p>
                      <a:r>
                        <a:rPr lang="en-US" altLang="zh-CN">
                          <a:latin typeface="+mj-ea"/>
                          <a:ea typeface="+mj-ea"/>
                        </a:rPr>
                        <a:t>1</a:t>
                      </a:r>
                      <a:endParaRPr lang="zh-CN" altLang="en-US">
                        <a:latin typeface="+mj-ea"/>
                        <a:ea typeface="+mj-ea"/>
                      </a:endParaRPr>
                    </a:p>
                  </a:txBody>
                  <a:tcPr/>
                </a:tc>
                <a:tc>
                  <a:txBody>
                    <a:bodyPr/>
                    <a:lstStyle/>
                    <a:p>
                      <a:r>
                        <a:rPr lang="en-US" altLang="zh-CN">
                          <a:latin typeface="+mj-ea"/>
                          <a:ea typeface="+mj-ea"/>
                        </a:rPr>
                        <a:t>00~31</a:t>
                      </a:r>
                      <a:endParaRPr lang="zh-CN" altLang="en-US">
                        <a:latin typeface="+mj-ea"/>
                        <a:ea typeface="+mj-ea"/>
                      </a:endParaRPr>
                    </a:p>
                  </a:txBody>
                  <a:tcPr/>
                </a:tc>
                <a:tc>
                  <a:txBody>
                    <a:bodyPr/>
                    <a:lstStyle/>
                    <a:p>
                      <a:r>
                        <a:rPr lang="zh-CN" altLang="en-US">
                          <a:latin typeface="+mj-ea"/>
                          <a:ea typeface="+mj-ea"/>
                        </a:rPr>
                        <a:t>保留</a:t>
                      </a:r>
                    </a:p>
                  </a:txBody>
                  <a:tcPr/>
                </a:tc>
                <a:extLst>
                  <a:ext uri="{0D108BD9-81ED-4DB2-BD59-A6C34878D82A}">
                    <a16:rowId xmlns:a16="http://schemas.microsoft.com/office/drawing/2014/main" val="10003"/>
                  </a:ext>
                </a:extLst>
              </a:tr>
              <a:tr h="370840">
                <a:tc>
                  <a:txBody>
                    <a:bodyPr/>
                    <a:lstStyle/>
                    <a:p>
                      <a:r>
                        <a:rPr lang="en-US" altLang="zh-CN">
                          <a:latin typeface="+mj-ea"/>
                          <a:ea typeface="+mj-ea"/>
                        </a:rPr>
                        <a:t>2~5</a:t>
                      </a:r>
                      <a:endParaRPr lang="zh-CN" altLang="en-US">
                        <a:latin typeface="+mj-ea"/>
                        <a:ea typeface="+mj-ea"/>
                      </a:endParaRPr>
                    </a:p>
                  </a:txBody>
                  <a:tcPr/>
                </a:tc>
                <a:tc>
                  <a:txBody>
                    <a:bodyPr/>
                    <a:lstStyle/>
                    <a:p>
                      <a:r>
                        <a:rPr lang="en-US" altLang="zh-CN" dirty="0">
                          <a:latin typeface="+mj-ea"/>
                          <a:ea typeface="+mj-ea"/>
                        </a:rPr>
                        <a:t>00~31</a:t>
                      </a:r>
                      <a:endParaRPr lang="zh-CN" altLang="en-US" dirty="0">
                        <a:latin typeface="+mj-ea"/>
                        <a:ea typeface="+mj-ea"/>
                      </a:endParaRPr>
                    </a:p>
                  </a:txBody>
                  <a:tcPr/>
                </a:tc>
                <a:tc>
                  <a:txBody>
                    <a:bodyPr/>
                    <a:lstStyle/>
                    <a:p>
                      <a:r>
                        <a:rPr lang="zh-CN" altLang="en-US" dirty="0">
                          <a:latin typeface="+mj-ea"/>
                          <a:ea typeface="+mj-ea"/>
                        </a:rPr>
                        <a:t>响应</a:t>
                      </a:r>
                    </a:p>
                  </a:txBody>
                  <a:tcPr/>
                </a:tc>
                <a:extLst>
                  <a:ext uri="{0D108BD9-81ED-4DB2-BD59-A6C34878D82A}">
                    <a16:rowId xmlns:a16="http://schemas.microsoft.com/office/drawing/2014/main" val="10004"/>
                  </a:ext>
                </a:extLst>
              </a:tr>
              <a:tr h="370840">
                <a:tc>
                  <a:txBody>
                    <a:bodyPr/>
                    <a:lstStyle/>
                    <a:p>
                      <a:r>
                        <a:rPr lang="en-US" altLang="zh-CN">
                          <a:latin typeface="+mj-ea"/>
                          <a:ea typeface="+mj-ea"/>
                        </a:rPr>
                        <a:t>6~7</a:t>
                      </a:r>
                      <a:endParaRPr lang="zh-CN" altLang="en-US">
                        <a:latin typeface="+mj-ea"/>
                        <a:ea typeface="+mj-ea"/>
                      </a:endParaRPr>
                    </a:p>
                  </a:txBody>
                  <a:tcPr/>
                </a:tc>
                <a:tc>
                  <a:txBody>
                    <a:bodyPr/>
                    <a:lstStyle/>
                    <a:p>
                      <a:r>
                        <a:rPr lang="en-US" altLang="zh-CN">
                          <a:latin typeface="+mj-ea"/>
                          <a:ea typeface="+mj-ea"/>
                        </a:rPr>
                        <a:t>00~31</a:t>
                      </a:r>
                      <a:endParaRPr lang="zh-CN" altLang="en-US">
                        <a:latin typeface="+mj-ea"/>
                        <a:ea typeface="+mj-ea"/>
                      </a:endParaRPr>
                    </a:p>
                  </a:txBody>
                  <a:tcPr/>
                </a:tc>
                <a:tc>
                  <a:txBody>
                    <a:bodyPr/>
                    <a:lstStyle/>
                    <a:p>
                      <a:r>
                        <a:rPr lang="zh-CN" altLang="en-US" dirty="0">
                          <a:latin typeface="+mj-ea"/>
                          <a:ea typeface="+mj-ea"/>
                        </a:rPr>
                        <a:t>保留</a:t>
                      </a:r>
                    </a:p>
                  </a:txBody>
                  <a:tcPr/>
                </a:tc>
                <a:extLst>
                  <a:ext uri="{0D108BD9-81ED-4DB2-BD59-A6C34878D82A}">
                    <a16:rowId xmlns:a16="http://schemas.microsoft.com/office/drawing/2014/main" val="10005"/>
                  </a:ext>
                </a:extLst>
              </a:tr>
            </a:tbl>
          </a:graphicData>
        </a:graphic>
      </p:graphicFrame>
      <p:sp>
        <p:nvSpPr>
          <p:cNvPr id="8" name="灯片编号占位符 4">
            <a:extLst>
              <a:ext uri="{FF2B5EF4-FFF2-40B4-BE49-F238E27FC236}">
                <a16:creationId xmlns:a16="http://schemas.microsoft.com/office/drawing/2014/main" id="{6605A0BD-962C-4746-9344-A2B79A17688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25</a:t>
            </a:fld>
            <a:endParaRPr lang="zh-CN" altLang="zh-CN" sz="1800" baseline="0" dirty="0">
              <a:solidFill>
                <a:schemeClr val="folHlink"/>
              </a:solidFill>
              <a:latin typeface="Monotype Corsiva" panose="03010101010201010101" pitchFamily="66" charset="0"/>
            </a:endParaRPr>
          </a:p>
        </p:txBody>
      </p:sp>
      <p:pic>
        <p:nvPicPr>
          <p:cNvPr id="11" name="图片 10" descr="D:\孙普\赵丽欣\新建文件夹\tp\7-10.tif">
            <a:extLst>
              <a:ext uri="{FF2B5EF4-FFF2-40B4-BE49-F238E27FC236}">
                <a16:creationId xmlns:a16="http://schemas.microsoft.com/office/drawing/2014/main" id="{1C1F0895-DAE5-4B7A-B624-CDCA06B53B6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175254" y="1568417"/>
            <a:ext cx="8793492" cy="1396164"/>
          </a:xfrm>
          <a:prstGeom prst="rect">
            <a:avLst/>
          </a:prstGeom>
          <a:noFill/>
          <a:ln>
            <a:noFill/>
          </a:ln>
        </p:spPr>
      </p:pic>
      <p:sp>
        <p:nvSpPr>
          <p:cNvPr id="12" name="矩形 11">
            <a:extLst>
              <a:ext uri="{FF2B5EF4-FFF2-40B4-BE49-F238E27FC236}">
                <a16:creationId xmlns:a16="http://schemas.microsoft.com/office/drawing/2014/main" id="{5C95F5AF-A308-4568-8737-ADFF5EBD1571}"/>
              </a:ext>
            </a:extLst>
          </p:cNvPr>
          <p:cNvSpPr/>
          <p:nvPr/>
        </p:nvSpPr>
        <p:spPr>
          <a:xfrm>
            <a:off x="2372933" y="1902086"/>
            <a:ext cx="2199067" cy="270861"/>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3" name="直接箭头连接符 12">
            <a:extLst>
              <a:ext uri="{FF2B5EF4-FFF2-40B4-BE49-F238E27FC236}">
                <a16:creationId xmlns:a16="http://schemas.microsoft.com/office/drawing/2014/main" id="{C2CE4087-A614-420D-9A13-AAEE35500686}"/>
              </a:ext>
            </a:extLst>
          </p:cNvPr>
          <p:cNvCxnSpPr>
            <a:cxnSpLocks/>
          </p:cNvCxnSpPr>
          <p:nvPr/>
        </p:nvCxnSpPr>
        <p:spPr bwMode="auto">
          <a:xfrm flipH="1">
            <a:off x="2002055" y="2186292"/>
            <a:ext cx="1366788" cy="1057422"/>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8" name="矩形 17">
            <a:extLst>
              <a:ext uri="{FF2B5EF4-FFF2-40B4-BE49-F238E27FC236}">
                <a16:creationId xmlns:a16="http://schemas.microsoft.com/office/drawing/2014/main" id="{13711930-6A3A-4E72-9F98-E930F62CF140}"/>
              </a:ext>
            </a:extLst>
          </p:cNvPr>
          <p:cNvSpPr/>
          <p:nvPr/>
        </p:nvSpPr>
        <p:spPr>
          <a:xfrm>
            <a:off x="4572000" y="1910144"/>
            <a:ext cx="4396746" cy="265165"/>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9" name="直接箭头连接符 18">
            <a:extLst>
              <a:ext uri="{FF2B5EF4-FFF2-40B4-BE49-F238E27FC236}">
                <a16:creationId xmlns:a16="http://schemas.microsoft.com/office/drawing/2014/main" id="{B487970C-132F-4B84-948A-C00EAF3351BC}"/>
              </a:ext>
            </a:extLst>
          </p:cNvPr>
          <p:cNvCxnSpPr>
            <a:cxnSpLocks/>
          </p:cNvCxnSpPr>
          <p:nvPr/>
        </p:nvCxnSpPr>
        <p:spPr bwMode="auto">
          <a:xfrm flipH="1">
            <a:off x="4311333" y="2184725"/>
            <a:ext cx="1256577" cy="2932179"/>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zh-CN" altLang="en-US"/>
              <a:t>报文格式</a:t>
            </a:r>
            <a:endParaRPr lang="en-US" altLang="zh-CN"/>
          </a:p>
          <a:p>
            <a:pPr lvl="1"/>
            <a:endParaRPr lang="en-US" altLang="zh-CN"/>
          </a:p>
          <a:p>
            <a:pPr lvl="1"/>
            <a:endParaRPr lang="en-US" altLang="zh-CN"/>
          </a:p>
          <a:p>
            <a:pPr lvl="1"/>
            <a:endParaRPr lang="en-US" altLang="zh-CN"/>
          </a:p>
          <a:p>
            <a:pPr lvl="1"/>
            <a:endParaRPr lang="en-US" altLang="zh-CN"/>
          </a:p>
          <a:p>
            <a:pPr lvl="1"/>
            <a:r>
              <a:rPr lang="en-US" altLang="zh-CN"/>
              <a:t>Token</a:t>
            </a:r>
            <a:r>
              <a:rPr lang="zh-CN" altLang="en-US"/>
              <a:t>（</a:t>
            </a:r>
            <a:r>
              <a:rPr lang="en-US" altLang="zh-CN"/>
              <a:t>0~8</a:t>
            </a:r>
            <a:r>
              <a:rPr lang="zh-CN" altLang="en-US"/>
              <a:t>字节）</a:t>
            </a:r>
            <a:endParaRPr lang="en-US" altLang="zh-CN"/>
          </a:p>
          <a:p>
            <a:pPr lvl="2"/>
            <a:r>
              <a:rPr lang="zh-CN" altLang="en-US"/>
              <a:t>将响应报文和请求报文匹配起来</a:t>
            </a:r>
            <a:endParaRPr lang="en-US" altLang="zh-CN"/>
          </a:p>
          <a:p>
            <a:pPr lvl="2"/>
            <a:r>
              <a:rPr lang="zh-CN" altLang="en-US"/>
              <a:t>由</a:t>
            </a:r>
            <a:r>
              <a:rPr lang="en-US" altLang="zh-CN"/>
              <a:t>Client</a:t>
            </a:r>
            <a:r>
              <a:rPr lang="zh-CN" altLang="en-US"/>
              <a:t>生成，每个</a:t>
            </a:r>
            <a:r>
              <a:rPr lang="en-US" altLang="zh-CN"/>
              <a:t>Token</a:t>
            </a:r>
            <a:r>
              <a:rPr lang="zh-CN" altLang="en-US"/>
              <a:t>区分一个并发的</a:t>
            </a:r>
            <a:r>
              <a:rPr lang="en-US" altLang="zh-CN"/>
              <a:t>Request</a:t>
            </a:r>
            <a:endParaRPr lang="en-US" altLang="zh-CN" dirty="0"/>
          </a:p>
        </p:txBody>
      </p:sp>
      <p:pic>
        <p:nvPicPr>
          <p:cNvPr id="4" name="Picture 3" descr="F:\实验室相关\书籍\CoAP非确认消息传输模型.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5978" y="3183634"/>
            <a:ext cx="3089650" cy="320391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bwMode="auto">
          <a:xfrm>
            <a:off x="6224026" y="4083262"/>
            <a:ext cx="1322962" cy="340468"/>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rgbClr val="C00000"/>
              </a:solidFill>
              <a:effectLst>
                <a:outerShdw blurRad="38100" dist="38100" dir="2700000" algn="tl">
                  <a:srgbClr val="000000">
                    <a:alpha val="43137"/>
                  </a:srgbClr>
                </a:outerShdw>
              </a:effectLst>
              <a:latin typeface="Arial" panose="020B0604020202020204" pitchFamily="34" charset="0"/>
            </a:endParaRPr>
          </a:p>
        </p:txBody>
      </p:sp>
      <p:sp>
        <p:nvSpPr>
          <p:cNvPr id="7" name="矩形 6"/>
          <p:cNvSpPr/>
          <p:nvPr/>
        </p:nvSpPr>
        <p:spPr bwMode="auto">
          <a:xfrm>
            <a:off x="6224026" y="5827387"/>
            <a:ext cx="1322962" cy="265888"/>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rgbClr val="C00000"/>
              </a:solidFill>
              <a:effectLst>
                <a:outerShdw blurRad="38100" dist="38100" dir="2700000" algn="tl">
                  <a:srgbClr val="000000">
                    <a:alpha val="43137"/>
                  </a:srgbClr>
                </a:outerShdw>
              </a:effectLst>
              <a:latin typeface="Arial" panose="020B0604020202020204" pitchFamily="34" charset="0"/>
            </a:endParaRPr>
          </a:p>
        </p:txBody>
      </p:sp>
      <p:pic>
        <p:nvPicPr>
          <p:cNvPr id="12" name="图片 11" descr="D:\孙普\赵丽欣\新建文件夹\tp\7-10.tif">
            <a:extLst>
              <a:ext uri="{FF2B5EF4-FFF2-40B4-BE49-F238E27FC236}">
                <a16:creationId xmlns:a16="http://schemas.microsoft.com/office/drawing/2014/main" id="{59DF5B45-EA5C-4918-8F33-755BA5F67A7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a:xfrm>
            <a:off x="175254" y="1568417"/>
            <a:ext cx="8793492" cy="1396164"/>
          </a:xfrm>
          <a:prstGeom prst="rect">
            <a:avLst/>
          </a:prstGeom>
          <a:noFill/>
          <a:ln>
            <a:noFill/>
          </a:ln>
        </p:spPr>
      </p:pic>
      <p:cxnSp>
        <p:nvCxnSpPr>
          <p:cNvPr id="13" name="直接箭头连接符 12">
            <a:extLst>
              <a:ext uri="{FF2B5EF4-FFF2-40B4-BE49-F238E27FC236}">
                <a16:creationId xmlns:a16="http://schemas.microsoft.com/office/drawing/2014/main" id="{6371AE30-0C43-41BF-AC3C-637F29F84A6C}"/>
              </a:ext>
            </a:extLst>
          </p:cNvPr>
          <p:cNvCxnSpPr>
            <a:cxnSpLocks/>
          </p:cNvCxnSpPr>
          <p:nvPr/>
        </p:nvCxnSpPr>
        <p:spPr bwMode="auto">
          <a:xfrm>
            <a:off x="4870382" y="2327812"/>
            <a:ext cx="1390340" cy="3668727"/>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4" name="矩形 13">
            <a:extLst>
              <a:ext uri="{FF2B5EF4-FFF2-40B4-BE49-F238E27FC236}">
                <a16:creationId xmlns:a16="http://schemas.microsoft.com/office/drawing/2014/main" id="{9FE6C70A-773B-4A01-AC90-F2C45EA4204B}"/>
              </a:ext>
            </a:extLst>
          </p:cNvPr>
          <p:cNvSpPr/>
          <p:nvPr/>
        </p:nvSpPr>
        <p:spPr>
          <a:xfrm>
            <a:off x="175254" y="2166671"/>
            <a:ext cx="8793492" cy="265165"/>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5" name="直接箭头连接符 14">
            <a:extLst>
              <a:ext uri="{FF2B5EF4-FFF2-40B4-BE49-F238E27FC236}">
                <a16:creationId xmlns:a16="http://schemas.microsoft.com/office/drawing/2014/main" id="{A693376F-2060-42A3-8C0C-2FEC2877D475}"/>
              </a:ext>
            </a:extLst>
          </p:cNvPr>
          <p:cNvCxnSpPr>
            <a:cxnSpLocks/>
          </p:cNvCxnSpPr>
          <p:nvPr/>
        </p:nvCxnSpPr>
        <p:spPr bwMode="auto">
          <a:xfrm>
            <a:off x="4870383" y="2327812"/>
            <a:ext cx="1390339" cy="195956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22" name="灯片编号占位符 4">
            <a:extLst>
              <a:ext uri="{FF2B5EF4-FFF2-40B4-BE49-F238E27FC236}">
                <a16:creationId xmlns:a16="http://schemas.microsoft.com/office/drawing/2014/main" id="{7A6B46D3-8375-49F4-A0E9-A4FC5895707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zh-CN" altLang="en-US" dirty="0"/>
              <a:t>报文格式</a:t>
            </a:r>
            <a:endParaRPr lang="en-US" altLang="zh-CN" dirty="0"/>
          </a:p>
          <a:p>
            <a:endParaRPr lang="en-US" altLang="zh-CN" dirty="0"/>
          </a:p>
          <a:p>
            <a:endParaRPr lang="en-US" altLang="zh-CN" dirty="0"/>
          </a:p>
          <a:p>
            <a:endParaRPr lang="en-US" altLang="zh-CN" dirty="0"/>
          </a:p>
          <a:p>
            <a:pPr lvl="1"/>
            <a:r>
              <a:rPr lang="zh-CN" altLang="en-US" dirty="0"/>
              <a:t>选项报文</a:t>
            </a:r>
            <a:endParaRPr lang="en-US" altLang="zh-CN" dirty="0"/>
          </a:p>
          <a:p>
            <a:pPr lvl="1"/>
            <a:endParaRPr lang="en-US" altLang="zh-CN" dirty="0"/>
          </a:p>
        </p:txBody>
      </p:sp>
      <p:pic>
        <p:nvPicPr>
          <p:cNvPr id="3075" name="Picture 3" descr="F:\实验室相关\书籍\CoAP Op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325" y="3434752"/>
            <a:ext cx="2470830" cy="2780350"/>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D:\孙普\赵丽欣\新建文件夹\tp\7-10.tif">
            <a:extLst>
              <a:ext uri="{FF2B5EF4-FFF2-40B4-BE49-F238E27FC236}">
                <a16:creationId xmlns:a16="http://schemas.microsoft.com/office/drawing/2014/main" id="{5FB6975E-F6DD-4483-9E24-35C00B46B07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175254" y="1568417"/>
            <a:ext cx="8793492" cy="1396164"/>
          </a:xfrm>
          <a:prstGeom prst="rect">
            <a:avLst/>
          </a:prstGeom>
          <a:noFill/>
          <a:ln>
            <a:noFill/>
          </a:ln>
        </p:spPr>
      </p:pic>
      <p:sp>
        <p:nvSpPr>
          <p:cNvPr id="10" name="矩形 9">
            <a:extLst>
              <a:ext uri="{FF2B5EF4-FFF2-40B4-BE49-F238E27FC236}">
                <a16:creationId xmlns:a16="http://schemas.microsoft.com/office/drawing/2014/main" id="{05C19AFD-F5E2-4A2A-98B1-8975FDAAAD69}"/>
              </a:ext>
            </a:extLst>
          </p:cNvPr>
          <p:cNvSpPr/>
          <p:nvPr/>
        </p:nvSpPr>
        <p:spPr>
          <a:xfrm>
            <a:off x="175254" y="2421010"/>
            <a:ext cx="8793492" cy="265165"/>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1" name="直接箭头连接符 10">
            <a:extLst>
              <a:ext uri="{FF2B5EF4-FFF2-40B4-BE49-F238E27FC236}">
                <a16:creationId xmlns:a16="http://schemas.microsoft.com/office/drawing/2014/main" id="{5DD5F4E1-3D1D-4D59-9B6E-BD3B80E0B5FB}"/>
              </a:ext>
            </a:extLst>
          </p:cNvPr>
          <p:cNvCxnSpPr>
            <a:cxnSpLocks/>
            <a:stCxn id="10" idx="2"/>
          </p:cNvCxnSpPr>
          <p:nvPr/>
        </p:nvCxnSpPr>
        <p:spPr bwMode="auto">
          <a:xfrm flipH="1">
            <a:off x="4167740" y="2686175"/>
            <a:ext cx="404260" cy="742587"/>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6" name="灯片编号占位符 4">
            <a:extLst>
              <a:ext uri="{FF2B5EF4-FFF2-40B4-BE49-F238E27FC236}">
                <a16:creationId xmlns:a16="http://schemas.microsoft.com/office/drawing/2014/main" id="{9B8C7426-EF38-4B43-BCE7-D2E1A57A0FF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en-US" altLang="zh-CN"/>
              <a:t>HTTP</a:t>
            </a:r>
            <a:r>
              <a:rPr lang="zh-CN" altLang="en-US"/>
              <a:t>中同样的示例：上传一个温度数值</a:t>
            </a:r>
            <a:r>
              <a:rPr lang="en-US" altLang="zh-CN"/>
              <a:t>(25</a:t>
            </a:r>
            <a:r>
              <a:rPr lang="zh-CN" altLang="en-US"/>
              <a:t>度</a:t>
            </a:r>
            <a:r>
              <a:rPr lang="en-US" altLang="zh-CN"/>
              <a:t>)</a:t>
            </a:r>
            <a:r>
              <a:rPr lang="zh-CN" altLang="en-US"/>
              <a:t>到云</a:t>
            </a:r>
            <a:endParaRPr lang="en-US" altLang="zh-CN"/>
          </a:p>
        </p:txBody>
      </p:sp>
      <p:pic>
        <p:nvPicPr>
          <p:cNvPr id="5124" name="Picture 4" descr="F:\实验室相关\书籍\CoAP报文示例.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260" y="2955506"/>
            <a:ext cx="5141020" cy="1666755"/>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descr="F:\实验室相关\书籍\CoA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121" y="1534306"/>
            <a:ext cx="8087758" cy="133700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F:\实验室相关\书籍\CoAP.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121" y="4913999"/>
            <a:ext cx="8086489" cy="1087767"/>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bwMode="auto">
          <a:xfrm>
            <a:off x="1597794" y="3135353"/>
            <a:ext cx="4735629" cy="700992"/>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9" name="直接箭头连接符 8"/>
          <p:cNvCxnSpPr>
            <a:cxnSpLocks/>
          </p:cNvCxnSpPr>
          <p:nvPr/>
        </p:nvCxnSpPr>
        <p:spPr bwMode="auto">
          <a:xfrm flipV="1">
            <a:off x="5437739" y="2849079"/>
            <a:ext cx="0" cy="286274"/>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3" name="矩形 12"/>
          <p:cNvSpPr/>
          <p:nvPr/>
        </p:nvSpPr>
        <p:spPr bwMode="auto">
          <a:xfrm>
            <a:off x="1597794" y="3968473"/>
            <a:ext cx="4735629" cy="653788"/>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4" name="直接箭头连接符 13"/>
          <p:cNvCxnSpPr>
            <a:cxnSpLocks/>
          </p:cNvCxnSpPr>
          <p:nvPr/>
        </p:nvCxnSpPr>
        <p:spPr bwMode="auto">
          <a:xfrm>
            <a:off x="5686148" y="4622261"/>
            <a:ext cx="0" cy="31003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7" name="TextBox 4"/>
          <p:cNvSpPr txBox="1"/>
          <p:nvPr/>
        </p:nvSpPr>
        <p:spPr>
          <a:xfrm>
            <a:off x="1712015" y="6166643"/>
            <a:ext cx="5605670" cy="461665"/>
          </a:xfrm>
          <a:prstGeom prst="rect">
            <a:avLst/>
          </a:prstGeom>
          <a:solidFill>
            <a:schemeClr val="bg1"/>
          </a:solidFill>
          <a:ln w="38100">
            <a:solidFill>
              <a:schemeClr val="tx1"/>
            </a:solidFill>
          </a:ln>
        </p:spPr>
        <p:txBody>
          <a:bodyPr wrap="square" rtlCol="0">
            <a:spAutoFit/>
          </a:bodyPr>
          <a:lstStyle/>
          <a:p>
            <a:r>
              <a:rPr lang="en-US" altLang="zh-CN" baseline="0">
                <a:solidFill>
                  <a:srgbClr val="C00000"/>
                </a:solidFill>
                <a:cs typeface="Arial" panose="020B0604020202020204" pitchFamily="34" charset="0"/>
              </a:rPr>
              <a:t>8+32</a:t>
            </a:r>
            <a:r>
              <a:rPr lang="zh-CN" altLang="en-US" baseline="0">
                <a:solidFill>
                  <a:srgbClr val="C00000"/>
                </a:solidFill>
                <a:cs typeface="Arial" panose="020B0604020202020204" pitchFamily="34" charset="0"/>
              </a:rPr>
              <a:t> </a:t>
            </a:r>
            <a:r>
              <a:rPr lang="en-US" altLang="zh-CN" baseline="0">
                <a:solidFill>
                  <a:srgbClr val="C00000"/>
                </a:solidFill>
                <a:cs typeface="Arial" panose="020B0604020202020204" pitchFamily="34" charset="0"/>
              </a:rPr>
              <a:t>B (</a:t>
            </a:r>
            <a:r>
              <a:rPr lang="en-US" altLang="zh-CN" baseline="0" err="1">
                <a:solidFill>
                  <a:srgbClr val="C00000"/>
                </a:solidFill>
                <a:cs typeface="Arial" panose="020B0604020202020204" pitchFamily="34" charset="0"/>
              </a:rPr>
              <a:t>CoAP</a:t>
            </a:r>
            <a:r>
              <a:rPr lang="en-US" altLang="zh-CN" baseline="0">
                <a:solidFill>
                  <a:srgbClr val="C00000"/>
                </a:solidFill>
                <a:cs typeface="Arial" panose="020B0604020202020204" pitchFamily="34" charset="0"/>
              </a:rPr>
              <a:t>) vs. 32+824 B (HTTP) !</a:t>
            </a:r>
            <a:endParaRPr lang="zh-CN" altLang="en-US">
              <a:solidFill>
                <a:srgbClr val="C00000"/>
              </a:solidFill>
              <a:cs typeface="Arial" panose="020B0604020202020204" pitchFamily="34" charset="0"/>
            </a:endParaRPr>
          </a:p>
        </p:txBody>
      </p:sp>
      <p:sp>
        <p:nvSpPr>
          <p:cNvPr id="16" name="灯片编号占位符 4">
            <a:extLst>
              <a:ext uri="{FF2B5EF4-FFF2-40B4-BE49-F238E27FC236}">
                <a16:creationId xmlns:a16="http://schemas.microsoft.com/office/drawing/2014/main" id="{BE87848A-8DAF-48E4-AA64-2BCC09D9744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CoAP</a:t>
            </a:r>
            <a:endParaRPr lang="zh-CN" altLang="en-US" dirty="0"/>
          </a:p>
        </p:txBody>
      </p:sp>
      <p:sp>
        <p:nvSpPr>
          <p:cNvPr id="3" name="内容占位符 2"/>
          <p:cNvSpPr>
            <a:spLocks noGrp="1"/>
          </p:cNvSpPr>
          <p:nvPr>
            <p:ph idx="1"/>
          </p:nvPr>
        </p:nvSpPr>
        <p:spPr/>
        <p:txBody>
          <a:bodyPr/>
          <a:lstStyle/>
          <a:p>
            <a:r>
              <a:rPr lang="zh-CN" altLang="en-US" dirty="0"/>
              <a:t>特点</a:t>
            </a:r>
            <a:endParaRPr lang="en-US" altLang="zh-CN" dirty="0"/>
          </a:p>
          <a:p>
            <a:pPr lvl="1"/>
            <a:r>
              <a:rPr lang="zh-CN" altLang="en-US" b="1" dirty="0"/>
              <a:t>轻量级</a:t>
            </a:r>
            <a:r>
              <a:rPr lang="zh-CN" altLang="en-US" dirty="0"/>
              <a:t>：数据包头部长度短，相比于</a:t>
            </a:r>
            <a:r>
              <a:rPr lang="en-US" altLang="zh-CN" dirty="0"/>
              <a:t>HTTP</a:t>
            </a:r>
            <a:r>
              <a:rPr lang="zh-CN" altLang="en-US" dirty="0"/>
              <a:t>消息长度减少很多</a:t>
            </a:r>
            <a:endParaRPr lang="en-US" altLang="zh-CN" dirty="0"/>
          </a:p>
          <a:p>
            <a:pPr lvl="1"/>
            <a:r>
              <a:rPr lang="zh-CN" altLang="en-US" b="1" dirty="0"/>
              <a:t>没有中间代理</a:t>
            </a:r>
            <a:r>
              <a:rPr lang="zh-CN" altLang="en-US" dirty="0"/>
              <a:t>：节点之间可以直接通信，无需通过中间服务器进行消息转发</a:t>
            </a:r>
            <a:endParaRPr lang="en-US" altLang="zh-CN" dirty="0"/>
          </a:p>
          <a:p>
            <a:pPr lvl="1"/>
            <a:r>
              <a:rPr lang="zh-CN" altLang="en-US" b="1" dirty="0"/>
              <a:t>类似</a:t>
            </a:r>
            <a:r>
              <a:rPr lang="en-US" altLang="zh-CN" b="1" dirty="0"/>
              <a:t>HTTP</a:t>
            </a:r>
            <a:r>
              <a:rPr lang="zh-CN" altLang="en-US" dirty="0"/>
              <a:t>：具有类似</a:t>
            </a:r>
            <a:r>
              <a:rPr lang="en-US" altLang="zh-CN" dirty="0"/>
              <a:t>HTTP</a:t>
            </a:r>
            <a:r>
              <a:rPr lang="zh-CN" altLang="en-US" dirty="0"/>
              <a:t> </a:t>
            </a:r>
            <a:r>
              <a:rPr lang="en-US" altLang="zh-CN" dirty="0"/>
              <a:t>Header</a:t>
            </a:r>
            <a:r>
              <a:rPr lang="zh-CN" altLang="en-US" dirty="0"/>
              <a:t>的控制字段，可实现</a:t>
            </a:r>
            <a:r>
              <a:rPr lang="en-US" altLang="zh-CN" dirty="0"/>
              <a:t>GET</a:t>
            </a:r>
            <a:r>
              <a:rPr lang="zh-CN" altLang="en-US" dirty="0"/>
              <a:t>、</a:t>
            </a:r>
            <a:r>
              <a:rPr lang="en-US" altLang="zh-CN" dirty="0"/>
              <a:t>POST</a:t>
            </a:r>
            <a:r>
              <a:rPr lang="zh-CN" altLang="en-US" dirty="0"/>
              <a:t>、</a:t>
            </a:r>
            <a:r>
              <a:rPr lang="en-US" altLang="zh-CN" dirty="0"/>
              <a:t>DELETE</a:t>
            </a:r>
            <a:r>
              <a:rPr lang="zh-CN" altLang="en-US" dirty="0"/>
              <a:t>等方法</a:t>
            </a:r>
            <a:endParaRPr lang="en-US" altLang="zh-CN" dirty="0"/>
          </a:p>
          <a:p>
            <a:pPr lvl="1"/>
            <a:r>
              <a:rPr lang="zh-CN" altLang="en-US" b="1" dirty="0"/>
              <a:t>灵活</a:t>
            </a:r>
            <a:r>
              <a:rPr lang="zh-CN" altLang="en-US" dirty="0"/>
              <a:t>：消息传输方式（</a:t>
            </a:r>
            <a:r>
              <a:rPr lang="en-US" altLang="zh-CN" dirty="0"/>
              <a:t>GET</a:t>
            </a:r>
            <a:r>
              <a:rPr lang="zh-CN" altLang="en-US" dirty="0"/>
              <a:t>、</a:t>
            </a:r>
            <a:r>
              <a:rPr lang="en-US" altLang="zh-CN" dirty="0"/>
              <a:t>POST</a:t>
            </a:r>
            <a:r>
              <a:rPr lang="zh-CN" altLang="en-US" dirty="0"/>
              <a:t>，</a:t>
            </a:r>
            <a:r>
              <a:rPr lang="en-US" altLang="zh-CN" dirty="0"/>
              <a:t>Confirmable</a:t>
            </a:r>
            <a:r>
              <a:rPr lang="zh-CN" altLang="en-US" dirty="0"/>
              <a:t>、</a:t>
            </a:r>
            <a:r>
              <a:rPr lang="en-US" altLang="zh-CN" dirty="0"/>
              <a:t>Non-confirmable</a:t>
            </a:r>
            <a:r>
              <a:rPr lang="zh-CN" altLang="en-US" dirty="0"/>
              <a:t>）多，每种传输方式代价不同，可基于不同的应用场景灵活选择</a:t>
            </a:r>
            <a:endParaRPr lang="en-US" altLang="zh-CN" dirty="0"/>
          </a:p>
          <a:p>
            <a:pPr lvl="1"/>
            <a:r>
              <a:rPr lang="zh-CN" altLang="en-US" b="1" dirty="0"/>
              <a:t>主动请求</a:t>
            </a:r>
            <a:r>
              <a:rPr lang="zh-CN" altLang="en-US" dirty="0"/>
              <a:t>：数据从</a:t>
            </a:r>
            <a:r>
              <a:rPr lang="en-US" altLang="zh-CN" dirty="0"/>
              <a:t>A</a:t>
            </a:r>
            <a:r>
              <a:rPr lang="zh-CN" altLang="en-US" dirty="0"/>
              <a:t>传输到</a:t>
            </a:r>
            <a:r>
              <a:rPr lang="en-US" altLang="zh-CN" dirty="0"/>
              <a:t>B</a:t>
            </a:r>
            <a:r>
              <a:rPr lang="zh-CN" altLang="en-US" dirty="0"/>
              <a:t>，则</a:t>
            </a:r>
            <a:r>
              <a:rPr lang="en-US" altLang="zh-CN" dirty="0"/>
              <a:t>B</a:t>
            </a:r>
            <a:r>
              <a:rPr lang="zh-CN" altLang="en-US" dirty="0"/>
              <a:t>必须先主动发送</a:t>
            </a:r>
            <a:r>
              <a:rPr lang="en-US" altLang="zh-CN" dirty="0"/>
              <a:t>Request</a:t>
            </a:r>
            <a:r>
              <a:rPr lang="zh-CN" altLang="en-US" dirty="0"/>
              <a:t>请求到</a:t>
            </a:r>
            <a:r>
              <a:rPr lang="en-US" altLang="zh-CN" dirty="0"/>
              <a:t>A</a:t>
            </a:r>
          </a:p>
        </p:txBody>
      </p:sp>
      <p:sp>
        <p:nvSpPr>
          <p:cNvPr id="10" name="灯片编号占位符 4">
            <a:extLst>
              <a:ext uri="{FF2B5EF4-FFF2-40B4-BE49-F238E27FC236}">
                <a16:creationId xmlns:a16="http://schemas.microsoft.com/office/drawing/2014/main" id="{A9B467C6-F7DA-48BA-95D9-A1BDBD83CD3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en-US" altLang="zh-CN"/>
              <a:t>MQTT</a:t>
            </a:r>
            <a:r>
              <a:rPr lang="zh-CN" altLang="en-US"/>
              <a:t>（</a:t>
            </a:r>
            <a:r>
              <a:rPr lang="en-US" altLang="zh-CN"/>
              <a:t>Message Queuing Telemetry Transport</a:t>
            </a:r>
            <a:r>
              <a:rPr lang="zh-CN" altLang="en-US"/>
              <a:t>）</a:t>
            </a:r>
            <a:endParaRPr lang="en-US" altLang="zh-CN"/>
          </a:p>
          <a:p>
            <a:pPr lvl="1"/>
            <a:r>
              <a:rPr lang="zh-CN" altLang="en-US"/>
              <a:t>一种</a:t>
            </a:r>
            <a:r>
              <a:rPr lang="en-US" altLang="zh-CN"/>
              <a:t>M2M</a:t>
            </a:r>
            <a:r>
              <a:rPr lang="zh-CN" altLang="en-US"/>
              <a:t>（</a:t>
            </a:r>
            <a:r>
              <a:rPr lang="en-US" altLang="zh-CN"/>
              <a:t>machine-to-machine</a:t>
            </a:r>
            <a:r>
              <a:rPr lang="zh-CN" altLang="en-US"/>
              <a:t>）数据传输协议，它被设计为极其轻量的发布</a:t>
            </a:r>
            <a:r>
              <a:rPr lang="en-US" altLang="zh-CN"/>
              <a:t>/</a:t>
            </a:r>
            <a:r>
              <a:rPr lang="zh-CN" altLang="en-US"/>
              <a:t>订阅消息传送模型</a:t>
            </a:r>
            <a:endParaRPr lang="en-US" altLang="zh-CN" dirty="0"/>
          </a:p>
        </p:txBody>
      </p:sp>
      <p:pic>
        <p:nvPicPr>
          <p:cNvPr id="3074" name="Picture 2" descr="F:\实验室相关\书籍\mqt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571" y="2849332"/>
            <a:ext cx="8166858" cy="2160366"/>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4">
            <a:extLst>
              <a:ext uri="{FF2B5EF4-FFF2-40B4-BE49-F238E27FC236}">
                <a16:creationId xmlns:a16="http://schemas.microsoft.com/office/drawing/2014/main" id="{3E09596F-1AD7-4FB0-9D02-E0E8CE7E0B4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30</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zh-CN" altLang="en-US"/>
              <a:t>消息传输示例（</a:t>
            </a:r>
            <a:r>
              <a:rPr lang="en-US" altLang="zh-CN"/>
              <a:t>C++</a:t>
            </a:r>
            <a:r>
              <a:rPr lang="zh-CN" altLang="en-US"/>
              <a:t>）</a:t>
            </a:r>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endParaRPr lang="en-US" altLang="zh-CN"/>
          </a:p>
          <a:p>
            <a:pPr lvl="1"/>
            <a:endParaRPr lang="en-US" altLang="zh-CN"/>
          </a:p>
          <a:p>
            <a:pPr lvl="1"/>
            <a:endParaRPr lang="en-US" altLang="zh-CN"/>
          </a:p>
          <a:p>
            <a:pPr lvl="1"/>
            <a:endParaRPr lang="en-US" altLang="zh-CN"/>
          </a:p>
          <a:p>
            <a:pPr lvl="1"/>
            <a:endParaRPr lang="en-US" altLang="zh-CN" dirty="0"/>
          </a:p>
        </p:txBody>
      </p:sp>
      <p:sp>
        <p:nvSpPr>
          <p:cNvPr id="7" name="TextBox 6"/>
          <p:cNvSpPr txBox="1"/>
          <p:nvPr/>
        </p:nvSpPr>
        <p:spPr>
          <a:xfrm>
            <a:off x="940066" y="4148832"/>
            <a:ext cx="7218413" cy="2062103"/>
          </a:xfrm>
          <a:prstGeom prst="rect">
            <a:avLst/>
          </a:prstGeom>
          <a:noFill/>
          <a:ln>
            <a:solidFill>
              <a:srgbClr val="333333"/>
            </a:solidFill>
          </a:ln>
        </p:spPr>
        <p:txBody>
          <a:bodyPr wrap="square" rtlCol="0">
            <a:spAutoFit/>
          </a:bodyPr>
          <a:lstStyle/>
          <a:p>
            <a:r>
              <a:rPr lang="en-US" altLang="zh-CN" sz="3200" dirty="0">
                <a:latin typeface="Courier New" panose="02070309020205020404" pitchFamily="49" charset="0"/>
                <a:cs typeface="Courier New" panose="02070309020205020404" pitchFamily="49" charset="0"/>
              </a:rPr>
              <a:t>// </a:t>
            </a:r>
            <a:r>
              <a:rPr lang="zh-CN" altLang="en-US" sz="3200" dirty="0">
                <a:latin typeface="Courier New" panose="02070309020205020404" pitchFamily="49" charset="0"/>
                <a:cs typeface="Courier New" panose="02070309020205020404" pitchFamily="49" charset="0"/>
              </a:rPr>
              <a:t>发布者发布消息代码</a:t>
            </a:r>
            <a:endParaRPr lang="en-US" altLang="zh-CN" sz="3200" dirty="0">
              <a:latin typeface="Courier New" panose="02070309020205020404" pitchFamily="49" charset="0"/>
              <a:cs typeface="Courier New" panose="02070309020205020404" pitchFamily="49" charset="0"/>
            </a:endParaRPr>
          </a:p>
          <a:p>
            <a:r>
              <a:rPr lang="en-US" altLang="zh-CN" sz="3200" dirty="0">
                <a:latin typeface="Courier New" panose="02070309020205020404" pitchFamily="49" charset="0"/>
                <a:cs typeface="Courier New" panose="02070309020205020404" pitchFamily="49" charset="0"/>
              </a:rPr>
              <a:t>connect(</a:t>
            </a:r>
            <a:r>
              <a:rPr lang="en-US" altLang="zh-CN" sz="3200" dirty="0" err="1">
                <a:latin typeface="Courier New" panose="02070309020205020404" pitchFamily="49" charset="0"/>
                <a:cs typeface="Courier New" panose="02070309020205020404" pitchFamily="49" charset="0"/>
              </a:rPr>
              <a:t>ip</a:t>
            </a:r>
            <a:r>
              <a:rPr lang="en-US" altLang="zh-CN" sz="3200" dirty="0">
                <a:latin typeface="Courier New" panose="02070309020205020404" pitchFamily="49" charset="0"/>
                <a:cs typeface="Courier New" panose="02070309020205020404" pitchFamily="49" charset="0"/>
              </a:rPr>
              <a:t>, port, </a:t>
            </a:r>
            <a:r>
              <a:rPr lang="en-US" altLang="zh-CN" sz="3200" dirty="0" err="1">
                <a:latin typeface="Courier New" panose="02070309020205020404" pitchFamily="49" charset="0"/>
                <a:cs typeface="Courier New" panose="02070309020205020404" pitchFamily="49" charset="0"/>
              </a:rPr>
              <a:t>clientID</a:t>
            </a:r>
            <a:r>
              <a:rPr lang="en-US" altLang="zh-CN" sz="3200" dirty="0">
                <a:latin typeface="Courier New" panose="02070309020205020404" pitchFamily="49" charset="0"/>
                <a:cs typeface="Courier New" panose="02070309020205020404" pitchFamily="49" charset="0"/>
              </a:rPr>
              <a:t>, username, pass);</a:t>
            </a:r>
          </a:p>
          <a:p>
            <a:r>
              <a:rPr lang="en-US" altLang="zh-CN" sz="3200" dirty="0">
                <a:latin typeface="Courier New" panose="02070309020205020404" pitchFamily="49" charset="0"/>
                <a:cs typeface="Courier New" panose="02070309020205020404" pitchFamily="49" charset="0"/>
              </a:rPr>
              <a:t>char data[] = “{\“Temperature\”: 21,\”Humidity\”:67}”;</a:t>
            </a:r>
          </a:p>
          <a:p>
            <a:r>
              <a:rPr lang="en-US" altLang="zh-CN" sz="3200" dirty="0">
                <a:latin typeface="Courier New" panose="02070309020205020404" pitchFamily="49" charset="0"/>
                <a:cs typeface="Courier New" panose="02070309020205020404" pitchFamily="49" charset="0"/>
              </a:rPr>
              <a:t>publish(“</a:t>
            </a:r>
            <a:r>
              <a:rPr lang="en-US" altLang="zh-CN" sz="3200" dirty="0" err="1">
                <a:latin typeface="Courier New" panose="02070309020205020404" pitchFamily="49" charset="0"/>
                <a:cs typeface="Courier New" panose="02070309020205020404" pitchFamily="49" charset="0"/>
              </a:rPr>
              <a:t>myTopic@rt</a:t>
            </a:r>
            <a:r>
              <a:rPr lang="en-US" altLang="zh-CN" sz="3200" dirty="0">
                <a:latin typeface="Courier New" panose="02070309020205020404" pitchFamily="49" charset="0"/>
                <a:cs typeface="Courier New" panose="02070309020205020404" pitchFamily="49" charset="0"/>
              </a:rPr>
              <a:t>”, data, MQTT::QoS2);</a:t>
            </a:r>
          </a:p>
          <a:p>
            <a:endParaRPr lang="en-US" altLang="zh-CN" sz="3200" dirty="0">
              <a:latin typeface="Times New Roman" panose="02020603050405020304" pitchFamily="18" charset="0"/>
              <a:cs typeface="Times New Roman" panose="02020603050405020304" pitchFamily="18" charset="0"/>
            </a:endParaRPr>
          </a:p>
        </p:txBody>
      </p:sp>
      <p:sp>
        <p:nvSpPr>
          <p:cNvPr id="13" name="TextBox 6">
            <a:extLst>
              <a:ext uri="{FF2B5EF4-FFF2-40B4-BE49-F238E27FC236}">
                <a16:creationId xmlns:a16="http://schemas.microsoft.com/office/drawing/2014/main" id="{552022D4-3583-403C-89C7-ED9C1B04D82D}"/>
              </a:ext>
            </a:extLst>
          </p:cNvPr>
          <p:cNvSpPr txBox="1"/>
          <p:nvPr/>
        </p:nvSpPr>
        <p:spPr>
          <a:xfrm>
            <a:off x="940067" y="1572042"/>
            <a:ext cx="7218413" cy="2390398"/>
          </a:xfrm>
          <a:prstGeom prst="rect">
            <a:avLst/>
          </a:prstGeom>
          <a:noFill/>
          <a:ln>
            <a:solidFill>
              <a:srgbClr val="333333"/>
            </a:solidFill>
          </a:ln>
        </p:spPr>
        <p:txBody>
          <a:bodyPr wrap="square" rtlCol="0">
            <a:spAutoFit/>
          </a:bodyPr>
          <a:lstStyle/>
          <a:p>
            <a:r>
              <a:rPr lang="en-US" altLang="zh-CN" sz="3200" dirty="0">
                <a:latin typeface="Courier New" panose="02070309020205020404" pitchFamily="49" charset="0"/>
                <a:cs typeface="Courier New" panose="02070309020205020404" pitchFamily="49" charset="0"/>
              </a:rPr>
              <a:t>// </a:t>
            </a:r>
            <a:r>
              <a:rPr lang="zh-CN" altLang="en-US" sz="3200" dirty="0">
                <a:latin typeface="Courier New" panose="02070309020205020404" pitchFamily="49" charset="0"/>
                <a:cs typeface="Courier New" panose="02070309020205020404" pitchFamily="49" charset="0"/>
              </a:rPr>
              <a:t>订阅者接收消息代码</a:t>
            </a:r>
            <a:endParaRPr lang="en-US" altLang="zh-CN" sz="3200" dirty="0">
              <a:latin typeface="Courier New" panose="02070309020205020404" pitchFamily="49" charset="0"/>
              <a:cs typeface="Courier New" panose="02070309020205020404" pitchFamily="49" charset="0"/>
            </a:endParaRPr>
          </a:p>
          <a:p>
            <a:r>
              <a:rPr lang="en-US" altLang="zh-CN" sz="3200" dirty="0">
                <a:latin typeface="Courier New" panose="02070309020205020404" pitchFamily="49" charset="0"/>
                <a:cs typeface="Courier New" panose="02070309020205020404" pitchFamily="49" charset="0"/>
              </a:rPr>
              <a:t>connect(</a:t>
            </a:r>
            <a:r>
              <a:rPr lang="en-US" altLang="zh-CN" sz="3200" dirty="0" err="1">
                <a:latin typeface="Courier New" panose="02070309020205020404" pitchFamily="49" charset="0"/>
                <a:cs typeface="Courier New" panose="02070309020205020404" pitchFamily="49" charset="0"/>
              </a:rPr>
              <a:t>ip</a:t>
            </a:r>
            <a:r>
              <a:rPr lang="en-US" altLang="zh-CN" sz="3200" dirty="0">
                <a:latin typeface="Courier New" panose="02070309020205020404" pitchFamily="49" charset="0"/>
                <a:cs typeface="Courier New" panose="02070309020205020404" pitchFamily="49" charset="0"/>
              </a:rPr>
              <a:t>, port, </a:t>
            </a:r>
            <a:r>
              <a:rPr lang="en-US" altLang="zh-CN" sz="3200" dirty="0" err="1">
                <a:latin typeface="Courier New" panose="02070309020205020404" pitchFamily="49" charset="0"/>
                <a:cs typeface="Courier New" panose="02070309020205020404" pitchFamily="49" charset="0"/>
              </a:rPr>
              <a:t>clientID</a:t>
            </a:r>
            <a:r>
              <a:rPr lang="en-US" altLang="zh-CN" sz="3200" dirty="0">
                <a:latin typeface="Courier New" panose="02070309020205020404" pitchFamily="49" charset="0"/>
                <a:cs typeface="Courier New" panose="02070309020205020404" pitchFamily="49" charset="0"/>
              </a:rPr>
              <a:t>, username, pass);</a:t>
            </a:r>
          </a:p>
          <a:p>
            <a:r>
              <a:rPr lang="en-US" altLang="zh-CN" sz="3200" dirty="0">
                <a:latin typeface="Courier New" panose="02070309020205020404" pitchFamily="49" charset="0"/>
                <a:cs typeface="Courier New" panose="02070309020205020404" pitchFamily="49" charset="0"/>
              </a:rPr>
              <a:t>void </a:t>
            </a:r>
            <a:r>
              <a:rPr lang="en-US" altLang="zh-CN" sz="3200" dirty="0" err="1">
                <a:latin typeface="Courier New" panose="02070309020205020404" pitchFamily="49" charset="0"/>
                <a:cs typeface="Courier New" panose="02070309020205020404" pitchFamily="49" charset="0"/>
              </a:rPr>
              <a:t>callBack</a:t>
            </a:r>
            <a:r>
              <a:rPr lang="en-US" altLang="zh-CN" sz="3200" dirty="0">
                <a:latin typeface="Courier New" panose="02070309020205020404" pitchFamily="49" charset="0"/>
                <a:cs typeface="Courier New" panose="02070309020205020404" pitchFamily="49" charset="0"/>
              </a:rPr>
              <a:t>(</a:t>
            </a:r>
            <a:r>
              <a:rPr lang="en-US" altLang="zh-CN" sz="3200" dirty="0" err="1">
                <a:latin typeface="Courier New" panose="02070309020205020404" pitchFamily="49" charset="0"/>
                <a:cs typeface="Courier New" panose="02070309020205020404" pitchFamily="49" charset="0"/>
              </a:rPr>
              <a:t>MessageData</a:t>
            </a:r>
            <a:r>
              <a:rPr lang="en-US" altLang="zh-CN" sz="3200" dirty="0">
                <a:latin typeface="Courier New" panose="02070309020205020404" pitchFamily="49" charset="0"/>
                <a:cs typeface="Courier New" panose="02070309020205020404" pitchFamily="49" charset="0"/>
              </a:rPr>
              <a:t> m){</a:t>
            </a:r>
          </a:p>
          <a:p>
            <a:r>
              <a:rPr lang="en-US" altLang="zh-CN" sz="3200" dirty="0">
                <a:latin typeface="Courier New" panose="02070309020205020404" pitchFamily="49" charset="0"/>
                <a:cs typeface="Courier New" panose="02070309020205020404" pitchFamily="49" charset="0"/>
              </a:rPr>
              <a:t>  // </a:t>
            </a:r>
            <a:r>
              <a:rPr lang="zh-CN" altLang="en-US" sz="3200" dirty="0">
                <a:latin typeface="Courier New" panose="02070309020205020404" pitchFamily="49" charset="0"/>
                <a:cs typeface="Courier New" panose="02070309020205020404" pitchFamily="49" charset="0"/>
              </a:rPr>
              <a:t>处理接收数据</a:t>
            </a:r>
            <a:endParaRPr lang="en-US" altLang="zh-CN" sz="3200" dirty="0">
              <a:latin typeface="Courier New" panose="02070309020205020404" pitchFamily="49" charset="0"/>
              <a:cs typeface="Courier New" panose="02070309020205020404" pitchFamily="49" charset="0"/>
            </a:endParaRPr>
          </a:p>
          <a:p>
            <a:r>
              <a:rPr lang="en-US" altLang="zh-CN" sz="3200" dirty="0">
                <a:latin typeface="Courier New" panose="02070309020205020404" pitchFamily="49" charset="0"/>
                <a:cs typeface="Courier New" panose="02070309020205020404" pitchFamily="49" charset="0"/>
              </a:rPr>
              <a:t>}</a:t>
            </a:r>
          </a:p>
          <a:p>
            <a:r>
              <a:rPr lang="en-US" altLang="zh-CN" sz="3200" dirty="0">
                <a:latin typeface="Courier New" panose="02070309020205020404" pitchFamily="49" charset="0"/>
                <a:cs typeface="Courier New" panose="02070309020205020404" pitchFamily="49" charset="0"/>
              </a:rPr>
              <a:t>subscribe(“</a:t>
            </a:r>
            <a:r>
              <a:rPr lang="en-US" altLang="zh-CN" sz="3200" dirty="0" err="1">
                <a:latin typeface="Courier New" panose="02070309020205020404" pitchFamily="49" charset="0"/>
                <a:cs typeface="Courier New" panose="02070309020205020404" pitchFamily="49" charset="0"/>
              </a:rPr>
              <a:t>myTopic@rt</a:t>
            </a:r>
            <a:r>
              <a:rPr lang="en-US" altLang="zh-CN" sz="3200" dirty="0">
                <a:latin typeface="Courier New" panose="02070309020205020404" pitchFamily="49" charset="0"/>
                <a:cs typeface="Courier New" panose="02070309020205020404" pitchFamily="49" charset="0"/>
              </a:rPr>
              <a:t>”, </a:t>
            </a:r>
            <a:r>
              <a:rPr lang="en-US" altLang="zh-CN" sz="3200" dirty="0" err="1">
                <a:latin typeface="Courier New" panose="02070309020205020404" pitchFamily="49" charset="0"/>
                <a:cs typeface="Courier New" panose="02070309020205020404" pitchFamily="49" charset="0"/>
              </a:rPr>
              <a:t>callBack</a:t>
            </a:r>
            <a:r>
              <a:rPr lang="en-US" altLang="zh-CN" sz="3200" dirty="0">
                <a:latin typeface="Courier New" panose="02070309020205020404" pitchFamily="49" charset="0"/>
                <a:cs typeface="Courier New" panose="02070309020205020404" pitchFamily="49" charset="0"/>
              </a:rPr>
              <a:t>);</a:t>
            </a:r>
          </a:p>
          <a:p>
            <a:endParaRPr lang="zh-CN" altLang="en-US" sz="3200" dirty="0">
              <a:latin typeface="Times New Roman" panose="02020603050405020304" pitchFamily="18" charset="0"/>
              <a:cs typeface="Times New Roman" panose="02020603050405020304" pitchFamily="18" charset="0"/>
            </a:endParaRPr>
          </a:p>
        </p:txBody>
      </p:sp>
      <p:sp>
        <p:nvSpPr>
          <p:cNvPr id="14" name="灯片编号占位符 4">
            <a:extLst>
              <a:ext uri="{FF2B5EF4-FFF2-40B4-BE49-F238E27FC236}">
                <a16:creationId xmlns:a16="http://schemas.microsoft.com/office/drawing/2014/main" id="{CF07EE84-CEDB-4A1D-B8A9-5362F7DA31E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31</a:t>
            </a:fld>
            <a:endParaRPr lang="zh-CN" altLang="zh-CN" sz="1800" baseline="0">
              <a:solidFill>
                <a:schemeClr val="folHlink"/>
              </a:solidFill>
              <a:latin typeface="Monotype Corsiva" panose="03010101010201010101" pitchFamily="66"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MQTT</a:t>
            </a:r>
            <a:endParaRPr lang="zh-CN" altLang="en-US" dirty="0"/>
          </a:p>
        </p:txBody>
      </p:sp>
      <p:sp>
        <p:nvSpPr>
          <p:cNvPr id="2" name="内容占位符 1"/>
          <p:cNvSpPr>
            <a:spLocks noGrp="1"/>
          </p:cNvSpPr>
          <p:nvPr>
            <p:ph idx="1"/>
          </p:nvPr>
        </p:nvSpPr>
        <p:spPr/>
        <p:txBody>
          <a:bodyPr/>
          <a:lstStyle/>
          <a:p>
            <a:r>
              <a:rPr lang="zh-CN" altLang="en-US"/>
              <a:t>报文格式</a:t>
            </a:r>
            <a:endParaRPr lang="en-US" altLang="zh-CN"/>
          </a:p>
          <a:p>
            <a:endParaRPr lang="zh-CN" altLang="en-US"/>
          </a:p>
        </p:txBody>
      </p:sp>
      <p:pic>
        <p:nvPicPr>
          <p:cNvPr id="4" name="Picture 3" descr="F:\实验室相关\书籍\mqt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57" y="1604130"/>
            <a:ext cx="8791999" cy="4237870"/>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4">
            <a:extLst>
              <a:ext uri="{FF2B5EF4-FFF2-40B4-BE49-F238E27FC236}">
                <a16:creationId xmlns:a16="http://schemas.microsoft.com/office/drawing/2014/main" id="{A122E307-1F64-4D71-B68B-01511CAE696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32</a:t>
            </a:fld>
            <a:endParaRPr lang="zh-CN" altLang="zh-CN" sz="1800" baseline="0" dirty="0">
              <a:solidFill>
                <a:schemeClr val="folHlink"/>
              </a:solidFill>
              <a:latin typeface="Monotype Corsiva" panose="03010101010201010101" pitchFamily="66" charset="0"/>
            </a:endParaRPr>
          </a:p>
        </p:txBody>
      </p:sp>
      <p:sp>
        <p:nvSpPr>
          <p:cNvPr id="10" name="矩形 9">
            <a:extLst>
              <a:ext uri="{FF2B5EF4-FFF2-40B4-BE49-F238E27FC236}">
                <a16:creationId xmlns:a16="http://schemas.microsoft.com/office/drawing/2014/main" id="{912AB922-D682-44C7-8C43-A454C05518C1}"/>
              </a:ext>
            </a:extLst>
          </p:cNvPr>
          <p:cNvSpPr/>
          <p:nvPr/>
        </p:nvSpPr>
        <p:spPr>
          <a:xfrm>
            <a:off x="1405288" y="2204185"/>
            <a:ext cx="7535955" cy="1224815"/>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descr="F:\实验室相关\书籍\mqtt.png">
            <a:extLst>
              <a:ext uri="{FF2B5EF4-FFF2-40B4-BE49-F238E27FC236}">
                <a16:creationId xmlns:a16="http://schemas.microsoft.com/office/drawing/2014/main" id="{2D3DEA0E-D95E-4243-BB4E-90C7634B9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757" y="1604130"/>
            <a:ext cx="8791999" cy="4237870"/>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33CABB4D-4381-436F-B6D9-050B11172C3D}"/>
              </a:ext>
            </a:extLst>
          </p:cNvPr>
          <p:cNvSpPr/>
          <p:nvPr/>
        </p:nvSpPr>
        <p:spPr>
          <a:xfrm>
            <a:off x="3205213" y="2204186"/>
            <a:ext cx="2877954" cy="625642"/>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zh-CN" altLang="en-US"/>
              <a:t>报文类型</a:t>
            </a:r>
            <a:endParaRPr lang="en-US" altLang="zh-CN" dirty="0"/>
          </a:p>
        </p:txBody>
      </p:sp>
      <p:graphicFrame>
        <p:nvGraphicFramePr>
          <p:cNvPr id="4" name="表格 3"/>
          <p:cNvGraphicFramePr>
            <a:graphicFrameLocks noGrp="1"/>
          </p:cNvGraphicFramePr>
          <p:nvPr>
            <p:custDataLst>
              <p:tags r:id="rId1"/>
            </p:custDataLst>
            <p:extLst>
              <p:ext uri="{D42A27DB-BD31-4B8C-83A1-F6EECF244321}">
                <p14:modId xmlns:p14="http://schemas.microsoft.com/office/powerpoint/2010/main" val="974571332"/>
              </p:ext>
            </p:extLst>
          </p:nvPr>
        </p:nvGraphicFramePr>
        <p:xfrm>
          <a:off x="457201" y="3117376"/>
          <a:ext cx="8124980" cy="3332480"/>
        </p:xfrm>
        <a:graphic>
          <a:graphicData uri="http://schemas.openxmlformats.org/drawingml/2006/table">
            <a:tbl>
              <a:tblPr firstRow="1" bandRow="1">
                <a:tableStyleId>{93296810-A885-4BE3-A3E7-6D5BEEA58F35}</a:tableStyleId>
              </a:tblPr>
              <a:tblGrid>
                <a:gridCol w="1708483">
                  <a:extLst>
                    <a:ext uri="{9D8B030D-6E8A-4147-A177-3AD203B41FA5}">
                      <a16:colId xmlns:a16="http://schemas.microsoft.com/office/drawing/2014/main" val="20000"/>
                    </a:ext>
                  </a:extLst>
                </a:gridCol>
                <a:gridCol w="741145">
                  <a:extLst>
                    <a:ext uri="{9D8B030D-6E8A-4147-A177-3AD203B41FA5}">
                      <a16:colId xmlns:a16="http://schemas.microsoft.com/office/drawing/2014/main" val="20001"/>
                    </a:ext>
                  </a:extLst>
                </a:gridCol>
                <a:gridCol w="1857676">
                  <a:extLst>
                    <a:ext uri="{9D8B030D-6E8A-4147-A177-3AD203B41FA5}">
                      <a16:colId xmlns:a16="http://schemas.microsoft.com/office/drawing/2014/main" val="20002"/>
                    </a:ext>
                  </a:extLst>
                </a:gridCol>
                <a:gridCol w="3817676">
                  <a:extLst>
                    <a:ext uri="{9D8B030D-6E8A-4147-A177-3AD203B41FA5}">
                      <a16:colId xmlns:a16="http://schemas.microsoft.com/office/drawing/2014/main" val="20003"/>
                    </a:ext>
                  </a:extLst>
                </a:gridCol>
              </a:tblGrid>
              <a:tr h="348682">
                <a:tc>
                  <a:txBody>
                    <a:bodyPr/>
                    <a:lstStyle/>
                    <a:p>
                      <a:pPr algn="ctr"/>
                      <a:r>
                        <a:rPr lang="zh-CN" altLang="en-US">
                          <a:latin typeface="+mj-ea"/>
                          <a:ea typeface="+mj-ea"/>
                        </a:rPr>
                        <a:t>报文类型</a:t>
                      </a:r>
                    </a:p>
                  </a:txBody>
                  <a:tcPr/>
                </a:tc>
                <a:tc>
                  <a:txBody>
                    <a:bodyPr/>
                    <a:lstStyle/>
                    <a:p>
                      <a:pPr algn="ctr"/>
                      <a:r>
                        <a:rPr lang="zh-CN" altLang="en-US">
                          <a:latin typeface="+mj-ea"/>
                          <a:ea typeface="+mj-ea"/>
                        </a:rPr>
                        <a:t>值</a:t>
                      </a:r>
                    </a:p>
                  </a:txBody>
                  <a:tcPr/>
                </a:tc>
                <a:tc>
                  <a:txBody>
                    <a:bodyPr/>
                    <a:lstStyle/>
                    <a:p>
                      <a:pPr algn="ctr"/>
                      <a:r>
                        <a:rPr lang="zh-CN" altLang="en-US" dirty="0">
                          <a:latin typeface="+mj-ea"/>
                          <a:ea typeface="+mj-ea"/>
                        </a:rPr>
                        <a:t>数据流向</a:t>
                      </a:r>
                    </a:p>
                  </a:txBody>
                  <a:tcPr/>
                </a:tc>
                <a:tc>
                  <a:txBody>
                    <a:bodyPr/>
                    <a:lstStyle/>
                    <a:p>
                      <a:pPr algn="ctr"/>
                      <a:r>
                        <a:rPr lang="zh-CN" altLang="en-US">
                          <a:latin typeface="+mj-ea"/>
                          <a:ea typeface="+mj-ea"/>
                        </a:rPr>
                        <a:t>描述</a:t>
                      </a:r>
                    </a:p>
                  </a:txBody>
                  <a:tcPr/>
                </a:tc>
                <a:extLst>
                  <a:ext uri="{0D108BD9-81ED-4DB2-BD59-A6C34878D82A}">
                    <a16:rowId xmlns:a16="http://schemas.microsoft.com/office/drawing/2014/main" val="10000"/>
                  </a:ext>
                </a:extLst>
              </a:tr>
              <a:tr h="370840">
                <a:tc>
                  <a:txBody>
                    <a:bodyPr/>
                    <a:lstStyle/>
                    <a:p>
                      <a:r>
                        <a:rPr lang="en-US" altLang="zh-CN" dirty="0">
                          <a:latin typeface="+mj-ea"/>
                          <a:ea typeface="+mj-ea"/>
                          <a:cs typeface="Times New Roman" panose="02020603050405020304" pitchFamily="18" charset="0"/>
                        </a:rPr>
                        <a:t>Reserved</a:t>
                      </a:r>
                      <a:endParaRPr lang="zh-CN" altLang="en-US" dirty="0">
                        <a:latin typeface="+mj-ea"/>
                        <a:ea typeface="+mj-ea"/>
                        <a:cs typeface="Times New Roman" panose="02020603050405020304" pitchFamily="18" charset="0"/>
                      </a:endParaRPr>
                    </a:p>
                  </a:txBody>
                  <a:tcPr/>
                </a:tc>
                <a:tc>
                  <a:txBody>
                    <a:bodyPr/>
                    <a:lstStyle/>
                    <a:p>
                      <a:r>
                        <a:rPr lang="en-US" altLang="zh-CN">
                          <a:latin typeface="+mj-ea"/>
                          <a:ea typeface="+mj-ea"/>
                          <a:cs typeface="Times New Roman" panose="02020603050405020304" pitchFamily="18" charset="0"/>
                        </a:rPr>
                        <a:t>0/15</a:t>
                      </a:r>
                      <a:endParaRPr lang="zh-CN" altLang="en-US">
                        <a:latin typeface="+mj-ea"/>
                        <a:ea typeface="+mj-ea"/>
                        <a:cs typeface="Times New Roman" panose="02020603050405020304" pitchFamily="18" charset="0"/>
                      </a:endParaRPr>
                    </a:p>
                  </a:txBody>
                  <a:tcPr/>
                </a:tc>
                <a:tc>
                  <a:txBody>
                    <a:bodyPr/>
                    <a:lstStyle/>
                    <a:p>
                      <a:r>
                        <a:rPr lang="zh-CN" altLang="en-US">
                          <a:latin typeface="+mj-ea"/>
                          <a:ea typeface="+mj-ea"/>
                        </a:rPr>
                        <a:t>无</a:t>
                      </a:r>
                    </a:p>
                  </a:txBody>
                  <a:tcPr/>
                </a:tc>
                <a:tc>
                  <a:txBody>
                    <a:bodyPr/>
                    <a:lstStyle/>
                    <a:p>
                      <a:r>
                        <a:rPr lang="zh-CN" altLang="en-US">
                          <a:latin typeface="+mj-ea"/>
                          <a:ea typeface="+mj-ea"/>
                        </a:rPr>
                        <a:t>保留</a:t>
                      </a:r>
                    </a:p>
                  </a:txBody>
                  <a:tcPr/>
                </a:tc>
                <a:extLst>
                  <a:ext uri="{0D108BD9-81ED-4DB2-BD59-A6C34878D82A}">
                    <a16:rowId xmlns:a16="http://schemas.microsoft.com/office/drawing/2014/main" val="10001"/>
                  </a:ext>
                </a:extLst>
              </a:tr>
              <a:tr h="370840">
                <a:tc>
                  <a:txBody>
                    <a:bodyPr/>
                    <a:lstStyle/>
                    <a:p>
                      <a:r>
                        <a:rPr lang="en-US" altLang="zh-CN" dirty="0">
                          <a:latin typeface="+mj-ea"/>
                          <a:ea typeface="+mj-ea"/>
                          <a:cs typeface="Times New Roman" panose="02020603050405020304" pitchFamily="18" charset="0"/>
                        </a:rPr>
                        <a:t>CONNECT</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1</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Server</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向</a:t>
                      </a:r>
                      <a:r>
                        <a:rPr lang="en-US" altLang="zh-CN" dirty="0">
                          <a:latin typeface="+mj-ea"/>
                          <a:ea typeface="+mj-ea"/>
                          <a:cs typeface="Times New Roman" panose="02020603050405020304" pitchFamily="18" charset="0"/>
                        </a:rPr>
                        <a:t>Server</a:t>
                      </a:r>
                      <a:r>
                        <a:rPr lang="zh-CN" altLang="en-US" dirty="0">
                          <a:latin typeface="+mj-ea"/>
                          <a:ea typeface="+mj-ea"/>
                          <a:cs typeface="Times New Roman" panose="02020603050405020304" pitchFamily="18" charset="0"/>
                        </a:rPr>
                        <a:t>发起的连接请求</a:t>
                      </a:r>
                    </a:p>
                  </a:txBody>
                  <a:tcPr/>
                </a:tc>
                <a:extLst>
                  <a:ext uri="{0D108BD9-81ED-4DB2-BD59-A6C34878D82A}">
                    <a16:rowId xmlns:a16="http://schemas.microsoft.com/office/drawing/2014/main" val="10002"/>
                  </a:ext>
                </a:extLst>
              </a:tr>
              <a:tr h="370840">
                <a:tc>
                  <a:txBody>
                    <a:bodyPr/>
                    <a:lstStyle/>
                    <a:p>
                      <a:r>
                        <a:rPr lang="en-US" altLang="zh-CN">
                          <a:latin typeface="+mj-ea"/>
                          <a:ea typeface="+mj-ea"/>
                          <a:cs typeface="Times New Roman" panose="02020603050405020304" pitchFamily="18" charset="0"/>
                        </a:rPr>
                        <a:t>CONNACK</a:t>
                      </a:r>
                      <a:endParaRPr lang="zh-CN" altLang="en-US">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2</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Server</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Client</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Server</a:t>
                      </a:r>
                      <a:r>
                        <a:rPr lang="zh-CN" altLang="en-US" dirty="0">
                          <a:latin typeface="+mj-ea"/>
                          <a:ea typeface="+mj-ea"/>
                          <a:cs typeface="Times New Roman" panose="02020603050405020304" pitchFamily="18" charset="0"/>
                        </a:rPr>
                        <a:t>对连接请求返回的</a:t>
                      </a:r>
                      <a:r>
                        <a:rPr lang="en-US" altLang="zh-CN" dirty="0">
                          <a:latin typeface="+mj-ea"/>
                          <a:ea typeface="+mj-ea"/>
                          <a:cs typeface="Times New Roman" panose="02020603050405020304" pitchFamily="18" charset="0"/>
                        </a:rPr>
                        <a:t>ACK</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US" altLang="zh-CN">
                          <a:latin typeface="+mj-ea"/>
                          <a:ea typeface="+mj-ea"/>
                          <a:cs typeface="Times New Roman" panose="02020603050405020304" pitchFamily="18" charset="0"/>
                        </a:rPr>
                        <a:t>PUBLISH</a:t>
                      </a:r>
                      <a:endParaRPr lang="zh-CN" altLang="en-US">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3</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Server</a:t>
                      </a:r>
                      <a:endParaRPr lang="zh-CN" altLang="en-US" dirty="0">
                        <a:latin typeface="+mj-ea"/>
                        <a:ea typeface="+mj-ea"/>
                        <a:cs typeface="Times New Roman" panose="02020603050405020304" pitchFamily="18" charset="0"/>
                      </a:endParaRPr>
                    </a:p>
                  </a:txBody>
                  <a:tcPr/>
                </a:tc>
                <a:tc>
                  <a:txBody>
                    <a:bodyPr/>
                    <a:lstStyle/>
                    <a:p>
                      <a:r>
                        <a:rPr lang="zh-CN" altLang="en-US" dirty="0">
                          <a:latin typeface="+mj-ea"/>
                          <a:ea typeface="+mj-ea"/>
                          <a:cs typeface="Times New Roman" panose="02020603050405020304" pitchFamily="18" charset="0"/>
                        </a:rPr>
                        <a:t>向话题发布的消息</a:t>
                      </a:r>
                    </a:p>
                  </a:txBody>
                  <a:tcPr/>
                </a:tc>
                <a:extLst>
                  <a:ext uri="{0D108BD9-81ED-4DB2-BD59-A6C34878D82A}">
                    <a16:rowId xmlns:a16="http://schemas.microsoft.com/office/drawing/2014/main" val="10004"/>
                  </a:ext>
                </a:extLst>
              </a:tr>
              <a:tr h="370840">
                <a:tc>
                  <a:txBody>
                    <a:bodyPr/>
                    <a:lstStyle/>
                    <a:p>
                      <a:r>
                        <a:rPr lang="en-US" altLang="zh-CN">
                          <a:latin typeface="+mj-ea"/>
                          <a:ea typeface="+mj-ea"/>
                          <a:cs typeface="Times New Roman" panose="02020603050405020304" pitchFamily="18" charset="0"/>
                        </a:rPr>
                        <a:t>PUBACK</a:t>
                      </a:r>
                      <a:endParaRPr lang="zh-CN" altLang="en-US">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4</a:t>
                      </a:r>
                      <a:endParaRPr lang="zh-CN" altLang="en-US" dirty="0">
                        <a:latin typeface="+mj-ea"/>
                        <a:ea typeface="+mj-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Server</a:t>
                      </a:r>
                      <a:endParaRPr lang="zh-CN" altLang="en-US" dirty="0">
                        <a:latin typeface="+mj-ea"/>
                        <a:ea typeface="+mj-ea"/>
                        <a:cs typeface="Times New Roman" panose="02020603050405020304" pitchFamily="18" charset="0"/>
                      </a:endParaRPr>
                    </a:p>
                  </a:txBody>
                  <a:tcPr/>
                </a:tc>
                <a:tc>
                  <a:txBody>
                    <a:bodyPr/>
                    <a:lstStyle/>
                    <a:p>
                      <a:r>
                        <a:rPr lang="zh-CN" altLang="en-US" dirty="0">
                          <a:latin typeface="+mj-ea"/>
                          <a:ea typeface="+mj-ea"/>
                          <a:cs typeface="Times New Roman" panose="02020603050405020304" pitchFamily="18" charset="0"/>
                        </a:rPr>
                        <a:t>发布消息后返回的</a:t>
                      </a:r>
                      <a:r>
                        <a:rPr lang="en-US" altLang="zh-CN" dirty="0">
                          <a:latin typeface="+mj-ea"/>
                          <a:ea typeface="+mj-ea"/>
                          <a:cs typeface="Times New Roman" panose="02020603050405020304" pitchFamily="18" charset="0"/>
                        </a:rPr>
                        <a:t>ACK</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5"/>
                  </a:ext>
                </a:extLst>
              </a:tr>
              <a:tr h="370840">
                <a:tc>
                  <a:txBody>
                    <a:bodyPr/>
                    <a:lstStyle/>
                    <a:p>
                      <a:r>
                        <a:rPr lang="en-US" altLang="zh-CN">
                          <a:latin typeface="+mj-ea"/>
                          <a:ea typeface="+mj-ea"/>
                          <a:cs typeface="Times New Roman" panose="02020603050405020304" pitchFamily="18" charset="0"/>
                        </a:rPr>
                        <a:t>SUBSCRIBE</a:t>
                      </a:r>
                      <a:endParaRPr lang="zh-CN" altLang="en-US">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8</a:t>
                      </a:r>
                      <a:endParaRPr lang="zh-CN" altLang="en-US" dirty="0">
                        <a:latin typeface="+mj-ea"/>
                        <a:ea typeface="+mj-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Server</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订阅话题的请求</a:t>
                      </a:r>
                    </a:p>
                  </a:txBody>
                  <a:tcPr/>
                </a:tc>
                <a:extLst>
                  <a:ext uri="{0D108BD9-81ED-4DB2-BD59-A6C34878D82A}">
                    <a16:rowId xmlns:a16="http://schemas.microsoft.com/office/drawing/2014/main" val="10006"/>
                  </a:ext>
                </a:extLst>
              </a:tr>
              <a:tr h="370840">
                <a:tc>
                  <a:txBody>
                    <a:bodyPr/>
                    <a:lstStyle/>
                    <a:p>
                      <a:r>
                        <a:rPr lang="en-US" altLang="zh-CN" dirty="0">
                          <a:latin typeface="+mj-ea"/>
                          <a:ea typeface="+mj-ea"/>
                          <a:cs typeface="Times New Roman" panose="02020603050405020304" pitchFamily="18" charset="0"/>
                        </a:rPr>
                        <a:t>SUBACK</a:t>
                      </a:r>
                      <a:endParaRPr lang="zh-CN" altLang="en-US" dirty="0">
                        <a:latin typeface="+mj-ea"/>
                        <a:ea typeface="+mj-ea"/>
                        <a:cs typeface="Times New Roman" panose="02020603050405020304" pitchFamily="18" charset="0"/>
                      </a:endParaRPr>
                    </a:p>
                  </a:txBody>
                  <a:tcPr/>
                </a:tc>
                <a:tc>
                  <a:txBody>
                    <a:bodyPr/>
                    <a:lstStyle/>
                    <a:p>
                      <a:r>
                        <a:rPr lang="en-US" altLang="zh-CN">
                          <a:latin typeface="+mj-ea"/>
                          <a:ea typeface="+mj-ea"/>
                          <a:cs typeface="Times New Roman" panose="02020603050405020304" pitchFamily="18" charset="0"/>
                        </a:rPr>
                        <a:t>9</a:t>
                      </a:r>
                      <a:endParaRPr lang="zh-CN" altLang="en-US">
                        <a:latin typeface="+mj-ea"/>
                        <a:ea typeface="+mj-ea"/>
                        <a:cs typeface="Times New Roman" panose="02020603050405020304" pitchFamily="18" charset="0"/>
                      </a:endParaRPr>
                    </a:p>
                  </a:txBody>
                  <a:tcPr/>
                </a:tc>
                <a:tc>
                  <a:txBody>
                    <a:bodyPr/>
                    <a:lstStyle/>
                    <a:p>
                      <a:r>
                        <a:rPr lang="en-US" altLang="zh-CN">
                          <a:latin typeface="+mj-ea"/>
                          <a:ea typeface="+mj-ea"/>
                          <a:cs typeface="Times New Roman" panose="02020603050405020304" pitchFamily="18" charset="0"/>
                        </a:rPr>
                        <a:t>Server</a:t>
                      </a:r>
                      <a:r>
                        <a:rPr lang="zh-CN" altLang="en-US">
                          <a:latin typeface="+mj-ea"/>
                          <a:ea typeface="+mj-ea"/>
                          <a:cs typeface="Times New Roman" panose="02020603050405020304" pitchFamily="18" charset="0"/>
                        </a:rPr>
                        <a:t>→</a:t>
                      </a:r>
                      <a:r>
                        <a:rPr lang="en-US" altLang="zh-CN">
                          <a:latin typeface="+mj-ea"/>
                          <a:ea typeface="+mj-ea"/>
                          <a:cs typeface="Times New Roman" panose="02020603050405020304" pitchFamily="18" charset="0"/>
                        </a:rPr>
                        <a:t>Client</a:t>
                      </a:r>
                      <a:endParaRPr lang="zh-CN" altLang="en-US">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Server</a:t>
                      </a:r>
                      <a:r>
                        <a:rPr lang="zh-CN" altLang="en-US" dirty="0">
                          <a:latin typeface="+mj-ea"/>
                          <a:ea typeface="+mj-ea"/>
                          <a:cs typeface="Times New Roman" panose="02020603050405020304" pitchFamily="18" charset="0"/>
                        </a:rPr>
                        <a:t>对订阅话题请求返回的</a:t>
                      </a:r>
                      <a:r>
                        <a:rPr lang="en-US" altLang="zh-CN" dirty="0">
                          <a:latin typeface="+mj-ea"/>
                          <a:ea typeface="+mj-ea"/>
                          <a:cs typeface="Times New Roman" panose="02020603050405020304" pitchFamily="18" charset="0"/>
                        </a:rPr>
                        <a:t>ACK</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7"/>
                  </a:ext>
                </a:extLst>
              </a:tr>
              <a:tr h="370840">
                <a:tc>
                  <a:txBody>
                    <a:bodyPr/>
                    <a:lstStyle/>
                    <a:p>
                      <a:r>
                        <a:rPr lang="en-US" altLang="zh-CN">
                          <a:latin typeface="+mj-ea"/>
                          <a:ea typeface="+mj-ea"/>
                          <a:cs typeface="Times New Roman" panose="02020603050405020304" pitchFamily="18" charset="0"/>
                        </a:rPr>
                        <a:t>DISCONNECT</a:t>
                      </a:r>
                      <a:endParaRPr lang="zh-CN" altLang="en-US">
                        <a:latin typeface="+mj-ea"/>
                        <a:ea typeface="+mj-ea"/>
                        <a:cs typeface="Times New Roman" panose="02020603050405020304" pitchFamily="18" charset="0"/>
                      </a:endParaRPr>
                    </a:p>
                  </a:txBody>
                  <a:tcPr/>
                </a:tc>
                <a:tc>
                  <a:txBody>
                    <a:bodyPr/>
                    <a:lstStyle/>
                    <a:p>
                      <a:r>
                        <a:rPr lang="en-US" altLang="zh-CN">
                          <a:latin typeface="+mj-ea"/>
                          <a:ea typeface="+mj-ea"/>
                          <a:cs typeface="Times New Roman" panose="02020603050405020304" pitchFamily="18" charset="0"/>
                        </a:rPr>
                        <a:t>14</a:t>
                      </a:r>
                      <a:endParaRPr lang="zh-CN" altLang="en-US">
                        <a:latin typeface="+mj-ea"/>
                        <a:ea typeface="+mj-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Server</a:t>
                      </a:r>
                      <a:endParaRPr lang="zh-CN" altLang="en-US" dirty="0">
                        <a:latin typeface="+mj-ea"/>
                        <a:ea typeface="+mj-ea"/>
                        <a:cs typeface="Times New Roman" panose="02020603050405020304" pitchFamily="18" charset="0"/>
                      </a:endParaRPr>
                    </a:p>
                  </a:txBody>
                  <a:tcPr/>
                </a:tc>
                <a:tc>
                  <a:txBody>
                    <a:bodyPr/>
                    <a:lstStyle/>
                    <a:p>
                      <a:r>
                        <a:rPr lang="en-US" altLang="zh-CN" dirty="0">
                          <a:latin typeface="+mj-ea"/>
                          <a:ea typeface="+mj-ea"/>
                          <a:cs typeface="Times New Roman" panose="02020603050405020304" pitchFamily="18" charset="0"/>
                        </a:rPr>
                        <a:t>Client</a:t>
                      </a:r>
                      <a:r>
                        <a:rPr lang="zh-CN" altLang="en-US" dirty="0">
                          <a:latin typeface="+mj-ea"/>
                          <a:ea typeface="+mj-ea"/>
                          <a:cs typeface="Times New Roman" panose="02020603050405020304" pitchFamily="18" charset="0"/>
                        </a:rPr>
                        <a:t>向</a:t>
                      </a:r>
                      <a:r>
                        <a:rPr lang="en-US" altLang="zh-CN" dirty="0">
                          <a:latin typeface="+mj-ea"/>
                          <a:ea typeface="+mj-ea"/>
                          <a:cs typeface="Times New Roman" panose="02020603050405020304" pitchFamily="18" charset="0"/>
                        </a:rPr>
                        <a:t>Server</a:t>
                      </a:r>
                      <a:r>
                        <a:rPr lang="zh-CN" altLang="en-US" dirty="0">
                          <a:latin typeface="+mj-ea"/>
                          <a:ea typeface="+mj-ea"/>
                          <a:cs typeface="Times New Roman" panose="02020603050405020304" pitchFamily="18" charset="0"/>
                        </a:rPr>
                        <a:t>发起断开连接的请求</a:t>
                      </a:r>
                    </a:p>
                  </a:txBody>
                  <a:tcPr/>
                </a:tc>
                <a:extLst>
                  <a:ext uri="{0D108BD9-81ED-4DB2-BD59-A6C34878D82A}">
                    <a16:rowId xmlns:a16="http://schemas.microsoft.com/office/drawing/2014/main" val="10008"/>
                  </a:ext>
                </a:extLst>
              </a:tr>
            </a:tbl>
          </a:graphicData>
        </a:graphic>
      </p:graphicFrame>
      <p:cxnSp>
        <p:nvCxnSpPr>
          <p:cNvPr id="6" name="直接箭头连接符 5"/>
          <p:cNvCxnSpPr>
            <a:cxnSpLocks/>
          </p:cNvCxnSpPr>
          <p:nvPr/>
        </p:nvCxnSpPr>
        <p:spPr bwMode="auto">
          <a:xfrm flipH="1">
            <a:off x="4143233" y="2829828"/>
            <a:ext cx="351765" cy="287548"/>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0" name="灯片编号占位符 4">
            <a:extLst>
              <a:ext uri="{FF2B5EF4-FFF2-40B4-BE49-F238E27FC236}">
                <a16:creationId xmlns:a16="http://schemas.microsoft.com/office/drawing/2014/main" id="{E1B00B2A-D312-4F5D-B08F-9029F645A4C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F:\实验室相关\书籍\mqtt.png">
            <a:extLst>
              <a:ext uri="{FF2B5EF4-FFF2-40B4-BE49-F238E27FC236}">
                <a16:creationId xmlns:a16="http://schemas.microsoft.com/office/drawing/2014/main" id="{9DE82473-8C9D-47B7-A972-DEBDC0F08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757" y="1604130"/>
            <a:ext cx="8791999" cy="4237870"/>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B31DC8EB-9968-4E3E-9CD0-587176C38093}"/>
              </a:ext>
            </a:extLst>
          </p:cNvPr>
          <p:cNvSpPr/>
          <p:nvPr/>
        </p:nvSpPr>
        <p:spPr>
          <a:xfrm>
            <a:off x="6073541" y="2204186"/>
            <a:ext cx="2867702" cy="625642"/>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zh-CN" altLang="en-US"/>
              <a:t>报文标志位</a:t>
            </a:r>
            <a:endParaRPr lang="en-US" altLang="zh-CN"/>
          </a:p>
          <a:p>
            <a:pPr lvl="1"/>
            <a:endParaRPr lang="en-US" altLang="zh-CN"/>
          </a:p>
          <a:p>
            <a:pPr lvl="1"/>
            <a:endParaRPr lang="en-US" altLang="zh-CN"/>
          </a:p>
          <a:p>
            <a:pPr lvl="1"/>
            <a:endParaRPr lang="en-US" altLang="zh-CN"/>
          </a:p>
          <a:p>
            <a:pPr lvl="1"/>
            <a:endParaRPr lang="en-US" altLang="zh-CN" dirty="0"/>
          </a:p>
        </p:txBody>
      </p:sp>
      <p:cxnSp>
        <p:nvCxnSpPr>
          <p:cNvPr id="7" name="直接箭头连接符 6"/>
          <p:cNvCxnSpPr>
            <a:cxnSpLocks/>
          </p:cNvCxnSpPr>
          <p:nvPr/>
        </p:nvCxnSpPr>
        <p:spPr bwMode="auto">
          <a:xfrm flipH="1">
            <a:off x="4966636" y="2829827"/>
            <a:ext cx="1463041" cy="1309036"/>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6" name="TextBox 5"/>
          <p:cNvSpPr txBox="1"/>
          <p:nvPr/>
        </p:nvSpPr>
        <p:spPr>
          <a:xfrm>
            <a:off x="457200" y="4137948"/>
            <a:ext cx="8351851" cy="2186048"/>
          </a:xfrm>
          <a:prstGeom prst="rect">
            <a:avLst/>
          </a:prstGeom>
          <a:solidFill>
            <a:schemeClr val="bg1"/>
          </a:solidFill>
          <a:ln w="38100">
            <a:solidFill>
              <a:srgbClr val="C00000"/>
            </a:solidFill>
          </a:ln>
        </p:spPr>
        <p:txBody>
          <a:bodyPr wrap="square" rtlCol="0">
            <a:spAutoFit/>
          </a:bodyPr>
          <a:lstStyle/>
          <a:p>
            <a:pPr>
              <a:lnSpc>
                <a:spcPct val="120000"/>
              </a:lnSpc>
            </a:pPr>
            <a:r>
              <a:rPr kumimoji="1" lang="zh-CN" altLang="en-US" sz="3200" b="1" dirty="0">
                <a:latin typeface="+mj-ea"/>
                <a:ea typeface="+mj-ea"/>
                <a:cs typeface="Times" pitchFamily="18" charset="0"/>
              </a:rPr>
              <a:t>报文</a:t>
            </a:r>
            <a:r>
              <a:rPr kumimoji="1" lang="en-US" altLang="zh-CN" sz="3200" b="1" dirty="0">
                <a:latin typeface="+mj-ea"/>
                <a:ea typeface="+mj-ea"/>
                <a:cs typeface="Times" pitchFamily="18" charset="0"/>
              </a:rPr>
              <a:t>Flag</a:t>
            </a:r>
            <a:r>
              <a:rPr kumimoji="1" lang="zh-CN" altLang="en-US" sz="3200" b="1" dirty="0">
                <a:latin typeface="+mj-ea"/>
                <a:ea typeface="+mj-ea"/>
                <a:cs typeface="Times" pitchFamily="18" charset="0"/>
              </a:rPr>
              <a:t>（仅允许设置</a:t>
            </a:r>
            <a:r>
              <a:rPr kumimoji="1" lang="en-US" altLang="zh-CN" sz="3200" b="1" dirty="0">
                <a:latin typeface="+mj-ea"/>
                <a:ea typeface="+mj-ea"/>
                <a:cs typeface="Times" pitchFamily="18" charset="0"/>
              </a:rPr>
              <a:t>PUBLISH</a:t>
            </a:r>
            <a:r>
              <a:rPr kumimoji="1" lang="zh-CN" altLang="en-US" sz="3200" b="1" dirty="0">
                <a:latin typeface="+mj-ea"/>
                <a:ea typeface="+mj-ea"/>
                <a:cs typeface="Times" pitchFamily="18" charset="0"/>
              </a:rPr>
              <a:t>类型报文的</a:t>
            </a:r>
            <a:r>
              <a:rPr kumimoji="1" lang="en-US" altLang="zh-CN" sz="3200" b="1" dirty="0">
                <a:latin typeface="+mj-ea"/>
                <a:ea typeface="+mj-ea"/>
                <a:cs typeface="Times" pitchFamily="18" charset="0"/>
              </a:rPr>
              <a:t>Flag</a:t>
            </a:r>
            <a:r>
              <a:rPr kumimoji="1" lang="zh-CN" altLang="en-US" sz="3200" b="1" dirty="0">
                <a:latin typeface="+mj-ea"/>
                <a:ea typeface="+mj-ea"/>
                <a:cs typeface="Times" pitchFamily="18" charset="0"/>
              </a:rPr>
              <a:t>）</a:t>
            </a:r>
            <a:endParaRPr kumimoji="1" lang="en-US" altLang="zh-CN" sz="3200" b="1" dirty="0">
              <a:latin typeface="+mj-ea"/>
              <a:ea typeface="+mj-ea"/>
              <a:cs typeface="Times" pitchFamily="18" charset="0"/>
            </a:endParaRPr>
          </a:p>
          <a:p>
            <a:pPr>
              <a:lnSpc>
                <a:spcPct val="120000"/>
              </a:lnSpc>
            </a:pPr>
            <a:r>
              <a:rPr lang="en-US" altLang="zh-CN" sz="3200" b="1" dirty="0">
                <a:latin typeface="+mj-ea"/>
                <a:ea typeface="+mj-ea"/>
                <a:cs typeface="Times" pitchFamily="18" charset="0"/>
              </a:rPr>
              <a:t>- Bit3(DUP Flag)</a:t>
            </a:r>
            <a:r>
              <a:rPr lang="zh-CN" altLang="en-US" sz="3200" b="1" dirty="0">
                <a:latin typeface="+mj-ea"/>
                <a:ea typeface="+mj-ea"/>
                <a:cs typeface="Times" pitchFamily="18" charset="0"/>
              </a:rPr>
              <a:t>：</a:t>
            </a:r>
            <a:r>
              <a:rPr lang="en-US" altLang="zh-CN" sz="3200" b="1" dirty="0">
                <a:latin typeface="+mj-ea"/>
                <a:ea typeface="+mj-ea"/>
                <a:cs typeface="Times" pitchFamily="18" charset="0"/>
              </a:rPr>
              <a:t>1</a:t>
            </a:r>
            <a:r>
              <a:rPr lang="zh-CN" altLang="en-US" sz="3200" b="1" dirty="0">
                <a:latin typeface="+mj-ea"/>
                <a:ea typeface="+mj-ea"/>
                <a:cs typeface="Times" pitchFamily="18" charset="0"/>
              </a:rPr>
              <a:t>代表重传，</a:t>
            </a:r>
            <a:r>
              <a:rPr lang="en-US" altLang="zh-CN" sz="3200" b="1" dirty="0">
                <a:latin typeface="+mj-ea"/>
                <a:ea typeface="+mj-ea"/>
                <a:cs typeface="Times" pitchFamily="18" charset="0"/>
              </a:rPr>
              <a:t>0</a:t>
            </a:r>
            <a:r>
              <a:rPr lang="zh-CN" altLang="en-US" sz="3200" b="1" dirty="0">
                <a:latin typeface="+mj-ea"/>
                <a:ea typeface="+mj-ea"/>
                <a:cs typeface="Times" pitchFamily="18" charset="0"/>
              </a:rPr>
              <a:t>代表该数据包是第一次发送</a:t>
            </a:r>
            <a:endParaRPr lang="en-US" altLang="zh-CN" sz="3200" b="1" dirty="0">
              <a:latin typeface="+mj-ea"/>
              <a:ea typeface="+mj-ea"/>
              <a:cs typeface="Times" pitchFamily="18" charset="0"/>
            </a:endParaRPr>
          </a:p>
          <a:p>
            <a:pPr>
              <a:lnSpc>
                <a:spcPct val="120000"/>
              </a:lnSpc>
            </a:pPr>
            <a:r>
              <a:rPr lang="en-US" altLang="zh-CN" sz="3200" b="1" dirty="0">
                <a:latin typeface="+mj-ea"/>
                <a:ea typeface="+mj-ea"/>
                <a:cs typeface="Times" pitchFamily="18" charset="0"/>
              </a:rPr>
              <a:t>- Bit1~2(QoS Flag)</a:t>
            </a:r>
            <a:r>
              <a:rPr lang="zh-CN" altLang="en-US" sz="3200" b="1" dirty="0">
                <a:latin typeface="+mj-ea"/>
                <a:ea typeface="+mj-ea"/>
                <a:cs typeface="Times" pitchFamily="18" charset="0"/>
              </a:rPr>
              <a:t>：</a:t>
            </a:r>
            <a:r>
              <a:rPr lang="en-US" altLang="zh-CN" sz="3200" b="1" dirty="0">
                <a:latin typeface="+mj-ea"/>
                <a:ea typeface="+mj-ea"/>
                <a:cs typeface="Times" pitchFamily="18" charset="0"/>
              </a:rPr>
              <a:t>0~2</a:t>
            </a:r>
            <a:r>
              <a:rPr lang="zh-CN" altLang="en-US" sz="3200" b="1" dirty="0">
                <a:latin typeface="+mj-ea"/>
                <a:ea typeface="+mj-ea"/>
                <a:cs typeface="Times" pitchFamily="18" charset="0"/>
              </a:rPr>
              <a:t>代表三种</a:t>
            </a:r>
            <a:r>
              <a:rPr lang="en-US" altLang="zh-CN" sz="3200" b="1" dirty="0">
                <a:latin typeface="+mj-ea"/>
                <a:ea typeface="+mj-ea"/>
                <a:cs typeface="Times" pitchFamily="18" charset="0"/>
              </a:rPr>
              <a:t>QoS</a:t>
            </a:r>
            <a:r>
              <a:rPr lang="zh-CN" altLang="en-US" sz="3200" b="1" dirty="0">
                <a:latin typeface="+mj-ea"/>
                <a:ea typeface="+mj-ea"/>
                <a:cs typeface="Times" pitchFamily="18" charset="0"/>
              </a:rPr>
              <a:t>，值越大</a:t>
            </a:r>
            <a:r>
              <a:rPr lang="en-US" altLang="zh-CN" sz="3200" b="1" dirty="0">
                <a:latin typeface="+mj-ea"/>
                <a:ea typeface="+mj-ea"/>
                <a:cs typeface="Times" pitchFamily="18" charset="0"/>
              </a:rPr>
              <a:t>QoS</a:t>
            </a:r>
            <a:r>
              <a:rPr lang="zh-CN" altLang="en-US" sz="3200" b="1" dirty="0">
                <a:latin typeface="+mj-ea"/>
                <a:ea typeface="+mj-ea"/>
                <a:cs typeface="Times" pitchFamily="18" charset="0"/>
              </a:rPr>
              <a:t>越高</a:t>
            </a:r>
          </a:p>
          <a:p>
            <a:pPr>
              <a:lnSpc>
                <a:spcPct val="120000"/>
              </a:lnSpc>
            </a:pPr>
            <a:r>
              <a:rPr lang="en-US" altLang="zh-CN" sz="3200" b="1" dirty="0">
                <a:latin typeface="+mj-ea"/>
                <a:ea typeface="+mj-ea"/>
                <a:cs typeface="Times" pitchFamily="18" charset="0"/>
              </a:rPr>
              <a:t>- Bit0(RETAIN Flag)</a:t>
            </a:r>
            <a:r>
              <a:rPr lang="zh-CN" altLang="en-US" sz="3200" b="1" dirty="0">
                <a:latin typeface="+mj-ea"/>
                <a:ea typeface="+mj-ea"/>
                <a:cs typeface="Times" pitchFamily="18" charset="0"/>
              </a:rPr>
              <a:t>：</a:t>
            </a:r>
            <a:r>
              <a:rPr lang="en-US" altLang="zh-CN" sz="3200" b="1" dirty="0">
                <a:latin typeface="+mj-ea"/>
                <a:ea typeface="+mj-ea"/>
                <a:cs typeface="Times" pitchFamily="18" charset="0"/>
              </a:rPr>
              <a:t>1</a:t>
            </a:r>
            <a:r>
              <a:rPr lang="zh-CN" altLang="en-US" sz="3200" b="1" dirty="0">
                <a:latin typeface="+mj-ea"/>
                <a:ea typeface="+mj-ea"/>
                <a:cs typeface="Times" pitchFamily="18" charset="0"/>
              </a:rPr>
              <a:t>代表</a:t>
            </a:r>
            <a:r>
              <a:rPr lang="en-US" altLang="zh-CN" sz="3200" b="1" dirty="0">
                <a:latin typeface="+mj-ea"/>
                <a:ea typeface="+mj-ea"/>
                <a:cs typeface="Times" pitchFamily="18" charset="0"/>
              </a:rPr>
              <a:t>MQTT</a:t>
            </a:r>
            <a:r>
              <a:rPr lang="zh-CN" altLang="en-US" sz="3200" b="1" dirty="0">
                <a:latin typeface="+mj-ea"/>
                <a:ea typeface="+mj-ea"/>
                <a:cs typeface="Times" pitchFamily="18" charset="0"/>
              </a:rPr>
              <a:t>代理保留消息，</a:t>
            </a:r>
            <a:r>
              <a:rPr lang="en-US" altLang="zh-CN" sz="3200" b="1" dirty="0">
                <a:latin typeface="+mj-ea"/>
                <a:ea typeface="+mj-ea"/>
                <a:cs typeface="Times" pitchFamily="18" charset="0"/>
              </a:rPr>
              <a:t>0</a:t>
            </a:r>
            <a:r>
              <a:rPr lang="zh-CN" altLang="en-US" sz="3200" b="1" dirty="0">
                <a:latin typeface="+mj-ea"/>
                <a:ea typeface="+mj-ea"/>
                <a:cs typeface="Times" pitchFamily="18" charset="0"/>
              </a:rPr>
              <a:t>代表</a:t>
            </a:r>
            <a:r>
              <a:rPr lang="en-US" altLang="zh-CN" sz="3200" b="1" dirty="0">
                <a:latin typeface="+mj-ea"/>
                <a:ea typeface="+mj-ea"/>
                <a:cs typeface="Times" pitchFamily="18" charset="0"/>
              </a:rPr>
              <a:t>MQTT</a:t>
            </a:r>
            <a:r>
              <a:rPr lang="zh-CN" altLang="en-US" sz="3200" b="1" dirty="0">
                <a:latin typeface="+mj-ea"/>
                <a:ea typeface="+mj-ea"/>
                <a:cs typeface="Times" pitchFamily="18" charset="0"/>
              </a:rPr>
              <a:t>不保留消息</a:t>
            </a:r>
            <a:endParaRPr lang="en-US" altLang="zh-CN" sz="3200" b="1" dirty="0">
              <a:latin typeface="+mj-ea"/>
              <a:ea typeface="+mj-ea"/>
              <a:cs typeface="Times" pitchFamily="18" charset="0"/>
            </a:endParaRPr>
          </a:p>
          <a:p>
            <a:pPr>
              <a:lnSpc>
                <a:spcPct val="120000"/>
              </a:lnSpc>
            </a:pPr>
            <a:endParaRPr lang="en-US" altLang="zh-CN" sz="1100" b="1" dirty="0">
              <a:latin typeface="+mj-ea"/>
              <a:ea typeface="+mj-ea"/>
              <a:cs typeface="Times" pitchFamily="18" charset="0"/>
            </a:endParaRPr>
          </a:p>
        </p:txBody>
      </p:sp>
      <p:sp>
        <p:nvSpPr>
          <p:cNvPr id="12" name="灯片编号占位符 4">
            <a:extLst>
              <a:ext uri="{FF2B5EF4-FFF2-40B4-BE49-F238E27FC236}">
                <a16:creationId xmlns:a16="http://schemas.microsoft.com/office/drawing/2014/main" id="{C7AC8E31-9C00-40ED-9C6A-7BC28CE1043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en-US" altLang="zh-CN"/>
              <a:t>Publish</a:t>
            </a:r>
            <a:r>
              <a:rPr lang="zh-CN" altLang="en-US"/>
              <a:t>数据传输举例</a:t>
            </a:r>
            <a:endParaRPr lang="en-US" altLang="zh-CN"/>
          </a:p>
          <a:p>
            <a:pPr lvl="1"/>
            <a:endParaRPr lang="en-US" altLang="zh-CN" dirty="0"/>
          </a:p>
        </p:txBody>
      </p:sp>
      <p:grpSp>
        <p:nvGrpSpPr>
          <p:cNvPr id="9" name="组合 8">
            <a:extLst>
              <a:ext uri="{FF2B5EF4-FFF2-40B4-BE49-F238E27FC236}">
                <a16:creationId xmlns:a16="http://schemas.microsoft.com/office/drawing/2014/main" id="{6EC72998-31E2-4642-82A9-8077421612E9}"/>
              </a:ext>
            </a:extLst>
          </p:cNvPr>
          <p:cNvGrpSpPr/>
          <p:nvPr/>
        </p:nvGrpSpPr>
        <p:grpSpPr>
          <a:xfrm>
            <a:off x="238677" y="1518869"/>
            <a:ext cx="8666647" cy="4380687"/>
            <a:chOff x="133950" y="1518869"/>
            <a:chExt cx="8666647" cy="4380687"/>
          </a:xfrm>
        </p:grpSpPr>
        <p:sp>
          <p:nvSpPr>
            <p:cNvPr id="4" name="TextBox 3"/>
            <p:cNvSpPr txBox="1"/>
            <p:nvPr/>
          </p:nvSpPr>
          <p:spPr>
            <a:xfrm>
              <a:off x="133950" y="1518870"/>
              <a:ext cx="4285746" cy="4380686"/>
            </a:xfrm>
            <a:prstGeom prst="rect">
              <a:avLst/>
            </a:prstGeom>
            <a:noFill/>
            <a:ln>
              <a:solidFill>
                <a:srgbClr val="333333"/>
              </a:solidFill>
            </a:ln>
          </p:spPr>
          <p:txBody>
            <a:bodyPr wrap="square" rtlCol="0">
              <a:spAutoFit/>
            </a:bodyPr>
            <a:lstStyle/>
            <a:p>
              <a:r>
                <a:rPr lang="en-US" altLang="zh-CN" sz="2200" dirty="0">
                  <a:latin typeface="Courier New" panose="02070309020205020404" pitchFamily="49" charset="0"/>
                  <a:cs typeface="Courier New" panose="02070309020205020404" pitchFamily="49" charset="0"/>
                </a:rPr>
                <a:t>struct Message{</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enum</a:t>
              </a:r>
              <a:r>
                <a:rPr lang="en-US" altLang="zh-CN" sz="2200" dirty="0">
                  <a:latin typeface="Courier New" panose="02070309020205020404" pitchFamily="49" charset="0"/>
                  <a:cs typeface="Courier New" panose="02070309020205020404" pitchFamily="49" charset="0"/>
                </a:rPr>
                <a:t> QoS </a:t>
              </a:r>
              <a:r>
                <a:rPr lang="en-US" altLang="zh-CN" sz="2200" dirty="0" err="1">
                  <a:latin typeface="Courier New" panose="02070309020205020404" pitchFamily="49" charset="0"/>
                  <a:cs typeface="Courier New" panose="02070309020205020404" pitchFamily="49" charset="0"/>
                </a:rPr>
                <a:t>qos</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bool retained;</a:t>
              </a:r>
            </a:p>
            <a:p>
              <a:r>
                <a:rPr lang="en-US" altLang="zh-CN" sz="2200" dirty="0">
                  <a:latin typeface="Courier New" panose="02070309020205020404" pitchFamily="49" charset="0"/>
                  <a:cs typeface="Courier New" panose="02070309020205020404" pitchFamily="49" charset="0"/>
                </a:rPr>
                <a:t>    bool dup;</a:t>
              </a:r>
            </a:p>
            <a:p>
              <a:r>
                <a:rPr lang="en-US" altLang="zh-CN" sz="2200" dirty="0">
                  <a:latin typeface="Courier New" panose="02070309020205020404" pitchFamily="49" charset="0"/>
                  <a:cs typeface="Courier New" panose="02070309020205020404" pitchFamily="49" charset="0"/>
                </a:rPr>
                <a:t>    unsigned short id;</a:t>
              </a:r>
            </a:p>
            <a:p>
              <a:r>
                <a:rPr lang="en-US" altLang="zh-CN" sz="2200" dirty="0">
                  <a:latin typeface="Courier New" panose="02070309020205020404" pitchFamily="49" charset="0"/>
                  <a:cs typeface="Courier New" panose="02070309020205020404" pitchFamily="49" charset="0"/>
                </a:rPr>
                <a:t>    void *payload;</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size_t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payloadlen</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 </a:t>
              </a:r>
              <a:r>
                <a:rPr lang="zh-CN" altLang="en-US" sz="2200" dirty="0">
                  <a:latin typeface="Courier New" panose="02070309020205020404" pitchFamily="49" charset="0"/>
                  <a:cs typeface="Courier New" panose="02070309020205020404" pitchFamily="49" charset="0"/>
                </a:rPr>
                <a:t>消息结构体</a:t>
              </a:r>
              <a:endParaRPr lang="en-US" altLang="zh-CN" sz="2200" dirty="0">
                <a:latin typeface="Courier New" panose="02070309020205020404" pitchFamily="49" charset="0"/>
                <a:cs typeface="Courier New" panose="02070309020205020404" pitchFamily="49" charset="0"/>
              </a:endParaRP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Message </a:t>
              </a:r>
              <a:r>
                <a:rPr lang="en-US" altLang="zh-CN" sz="2200" dirty="0" err="1">
                  <a:latin typeface="Courier New" panose="02070309020205020404" pitchFamily="49" charset="0"/>
                  <a:cs typeface="Courier New" panose="02070309020205020404" pitchFamily="49" charset="0"/>
                </a:rPr>
                <a:t>myMsg</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myMsg.payload</a:t>
              </a:r>
              <a:r>
                <a:rPr lang="en-US" altLang="zh-CN" sz="2200" dirty="0">
                  <a:latin typeface="Courier New" panose="02070309020205020404" pitchFamily="49" charset="0"/>
                  <a:cs typeface="Courier New" panose="02070309020205020404" pitchFamily="49" charset="0"/>
                </a:rPr>
                <a:t> = “hello”;</a:t>
              </a:r>
            </a:p>
            <a:p>
              <a:r>
                <a:rPr lang="en-US" altLang="zh-CN" sz="2200" dirty="0" err="1">
                  <a:latin typeface="Courier New" panose="02070309020205020404" pitchFamily="49" charset="0"/>
                  <a:cs typeface="Courier New" panose="02070309020205020404" pitchFamily="49" charset="0"/>
                </a:rPr>
                <a:t>myMsg.payloadlen</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strlen</a:t>
              </a:r>
              <a:r>
                <a:rPr lang="en-US" altLang="zh-CN" sz="2200" dirty="0">
                  <a:latin typeface="Courier New" panose="02070309020205020404" pitchFamily="49" charset="0"/>
                  <a:cs typeface="Courier New" panose="02070309020205020404" pitchFamily="49" charset="0"/>
                </a:rPr>
                <a:t>(“hello”)+1;</a:t>
              </a:r>
            </a:p>
            <a:p>
              <a:r>
                <a:rPr lang="en-US" altLang="zh-CN" sz="2200" dirty="0" err="1">
                  <a:latin typeface="Courier New" panose="02070309020205020404" pitchFamily="49" charset="0"/>
                  <a:cs typeface="Courier New" panose="02070309020205020404" pitchFamily="49" charset="0"/>
                </a:rPr>
                <a:t>myMsg.id</a:t>
              </a:r>
              <a:r>
                <a:rPr lang="en-US" altLang="zh-CN" sz="2200" dirty="0">
                  <a:latin typeface="Courier New" panose="02070309020205020404" pitchFamily="49" charset="0"/>
                  <a:cs typeface="Courier New" panose="02070309020205020404" pitchFamily="49" charset="0"/>
                </a:rPr>
                <a:t> = 0x1234;</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Case 1: MQTT</a:t>
              </a:r>
              <a:r>
                <a:rPr lang="zh-CN" altLang="en-US" sz="2200" dirty="0">
                  <a:latin typeface="Courier New" panose="02070309020205020404" pitchFamily="49" charset="0"/>
                  <a:cs typeface="Courier New" panose="02070309020205020404" pitchFamily="49" charset="0"/>
                </a:rPr>
                <a:t>代理要为后续订阅话题的</a:t>
              </a:r>
              <a:r>
                <a:rPr lang="en-US" altLang="zh-CN" sz="2200" dirty="0">
                  <a:latin typeface="Courier New" panose="02070309020205020404" pitchFamily="49" charset="0"/>
                  <a:cs typeface="Courier New" panose="02070309020205020404" pitchFamily="49" charset="0"/>
                </a:rPr>
                <a:t>Client</a:t>
              </a:r>
              <a:r>
                <a:rPr lang="zh-CN" altLang="en-US" sz="2200" dirty="0">
                  <a:latin typeface="Courier New" panose="02070309020205020404" pitchFamily="49" charset="0"/>
                  <a:cs typeface="Courier New" panose="02070309020205020404" pitchFamily="49" charset="0"/>
                </a:rPr>
                <a:t>转发保留的消息</a:t>
              </a:r>
              <a:endParaRPr lang="en-US" altLang="zh-CN" sz="2200" dirty="0">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myMsg.qos</a:t>
              </a:r>
              <a:r>
                <a:rPr lang="en-US" altLang="zh-CN" sz="2200" dirty="0">
                  <a:latin typeface="Courier New" panose="02070309020205020404" pitchFamily="49" charset="0"/>
                  <a:cs typeface="Courier New" panose="02070309020205020404" pitchFamily="49" charset="0"/>
                </a:rPr>
                <a:t> = QoS2;</a:t>
              </a:r>
            </a:p>
            <a:p>
              <a:r>
                <a:rPr lang="en-US" altLang="zh-CN" sz="2200" dirty="0" err="1">
                  <a:latin typeface="Courier New" panose="02070309020205020404" pitchFamily="49" charset="0"/>
                  <a:cs typeface="Courier New" panose="02070309020205020404" pitchFamily="49" charset="0"/>
                </a:rPr>
                <a:t>myMsg.retained</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true</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myMsg.dup</a:t>
              </a:r>
              <a:r>
                <a:rPr lang="en-US" altLang="zh-CN" sz="2200" dirty="0">
                  <a:latin typeface="Courier New" panose="02070309020205020404" pitchFamily="49" charset="0"/>
                  <a:cs typeface="Courier New" panose="02070309020205020404" pitchFamily="49" charset="0"/>
                </a:rPr>
                <a:t> = false;</a:t>
              </a:r>
            </a:p>
          </p:txBody>
        </p:sp>
        <p:sp>
          <p:nvSpPr>
            <p:cNvPr id="5" name="TextBox 4"/>
            <p:cNvSpPr txBox="1"/>
            <p:nvPr/>
          </p:nvSpPr>
          <p:spPr>
            <a:xfrm>
              <a:off x="4514851" y="1518869"/>
              <a:ext cx="4285746" cy="4380686"/>
            </a:xfrm>
            <a:prstGeom prst="rect">
              <a:avLst/>
            </a:prstGeom>
            <a:noFill/>
            <a:ln>
              <a:solidFill>
                <a:schemeClr val="tx1"/>
              </a:solidFill>
            </a:ln>
          </p:spPr>
          <p:txBody>
            <a:bodyPr wrap="square" rtlCol="0">
              <a:spAutoFit/>
            </a:bodyPr>
            <a:lstStyle/>
            <a:p>
              <a:r>
                <a:rPr lang="en-US" altLang="zh-CN" sz="2200" dirty="0">
                  <a:latin typeface="Courier New" panose="02070309020205020404" pitchFamily="49" charset="0"/>
                  <a:cs typeface="Courier New" panose="02070309020205020404" pitchFamily="49" charset="0"/>
                </a:rPr>
                <a:t>Case 2: </a:t>
              </a:r>
              <a:r>
                <a:rPr lang="zh-CN" altLang="en-US" sz="2200" dirty="0">
                  <a:latin typeface="Courier New" panose="02070309020205020404" pitchFamily="49" charset="0"/>
                  <a:cs typeface="Courier New" panose="02070309020205020404" pitchFamily="49" charset="0"/>
                </a:rPr>
                <a:t>清空</a:t>
              </a:r>
              <a:r>
                <a:rPr lang="en-US" altLang="zh-CN" sz="2200" dirty="0">
                  <a:latin typeface="Courier New" panose="02070309020205020404" pitchFamily="49" charset="0"/>
                  <a:cs typeface="Courier New" panose="02070309020205020404" pitchFamily="49" charset="0"/>
                </a:rPr>
                <a:t>MQTT</a:t>
              </a:r>
              <a:r>
                <a:rPr lang="zh-CN" altLang="en-US" sz="2200" dirty="0">
                  <a:latin typeface="Courier New" panose="02070309020205020404" pitchFamily="49" charset="0"/>
                  <a:cs typeface="Courier New" panose="02070309020205020404" pitchFamily="49" charset="0"/>
                </a:rPr>
                <a:t>代理某话题下保留的消息</a:t>
              </a:r>
              <a:endParaRPr lang="en-US" altLang="zh-CN" sz="2200" dirty="0">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myMsg.qos</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QoS0</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myMsg.retained</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true</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myMsg.dup</a:t>
              </a:r>
              <a:r>
                <a:rPr lang="en-US" altLang="zh-CN" sz="2200" dirty="0">
                  <a:latin typeface="Courier New" panose="02070309020205020404" pitchFamily="49" charset="0"/>
                  <a:cs typeface="Courier New" panose="02070309020205020404" pitchFamily="49" charset="0"/>
                </a:rPr>
                <a:t> = false;</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Case 3: </a:t>
              </a:r>
              <a:r>
                <a:rPr lang="zh-CN" altLang="en-US" sz="2200" dirty="0">
                  <a:latin typeface="Courier New" panose="02070309020205020404" pitchFamily="49" charset="0"/>
                  <a:cs typeface="Courier New" panose="02070309020205020404" pitchFamily="49" charset="0"/>
                </a:rPr>
                <a:t>让</a:t>
              </a:r>
              <a:r>
                <a:rPr lang="en-US" altLang="zh-CN" sz="2200" dirty="0">
                  <a:latin typeface="Courier New" panose="02070309020205020404" pitchFamily="49" charset="0"/>
                  <a:cs typeface="Courier New" panose="02070309020205020404" pitchFamily="49" charset="0"/>
                </a:rPr>
                <a:t>MQTT</a:t>
              </a:r>
              <a:r>
                <a:rPr lang="zh-CN" altLang="en-US" sz="2200" dirty="0">
                  <a:latin typeface="Courier New" panose="02070309020205020404" pitchFamily="49" charset="0"/>
                  <a:cs typeface="Courier New" panose="02070309020205020404" pitchFamily="49" charset="0"/>
                </a:rPr>
                <a:t>至少收到一次该消息，不保留</a:t>
              </a:r>
              <a:endParaRPr lang="en-US" altLang="zh-CN" sz="2200" dirty="0">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myMsg.qos</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QoS1</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myMsg.retained</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false</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myMsg.dup</a:t>
              </a:r>
              <a:r>
                <a:rPr lang="en-US" altLang="zh-CN" sz="2200" dirty="0">
                  <a:latin typeface="Courier New" panose="02070309020205020404" pitchFamily="49" charset="0"/>
                  <a:cs typeface="Courier New" panose="02070309020205020404" pitchFamily="49" charset="0"/>
                </a:rPr>
                <a:t> = false;</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Case 4: </a:t>
              </a:r>
              <a:r>
                <a:rPr lang="zh-CN" altLang="en-US" sz="2200" dirty="0">
                  <a:latin typeface="Courier New" panose="02070309020205020404" pitchFamily="49" charset="0"/>
                  <a:cs typeface="Courier New" panose="02070309020205020404" pitchFamily="49" charset="0"/>
                </a:rPr>
                <a:t>让</a:t>
              </a:r>
              <a:r>
                <a:rPr lang="en-US" altLang="zh-CN" sz="2200" dirty="0">
                  <a:latin typeface="Courier New" panose="02070309020205020404" pitchFamily="49" charset="0"/>
                  <a:cs typeface="Courier New" panose="02070309020205020404" pitchFamily="49" charset="0"/>
                </a:rPr>
                <a:t>MQTT</a:t>
              </a:r>
              <a:r>
                <a:rPr lang="zh-CN" altLang="en-US" sz="2200" dirty="0">
                  <a:latin typeface="Courier New" panose="02070309020205020404" pitchFamily="49" charset="0"/>
                  <a:cs typeface="Courier New" panose="02070309020205020404" pitchFamily="49" charset="0"/>
                </a:rPr>
                <a:t>以最低传输代价接收消息</a:t>
              </a:r>
              <a:endParaRPr lang="en-US" altLang="zh-CN" sz="2200" dirty="0">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myMsg.qos</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QoS0</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myMsg.retained</a:t>
              </a:r>
              <a:r>
                <a:rPr lang="en-US" altLang="zh-CN" sz="2200" dirty="0">
                  <a:latin typeface="Courier New" panose="02070309020205020404" pitchFamily="49" charset="0"/>
                  <a:cs typeface="Courier New" panose="02070309020205020404" pitchFamily="49" charset="0"/>
                </a:rPr>
                <a:t> = false;</a:t>
              </a:r>
            </a:p>
            <a:p>
              <a:r>
                <a:rPr lang="en-US" altLang="zh-CN" sz="2200" dirty="0" err="1">
                  <a:latin typeface="Courier New" panose="02070309020205020404" pitchFamily="49" charset="0"/>
                  <a:cs typeface="Courier New" panose="02070309020205020404" pitchFamily="49" charset="0"/>
                </a:rPr>
                <a:t>myMsg.dup</a:t>
              </a:r>
              <a:r>
                <a:rPr lang="en-US" altLang="zh-CN" sz="2200" dirty="0">
                  <a:latin typeface="Courier New" panose="02070309020205020404" pitchFamily="49" charset="0"/>
                  <a:cs typeface="Courier New" panose="02070309020205020404" pitchFamily="49" charset="0"/>
                </a:rPr>
                <a:t> = false;</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Case 5: </a:t>
              </a:r>
              <a:r>
                <a:rPr lang="zh-CN" altLang="en-US" sz="2200" dirty="0">
                  <a:latin typeface="Courier New" panose="02070309020205020404" pitchFamily="49" charset="0"/>
                  <a:cs typeface="Courier New" panose="02070309020205020404" pitchFamily="49" charset="0"/>
                </a:rPr>
                <a:t>数据包重传</a:t>
              </a:r>
              <a:endParaRPr lang="en-US" altLang="zh-CN" sz="2200" dirty="0">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myMsg.qos</a:t>
              </a:r>
              <a:r>
                <a:rPr lang="en-US" altLang="zh-CN" sz="2200" dirty="0">
                  <a:latin typeface="Courier New" panose="02070309020205020404" pitchFamily="49" charset="0"/>
                  <a:cs typeface="Courier New" panose="02070309020205020404" pitchFamily="49" charset="0"/>
                </a:rPr>
                <a:t> = QoS1;</a:t>
              </a:r>
            </a:p>
            <a:p>
              <a:r>
                <a:rPr lang="en-US" altLang="zh-CN" sz="2200" dirty="0" err="1">
                  <a:latin typeface="Courier New" panose="02070309020205020404" pitchFamily="49" charset="0"/>
                  <a:cs typeface="Courier New" panose="02070309020205020404" pitchFamily="49" charset="0"/>
                </a:rPr>
                <a:t>myMsg.retained</a:t>
              </a:r>
              <a:r>
                <a:rPr lang="en-US" altLang="zh-CN" sz="2200" dirty="0">
                  <a:latin typeface="Courier New" panose="02070309020205020404" pitchFamily="49" charset="0"/>
                  <a:cs typeface="Courier New" panose="02070309020205020404" pitchFamily="49" charset="0"/>
                </a:rPr>
                <a:t> = false;</a:t>
              </a:r>
            </a:p>
            <a:p>
              <a:r>
                <a:rPr lang="en-US" altLang="zh-CN" sz="2200" dirty="0" err="1">
                  <a:latin typeface="Courier New" panose="02070309020205020404" pitchFamily="49" charset="0"/>
                  <a:cs typeface="Courier New" panose="02070309020205020404" pitchFamily="49" charset="0"/>
                </a:rPr>
                <a:t>myMsg.dup</a:t>
              </a:r>
              <a:r>
                <a:rPr lang="en-US" altLang="zh-CN" sz="2200" dirty="0">
                  <a:latin typeface="Courier New" panose="02070309020205020404" pitchFamily="49" charset="0"/>
                  <a:cs typeface="Courier New" panose="02070309020205020404" pitchFamily="49" charset="0"/>
                </a:rPr>
                <a:t> = </a:t>
              </a:r>
              <a:r>
                <a:rPr lang="en-US" altLang="zh-CN" sz="2200" dirty="0">
                  <a:solidFill>
                    <a:srgbClr val="C00000"/>
                  </a:solidFill>
                  <a:latin typeface="Courier New" panose="02070309020205020404" pitchFamily="49" charset="0"/>
                  <a:cs typeface="Courier New" panose="02070309020205020404" pitchFamily="49" charset="0"/>
                </a:rPr>
                <a:t>true</a:t>
              </a:r>
              <a:r>
                <a:rPr lang="en-US" altLang="zh-CN" sz="2200" dirty="0">
                  <a:latin typeface="Courier New" panose="02070309020205020404" pitchFamily="49" charset="0"/>
                  <a:cs typeface="Courier New" panose="02070309020205020404" pitchFamily="49" charset="0"/>
                </a:rPr>
                <a:t>;</a:t>
              </a:r>
            </a:p>
          </p:txBody>
        </p:sp>
      </p:grpSp>
      <p:sp>
        <p:nvSpPr>
          <p:cNvPr id="6" name="TextBox 5"/>
          <p:cNvSpPr txBox="1"/>
          <p:nvPr/>
        </p:nvSpPr>
        <p:spPr>
          <a:xfrm>
            <a:off x="5608491" y="1061875"/>
            <a:ext cx="3382657" cy="379591"/>
          </a:xfrm>
          <a:prstGeom prst="rect">
            <a:avLst/>
          </a:prstGeom>
          <a:noFill/>
        </p:spPr>
        <p:txBody>
          <a:bodyPr wrap="none" rtlCol="0">
            <a:spAutoFit/>
          </a:bodyPr>
          <a:lstStyle/>
          <a:p>
            <a:r>
              <a:rPr lang="en-US" altLang="zh-CN" sz="2800" dirty="0">
                <a:solidFill>
                  <a:srgbClr val="C00000"/>
                </a:solidFill>
                <a:latin typeface="+mj-ea"/>
                <a:ea typeface="+mj-ea"/>
              </a:rPr>
              <a:t>*</a:t>
            </a:r>
            <a:r>
              <a:rPr lang="zh-CN" altLang="en-US" sz="2800" dirty="0">
                <a:solidFill>
                  <a:srgbClr val="C00000"/>
                </a:solidFill>
                <a:latin typeface="+mj-ea"/>
                <a:ea typeface="+mj-ea"/>
              </a:rPr>
              <a:t>红色字段表示必须设置的内容</a:t>
            </a:r>
          </a:p>
        </p:txBody>
      </p:sp>
      <p:sp>
        <p:nvSpPr>
          <p:cNvPr id="10" name="灯片编号占位符 4">
            <a:extLst>
              <a:ext uri="{FF2B5EF4-FFF2-40B4-BE49-F238E27FC236}">
                <a16:creationId xmlns:a16="http://schemas.microsoft.com/office/drawing/2014/main" id="{F144659D-0519-4E76-B9AB-508D2A44A20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F:\实验室相关\书籍\mqtt.png">
            <a:extLst>
              <a:ext uri="{FF2B5EF4-FFF2-40B4-BE49-F238E27FC236}">
                <a16:creationId xmlns:a16="http://schemas.microsoft.com/office/drawing/2014/main" id="{529ACE79-08E4-4135-AA46-CD3F9BEE1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57" y="1604130"/>
            <a:ext cx="8791999" cy="423787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en-US" altLang="zh-CN" dirty="0"/>
              <a:t>MQTT</a:t>
            </a:r>
            <a:endParaRPr lang="zh-CN" altLang="en-US" dirty="0"/>
          </a:p>
        </p:txBody>
      </p:sp>
      <p:sp>
        <p:nvSpPr>
          <p:cNvPr id="5" name="内容占位符 4">
            <a:extLst>
              <a:ext uri="{FF2B5EF4-FFF2-40B4-BE49-F238E27FC236}">
                <a16:creationId xmlns:a16="http://schemas.microsoft.com/office/drawing/2014/main" id="{02FD1EF7-3690-412C-A3C5-313F13FCC28C}"/>
              </a:ext>
            </a:extLst>
          </p:cNvPr>
          <p:cNvSpPr>
            <a:spLocks noGrp="1"/>
          </p:cNvSpPr>
          <p:nvPr>
            <p:ph idx="1"/>
          </p:nvPr>
        </p:nvSpPr>
        <p:spPr/>
        <p:txBody>
          <a:bodyPr/>
          <a:lstStyle/>
          <a:p>
            <a:r>
              <a:rPr lang="zh-CN" altLang="en-US"/>
              <a:t>剩余长度</a:t>
            </a:r>
            <a:endParaRPr lang="zh-CN" altLang="en-US" dirty="0"/>
          </a:p>
        </p:txBody>
      </p:sp>
      <p:sp>
        <p:nvSpPr>
          <p:cNvPr id="4" name="TextBox 3"/>
          <p:cNvSpPr txBox="1"/>
          <p:nvPr/>
        </p:nvSpPr>
        <p:spPr>
          <a:xfrm>
            <a:off x="1128665" y="4724397"/>
            <a:ext cx="6962870" cy="961995"/>
          </a:xfrm>
          <a:prstGeom prst="rect">
            <a:avLst/>
          </a:prstGeom>
          <a:solidFill>
            <a:schemeClr val="bg1"/>
          </a:solidFill>
          <a:ln w="28575">
            <a:solidFill>
              <a:srgbClr val="C00000"/>
            </a:solidFill>
          </a:ln>
        </p:spPr>
        <p:txBody>
          <a:bodyPr wrap="square" rtlCol="0">
            <a:spAutoFit/>
          </a:bodyPr>
          <a:lstStyle/>
          <a:p>
            <a:pPr>
              <a:lnSpc>
                <a:spcPct val="120000"/>
              </a:lnSpc>
            </a:pPr>
            <a:r>
              <a:rPr lang="zh-CN" altLang="en-US" sz="2800" b="1" dirty="0">
                <a:latin typeface="+mj-ea"/>
                <a:ea typeface="+mj-ea"/>
              </a:rPr>
              <a:t>剩余长度：当前报文变长头部和数据内容的字节长度，用</a:t>
            </a:r>
            <a:r>
              <a:rPr lang="en-US" altLang="zh-CN" sz="2800" b="1" dirty="0">
                <a:latin typeface="+mj-ea"/>
                <a:ea typeface="+mj-ea"/>
              </a:rPr>
              <a:t>1~4</a:t>
            </a:r>
            <a:r>
              <a:rPr lang="zh-CN" altLang="en-US" sz="2800" b="1" dirty="0">
                <a:latin typeface="+mj-ea"/>
                <a:ea typeface="+mj-ea"/>
              </a:rPr>
              <a:t>个字节表示，不同数值被编码成不同的长度</a:t>
            </a:r>
            <a:endParaRPr lang="en-US" altLang="zh-CN" sz="2800" b="1" dirty="0">
              <a:latin typeface="+mj-ea"/>
              <a:ea typeface="+mj-ea"/>
            </a:endParaRPr>
          </a:p>
          <a:p>
            <a:pPr>
              <a:lnSpc>
                <a:spcPct val="120000"/>
              </a:lnSpc>
            </a:pPr>
            <a:endParaRPr lang="zh-CN" altLang="en-US" sz="1400" b="1" dirty="0">
              <a:latin typeface="+mj-ea"/>
              <a:ea typeface="+mj-ea"/>
            </a:endParaRPr>
          </a:p>
        </p:txBody>
      </p:sp>
      <p:sp>
        <p:nvSpPr>
          <p:cNvPr id="11" name="矩形 10">
            <a:extLst>
              <a:ext uri="{FF2B5EF4-FFF2-40B4-BE49-F238E27FC236}">
                <a16:creationId xmlns:a16="http://schemas.microsoft.com/office/drawing/2014/main" id="{48007F93-BE7F-4BF4-AB34-6BF83DE9CED7}"/>
              </a:ext>
            </a:extLst>
          </p:cNvPr>
          <p:cNvSpPr/>
          <p:nvPr/>
        </p:nvSpPr>
        <p:spPr>
          <a:xfrm>
            <a:off x="3214837" y="2829827"/>
            <a:ext cx="5726405" cy="563382"/>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2" name="直接箭头连接符 11">
            <a:extLst>
              <a:ext uri="{FF2B5EF4-FFF2-40B4-BE49-F238E27FC236}">
                <a16:creationId xmlns:a16="http://schemas.microsoft.com/office/drawing/2014/main" id="{87BCE214-5199-4273-8190-9A25D4272171}"/>
              </a:ext>
            </a:extLst>
          </p:cNvPr>
          <p:cNvCxnSpPr>
            <a:cxnSpLocks/>
          </p:cNvCxnSpPr>
          <p:nvPr/>
        </p:nvCxnSpPr>
        <p:spPr bwMode="auto">
          <a:xfrm flipH="1">
            <a:off x="4514850" y="3393209"/>
            <a:ext cx="1463041" cy="1309036"/>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4" name="灯片编号占位符 4">
            <a:extLst>
              <a:ext uri="{FF2B5EF4-FFF2-40B4-BE49-F238E27FC236}">
                <a16:creationId xmlns:a16="http://schemas.microsoft.com/office/drawing/2014/main" id="{F7B76DF3-6C2E-4E65-BC4B-12913A47EA5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zh-CN" altLang="en-US"/>
              <a:t>变长头部</a:t>
            </a:r>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8"/>
            <a:endParaRPr lang="en-US" altLang="zh-CN"/>
          </a:p>
          <a:p>
            <a:pPr lvl="8"/>
            <a:endParaRPr lang="en-US" altLang="zh-CN"/>
          </a:p>
          <a:p>
            <a:pPr lvl="8"/>
            <a:endParaRPr lang="en-US" altLang="zh-CN" dirty="0"/>
          </a:p>
        </p:txBody>
      </p:sp>
      <p:pic>
        <p:nvPicPr>
          <p:cNvPr id="7" name="Picture 3" descr="F:\实验室相关\书籍\mqtt.png">
            <a:extLst>
              <a:ext uri="{FF2B5EF4-FFF2-40B4-BE49-F238E27FC236}">
                <a16:creationId xmlns:a16="http://schemas.microsoft.com/office/drawing/2014/main" id="{92171A1A-52F8-41A1-962C-DC20D4193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757" y="1604130"/>
            <a:ext cx="8791999" cy="423787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53D02ACE-BC2A-4070-9D57-C3330E10ACD4}"/>
              </a:ext>
            </a:extLst>
          </p:cNvPr>
          <p:cNvSpPr/>
          <p:nvPr/>
        </p:nvSpPr>
        <p:spPr>
          <a:xfrm>
            <a:off x="1434163" y="3419374"/>
            <a:ext cx="7507079" cy="1759017"/>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10" name="灯片编号占位符 4">
            <a:extLst>
              <a:ext uri="{FF2B5EF4-FFF2-40B4-BE49-F238E27FC236}">
                <a16:creationId xmlns:a16="http://schemas.microsoft.com/office/drawing/2014/main" id="{B9196DBC-2FB6-490F-98BA-FBBB3E5C388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descr="F:\实验室相关\书籍\mqtt.png">
            <a:extLst>
              <a:ext uri="{FF2B5EF4-FFF2-40B4-BE49-F238E27FC236}">
                <a16:creationId xmlns:a16="http://schemas.microsoft.com/office/drawing/2014/main" id="{96F6DC74-3EF8-4912-839C-42B18E9B8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57" y="1604130"/>
            <a:ext cx="8791999" cy="423787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zh-CN" altLang="en-US"/>
              <a:t>数据</a:t>
            </a:r>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pPr lvl="1"/>
            <a:endParaRPr lang="en-US" altLang="zh-CN"/>
          </a:p>
          <a:p>
            <a:endParaRPr lang="en-US" altLang="zh-CN" dirty="0"/>
          </a:p>
        </p:txBody>
      </p:sp>
      <p:sp>
        <p:nvSpPr>
          <p:cNvPr id="4" name="TextBox 3"/>
          <p:cNvSpPr txBox="1"/>
          <p:nvPr/>
        </p:nvSpPr>
        <p:spPr>
          <a:xfrm>
            <a:off x="225444" y="3620710"/>
            <a:ext cx="7949036" cy="916982"/>
          </a:xfrm>
          <a:prstGeom prst="rect">
            <a:avLst/>
          </a:prstGeom>
          <a:solidFill>
            <a:schemeClr val="bg1"/>
          </a:solidFill>
          <a:ln w="38100">
            <a:solidFill>
              <a:srgbClr val="C00000"/>
            </a:solidFill>
          </a:ln>
        </p:spPr>
        <p:txBody>
          <a:bodyPr wrap="none" rtlCol="0">
            <a:spAutoFit/>
          </a:bodyPr>
          <a:lstStyle/>
          <a:p>
            <a:pPr>
              <a:lnSpc>
                <a:spcPct val="120000"/>
              </a:lnSpc>
            </a:pPr>
            <a:r>
              <a:rPr kumimoji="1" lang="zh-CN" altLang="en-US" sz="2800" b="1" dirty="0">
                <a:latin typeface="+mj-ea"/>
                <a:ea typeface="+mj-ea"/>
              </a:rPr>
              <a:t>数据内容，拥有数据内容的报文类型：</a:t>
            </a:r>
            <a:endParaRPr kumimoji="1" lang="en-US" altLang="zh-CN" sz="2800" b="1" dirty="0">
              <a:latin typeface="+mj-ea"/>
              <a:ea typeface="+mj-ea"/>
            </a:endParaRPr>
          </a:p>
          <a:p>
            <a:pPr lvl="1">
              <a:lnSpc>
                <a:spcPct val="120000"/>
              </a:lnSpc>
            </a:pPr>
            <a:r>
              <a:rPr kumimoji="1" lang="en-US" altLang="zh-CN" sz="2800" b="1" dirty="0">
                <a:latin typeface="+mj-ea"/>
                <a:ea typeface="+mj-ea"/>
              </a:rPr>
              <a:t>CONNECT</a:t>
            </a:r>
            <a:r>
              <a:rPr kumimoji="1" lang="zh-CN" altLang="en-US" sz="2800" b="1" dirty="0">
                <a:latin typeface="+mj-ea"/>
                <a:ea typeface="+mj-ea"/>
              </a:rPr>
              <a:t>，</a:t>
            </a:r>
            <a:r>
              <a:rPr kumimoji="1" lang="en-US" altLang="zh-CN" sz="2800" b="1" dirty="0">
                <a:latin typeface="+mj-ea"/>
                <a:ea typeface="+mj-ea"/>
              </a:rPr>
              <a:t>SUBSCRIBE</a:t>
            </a:r>
            <a:r>
              <a:rPr kumimoji="1" lang="zh-CN" altLang="en-US" sz="2800" b="1" dirty="0">
                <a:latin typeface="+mj-ea"/>
                <a:ea typeface="+mj-ea"/>
              </a:rPr>
              <a:t>，</a:t>
            </a:r>
            <a:r>
              <a:rPr kumimoji="1" lang="en-US" altLang="zh-CN" sz="2800" b="1" dirty="0">
                <a:latin typeface="+mj-ea"/>
                <a:ea typeface="+mj-ea"/>
              </a:rPr>
              <a:t>SUBACK</a:t>
            </a:r>
            <a:r>
              <a:rPr kumimoji="1" lang="zh-CN" altLang="en-US" sz="2800" b="1" dirty="0">
                <a:latin typeface="+mj-ea"/>
                <a:ea typeface="+mj-ea"/>
              </a:rPr>
              <a:t>，</a:t>
            </a:r>
            <a:r>
              <a:rPr kumimoji="1" lang="en-US" altLang="zh-CN" sz="2800" b="1" dirty="0">
                <a:latin typeface="+mj-ea"/>
                <a:ea typeface="+mj-ea"/>
              </a:rPr>
              <a:t>UNSUBSCRIBE</a:t>
            </a:r>
            <a:r>
              <a:rPr kumimoji="1" lang="zh-CN" altLang="en-US" sz="2800" b="1" dirty="0">
                <a:latin typeface="+mj-ea"/>
                <a:ea typeface="+mj-ea"/>
              </a:rPr>
              <a:t>，</a:t>
            </a:r>
            <a:r>
              <a:rPr kumimoji="1" lang="en-US" altLang="zh-CN" sz="2800" b="1" dirty="0">
                <a:latin typeface="+mj-ea"/>
                <a:ea typeface="+mj-ea"/>
              </a:rPr>
              <a:t>PUBLISH</a:t>
            </a:r>
          </a:p>
          <a:p>
            <a:pPr lvl="1">
              <a:lnSpc>
                <a:spcPct val="120000"/>
              </a:lnSpc>
            </a:pPr>
            <a:endParaRPr kumimoji="1" lang="en-US" altLang="zh-CN" sz="1200" b="1" dirty="0">
              <a:latin typeface="+mj-ea"/>
              <a:ea typeface="+mj-ea"/>
            </a:endParaRPr>
          </a:p>
        </p:txBody>
      </p:sp>
      <p:sp>
        <p:nvSpPr>
          <p:cNvPr id="10" name="矩形 9">
            <a:extLst>
              <a:ext uri="{FF2B5EF4-FFF2-40B4-BE49-F238E27FC236}">
                <a16:creationId xmlns:a16="http://schemas.microsoft.com/office/drawing/2014/main" id="{AB8013DA-5202-4147-950D-5C5B17FF423C}"/>
              </a:ext>
            </a:extLst>
          </p:cNvPr>
          <p:cNvSpPr/>
          <p:nvPr/>
        </p:nvSpPr>
        <p:spPr>
          <a:xfrm>
            <a:off x="1405289" y="5192562"/>
            <a:ext cx="7535954" cy="63018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11" name="直接箭头连接符 10">
            <a:extLst>
              <a:ext uri="{FF2B5EF4-FFF2-40B4-BE49-F238E27FC236}">
                <a16:creationId xmlns:a16="http://schemas.microsoft.com/office/drawing/2014/main" id="{64C86703-4AD9-47A5-81B6-1A1F1828F3A8}"/>
              </a:ext>
            </a:extLst>
          </p:cNvPr>
          <p:cNvCxnSpPr>
            <a:cxnSpLocks/>
          </p:cNvCxnSpPr>
          <p:nvPr/>
        </p:nvCxnSpPr>
        <p:spPr bwMode="auto">
          <a:xfrm flipH="1" flipV="1">
            <a:off x="3811604" y="4540932"/>
            <a:ext cx="703246" cy="648390"/>
          </a:xfrm>
          <a:prstGeom prst="straightConnector1">
            <a:avLst/>
          </a:prstGeom>
          <a:solidFill>
            <a:schemeClr val="accent1"/>
          </a:solidFill>
          <a:ln w="38100" cap="flat" cmpd="sng" algn="ctr">
            <a:solidFill>
              <a:srgbClr val="C00000"/>
            </a:solidFill>
            <a:prstDash val="solid"/>
            <a:round/>
            <a:headEnd type="none" w="med" len="med"/>
            <a:tailEnd type="arrow"/>
          </a:ln>
          <a:effectLst/>
        </p:spPr>
      </p:cxnSp>
      <p:sp>
        <p:nvSpPr>
          <p:cNvPr id="14" name="灯片编号占位符 4">
            <a:extLst>
              <a:ext uri="{FF2B5EF4-FFF2-40B4-BE49-F238E27FC236}">
                <a16:creationId xmlns:a16="http://schemas.microsoft.com/office/drawing/2014/main" id="{006BAC8F-FBA1-4990-8C6E-8F4D04F4524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MQTT</a:t>
            </a:r>
            <a:endParaRPr lang="zh-CN" altLang="en-US" dirty="0"/>
          </a:p>
        </p:txBody>
      </p:sp>
      <p:sp>
        <p:nvSpPr>
          <p:cNvPr id="3" name="内容占位符 2"/>
          <p:cNvSpPr>
            <a:spLocks noGrp="1"/>
          </p:cNvSpPr>
          <p:nvPr>
            <p:ph idx="1"/>
          </p:nvPr>
        </p:nvSpPr>
        <p:spPr/>
        <p:txBody>
          <a:bodyPr/>
          <a:lstStyle/>
          <a:p>
            <a:r>
              <a:rPr lang="en-US" altLang="zh-CN"/>
              <a:t>HTTP</a:t>
            </a:r>
            <a:r>
              <a:rPr lang="zh-CN" altLang="en-US"/>
              <a:t>中同样的示例：上传一个温度数值</a:t>
            </a:r>
            <a:r>
              <a:rPr lang="en-US" altLang="zh-CN"/>
              <a:t>(25</a:t>
            </a:r>
            <a:r>
              <a:rPr lang="zh-CN" altLang="en-US"/>
              <a:t>度</a:t>
            </a:r>
            <a:r>
              <a:rPr lang="en-US" altLang="zh-CN"/>
              <a:t>)</a:t>
            </a:r>
            <a:r>
              <a:rPr lang="zh-CN" altLang="en-US"/>
              <a:t>到云</a:t>
            </a:r>
            <a:endParaRPr lang="en-US" altLang="zh-CN" dirty="0"/>
          </a:p>
        </p:txBody>
      </p:sp>
      <p:sp>
        <p:nvSpPr>
          <p:cNvPr id="4" name="TextBox 3"/>
          <p:cNvSpPr txBox="1"/>
          <p:nvPr/>
        </p:nvSpPr>
        <p:spPr>
          <a:xfrm>
            <a:off x="200225" y="1481378"/>
            <a:ext cx="4409875" cy="5016758"/>
          </a:xfrm>
          <a:prstGeom prst="rect">
            <a:avLst/>
          </a:prstGeom>
          <a:noFill/>
          <a:ln>
            <a:solidFill>
              <a:srgbClr val="333333"/>
            </a:solidFill>
          </a:ln>
        </p:spPr>
        <p:txBody>
          <a:bodyPr wrap="square" rtlCol="0">
            <a:spAutoFit/>
          </a:bodyPr>
          <a:lstStyle/>
          <a:p>
            <a:r>
              <a:rPr lang="en-US" altLang="zh-CN" dirty="0">
                <a:latin typeface="Courier New" panose="02070309020205020404" pitchFamily="49" charset="0"/>
                <a:cs typeface="Courier New" panose="02070309020205020404" pitchFamily="49" charset="0"/>
              </a:rPr>
              <a:t>struct Message{</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enum</a:t>
            </a:r>
            <a:r>
              <a:rPr lang="en-US" altLang="zh-CN" dirty="0">
                <a:latin typeface="Courier New" panose="02070309020205020404" pitchFamily="49" charset="0"/>
                <a:cs typeface="Courier New" panose="02070309020205020404" pitchFamily="49" charset="0"/>
              </a:rPr>
              <a:t> QoS </a:t>
            </a:r>
            <a:r>
              <a:rPr lang="en-US" altLang="zh-CN" dirty="0" err="1">
                <a:latin typeface="Courier New" panose="02070309020205020404" pitchFamily="49" charset="0"/>
                <a:cs typeface="Courier New" panose="02070309020205020404" pitchFamily="49" charset="0"/>
              </a:rPr>
              <a:t>qos</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bool retained;</a:t>
            </a:r>
          </a:p>
          <a:p>
            <a:r>
              <a:rPr lang="en-US" altLang="zh-CN" dirty="0">
                <a:latin typeface="Courier New" panose="02070309020205020404" pitchFamily="49" charset="0"/>
                <a:cs typeface="Courier New" panose="02070309020205020404" pitchFamily="49" charset="0"/>
              </a:rPr>
              <a:t>    bool dup;</a:t>
            </a:r>
          </a:p>
          <a:p>
            <a:r>
              <a:rPr lang="en-US" altLang="zh-CN" dirty="0">
                <a:latin typeface="Courier New" panose="02070309020205020404" pitchFamily="49" charset="0"/>
                <a:cs typeface="Courier New" panose="02070309020205020404" pitchFamily="49" charset="0"/>
              </a:rPr>
              <a:t>    unsigned short id;</a:t>
            </a:r>
          </a:p>
          <a:p>
            <a:r>
              <a:rPr lang="en-US" altLang="zh-CN" dirty="0">
                <a:latin typeface="Courier New" panose="02070309020205020404" pitchFamily="49" charset="0"/>
                <a:cs typeface="Courier New" panose="02070309020205020404" pitchFamily="49" charset="0"/>
              </a:rPr>
              <a:t>    void *payload;</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size_t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payloadlen</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消息结构体</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Message </a:t>
            </a:r>
            <a:r>
              <a:rPr lang="en-US" altLang="zh-CN" dirty="0" err="1">
                <a:latin typeface="Courier New" panose="02070309020205020404" pitchFamily="49" charset="0"/>
                <a:cs typeface="Courier New" panose="02070309020205020404" pitchFamily="49" charset="0"/>
              </a:rPr>
              <a:t>myMsg</a:t>
            </a:r>
            <a:r>
              <a:rPr lang="en-US" altLang="zh-CN" dirty="0">
                <a:latin typeface="Courier New" panose="02070309020205020404" pitchFamily="49" charset="0"/>
                <a:cs typeface="Courier New" panose="02070309020205020404" pitchFamily="49" charset="0"/>
              </a:rPr>
              <a:t>;</a:t>
            </a:r>
          </a:p>
          <a:p>
            <a:r>
              <a:rPr lang="en-US" altLang="zh-CN" dirty="0" err="1">
                <a:latin typeface="Courier New" panose="02070309020205020404" pitchFamily="49" charset="0"/>
                <a:cs typeface="Courier New" panose="02070309020205020404" pitchFamily="49" charset="0"/>
              </a:rPr>
              <a:t>myMsg.payload</a:t>
            </a:r>
            <a:r>
              <a:rPr lang="en-US" altLang="zh-CN" dirty="0">
                <a:latin typeface="Courier New" panose="02070309020205020404" pitchFamily="49" charset="0"/>
                <a:cs typeface="Courier New" panose="02070309020205020404" pitchFamily="49" charset="0"/>
              </a:rPr>
              <a:t> = “25”;</a:t>
            </a:r>
          </a:p>
          <a:p>
            <a:r>
              <a:rPr lang="en-US" altLang="zh-CN" dirty="0" err="1">
                <a:latin typeface="Courier New" panose="02070309020205020404" pitchFamily="49" charset="0"/>
                <a:cs typeface="Courier New" panose="02070309020205020404" pitchFamily="49" charset="0"/>
              </a:rPr>
              <a:t>myMsg.payloadlen</a:t>
            </a:r>
            <a:r>
              <a:rPr lang="en-US" altLang="zh-CN" dirty="0">
                <a:latin typeface="Courier New" panose="02070309020205020404" pitchFamily="49" charset="0"/>
                <a:cs typeface="Courier New" panose="02070309020205020404" pitchFamily="49" charset="0"/>
              </a:rPr>
              <a:t> = </a:t>
            </a:r>
            <a:r>
              <a:rPr lang="en-US" altLang="zh-CN" dirty="0" err="1">
                <a:latin typeface="Courier New" panose="02070309020205020404" pitchFamily="49" charset="0"/>
                <a:cs typeface="Courier New" panose="02070309020205020404" pitchFamily="49" charset="0"/>
              </a:rPr>
              <a:t>strlen</a:t>
            </a:r>
            <a:r>
              <a:rPr lang="en-US" altLang="zh-CN" dirty="0">
                <a:latin typeface="Courier New" panose="02070309020205020404" pitchFamily="49" charset="0"/>
                <a:cs typeface="Courier New" panose="02070309020205020404" pitchFamily="49" charset="0"/>
              </a:rPr>
              <a:t>(“25”)+1;</a:t>
            </a:r>
          </a:p>
          <a:p>
            <a:r>
              <a:rPr lang="en-US" altLang="zh-CN" dirty="0">
                <a:latin typeface="Courier New" panose="02070309020205020404" pitchFamily="49" charset="0"/>
                <a:cs typeface="Courier New" panose="02070309020205020404" pitchFamily="49" charset="0"/>
              </a:rPr>
              <a:t>myMsg.id = 0x1234;</a:t>
            </a: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Case : MQTT</a:t>
            </a:r>
            <a:r>
              <a:rPr lang="zh-CN" altLang="en-US" dirty="0">
                <a:latin typeface="Courier New" panose="02070309020205020404" pitchFamily="49" charset="0"/>
                <a:cs typeface="Courier New" panose="02070309020205020404" pitchFamily="49" charset="0"/>
              </a:rPr>
              <a:t>代理要为后续订阅话题的</a:t>
            </a:r>
            <a:r>
              <a:rPr lang="en-US" altLang="zh-CN" dirty="0">
                <a:latin typeface="Courier New" panose="02070309020205020404" pitchFamily="49" charset="0"/>
                <a:cs typeface="Courier New" panose="02070309020205020404" pitchFamily="49" charset="0"/>
              </a:rPr>
              <a:t>Client</a:t>
            </a:r>
            <a:r>
              <a:rPr lang="zh-CN" altLang="en-US" dirty="0">
                <a:latin typeface="Courier New" panose="02070309020205020404" pitchFamily="49" charset="0"/>
                <a:cs typeface="Courier New" panose="02070309020205020404" pitchFamily="49" charset="0"/>
              </a:rPr>
              <a:t>转发保留的消息</a:t>
            </a:r>
            <a:endParaRPr lang="en-US" altLang="zh-CN" dirty="0">
              <a:latin typeface="Courier New" panose="02070309020205020404" pitchFamily="49" charset="0"/>
              <a:cs typeface="Courier New" panose="02070309020205020404" pitchFamily="49" charset="0"/>
            </a:endParaRPr>
          </a:p>
          <a:p>
            <a:r>
              <a:rPr lang="en-US" altLang="zh-CN" dirty="0" err="1">
                <a:latin typeface="Courier New" panose="02070309020205020404" pitchFamily="49" charset="0"/>
                <a:cs typeface="Courier New" panose="02070309020205020404" pitchFamily="49" charset="0"/>
              </a:rPr>
              <a:t>myMsg.qos</a:t>
            </a:r>
            <a:r>
              <a:rPr lang="en-US" altLang="zh-CN" dirty="0">
                <a:latin typeface="Courier New" panose="02070309020205020404" pitchFamily="49" charset="0"/>
                <a:cs typeface="Courier New" panose="02070309020205020404" pitchFamily="49" charset="0"/>
              </a:rPr>
              <a:t> = QoS2;</a:t>
            </a:r>
          </a:p>
          <a:p>
            <a:r>
              <a:rPr lang="en-US" altLang="zh-CN" dirty="0" err="1">
                <a:latin typeface="Courier New" panose="02070309020205020404" pitchFamily="49" charset="0"/>
                <a:cs typeface="Courier New" panose="02070309020205020404" pitchFamily="49" charset="0"/>
              </a:rPr>
              <a:t>myMsg.retained</a:t>
            </a:r>
            <a:r>
              <a:rPr lang="en-US" altLang="zh-CN" dirty="0">
                <a:latin typeface="Courier New" panose="02070309020205020404" pitchFamily="49" charset="0"/>
                <a:cs typeface="Courier New" panose="02070309020205020404" pitchFamily="49" charset="0"/>
              </a:rPr>
              <a:t> = true;</a:t>
            </a:r>
          </a:p>
          <a:p>
            <a:r>
              <a:rPr lang="en-US" altLang="zh-CN" dirty="0" err="1">
                <a:latin typeface="Courier New" panose="02070309020205020404" pitchFamily="49" charset="0"/>
                <a:cs typeface="Courier New" panose="02070309020205020404" pitchFamily="49" charset="0"/>
              </a:rPr>
              <a:t>myMsg.dup</a:t>
            </a:r>
            <a:r>
              <a:rPr lang="en-US" altLang="zh-CN" dirty="0">
                <a:latin typeface="Courier New" panose="02070309020205020404" pitchFamily="49" charset="0"/>
                <a:cs typeface="Courier New" panose="02070309020205020404" pitchFamily="49" charset="0"/>
              </a:rPr>
              <a:t> = false;</a:t>
            </a:r>
          </a:p>
          <a:p>
            <a:r>
              <a:rPr lang="en-US" altLang="zh-CN" dirty="0">
                <a:latin typeface="Courier New" panose="02070309020205020404" pitchFamily="49" charset="0"/>
                <a:cs typeface="Courier New" panose="02070309020205020404" pitchFamily="49" charset="0"/>
              </a:rPr>
              <a:t>publish(“Temperature”, </a:t>
            </a:r>
            <a:r>
              <a:rPr lang="en-US" altLang="zh-CN" dirty="0" err="1">
                <a:latin typeface="Courier New" panose="02070309020205020404" pitchFamily="49" charset="0"/>
                <a:cs typeface="Courier New" panose="02070309020205020404" pitchFamily="49" charset="0"/>
              </a:rPr>
              <a:t>myMsg</a:t>
            </a:r>
            <a:r>
              <a:rPr lang="en-US" altLang="zh-CN" dirty="0">
                <a:latin typeface="Courier New" panose="02070309020205020404" pitchFamily="49" charset="0"/>
                <a:cs typeface="Courier New" panose="02070309020205020404" pitchFamily="49" charset="0"/>
              </a:rPr>
              <a:t>);</a:t>
            </a:r>
          </a:p>
        </p:txBody>
      </p:sp>
      <p:sp>
        <p:nvSpPr>
          <p:cNvPr id="7" name="TextBox 6"/>
          <p:cNvSpPr txBox="1"/>
          <p:nvPr/>
        </p:nvSpPr>
        <p:spPr>
          <a:xfrm>
            <a:off x="5010787" y="431782"/>
            <a:ext cx="4207883" cy="379591"/>
          </a:xfrm>
          <a:prstGeom prst="rect">
            <a:avLst/>
          </a:prstGeom>
          <a:noFill/>
        </p:spPr>
        <p:txBody>
          <a:bodyPr wrap="none" rtlCol="0">
            <a:spAutoFit/>
          </a:bodyPr>
          <a:lstStyle/>
          <a:p>
            <a:r>
              <a:rPr lang="en-US" altLang="zh-CN" sz="2800">
                <a:latin typeface="+mj-ea"/>
                <a:ea typeface="+mj-ea"/>
              </a:rPr>
              <a:t>TCP</a:t>
            </a:r>
            <a:r>
              <a:rPr lang="zh-CN" altLang="en-US" sz="2800">
                <a:latin typeface="+mj-ea"/>
                <a:ea typeface="+mj-ea"/>
              </a:rPr>
              <a:t>控制头：</a:t>
            </a:r>
            <a:r>
              <a:rPr lang="en-US" altLang="zh-CN" sz="2800">
                <a:latin typeface="+mj-ea"/>
                <a:ea typeface="+mj-ea"/>
              </a:rPr>
              <a:t>20</a:t>
            </a:r>
            <a:r>
              <a:rPr lang="zh-CN" altLang="en-US" sz="2800">
                <a:latin typeface="+mj-ea"/>
                <a:ea typeface="+mj-ea"/>
              </a:rPr>
              <a:t>固定头部</a:t>
            </a:r>
            <a:r>
              <a:rPr lang="en-US" altLang="zh-CN" sz="2800">
                <a:latin typeface="+mj-ea"/>
                <a:ea typeface="+mj-ea"/>
              </a:rPr>
              <a:t>+12</a:t>
            </a:r>
            <a:r>
              <a:rPr lang="zh-CN" altLang="en-US" sz="2800">
                <a:latin typeface="+mj-ea"/>
                <a:ea typeface="+mj-ea"/>
              </a:rPr>
              <a:t>选项</a:t>
            </a:r>
            <a:r>
              <a:rPr lang="en-US" altLang="zh-CN" sz="2800">
                <a:latin typeface="+mj-ea"/>
                <a:ea typeface="+mj-ea"/>
              </a:rPr>
              <a:t>=32</a:t>
            </a:r>
            <a:endParaRPr lang="zh-CN" altLang="en-US" sz="2800">
              <a:latin typeface="+mj-ea"/>
              <a:ea typeface="+mj-ea"/>
            </a:endParaRPr>
          </a:p>
        </p:txBody>
      </p:sp>
      <p:pic>
        <p:nvPicPr>
          <p:cNvPr id="8" name="图片 7" descr="D:\孙普\赵丽欣\新建文件夹\tp\7-8.tif">
            <a:extLst>
              <a:ext uri="{FF2B5EF4-FFF2-40B4-BE49-F238E27FC236}">
                <a16:creationId xmlns:a16="http://schemas.microsoft.com/office/drawing/2014/main" id="{8BAC80F4-5757-45EB-AA91-5712B6EA785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4729025" y="2008020"/>
            <a:ext cx="3957775" cy="3599498"/>
          </a:xfrm>
          <a:prstGeom prst="rect">
            <a:avLst/>
          </a:prstGeom>
          <a:noFill/>
          <a:ln>
            <a:noFill/>
          </a:ln>
        </p:spPr>
      </p:pic>
      <p:sp>
        <p:nvSpPr>
          <p:cNvPr id="9" name="TextBox 4">
            <a:extLst>
              <a:ext uri="{FF2B5EF4-FFF2-40B4-BE49-F238E27FC236}">
                <a16:creationId xmlns:a16="http://schemas.microsoft.com/office/drawing/2014/main" id="{9DC06491-0446-45F1-BF10-81CEBF0DCBEF}"/>
              </a:ext>
            </a:extLst>
          </p:cNvPr>
          <p:cNvSpPr txBox="1"/>
          <p:nvPr/>
        </p:nvSpPr>
        <p:spPr>
          <a:xfrm>
            <a:off x="2405162" y="5773326"/>
            <a:ext cx="5918382" cy="461665"/>
          </a:xfrm>
          <a:prstGeom prst="rect">
            <a:avLst/>
          </a:prstGeom>
          <a:solidFill>
            <a:schemeClr val="bg1"/>
          </a:solidFill>
          <a:ln w="38100">
            <a:solidFill>
              <a:schemeClr val="tx1"/>
            </a:solidFill>
          </a:ln>
        </p:spPr>
        <p:txBody>
          <a:bodyPr wrap="square" rtlCol="0">
            <a:spAutoFit/>
          </a:bodyPr>
          <a:lstStyle/>
          <a:p>
            <a:r>
              <a:rPr lang="en-US" altLang="zh-CN" baseline="0">
                <a:solidFill>
                  <a:srgbClr val="C00000"/>
                </a:solidFill>
                <a:cs typeface="Arial" panose="020B0604020202020204" pitchFamily="34" charset="0"/>
              </a:rPr>
              <a:t>32+20 B (MQTT) vs. 32+824 B (HTTP) !</a:t>
            </a:r>
            <a:endParaRPr lang="zh-CN" altLang="en-US">
              <a:solidFill>
                <a:srgbClr val="C00000"/>
              </a:solidFill>
              <a:cs typeface="Arial" panose="020B0604020202020204" pitchFamily="34" charset="0"/>
            </a:endParaRPr>
          </a:p>
        </p:txBody>
      </p:sp>
      <p:sp>
        <p:nvSpPr>
          <p:cNvPr id="10" name="灯片编号占位符 4">
            <a:extLst>
              <a:ext uri="{FF2B5EF4-FFF2-40B4-BE49-F238E27FC236}">
                <a16:creationId xmlns:a16="http://schemas.microsoft.com/office/drawing/2014/main" id="{0886BB97-B2C5-4137-B244-F3744BFE37D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MQTT</a:t>
            </a:r>
            <a:r>
              <a:rPr lang="zh-CN" altLang="en-US" dirty="0"/>
              <a:t>特点</a:t>
            </a:r>
          </a:p>
        </p:txBody>
      </p:sp>
      <p:sp>
        <p:nvSpPr>
          <p:cNvPr id="3" name="内容占位符 2"/>
          <p:cNvSpPr>
            <a:spLocks noGrp="1"/>
          </p:cNvSpPr>
          <p:nvPr>
            <p:ph idx="1"/>
          </p:nvPr>
        </p:nvSpPr>
        <p:spPr/>
        <p:txBody>
          <a:bodyPr/>
          <a:lstStyle/>
          <a:p>
            <a:r>
              <a:rPr lang="zh-CN" altLang="en-US" dirty="0"/>
              <a:t>轻量级</a:t>
            </a:r>
            <a:endParaRPr lang="en-US" altLang="zh-CN" dirty="0"/>
          </a:p>
          <a:p>
            <a:pPr lvl="1"/>
            <a:r>
              <a:rPr lang="zh-CN" altLang="en-US" dirty="0"/>
              <a:t>数据包头短</a:t>
            </a:r>
            <a:endParaRPr lang="en-US" altLang="zh-CN" dirty="0"/>
          </a:p>
          <a:p>
            <a:r>
              <a:rPr lang="zh-CN" altLang="en-US" dirty="0"/>
              <a:t>支持广播</a:t>
            </a:r>
            <a:endParaRPr lang="en-US" altLang="zh-CN" dirty="0"/>
          </a:p>
          <a:p>
            <a:pPr lvl="1"/>
            <a:r>
              <a:rPr lang="zh-CN" altLang="en-US" dirty="0"/>
              <a:t>基于发布</a:t>
            </a:r>
            <a:r>
              <a:rPr lang="en-US" altLang="zh-CN" dirty="0"/>
              <a:t>-</a:t>
            </a:r>
            <a:r>
              <a:rPr lang="zh-CN" altLang="en-US" dirty="0"/>
              <a:t>订阅模式，可实现一对多通信</a:t>
            </a:r>
            <a:endParaRPr lang="en-US" altLang="zh-CN" dirty="0"/>
          </a:p>
          <a:p>
            <a:r>
              <a:rPr lang="zh-CN" altLang="en-US" dirty="0"/>
              <a:t>支持双向通信</a:t>
            </a:r>
            <a:endParaRPr lang="en-US" altLang="zh-CN" dirty="0"/>
          </a:p>
          <a:p>
            <a:pPr lvl="1"/>
            <a:r>
              <a:rPr lang="zh-CN" altLang="en-US" dirty="0"/>
              <a:t>通过两个话题可建立两个</a:t>
            </a:r>
            <a:r>
              <a:rPr lang="en-US" altLang="zh-CN" dirty="0"/>
              <a:t>Client</a:t>
            </a:r>
            <a:r>
              <a:rPr lang="zh-CN" altLang="en-US" dirty="0"/>
              <a:t>之间的双向通信</a:t>
            </a:r>
            <a:endParaRPr lang="en-US" altLang="zh-CN" dirty="0"/>
          </a:p>
          <a:p>
            <a:pPr lvl="1"/>
            <a:r>
              <a:rPr lang="zh-CN" altLang="en-US" dirty="0"/>
              <a:t>一个话题中，</a:t>
            </a:r>
            <a:r>
              <a:rPr lang="en-US" altLang="zh-CN" dirty="0"/>
              <a:t>Client A</a:t>
            </a:r>
            <a:r>
              <a:rPr lang="zh-CN" altLang="en-US" dirty="0"/>
              <a:t> </a:t>
            </a:r>
            <a:r>
              <a:rPr lang="en-US" altLang="zh-CN" dirty="0"/>
              <a:t>publish</a:t>
            </a:r>
            <a:r>
              <a:rPr lang="zh-CN" altLang="en-US" dirty="0"/>
              <a:t>、</a:t>
            </a:r>
            <a:r>
              <a:rPr lang="en-US" altLang="zh-CN" dirty="0"/>
              <a:t>Client B subscribe</a:t>
            </a:r>
            <a:r>
              <a:rPr lang="zh-CN" altLang="en-US" dirty="0"/>
              <a:t>，另一个话题中，</a:t>
            </a:r>
            <a:r>
              <a:rPr lang="en-US" altLang="zh-CN" dirty="0"/>
              <a:t>Client A</a:t>
            </a:r>
            <a:r>
              <a:rPr lang="zh-CN" altLang="en-US" dirty="0"/>
              <a:t> </a:t>
            </a:r>
            <a:r>
              <a:rPr lang="en-US" altLang="zh-CN" dirty="0"/>
              <a:t>subscribe</a:t>
            </a:r>
            <a:r>
              <a:rPr lang="zh-CN" altLang="en-US" dirty="0"/>
              <a:t>、</a:t>
            </a:r>
            <a:r>
              <a:rPr lang="en-US" altLang="zh-CN" dirty="0"/>
              <a:t>Client B</a:t>
            </a:r>
            <a:r>
              <a:rPr lang="zh-CN" altLang="en-US" dirty="0"/>
              <a:t> </a:t>
            </a:r>
            <a:r>
              <a:rPr lang="en-US" altLang="zh-CN" dirty="0"/>
              <a:t>publish </a:t>
            </a:r>
          </a:p>
          <a:p>
            <a:r>
              <a:rPr lang="zh-CN" altLang="en-US" dirty="0"/>
              <a:t>灵活</a:t>
            </a:r>
            <a:endParaRPr lang="en-US" altLang="zh-CN" dirty="0"/>
          </a:p>
          <a:p>
            <a:pPr lvl="1"/>
            <a:r>
              <a:rPr lang="zh-CN" altLang="en-US" dirty="0"/>
              <a:t>可选</a:t>
            </a:r>
            <a:r>
              <a:rPr lang="en-US" altLang="zh-CN" dirty="0"/>
              <a:t>QoS</a:t>
            </a:r>
            <a:r>
              <a:rPr lang="zh-CN" altLang="en-US" dirty="0"/>
              <a:t>有三种，可基于不同的应用场景灵活选择</a:t>
            </a:r>
            <a:endParaRPr lang="en-US" altLang="zh-CN" dirty="0"/>
          </a:p>
        </p:txBody>
      </p:sp>
      <p:sp>
        <p:nvSpPr>
          <p:cNvPr id="6" name="灯片编号占位符 4">
            <a:extLst>
              <a:ext uri="{FF2B5EF4-FFF2-40B4-BE49-F238E27FC236}">
                <a16:creationId xmlns:a16="http://schemas.microsoft.com/office/drawing/2014/main" id="{8BAA03E6-C25C-493E-9CB0-66C7265D1A9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a:t>
            </a:r>
          </a:p>
        </p:txBody>
      </p:sp>
      <p:sp>
        <p:nvSpPr>
          <p:cNvPr id="3" name="内容占位符 2"/>
          <p:cNvSpPr>
            <a:spLocks noGrp="1"/>
          </p:cNvSpPr>
          <p:nvPr>
            <p:ph idx="1"/>
          </p:nvPr>
        </p:nvSpPr>
        <p:spPr/>
        <p:txBody>
          <a:bodyPr/>
          <a:lstStyle/>
          <a:p>
            <a:r>
              <a:rPr lang="zh-CN" altLang="en-US"/>
              <a:t>对比</a:t>
            </a:r>
            <a:r>
              <a:rPr lang="en-US" altLang="zh-CN"/>
              <a:t>MQTT</a:t>
            </a:r>
            <a:r>
              <a:rPr lang="zh-CN" altLang="en-US"/>
              <a:t>，</a:t>
            </a:r>
            <a:r>
              <a:rPr lang="en-US" altLang="zh-CN"/>
              <a:t>HTTP</a:t>
            </a:r>
            <a:r>
              <a:rPr lang="zh-CN" altLang="en-US"/>
              <a:t>，</a:t>
            </a:r>
            <a:r>
              <a:rPr lang="en-US" altLang="zh-CN"/>
              <a:t>CoAP</a:t>
            </a:r>
          </a:p>
          <a:p>
            <a:endParaRPr lang="zh-CN" altLang="en-US"/>
          </a:p>
        </p:txBody>
      </p:sp>
      <p:graphicFrame>
        <p:nvGraphicFramePr>
          <p:cNvPr id="4" name="表格 4"/>
          <p:cNvGraphicFramePr>
            <a:graphicFrameLocks noGrp="1"/>
          </p:cNvGraphicFramePr>
          <p:nvPr>
            <p:extLst>
              <p:ext uri="{D42A27DB-BD31-4B8C-83A1-F6EECF244321}">
                <p14:modId xmlns:p14="http://schemas.microsoft.com/office/powerpoint/2010/main" val="1377257870"/>
              </p:ext>
            </p:extLst>
          </p:nvPr>
        </p:nvGraphicFramePr>
        <p:xfrm>
          <a:off x="1070043" y="1726303"/>
          <a:ext cx="7003915" cy="3876040"/>
        </p:xfrm>
        <a:graphic>
          <a:graphicData uri="http://schemas.openxmlformats.org/drawingml/2006/table">
            <a:tbl>
              <a:tblPr firstRow="1" bandRow="1">
                <a:tableStyleId>{93296810-A885-4BE3-A3E7-6D5BEEA58F35}</a:tableStyleId>
              </a:tblPr>
              <a:tblGrid>
                <a:gridCol w="2600528">
                  <a:extLst>
                    <a:ext uri="{9D8B030D-6E8A-4147-A177-3AD203B41FA5}">
                      <a16:colId xmlns:a16="http://schemas.microsoft.com/office/drawing/2014/main" val="20000"/>
                    </a:ext>
                  </a:extLst>
                </a:gridCol>
                <a:gridCol w="1533727">
                  <a:extLst>
                    <a:ext uri="{9D8B030D-6E8A-4147-A177-3AD203B41FA5}">
                      <a16:colId xmlns:a16="http://schemas.microsoft.com/office/drawing/2014/main" val="20001"/>
                    </a:ext>
                  </a:extLst>
                </a:gridCol>
                <a:gridCol w="1391055">
                  <a:extLst>
                    <a:ext uri="{9D8B030D-6E8A-4147-A177-3AD203B41FA5}">
                      <a16:colId xmlns:a16="http://schemas.microsoft.com/office/drawing/2014/main" val="20002"/>
                    </a:ext>
                  </a:extLst>
                </a:gridCol>
                <a:gridCol w="1478605">
                  <a:extLst>
                    <a:ext uri="{9D8B030D-6E8A-4147-A177-3AD203B41FA5}">
                      <a16:colId xmlns:a16="http://schemas.microsoft.com/office/drawing/2014/main" val="20003"/>
                    </a:ext>
                  </a:extLst>
                </a:gridCol>
              </a:tblGrid>
              <a:tr h="370840">
                <a:tc>
                  <a:txBody>
                    <a:bodyPr/>
                    <a:lstStyle/>
                    <a:p>
                      <a:endParaRPr lang="zh-CN" altLang="en-US" dirty="0">
                        <a:latin typeface="+mj-ea"/>
                        <a:ea typeface="+mj-ea"/>
                      </a:endParaRPr>
                    </a:p>
                  </a:txBody>
                  <a:tcPr/>
                </a:tc>
                <a:tc>
                  <a:txBody>
                    <a:bodyPr/>
                    <a:lstStyle/>
                    <a:p>
                      <a:r>
                        <a:rPr lang="en-US" altLang="zh-CN">
                          <a:latin typeface="+mj-ea"/>
                          <a:ea typeface="+mj-ea"/>
                        </a:rPr>
                        <a:t>MQTT</a:t>
                      </a:r>
                      <a:endParaRPr lang="zh-CN" altLang="en-US">
                        <a:latin typeface="+mj-ea"/>
                        <a:ea typeface="+mj-ea"/>
                      </a:endParaRPr>
                    </a:p>
                  </a:txBody>
                  <a:tcPr/>
                </a:tc>
                <a:tc>
                  <a:txBody>
                    <a:bodyPr/>
                    <a:lstStyle/>
                    <a:p>
                      <a:r>
                        <a:rPr lang="en-US" altLang="zh-CN" err="1">
                          <a:latin typeface="+mj-ea"/>
                          <a:ea typeface="+mj-ea"/>
                        </a:rPr>
                        <a:t>CoAP</a:t>
                      </a:r>
                      <a:endParaRPr lang="zh-CN" altLang="en-US">
                        <a:latin typeface="+mj-ea"/>
                        <a:ea typeface="+mj-ea"/>
                      </a:endParaRPr>
                    </a:p>
                  </a:txBody>
                  <a:tcPr/>
                </a:tc>
                <a:tc>
                  <a:txBody>
                    <a:bodyPr/>
                    <a:lstStyle/>
                    <a:p>
                      <a:r>
                        <a:rPr lang="en-US" altLang="zh-CN">
                          <a:latin typeface="+mj-ea"/>
                          <a:ea typeface="+mj-ea"/>
                        </a:rPr>
                        <a:t>HTTP</a:t>
                      </a:r>
                      <a:endParaRPr lang="zh-CN" altLang="en-US">
                        <a:latin typeface="+mj-ea"/>
                        <a:ea typeface="+mj-ea"/>
                      </a:endParaRPr>
                    </a:p>
                  </a:txBody>
                  <a:tcPr/>
                </a:tc>
                <a:extLst>
                  <a:ext uri="{0D108BD9-81ED-4DB2-BD59-A6C34878D82A}">
                    <a16:rowId xmlns:a16="http://schemas.microsoft.com/office/drawing/2014/main" val="10000"/>
                  </a:ext>
                </a:extLst>
              </a:tr>
              <a:tr h="370840">
                <a:tc>
                  <a:txBody>
                    <a:bodyPr/>
                    <a:lstStyle/>
                    <a:p>
                      <a:r>
                        <a:rPr lang="en-US" altLang="zh-CN">
                          <a:latin typeface="+mj-ea"/>
                          <a:ea typeface="+mj-ea"/>
                        </a:rPr>
                        <a:t>OSI</a:t>
                      </a:r>
                      <a:r>
                        <a:rPr lang="zh-CN" altLang="en-US">
                          <a:latin typeface="+mj-ea"/>
                          <a:ea typeface="+mj-ea"/>
                        </a:rPr>
                        <a:t>模型所处层次</a:t>
                      </a:r>
                    </a:p>
                  </a:txBody>
                  <a:tcPr/>
                </a:tc>
                <a:tc>
                  <a:txBody>
                    <a:bodyPr/>
                    <a:lstStyle/>
                    <a:p>
                      <a:endParaRPr lang="zh-CN" altLang="en-US" dirty="0">
                        <a:latin typeface="+mj-ea"/>
                        <a:ea typeface="+mj-ea"/>
                      </a:endParaRPr>
                    </a:p>
                  </a:txBody>
                  <a:tcPr/>
                </a:tc>
                <a:tc>
                  <a:txBody>
                    <a:bodyPr/>
                    <a:lstStyle/>
                    <a:p>
                      <a:endParaRPr lang="zh-CN" altLang="en-US" dirty="0">
                        <a:latin typeface="+mj-ea"/>
                        <a:ea typeface="+mj-ea"/>
                      </a:endParaRPr>
                    </a:p>
                  </a:txBody>
                  <a:tcPr/>
                </a:tc>
                <a:tc>
                  <a:txBody>
                    <a:bodyPr/>
                    <a:lstStyle/>
                    <a:p>
                      <a:endParaRPr lang="zh-CN" altLang="en-US" dirty="0">
                        <a:latin typeface="+mj-ea"/>
                        <a:ea typeface="+mj-ea"/>
                      </a:endParaRPr>
                    </a:p>
                  </a:txBody>
                  <a:tcPr/>
                </a:tc>
                <a:extLst>
                  <a:ext uri="{0D108BD9-81ED-4DB2-BD59-A6C34878D82A}">
                    <a16:rowId xmlns:a16="http://schemas.microsoft.com/office/drawing/2014/main" val="10001"/>
                  </a:ext>
                </a:extLst>
              </a:tr>
              <a:tr h="370840">
                <a:tc>
                  <a:txBody>
                    <a:bodyPr/>
                    <a:lstStyle/>
                    <a:p>
                      <a:r>
                        <a:rPr lang="zh-CN" altLang="en-US">
                          <a:latin typeface="+mj-ea"/>
                          <a:ea typeface="+mj-ea"/>
                        </a:rPr>
                        <a:t>传输层协议</a:t>
                      </a:r>
                    </a:p>
                  </a:txBody>
                  <a:tcPr/>
                </a:tc>
                <a:tc>
                  <a:txBody>
                    <a:bodyPr/>
                    <a:lstStyle/>
                    <a:p>
                      <a:endParaRPr lang="zh-CN" altLang="en-US">
                        <a:latin typeface="+mj-ea"/>
                        <a:ea typeface="+mj-ea"/>
                      </a:endParaRPr>
                    </a:p>
                  </a:txBody>
                  <a:tcPr/>
                </a:tc>
                <a:tc>
                  <a:txBody>
                    <a:bodyPr/>
                    <a:lstStyle/>
                    <a:p>
                      <a:endParaRPr lang="zh-CN" altLang="en-US">
                        <a:latin typeface="+mj-ea"/>
                        <a:ea typeface="+mj-ea"/>
                      </a:endParaRPr>
                    </a:p>
                  </a:txBody>
                  <a:tcPr/>
                </a:tc>
                <a:tc>
                  <a:txBody>
                    <a:bodyPr/>
                    <a:lstStyle/>
                    <a:p>
                      <a:endParaRPr lang="zh-CN" altLang="en-US" dirty="0">
                        <a:latin typeface="+mj-ea"/>
                        <a:ea typeface="+mj-ea"/>
                      </a:endParaRPr>
                    </a:p>
                  </a:txBody>
                  <a:tcPr/>
                </a:tc>
                <a:extLst>
                  <a:ext uri="{0D108BD9-81ED-4DB2-BD59-A6C34878D82A}">
                    <a16:rowId xmlns:a16="http://schemas.microsoft.com/office/drawing/2014/main" val="10002"/>
                  </a:ext>
                </a:extLst>
              </a:tr>
              <a:tr h="370840">
                <a:tc>
                  <a:txBody>
                    <a:bodyPr/>
                    <a:lstStyle/>
                    <a:p>
                      <a:r>
                        <a:rPr lang="zh-CN" altLang="en-US" dirty="0">
                          <a:latin typeface="+mj-ea"/>
                          <a:ea typeface="+mj-ea"/>
                        </a:rPr>
                        <a:t>可靠</a:t>
                      </a:r>
                    </a:p>
                  </a:txBody>
                  <a:tcPr/>
                </a:tc>
                <a:tc>
                  <a:txBody>
                    <a:bodyPr/>
                    <a:lstStyle/>
                    <a:p>
                      <a:endParaRPr lang="zh-CN" altLang="en-US" dirty="0">
                        <a:latin typeface="+mj-ea"/>
                        <a:ea typeface="+mj-ea"/>
                      </a:endParaRPr>
                    </a:p>
                  </a:txBody>
                  <a:tcPr/>
                </a:tc>
                <a:tc>
                  <a:txBody>
                    <a:bodyPr/>
                    <a:lstStyle/>
                    <a:p>
                      <a:endParaRPr lang="zh-CN" altLang="en-US" dirty="0">
                        <a:latin typeface="+mj-ea"/>
                        <a:ea typeface="+mj-ea"/>
                      </a:endParaRPr>
                    </a:p>
                  </a:txBody>
                  <a:tcPr/>
                </a:tc>
                <a:tc>
                  <a:txBody>
                    <a:bodyPr/>
                    <a:lstStyle/>
                    <a:p>
                      <a:endParaRPr lang="zh-CN" altLang="en-US" dirty="0">
                        <a:latin typeface="+mj-ea"/>
                        <a:ea typeface="+mj-ea"/>
                      </a:endParaRPr>
                    </a:p>
                  </a:txBody>
                  <a:tcPr/>
                </a:tc>
                <a:extLst>
                  <a:ext uri="{0D108BD9-81ED-4DB2-BD59-A6C34878D82A}">
                    <a16:rowId xmlns:a16="http://schemas.microsoft.com/office/drawing/2014/main" val="10003"/>
                  </a:ext>
                </a:extLst>
              </a:tr>
              <a:tr h="370840">
                <a:tc>
                  <a:txBody>
                    <a:bodyPr/>
                    <a:lstStyle/>
                    <a:p>
                      <a:r>
                        <a:rPr lang="zh-CN" altLang="en-US" dirty="0">
                          <a:latin typeface="+mj-ea"/>
                          <a:ea typeface="+mj-ea"/>
                        </a:rPr>
                        <a:t>传输代价</a:t>
                      </a:r>
                    </a:p>
                  </a:txBody>
                  <a:tcPr/>
                </a:tc>
                <a:tc>
                  <a:txBody>
                    <a:bodyPr/>
                    <a:lstStyle/>
                    <a:p>
                      <a:endParaRPr lang="zh-CN" altLang="en-US">
                        <a:latin typeface="+mj-ea"/>
                        <a:ea typeface="+mj-ea"/>
                      </a:endParaRPr>
                    </a:p>
                  </a:txBody>
                  <a:tcPr/>
                </a:tc>
                <a:tc>
                  <a:txBody>
                    <a:bodyPr/>
                    <a:lstStyle/>
                    <a:p>
                      <a:endParaRPr lang="zh-CN" altLang="en-US">
                        <a:latin typeface="+mj-ea"/>
                        <a:ea typeface="+mj-ea"/>
                      </a:endParaRPr>
                    </a:p>
                  </a:txBody>
                  <a:tcPr/>
                </a:tc>
                <a:tc>
                  <a:txBody>
                    <a:bodyPr/>
                    <a:lstStyle/>
                    <a:p>
                      <a:endParaRPr lang="zh-CN" altLang="en-US" dirty="0">
                        <a:latin typeface="+mj-ea"/>
                        <a:ea typeface="+mj-ea"/>
                      </a:endParaRPr>
                    </a:p>
                  </a:txBody>
                  <a:tcPr/>
                </a:tc>
                <a:extLst>
                  <a:ext uri="{0D108BD9-81ED-4DB2-BD59-A6C34878D82A}">
                    <a16:rowId xmlns:a16="http://schemas.microsoft.com/office/drawing/2014/main" val="10004"/>
                  </a:ext>
                </a:extLst>
              </a:tr>
              <a:tr h="370840">
                <a:tc>
                  <a:txBody>
                    <a:bodyPr/>
                    <a:lstStyle/>
                    <a:p>
                      <a:r>
                        <a:rPr lang="zh-CN" altLang="en-US">
                          <a:latin typeface="+mj-ea"/>
                          <a:ea typeface="+mj-ea"/>
                        </a:rPr>
                        <a:t>多播</a:t>
                      </a:r>
                    </a:p>
                  </a:txBody>
                  <a:tcPr/>
                </a:tc>
                <a:tc>
                  <a:txBody>
                    <a:bodyPr/>
                    <a:lstStyle/>
                    <a:p>
                      <a:endParaRPr lang="zh-CN" altLang="en-US" dirty="0">
                        <a:latin typeface="+mj-ea"/>
                        <a:ea typeface="+mj-ea"/>
                      </a:endParaRPr>
                    </a:p>
                  </a:txBody>
                  <a:tcPr/>
                </a:tc>
                <a:tc>
                  <a:txBody>
                    <a:bodyPr/>
                    <a:lstStyle/>
                    <a:p>
                      <a:endParaRPr lang="zh-CN" altLang="en-US">
                        <a:latin typeface="+mj-ea"/>
                        <a:ea typeface="+mj-ea"/>
                      </a:endParaRPr>
                    </a:p>
                  </a:txBody>
                  <a:tcPr/>
                </a:tc>
                <a:tc>
                  <a:txBody>
                    <a:bodyPr/>
                    <a:lstStyle/>
                    <a:p>
                      <a:endParaRPr lang="zh-CN" altLang="en-US" dirty="0">
                        <a:latin typeface="+mj-ea"/>
                        <a:ea typeface="+mj-ea"/>
                      </a:endParaRPr>
                    </a:p>
                  </a:txBody>
                  <a:tcPr/>
                </a:tc>
                <a:extLst>
                  <a:ext uri="{0D108BD9-81ED-4DB2-BD59-A6C34878D82A}">
                    <a16:rowId xmlns:a16="http://schemas.microsoft.com/office/drawing/2014/main" val="10005"/>
                  </a:ext>
                </a:extLst>
              </a:tr>
              <a:tr h="370840">
                <a:tc>
                  <a:txBody>
                    <a:bodyPr/>
                    <a:lstStyle/>
                    <a:p>
                      <a:r>
                        <a:rPr lang="zh-CN" altLang="en-US" dirty="0">
                          <a:latin typeface="+mj-ea"/>
                          <a:ea typeface="+mj-ea"/>
                        </a:rPr>
                        <a:t>双向通信（资源受限的设备）</a:t>
                      </a:r>
                    </a:p>
                  </a:txBody>
                  <a:tcPr/>
                </a:tc>
                <a:tc>
                  <a:txBody>
                    <a:bodyPr/>
                    <a:lstStyle/>
                    <a:p>
                      <a:endParaRPr lang="zh-CN" altLang="en-US">
                        <a:latin typeface="+mj-ea"/>
                        <a:ea typeface="+mj-ea"/>
                      </a:endParaRPr>
                    </a:p>
                  </a:txBody>
                  <a:tcPr/>
                </a:tc>
                <a:tc>
                  <a:txBody>
                    <a:bodyPr/>
                    <a:lstStyle/>
                    <a:p>
                      <a:endParaRPr lang="zh-CN" altLang="en-US">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mj-ea"/>
                        <a:ea typeface="+mj-ea"/>
                      </a:endParaRPr>
                    </a:p>
                  </a:txBody>
                  <a:tcPr/>
                </a:tc>
                <a:extLst>
                  <a:ext uri="{0D108BD9-81ED-4DB2-BD59-A6C34878D82A}">
                    <a16:rowId xmlns:a16="http://schemas.microsoft.com/office/drawing/2014/main" val="10006"/>
                  </a:ext>
                </a:extLst>
              </a:tr>
              <a:tr h="370840">
                <a:tc>
                  <a:txBody>
                    <a:bodyPr/>
                    <a:lstStyle/>
                    <a:p>
                      <a:r>
                        <a:rPr lang="zh-CN" altLang="en-US">
                          <a:latin typeface="+mj-ea"/>
                          <a:ea typeface="+mj-ea"/>
                        </a:rPr>
                        <a:t>中间代理转发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latin typeface="+mj-ea"/>
                        <a:ea typeface="+mj-ea"/>
                      </a:endParaRPr>
                    </a:p>
                  </a:txBody>
                  <a:tcPr/>
                </a:tc>
                <a:tc>
                  <a:txBody>
                    <a:bodyPr/>
                    <a:lstStyle/>
                    <a:p>
                      <a:endParaRPr lang="zh-CN" altLang="en-US">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mj-ea"/>
                        <a:ea typeface="+mj-ea"/>
                      </a:endParaRPr>
                    </a:p>
                  </a:txBody>
                  <a:tcPr/>
                </a:tc>
                <a:extLst>
                  <a:ext uri="{0D108BD9-81ED-4DB2-BD59-A6C34878D82A}">
                    <a16:rowId xmlns:a16="http://schemas.microsoft.com/office/drawing/2014/main" val="10007"/>
                  </a:ext>
                </a:extLst>
              </a:tr>
              <a:tr h="370840">
                <a:tc>
                  <a:txBody>
                    <a:bodyPr/>
                    <a:lstStyle/>
                    <a:p>
                      <a:r>
                        <a:rPr lang="zh-CN" altLang="en-US" dirty="0">
                          <a:latin typeface="+mj-ea"/>
                          <a:ea typeface="+mj-ea"/>
                        </a:rPr>
                        <a:t>温度上传示例报文长度（单位：字节）</a:t>
                      </a:r>
                    </a:p>
                  </a:txBody>
                  <a:tcPr/>
                </a:tc>
                <a:tc>
                  <a:txBody>
                    <a:bodyPr/>
                    <a:lstStyle/>
                    <a:p>
                      <a:endParaRPr lang="zh-CN" altLang="en-US">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mj-ea"/>
                        <a:ea typeface="+mj-ea"/>
                      </a:endParaRPr>
                    </a:p>
                  </a:txBody>
                  <a:tcPr/>
                </a:tc>
                <a:extLst>
                  <a:ext uri="{0D108BD9-81ED-4DB2-BD59-A6C34878D82A}">
                    <a16:rowId xmlns:a16="http://schemas.microsoft.com/office/drawing/2014/main" val="10008"/>
                  </a:ext>
                </a:extLst>
              </a:tr>
            </a:tbl>
          </a:graphicData>
        </a:graphic>
      </p:graphicFrame>
      <p:sp>
        <p:nvSpPr>
          <p:cNvPr id="7" name="灯片编号占位符 4">
            <a:extLst>
              <a:ext uri="{FF2B5EF4-FFF2-40B4-BE49-F238E27FC236}">
                <a16:creationId xmlns:a16="http://schemas.microsoft.com/office/drawing/2014/main" id="{6D8309DC-4392-4458-9DA3-0377BA3D3B1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设备连接</a:t>
            </a:r>
          </a:p>
        </p:txBody>
      </p:sp>
      <p:sp>
        <p:nvSpPr>
          <p:cNvPr id="3" name="内容占位符 2"/>
          <p:cNvSpPr>
            <a:spLocks noGrp="1"/>
          </p:cNvSpPr>
          <p:nvPr>
            <p:ph idx="1"/>
          </p:nvPr>
        </p:nvSpPr>
        <p:spPr/>
        <p:txBody>
          <a:bodyPr/>
          <a:lstStyle/>
          <a:p>
            <a:r>
              <a:rPr lang="zh-CN" altLang="en-US"/>
              <a:t>对比</a:t>
            </a:r>
            <a:r>
              <a:rPr lang="en-US" altLang="zh-CN"/>
              <a:t>MQTT</a:t>
            </a:r>
            <a:r>
              <a:rPr lang="zh-CN" altLang="en-US"/>
              <a:t>，</a:t>
            </a:r>
            <a:r>
              <a:rPr lang="en-US" altLang="zh-CN"/>
              <a:t>HTTP</a:t>
            </a:r>
            <a:r>
              <a:rPr lang="zh-CN" altLang="en-US"/>
              <a:t>，</a:t>
            </a:r>
            <a:r>
              <a:rPr lang="en-US" altLang="zh-CN"/>
              <a:t>CoAP</a:t>
            </a:r>
          </a:p>
          <a:p>
            <a:endParaRPr lang="zh-CN" altLang="en-US"/>
          </a:p>
        </p:txBody>
      </p:sp>
      <p:graphicFrame>
        <p:nvGraphicFramePr>
          <p:cNvPr id="4" name="表格 4"/>
          <p:cNvGraphicFramePr>
            <a:graphicFrameLocks noGrp="1"/>
          </p:cNvGraphicFramePr>
          <p:nvPr>
            <p:extLst/>
          </p:nvPr>
        </p:nvGraphicFramePr>
        <p:xfrm>
          <a:off x="1070043" y="1726303"/>
          <a:ext cx="7003915" cy="3876040"/>
        </p:xfrm>
        <a:graphic>
          <a:graphicData uri="http://schemas.openxmlformats.org/drawingml/2006/table">
            <a:tbl>
              <a:tblPr firstRow="1" bandRow="1">
                <a:tableStyleId>{93296810-A885-4BE3-A3E7-6D5BEEA58F35}</a:tableStyleId>
              </a:tblPr>
              <a:tblGrid>
                <a:gridCol w="2600528">
                  <a:extLst>
                    <a:ext uri="{9D8B030D-6E8A-4147-A177-3AD203B41FA5}">
                      <a16:colId xmlns:a16="http://schemas.microsoft.com/office/drawing/2014/main" val="20000"/>
                    </a:ext>
                  </a:extLst>
                </a:gridCol>
                <a:gridCol w="1533727">
                  <a:extLst>
                    <a:ext uri="{9D8B030D-6E8A-4147-A177-3AD203B41FA5}">
                      <a16:colId xmlns:a16="http://schemas.microsoft.com/office/drawing/2014/main" val="20001"/>
                    </a:ext>
                  </a:extLst>
                </a:gridCol>
                <a:gridCol w="1391055">
                  <a:extLst>
                    <a:ext uri="{9D8B030D-6E8A-4147-A177-3AD203B41FA5}">
                      <a16:colId xmlns:a16="http://schemas.microsoft.com/office/drawing/2014/main" val="20002"/>
                    </a:ext>
                  </a:extLst>
                </a:gridCol>
                <a:gridCol w="1478605">
                  <a:extLst>
                    <a:ext uri="{9D8B030D-6E8A-4147-A177-3AD203B41FA5}">
                      <a16:colId xmlns:a16="http://schemas.microsoft.com/office/drawing/2014/main" val="20003"/>
                    </a:ext>
                  </a:extLst>
                </a:gridCol>
              </a:tblGrid>
              <a:tr h="370840">
                <a:tc>
                  <a:txBody>
                    <a:bodyPr/>
                    <a:lstStyle/>
                    <a:p>
                      <a:endParaRPr lang="zh-CN" altLang="en-US" dirty="0">
                        <a:latin typeface="+mj-ea"/>
                        <a:ea typeface="+mj-ea"/>
                      </a:endParaRPr>
                    </a:p>
                  </a:txBody>
                  <a:tcPr/>
                </a:tc>
                <a:tc>
                  <a:txBody>
                    <a:bodyPr/>
                    <a:lstStyle/>
                    <a:p>
                      <a:r>
                        <a:rPr lang="en-US" altLang="zh-CN">
                          <a:latin typeface="+mj-ea"/>
                          <a:ea typeface="+mj-ea"/>
                        </a:rPr>
                        <a:t>MQTT</a:t>
                      </a:r>
                      <a:endParaRPr lang="zh-CN" altLang="en-US">
                        <a:latin typeface="+mj-ea"/>
                        <a:ea typeface="+mj-ea"/>
                      </a:endParaRPr>
                    </a:p>
                  </a:txBody>
                  <a:tcPr/>
                </a:tc>
                <a:tc>
                  <a:txBody>
                    <a:bodyPr/>
                    <a:lstStyle/>
                    <a:p>
                      <a:r>
                        <a:rPr lang="en-US" altLang="zh-CN" err="1">
                          <a:latin typeface="+mj-ea"/>
                          <a:ea typeface="+mj-ea"/>
                        </a:rPr>
                        <a:t>CoAP</a:t>
                      </a:r>
                      <a:endParaRPr lang="zh-CN" altLang="en-US">
                        <a:latin typeface="+mj-ea"/>
                        <a:ea typeface="+mj-ea"/>
                      </a:endParaRPr>
                    </a:p>
                  </a:txBody>
                  <a:tcPr/>
                </a:tc>
                <a:tc>
                  <a:txBody>
                    <a:bodyPr/>
                    <a:lstStyle/>
                    <a:p>
                      <a:r>
                        <a:rPr lang="en-US" altLang="zh-CN">
                          <a:latin typeface="+mj-ea"/>
                          <a:ea typeface="+mj-ea"/>
                        </a:rPr>
                        <a:t>HTTP</a:t>
                      </a:r>
                      <a:endParaRPr lang="zh-CN" altLang="en-US">
                        <a:latin typeface="+mj-ea"/>
                        <a:ea typeface="+mj-ea"/>
                      </a:endParaRPr>
                    </a:p>
                  </a:txBody>
                  <a:tcPr/>
                </a:tc>
                <a:extLst>
                  <a:ext uri="{0D108BD9-81ED-4DB2-BD59-A6C34878D82A}">
                    <a16:rowId xmlns:a16="http://schemas.microsoft.com/office/drawing/2014/main" val="10000"/>
                  </a:ext>
                </a:extLst>
              </a:tr>
              <a:tr h="370840">
                <a:tc>
                  <a:txBody>
                    <a:bodyPr/>
                    <a:lstStyle/>
                    <a:p>
                      <a:r>
                        <a:rPr lang="en-US" altLang="zh-CN">
                          <a:latin typeface="+mj-ea"/>
                          <a:ea typeface="+mj-ea"/>
                        </a:rPr>
                        <a:t>OSI</a:t>
                      </a:r>
                      <a:r>
                        <a:rPr lang="zh-CN" altLang="en-US">
                          <a:latin typeface="+mj-ea"/>
                          <a:ea typeface="+mj-ea"/>
                        </a:rPr>
                        <a:t>模型所处层次</a:t>
                      </a:r>
                    </a:p>
                  </a:txBody>
                  <a:tcPr/>
                </a:tc>
                <a:tc>
                  <a:txBody>
                    <a:bodyPr/>
                    <a:lstStyle/>
                    <a:p>
                      <a:r>
                        <a:rPr lang="zh-CN" altLang="en-US">
                          <a:latin typeface="+mj-ea"/>
                          <a:ea typeface="+mj-ea"/>
                        </a:rPr>
                        <a:t>应用层</a:t>
                      </a:r>
                    </a:p>
                  </a:txBody>
                  <a:tcPr/>
                </a:tc>
                <a:tc>
                  <a:txBody>
                    <a:bodyPr/>
                    <a:lstStyle/>
                    <a:p>
                      <a:r>
                        <a:rPr lang="zh-CN" altLang="en-US">
                          <a:latin typeface="+mj-ea"/>
                          <a:ea typeface="+mj-ea"/>
                        </a:rPr>
                        <a:t>应用层</a:t>
                      </a:r>
                    </a:p>
                  </a:txBody>
                  <a:tcPr/>
                </a:tc>
                <a:tc>
                  <a:txBody>
                    <a:bodyPr/>
                    <a:lstStyle/>
                    <a:p>
                      <a:r>
                        <a:rPr lang="zh-CN" altLang="en-US">
                          <a:latin typeface="+mj-ea"/>
                          <a:ea typeface="+mj-ea"/>
                        </a:rPr>
                        <a:t>应用层</a:t>
                      </a:r>
                    </a:p>
                  </a:txBody>
                  <a:tcPr/>
                </a:tc>
                <a:extLst>
                  <a:ext uri="{0D108BD9-81ED-4DB2-BD59-A6C34878D82A}">
                    <a16:rowId xmlns:a16="http://schemas.microsoft.com/office/drawing/2014/main" val="10001"/>
                  </a:ext>
                </a:extLst>
              </a:tr>
              <a:tr h="370840">
                <a:tc>
                  <a:txBody>
                    <a:bodyPr/>
                    <a:lstStyle/>
                    <a:p>
                      <a:r>
                        <a:rPr lang="zh-CN" altLang="en-US">
                          <a:latin typeface="+mj-ea"/>
                          <a:ea typeface="+mj-ea"/>
                        </a:rPr>
                        <a:t>传输层协议</a:t>
                      </a:r>
                    </a:p>
                  </a:txBody>
                  <a:tcPr/>
                </a:tc>
                <a:tc>
                  <a:txBody>
                    <a:bodyPr/>
                    <a:lstStyle/>
                    <a:p>
                      <a:r>
                        <a:rPr lang="en-US" altLang="zh-CN">
                          <a:latin typeface="+mj-ea"/>
                          <a:ea typeface="+mj-ea"/>
                        </a:rPr>
                        <a:t>TCP</a:t>
                      </a:r>
                      <a:endParaRPr lang="zh-CN" altLang="en-US">
                        <a:latin typeface="+mj-ea"/>
                        <a:ea typeface="+mj-ea"/>
                      </a:endParaRPr>
                    </a:p>
                  </a:txBody>
                  <a:tcPr/>
                </a:tc>
                <a:tc>
                  <a:txBody>
                    <a:bodyPr/>
                    <a:lstStyle/>
                    <a:p>
                      <a:r>
                        <a:rPr lang="en-US" altLang="zh-CN">
                          <a:latin typeface="+mj-ea"/>
                          <a:ea typeface="+mj-ea"/>
                        </a:rPr>
                        <a:t>UDP</a:t>
                      </a:r>
                      <a:endParaRPr lang="zh-CN" altLang="en-US">
                        <a:latin typeface="+mj-ea"/>
                        <a:ea typeface="+mj-ea"/>
                      </a:endParaRPr>
                    </a:p>
                  </a:txBody>
                  <a:tcPr/>
                </a:tc>
                <a:tc>
                  <a:txBody>
                    <a:bodyPr/>
                    <a:lstStyle/>
                    <a:p>
                      <a:r>
                        <a:rPr lang="en-US" altLang="zh-CN">
                          <a:latin typeface="+mj-ea"/>
                          <a:ea typeface="+mj-ea"/>
                        </a:rPr>
                        <a:t>TCP</a:t>
                      </a:r>
                      <a:endParaRPr lang="zh-CN" altLang="en-US">
                        <a:latin typeface="+mj-ea"/>
                        <a:ea typeface="+mj-ea"/>
                      </a:endParaRPr>
                    </a:p>
                  </a:txBody>
                  <a:tcPr/>
                </a:tc>
                <a:extLst>
                  <a:ext uri="{0D108BD9-81ED-4DB2-BD59-A6C34878D82A}">
                    <a16:rowId xmlns:a16="http://schemas.microsoft.com/office/drawing/2014/main" val="10002"/>
                  </a:ext>
                </a:extLst>
              </a:tr>
              <a:tr h="370840">
                <a:tc>
                  <a:txBody>
                    <a:bodyPr/>
                    <a:lstStyle/>
                    <a:p>
                      <a:r>
                        <a:rPr lang="zh-CN" altLang="en-US" dirty="0">
                          <a:latin typeface="+mj-ea"/>
                          <a:ea typeface="+mj-ea"/>
                        </a:rPr>
                        <a:t>可靠</a:t>
                      </a:r>
                    </a:p>
                  </a:txBody>
                  <a:tcPr/>
                </a:tc>
                <a:tc>
                  <a:txBody>
                    <a:bodyPr/>
                    <a:lstStyle/>
                    <a:p>
                      <a:r>
                        <a:rPr lang="zh-CN" altLang="en-US" dirty="0">
                          <a:latin typeface="+mj-ea"/>
                          <a:ea typeface="+mj-ea"/>
                        </a:rPr>
                        <a:t>√</a:t>
                      </a:r>
                    </a:p>
                  </a:txBody>
                  <a:tcPr/>
                </a:tc>
                <a:tc>
                  <a:txBody>
                    <a:bodyPr/>
                    <a:lstStyle/>
                    <a:p>
                      <a:r>
                        <a:rPr lang="zh-CN" altLang="en-US" dirty="0">
                          <a:latin typeface="+mj-ea"/>
                          <a:ea typeface="+mj-ea"/>
                        </a:rPr>
                        <a:t>可选</a:t>
                      </a:r>
                    </a:p>
                  </a:txBody>
                  <a:tcPr/>
                </a:tc>
                <a:tc>
                  <a:txBody>
                    <a:bodyPr/>
                    <a:lstStyle/>
                    <a:p>
                      <a:r>
                        <a:rPr lang="zh-CN" altLang="en-US">
                          <a:latin typeface="+mj-ea"/>
                          <a:ea typeface="+mj-ea"/>
                        </a:rPr>
                        <a:t>√</a:t>
                      </a:r>
                    </a:p>
                  </a:txBody>
                  <a:tcPr/>
                </a:tc>
                <a:extLst>
                  <a:ext uri="{0D108BD9-81ED-4DB2-BD59-A6C34878D82A}">
                    <a16:rowId xmlns:a16="http://schemas.microsoft.com/office/drawing/2014/main" val="10003"/>
                  </a:ext>
                </a:extLst>
              </a:tr>
              <a:tr h="370840">
                <a:tc>
                  <a:txBody>
                    <a:bodyPr/>
                    <a:lstStyle/>
                    <a:p>
                      <a:r>
                        <a:rPr lang="zh-CN" altLang="en-US" dirty="0">
                          <a:latin typeface="+mj-ea"/>
                          <a:ea typeface="+mj-ea"/>
                        </a:rPr>
                        <a:t>传输代价</a:t>
                      </a:r>
                    </a:p>
                  </a:txBody>
                  <a:tcPr/>
                </a:tc>
                <a:tc>
                  <a:txBody>
                    <a:bodyPr/>
                    <a:lstStyle/>
                    <a:p>
                      <a:r>
                        <a:rPr lang="zh-CN" altLang="en-US">
                          <a:latin typeface="+mj-ea"/>
                          <a:ea typeface="+mj-ea"/>
                        </a:rPr>
                        <a:t>小</a:t>
                      </a:r>
                    </a:p>
                  </a:txBody>
                  <a:tcPr/>
                </a:tc>
                <a:tc>
                  <a:txBody>
                    <a:bodyPr/>
                    <a:lstStyle/>
                    <a:p>
                      <a:r>
                        <a:rPr lang="zh-CN" altLang="en-US">
                          <a:latin typeface="+mj-ea"/>
                          <a:ea typeface="+mj-ea"/>
                        </a:rPr>
                        <a:t>小</a:t>
                      </a:r>
                    </a:p>
                  </a:txBody>
                  <a:tcPr/>
                </a:tc>
                <a:tc>
                  <a:txBody>
                    <a:bodyPr/>
                    <a:lstStyle/>
                    <a:p>
                      <a:r>
                        <a:rPr lang="zh-CN" altLang="en-US">
                          <a:latin typeface="+mj-ea"/>
                          <a:ea typeface="+mj-ea"/>
                        </a:rPr>
                        <a:t>大</a:t>
                      </a:r>
                    </a:p>
                  </a:txBody>
                  <a:tcPr/>
                </a:tc>
                <a:extLst>
                  <a:ext uri="{0D108BD9-81ED-4DB2-BD59-A6C34878D82A}">
                    <a16:rowId xmlns:a16="http://schemas.microsoft.com/office/drawing/2014/main" val="10004"/>
                  </a:ext>
                </a:extLst>
              </a:tr>
              <a:tr h="370840">
                <a:tc>
                  <a:txBody>
                    <a:bodyPr/>
                    <a:lstStyle/>
                    <a:p>
                      <a:r>
                        <a:rPr lang="zh-CN" altLang="en-US">
                          <a:latin typeface="+mj-ea"/>
                          <a:ea typeface="+mj-ea"/>
                        </a:rPr>
                        <a:t>多播</a:t>
                      </a:r>
                    </a:p>
                  </a:txBody>
                  <a:tcPr/>
                </a:tc>
                <a:tc>
                  <a:txBody>
                    <a:bodyPr/>
                    <a:lstStyle/>
                    <a:p>
                      <a:r>
                        <a:rPr lang="zh-CN" altLang="en-US" dirty="0">
                          <a:latin typeface="+mj-ea"/>
                          <a:ea typeface="+mj-ea"/>
                        </a:rPr>
                        <a:t>√</a:t>
                      </a:r>
                    </a:p>
                  </a:txBody>
                  <a:tcPr/>
                </a:tc>
                <a:tc>
                  <a:txBody>
                    <a:bodyPr/>
                    <a:lstStyle/>
                    <a:p>
                      <a:r>
                        <a:rPr lang="zh-CN" altLang="en-US">
                          <a:latin typeface="+mj-ea"/>
                          <a:ea typeface="+mj-ea"/>
                        </a:rPr>
                        <a:t>√</a:t>
                      </a:r>
                    </a:p>
                  </a:txBody>
                  <a:tcPr/>
                </a:tc>
                <a:tc>
                  <a:txBody>
                    <a:bodyPr/>
                    <a:lstStyle/>
                    <a:p>
                      <a:r>
                        <a:rPr lang="en-US" altLang="zh-CN">
                          <a:latin typeface="+mj-ea"/>
                          <a:ea typeface="+mj-ea"/>
                        </a:rPr>
                        <a:t>×</a:t>
                      </a:r>
                      <a:endParaRPr lang="zh-CN" altLang="en-US">
                        <a:latin typeface="+mj-ea"/>
                        <a:ea typeface="+mj-ea"/>
                      </a:endParaRPr>
                    </a:p>
                  </a:txBody>
                  <a:tcPr/>
                </a:tc>
                <a:extLst>
                  <a:ext uri="{0D108BD9-81ED-4DB2-BD59-A6C34878D82A}">
                    <a16:rowId xmlns:a16="http://schemas.microsoft.com/office/drawing/2014/main" val="10005"/>
                  </a:ext>
                </a:extLst>
              </a:tr>
              <a:tr h="370840">
                <a:tc>
                  <a:txBody>
                    <a:bodyPr/>
                    <a:lstStyle/>
                    <a:p>
                      <a:r>
                        <a:rPr lang="zh-CN" altLang="en-US" dirty="0">
                          <a:latin typeface="+mj-ea"/>
                          <a:ea typeface="+mj-ea"/>
                        </a:rPr>
                        <a:t>双向通信（资源受限的设备）</a:t>
                      </a:r>
                    </a:p>
                  </a:txBody>
                  <a:tcPr/>
                </a:tc>
                <a:tc>
                  <a:txBody>
                    <a:bodyPr/>
                    <a:lstStyle/>
                    <a:p>
                      <a:r>
                        <a:rPr lang="zh-CN" altLang="en-US">
                          <a:latin typeface="+mj-ea"/>
                          <a:ea typeface="+mj-ea"/>
                        </a:rPr>
                        <a:t>√</a:t>
                      </a:r>
                    </a:p>
                  </a:txBody>
                  <a:tcPr/>
                </a:tc>
                <a:tc>
                  <a:txBody>
                    <a:bodyPr/>
                    <a:lstStyle/>
                    <a:p>
                      <a:r>
                        <a:rPr lang="zh-CN" altLang="en-US">
                          <a:latin typeface="+mj-ea"/>
                          <a:ea typeface="+mj-ea"/>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a:latin typeface="+mj-ea"/>
                          <a:ea typeface="+mj-ea"/>
                        </a:rPr>
                        <a:t>×</a:t>
                      </a:r>
                      <a:endParaRPr lang="zh-CN" altLang="en-US">
                        <a:latin typeface="+mj-ea"/>
                        <a:ea typeface="+mj-ea"/>
                      </a:endParaRPr>
                    </a:p>
                  </a:txBody>
                  <a:tcPr/>
                </a:tc>
                <a:extLst>
                  <a:ext uri="{0D108BD9-81ED-4DB2-BD59-A6C34878D82A}">
                    <a16:rowId xmlns:a16="http://schemas.microsoft.com/office/drawing/2014/main" val="10006"/>
                  </a:ext>
                </a:extLst>
              </a:tr>
              <a:tr h="370840">
                <a:tc>
                  <a:txBody>
                    <a:bodyPr/>
                    <a:lstStyle/>
                    <a:p>
                      <a:r>
                        <a:rPr lang="zh-CN" altLang="en-US">
                          <a:latin typeface="+mj-ea"/>
                          <a:ea typeface="+mj-ea"/>
                        </a:rPr>
                        <a:t>中间代理转发</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a:latin typeface="+mj-ea"/>
                          <a:ea typeface="+mj-ea"/>
                        </a:rPr>
                        <a:t>√</a:t>
                      </a:r>
                    </a:p>
                  </a:txBody>
                  <a:tcPr/>
                </a:tc>
                <a:tc>
                  <a:txBody>
                    <a:bodyPr/>
                    <a:lstStyle/>
                    <a:p>
                      <a:r>
                        <a:rPr lang="en-US" altLang="zh-CN">
                          <a:latin typeface="+mj-ea"/>
                          <a:ea typeface="+mj-ea"/>
                        </a:rPr>
                        <a:t>×</a:t>
                      </a:r>
                      <a:endParaRPr lang="zh-CN" altLang="en-US">
                        <a:latin typeface="+mj-ea"/>
                        <a:ea typeface="+mj-ea"/>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a:latin typeface="+mj-ea"/>
                          <a:ea typeface="+mj-ea"/>
                        </a:rPr>
                        <a:t>√</a:t>
                      </a:r>
                    </a:p>
                  </a:txBody>
                  <a:tcPr/>
                </a:tc>
                <a:extLst>
                  <a:ext uri="{0D108BD9-81ED-4DB2-BD59-A6C34878D82A}">
                    <a16:rowId xmlns:a16="http://schemas.microsoft.com/office/drawing/2014/main" val="10007"/>
                  </a:ext>
                </a:extLst>
              </a:tr>
              <a:tr h="370840">
                <a:tc>
                  <a:txBody>
                    <a:bodyPr/>
                    <a:lstStyle/>
                    <a:p>
                      <a:r>
                        <a:rPr lang="zh-CN" altLang="en-US" dirty="0">
                          <a:latin typeface="+mj-ea"/>
                          <a:ea typeface="+mj-ea"/>
                        </a:rPr>
                        <a:t>温度上传示例报文长度（单位：字节）</a:t>
                      </a:r>
                    </a:p>
                  </a:txBody>
                  <a:tcPr/>
                </a:tc>
                <a:tc>
                  <a:txBody>
                    <a:bodyPr/>
                    <a:lstStyle/>
                    <a:p>
                      <a:r>
                        <a:rPr lang="en-US" altLang="zh-CN">
                          <a:latin typeface="+mj-ea"/>
                          <a:ea typeface="+mj-ea"/>
                        </a:rPr>
                        <a:t>20</a:t>
                      </a:r>
                      <a:r>
                        <a:rPr lang="zh-CN" altLang="en-US">
                          <a:latin typeface="+mj-ea"/>
                          <a:ea typeface="+mj-ea"/>
                        </a:rPr>
                        <a:t>（</a:t>
                      </a:r>
                      <a:r>
                        <a:rPr lang="en-US" altLang="zh-CN">
                          <a:latin typeface="+mj-ea"/>
                          <a:ea typeface="+mj-ea"/>
                        </a:rPr>
                        <a:t>MQTT</a:t>
                      </a:r>
                      <a:r>
                        <a:rPr lang="zh-CN" altLang="en-US">
                          <a:latin typeface="+mj-ea"/>
                          <a:ea typeface="+mj-ea"/>
                        </a:rPr>
                        <a:t>）</a:t>
                      </a:r>
                      <a:r>
                        <a:rPr lang="en-US" altLang="zh-CN">
                          <a:latin typeface="+mj-ea"/>
                          <a:ea typeface="+mj-ea"/>
                        </a:rPr>
                        <a:t>+32</a:t>
                      </a:r>
                      <a:r>
                        <a:rPr lang="zh-CN" altLang="en-US">
                          <a:latin typeface="+mj-ea"/>
                          <a:ea typeface="+mj-ea"/>
                        </a:rPr>
                        <a:t>（</a:t>
                      </a:r>
                      <a:r>
                        <a:rPr lang="en-US" altLang="zh-CN">
                          <a:latin typeface="+mj-ea"/>
                          <a:ea typeface="+mj-ea"/>
                        </a:rPr>
                        <a:t>TCP</a:t>
                      </a:r>
                      <a:r>
                        <a:rPr lang="zh-CN" altLang="en-US">
                          <a:latin typeface="+mj-ea"/>
                          <a:ea typeface="+mj-ea"/>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a:latin typeface="+mj-ea"/>
                          <a:ea typeface="+mj-ea"/>
                        </a:rPr>
                        <a:t>32</a:t>
                      </a:r>
                      <a:r>
                        <a:rPr lang="zh-CN" altLang="en-US">
                          <a:latin typeface="+mj-ea"/>
                          <a:ea typeface="+mj-ea"/>
                        </a:rPr>
                        <a:t>（</a:t>
                      </a:r>
                      <a:r>
                        <a:rPr lang="en-US" altLang="zh-CN" err="1">
                          <a:latin typeface="+mj-ea"/>
                          <a:ea typeface="+mj-ea"/>
                        </a:rPr>
                        <a:t>CoAP</a:t>
                      </a:r>
                      <a:r>
                        <a:rPr lang="zh-CN" altLang="en-US">
                          <a:latin typeface="+mj-ea"/>
                          <a:ea typeface="+mj-ea"/>
                        </a:rPr>
                        <a:t>）</a:t>
                      </a:r>
                      <a:r>
                        <a:rPr lang="en-US" altLang="zh-CN">
                          <a:latin typeface="+mj-ea"/>
                          <a:ea typeface="+mj-ea"/>
                        </a:rPr>
                        <a:t>+8</a:t>
                      </a:r>
                      <a:r>
                        <a:rPr lang="zh-CN" altLang="en-US">
                          <a:latin typeface="+mj-ea"/>
                          <a:ea typeface="+mj-ea"/>
                        </a:rPr>
                        <a:t>（</a:t>
                      </a:r>
                      <a:r>
                        <a:rPr lang="en-US" altLang="zh-CN">
                          <a:latin typeface="+mj-ea"/>
                          <a:ea typeface="+mj-ea"/>
                        </a:rPr>
                        <a:t>UDP</a:t>
                      </a:r>
                      <a:r>
                        <a:rPr lang="zh-CN" altLang="en-US">
                          <a:latin typeface="+mj-ea"/>
                          <a:ea typeface="+mj-ea"/>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latin typeface="+mj-ea"/>
                          <a:ea typeface="+mj-ea"/>
                        </a:rPr>
                        <a:t>824</a:t>
                      </a:r>
                      <a:r>
                        <a:rPr lang="zh-CN" altLang="en-US" dirty="0">
                          <a:latin typeface="+mj-ea"/>
                          <a:ea typeface="+mj-ea"/>
                        </a:rPr>
                        <a:t>（</a:t>
                      </a:r>
                      <a:r>
                        <a:rPr lang="en-US" altLang="zh-CN" dirty="0">
                          <a:latin typeface="+mj-ea"/>
                          <a:ea typeface="+mj-ea"/>
                        </a:rPr>
                        <a:t>HTTP</a:t>
                      </a:r>
                      <a:r>
                        <a:rPr lang="zh-CN" altLang="en-US" dirty="0">
                          <a:latin typeface="+mj-ea"/>
                          <a:ea typeface="+mj-ea"/>
                        </a:rPr>
                        <a:t>）</a:t>
                      </a:r>
                      <a:r>
                        <a:rPr lang="en-US" altLang="zh-CN" dirty="0">
                          <a:latin typeface="+mj-ea"/>
                          <a:ea typeface="+mj-ea"/>
                        </a:rPr>
                        <a:t>+32</a:t>
                      </a:r>
                      <a:r>
                        <a:rPr lang="zh-CN" altLang="en-US" dirty="0">
                          <a:latin typeface="+mj-ea"/>
                          <a:ea typeface="+mj-ea"/>
                        </a:rPr>
                        <a:t>（</a:t>
                      </a:r>
                      <a:r>
                        <a:rPr lang="en-US" altLang="zh-CN" dirty="0">
                          <a:latin typeface="+mj-ea"/>
                          <a:ea typeface="+mj-ea"/>
                        </a:rPr>
                        <a:t>TCP</a:t>
                      </a:r>
                      <a:r>
                        <a:rPr lang="zh-CN" altLang="en-US" dirty="0">
                          <a:latin typeface="+mj-ea"/>
                          <a:ea typeface="+mj-ea"/>
                        </a:rPr>
                        <a:t>）</a:t>
                      </a:r>
                    </a:p>
                  </a:txBody>
                  <a:tcPr/>
                </a:tc>
                <a:extLst>
                  <a:ext uri="{0D108BD9-81ED-4DB2-BD59-A6C34878D82A}">
                    <a16:rowId xmlns:a16="http://schemas.microsoft.com/office/drawing/2014/main" val="10008"/>
                  </a:ext>
                </a:extLst>
              </a:tr>
            </a:tbl>
          </a:graphicData>
        </a:graphic>
      </p:graphicFrame>
      <p:sp>
        <p:nvSpPr>
          <p:cNvPr id="7" name="灯片编号占位符 4">
            <a:extLst>
              <a:ext uri="{FF2B5EF4-FFF2-40B4-BE49-F238E27FC236}">
                <a16:creationId xmlns:a16="http://schemas.microsoft.com/office/drawing/2014/main" id="{6D8309DC-4392-4458-9DA3-0377BA3D3B1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2832959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设备连接</a:t>
            </a:r>
          </a:p>
        </p:txBody>
      </p:sp>
      <p:sp>
        <p:nvSpPr>
          <p:cNvPr id="2" name="内容占位符 1"/>
          <p:cNvSpPr>
            <a:spLocks noGrp="1"/>
          </p:cNvSpPr>
          <p:nvPr>
            <p:ph idx="1"/>
          </p:nvPr>
        </p:nvSpPr>
        <p:spPr/>
        <p:txBody>
          <a:bodyPr/>
          <a:lstStyle/>
          <a:p>
            <a:r>
              <a:rPr lang="zh-CN" altLang="en-US"/>
              <a:t>各大云平台对不同协议的支持</a:t>
            </a:r>
            <a:endParaRPr lang="zh-CN" altLang="en-US" dirty="0"/>
          </a:p>
        </p:txBody>
      </p:sp>
      <p:graphicFrame>
        <p:nvGraphicFramePr>
          <p:cNvPr id="4" name="表格 4"/>
          <p:cNvGraphicFramePr>
            <a:graphicFrameLocks noGrp="1"/>
          </p:cNvGraphicFramePr>
          <p:nvPr>
            <p:extLst>
              <p:ext uri="{D42A27DB-BD31-4B8C-83A1-F6EECF244321}">
                <p14:modId xmlns:p14="http://schemas.microsoft.com/office/powerpoint/2010/main" val="1264785415"/>
              </p:ext>
            </p:extLst>
          </p:nvPr>
        </p:nvGraphicFramePr>
        <p:xfrm>
          <a:off x="998520" y="2091754"/>
          <a:ext cx="7146960" cy="3026895"/>
        </p:xfrm>
        <a:graphic>
          <a:graphicData uri="http://schemas.openxmlformats.org/drawingml/2006/table">
            <a:tbl>
              <a:tblPr firstRow="1" bandRow="1">
                <a:tableStyleId>{93296810-A885-4BE3-A3E7-6D5BEEA58F35}</a:tableStyleId>
              </a:tblPr>
              <a:tblGrid>
                <a:gridCol w="1821632">
                  <a:extLst>
                    <a:ext uri="{9D8B030D-6E8A-4147-A177-3AD203B41FA5}">
                      <a16:colId xmlns:a16="http://schemas.microsoft.com/office/drawing/2014/main" val="20000"/>
                    </a:ext>
                  </a:extLst>
                </a:gridCol>
                <a:gridCol w="1331332">
                  <a:extLst>
                    <a:ext uri="{9D8B030D-6E8A-4147-A177-3AD203B41FA5}">
                      <a16:colId xmlns:a16="http://schemas.microsoft.com/office/drawing/2014/main" val="20001"/>
                    </a:ext>
                  </a:extLst>
                </a:gridCol>
                <a:gridCol w="1331332">
                  <a:extLst>
                    <a:ext uri="{9D8B030D-6E8A-4147-A177-3AD203B41FA5}">
                      <a16:colId xmlns:a16="http://schemas.microsoft.com/office/drawing/2014/main" val="20002"/>
                    </a:ext>
                  </a:extLst>
                </a:gridCol>
                <a:gridCol w="1331332">
                  <a:extLst>
                    <a:ext uri="{9D8B030D-6E8A-4147-A177-3AD203B41FA5}">
                      <a16:colId xmlns:a16="http://schemas.microsoft.com/office/drawing/2014/main" val="20003"/>
                    </a:ext>
                  </a:extLst>
                </a:gridCol>
                <a:gridCol w="1331332">
                  <a:extLst>
                    <a:ext uri="{9D8B030D-6E8A-4147-A177-3AD203B41FA5}">
                      <a16:colId xmlns:a16="http://schemas.microsoft.com/office/drawing/2014/main" val="20004"/>
                    </a:ext>
                  </a:extLst>
                </a:gridCol>
              </a:tblGrid>
              <a:tr h="605379">
                <a:tc>
                  <a:txBody>
                    <a:bodyPr/>
                    <a:lstStyle/>
                    <a:p>
                      <a:pPr algn="ctr"/>
                      <a:endParaRPr lang="zh-CN" altLang="en-US">
                        <a:latin typeface="+mj-ea"/>
                        <a:ea typeface="+mj-ea"/>
                      </a:endParaRPr>
                    </a:p>
                  </a:txBody>
                  <a:tcPr anchor="ctr"/>
                </a:tc>
                <a:tc>
                  <a:txBody>
                    <a:bodyPr/>
                    <a:lstStyle/>
                    <a:p>
                      <a:pPr algn="ctr"/>
                      <a:r>
                        <a:rPr lang="en-US" altLang="zh-CN" b="1">
                          <a:latin typeface="+mj-ea"/>
                          <a:ea typeface="+mj-ea"/>
                        </a:rPr>
                        <a:t>HTTP</a:t>
                      </a:r>
                      <a:endParaRPr lang="zh-CN" altLang="en-US" b="1">
                        <a:latin typeface="+mj-ea"/>
                        <a:ea typeface="+mj-ea"/>
                      </a:endParaRPr>
                    </a:p>
                  </a:txBody>
                  <a:tcPr anchor="ctr"/>
                </a:tc>
                <a:tc>
                  <a:txBody>
                    <a:bodyPr/>
                    <a:lstStyle/>
                    <a:p>
                      <a:pPr algn="ctr"/>
                      <a:r>
                        <a:rPr lang="en-US" altLang="zh-CN" b="1">
                          <a:latin typeface="+mj-ea"/>
                          <a:ea typeface="+mj-ea"/>
                        </a:rPr>
                        <a:t>HTTPS</a:t>
                      </a:r>
                      <a:endParaRPr lang="zh-CN" altLang="en-US" b="1">
                        <a:latin typeface="+mj-ea"/>
                        <a:ea typeface="+mj-ea"/>
                      </a:endParaRPr>
                    </a:p>
                  </a:txBody>
                  <a:tcPr anchor="ctr"/>
                </a:tc>
                <a:tc>
                  <a:txBody>
                    <a:bodyPr/>
                    <a:lstStyle/>
                    <a:p>
                      <a:pPr algn="ctr"/>
                      <a:r>
                        <a:rPr lang="en-US" altLang="zh-CN" b="1">
                          <a:latin typeface="+mj-ea"/>
                          <a:ea typeface="+mj-ea"/>
                        </a:rPr>
                        <a:t>MQTT</a:t>
                      </a:r>
                      <a:endParaRPr lang="zh-CN" altLang="en-US" b="1">
                        <a:latin typeface="+mj-ea"/>
                        <a:ea typeface="+mj-ea"/>
                      </a:endParaRPr>
                    </a:p>
                  </a:txBody>
                  <a:tcPr anchor="ctr"/>
                </a:tc>
                <a:tc>
                  <a:txBody>
                    <a:bodyPr/>
                    <a:lstStyle/>
                    <a:p>
                      <a:pPr algn="ctr"/>
                      <a:r>
                        <a:rPr lang="en-US" altLang="zh-CN" b="1" err="1">
                          <a:latin typeface="+mj-ea"/>
                          <a:ea typeface="+mj-ea"/>
                        </a:rPr>
                        <a:t>CoAP</a:t>
                      </a:r>
                      <a:endParaRPr lang="zh-CN" altLang="en-US" b="1">
                        <a:latin typeface="+mj-ea"/>
                        <a:ea typeface="+mj-ea"/>
                      </a:endParaRPr>
                    </a:p>
                  </a:txBody>
                  <a:tcPr anchor="ctr"/>
                </a:tc>
                <a:extLst>
                  <a:ext uri="{0D108BD9-81ED-4DB2-BD59-A6C34878D82A}">
                    <a16:rowId xmlns:a16="http://schemas.microsoft.com/office/drawing/2014/main" val="10000"/>
                  </a:ext>
                </a:extLst>
              </a:tr>
              <a:tr h="605379">
                <a:tc>
                  <a:txBody>
                    <a:bodyPr/>
                    <a:lstStyle/>
                    <a:p>
                      <a:pPr algn="ctr"/>
                      <a:r>
                        <a:rPr lang="en-US" altLang="zh-CN" b="1">
                          <a:latin typeface="+mj-ea"/>
                          <a:ea typeface="+mj-ea"/>
                        </a:rPr>
                        <a:t>AWS</a:t>
                      </a:r>
                      <a:r>
                        <a:rPr lang="en-US" altLang="zh-CN" b="1" baseline="0">
                          <a:latin typeface="+mj-ea"/>
                          <a:ea typeface="+mj-ea"/>
                        </a:rPr>
                        <a:t> IoT</a:t>
                      </a:r>
                      <a:endParaRPr lang="zh-CN" altLang="en-US" b="1">
                        <a:latin typeface="+mj-ea"/>
                        <a:ea typeface="+mj-ea"/>
                      </a:endParaRPr>
                    </a:p>
                  </a:txBody>
                  <a:tcPr anchor="ctr"/>
                </a:tc>
                <a:tc>
                  <a:txBody>
                    <a:bodyPr/>
                    <a:lstStyle/>
                    <a:p>
                      <a:pPr algn="ctr"/>
                      <a:r>
                        <a:rPr lang="en-US" altLang="zh-CN">
                          <a:latin typeface="+mj-ea"/>
                          <a:ea typeface="+mj-ea"/>
                        </a:rPr>
                        <a:t>×</a:t>
                      </a:r>
                      <a:endParaRPr lang="zh-CN" altLang="en-US">
                        <a:latin typeface="+mj-ea"/>
                        <a:ea typeface="+mj-ea"/>
                      </a:endParaRPr>
                    </a:p>
                  </a:txBody>
                  <a:tcPr anchor="ctr"/>
                </a:tc>
                <a:tc>
                  <a:txBody>
                    <a:bodyPr/>
                    <a:lstStyle/>
                    <a:p>
                      <a:pPr algn="ctr"/>
                      <a:r>
                        <a:rPr lang="zh-CN" altLang="en-US">
                          <a:latin typeface="+mj-ea"/>
                          <a:ea typeface="+mj-ea"/>
                        </a:rPr>
                        <a:t>√</a:t>
                      </a:r>
                    </a:p>
                  </a:txBody>
                  <a:tcPr anchor="ctr"/>
                </a:tc>
                <a:tc>
                  <a:txBody>
                    <a:bodyPr/>
                    <a:lstStyle/>
                    <a:p>
                      <a:pPr algn="ctr"/>
                      <a:r>
                        <a:rPr lang="zh-CN" altLang="en-US">
                          <a:latin typeface="+mj-ea"/>
                          <a:ea typeface="+mj-ea"/>
                        </a:rPr>
                        <a:t>√</a:t>
                      </a:r>
                    </a:p>
                  </a:txBody>
                  <a:tcPr anchor="ctr"/>
                </a:tc>
                <a:tc>
                  <a:txBody>
                    <a:bodyPr/>
                    <a:lstStyle/>
                    <a:p>
                      <a:pPr algn="ctr"/>
                      <a:r>
                        <a:rPr lang="en-US" altLang="zh-CN">
                          <a:latin typeface="+mj-ea"/>
                          <a:ea typeface="+mj-ea"/>
                        </a:rPr>
                        <a:t>×</a:t>
                      </a:r>
                      <a:endParaRPr lang="zh-CN" altLang="en-US">
                        <a:latin typeface="+mj-ea"/>
                        <a:ea typeface="+mj-ea"/>
                      </a:endParaRPr>
                    </a:p>
                  </a:txBody>
                  <a:tcPr anchor="ctr"/>
                </a:tc>
                <a:extLst>
                  <a:ext uri="{0D108BD9-81ED-4DB2-BD59-A6C34878D82A}">
                    <a16:rowId xmlns:a16="http://schemas.microsoft.com/office/drawing/2014/main" val="10001"/>
                  </a:ext>
                </a:extLst>
              </a:tr>
              <a:tr h="605379">
                <a:tc>
                  <a:txBody>
                    <a:bodyPr/>
                    <a:lstStyle/>
                    <a:p>
                      <a:pPr algn="ctr"/>
                      <a:r>
                        <a:rPr lang="en-US" altLang="zh-CN" b="1">
                          <a:latin typeface="+mj-ea"/>
                          <a:ea typeface="+mj-ea"/>
                        </a:rPr>
                        <a:t>Azure</a:t>
                      </a:r>
                      <a:r>
                        <a:rPr lang="en-US" altLang="zh-CN" b="1" baseline="0">
                          <a:latin typeface="+mj-ea"/>
                          <a:ea typeface="+mj-ea"/>
                        </a:rPr>
                        <a:t> IoT</a:t>
                      </a:r>
                      <a:endParaRPr lang="zh-CN" altLang="en-US" b="1">
                        <a:latin typeface="+mj-ea"/>
                        <a:ea typeface="+mj-ea"/>
                      </a:endParaRPr>
                    </a:p>
                  </a:txBody>
                  <a:tcPr anchor="ctr"/>
                </a:tc>
                <a:tc>
                  <a:txBody>
                    <a:bodyPr/>
                    <a:lstStyle/>
                    <a:p>
                      <a:pPr algn="ctr"/>
                      <a:r>
                        <a:rPr lang="en-US" altLang="zh-CN">
                          <a:latin typeface="+mj-ea"/>
                          <a:ea typeface="+mj-ea"/>
                        </a:rPr>
                        <a:t>×</a:t>
                      </a:r>
                      <a:endParaRPr lang="zh-CN" altLang="en-US">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a:latin typeface="+mj-ea"/>
                          <a:ea typeface="+mj-ea"/>
                        </a:rPr>
                        <a:t>√</a:t>
                      </a:r>
                    </a:p>
                  </a:txBody>
                  <a:tcPr anchor="ctr"/>
                </a:tc>
                <a:tc>
                  <a:txBody>
                    <a:bodyPr/>
                    <a:lstStyle/>
                    <a:p>
                      <a:pPr algn="ctr"/>
                      <a:r>
                        <a:rPr lang="zh-CN" altLang="en-US">
                          <a:latin typeface="+mj-ea"/>
                          <a:ea typeface="+mj-ea"/>
                        </a:rPr>
                        <a:t>√</a:t>
                      </a:r>
                    </a:p>
                  </a:txBody>
                  <a:tcPr anchor="ctr"/>
                </a:tc>
                <a:tc>
                  <a:txBody>
                    <a:bodyPr/>
                    <a:lstStyle/>
                    <a:p>
                      <a:pPr algn="ctr"/>
                      <a:r>
                        <a:rPr lang="en-US" altLang="zh-CN">
                          <a:latin typeface="+mj-ea"/>
                          <a:ea typeface="+mj-ea"/>
                        </a:rPr>
                        <a:t>×</a:t>
                      </a:r>
                      <a:endParaRPr lang="zh-CN" altLang="en-US">
                        <a:latin typeface="+mj-ea"/>
                        <a:ea typeface="+mj-ea"/>
                      </a:endParaRPr>
                    </a:p>
                  </a:txBody>
                  <a:tcPr anchor="ctr"/>
                </a:tc>
                <a:extLst>
                  <a:ext uri="{0D108BD9-81ED-4DB2-BD59-A6C34878D82A}">
                    <a16:rowId xmlns:a16="http://schemas.microsoft.com/office/drawing/2014/main" val="10002"/>
                  </a:ext>
                </a:extLst>
              </a:tr>
              <a:tr h="605379">
                <a:tc>
                  <a:txBody>
                    <a:bodyPr/>
                    <a:lstStyle/>
                    <a:p>
                      <a:pPr algn="ctr"/>
                      <a:r>
                        <a:rPr lang="zh-CN" altLang="en-US" b="1" dirty="0">
                          <a:latin typeface="+mj-ea"/>
                          <a:ea typeface="+mj-ea"/>
                        </a:rPr>
                        <a:t>阿里云</a:t>
                      </a:r>
                      <a:r>
                        <a:rPr lang="en-US" altLang="zh-CN" b="1" dirty="0">
                          <a:latin typeface="+mj-ea"/>
                          <a:ea typeface="+mj-ea"/>
                        </a:rPr>
                        <a:t>IoT</a:t>
                      </a:r>
                      <a:endParaRPr lang="zh-CN" altLang="en-US" b="1" dirty="0">
                        <a:latin typeface="+mj-ea"/>
                        <a:ea typeface="+mj-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a:ea typeface="微软雅黑"/>
                          <a:cs typeface="+mn-cs"/>
                        </a:rPr>
                        <a:t>×</a:t>
                      </a:r>
                      <a:endParaRPr kumimoji="0" lang="zh-CN" altLang="en-US" sz="1800" b="0" i="0" u="none" strike="noStrike" kern="1200" cap="none" spc="0" normalizeH="0" baseline="0" noProof="0" dirty="0">
                        <a:ln>
                          <a:noFill/>
                        </a:ln>
                        <a:solidFill>
                          <a:prstClr val="black"/>
                        </a:solidFill>
                        <a:effectLst/>
                        <a:uLnTx/>
                        <a:uFillTx/>
                        <a:latin typeface="微软雅黑"/>
                        <a:ea typeface="微软雅黑"/>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dirty="0">
                          <a:latin typeface="+mj-ea"/>
                          <a:ea typeface="+mj-ea"/>
                        </a:rPr>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dirty="0">
                          <a:latin typeface="+mj-ea"/>
                          <a:ea typeface="+mj-ea"/>
                        </a:rPr>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dirty="0">
                          <a:latin typeface="+mj-ea"/>
                          <a:ea typeface="+mj-ea"/>
                        </a:rPr>
                        <a:t>√</a:t>
                      </a:r>
                      <a:endParaRPr lang="en-US" altLang="zh-CN" dirty="0">
                        <a:latin typeface="+mj-ea"/>
                        <a:ea typeface="+mj-ea"/>
                      </a:endParaRPr>
                    </a:p>
                  </a:txBody>
                  <a:tcPr anchor="ctr"/>
                </a:tc>
                <a:extLst>
                  <a:ext uri="{0D108BD9-81ED-4DB2-BD59-A6C34878D82A}">
                    <a16:rowId xmlns:a16="http://schemas.microsoft.com/office/drawing/2014/main" val="10003"/>
                  </a:ext>
                </a:extLst>
              </a:tr>
              <a:tr h="605379">
                <a:tc>
                  <a:txBody>
                    <a:bodyPr/>
                    <a:lstStyle/>
                    <a:p>
                      <a:pPr algn="ctr"/>
                      <a:r>
                        <a:rPr lang="en-US" altLang="zh-CN" b="1" dirty="0">
                          <a:latin typeface="+mj-ea"/>
                          <a:ea typeface="+mj-ea"/>
                        </a:rPr>
                        <a:t>IBM Watson</a:t>
                      </a:r>
                      <a:endParaRPr lang="zh-CN" altLang="en-US" b="1" dirty="0">
                        <a:latin typeface="+mj-ea"/>
                        <a:ea typeface="+mj-ea"/>
                      </a:endParaRPr>
                    </a:p>
                  </a:txBody>
                  <a:tcPr anchor="ctr"/>
                </a:tc>
                <a:tc>
                  <a:txBody>
                    <a:bodyPr/>
                    <a:lstStyle/>
                    <a:p>
                      <a:pPr algn="ctr"/>
                      <a:r>
                        <a:rPr lang="en-US" altLang="zh-CN" dirty="0">
                          <a:latin typeface="+mj-ea"/>
                          <a:ea typeface="+mj-ea"/>
                        </a:rPr>
                        <a:t>×</a:t>
                      </a:r>
                      <a:endParaRPr lang="zh-CN" altLang="en-US"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a:latin typeface="+mj-ea"/>
                          <a:ea typeface="+mj-ea"/>
                        </a:rPr>
                        <a:t>×</a:t>
                      </a:r>
                      <a:endParaRPr lang="zh-CN" altLang="en-US">
                        <a:latin typeface="+mj-ea"/>
                        <a:ea typeface="+mj-ea"/>
                      </a:endParaRPr>
                    </a:p>
                  </a:txBody>
                  <a:tcPr anchor="ctr"/>
                </a:tc>
                <a:tc>
                  <a:txBody>
                    <a:bodyPr/>
                    <a:lstStyle/>
                    <a:p>
                      <a:pPr algn="ctr"/>
                      <a:r>
                        <a:rPr lang="zh-CN" altLang="en-US">
                          <a:latin typeface="+mj-ea"/>
                          <a:ea typeface="+mj-ea"/>
                        </a:rPr>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dirty="0">
                          <a:latin typeface="+mj-ea"/>
                          <a:ea typeface="+mj-ea"/>
                        </a:rPr>
                        <a:t>×</a:t>
                      </a:r>
                      <a:endParaRPr lang="zh-CN" altLang="en-US" dirty="0">
                        <a:latin typeface="+mj-ea"/>
                        <a:ea typeface="+mj-ea"/>
                      </a:endParaRPr>
                    </a:p>
                  </a:txBody>
                  <a:tcPr anchor="ctr"/>
                </a:tc>
                <a:extLst>
                  <a:ext uri="{0D108BD9-81ED-4DB2-BD59-A6C34878D82A}">
                    <a16:rowId xmlns:a16="http://schemas.microsoft.com/office/drawing/2014/main" val="10004"/>
                  </a:ext>
                </a:extLst>
              </a:tr>
            </a:tbl>
          </a:graphicData>
        </a:graphic>
      </p:graphicFrame>
      <p:sp>
        <p:nvSpPr>
          <p:cNvPr id="7" name="灯片编号占位符 4">
            <a:extLst>
              <a:ext uri="{FF2B5EF4-FFF2-40B4-BE49-F238E27FC236}">
                <a16:creationId xmlns:a16="http://schemas.microsoft.com/office/drawing/2014/main" id="{19B38E74-A2EF-491B-87CF-2A9231CC678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t>设备连接</a:t>
            </a:r>
          </a:p>
          <a:p>
            <a:r>
              <a:rPr lang="zh-CN" altLang="en-US" dirty="0">
                <a:solidFill>
                  <a:srgbClr val="C00000"/>
                </a:solidFill>
              </a:rPr>
              <a:t>设备管理</a:t>
            </a:r>
          </a:p>
          <a:p>
            <a:r>
              <a:rPr lang="en-US" altLang="zh-CN" dirty="0"/>
              <a:t>IFTTT</a:t>
            </a:r>
            <a:r>
              <a:rPr lang="zh-CN" altLang="en-US" dirty="0"/>
              <a:t>与规则引擎</a:t>
            </a:r>
          </a:p>
          <a:p>
            <a:r>
              <a:rPr lang="zh-CN" altLang="en-US" dirty="0"/>
              <a:t>时序数据库与流计算</a:t>
            </a:r>
          </a:p>
          <a:p>
            <a:r>
              <a:rPr lang="zh-CN" altLang="en-US" dirty="0"/>
              <a:t>安全认证</a:t>
            </a:r>
          </a:p>
          <a:p>
            <a:r>
              <a:rPr lang="zh-CN" altLang="en-US" dirty="0"/>
              <a:t>无服务器计算</a:t>
            </a:r>
          </a:p>
          <a:p>
            <a:r>
              <a:rPr lang="zh-CN" altLang="en-US" dirty="0"/>
              <a:t>边缘计算</a:t>
            </a:r>
          </a:p>
          <a:p>
            <a:endParaRPr lang="zh-CN" altLang="en-US" dirty="0"/>
          </a:p>
        </p:txBody>
      </p:sp>
    </p:spTree>
    <p:extLst>
      <p:ext uri="{BB962C8B-B14F-4D97-AF65-F5344CB8AC3E}">
        <p14:creationId xmlns:p14="http://schemas.microsoft.com/office/powerpoint/2010/main" val="239139612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设备管理</a:t>
            </a:r>
            <a:endParaRPr lang="zh-CN" altLang="en-US" dirty="0"/>
          </a:p>
        </p:txBody>
      </p:sp>
      <p:sp>
        <p:nvSpPr>
          <p:cNvPr id="3" name="内容占位符 2"/>
          <p:cNvSpPr>
            <a:spLocks noGrp="1"/>
          </p:cNvSpPr>
          <p:nvPr>
            <p:ph idx="1"/>
          </p:nvPr>
        </p:nvSpPr>
        <p:spPr/>
        <p:txBody>
          <a:bodyPr/>
          <a:lstStyle/>
          <a:p>
            <a:r>
              <a:rPr lang="zh-CN" altLang="en-US" dirty="0"/>
              <a:t>管理内容</a:t>
            </a:r>
            <a:endParaRPr lang="en-US" altLang="zh-CN" dirty="0"/>
          </a:p>
          <a:p>
            <a:pPr lvl="1"/>
            <a:r>
              <a:rPr lang="zh-CN" altLang="en-US" dirty="0"/>
              <a:t>设备生命周期：注册、删除设备</a:t>
            </a:r>
          </a:p>
          <a:p>
            <a:pPr lvl="1"/>
            <a:r>
              <a:rPr lang="zh-CN" altLang="en-US" dirty="0"/>
              <a:t>设备状态：跟踪设备</a:t>
            </a:r>
            <a:r>
              <a:rPr lang="en-US" altLang="zh-CN" dirty="0"/>
              <a:t>online-offline</a:t>
            </a:r>
            <a:r>
              <a:rPr lang="zh-CN" altLang="en-US" dirty="0"/>
              <a:t>状态</a:t>
            </a:r>
            <a:endParaRPr lang="en-US" altLang="zh-CN" dirty="0"/>
          </a:p>
          <a:p>
            <a:pPr lvl="1"/>
            <a:r>
              <a:rPr lang="zh-CN" altLang="en-US" dirty="0"/>
              <a:t>设备固件版本：跟踪设备当前版本号</a:t>
            </a:r>
            <a:endParaRPr lang="en-US" altLang="zh-CN" dirty="0"/>
          </a:p>
          <a:p>
            <a:pPr lvl="1"/>
            <a:r>
              <a:rPr lang="zh-CN" altLang="en-US" dirty="0"/>
              <a:t>固件更新：维护更新地址列表；监视更新过程</a:t>
            </a:r>
          </a:p>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421987454"/>
              </p:ext>
            </p:extLst>
          </p:nvPr>
        </p:nvGraphicFramePr>
        <p:xfrm>
          <a:off x="755651" y="3388558"/>
          <a:ext cx="7512049" cy="2436340"/>
        </p:xfrm>
        <a:graphic>
          <a:graphicData uri="http://schemas.openxmlformats.org/drawingml/2006/table">
            <a:tbl>
              <a:tblPr firstRow="1" bandRow="1">
                <a:tableStyleId>{93296810-A885-4BE3-A3E7-6D5BEEA58F35}</a:tableStyleId>
              </a:tblPr>
              <a:tblGrid>
                <a:gridCol w="1671508">
                  <a:extLst>
                    <a:ext uri="{9D8B030D-6E8A-4147-A177-3AD203B41FA5}">
                      <a16:colId xmlns:a16="http://schemas.microsoft.com/office/drawing/2014/main" val="20000"/>
                    </a:ext>
                  </a:extLst>
                </a:gridCol>
                <a:gridCol w="3791164">
                  <a:extLst>
                    <a:ext uri="{9D8B030D-6E8A-4147-A177-3AD203B41FA5}">
                      <a16:colId xmlns:a16="http://schemas.microsoft.com/office/drawing/2014/main" val="20001"/>
                    </a:ext>
                  </a:extLst>
                </a:gridCol>
                <a:gridCol w="2049377">
                  <a:extLst>
                    <a:ext uri="{9D8B030D-6E8A-4147-A177-3AD203B41FA5}">
                      <a16:colId xmlns:a16="http://schemas.microsoft.com/office/drawing/2014/main" val="20002"/>
                    </a:ext>
                  </a:extLst>
                </a:gridCol>
              </a:tblGrid>
              <a:tr h="3760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设备标识属性</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意义</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对应管理内容</a:t>
                      </a:r>
                    </a:p>
                  </a:txBody>
                  <a:tcPr marL="68580" marR="68580" marT="34290" marB="34290"/>
                </a:tc>
                <a:extLst>
                  <a:ext uri="{0D108BD9-81ED-4DB2-BD59-A6C34878D82A}">
                    <a16:rowId xmlns:a16="http://schemas.microsoft.com/office/drawing/2014/main" val="10000"/>
                  </a:ext>
                </a:extLst>
              </a:tr>
              <a:tr h="3760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err="1">
                          <a:latin typeface="+mj-ea"/>
                          <a:ea typeface="+mj-ea"/>
                        </a:rPr>
                        <a:t>deviceId</a:t>
                      </a:r>
                      <a:endParaRPr lang="zh-CN" altLang="en-US" sz="1600">
                        <a:latin typeface="+mj-ea"/>
                        <a:ea typeface="+mj-ea"/>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设备</a:t>
                      </a:r>
                      <a:r>
                        <a:rPr lang="en-US" altLang="zh-CN" sz="1600">
                          <a:latin typeface="+mj-ea"/>
                          <a:ea typeface="+mj-ea"/>
                        </a:rPr>
                        <a:t>ID</a:t>
                      </a:r>
                      <a:endParaRPr lang="zh-CN" altLang="en-US" sz="1600">
                        <a:latin typeface="+mj-ea"/>
                        <a:ea typeface="+mj-ea"/>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600">
                        <a:latin typeface="+mj-ea"/>
                        <a:ea typeface="+mj-ea"/>
                      </a:endParaRPr>
                    </a:p>
                  </a:txBody>
                  <a:tcPr marL="68580" marR="68580" marT="34290" marB="34290"/>
                </a:tc>
                <a:extLst>
                  <a:ext uri="{0D108BD9-81ED-4DB2-BD59-A6C34878D82A}">
                    <a16:rowId xmlns:a16="http://schemas.microsoft.com/office/drawing/2014/main" val="10001"/>
                  </a:ext>
                </a:extLst>
              </a:tr>
              <a:tr h="3760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a:latin typeface="+mj-ea"/>
                          <a:ea typeface="+mj-ea"/>
                        </a:rPr>
                        <a:t>status</a:t>
                      </a:r>
                      <a:endParaRPr lang="zh-CN" altLang="en-US" sz="1600">
                        <a:latin typeface="+mj-ea"/>
                        <a:ea typeface="+mj-ea"/>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设备状态（已启用</a:t>
                      </a:r>
                      <a:r>
                        <a:rPr lang="en-US" altLang="zh-CN" sz="1600">
                          <a:latin typeface="+mj-ea"/>
                          <a:ea typeface="+mj-ea"/>
                        </a:rPr>
                        <a:t>/</a:t>
                      </a:r>
                      <a:r>
                        <a:rPr lang="zh-CN" altLang="en-US" sz="1600">
                          <a:latin typeface="+mj-ea"/>
                          <a:ea typeface="+mj-ea"/>
                        </a:rPr>
                        <a:t>已禁用）</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设备生命周期</a:t>
                      </a:r>
                    </a:p>
                  </a:txBody>
                  <a:tcPr marL="68580" marR="68580" marT="34290" marB="34290"/>
                </a:tc>
                <a:extLst>
                  <a:ext uri="{0D108BD9-81ED-4DB2-BD59-A6C34878D82A}">
                    <a16:rowId xmlns:a16="http://schemas.microsoft.com/office/drawing/2014/main" val="10002"/>
                  </a:ext>
                </a:extLst>
              </a:tr>
              <a:tr h="3760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err="1">
                          <a:latin typeface="+mj-ea"/>
                          <a:ea typeface="+mj-ea"/>
                        </a:rPr>
                        <a:t>connectionState</a:t>
                      </a:r>
                      <a:endParaRPr lang="zh-CN" altLang="en-US" sz="1600">
                        <a:latin typeface="+mj-ea"/>
                        <a:ea typeface="+mj-ea"/>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连接状态（已连接</a:t>
                      </a:r>
                      <a:r>
                        <a:rPr lang="en-US" altLang="zh-CN" sz="1600">
                          <a:latin typeface="+mj-ea"/>
                          <a:ea typeface="+mj-ea"/>
                        </a:rPr>
                        <a:t>/</a:t>
                      </a:r>
                      <a:r>
                        <a:rPr lang="zh-CN" altLang="en-US" sz="1600">
                          <a:latin typeface="+mj-ea"/>
                          <a:ea typeface="+mj-ea"/>
                        </a:rPr>
                        <a:t>已断开）</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设备状态</a:t>
                      </a:r>
                    </a:p>
                  </a:txBody>
                  <a:tcPr marL="68580" marR="68580" marT="34290" marB="34290"/>
                </a:tc>
                <a:extLst>
                  <a:ext uri="{0D108BD9-81ED-4DB2-BD59-A6C34878D82A}">
                    <a16:rowId xmlns:a16="http://schemas.microsoft.com/office/drawing/2014/main" val="10003"/>
                  </a:ext>
                </a:extLst>
              </a:tr>
              <a:tr h="3760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dk1"/>
                          </a:solidFill>
                          <a:latin typeface="+mj-ea"/>
                          <a:ea typeface="+mj-ea"/>
                          <a:cs typeface="+mn-cs"/>
                        </a:rPr>
                        <a:t>version</a:t>
                      </a:r>
                      <a:endParaRPr lang="zh-CN" altLang="en-US" sz="1600" kern="1200" dirty="0">
                        <a:solidFill>
                          <a:schemeClr val="dk1"/>
                        </a:solidFill>
                        <a:latin typeface="+mj-ea"/>
                        <a:ea typeface="+mj-ea"/>
                        <a:cs typeface="+mn-cs"/>
                      </a:endParaRPr>
                    </a:p>
                  </a:txBody>
                  <a:tcPr marL="68580" marR="68580" marT="34290" marB="34290"/>
                </a:tc>
                <a:tc>
                  <a:txBody>
                    <a:bodyPr/>
                    <a:lstStyle/>
                    <a:p>
                      <a:r>
                        <a:rPr lang="zh-CN" altLang="en-US">
                          <a:latin typeface="+mj-ea"/>
                          <a:ea typeface="+mj-ea"/>
                        </a:rPr>
                        <a:t>设备当前版本号</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latin typeface="+mj-ea"/>
                          <a:ea typeface="+mj-ea"/>
                        </a:rPr>
                        <a:t>设备固件版本</a:t>
                      </a:r>
                    </a:p>
                  </a:txBody>
                  <a:tcPr marL="68580" marR="68580" marT="34290" marB="34290"/>
                </a:tc>
                <a:extLst>
                  <a:ext uri="{0D108BD9-81ED-4DB2-BD59-A6C34878D82A}">
                    <a16:rowId xmlns:a16="http://schemas.microsoft.com/office/drawing/2014/main" val="10004"/>
                  </a:ext>
                </a:extLst>
              </a:tr>
              <a:tr h="3760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200" err="1">
                          <a:solidFill>
                            <a:schemeClr val="dk1"/>
                          </a:solidFill>
                          <a:latin typeface="+mj-ea"/>
                          <a:ea typeface="+mj-ea"/>
                          <a:cs typeface="+mn-cs"/>
                        </a:rPr>
                        <a:t>updateList</a:t>
                      </a:r>
                      <a:endParaRPr lang="zh-CN" altLang="en-US" sz="1600" kern="1200">
                        <a:solidFill>
                          <a:schemeClr val="dk1"/>
                        </a:solidFill>
                        <a:latin typeface="+mj-ea"/>
                        <a:ea typeface="+mj-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a:latin typeface="+mj-ea"/>
                          <a:ea typeface="+mj-ea"/>
                        </a:rPr>
                        <a:t>OTA</a:t>
                      </a:r>
                      <a:r>
                        <a:rPr lang="zh-CN" altLang="en-US" sz="1600">
                          <a:latin typeface="+mj-ea"/>
                          <a:ea typeface="+mj-ea"/>
                        </a:rPr>
                        <a:t>更新包的下载地址及对应的版本信息</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latin typeface="+mj-ea"/>
                          <a:ea typeface="+mj-ea"/>
                        </a:rPr>
                        <a:t>固件更新</a:t>
                      </a:r>
                    </a:p>
                  </a:txBody>
                  <a:tcPr marL="68580" marR="68580" marT="34290" marB="34290"/>
                </a:tc>
                <a:extLst>
                  <a:ext uri="{0D108BD9-81ED-4DB2-BD59-A6C34878D82A}">
                    <a16:rowId xmlns:a16="http://schemas.microsoft.com/office/drawing/2014/main" val="10005"/>
                  </a:ext>
                </a:extLst>
              </a:tr>
            </a:tbl>
          </a:graphicData>
        </a:graphic>
      </p:graphicFrame>
      <p:sp>
        <p:nvSpPr>
          <p:cNvPr id="9" name="灯片编号占位符 4">
            <a:extLst>
              <a:ext uri="{FF2B5EF4-FFF2-40B4-BE49-F238E27FC236}">
                <a16:creationId xmlns:a16="http://schemas.microsoft.com/office/drawing/2014/main" id="{2CF6EA0E-E5C0-4A55-A13B-7CDB48B9220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设备管理</a:t>
            </a:r>
            <a:endParaRPr lang="zh-CN" altLang="en-US" dirty="0"/>
          </a:p>
        </p:txBody>
      </p:sp>
      <p:sp>
        <p:nvSpPr>
          <p:cNvPr id="3" name="内容占位符 2"/>
          <p:cNvSpPr>
            <a:spLocks noGrp="1"/>
          </p:cNvSpPr>
          <p:nvPr>
            <p:ph idx="1"/>
          </p:nvPr>
        </p:nvSpPr>
        <p:spPr/>
        <p:txBody>
          <a:bodyPr/>
          <a:lstStyle/>
          <a:p>
            <a:r>
              <a:rPr lang="zh-CN" altLang="en-US"/>
              <a:t>管理对象</a:t>
            </a:r>
            <a:endParaRPr lang="en-US" altLang="zh-CN"/>
          </a:p>
          <a:p>
            <a:pPr lvl="1"/>
            <a:r>
              <a:rPr lang="zh-CN" altLang="en-US"/>
              <a:t>物联网设备</a:t>
            </a:r>
            <a:endParaRPr lang="en-US" altLang="zh-CN"/>
          </a:p>
          <a:p>
            <a:pPr lvl="1"/>
            <a:r>
              <a:rPr lang="zh-CN" altLang="en-US"/>
              <a:t>智能网关</a:t>
            </a:r>
          </a:p>
          <a:p>
            <a:endParaRPr lang="en-US" altLang="zh-CN"/>
          </a:p>
          <a:p>
            <a:r>
              <a:rPr lang="zh-CN" altLang="en-US"/>
              <a:t>管理方式</a:t>
            </a:r>
            <a:endParaRPr lang="en-US" altLang="zh-CN"/>
          </a:p>
          <a:p>
            <a:pPr lvl="1"/>
            <a:r>
              <a:rPr lang="zh-CN" altLang="en-US"/>
              <a:t>直接管理：用户通过云直接向设备发送指令</a:t>
            </a:r>
          </a:p>
          <a:p>
            <a:pPr lvl="1"/>
            <a:r>
              <a:rPr lang="zh-CN" altLang="en-US"/>
              <a:t>设备影子：利用设备的持久虚拟版（包含设备的最新状态）管理设备</a:t>
            </a:r>
            <a:endParaRPr lang="en-US" altLang="zh-CN"/>
          </a:p>
          <a:p>
            <a:pPr lvl="1"/>
            <a:endParaRPr lang="zh-CN" altLang="en-US"/>
          </a:p>
          <a:p>
            <a:r>
              <a:rPr lang="zh-CN" altLang="en-US"/>
              <a:t>管理服务</a:t>
            </a:r>
            <a:endParaRPr lang="en-US" altLang="zh-CN"/>
          </a:p>
          <a:p>
            <a:pPr lvl="1"/>
            <a:r>
              <a:rPr lang="en-US" altLang="zh-CN"/>
              <a:t>OTA</a:t>
            </a:r>
            <a:r>
              <a:rPr lang="zh-CN" altLang="en-US"/>
              <a:t>升级：在线检测设备是否需要升级并管理升级过程</a:t>
            </a:r>
          </a:p>
          <a:p>
            <a:pPr lvl="2"/>
            <a:endParaRPr lang="zh-CN" altLang="en-US"/>
          </a:p>
          <a:p>
            <a:pPr lvl="1"/>
            <a:endParaRPr lang="zh-CN" altLang="en-US" dirty="0"/>
          </a:p>
        </p:txBody>
      </p:sp>
      <p:sp>
        <p:nvSpPr>
          <p:cNvPr id="6" name="灯片编号占位符 4">
            <a:extLst>
              <a:ext uri="{FF2B5EF4-FFF2-40B4-BE49-F238E27FC236}">
                <a16:creationId xmlns:a16="http://schemas.microsoft.com/office/drawing/2014/main" id="{40599E2E-FF66-4AC8-B05B-3892B3CED4A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4" descr="图片包含 屏幕截图&#10;&#10;已生成高可信度的说明">
            <a:extLst>
              <a:ext uri="{FF2B5EF4-FFF2-40B4-BE49-F238E27FC236}">
                <a16:creationId xmlns:a16="http://schemas.microsoft.com/office/drawing/2014/main" id="{A081B939-D08B-4891-85E2-5316DCB22377}"/>
              </a:ext>
            </a:extLst>
          </p:cNvPr>
          <p:cNvPicPr>
            <a:picLocks noChangeAspect="1"/>
          </p:cNvPicPr>
          <p:nvPr/>
        </p:nvPicPr>
        <p:blipFill>
          <a:blip r:embed="rId2"/>
          <a:stretch>
            <a:fillRect/>
          </a:stretch>
        </p:blipFill>
        <p:spPr>
          <a:xfrm>
            <a:off x="4562375" y="2900135"/>
            <a:ext cx="4195354" cy="2324069"/>
          </a:xfrm>
          <a:prstGeom prst="rect">
            <a:avLst/>
          </a:prstGeom>
        </p:spPr>
      </p:pic>
      <p:sp>
        <p:nvSpPr>
          <p:cNvPr id="2" name="标题 1">
            <a:extLst>
              <a:ext uri="{FF2B5EF4-FFF2-40B4-BE49-F238E27FC236}">
                <a16:creationId xmlns:a16="http://schemas.microsoft.com/office/drawing/2014/main" id="{72636476-C376-4E7D-9544-193633E6DF20}"/>
              </a:ext>
            </a:extLst>
          </p:cNvPr>
          <p:cNvSpPr>
            <a:spLocks noGrp="1"/>
          </p:cNvSpPr>
          <p:nvPr>
            <p:ph type="title"/>
          </p:nvPr>
        </p:nvSpPr>
        <p:spPr/>
        <p:txBody>
          <a:bodyPr/>
          <a:lstStyle/>
          <a:p>
            <a:r>
              <a:rPr lang="zh-CN" altLang="en-US" dirty="0"/>
              <a:t>管理对象</a:t>
            </a:r>
          </a:p>
        </p:txBody>
      </p:sp>
      <p:sp>
        <p:nvSpPr>
          <p:cNvPr id="3" name="内容占位符 2">
            <a:extLst>
              <a:ext uri="{FF2B5EF4-FFF2-40B4-BE49-F238E27FC236}">
                <a16:creationId xmlns:a16="http://schemas.microsoft.com/office/drawing/2014/main" id="{34353B95-BB91-445F-A6BA-EE1B536F9080}"/>
              </a:ext>
            </a:extLst>
          </p:cNvPr>
          <p:cNvSpPr>
            <a:spLocks noGrp="1"/>
          </p:cNvSpPr>
          <p:nvPr>
            <p:ph idx="1"/>
          </p:nvPr>
        </p:nvSpPr>
        <p:spPr/>
        <p:txBody>
          <a:bodyPr/>
          <a:lstStyle/>
          <a:p>
            <a:r>
              <a:rPr lang="zh-CN" altLang="en-US"/>
              <a:t>物联网设备</a:t>
            </a:r>
            <a:endParaRPr lang="en-US" altLang="zh-CN"/>
          </a:p>
          <a:p>
            <a:r>
              <a:rPr lang="zh-CN" altLang="en-US"/>
              <a:t>智能网关</a:t>
            </a:r>
            <a:endParaRPr lang="en-US" altLang="zh-CN"/>
          </a:p>
          <a:p>
            <a:pPr lvl="1"/>
            <a:r>
              <a:rPr lang="zh-CN" altLang="en-US"/>
              <a:t>定义</a:t>
            </a:r>
          </a:p>
          <a:p>
            <a:pPr lvl="2"/>
            <a:r>
              <a:rPr lang="zh-CN" altLang="en-US"/>
              <a:t>网关是</a:t>
            </a:r>
            <a:r>
              <a:rPr lang="en-US" altLang="zh-CN"/>
              <a:t>IoT</a:t>
            </a:r>
            <a:r>
              <a:rPr lang="zh-CN" altLang="en-US"/>
              <a:t>平台中一种特殊的设备</a:t>
            </a:r>
            <a:endParaRPr lang="en-US" altLang="zh-CN"/>
          </a:p>
          <a:p>
            <a:pPr lvl="2"/>
            <a:r>
              <a:rPr lang="zh-CN" altLang="en-US"/>
              <a:t>具有聚合应用和设备的能力</a:t>
            </a:r>
          </a:p>
          <a:p>
            <a:pPr lvl="1"/>
            <a:r>
              <a:rPr lang="zh-CN" altLang="en-US"/>
              <a:t>特点</a:t>
            </a:r>
          </a:p>
          <a:p>
            <a:pPr lvl="2"/>
            <a:r>
              <a:rPr lang="zh-CN" altLang="en-US"/>
              <a:t>管理模式变为多层</a:t>
            </a:r>
          </a:p>
          <a:p>
            <a:pPr lvl="1"/>
            <a:r>
              <a:rPr lang="zh-CN" altLang="en-US"/>
              <a:t>任务</a:t>
            </a:r>
            <a:endParaRPr lang="en-US" altLang="zh-CN"/>
          </a:p>
          <a:p>
            <a:pPr lvl="2"/>
            <a:r>
              <a:rPr lang="zh-CN" altLang="en-US"/>
              <a:t>收集传感器节点的信息</a:t>
            </a:r>
            <a:endParaRPr lang="en-US" altLang="zh-CN"/>
          </a:p>
          <a:p>
            <a:pPr lvl="2"/>
            <a:r>
              <a:rPr lang="zh-CN" altLang="en-US"/>
              <a:t>执行数据协议转换（例：</a:t>
            </a:r>
            <a:r>
              <a:rPr lang="en-US" altLang="zh-CN"/>
              <a:t>Zigbee-Wifi</a:t>
            </a:r>
            <a:r>
              <a:rPr lang="zh-CN" altLang="en-US"/>
              <a:t>）</a:t>
            </a:r>
            <a:endParaRPr lang="en-US" altLang="zh-CN"/>
          </a:p>
          <a:p>
            <a:pPr lvl="2"/>
            <a:r>
              <a:rPr lang="zh-CN" altLang="en-US"/>
              <a:t>将协议转换后的数据快速地发送</a:t>
            </a:r>
            <a:endParaRPr lang="en-US" altLang="zh-CN"/>
          </a:p>
          <a:p>
            <a:pPr lvl="2"/>
            <a:r>
              <a:rPr lang="zh-CN" altLang="en-US"/>
              <a:t>管理和控制能力（本地</a:t>
            </a:r>
            <a:r>
              <a:rPr lang="en-US" altLang="zh-CN"/>
              <a:t>&amp;</a:t>
            </a:r>
            <a:r>
              <a:rPr lang="zh-CN" altLang="en-US"/>
              <a:t>远程）：直接对单一设备进行控制</a:t>
            </a:r>
          </a:p>
          <a:p>
            <a:endParaRPr lang="zh-CN" altLang="en-US"/>
          </a:p>
          <a:p>
            <a:endParaRPr lang="zh-CN" altLang="en-US" dirty="0"/>
          </a:p>
        </p:txBody>
      </p:sp>
      <p:sp>
        <p:nvSpPr>
          <p:cNvPr id="5" name="灯片编号占位符 4">
            <a:extLst>
              <a:ext uri="{FF2B5EF4-FFF2-40B4-BE49-F238E27FC236}">
                <a16:creationId xmlns:a16="http://schemas.microsoft.com/office/drawing/2014/main" id="{D0622828-4501-4FE3-A09C-DD19781FA5E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4023838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管理方式</a:t>
            </a:r>
          </a:p>
        </p:txBody>
      </p:sp>
      <p:sp>
        <p:nvSpPr>
          <p:cNvPr id="3" name="内容占位符 2"/>
          <p:cNvSpPr>
            <a:spLocks noGrp="1"/>
          </p:cNvSpPr>
          <p:nvPr>
            <p:ph idx="1"/>
          </p:nvPr>
        </p:nvSpPr>
        <p:spPr>
          <a:xfrm>
            <a:off x="457201" y="990600"/>
            <a:ext cx="4800854" cy="5410200"/>
          </a:xfrm>
        </p:spPr>
        <p:txBody>
          <a:bodyPr/>
          <a:lstStyle/>
          <a:p>
            <a:pPr>
              <a:spcBef>
                <a:spcPts val="0"/>
              </a:spcBef>
            </a:pPr>
            <a:r>
              <a:rPr lang="zh-CN" altLang="en-US" dirty="0"/>
              <a:t>直接管理</a:t>
            </a:r>
            <a:endParaRPr lang="en-US" altLang="zh-CN" dirty="0"/>
          </a:p>
          <a:p>
            <a:pPr lvl="1">
              <a:spcBef>
                <a:spcPts val="0"/>
              </a:spcBef>
            </a:pPr>
            <a:r>
              <a:rPr lang="zh-CN" altLang="en-US" dirty="0"/>
              <a:t>用户通过云直接向设备发送指令</a:t>
            </a:r>
            <a:endParaRPr lang="en-US" altLang="zh-CN" dirty="0"/>
          </a:p>
          <a:p>
            <a:pPr lvl="1">
              <a:spcBef>
                <a:spcPts val="0"/>
              </a:spcBef>
            </a:pPr>
            <a:r>
              <a:rPr lang="zh-CN" altLang="en-US" dirty="0"/>
              <a:t>特点</a:t>
            </a:r>
          </a:p>
          <a:p>
            <a:pPr lvl="2">
              <a:spcBef>
                <a:spcPts val="0"/>
              </a:spcBef>
            </a:pPr>
            <a:r>
              <a:rPr lang="zh-CN" altLang="en-US" dirty="0"/>
              <a:t>遵循请求</a:t>
            </a:r>
            <a:r>
              <a:rPr lang="en-US" altLang="zh-CN" dirty="0"/>
              <a:t>-</a:t>
            </a:r>
            <a:r>
              <a:rPr lang="zh-CN" altLang="en-US" dirty="0"/>
              <a:t>响应模式</a:t>
            </a:r>
          </a:p>
          <a:p>
            <a:pPr lvl="2">
              <a:spcBef>
                <a:spcPts val="0"/>
              </a:spcBef>
            </a:pPr>
            <a:r>
              <a:rPr lang="zh-CN" altLang="en-US" dirty="0"/>
              <a:t>用于需要得到立即确认结果的场景</a:t>
            </a:r>
            <a:endParaRPr lang="en-US" altLang="zh-CN" dirty="0"/>
          </a:p>
          <a:p>
            <a:pPr lvl="2">
              <a:spcBef>
                <a:spcPts val="0"/>
              </a:spcBef>
            </a:pPr>
            <a:r>
              <a:rPr lang="zh-CN" altLang="en-US" dirty="0"/>
              <a:t>设备离线状态，可能造成管理失效</a:t>
            </a:r>
          </a:p>
          <a:p>
            <a:pPr>
              <a:spcBef>
                <a:spcPts val="0"/>
              </a:spcBef>
            </a:pPr>
            <a:r>
              <a:rPr lang="zh-CN" altLang="en-US" dirty="0"/>
              <a:t>设备影子</a:t>
            </a:r>
            <a:endParaRPr lang="en-US" altLang="zh-CN" dirty="0"/>
          </a:p>
          <a:p>
            <a:pPr lvl="1">
              <a:spcBef>
                <a:spcPts val="0"/>
              </a:spcBef>
            </a:pPr>
            <a:r>
              <a:rPr lang="zh-CN" altLang="en-US" dirty="0"/>
              <a:t>利用设备的持久虚拟版（包含设备的最新状态）管理设备</a:t>
            </a:r>
          </a:p>
          <a:p>
            <a:pPr lvl="1">
              <a:spcBef>
                <a:spcPts val="0"/>
              </a:spcBef>
            </a:pPr>
            <a:r>
              <a:rPr lang="zh-CN" altLang="en-US" dirty="0"/>
              <a:t>特点</a:t>
            </a:r>
          </a:p>
          <a:p>
            <a:pPr lvl="2">
              <a:spcBef>
                <a:spcPts val="0"/>
              </a:spcBef>
            </a:pPr>
            <a:r>
              <a:rPr lang="en-US" altLang="zh-CN" dirty="0"/>
              <a:t>IoT</a:t>
            </a:r>
            <a:r>
              <a:rPr lang="zh-CN" altLang="en-US" dirty="0"/>
              <a:t>云平台将主动比较用户设置的设备期望状态和设备最近报告状态之间的差异并进行相应设置</a:t>
            </a:r>
          </a:p>
          <a:p>
            <a:pPr lvl="2">
              <a:spcBef>
                <a:spcPts val="0"/>
              </a:spcBef>
            </a:pPr>
            <a:r>
              <a:rPr lang="zh-CN" altLang="en-US" dirty="0"/>
              <a:t>即便离线，也可设置设备未来的期望状态，并在设备在线时实时生效</a:t>
            </a:r>
          </a:p>
        </p:txBody>
      </p:sp>
      <p:pic>
        <p:nvPicPr>
          <p:cNvPr id="4" name="图片 5" descr="图片包含 屏幕截图&#10;&#10;已生成极高可信度的说明"/>
          <p:cNvPicPr>
            <a:picLocks noChangeAspect="1"/>
          </p:cNvPicPr>
          <p:nvPr/>
        </p:nvPicPr>
        <p:blipFill>
          <a:blip r:embed="rId2"/>
          <a:stretch>
            <a:fillRect/>
          </a:stretch>
        </p:blipFill>
        <p:spPr>
          <a:xfrm>
            <a:off x="5553520" y="1104900"/>
            <a:ext cx="3315358" cy="1996260"/>
          </a:xfrm>
          <a:prstGeom prst="rect">
            <a:avLst/>
          </a:prstGeom>
        </p:spPr>
      </p:pic>
      <p:pic>
        <p:nvPicPr>
          <p:cNvPr id="7" name="图片 5" descr="图片包含 屏幕截图&#10;&#10;已生成极高可信度的说明">
            <a:extLst>
              <a:ext uri="{FF2B5EF4-FFF2-40B4-BE49-F238E27FC236}">
                <a16:creationId xmlns:a16="http://schemas.microsoft.com/office/drawing/2014/main" id="{21EB9F7D-C08A-4FF7-B806-0CC7649279A5}"/>
              </a:ext>
            </a:extLst>
          </p:cNvPr>
          <p:cNvPicPr>
            <a:picLocks noChangeAspect="1"/>
          </p:cNvPicPr>
          <p:nvPr/>
        </p:nvPicPr>
        <p:blipFill>
          <a:blip r:embed="rId3"/>
          <a:stretch>
            <a:fillRect/>
          </a:stretch>
        </p:blipFill>
        <p:spPr>
          <a:xfrm>
            <a:off x="5258055" y="3491965"/>
            <a:ext cx="3885945" cy="3023135"/>
          </a:xfrm>
          <a:prstGeom prst="rect">
            <a:avLst/>
          </a:prstGeom>
        </p:spPr>
      </p:pic>
      <p:sp>
        <p:nvSpPr>
          <p:cNvPr id="8" name="灯片编号占位符 4">
            <a:extLst>
              <a:ext uri="{FF2B5EF4-FFF2-40B4-BE49-F238E27FC236}">
                <a16:creationId xmlns:a16="http://schemas.microsoft.com/office/drawing/2014/main" id="{B242C274-11F4-4C5F-98C3-A217EA6BDA2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管理服务</a:t>
            </a:r>
          </a:p>
        </p:txBody>
      </p:sp>
      <p:sp>
        <p:nvSpPr>
          <p:cNvPr id="3" name="内容占位符 2"/>
          <p:cNvSpPr>
            <a:spLocks noGrp="1"/>
          </p:cNvSpPr>
          <p:nvPr>
            <p:ph idx="1"/>
          </p:nvPr>
        </p:nvSpPr>
        <p:spPr/>
        <p:txBody>
          <a:bodyPr/>
          <a:lstStyle/>
          <a:p>
            <a:r>
              <a:rPr lang="en-US" altLang="zh-CN"/>
              <a:t>OTA</a:t>
            </a:r>
            <a:r>
              <a:rPr lang="zh-CN" altLang="en-US"/>
              <a:t>升级</a:t>
            </a:r>
            <a:endParaRPr lang="en-US" altLang="zh-CN"/>
          </a:p>
          <a:p>
            <a:pPr lvl="1"/>
            <a:r>
              <a:rPr lang="zh-CN" altLang="en-US"/>
              <a:t>空中</a:t>
            </a:r>
            <a:r>
              <a:rPr lang="en-US" altLang="zh-CN"/>
              <a:t>(Over the Air)</a:t>
            </a:r>
            <a:r>
              <a:rPr lang="zh-CN" altLang="en-US"/>
              <a:t>升级技术，在线检测设备是否需要升级并管理升级过程</a:t>
            </a:r>
            <a:endParaRPr lang="en-US" altLang="zh-CN"/>
          </a:p>
          <a:p>
            <a:endParaRPr lang="zh-CN" altLang="en-US"/>
          </a:p>
          <a:p>
            <a:r>
              <a:rPr lang="zh-CN" altLang="en-US"/>
              <a:t>具体过程</a:t>
            </a:r>
          </a:p>
          <a:p>
            <a:pPr lvl="1"/>
            <a:r>
              <a:rPr lang="zh-CN" altLang="en-US"/>
              <a:t>云端会记录固件当前版本号。设备固件版本号需要在系统启动时上报，不需要周期循环上报</a:t>
            </a:r>
          </a:p>
          <a:p>
            <a:pPr lvl="1"/>
            <a:r>
              <a:rPr lang="zh-CN" altLang="en-US"/>
              <a:t>根据固件当前的版本号及最新发布的固件版本号来判断需要升级</a:t>
            </a:r>
            <a:endParaRPr lang="en-US" altLang="zh-CN"/>
          </a:p>
          <a:p>
            <a:pPr lvl="1"/>
            <a:r>
              <a:rPr lang="zh-CN" altLang="en-US"/>
              <a:t>固件升级后主动上报升级后的版本号，由此云端可以判断升级是否成功</a:t>
            </a:r>
          </a:p>
          <a:p>
            <a:endParaRPr lang="zh-CN" altLang="en-US"/>
          </a:p>
          <a:p>
            <a:endParaRPr lang="zh-CN" altLang="en-US" dirty="0"/>
          </a:p>
        </p:txBody>
      </p:sp>
      <p:sp>
        <p:nvSpPr>
          <p:cNvPr id="4" name="灯片编号占位符 4">
            <a:extLst>
              <a:ext uri="{FF2B5EF4-FFF2-40B4-BE49-F238E27FC236}">
                <a16:creationId xmlns:a16="http://schemas.microsoft.com/office/drawing/2014/main" id="{7DE9B3A1-479C-4AA9-8EDC-50D8CC97630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管理服务</a:t>
            </a:r>
          </a:p>
        </p:txBody>
      </p:sp>
      <mc:AlternateContent xmlns:mc="http://schemas.openxmlformats.org/markup-compatibility/2006" xmlns:a14="http://schemas.microsoft.com/office/drawing/2010/main">
        <mc:Choice Requires="a14">
          <p:sp>
            <p:nvSpPr>
              <p:cNvPr id="2" name="内容占位符 1">
                <a:extLst/>
              </p:cNvPr>
              <p:cNvSpPr>
                <a:spLocks noGrp="1"/>
              </p:cNvSpPr>
              <p:nvPr>
                <p:ph idx="1"/>
              </p:nvPr>
            </p:nvSpPr>
            <p:spPr/>
            <p:txBody>
              <a:bodyPr/>
              <a:lstStyle/>
              <a:p>
                <a:r>
                  <a:rPr lang="en-US" altLang="zh-CN" dirty="0"/>
                  <a:t>OTA</a:t>
                </a:r>
                <a:r>
                  <a:rPr lang="zh-CN" altLang="en-US" dirty="0"/>
                  <a:t>升级中的差分计算</a:t>
                </a:r>
                <a:endParaRPr lang="en-US" altLang="zh-CN" dirty="0"/>
              </a:p>
              <a:p>
                <a:pPr lvl="1"/>
                <a:r>
                  <a:rPr lang="zh-CN" altLang="en-US" dirty="0"/>
                  <a:t>差分文件格式</a:t>
                </a:r>
                <a:endParaRPr lang="en-US" altLang="zh-CN" dirty="0"/>
              </a:p>
              <a:p>
                <a:pPr lvl="2"/>
                <a:r>
                  <a:rPr lang="zh-CN" altLang="en-US" dirty="0"/>
                  <a:t>拷贝命令</a:t>
                </a:r>
                <a:r>
                  <a:rPr lang="en-US" altLang="zh-CN" dirty="0"/>
                  <a:t> (cost = </a:t>
                </a:r>
                <a:r>
                  <a:rPr lang="el-GR" altLang="zh-CN" dirty="0"/>
                  <a:t>β</a:t>
                </a:r>
                <a:r>
                  <a:rPr lang="en-US" altLang="zh-CN" dirty="0"/>
                  <a:t> = 5)</a:t>
                </a:r>
              </a:p>
              <a:p>
                <a:pPr marL="457200" lvl="1" indent="0">
                  <a:buNone/>
                </a:pPr>
                <a:r>
                  <a:rPr lang="en-US" altLang="zh-CN" dirty="0"/>
                  <a:t>             COPY1  &lt;n&gt;2   &lt;</a:t>
                </a:r>
                <a:r>
                  <a:rPr lang="en-US" altLang="zh-CN" dirty="0" err="1"/>
                  <a:t>old_addr</a:t>
                </a:r>
                <a:r>
                  <a:rPr lang="en-US" altLang="zh-CN" dirty="0"/>
                  <a:t>&gt;2</a:t>
                </a:r>
              </a:p>
              <a:p>
                <a:pPr lvl="2"/>
                <a:r>
                  <a:rPr lang="zh-CN" altLang="en-US" dirty="0"/>
                  <a:t>添加命令</a:t>
                </a:r>
                <a:r>
                  <a:rPr lang="en-US" altLang="zh-CN" dirty="0"/>
                  <a:t> (cost = α+n =3+n)</a:t>
                </a:r>
              </a:p>
              <a:p>
                <a:pPr marL="0" indent="0">
                  <a:buNone/>
                </a:pPr>
                <a:r>
                  <a:rPr lang="en-US" altLang="zh-CN" dirty="0"/>
                  <a:t>               ADD1  &lt;n&gt;2  &lt;BYTE1 ... </a:t>
                </a:r>
                <a:r>
                  <a:rPr lang="en-US" altLang="zh-CN" dirty="0" err="1"/>
                  <a:t>BYTEn</a:t>
                </a:r>
                <a:r>
                  <a:rPr lang="en-US" altLang="zh-CN" dirty="0"/>
                  <a:t>&gt;n</a:t>
                </a:r>
              </a:p>
              <a:p>
                <a:endParaRPr lang="en-US" altLang="zh-CN" dirty="0"/>
              </a:p>
              <a:p>
                <a:pPr lvl="1"/>
                <a:r>
                  <a:rPr lang="zh-CN" altLang="en-US" dirty="0"/>
                  <a:t>差分算法</a:t>
                </a:r>
                <a:endParaRPr lang="en-US" altLang="zh-CN" dirty="0"/>
              </a:p>
              <a:p>
                <a:pPr lvl="2"/>
                <a:r>
                  <a:rPr lang="zh-CN" altLang="en-US" dirty="0"/>
                  <a:t>问题：要实现增量最小化需要拷贝或添加多少个字节？</a:t>
                </a:r>
                <a:endParaRPr lang="en-US" altLang="zh-HK" dirty="0"/>
              </a:p>
              <a:p>
                <a:pPr lvl="2"/>
                <a:r>
                  <a:rPr lang="en-US" altLang="zh-HK" dirty="0"/>
                  <a:t>R3diff: </a:t>
                </a:r>
                <a:r>
                  <a:rPr lang="zh-CN" altLang="en-US" dirty="0"/>
                  <a:t>此算法的最差时间复杂度为</a:t>
                </a:r>
                <a14:m>
                  <m:oMath xmlns:m="http://schemas.openxmlformats.org/officeDocument/2006/math">
                    <m:r>
                      <a:rPr lang="en-US" altLang="zh-HK" dirty="0">
                        <a:latin typeface="Cambria Math" panose="02040503050406030204" pitchFamily="18" charset="0"/>
                      </a:rPr>
                      <m:t>𝑂</m:t>
                    </m:r>
                    <m:r>
                      <a:rPr lang="en-US" altLang="zh-HK" dirty="0">
                        <a:latin typeface="Cambria Math" panose="02040503050406030204" pitchFamily="18" charset="0"/>
                      </a:rPr>
                      <m:t>(</m:t>
                    </m:r>
                    <m:sSup>
                      <m:sSupPr>
                        <m:ctrlPr>
                          <a:rPr lang="en-US" altLang="zh-HK" i="1" dirty="0">
                            <a:latin typeface="Cambria Math" panose="02040503050406030204" pitchFamily="18" charset="0"/>
                          </a:rPr>
                        </m:ctrlPr>
                      </m:sSupPr>
                      <m:e>
                        <m:r>
                          <a:rPr lang="en-US" altLang="zh-HK" dirty="0">
                            <a:latin typeface="Cambria Math" panose="02040503050406030204" pitchFamily="18" charset="0"/>
                          </a:rPr>
                          <m:t>𝑛</m:t>
                        </m:r>
                      </m:e>
                      <m:sup>
                        <m:r>
                          <a:rPr lang="en-US" altLang="zh-HK" dirty="0">
                            <a:latin typeface="Cambria Math" panose="02040503050406030204" pitchFamily="18" charset="0"/>
                          </a:rPr>
                          <m:t>3</m:t>
                        </m:r>
                      </m:sup>
                    </m:sSup>
                    <m:r>
                      <a:rPr lang="en-US" altLang="zh-HK" dirty="0">
                        <a:latin typeface="Cambria Math" panose="02040503050406030204" pitchFamily="18" charset="0"/>
                      </a:rPr>
                      <m:t>)</m:t>
                    </m:r>
                  </m:oMath>
                </a14:m>
                <a:r>
                  <a:rPr lang="en-US" altLang="zh-HK" dirty="0"/>
                  <a:t>, </a:t>
                </a:r>
                <a:r>
                  <a:rPr lang="zh-CN" altLang="en-US" dirty="0"/>
                  <a:t>平均时间复杂度为</a:t>
                </a:r>
                <a14:m>
                  <m:oMath xmlns:m="http://schemas.openxmlformats.org/officeDocument/2006/math">
                    <m:r>
                      <a:rPr lang="en-US" altLang="zh-HK" dirty="0">
                        <a:latin typeface="Cambria Math" panose="02040503050406030204" pitchFamily="18" charset="0"/>
                      </a:rPr>
                      <m:t>𝑂</m:t>
                    </m:r>
                    <m:r>
                      <a:rPr lang="en-US" altLang="zh-HK" dirty="0">
                        <a:latin typeface="Cambria Math" panose="02040503050406030204" pitchFamily="18" charset="0"/>
                      </a:rPr>
                      <m:t>(</m:t>
                    </m:r>
                    <m:sSup>
                      <m:sSupPr>
                        <m:ctrlPr>
                          <a:rPr lang="en-US" altLang="zh-HK" i="1" dirty="0">
                            <a:latin typeface="Cambria Math" panose="02040503050406030204" pitchFamily="18" charset="0"/>
                          </a:rPr>
                        </m:ctrlPr>
                      </m:sSupPr>
                      <m:e>
                        <m:r>
                          <a:rPr lang="en-US" altLang="zh-HK" dirty="0">
                            <a:latin typeface="Cambria Math" panose="02040503050406030204" pitchFamily="18" charset="0"/>
                          </a:rPr>
                          <m:t>𝑛</m:t>
                        </m:r>
                      </m:e>
                      <m:sup>
                        <m:r>
                          <a:rPr lang="en-US" altLang="zh-HK" dirty="0">
                            <a:latin typeface="Cambria Math" panose="02040503050406030204" pitchFamily="18" charset="0"/>
                          </a:rPr>
                          <m:t>2</m:t>
                        </m:r>
                      </m:sup>
                    </m:sSup>
                    <m:r>
                      <a:rPr lang="en-US" altLang="zh-HK" dirty="0">
                        <a:latin typeface="Cambria Math" panose="02040503050406030204" pitchFamily="18" charset="0"/>
                      </a:rPr>
                      <m:t>)</m:t>
                    </m:r>
                  </m:oMath>
                </a14:m>
                <a:r>
                  <a:rPr lang="en-US" altLang="zh-HK" dirty="0"/>
                  <a:t>. </a:t>
                </a:r>
                <a:r>
                  <a:rPr lang="zh-CN" altLang="en-US" dirty="0"/>
                  <a:t>空间复杂度为</a:t>
                </a:r>
                <a14:m>
                  <m:oMath xmlns:m="http://schemas.openxmlformats.org/officeDocument/2006/math">
                    <m:r>
                      <a:rPr lang="en-US" altLang="zh-HK" dirty="0">
                        <a:latin typeface="Cambria Math" panose="02040503050406030204" pitchFamily="18" charset="0"/>
                      </a:rPr>
                      <m:t>𝑂</m:t>
                    </m:r>
                    <m:r>
                      <a:rPr lang="en-US" altLang="zh-HK" dirty="0">
                        <a:latin typeface="Cambria Math" panose="02040503050406030204" pitchFamily="18" charset="0"/>
                      </a:rPr>
                      <m:t>(</m:t>
                    </m:r>
                    <m:r>
                      <a:rPr lang="en-US" altLang="zh-HK" dirty="0">
                        <a:latin typeface="Cambria Math" panose="02040503050406030204" pitchFamily="18" charset="0"/>
                      </a:rPr>
                      <m:t>𝑛</m:t>
                    </m:r>
                    <m:r>
                      <a:rPr lang="en-US" altLang="zh-HK" dirty="0">
                        <a:latin typeface="Cambria Math" panose="02040503050406030204" pitchFamily="18" charset="0"/>
                      </a:rPr>
                      <m:t>)</m:t>
                    </m:r>
                  </m:oMath>
                </a14:m>
                <a:r>
                  <a:rPr lang="en-US" altLang="zh-HK" dirty="0"/>
                  <a:t>.</a:t>
                </a:r>
                <a:endParaRPr lang="zh-HK" altLang="en-US" dirty="0"/>
              </a:p>
              <a:p>
                <a:pPr lvl="1"/>
                <a:endParaRPr lang="en-US" altLang="zh-CN" dirty="0"/>
              </a:p>
            </p:txBody>
          </p:sp>
        </mc:Choice>
        <mc:Fallback xmlns="">
          <p:sp>
            <p:nvSpPr>
              <p:cNvPr id="2" name="内容占位符 1">
                <a:extLst/>
              </p:cNvPr>
              <p:cNvSpPr>
                <a:spLocks noGrp="1" noRot="1" noChangeAspect="1" noMove="1" noResize="1" noEditPoints="1" noAdjustHandles="1" noChangeArrowheads="1" noChangeShapeType="1" noTextEdit="1"/>
              </p:cNvSpPr>
              <p:nvPr>
                <p:ph idx="1"/>
              </p:nvPr>
            </p:nvSpPr>
            <p:spPr>
              <a:blipFill>
                <a:blip r:embed="rId2"/>
                <a:stretch>
                  <a:fillRect l="-954" t="-225"/>
                </a:stretch>
              </a:blipFill>
            </p:spPr>
            <p:txBody>
              <a:bodyPr/>
              <a:lstStyle/>
              <a:p>
                <a:r>
                  <a:rPr lang="zh-CN" altLang="en-US">
                    <a:noFill/>
                  </a:rPr>
                  <a:t> </a:t>
                </a:r>
              </a:p>
            </p:txBody>
          </p:sp>
        </mc:Fallback>
      </mc:AlternateContent>
      <p:sp>
        <p:nvSpPr>
          <p:cNvPr id="4" name="矩形 5"/>
          <p:cNvSpPr/>
          <p:nvPr/>
        </p:nvSpPr>
        <p:spPr>
          <a:xfrm>
            <a:off x="0" y="6208067"/>
            <a:ext cx="9134061" cy="461665"/>
          </a:xfrm>
          <a:prstGeom prst="rect">
            <a:avLst/>
          </a:prstGeom>
        </p:spPr>
        <p:txBody>
          <a:bodyPr wrap="square">
            <a:spAutoFit/>
          </a:bodyPr>
          <a:lstStyle/>
          <a:p>
            <a:r>
              <a:rPr lang="en-GB" altLang="zh-CN" sz="1800" i="1" dirty="0">
                <a:solidFill>
                  <a:srgbClr val="222222"/>
                </a:solidFill>
              </a:rPr>
              <a:t>Dong W, Chen C, Bu J, et al. Optimizing relocatable code for efficient software update in networked embedded systems[J]. ACM Transactions on Sensor Networks (TOSN), 2015, 11(2): 22.</a:t>
            </a:r>
            <a:r>
              <a:rPr lang="en-US" altLang="zh-CN" sz="1800" i="1" dirty="0">
                <a:solidFill>
                  <a:srgbClr val="222222"/>
                </a:solidFill>
              </a:rPr>
              <a:t>v</a:t>
            </a:r>
            <a:endParaRPr lang="zh-CN" altLang="en-US" sz="1800" i="1" dirty="0"/>
          </a:p>
        </p:txBody>
      </p:sp>
      <p:sp>
        <p:nvSpPr>
          <p:cNvPr id="7" name="灯片编号占位符 4">
            <a:extLst>
              <a:ext uri="{FF2B5EF4-FFF2-40B4-BE49-F238E27FC236}">
                <a16:creationId xmlns:a16="http://schemas.microsoft.com/office/drawing/2014/main" id="{DC379050-6F86-40F4-8C04-4B161F4DF11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管理服务</a:t>
            </a:r>
          </a:p>
        </p:txBody>
      </p:sp>
      <p:sp>
        <p:nvSpPr>
          <p:cNvPr id="3" name="内容占位符 2"/>
          <p:cNvSpPr>
            <a:spLocks noGrp="1"/>
          </p:cNvSpPr>
          <p:nvPr>
            <p:ph idx="1"/>
          </p:nvPr>
        </p:nvSpPr>
        <p:spPr/>
        <p:txBody>
          <a:bodyPr/>
          <a:lstStyle/>
          <a:p>
            <a:r>
              <a:rPr lang="en-US" altLang="zh-CN" dirty="0"/>
              <a:t>OTA</a:t>
            </a:r>
            <a:r>
              <a:rPr lang="zh-CN" altLang="en-US" dirty="0"/>
              <a:t>升级中的安全问题</a:t>
            </a:r>
            <a:endParaRPr lang="en-US" altLang="zh-CN" dirty="0"/>
          </a:p>
          <a:p>
            <a:pPr lvl="1"/>
            <a:r>
              <a:rPr lang="zh-CN" altLang="en-US" dirty="0"/>
              <a:t>百度</a:t>
            </a:r>
            <a:r>
              <a:rPr lang="en-US" altLang="zh-CN" dirty="0"/>
              <a:t>AI</a:t>
            </a:r>
            <a:r>
              <a:rPr lang="zh-CN" altLang="en-US" dirty="0"/>
              <a:t>团队</a:t>
            </a:r>
            <a:r>
              <a:rPr lang="en-US" altLang="zh-CN" dirty="0"/>
              <a:t>OTA</a:t>
            </a:r>
            <a:r>
              <a:rPr lang="zh-CN" altLang="en-US" dirty="0"/>
              <a:t>安全评估</a:t>
            </a:r>
            <a:endParaRPr lang="en-US" altLang="zh-CN" dirty="0"/>
          </a:p>
          <a:p>
            <a:pPr lvl="2"/>
            <a:r>
              <a:rPr lang="en-US" altLang="zh-CN" dirty="0"/>
              <a:t>95%</a:t>
            </a:r>
            <a:r>
              <a:rPr lang="zh-CN" altLang="en-US" dirty="0"/>
              <a:t>设备未能保护</a:t>
            </a:r>
            <a:r>
              <a:rPr lang="en-US" altLang="zh-CN" dirty="0"/>
              <a:t>OTA</a:t>
            </a:r>
            <a:r>
              <a:rPr lang="zh-CN" altLang="en-US" dirty="0"/>
              <a:t>升级包的数据内容</a:t>
            </a:r>
          </a:p>
          <a:p>
            <a:pPr lvl="2"/>
            <a:r>
              <a:rPr lang="en-US" altLang="zh-CN" dirty="0"/>
              <a:t>90%</a:t>
            </a:r>
            <a:r>
              <a:rPr lang="zh-CN" altLang="en-US" dirty="0"/>
              <a:t>设备无法抵御通信过程中的中间人攻击</a:t>
            </a:r>
          </a:p>
          <a:p>
            <a:pPr lvl="2"/>
            <a:r>
              <a:rPr lang="en-US" altLang="zh-CN" dirty="0"/>
              <a:t>61%</a:t>
            </a:r>
            <a:r>
              <a:rPr lang="zh-CN" altLang="en-US" dirty="0"/>
              <a:t>设备可强制将系统</a:t>
            </a:r>
            <a:r>
              <a:rPr lang="en-US" altLang="zh-CN" dirty="0"/>
              <a:t>/APP</a:t>
            </a:r>
            <a:r>
              <a:rPr lang="zh-CN" altLang="en-US" dirty="0"/>
              <a:t>版本降级至低版本</a:t>
            </a:r>
            <a:endParaRPr lang="en-US" altLang="zh-CN" dirty="0"/>
          </a:p>
          <a:p>
            <a:pPr lvl="2"/>
            <a:endParaRPr lang="en-US" altLang="zh-CN" dirty="0"/>
          </a:p>
          <a:p>
            <a:r>
              <a:rPr lang="zh-CN" altLang="en-US" dirty="0"/>
              <a:t>解决方式</a:t>
            </a:r>
            <a:endParaRPr lang="en-US" altLang="zh-CN" dirty="0"/>
          </a:p>
          <a:p>
            <a:pPr lvl="1"/>
            <a:r>
              <a:rPr lang="zh-CN" altLang="en-US" dirty="0"/>
              <a:t>签名校验、双向认证、升级包加密、通讯安全防护</a:t>
            </a:r>
          </a:p>
          <a:p>
            <a:pPr lvl="1"/>
            <a:endParaRPr lang="zh-CN" altLang="en-US" dirty="0"/>
          </a:p>
        </p:txBody>
      </p:sp>
      <p:sp>
        <p:nvSpPr>
          <p:cNvPr id="4" name="灯片编号占位符 4">
            <a:extLst>
              <a:ext uri="{FF2B5EF4-FFF2-40B4-BE49-F238E27FC236}">
                <a16:creationId xmlns:a16="http://schemas.microsoft.com/office/drawing/2014/main" id="{AC15E848-0DD1-480F-91F5-9908FE7C70B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D558B4-4F78-44A9-9C3D-B71FE96FAD26}"/>
              </a:ext>
            </a:extLst>
          </p:cNvPr>
          <p:cNvSpPr>
            <a:spLocks noGrp="1"/>
          </p:cNvSpPr>
          <p:nvPr>
            <p:ph type="title"/>
          </p:nvPr>
        </p:nvSpPr>
        <p:spPr/>
        <p:txBody>
          <a:bodyPr/>
          <a:lstStyle/>
          <a:p>
            <a:r>
              <a:rPr lang="zh-CN" altLang="en-US"/>
              <a:t>思考题</a:t>
            </a:r>
            <a:endParaRPr lang="zh-CN" altLang="en-US" dirty="0"/>
          </a:p>
        </p:txBody>
      </p:sp>
      <p:sp>
        <p:nvSpPr>
          <p:cNvPr id="3" name="内容占位符 2">
            <a:extLst>
              <a:ext uri="{FF2B5EF4-FFF2-40B4-BE49-F238E27FC236}">
                <a16:creationId xmlns:a16="http://schemas.microsoft.com/office/drawing/2014/main" id="{DFE1D311-BC01-4092-9AEA-AEEAD50F0DE0}"/>
              </a:ext>
            </a:extLst>
          </p:cNvPr>
          <p:cNvSpPr>
            <a:spLocks noGrp="1"/>
          </p:cNvSpPr>
          <p:nvPr>
            <p:ph idx="1"/>
          </p:nvPr>
        </p:nvSpPr>
        <p:spPr/>
        <p:txBody>
          <a:bodyPr/>
          <a:lstStyle/>
          <a:p>
            <a:r>
              <a:rPr lang="zh-CN" altLang="en-US"/>
              <a:t>设备管理主要管理哪些内容？请至少举出</a:t>
            </a:r>
            <a:r>
              <a:rPr lang="en-US" altLang="zh-CN"/>
              <a:t>5</a:t>
            </a:r>
            <a:r>
              <a:rPr lang="zh-CN" altLang="en-US"/>
              <a:t>个例子。</a:t>
            </a:r>
            <a:endParaRPr lang="en-US" altLang="zh-CN"/>
          </a:p>
          <a:p>
            <a:endParaRPr lang="zh-CN" altLang="en-US" dirty="0"/>
          </a:p>
        </p:txBody>
      </p:sp>
    </p:spTree>
    <p:extLst>
      <p:ext uri="{BB962C8B-B14F-4D97-AF65-F5344CB8AC3E}">
        <p14:creationId xmlns:p14="http://schemas.microsoft.com/office/powerpoint/2010/main" val="221298684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t>设备连接</a:t>
            </a:r>
          </a:p>
          <a:p>
            <a:r>
              <a:rPr lang="zh-CN" altLang="en-US" dirty="0"/>
              <a:t>设备管理</a:t>
            </a:r>
          </a:p>
          <a:p>
            <a:r>
              <a:rPr lang="en-US" altLang="zh-CN" dirty="0">
                <a:solidFill>
                  <a:srgbClr val="C00000"/>
                </a:solidFill>
              </a:rPr>
              <a:t>IFTTT</a:t>
            </a:r>
            <a:r>
              <a:rPr lang="zh-CN" altLang="en-US" dirty="0">
                <a:solidFill>
                  <a:srgbClr val="C00000"/>
                </a:solidFill>
              </a:rPr>
              <a:t>与规则引擎</a:t>
            </a:r>
          </a:p>
          <a:p>
            <a:r>
              <a:rPr lang="zh-CN" altLang="en-US" dirty="0"/>
              <a:t>时序数据库与流计算</a:t>
            </a:r>
          </a:p>
          <a:p>
            <a:r>
              <a:rPr lang="zh-CN" altLang="en-US" dirty="0"/>
              <a:t>安全认证</a:t>
            </a:r>
          </a:p>
          <a:p>
            <a:r>
              <a:rPr lang="zh-CN" altLang="en-US" dirty="0"/>
              <a:t>无服务器计算</a:t>
            </a:r>
          </a:p>
          <a:p>
            <a:r>
              <a:rPr lang="zh-CN" altLang="en-US" dirty="0"/>
              <a:t>边缘计算</a:t>
            </a:r>
          </a:p>
          <a:p>
            <a:endParaRPr lang="zh-CN" altLang="en-US" dirty="0"/>
          </a:p>
        </p:txBody>
      </p:sp>
    </p:spTree>
    <p:extLst>
      <p:ext uri="{BB962C8B-B14F-4D97-AF65-F5344CB8AC3E}">
        <p14:creationId xmlns:p14="http://schemas.microsoft.com/office/powerpoint/2010/main" val="30210169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IFTTT</a:t>
            </a:r>
            <a:r>
              <a:rPr lang="zh-CN" altLang="en-US"/>
              <a:t>与规则引擎</a:t>
            </a:r>
            <a:endParaRPr lang="zh-CN" altLang="en-US" dirty="0"/>
          </a:p>
        </p:txBody>
      </p:sp>
      <p:sp>
        <p:nvSpPr>
          <p:cNvPr id="3" name="内容占位符 2"/>
          <p:cNvSpPr>
            <a:spLocks noGrp="1"/>
          </p:cNvSpPr>
          <p:nvPr>
            <p:ph idx="1"/>
          </p:nvPr>
        </p:nvSpPr>
        <p:spPr/>
        <p:txBody>
          <a:bodyPr/>
          <a:lstStyle/>
          <a:p>
            <a:pPr>
              <a:spcBef>
                <a:spcPts val="0"/>
              </a:spcBef>
            </a:pPr>
            <a:r>
              <a:rPr lang="en-US" altLang="zh-CN" dirty="0"/>
              <a:t>IFTTT: If This Then That</a:t>
            </a:r>
          </a:p>
          <a:p>
            <a:pPr lvl="1">
              <a:spcBef>
                <a:spcPts val="0"/>
              </a:spcBef>
            </a:pPr>
            <a:r>
              <a:rPr lang="zh-CN" altLang="en-US" dirty="0"/>
              <a:t>一种简单的基于条件语句的程序逻辑</a:t>
            </a:r>
            <a:endParaRPr lang="en-US" altLang="zh-CN" dirty="0"/>
          </a:p>
          <a:p>
            <a:pPr>
              <a:spcBef>
                <a:spcPts val="0"/>
              </a:spcBef>
            </a:pPr>
            <a:r>
              <a:rPr lang="en-US" altLang="zh-CN" dirty="0"/>
              <a:t>Ex1:</a:t>
            </a:r>
          </a:p>
          <a:p>
            <a:pPr lvl="1">
              <a:spcBef>
                <a:spcPts val="0"/>
              </a:spcBef>
            </a:pPr>
            <a:r>
              <a:rPr lang="en-US" altLang="zh-CN" b="1" dirty="0"/>
              <a:t>IF</a:t>
            </a:r>
            <a:r>
              <a:rPr lang="en-US" altLang="zh-CN" dirty="0"/>
              <a:t>   </a:t>
            </a:r>
            <a:r>
              <a:rPr lang="en-US" altLang="zh-CN" dirty="0" err="1"/>
              <a:t>soil_moisture</a:t>
            </a:r>
            <a:r>
              <a:rPr lang="en-US" altLang="zh-CN" dirty="0"/>
              <a:t> &lt;= threshold</a:t>
            </a:r>
          </a:p>
          <a:p>
            <a:pPr lvl="1">
              <a:spcBef>
                <a:spcPts val="0"/>
              </a:spcBef>
            </a:pPr>
            <a:r>
              <a:rPr lang="en-US" altLang="zh-CN" b="1" dirty="0"/>
              <a:t>THEN</a:t>
            </a:r>
            <a:r>
              <a:rPr lang="en-US" altLang="zh-CN" dirty="0"/>
              <a:t> start irrigation</a:t>
            </a:r>
          </a:p>
          <a:p>
            <a:pPr>
              <a:spcBef>
                <a:spcPts val="0"/>
              </a:spcBef>
            </a:pPr>
            <a:r>
              <a:rPr lang="en-US" altLang="zh-CN" dirty="0"/>
              <a:t>Ex2:</a:t>
            </a:r>
          </a:p>
          <a:p>
            <a:pPr lvl="1">
              <a:spcBef>
                <a:spcPts val="0"/>
              </a:spcBef>
            </a:pPr>
            <a:r>
              <a:rPr lang="en-US" altLang="zh-CN" b="1" dirty="0"/>
              <a:t>IF</a:t>
            </a:r>
            <a:r>
              <a:rPr lang="en-US" altLang="zh-CN" dirty="0"/>
              <a:t>   temp &gt;= threshold1 &amp;&amp; </a:t>
            </a:r>
            <a:br>
              <a:rPr lang="en-US" altLang="zh-CN" dirty="0"/>
            </a:br>
            <a:r>
              <a:rPr lang="en-US" altLang="zh-CN" dirty="0"/>
              <a:t>      humidity &lt;= threshold2</a:t>
            </a:r>
          </a:p>
          <a:p>
            <a:pPr lvl="1">
              <a:spcBef>
                <a:spcPts val="0"/>
              </a:spcBef>
            </a:pPr>
            <a:r>
              <a:rPr lang="en-US" altLang="zh-CN" b="1" dirty="0"/>
              <a:t>THEN</a:t>
            </a:r>
            <a:r>
              <a:rPr lang="en-US" altLang="zh-CN" dirty="0"/>
              <a:t> start alert</a:t>
            </a:r>
          </a:p>
          <a:p>
            <a:pPr>
              <a:spcBef>
                <a:spcPts val="0"/>
              </a:spcBef>
            </a:pPr>
            <a:r>
              <a:rPr lang="en-US" altLang="zh-CN" dirty="0"/>
              <a:t>IFTTT</a:t>
            </a:r>
            <a:r>
              <a:rPr lang="zh-CN" altLang="en-US" dirty="0"/>
              <a:t>特点</a:t>
            </a:r>
            <a:endParaRPr lang="en-US" altLang="zh-CN" dirty="0"/>
          </a:p>
          <a:p>
            <a:pPr lvl="1">
              <a:spcBef>
                <a:spcPts val="0"/>
              </a:spcBef>
            </a:pPr>
            <a:r>
              <a:rPr lang="zh-CN" altLang="en-US" dirty="0"/>
              <a:t>可以通过简单的条件语句表达多种应用逻辑</a:t>
            </a:r>
            <a:endParaRPr lang="en-US" altLang="zh-CN" dirty="0"/>
          </a:p>
          <a:p>
            <a:pPr lvl="1">
              <a:spcBef>
                <a:spcPts val="0"/>
              </a:spcBef>
            </a:pPr>
            <a:r>
              <a:rPr lang="zh-CN" altLang="en-US" dirty="0"/>
              <a:t>一般在云端执行，可以解耦设备端代码和应用逻辑</a:t>
            </a:r>
            <a:endParaRPr lang="en-US" altLang="zh-CN" dirty="0"/>
          </a:p>
          <a:p>
            <a:pPr lvl="1">
              <a:spcBef>
                <a:spcPts val="0"/>
              </a:spcBef>
            </a:pPr>
            <a:r>
              <a:rPr lang="zh-CN" altLang="en-US" dirty="0"/>
              <a:t>支持多设备联动</a:t>
            </a:r>
            <a:endParaRPr lang="en-US" altLang="zh-CN" dirty="0"/>
          </a:p>
        </p:txBody>
      </p:sp>
      <p:pic>
        <p:nvPicPr>
          <p:cNvPr id="4" name="图片 3"/>
          <p:cNvPicPr>
            <a:picLocks noChangeAspect="1"/>
          </p:cNvPicPr>
          <p:nvPr/>
        </p:nvPicPr>
        <p:blipFill>
          <a:blip r:embed="rId3"/>
          <a:stretch>
            <a:fillRect/>
          </a:stretch>
        </p:blipFill>
        <p:spPr>
          <a:xfrm>
            <a:off x="6110529" y="2011678"/>
            <a:ext cx="2349797" cy="2125683"/>
          </a:xfrm>
          <a:prstGeom prst="rect">
            <a:avLst/>
          </a:prstGeom>
        </p:spPr>
      </p:pic>
      <p:sp>
        <p:nvSpPr>
          <p:cNvPr id="7" name="灯片编号占位符 4">
            <a:extLst>
              <a:ext uri="{FF2B5EF4-FFF2-40B4-BE49-F238E27FC236}">
                <a16:creationId xmlns:a16="http://schemas.microsoft.com/office/drawing/2014/main" id="{42B33D66-7A95-4922-9D52-EA379F095CD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IFTTT</a:t>
            </a:r>
            <a:r>
              <a:rPr lang="zh-CN" altLang="en-US"/>
              <a:t>的问题</a:t>
            </a:r>
          </a:p>
        </p:txBody>
      </p:sp>
      <p:sp>
        <p:nvSpPr>
          <p:cNvPr id="2" name="内容占位符 1"/>
          <p:cNvSpPr>
            <a:spLocks noGrp="1"/>
          </p:cNvSpPr>
          <p:nvPr>
            <p:ph idx="1"/>
          </p:nvPr>
        </p:nvSpPr>
        <p:spPr/>
        <p:txBody>
          <a:bodyPr/>
          <a:lstStyle/>
          <a:p>
            <a:endParaRPr lang="en-US" altLang="zh-CN"/>
          </a:p>
          <a:p>
            <a:r>
              <a:rPr lang="zh-CN" altLang="en-US"/>
              <a:t>规则冲突</a:t>
            </a:r>
            <a:endParaRPr lang="en-US" altLang="zh-CN"/>
          </a:p>
          <a:p>
            <a:endParaRPr lang="en-US" altLang="zh-CN"/>
          </a:p>
          <a:p>
            <a:r>
              <a:rPr lang="zh-CN" altLang="en-US"/>
              <a:t>实时性 </a:t>
            </a:r>
            <a:r>
              <a:rPr lang="en-US" altLang="zh-CN"/>
              <a:t>vs. </a:t>
            </a:r>
            <a:r>
              <a:rPr lang="zh-CN" altLang="en-US"/>
              <a:t>能耗</a:t>
            </a:r>
            <a:endParaRPr lang="en-US" altLang="zh-CN"/>
          </a:p>
          <a:p>
            <a:endParaRPr lang="en-US" altLang="zh-CN"/>
          </a:p>
          <a:p>
            <a:r>
              <a:rPr lang="zh-CN" altLang="en-US"/>
              <a:t>公平性问题</a:t>
            </a:r>
            <a:endParaRPr lang="en-US" altLang="zh-CN"/>
          </a:p>
          <a:p>
            <a:endParaRPr lang="en-US" altLang="zh-CN"/>
          </a:p>
          <a:p>
            <a:r>
              <a:rPr lang="zh-CN" altLang="en-US"/>
              <a:t>应用逻辑与执行操作的耦合性</a:t>
            </a:r>
            <a:endParaRPr lang="en-US" altLang="zh-CN"/>
          </a:p>
          <a:p>
            <a:endParaRPr lang="en-US" altLang="zh-CN"/>
          </a:p>
          <a:p>
            <a:endParaRPr lang="zh-CN" altLang="en-US" dirty="0"/>
          </a:p>
        </p:txBody>
      </p:sp>
      <p:sp>
        <p:nvSpPr>
          <p:cNvPr id="4" name="灯片编号占位符 4">
            <a:extLst>
              <a:ext uri="{FF2B5EF4-FFF2-40B4-BE49-F238E27FC236}">
                <a16:creationId xmlns:a16="http://schemas.microsoft.com/office/drawing/2014/main" id="{5CD9E72F-B228-4656-98A1-CFAF83F66A3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IFTTT-</a:t>
            </a:r>
            <a:r>
              <a:rPr lang="zh-CN" altLang="en-US"/>
              <a:t>规则冲突</a:t>
            </a:r>
            <a:endParaRPr lang="zh-CN" altLang="en-US" dirty="0"/>
          </a:p>
        </p:txBody>
      </p:sp>
      <p:sp>
        <p:nvSpPr>
          <p:cNvPr id="4" name="圆角矩形 4"/>
          <p:cNvSpPr/>
          <p:nvPr/>
        </p:nvSpPr>
        <p:spPr bwMode="auto">
          <a:xfrm>
            <a:off x="380998" y="1182688"/>
            <a:ext cx="6182139" cy="238539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US" altLang="zh-CN" baseline="0" dirty="0">
                <a:latin typeface="Courier New" panose="02070309020205020404" pitchFamily="49" charset="0"/>
                <a:ea typeface="+mj-ea"/>
                <a:cs typeface="Courier New" panose="02070309020205020404" pitchFamily="49" charset="0"/>
              </a:rPr>
              <a:t>light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&gt;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10000lux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US" altLang="zh-CN" baseline="0" dirty="0" err="1">
                <a:latin typeface="Courier New" panose="02070309020205020404" pitchFamily="49" charset="0"/>
                <a:ea typeface="+mj-ea"/>
                <a:cs typeface="Courier New" panose="02070309020205020404" pitchFamily="49" charset="0"/>
              </a:rPr>
              <a:t>light.turnOff</a:t>
            </a:r>
            <a:endParaRPr kumimoji="1" lang="en-US" altLang="zh-CN" baseline="0" dirty="0">
              <a:latin typeface="Courier New" panose="02070309020205020404" pitchFamily="49" charset="0"/>
              <a:ea typeface="+mj-ea"/>
              <a:cs typeface="Courier New" panose="02070309020205020404" pitchFamily="49" charset="0"/>
            </a:endParaRPr>
          </a:p>
          <a:p>
            <a:pPr>
              <a:lnSpc>
                <a:spcPct val="120000"/>
              </a:lnSpc>
            </a:pPr>
            <a:endParaRPr kumimoji="1" lang="en-US" altLang="zh-CN" sz="1800" baseline="0" dirty="0">
              <a:latin typeface="Courier New" panose="02070309020205020404" pitchFamily="49" charset="0"/>
              <a:ea typeface="+mj-ea"/>
              <a:cs typeface="Courier New" panose="02070309020205020404" pitchFamily="49" charset="0"/>
            </a:endParaRP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US" altLang="zh-CN" baseline="0" dirty="0">
                <a:latin typeface="Courier New" panose="02070309020205020404" pitchFamily="49" charset="0"/>
                <a:ea typeface="+mj-ea"/>
                <a:cs typeface="Courier New" panose="02070309020205020404" pitchFamily="49" charset="0"/>
              </a:rPr>
              <a:t>light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&lt;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500lux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US" altLang="zh-CN" baseline="0" dirty="0" err="1">
                <a:latin typeface="Courier New" panose="02070309020205020404" pitchFamily="49" charset="0"/>
                <a:ea typeface="+mj-ea"/>
                <a:cs typeface="Courier New" panose="02070309020205020404" pitchFamily="49" charset="0"/>
              </a:rPr>
              <a:t>light.turnOn</a:t>
            </a:r>
            <a:endParaRPr kumimoji="1" lang="en-US" altLang="zh-CN" baseline="0" dirty="0">
              <a:latin typeface="Courier New" panose="02070309020205020404" pitchFamily="49" charset="0"/>
              <a:ea typeface="+mj-ea"/>
              <a:cs typeface="Courier New" panose="02070309020205020404" pitchFamily="49" charset="0"/>
            </a:endParaRPr>
          </a:p>
        </p:txBody>
      </p:sp>
      <p:sp>
        <p:nvSpPr>
          <p:cNvPr id="8" name="圆角矩形 5"/>
          <p:cNvSpPr/>
          <p:nvPr/>
        </p:nvSpPr>
        <p:spPr bwMode="auto">
          <a:xfrm>
            <a:off x="380997" y="3798268"/>
            <a:ext cx="6182139" cy="238539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GB" altLang="zh-CN" baseline="0" dirty="0">
                <a:latin typeface="Courier New" panose="02070309020205020404" pitchFamily="49" charset="0"/>
                <a:ea typeface="+mj-ea"/>
                <a:cs typeface="Courier New" panose="02070309020205020404" pitchFamily="49" charset="0"/>
              </a:rPr>
              <a:t>light &gt; 10000lux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GB" altLang="zh-CN" baseline="0" dirty="0" err="1">
                <a:latin typeface="Courier New" panose="02070309020205020404" pitchFamily="49" charset="0"/>
                <a:ea typeface="+mj-ea"/>
                <a:cs typeface="Courier New" panose="02070309020205020404" pitchFamily="49" charset="0"/>
              </a:rPr>
              <a:t>light.turn</a:t>
            </a:r>
            <a:r>
              <a:rPr kumimoji="1" lang="en-US" altLang="zh-CN" baseline="0" dirty="0">
                <a:latin typeface="Courier New" panose="02070309020205020404" pitchFamily="49" charset="0"/>
                <a:ea typeface="+mj-ea"/>
                <a:cs typeface="Courier New" panose="02070309020205020404" pitchFamily="49" charset="0"/>
              </a:rPr>
              <a:t>O</a:t>
            </a:r>
            <a:r>
              <a:rPr kumimoji="1" lang="en-GB" altLang="zh-CN" baseline="0" dirty="0">
                <a:latin typeface="Courier New" panose="02070309020205020404" pitchFamily="49" charset="0"/>
                <a:ea typeface="+mj-ea"/>
                <a:cs typeface="Courier New" panose="02070309020205020404" pitchFamily="49" charset="0"/>
              </a:rPr>
              <a:t>ff</a:t>
            </a:r>
          </a:p>
          <a:p>
            <a:pPr>
              <a:lnSpc>
                <a:spcPct val="120000"/>
              </a:lnSpc>
            </a:pPr>
            <a:endParaRPr kumimoji="1" lang="en-GB" altLang="zh-CN" sz="1800" baseline="0" dirty="0">
              <a:latin typeface="Courier New" panose="02070309020205020404" pitchFamily="49" charset="0"/>
              <a:ea typeface="+mj-ea"/>
              <a:cs typeface="Courier New" panose="02070309020205020404" pitchFamily="49" charset="0"/>
            </a:endParaRP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GB" altLang="zh-CN" baseline="0" dirty="0">
                <a:latin typeface="Courier New" panose="02070309020205020404" pitchFamily="49" charset="0"/>
                <a:ea typeface="+mj-ea"/>
                <a:cs typeface="Courier New" panose="02070309020205020404" pitchFamily="49" charset="0"/>
              </a:rPr>
              <a:t>light &lt; 20000lux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GB" altLang="zh-CN" baseline="0" dirty="0" err="1">
                <a:latin typeface="Courier New" panose="02070309020205020404" pitchFamily="49" charset="0"/>
                <a:ea typeface="+mj-ea"/>
                <a:cs typeface="Courier New" panose="02070309020205020404" pitchFamily="49" charset="0"/>
              </a:rPr>
              <a:t>light.turn</a:t>
            </a:r>
            <a:r>
              <a:rPr kumimoji="1" lang="en-US" altLang="zh-CN" baseline="0" dirty="0">
                <a:latin typeface="Courier New" panose="02070309020205020404" pitchFamily="49" charset="0"/>
                <a:ea typeface="+mj-ea"/>
                <a:cs typeface="Courier New" panose="02070309020205020404" pitchFamily="49" charset="0"/>
              </a:rPr>
              <a:t>O</a:t>
            </a:r>
            <a:r>
              <a:rPr kumimoji="1" lang="en-GB" altLang="zh-CN" baseline="0" dirty="0">
                <a:latin typeface="Courier New" panose="02070309020205020404" pitchFamily="49" charset="0"/>
                <a:ea typeface="+mj-ea"/>
                <a:cs typeface="Courier New" panose="02070309020205020404" pitchFamily="49" charset="0"/>
              </a:rPr>
              <a:t>n</a:t>
            </a:r>
          </a:p>
        </p:txBody>
      </p:sp>
      <p:sp>
        <p:nvSpPr>
          <p:cNvPr id="9" name="矩形 6"/>
          <p:cNvSpPr/>
          <p:nvPr/>
        </p:nvSpPr>
        <p:spPr>
          <a:xfrm>
            <a:off x="6442918" y="2144551"/>
            <a:ext cx="2031325" cy="461665"/>
          </a:xfrm>
          <a:prstGeom prst="rect">
            <a:avLst/>
          </a:prstGeom>
        </p:spPr>
        <p:txBody>
          <a:bodyPr wrap="none">
            <a:spAutoFit/>
          </a:bodyPr>
          <a:lstStyle/>
          <a:p>
            <a:r>
              <a:rPr kumimoji="1" lang="zh-CN" altLang="en-US" b="1" baseline="0" dirty="0">
                <a:latin typeface="+mj-ea"/>
                <a:ea typeface="+mj-ea"/>
              </a:rPr>
              <a:t>有没有冲突？</a:t>
            </a:r>
            <a:endParaRPr kumimoji="1" lang="en-US" altLang="zh-CN" b="1" baseline="0" dirty="0">
              <a:latin typeface="+mj-ea"/>
              <a:ea typeface="+mj-ea"/>
            </a:endParaRPr>
          </a:p>
        </p:txBody>
      </p:sp>
      <p:sp>
        <p:nvSpPr>
          <p:cNvPr id="10" name="矩形 10"/>
          <p:cNvSpPr/>
          <p:nvPr/>
        </p:nvSpPr>
        <p:spPr>
          <a:xfrm>
            <a:off x="6442918" y="4760131"/>
            <a:ext cx="2031325" cy="461665"/>
          </a:xfrm>
          <a:prstGeom prst="rect">
            <a:avLst/>
          </a:prstGeom>
        </p:spPr>
        <p:txBody>
          <a:bodyPr wrap="none">
            <a:spAutoFit/>
          </a:bodyPr>
          <a:lstStyle/>
          <a:p>
            <a:r>
              <a:rPr kumimoji="1" lang="zh-CN" altLang="en-US" b="1" baseline="0" dirty="0">
                <a:latin typeface="+mj-ea"/>
                <a:ea typeface="+mj-ea"/>
              </a:rPr>
              <a:t>有没有冲突？</a:t>
            </a:r>
            <a:endParaRPr kumimoji="1" lang="en-US" altLang="zh-CN" b="1" baseline="0" dirty="0">
              <a:latin typeface="+mj-ea"/>
              <a:ea typeface="+mj-ea"/>
            </a:endParaRPr>
          </a:p>
        </p:txBody>
      </p:sp>
      <p:cxnSp>
        <p:nvCxnSpPr>
          <p:cNvPr id="5" name="直接连接符 4"/>
          <p:cNvCxnSpPr/>
          <p:nvPr/>
        </p:nvCxnSpPr>
        <p:spPr bwMode="auto">
          <a:xfrm>
            <a:off x="513710" y="3609176"/>
            <a:ext cx="521927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1" name="灯片编号占位符 4">
            <a:extLst>
              <a:ext uri="{FF2B5EF4-FFF2-40B4-BE49-F238E27FC236}">
                <a16:creationId xmlns:a16="http://schemas.microsoft.com/office/drawing/2014/main" id="{30A06B21-E400-4FC2-9A83-31F506A4B93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IFTTT-</a:t>
            </a:r>
            <a:r>
              <a:rPr lang="zh-CN" altLang="en-US"/>
              <a:t>规则冲突</a:t>
            </a:r>
            <a:endParaRPr lang="zh-CN" altLang="en-US" dirty="0"/>
          </a:p>
        </p:txBody>
      </p:sp>
      <p:sp>
        <p:nvSpPr>
          <p:cNvPr id="4" name="圆角矩形 4"/>
          <p:cNvSpPr/>
          <p:nvPr/>
        </p:nvSpPr>
        <p:spPr bwMode="auto">
          <a:xfrm>
            <a:off x="380998" y="1182688"/>
            <a:ext cx="6182139" cy="238539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US" altLang="zh-CN" baseline="0" dirty="0">
                <a:latin typeface="Courier New" panose="02070309020205020404" pitchFamily="49" charset="0"/>
                <a:ea typeface="+mj-ea"/>
                <a:cs typeface="Courier New" panose="02070309020205020404" pitchFamily="49" charset="0"/>
              </a:rPr>
              <a:t>light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&gt;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10000lux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US" altLang="zh-CN" baseline="0" dirty="0" err="1">
                <a:latin typeface="Courier New" panose="02070309020205020404" pitchFamily="49" charset="0"/>
                <a:ea typeface="+mj-ea"/>
                <a:cs typeface="Courier New" panose="02070309020205020404" pitchFamily="49" charset="0"/>
              </a:rPr>
              <a:t>light.turnOff</a:t>
            </a:r>
            <a:endParaRPr kumimoji="1" lang="en-US" altLang="zh-CN" baseline="0" dirty="0">
              <a:latin typeface="Courier New" panose="02070309020205020404" pitchFamily="49" charset="0"/>
              <a:ea typeface="+mj-ea"/>
              <a:cs typeface="Courier New" panose="02070309020205020404" pitchFamily="49" charset="0"/>
            </a:endParaRPr>
          </a:p>
          <a:p>
            <a:pPr>
              <a:lnSpc>
                <a:spcPct val="120000"/>
              </a:lnSpc>
            </a:pPr>
            <a:endParaRPr kumimoji="1" lang="en-US" altLang="zh-CN" sz="1800" baseline="0" dirty="0">
              <a:latin typeface="Courier New" panose="02070309020205020404" pitchFamily="49" charset="0"/>
              <a:ea typeface="+mj-ea"/>
              <a:cs typeface="Courier New" panose="02070309020205020404" pitchFamily="49" charset="0"/>
            </a:endParaRP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US" altLang="zh-CN" baseline="0" dirty="0">
                <a:latin typeface="Courier New" panose="02070309020205020404" pitchFamily="49" charset="0"/>
                <a:ea typeface="+mj-ea"/>
                <a:cs typeface="Courier New" panose="02070309020205020404" pitchFamily="49" charset="0"/>
              </a:rPr>
              <a:t>light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&lt;</a:t>
            </a:r>
            <a:r>
              <a:rPr kumimoji="1" lang="zh-CN" altLang="en-US" baseline="0" dirty="0">
                <a:latin typeface="Courier New" panose="02070309020205020404" pitchFamily="49" charset="0"/>
                <a:ea typeface="+mj-ea"/>
                <a:cs typeface="Courier New" panose="02070309020205020404" pitchFamily="49" charset="0"/>
              </a:rPr>
              <a:t> </a:t>
            </a:r>
            <a:r>
              <a:rPr kumimoji="1" lang="en-US" altLang="zh-CN" baseline="0" dirty="0">
                <a:latin typeface="Courier New" panose="02070309020205020404" pitchFamily="49" charset="0"/>
                <a:ea typeface="+mj-ea"/>
                <a:cs typeface="Courier New" panose="02070309020205020404" pitchFamily="49" charset="0"/>
              </a:rPr>
              <a:t>20000lux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US" altLang="zh-CN" baseline="0" dirty="0" err="1">
                <a:latin typeface="Courier New" panose="02070309020205020404" pitchFamily="49" charset="0"/>
                <a:ea typeface="+mj-ea"/>
                <a:cs typeface="Courier New" panose="02070309020205020404" pitchFamily="49" charset="0"/>
              </a:rPr>
              <a:t>light.turnOff</a:t>
            </a:r>
            <a:endParaRPr kumimoji="1" lang="en-US" altLang="zh-CN" baseline="0" dirty="0">
              <a:latin typeface="Courier New" panose="02070309020205020404" pitchFamily="49" charset="0"/>
              <a:ea typeface="+mj-ea"/>
              <a:cs typeface="Courier New" panose="02070309020205020404" pitchFamily="49" charset="0"/>
            </a:endParaRPr>
          </a:p>
        </p:txBody>
      </p:sp>
      <p:sp>
        <p:nvSpPr>
          <p:cNvPr id="8" name="圆角矩形 5"/>
          <p:cNvSpPr/>
          <p:nvPr/>
        </p:nvSpPr>
        <p:spPr bwMode="auto">
          <a:xfrm>
            <a:off x="380997" y="3798268"/>
            <a:ext cx="6182139" cy="238539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GB" altLang="zh-CN" baseline="0" dirty="0">
                <a:latin typeface="Courier New" panose="02070309020205020404" pitchFamily="49" charset="0"/>
                <a:ea typeface="+mj-ea"/>
                <a:cs typeface="Courier New" panose="02070309020205020404" pitchFamily="49" charset="0"/>
              </a:rPr>
              <a:t>light &gt; 10000lux</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GB" altLang="zh-CN" baseline="0" dirty="0" err="1">
                <a:latin typeface="Courier New" panose="02070309020205020404" pitchFamily="49" charset="0"/>
                <a:ea typeface="+mj-ea"/>
                <a:cs typeface="Courier New" panose="02070309020205020404" pitchFamily="49" charset="0"/>
              </a:rPr>
              <a:t>light.turn</a:t>
            </a:r>
            <a:r>
              <a:rPr kumimoji="1" lang="en-US" altLang="zh-CN" baseline="0" dirty="0">
                <a:latin typeface="Courier New" panose="02070309020205020404" pitchFamily="49" charset="0"/>
                <a:ea typeface="+mj-ea"/>
                <a:cs typeface="Courier New" panose="02070309020205020404" pitchFamily="49" charset="0"/>
              </a:rPr>
              <a:t>O</a:t>
            </a:r>
            <a:r>
              <a:rPr kumimoji="1" lang="en-GB" altLang="zh-CN" baseline="0" dirty="0">
                <a:latin typeface="Courier New" panose="02070309020205020404" pitchFamily="49" charset="0"/>
                <a:ea typeface="+mj-ea"/>
                <a:cs typeface="Courier New" panose="02070309020205020404" pitchFamily="49" charset="0"/>
              </a:rPr>
              <a:t>ff</a:t>
            </a:r>
          </a:p>
          <a:p>
            <a:pPr>
              <a:lnSpc>
                <a:spcPct val="120000"/>
              </a:lnSpc>
            </a:pPr>
            <a:endParaRPr kumimoji="1" lang="en-GB" altLang="zh-CN" sz="1800" baseline="0" dirty="0">
              <a:latin typeface="Courier New" panose="02070309020205020404" pitchFamily="49" charset="0"/>
              <a:ea typeface="+mj-ea"/>
              <a:cs typeface="Courier New" panose="02070309020205020404" pitchFamily="49" charset="0"/>
            </a:endParaRP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IF </a:t>
            </a:r>
            <a:r>
              <a:rPr kumimoji="1" lang="en-GB" altLang="zh-CN" baseline="0" dirty="0">
                <a:latin typeface="Courier New" panose="02070309020205020404" pitchFamily="49" charset="0"/>
                <a:ea typeface="+mj-ea"/>
                <a:cs typeface="Courier New" panose="02070309020205020404" pitchFamily="49" charset="0"/>
              </a:rPr>
              <a:t>time ∈ [19:00, 24:00]</a:t>
            </a:r>
          </a:p>
          <a:p>
            <a:pPr>
              <a:lnSpc>
                <a:spcPct val="120000"/>
              </a:lnSpc>
            </a:pPr>
            <a:r>
              <a:rPr lang="en-US" altLang="zh-CN"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THEN</a:t>
            </a:r>
            <a:r>
              <a:rPr kumimoji="1" lang="en-US" altLang="zh-CN" baseline="0" dirty="0">
                <a:latin typeface="Courier New" panose="02070309020205020404" pitchFamily="49" charset="0"/>
                <a:ea typeface="+mj-ea"/>
                <a:cs typeface="Courier New" panose="02070309020205020404" pitchFamily="49" charset="0"/>
              </a:rPr>
              <a:t> </a:t>
            </a:r>
            <a:r>
              <a:rPr kumimoji="1" lang="en-GB" altLang="zh-CN" baseline="0" dirty="0" err="1">
                <a:latin typeface="Courier New" panose="02070309020205020404" pitchFamily="49" charset="0"/>
                <a:ea typeface="+mj-ea"/>
                <a:cs typeface="Courier New" panose="02070309020205020404" pitchFamily="49" charset="0"/>
              </a:rPr>
              <a:t>light.turn</a:t>
            </a:r>
            <a:r>
              <a:rPr kumimoji="1" lang="en-US" altLang="zh-CN" baseline="0" dirty="0">
                <a:latin typeface="Courier New" panose="02070309020205020404" pitchFamily="49" charset="0"/>
                <a:ea typeface="+mj-ea"/>
                <a:cs typeface="Courier New" panose="02070309020205020404" pitchFamily="49" charset="0"/>
              </a:rPr>
              <a:t>O</a:t>
            </a:r>
            <a:r>
              <a:rPr kumimoji="1" lang="en-GB" altLang="zh-CN" baseline="0" dirty="0">
                <a:latin typeface="Courier New" panose="02070309020205020404" pitchFamily="49" charset="0"/>
                <a:ea typeface="+mj-ea"/>
                <a:cs typeface="Courier New" panose="02070309020205020404" pitchFamily="49" charset="0"/>
              </a:rPr>
              <a:t>n</a:t>
            </a:r>
          </a:p>
        </p:txBody>
      </p:sp>
      <p:sp>
        <p:nvSpPr>
          <p:cNvPr id="9" name="矩形 6"/>
          <p:cNvSpPr/>
          <p:nvPr/>
        </p:nvSpPr>
        <p:spPr>
          <a:xfrm>
            <a:off x="6442918" y="2144551"/>
            <a:ext cx="2031325" cy="461665"/>
          </a:xfrm>
          <a:prstGeom prst="rect">
            <a:avLst/>
          </a:prstGeom>
        </p:spPr>
        <p:txBody>
          <a:bodyPr wrap="none">
            <a:spAutoFit/>
          </a:bodyPr>
          <a:lstStyle/>
          <a:p>
            <a:r>
              <a:rPr kumimoji="1" lang="zh-CN" altLang="en-US" b="1" baseline="0" dirty="0">
                <a:latin typeface="+mj-ea"/>
                <a:ea typeface="+mj-ea"/>
              </a:rPr>
              <a:t>有没有冲突？</a:t>
            </a:r>
            <a:endParaRPr kumimoji="1" lang="en-US" altLang="zh-CN" b="1" baseline="0" dirty="0">
              <a:latin typeface="+mj-ea"/>
              <a:ea typeface="+mj-ea"/>
            </a:endParaRPr>
          </a:p>
        </p:txBody>
      </p:sp>
      <p:sp>
        <p:nvSpPr>
          <p:cNvPr id="10" name="矩形 10"/>
          <p:cNvSpPr/>
          <p:nvPr/>
        </p:nvSpPr>
        <p:spPr>
          <a:xfrm>
            <a:off x="6442918" y="4760131"/>
            <a:ext cx="2031325" cy="461665"/>
          </a:xfrm>
          <a:prstGeom prst="rect">
            <a:avLst/>
          </a:prstGeom>
        </p:spPr>
        <p:txBody>
          <a:bodyPr wrap="none">
            <a:spAutoFit/>
          </a:bodyPr>
          <a:lstStyle/>
          <a:p>
            <a:r>
              <a:rPr kumimoji="1" lang="zh-CN" altLang="en-US" b="1" baseline="0" dirty="0">
                <a:latin typeface="+mj-ea"/>
                <a:ea typeface="+mj-ea"/>
              </a:rPr>
              <a:t>有没有冲突？</a:t>
            </a:r>
            <a:endParaRPr kumimoji="1" lang="en-US" altLang="zh-CN" b="1" baseline="0" dirty="0">
              <a:latin typeface="+mj-ea"/>
              <a:ea typeface="+mj-ea"/>
            </a:endParaRPr>
          </a:p>
        </p:txBody>
      </p:sp>
      <p:cxnSp>
        <p:nvCxnSpPr>
          <p:cNvPr id="5" name="直接连接符 4"/>
          <p:cNvCxnSpPr/>
          <p:nvPr/>
        </p:nvCxnSpPr>
        <p:spPr bwMode="auto">
          <a:xfrm>
            <a:off x="513710" y="3609176"/>
            <a:ext cx="521927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灯片编号占位符 4">
            <a:extLst>
              <a:ext uri="{FF2B5EF4-FFF2-40B4-BE49-F238E27FC236}">
                <a16:creationId xmlns:a16="http://schemas.microsoft.com/office/drawing/2014/main" id="{A62DAC11-BF9A-4E85-B0DB-9375A7C4246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157091157"/>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IFTTT-</a:t>
            </a:r>
            <a:r>
              <a:rPr lang="zh-CN" altLang="en-US"/>
              <a:t>规则冲突检测</a:t>
            </a:r>
            <a:endParaRPr lang="zh-CN" altLang="en-US" dirty="0"/>
          </a:p>
        </p:txBody>
      </p:sp>
      <p:sp>
        <p:nvSpPr>
          <p:cNvPr id="2" name="内容占位符 1"/>
          <p:cNvSpPr>
            <a:spLocks noGrp="1"/>
          </p:cNvSpPr>
          <p:nvPr>
            <p:ph idx="1"/>
          </p:nvPr>
        </p:nvSpPr>
        <p:spPr/>
        <p:txBody>
          <a:bodyPr/>
          <a:lstStyle/>
          <a:p>
            <a:r>
              <a:rPr lang="zh-CN" altLang="en-US" dirty="0"/>
              <a:t>规则冲突的条件</a:t>
            </a:r>
            <a:endParaRPr lang="en-US" altLang="zh-CN" dirty="0"/>
          </a:p>
          <a:p>
            <a:pPr lvl="1"/>
            <a:r>
              <a:rPr lang="en-US" altLang="zh-CN" dirty="0"/>
              <a:t>1. IF</a:t>
            </a:r>
            <a:r>
              <a:rPr lang="zh-CN" altLang="en-US" dirty="0"/>
              <a:t>条件可能同时成立</a:t>
            </a:r>
            <a:endParaRPr lang="en-US" altLang="zh-CN" dirty="0"/>
          </a:p>
          <a:p>
            <a:pPr lvl="1"/>
            <a:r>
              <a:rPr lang="en-US" altLang="zh-CN" dirty="0"/>
              <a:t>2.</a:t>
            </a:r>
            <a:r>
              <a:rPr lang="zh-CN" altLang="en-US" dirty="0"/>
              <a:t> 控制同一个</a:t>
            </a:r>
            <a:r>
              <a:rPr lang="en-US" altLang="zh-CN" dirty="0"/>
              <a:t>IoT</a:t>
            </a:r>
            <a:r>
              <a:rPr lang="zh-CN" altLang="en-US" dirty="0"/>
              <a:t>设备并且控制行为冲突</a:t>
            </a:r>
            <a:endParaRPr lang="en-US" altLang="zh-CN" dirty="0"/>
          </a:p>
          <a:p>
            <a:r>
              <a:rPr lang="zh-CN" altLang="en-US" dirty="0"/>
              <a:t>冲突检测</a:t>
            </a:r>
            <a:endParaRPr lang="en-US" altLang="zh-CN" dirty="0"/>
          </a:p>
          <a:p>
            <a:pPr lvl="1"/>
            <a:r>
              <a:rPr lang="zh-CN" altLang="en-US" dirty="0"/>
              <a:t>引入</a:t>
            </a:r>
            <a:r>
              <a:rPr lang="en-US" altLang="zh-CN" dirty="0"/>
              <a:t>3</a:t>
            </a:r>
            <a:r>
              <a:rPr lang="zh-CN" altLang="en-US" dirty="0"/>
              <a:t>个二元指示变量</a:t>
            </a:r>
            <a:endParaRPr lang="en-US" altLang="zh-CN" dirty="0"/>
          </a:p>
          <a:p>
            <a:pPr lvl="2"/>
            <a:r>
              <a:rPr lang="en-US" altLang="zh-CN" dirty="0"/>
              <a:t>x</a:t>
            </a:r>
            <a:r>
              <a:rPr lang="en-US" altLang="zh-CN" baseline="-25000" dirty="0"/>
              <a:t>i</a:t>
            </a:r>
            <a:r>
              <a:rPr lang="en-US" altLang="zh-CN" dirty="0"/>
              <a:t>=1 </a:t>
            </a:r>
            <a:r>
              <a:rPr lang="en-US" altLang="zh-CN" i="1" dirty="0" err="1"/>
              <a:t>iff</a:t>
            </a:r>
            <a:r>
              <a:rPr lang="en-US" altLang="zh-CN" dirty="0"/>
              <a:t> </a:t>
            </a:r>
            <a:r>
              <a:rPr lang="en-US" altLang="zh-CN" dirty="0" err="1"/>
              <a:t>condi</a:t>
            </a:r>
            <a:r>
              <a:rPr lang="en-US" altLang="zh-CN" dirty="0"/>
              <a:t>(</a:t>
            </a:r>
            <a:r>
              <a:rPr lang="en-US" altLang="zh-CN" dirty="0" err="1"/>
              <a:t>sensori</a:t>
            </a:r>
            <a:r>
              <a:rPr lang="en-US" altLang="zh-CN" dirty="0"/>
              <a:t>)=1</a:t>
            </a:r>
          </a:p>
          <a:p>
            <a:pPr lvl="2"/>
            <a:r>
              <a:rPr lang="zh-CN" altLang="en-US" dirty="0"/>
              <a:t>求解可满足性问题</a:t>
            </a:r>
            <a:endParaRPr lang="en-US" altLang="zh-CN" dirty="0"/>
          </a:p>
          <a:p>
            <a:pPr lvl="2"/>
            <a:r>
              <a:rPr lang="zh-CN" altLang="en-US" dirty="0"/>
              <a:t>是否存在一组</a:t>
            </a:r>
            <a:r>
              <a:rPr lang="en-US" altLang="zh-CN" dirty="0"/>
              <a:t>(x</a:t>
            </a:r>
            <a:r>
              <a:rPr lang="en-US" altLang="zh-CN" baseline="-25000" dirty="0"/>
              <a:t>1</a:t>
            </a:r>
            <a:r>
              <a:rPr lang="en-US" altLang="zh-CN" dirty="0"/>
              <a:t>,x</a:t>
            </a:r>
            <a:r>
              <a:rPr lang="en-US" altLang="zh-CN" baseline="-25000" dirty="0"/>
              <a:t>2</a:t>
            </a:r>
            <a:r>
              <a:rPr lang="en-US" altLang="zh-CN" dirty="0"/>
              <a:t>,x</a:t>
            </a:r>
            <a:r>
              <a:rPr lang="en-US" altLang="zh-CN" baseline="-25000" dirty="0"/>
              <a:t>3</a:t>
            </a:r>
            <a:r>
              <a:rPr lang="en-US" altLang="zh-CN" dirty="0"/>
              <a:t>)</a:t>
            </a:r>
            <a:r>
              <a:rPr lang="zh-CN" altLang="en-US" dirty="0"/>
              <a:t>的取值使得</a:t>
            </a:r>
            <a:r>
              <a:rPr lang="en-US" altLang="zh-CN" dirty="0"/>
              <a:t>x</a:t>
            </a:r>
            <a:r>
              <a:rPr lang="en-US" altLang="zh-CN" baseline="-25000" dirty="0"/>
              <a:t>1</a:t>
            </a:r>
            <a:r>
              <a:rPr lang="en-US" altLang="zh-CN" dirty="0"/>
              <a:t>&amp;&amp;(x</a:t>
            </a:r>
            <a:r>
              <a:rPr lang="en-US" altLang="zh-CN" baseline="-25000" dirty="0"/>
              <a:t>2</a:t>
            </a:r>
            <a:r>
              <a:rPr lang="en-US" altLang="zh-CN" dirty="0"/>
              <a:t>||x</a:t>
            </a:r>
            <a:r>
              <a:rPr lang="en-US" altLang="zh-CN" baseline="-25000" dirty="0"/>
              <a:t>3</a:t>
            </a:r>
            <a:r>
              <a:rPr lang="en-US" altLang="zh-CN" dirty="0"/>
              <a:t>)=1</a:t>
            </a:r>
            <a:r>
              <a:rPr lang="zh-CN" altLang="en-US" dirty="0"/>
              <a:t>？</a:t>
            </a:r>
            <a:r>
              <a:rPr lang="en-US" altLang="zh-CN" dirty="0">
                <a:sym typeface="Wingdings" panose="05000000000000000000" pitchFamily="2" charset="2"/>
              </a:rPr>
              <a:t> (1,1,1), (1,1,0), (1,0,1)</a:t>
            </a:r>
          </a:p>
          <a:p>
            <a:pPr lvl="1"/>
            <a:r>
              <a:rPr lang="zh-CN" altLang="en-US" dirty="0"/>
              <a:t>对同一</a:t>
            </a:r>
            <a:r>
              <a:rPr lang="en-US" altLang="zh-CN" dirty="0"/>
              <a:t>sensor1</a:t>
            </a:r>
            <a:r>
              <a:rPr lang="zh-CN" altLang="en-US" dirty="0"/>
              <a:t>的</a:t>
            </a:r>
            <a:r>
              <a:rPr lang="en-US" altLang="zh-CN" dirty="0"/>
              <a:t>cond1, cond3</a:t>
            </a:r>
            <a:r>
              <a:rPr lang="zh-CN" altLang="en-US" dirty="0"/>
              <a:t>依次检查：</a:t>
            </a:r>
            <a:endParaRPr lang="en-US" altLang="zh-CN" dirty="0"/>
          </a:p>
          <a:p>
            <a:pPr lvl="2"/>
            <a:r>
              <a:rPr lang="en-US" altLang="zh-CN" dirty="0"/>
              <a:t>(1,1)</a:t>
            </a:r>
            <a:r>
              <a:rPr lang="zh-CN" altLang="en-US" dirty="0"/>
              <a:t>：如果</a:t>
            </a:r>
            <a:r>
              <a:rPr lang="en-US" altLang="zh-CN" dirty="0"/>
              <a:t>cond1 ∩ cond3 = </a:t>
            </a:r>
            <a:r>
              <a:rPr lang="el-GR" altLang="zh-CN" dirty="0"/>
              <a:t>Φ</a:t>
            </a:r>
            <a:r>
              <a:rPr lang="en-US" altLang="zh-CN" dirty="0"/>
              <a:t>, </a:t>
            </a:r>
            <a:r>
              <a:rPr lang="zh-CN" altLang="en-US" dirty="0"/>
              <a:t>则不能同时成立，所以第</a:t>
            </a:r>
            <a:r>
              <a:rPr lang="en-US" altLang="zh-CN" dirty="0"/>
              <a:t>1,3</a:t>
            </a:r>
            <a:r>
              <a:rPr lang="zh-CN" altLang="en-US" dirty="0"/>
              <a:t>组解肯定不可满足</a:t>
            </a:r>
            <a:r>
              <a:rPr lang="en-US" altLang="zh-CN" dirty="0"/>
              <a:t> </a:t>
            </a:r>
            <a:r>
              <a:rPr lang="zh-CN" altLang="en-US" dirty="0"/>
              <a:t>；否则一定会发生冲突</a:t>
            </a:r>
            <a:endParaRPr lang="en-US" altLang="zh-CN" dirty="0"/>
          </a:p>
          <a:p>
            <a:pPr lvl="2"/>
            <a:r>
              <a:rPr lang="zh-CN" altLang="en-US" dirty="0"/>
              <a:t> </a:t>
            </a:r>
            <a:r>
              <a:rPr lang="en-US" altLang="zh-CN" dirty="0"/>
              <a:t>(1,0)</a:t>
            </a:r>
            <a:r>
              <a:rPr lang="zh-CN" altLang="en-US" dirty="0"/>
              <a:t>：如果</a:t>
            </a:r>
            <a:r>
              <a:rPr lang="en-US" altLang="zh-CN" dirty="0"/>
              <a:t>cond1 ∩ !cond3 = </a:t>
            </a:r>
            <a:r>
              <a:rPr lang="el-GR" altLang="zh-CN" dirty="0"/>
              <a:t>Φ</a:t>
            </a:r>
            <a:r>
              <a:rPr lang="en-US" altLang="zh-CN" dirty="0"/>
              <a:t>, …</a:t>
            </a:r>
            <a:r>
              <a:rPr lang="zh-CN" altLang="en-US" dirty="0"/>
              <a:t>否则检查</a:t>
            </a:r>
            <a:r>
              <a:rPr lang="en-US" altLang="zh-CN" dirty="0"/>
              <a:t>sensor2</a:t>
            </a:r>
          </a:p>
          <a:p>
            <a:pPr lvl="2"/>
            <a:endParaRPr lang="en-US" altLang="zh-CN" dirty="0"/>
          </a:p>
        </p:txBody>
      </p:sp>
      <p:sp>
        <p:nvSpPr>
          <p:cNvPr id="6" name="圆角矩形 4"/>
          <p:cNvSpPr/>
          <p:nvPr/>
        </p:nvSpPr>
        <p:spPr bwMode="auto">
          <a:xfrm>
            <a:off x="2849111" y="1161482"/>
            <a:ext cx="6055360" cy="343535"/>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kumimoji="1" lang="en-GB" altLang="zh-CN" sz="2300" baseline="0" dirty="0">
              <a:latin typeface="Monaco" pitchFamily="2" charset="0"/>
            </a:endParaRPr>
          </a:p>
        </p:txBody>
      </p:sp>
      <p:sp>
        <p:nvSpPr>
          <p:cNvPr id="10" name="矩形 9">
            <a:extLst>
              <a:ext uri="{FF2B5EF4-FFF2-40B4-BE49-F238E27FC236}">
                <a16:creationId xmlns:a16="http://schemas.microsoft.com/office/drawing/2014/main" id="{EBD4A855-EC87-44B2-B09A-165715034741}"/>
              </a:ext>
            </a:extLst>
          </p:cNvPr>
          <p:cNvSpPr/>
          <p:nvPr/>
        </p:nvSpPr>
        <p:spPr>
          <a:xfrm>
            <a:off x="4798578" y="27259"/>
            <a:ext cx="4345422" cy="1926681"/>
          </a:xfrm>
          <a:prstGeom prst="rect">
            <a:avLst/>
          </a:prstGeom>
          <a:solidFill>
            <a:schemeClr val="bg1"/>
          </a:solidFill>
          <a:ln w="28575">
            <a:solidFill>
              <a:srgbClr val="C00000"/>
            </a:solidFill>
          </a:ln>
        </p:spPr>
        <p:txBody>
          <a:bodyPr wrap="square">
            <a:spAutoFit/>
          </a:bodyPr>
          <a:lstStyle/>
          <a:p>
            <a:pPr>
              <a:lnSpc>
                <a:spcPct val="120000"/>
              </a:lnSpc>
            </a:pPr>
            <a:r>
              <a:rPr lang="en-US" altLang="zh-CN" sz="2000" b="1" baseline="0" dirty="0">
                <a:effectLst>
                  <a:outerShdw blurRad="38100" dist="38100" dir="2700000" algn="tl">
                    <a:srgbClr val="C0C0C0"/>
                  </a:outerShdw>
                </a:effectLst>
                <a:latin typeface="+mj-ea"/>
                <a:ea typeface="+mj-ea"/>
              </a:rPr>
              <a:t>Ex</a:t>
            </a:r>
            <a:r>
              <a:rPr lang="zh-CN" altLang="en-US" sz="2000" b="1" baseline="0" dirty="0">
                <a:effectLst>
                  <a:outerShdw blurRad="38100" dist="38100" dir="2700000" algn="tl">
                    <a:srgbClr val="C0C0C0"/>
                  </a:outerShdw>
                </a:effectLst>
                <a:latin typeface="+mj-ea"/>
                <a:ea typeface="+mj-ea"/>
              </a:rPr>
              <a:t>：</a:t>
            </a:r>
            <a:endParaRPr lang="en-US" altLang="zh-CN" sz="2000" b="1" baseline="0" dirty="0">
              <a:effectLst>
                <a:outerShdw blurRad="38100" dist="38100" dir="2700000" algn="tl">
                  <a:srgbClr val="C0C0C0"/>
                </a:outerShdw>
              </a:effectLst>
              <a:latin typeface="+mj-ea"/>
              <a:ea typeface="+mj-ea"/>
            </a:endParaRPr>
          </a:p>
          <a:p>
            <a:pPr>
              <a:lnSpc>
                <a:spcPct val="120000"/>
              </a:lnSpc>
            </a:pPr>
            <a:r>
              <a:rPr lang="en-US" altLang="zh-CN" sz="1600"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  IF </a:t>
            </a:r>
            <a:r>
              <a:rPr kumimoji="1" lang="en-GB" altLang="zh-CN" sz="1600" baseline="0" dirty="0">
                <a:latin typeface="Courier New" panose="02070309020205020404" pitchFamily="49" charset="0"/>
                <a:ea typeface="+mj-ea"/>
                <a:cs typeface="Courier New" panose="02070309020205020404" pitchFamily="49" charset="0"/>
              </a:rPr>
              <a:t>cond1(sensor1)</a:t>
            </a:r>
          </a:p>
          <a:p>
            <a:pPr>
              <a:lnSpc>
                <a:spcPct val="120000"/>
              </a:lnSpc>
            </a:pPr>
            <a:r>
              <a:rPr lang="en-US" altLang="zh-CN" sz="1600"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  THEN</a:t>
            </a:r>
            <a:r>
              <a:rPr kumimoji="1" lang="en-US" altLang="zh-CN" sz="1600" baseline="0" dirty="0">
                <a:latin typeface="Courier New" panose="02070309020205020404" pitchFamily="49" charset="0"/>
                <a:ea typeface="+mj-ea"/>
                <a:cs typeface="Courier New" panose="02070309020205020404" pitchFamily="49" charset="0"/>
              </a:rPr>
              <a:t> </a:t>
            </a:r>
            <a:r>
              <a:rPr kumimoji="1" lang="en-GB" altLang="zh-CN" sz="1600" baseline="0" dirty="0" err="1">
                <a:latin typeface="Courier New" panose="02070309020205020404" pitchFamily="49" charset="0"/>
                <a:ea typeface="+mj-ea"/>
                <a:cs typeface="Courier New" panose="02070309020205020404" pitchFamily="49" charset="0"/>
              </a:rPr>
              <a:t>light.turn</a:t>
            </a:r>
            <a:r>
              <a:rPr kumimoji="1" lang="en-US" altLang="zh-CN" sz="1600" baseline="0" dirty="0">
                <a:latin typeface="Courier New" panose="02070309020205020404" pitchFamily="49" charset="0"/>
                <a:ea typeface="+mj-ea"/>
                <a:cs typeface="Courier New" panose="02070309020205020404" pitchFamily="49" charset="0"/>
              </a:rPr>
              <a:t>O</a:t>
            </a:r>
            <a:r>
              <a:rPr kumimoji="1" lang="en-GB" altLang="zh-CN" sz="1600" baseline="0" dirty="0">
                <a:latin typeface="Courier New" panose="02070309020205020404" pitchFamily="49" charset="0"/>
                <a:ea typeface="+mj-ea"/>
                <a:cs typeface="Courier New" panose="02070309020205020404" pitchFamily="49" charset="0"/>
              </a:rPr>
              <a:t>ff</a:t>
            </a:r>
          </a:p>
          <a:p>
            <a:pPr>
              <a:lnSpc>
                <a:spcPct val="120000"/>
              </a:lnSpc>
            </a:pPr>
            <a:endParaRPr kumimoji="1" lang="en-GB" altLang="zh-CN" sz="1600" baseline="0" dirty="0">
              <a:latin typeface="Courier New" panose="02070309020205020404" pitchFamily="49" charset="0"/>
              <a:ea typeface="+mj-ea"/>
              <a:cs typeface="Courier New" panose="02070309020205020404" pitchFamily="49" charset="0"/>
            </a:endParaRPr>
          </a:p>
          <a:p>
            <a:pPr>
              <a:lnSpc>
                <a:spcPct val="120000"/>
              </a:lnSpc>
            </a:pPr>
            <a:r>
              <a:rPr lang="en-US" altLang="zh-CN" sz="1600"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  IF </a:t>
            </a:r>
            <a:r>
              <a:rPr kumimoji="1" lang="en-US" altLang="zh-CN" sz="1600" baseline="0" dirty="0">
                <a:latin typeface="Courier New" panose="02070309020205020404" pitchFamily="49" charset="0"/>
                <a:ea typeface="+mj-ea"/>
                <a:cs typeface="Courier New" panose="02070309020205020404" pitchFamily="49" charset="0"/>
              </a:rPr>
              <a:t>cond2(sensor2)||cond3(sensor1)</a:t>
            </a:r>
            <a:endParaRPr kumimoji="1" lang="en-GB" altLang="zh-CN" sz="1600" baseline="0" dirty="0">
              <a:latin typeface="Courier New" panose="02070309020205020404" pitchFamily="49" charset="0"/>
              <a:ea typeface="+mj-ea"/>
              <a:cs typeface="Courier New" panose="02070309020205020404" pitchFamily="49" charset="0"/>
            </a:endParaRPr>
          </a:p>
          <a:p>
            <a:pPr>
              <a:lnSpc>
                <a:spcPct val="120000"/>
              </a:lnSpc>
            </a:pPr>
            <a:r>
              <a:rPr lang="en-US" altLang="zh-CN" sz="1600" b="1" baseline="0" dirty="0">
                <a:solidFill>
                  <a:srgbClr val="C00000"/>
                </a:solidFill>
                <a:effectLst>
                  <a:outerShdw blurRad="38100" dist="38100" dir="2700000" algn="tl">
                    <a:srgbClr val="C0C0C0"/>
                  </a:outerShdw>
                </a:effectLst>
                <a:latin typeface="Courier New" panose="02070309020205020404" pitchFamily="49" charset="0"/>
                <a:ea typeface="+mj-ea"/>
                <a:cs typeface="Courier New" panose="02070309020205020404" pitchFamily="49" charset="0"/>
              </a:rPr>
              <a:t>  THEN</a:t>
            </a:r>
            <a:r>
              <a:rPr kumimoji="1" lang="en-US" altLang="zh-CN" sz="1600" baseline="0" dirty="0">
                <a:latin typeface="Courier New" panose="02070309020205020404" pitchFamily="49" charset="0"/>
                <a:ea typeface="+mj-ea"/>
                <a:cs typeface="Courier New" panose="02070309020205020404" pitchFamily="49" charset="0"/>
              </a:rPr>
              <a:t> </a:t>
            </a:r>
            <a:r>
              <a:rPr kumimoji="1" lang="en-GB" altLang="zh-CN" sz="1600" baseline="0" dirty="0" err="1">
                <a:latin typeface="Courier New" panose="02070309020205020404" pitchFamily="49" charset="0"/>
                <a:ea typeface="+mj-ea"/>
                <a:cs typeface="Courier New" panose="02070309020205020404" pitchFamily="49" charset="0"/>
              </a:rPr>
              <a:t>light.turn</a:t>
            </a:r>
            <a:r>
              <a:rPr kumimoji="1" lang="en-US" altLang="zh-CN" sz="1600" baseline="0" dirty="0">
                <a:latin typeface="Courier New" panose="02070309020205020404" pitchFamily="49" charset="0"/>
                <a:ea typeface="+mj-ea"/>
                <a:cs typeface="Courier New" panose="02070309020205020404" pitchFamily="49" charset="0"/>
              </a:rPr>
              <a:t>O</a:t>
            </a:r>
            <a:r>
              <a:rPr kumimoji="1" lang="en-GB" altLang="zh-CN" sz="1600" baseline="0" dirty="0">
                <a:latin typeface="Courier New" panose="02070309020205020404" pitchFamily="49" charset="0"/>
                <a:ea typeface="+mj-ea"/>
                <a:cs typeface="Courier New" panose="02070309020205020404" pitchFamily="49" charset="0"/>
              </a:rPr>
              <a:t>n</a:t>
            </a:r>
          </a:p>
        </p:txBody>
      </p:sp>
      <p:sp>
        <p:nvSpPr>
          <p:cNvPr id="13" name="灯片编号占位符 4">
            <a:extLst>
              <a:ext uri="{FF2B5EF4-FFF2-40B4-BE49-F238E27FC236}">
                <a16:creationId xmlns:a16="http://schemas.microsoft.com/office/drawing/2014/main" id="{60D6376A-EFC1-45E5-82D1-A83EA46EABC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IFTTT-</a:t>
            </a:r>
            <a:r>
              <a:rPr lang="zh-CN" altLang="en-US"/>
              <a:t>规则冲突</a:t>
            </a:r>
            <a:endParaRPr lang="zh-CN" altLang="en-US" dirty="0"/>
          </a:p>
        </p:txBody>
      </p:sp>
      <p:sp>
        <p:nvSpPr>
          <p:cNvPr id="4" name="圆角矩形 4"/>
          <p:cNvSpPr>
            <a:spLocks noGrp="1"/>
          </p:cNvSpPr>
          <p:nvPr>
            <p:ph idx="1"/>
          </p:nvPr>
        </p:nvSpPr>
        <p:spPr/>
        <p:txBody>
          <a:bodyPr/>
          <a:lstStyle/>
          <a:p>
            <a:r>
              <a:rPr lang="zh-CN" altLang="en-US" dirty="0"/>
              <a:t>思考题</a:t>
            </a:r>
            <a:endParaRPr lang="en-US" altLang="zh-CN" dirty="0"/>
          </a:p>
          <a:p>
            <a:endParaRPr lang="en-US" altLang="zh-CN" dirty="0"/>
          </a:p>
          <a:p>
            <a:pPr marL="457200" lvl="1" indent="0">
              <a:buNone/>
            </a:pPr>
            <a:r>
              <a:rPr lang="en-US" altLang="zh-CN" dirty="0">
                <a:latin typeface="Courier New" panose="02070309020205020404" pitchFamily="49" charset="0"/>
                <a:cs typeface="Courier New" panose="02070309020205020404" pitchFamily="49" charset="0"/>
              </a:rPr>
              <a:t>IF (time ∈ [07:00, 17:00]) || (light &gt; 10000lux)</a:t>
            </a:r>
          </a:p>
          <a:p>
            <a:pPr marL="457200" lvl="1" indent="0">
              <a:buNone/>
            </a:pPr>
            <a:r>
              <a:rPr lang="en-US" altLang="zh-CN" dirty="0">
                <a:latin typeface="Courier New" panose="02070309020205020404" pitchFamily="49" charset="0"/>
                <a:cs typeface="Courier New" panose="02070309020205020404" pitchFamily="49" charset="0"/>
              </a:rPr>
              <a:t>THEN </a:t>
            </a:r>
            <a:r>
              <a:rPr lang="en-US" altLang="zh-CN" dirty="0" err="1">
                <a:latin typeface="Courier New" panose="02070309020205020404" pitchFamily="49" charset="0"/>
                <a:cs typeface="Courier New" panose="02070309020205020404" pitchFamily="49" charset="0"/>
              </a:rPr>
              <a:t>light.turnOff</a:t>
            </a:r>
            <a:endParaRPr lang="en-US" altLang="zh-CN" dirty="0">
              <a:latin typeface="Courier New" panose="02070309020205020404" pitchFamily="49" charset="0"/>
              <a:cs typeface="Courier New" panose="02070309020205020404" pitchFamily="49" charset="0"/>
            </a:endParaRPr>
          </a:p>
          <a:p>
            <a:pPr lvl="3"/>
            <a:endParaRPr lang="en-US" altLang="zh-CN" dirty="0">
              <a:latin typeface="Courier New" panose="02070309020205020404" pitchFamily="49" charset="0"/>
              <a:cs typeface="Courier New" panose="02070309020205020404" pitchFamily="49" charset="0"/>
            </a:endParaRPr>
          </a:p>
          <a:p>
            <a:pPr marL="457200" lvl="1" indent="0">
              <a:buNone/>
            </a:pPr>
            <a:r>
              <a:rPr lang="en-US" altLang="zh-CN" dirty="0">
                <a:latin typeface="Courier New" panose="02070309020205020404" pitchFamily="49" charset="0"/>
                <a:cs typeface="Courier New" panose="02070309020205020404" pitchFamily="49" charset="0"/>
              </a:rPr>
              <a:t>IF (light &lt; 1000lux) || (sound &gt; 55dB)</a:t>
            </a:r>
          </a:p>
          <a:p>
            <a:pPr marL="457200" lvl="1" indent="0">
              <a:buNone/>
            </a:pPr>
            <a:r>
              <a:rPr lang="en-US" altLang="zh-CN" dirty="0">
                <a:latin typeface="Courier New" panose="02070309020205020404" pitchFamily="49" charset="0"/>
                <a:cs typeface="Courier New" panose="02070309020205020404" pitchFamily="49" charset="0"/>
              </a:rPr>
              <a:t>THEN </a:t>
            </a:r>
            <a:r>
              <a:rPr lang="en-US" altLang="zh-CN" dirty="0" err="1">
                <a:latin typeface="Courier New" panose="02070309020205020404" pitchFamily="49" charset="0"/>
                <a:cs typeface="Courier New" panose="02070309020205020404" pitchFamily="49" charset="0"/>
              </a:rPr>
              <a:t>light.turnOn</a:t>
            </a:r>
            <a:endParaRPr lang="en-US" altLang="zh-CN" dirty="0">
              <a:latin typeface="Courier New" panose="02070309020205020404" pitchFamily="49" charset="0"/>
              <a:cs typeface="Courier New" panose="02070309020205020404" pitchFamily="49" charset="0"/>
            </a:endParaRPr>
          </a:p>
          <a:p>
            <a:pPr lvl="1"/>
            <a:endParaRPr lang="en-US" altLang="zh-CN" dirty="0"/>
          </a:p>
          <a:p>
            <a:endParaRPr lang="en-US" altLang="zh-CN" dirty="0"/>
          </a:p>
          <a:p>
            <a:pPr lvl="1"/>
            <a:r>
              <a:rPr lang="en-US" altLang="zh-CN" dirty="0"/>
              <a:t>Conflict: IF</a:t>
            </a:r>
            <a:r>
              <a:rPr lang="zh-CN" altLang="en-US" dirty="0"/>
              <a:t> </a:t>
            </a:r>
            <a:r>
              <a:rPr lang="en-US" altLang="zh-CN" dirty="0"/>
              <a:t>light</a:t>
            </a:r>
            <a:r>
              <a:rPr lang="zh-CN" altLang="en-US" dirty="0"/>
              <a:t> </a:t>
            </a:r>
            <a:r>
              <a:rPr lang="en-US" altLang="zh-CN" dirty="0"/>
              <a:t>= 999lux</a:t>
            </a:r>
            <a:r>
              <a:rPr lang="zh-CN" altLang="en-US" dirty="0"/>
              <a:t> </a:t>
            </a:r>
            <a:r>
              <a:rPr lang="en-US" altLang="zh-CN" dirty="0"/>
              <a:t>at</a:t>
            </a:r>
            <a:r>
              <a:rPr lang="zh-CN" altLang="en-US" dirty="0"/>
              <a:t> </a:t>
            </a:r>
            <a:r>
              <a:rPr lang="en-US" altLang="zh-CN" dirty="0"/>
              <a:t>07:01</a:t>
            </a:r>
          </a:p>
        </p:txBody>
      </p:sp>
      <p:sp>
        <p:nvSpPr>
          <p:cNvPr id="5" name="灯片编号占位符 4">
            <a:extLst>
              <a:ext uri="{FF2B5EF4-FFF2-40B4-BE49-F238E27FC236}">
                <a16:creationId xmlns:a16="http://schemas.microsoft.com/office/drawing/2014/main" id="{06A08005-7CB5-403B-AC38-CA5C50448E5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IFTTT-</a:t>
            </a:r>
            <a:r>
              <a:rPr lang="zh-CN" altLang="en-US"/>
              <a:t>规则冲突检测</a:t>
            </a:r>
            <a:r>
              <a:rPr lang="en-US" altLang="zh-CN"/>
              <a:t>SMT</a:t>
            </a:r>
            <a:endParaRPr lang="zh-CN" altLang="en-US" dirty="0"/>
          </a:p>
        </p:txBody>
      </p:sp>
      <p:sp>
        <p:nvSpPr>
          <p:cNvPr id="3" name="内容占位符 2"/>
          <p:cNvSpPr>
            <a:spLocks noGrp="1"/>
          </p:cNvSpPr>
          <p:nvPr>
            <p:ph idx="1"/>
          </p:nvPr>
        </p:nvSpPr>
        <p:spPr/>
        <p:txBody>
          <a:bodyPr/>
          <a:lstStyle/>
          <a:p>
            <a:r>
              <a:rPr lang="zh-CN" altLang="en-US"/>
              <a:t>布尔可满足性问题 </a:t>
            </a:r>
            <a:r>
              <a:rPr lang="en-US" altLang="zh-CN"/>
              <a:t>(SAT)</a:t>
            </a:r>
          </a:p>
          <a:p>
            <a:pPr lvl="1"/>
            <a:r>
              <a:rPr lang="zh-CN" altLang="en-US"/>
              <a:t>给定布尔表达式，是否存在一组变量赋值，使结果为真</a:t>
            </a:r>
            <a:endParaRPr lang="en-US" altLang="zh-CN"/>
          </a:p>
          <a:p>
            <a:r>
              <a:rPr lang="zh-CN" altLang="en-US"/>
              <a:t>可满足性模理论 </a:t>
            </a:r>
            <a:r>
              <a:rPr lang="en-US" altLang="zh-CN"/>
              <a:t>(SMT)</a:t>
            </a:r>
          </a:p>
          <a:p>
            <a:pPr lvl="1"/>
            <a:r>
              <a:rPr lang="en-US" altLang="zh-CN"/>
              <a:t>SMT</a:t>
            </a:r>
            <a:r>
              <a:rPr lang="zh-CN" altLang="en-US"/>
              <a:t>是</a:t>
            </a:r>
            <a:r>
              <a:rPr lang="en-US" altLang="zh-CN"/>
              <a:t>SAT</a:t>
            </a:r>
            <a:r>
              <a:rPr lang="zh-CN" altLang="en-US"/>
              <a:t>的推广，涉及非布尔变量</a:t>
            </a:r>
            <a:endParaRPr lang="en-US" altLang="zh-CN"/>
          </a:p>
          <a:p>
            <a:pPr lvl="2"/>
            <a:r>
              <a:rPr lang="zh-CN" altLang="en-US"/>
              <a:t>例如实数、整数、数组等</a:t>
            </a:r>
            <a:endParaRPr lang="en-US" altLang="zh-CN"/>
          </a:p>
          <a:p>
            <a:r>
              <a:rPr lang="en-US" altLang="zh-CN"/>
              <a:t>Z3 </a:t>
            </a:r>
          </a:p>
          <a:p>
            <a:pPr lvl="1"/>
            <a:r>
              <a:rPr lang="zh-CN" altLang="en-US"/>
              <a:t>由微软研究院开发的优秀</a:t>
            </a:r>
            <a:r>
              <a:rPr lang="en-US" altLang="zh-CN"/>
              <a:t>SMT Solver</a:t>
            </a:r>
          </a:p>
          <a:p>
            <a:pPr lvl="1"/>
            <a:r>
              <a:rPr lang="zh-CN" altLang="en-US"/>
              <a:t>能够检查表达式的可满足性</a:t>
            </a:r>
            <a:endParaRPr lang="en-US" altLang="zh-CN"/>
          </a:p>
          <a:p>
            <a:pPr lvl="1"/>
            <a:endParaRPr lang="en-US" altLang="zh-CN" dirty="0"/>
          </a:p>
        </p:txBody>
      </p:sp>
      <p:sp>
        <p:nvSpPr>
          <p:cNvPr id="9" name="矩形 5">
            <a:extLst>
              <a:ext uri="{FF2B5EF4-FFF2-40B4-BE49-F238E27FC236}">
                <a16:creationId xmlns:a16="http://schemas.microsoft.com/office/drawing/2014/main" id="{9C88750E-3B7F-4DB0-9C9F-99B7D1BD4C49}"/>
              </a:ext>
            </a:extLst>
          </p:cNvPr>
          <p:cNvSpPr/>
          <p:nvPr/>
        </p:nvSpPr>
        <p:spPr>
          <a:xfrm>
            <a:off x="0" y="6208067"/>
            <a:ext cx="9134061" cy="461665"/>
          </a:xfrm>
          <a:prstGeom prst="rect">
            <a:avLst/>
          </a:prstGeom>
        </p:spPr>
        <p:txBody>
          <a:bodyPr wrap="square">
            <a:spAutoFit/>
          </a:bodyPr>
          <a:lstStyle/>
          <a:p>
            <a:r>
              <a:rPr lang="en-GB" altLang="zh-CN" sz="1800" i="1" dirty="0">
                <a:solidFill>
                  <a:srgbClr val="222222"/>
                </a:solidFill>
              </a:rPr>
              <a:t>De Moura, Leonardo, and Nikolaj </a:t>
            </a:r>
            <a:r>
              <a:rPr lang="en-GB" altLang="zh-CN" sz="1800" i="1" dirty="0" err="1">
                <a:solidFill>
                  <a:srgbClr val="222222"/>
                </a:solidFill>
              </a:rPr>
              <a:t>Bjørner</a:t>
            </a:r>
            <a:r>
              <a:rPr lang="en-GB" altLang="zh-CN" sz="1800" i="1" dirty="0">
                <a:solidFill>
                  <a:srgbClr val="222222"/>
                </a:solidFill>
              </a:rPr>
              <a:t>. "Z3: An efficient SMT solver." International conference on Tools and Algorithms for the Construction and Analysis of Systems. Springer, Berlin, Heidelberg, 2008.</a:t>
            </a:r>
          </a:p>
        </p:txBody>
      </p:sp>
      <p:sp>
        <p:nvSpPr>
          <p:cNvPr id="10" name="灯片编号占位符 4">
            <a:extLst>
              <a:ext uri="{FF2B5EF4-FFF2-40B4-BE49-F238E27FC236}">
                <a16:creationId xmlns:a16="http://schemas.microsoft.com/office/drawing/2014/main" id="{2A8ABCAB-D7A6-4D64-A3D2-4FDFF2F01DE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IFTTT-</a:t>
            </a:r>
            <a:r>
              <a:rPr lang="zh-CN" altLang="en-US"/>
              <a:t>实时性 </a:t>
            </a:r>
            <a:r>
              <a:rPr lang="en-US" altLang="zh-CN"/>
              <a:t>vs. </a:t>
            </a:r>
            <a:r>
              <a:rPr lang="zh-CN" altLang="en-US"/>
              <a:t>能耗</a:t>
            </a:r>
            <a:endParaRPr lang="zh-CN" altLang="en-US" dirty="0"/>
          </a:p>
        </p:txBody>
      </p:sp>
      <p:sp>
        <p:nvSpPr>
          <p:cNvPr id="3" name="内容占位符 2"/>
          <p:cNvSpPr>
            <a:spLocks noGrp="1"/>
          </p:cNvSpPr>
          <p:nvPr>
            <p:ph idx="1"/>
          </p:nvPr>
        </p:nvSpPr>
        <p:spPr/>
        <p:txBody>
          <a:bodyPr/>
          <a:lstStyle/>
          <a:p>
            <a:r>
              <a:rPr lang="zh-CN" altLang="en-US" dirty="0"/>
              <a:t>考虑</a:t>
            </a:r>
            <a:endParaRPr lang="en-US" altLang="zh-CN" dirty="0"/>
          </a:p>
          <a:p>
            <a:pPr marL="457200" lvl="1" indent="0">
              <a:buNone/>
            </a:pPr>
            <a:r>
              <a:rPr lang="en-US" altLang="zh-CN" b="1" dirty="0">
                <a:latin typeface="Courier New" panose="02070309020205020404" pitchFamily="49" charset="0"/>
                <a:cs typeface="Courier New" panose="02070309020205020404" pitchFamily="49" charset="0"/>
              </a:rPr>
              <a:t>IF</a:t>
            </a:r>
            <a:r>
              <a:rPr lang="en-US" altLang="zh-CN" dirty="0">
                <a:latin typeface="Courier New" panose="02070309020205020404" pitchFamily="49" charset="0"/>
                <a:cs typeface="Courier New" panose="02070309020205020404" pitchFamily="49" charset="0"/>
              </a:rPr>
              <a:t> humidity &gt; 75% and light &lt; 1000lux</a:t>
            </a:r>
          </a:p>
          <a:p>
            <a:pPr marL="457200" lvl="1" indent="0">
              <a:buNone/>
            </a:pPr>
            <a:r>
              <a:rPr lang="en-US" altLang="zh-CN" b="1" dirty="0">
                <a:latin typeface="Courier New" panose="02070309020205020404" pitchFamily="49" charset="0"/>
                <a:cs typeface="Courier New" panose="02070309020205020404" pitchFamily="49" charset="0"/>
              </a:rPr>
              <a:t>THEN </a:t>
            </a:r>
            <a:r>
              <a:rPr lang="en-US" altLang="zh-CN" dirty="0" err="1">
                <a:latin typeface="Courier New" panose="02070309020205020404" pitchFamily="49" charset="0"/>
                <a:cs typeface="Courier New" panose="02070309020205020404" pitchFamily="49" charset="0"/>
              </a:rPr>
              <a:t>window.close</a:t>
            </a:r>
            <a:endParaRPr lang="en-US" altLang="zh-CN" dirty="0">
              <a:latin typeface="Courier New" panose="02070309020205020404" pitchFamily="49" charset="0"/>
              <a:cs typeface="Courier New" panose="02070309020205020404" pitchFamily="49" charset="0"/>
            </a:endParaRPr>
          </a:p>
          <a:p>
            <a:endParaRPr lang="en-US" altLang="zh-CN" dirty="0"/>
          </a:p>
          <a:p>
            <a:r>
              <a:rPr lang="zh-CN" altLang="en-US" dirty="0"/>
              <a:t>对</a:t>
            </a:r>
            <a:r>
              <a:rPr lang="en-US" altLang="zh-CN" dirty="0"/>
              <a:t>IoT</a:t>
            </a:r>
            <a:r>
              <a:rPr lang="zh-CN" altLang="en-US" dirty="0"/>
              <a:t>设备的查询频率高</a:t>
            </a:r>
            <a:endParaRPr lang="en-US" altLang="zh-CN" dirty="0"/>
          </a:p>
          <a:p>
            <a:pPr lvl="1"/>
            <a:r>
              <a:rPr lang="zh-CN" altLang="en-US" dirty="0"/>
              <a:t>实时性高</a:t>
            </a:r>
            <a:endParaRPr lang="en-US" altLang="zh-CN" dirty="0"/>
          </a:p>
          <a:p>
            <a:pPr lvl="1"/>
            <a:r>
              <a:rPr lang="zh-CN" altLang="en-US" dirty="0"/>
              <a:t>但能耗过大</a:t>
            </a:r>
          </a:p>
          <a:p>
            <a:r>
              <a:rPr lang="zh-CN" altLang="en-US" dirty="0"/>
              <a:t>对</a:t>
            </a:r>
            <a:r>
              <a:rPr lang="en-US" altLang="zh-CN" dirty="0"/>
              <a:t>IoT</a:t>
            </a:r>
            <a:r>
              <a:rPr lang="zh-CN" altLang="en-US" dirty="0"/>
              <a:t>设备的查询频率低</a:t>
            </a:r>
            <a:endParaRPr lang="en-US" altLang="zh-CN" dirty="0"/>
          </a:p>
          <a:p>
            <a:pPr lvl="1"/>
            <a:r>
              <a:rPr lang="zh-CN" altLang="en-US" dirty="0"/>
              <a:t>能耗小</a:t>
            </a:r>
            <a:endParaRPr lang="en-US" altLang="zh-CN" dirty="0"/>
          </a:p>
          <a:p>
            <a:pPr lvl="1"/>
            <a:r>
              <a:rPr lang="zh-CN" altLang="en-US" dirty="0"/>
              <a:t>但实时性低</a:t>
            </a:r>
            <a:endParaRPr lang="en-US" altLang="zh-CN" dirty="0"/>
          </a:p>
          <a:p>
            <a:pPr lvl="2"/>
            <a:r>
              <a:rPr lang="en-US" altLang="zh-CN" dirty="0"/>
              <a:t>e.g. </a:t>
            </a:r>
            <a:r>
              <a:rPr lang="zh-CN" altLang="en-US" dirty="0"/>
              <a:t>关窗响应不及时可能导致雨水淋进房间</a:t>
            </a:r>
          </a:p>
        </p:txBody>
      </p:sp>
      <p:sp>
        <p:nvSpPr>
          <p:cNvPr id="6" name="灯片编号占位符 4">
            <a:extLst>
              <a:ext uri="{FF2B5EF4-FFF2-40B4-BE49-F238E27FC236}">
                <a16:creationId xmlns:a16="http://schemas.microsoft.com/office/drawing/2014/main" id="{6BA2D421-1C36-448A-AC21-C73139C014D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IFTTT-</a:t>
            </a:r>
            <a:r>
              <a:rPr lang="zh-CN" altLang="en-US"/>
              <a:t>实时性 </a:t>
            </a:r>
            <a:r>
              <a:rPr lang="en-US" altLang="zh-CN"/>
              <a:t>vs. </a:t>
            </a:r>
            <a:r>
              <a:rPr lang="zh-CN" altLang="en-US"/>
              <a:t>能耗</a:t>
            </a:r>
            <a:endParaRPr lang="zh-CN" altLang="en-US" dirty="0"/>
          </a:p>
        </p:txBody>
      </p:sp>
      <p:sp>
        <p:nvSpPr>
          <p:cNvPr id="3" name="内容占位符 2"/>
          <p:cNvSpPr>
            <a:spLocks noGrp="1"/>
          </p:cNvSpPr>
          <p:nvPr>
            <p:ph idx="1"/>
          </p:nvPr>
        </p:nvSpPr>
        <p:spPr/>
        <p:txBody>
          <a:bodyPr/>
          <a:lstStyle/>
          <a:p>
            <a:r>
              <a:rPr lang="zh-CN" altLang="en-US" dirty="0"/>
              <a:t>解决方法：自适应调整查询间隔</a:t>
            </a:r>
            <a:endParaRPr lang="en-US" altLang="zh-CN" dirty="0"/>
          </a:p>
          <a:p>
            <a:pPr lvl="1"/>
            <a:r>
              <a:rPr lang="zh-CN" altLang="en-US" dirty="0"/>
              <a:t>传感数据可预测接近阈值时，缩小查询间隔；</a:t>
            </a:r>
            <a:endParaRPr lang="en-US" altLang="zh-CN" dirty="0"/>
          </a:p>
          <a:p>
            <a:pPr lvl="1"/>
            <a:r>
              <a:rPr lang="zh-CN" altLang="en-US" dirty="0"/>
              <a:t>反之，可以扩大查询间隔</a:t>
            </a:r>
            <a:endParaRPr lang="en-US" altLang="zh-CN" dirty="0"/>
          </a:p>
          <a:p>
            <a:pPr lvl="1"/>
            <a:endParaRPr lang="en-US" altLang="zh-CN" dirty="0"/>
          </a:p>
          <a:p>
            <a:r>
              <a:rPr lang="zh-CN" altLang="en-US" dirty="0"/>
              <a:t>增强的</a:t>
            </a:r>
            <a:r>
              <a:rPr lang="en-US" altLang="zh-CN" dirty="0"/>
              <a:t>IFTTT</a:t>
            </a:r>
            <a:r>
              <a:rPr lang="zh-CN" altLang="en-US" dirty="0"/>
              <a:t>语法</a:t>
            </a:r>
            <a:endParaRPr lang="en-US" altLang="zh-CN" dirty="0"/>
          </a:p>
          <a:p>
            <a:endParaRPr lang="en-US" altLang="zh-CN" dirty="0"/>
          </a:p>
          <a:p>
            <a:pPr marL="457200" lvl="1" indent="0">
              <a:buNone/>
            </a:pPr>
            <a:r>
              <a:rPr lang="en-US" altLang="zh-CN" b="1" dirty="0">
                <a:latin typeface="Courier New" panose="02070309020205020404" pitchFamily="49" charset="0"/>
                <a:cs typeface="Courier New" panose="02070309020205020404" pitchFamily="49" charset="0"/>
              </a:rPr>
              <a:t>IF</a:t>
            </a:r>
            <a:r>
              <a:rPr lang="en-US" altLang="zh-CN" dirty="0">
                <a:latin typeface="Courier New" panose="02070309020205020404" pitchFamily="49" charset="0"/>
                <a:cs typeface="Courier New" panose="02070309020205020404" pitchFamily="49" charset="0"/>
              </a:rPr>
              <a:t> humidity &gt; 75% and light &lt; 1000lux</a:t>
            </a:r>
          </a:p>
          <a:p>
            <a:pPr marL="457200" lvl="1" indent="0">
              <a:buNone/>
            </a:pPr>
            <a:r>
              <a:rPr lang="en-US" altLang="zh-CN" b="1" dirty="0">
                <a:latin typeface="Courier New" panose="02070309020205020404" pitchFamily="49" charset="0"/>
                <a:cs typeface="Courier New" panose="02070309020205020404" pitchFamily="49" charset="0"/>
              </a:rPr>
              <a:t>THEN </a:t>
            </a:r>
            <a:r>
              <a:rPr lang="en-US" altLang="zh-CN" dirty="0" err="1">
                <a:latin typeface="Courier New" panose="02070309020205020404" pitchFamily="49" charset="0"/>
                <a:cs typeface="Courier New" panose="02070309020205020404" pitchFamily="49" charset="0"/>
              </a:rPr>
              <a:t>window.close</a:t>
            </a:r>
            <a:endParaRPr lang="en-US" altLang="zh-CN" dirty="0">
              <a:latin typeface="Courier New" panose="02070309020205020404" pitchFamily="49" charset="0"/>
              <a:cs typeface="Courier New" panose="02070309020205020404" pitchFamily="49" charset="0"/>
            </a:endParaRPr>
          </a:p>
          <a:p>
            <a:pPr marL="457200" lvl="1" indent="0">
              <a:buNone/>
            </a:pPr>
            <a:r>
              <a:rPr lang="en-US" altLang="zh-CN" b="1" dirty="0">
                <a:latin typeface="Courier New" panose="02070309020205020404" pitchFamily="49" charset="0"/>
                <a:cs typeface="Courier New" panose="02070309020205020404" pitchFamily="49" charset="0"/>
              </a:rPr>
              <a:t>WITH</a:t>
            </a:r>
            <a:r>
              <a:rPr lang="en-US" altLang="zh-CN" dirty="0">
                <a:latin typeface="Courier New" panose="02070309020205020404" pitchFamily="49" charset="0"/>
                <a:cs typeface="Courier New" panose="02070309020205020404" pitchFamily="49" charset="0"/>
              </a:rPr>
              <a:t> time &lt; 60 and </a:t>
            </a:r>
            <a:r>
              <a:rPr lang="en-US" altLang="zh-CN" dirty="0" err="1">
                <a:latin typeface="Courier New" panose="02070309020205020404" pitchFamily="49" charset="0"/>
                <a:cs typeface="Courier New" panose="02070309020205020404" pitchFamily="49" charset="0"/>
              </a:rPr>
              <a:t>missratio</a:t>
            </a:r>
            <a:r>
              <a:rPr lang="en-US" altLang="zh-CN" dirty="0">
                <a:latin typeface="Courier New" panose="02070309020205020404" pitchFamily="49" charset="0"/>
                <a:cs typeface="Courier New" panose="02070309020205020404" pitchFamily="49" charset="0"/>
              </a:rPr>
              <a:t> &lt; 0.01</a:t>
            </a:r>
            <a:endParaRPr lang="en-US" altLang="zh-CN" dirty="0"/>
          </a:p>
          <a:p>
            <a:endParaRPr lang="en-US" altLang="zh-CN" dirty="0"/>
          </a:p>
          <a:p>
            <a:endParaRPr lang="en-US" altLang="zh-CN" dirty="0"/>
          </a:p>
          <a:p>
            <a:endParaRPr lang="en-US" altLang="zh-CN" dirty="0"/>
          </a:p>
          <a:p>
            <a:endParaRPr lang="en-US" altLang="zh-CN" dirty="0"/>
          </a:p>
        </p:txBody>
      </p:sp>
      <p:sp>
        <p:nvSpPr>
          <p:cNvPr id="10" name="矩形 5">
            <a:extLst>
              <a:ext uri="{FF2B5EF4-FFF2-40B4-BE49-F238E27FC236}">
                <a16:creationId xmlns:a16="http://schemas.microsoft.com/office/drawing/2014/main" id="{D835120B-3BB5-4463-BAAD-226F66978CA8}"/>
              </a:ext>
            </a:extLst>
          </p:cNvPr>
          <p:cNvSpPr/>
          <p:nvPr/>
        </p:nvSpPr>
        <p:spPr>
          <a:xfrm>
            <a:off x="0" y="6208067"/>
            <a:ext cx="9134061" cy="461665"/>
          </a:xfrm>
          <a:prstGeom prst="rect">
            <a:avLst/>
          </a:prstGeom>
        </p:spPr>
        <p:txBody>
          <a:bodyPr wrap="square">
            <a:spAutoFit/>
          </a:bodyPr>
          <a:lstStyle/>
          <a:p>
            <a:r>
              <a:rPr lang="en-GB" altLang="zh-CN" sz="1800" i="1" dirty="0" err="1">
                <a:solidFill>
                  <a:srgbClr val="222222"/>
                </a:solidFill>
              </a:rPr>
              <a:t>Heo</a:t>
            </a:r>
            <a:r>
              <a:rPr lang="en-GB" altLang="zh-CN" sz="1800" i="1" dirty="0">
                <a:solidFill>
                  <a:srgbClr val="222222"/>
                </a:solidFill>
              </a:rPr>
              <a:t>, </a:t>
            </a:r>
            <a:r>
              <a:rPr lang="en-GB" altLang="zh-CN" sz="1800" i="1" dirty="0" err="1">
                <a:solidFill>
                  <a:srgbClr val="222222"/>
                </a:solidFill>
              </a:rPr>
              <a:t>Seonyeong</a:t>
            </a:r>
            <a:r>
              <a:rPr lang="en-GB" altLang="zh-CN" sz="1800" i="1" dirty="0">
                <a:solidFill>
                  <a:srgbClr val="222222"/>
                </a:solidFill>
              </a:rPr>
              <a:t>, et al. " RT-IFTTT: Real-Time IoT Framework with Trigger Condition-aware Flexible Polling Intervals." Real-Time Systems Symposium (RTSS), 2017 IEEE . IEEE, 2017.</a:t>
            </a:r>
          </a:p>
        </p:txBody>
      </p:sp>
      <p:sp>
        <p:nvSpPr>
          <p:cNvPr id="11" name="灯片编号占位符 4">
            <a:extLst>
              <a:ext uri="{FF2B5EF4-FFF2-40B4-BE49-F238E27FC236}">
                <a16:creationId xmlns:a16="http://schemas.microsoft.com/office/drawing/2014/main" id="{367D55BC-E664-415D-B98D-444506C5F8E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IFTTT</a:t>
            </a:r>
            <a:endParaRPr lang="zh-CN" altLang="en-US" dirty="0"/>
          </a:p>
        </p:txBody>
      </p:sp>
      <p:sp>
        <p:nvSpPr>
          <p:cNvPr id="3" name="内容占位符 2"/>
          <p:cNvSpPr>
            <a:spLocks noGrp="1"/>
          </p:cNvSpPr>
          <p:nvPr>
            <p:ph idx="1"/>
          </p:nvPr>
        </p:nvSpPr>
        <p:spPr/>
        <p:txBody>
          <a:bodyPr/>
          <a:lstStyle/>
          <a:p>
            <a:r>
              <a:rPr lang="zh-CN" altLang="en-US" dirty="0"/>
              <a:t>公平性问题</a:t>
            </a:r>
            <a:endParaRPr lang="en-US" altLang="zh-CN" dirty="0"/>
          </a:p>
          <a:p>
            <a:pPr lvl="1"/>
            <a:r>
              <a:rPr lang="zh-CN" altLang="en-US" dirty="0"/>
              <a:t>某应用设置多条规则或者单条规则执行频率过高，可能会导致其余规则无法及时执行</a:t>
            </a:r>
            <a:endParaRPr lang="en-US" altLang="zh-CN" dirty="0"/>
          </a:p>
          <a:p>
            <a:pPr lvl="1"/>
            <a:r>
              <a:rPr lang="zh-CN" altLang="en-US" dirty="0"/>
              <a:t>解决方法</a:t>
            </a:r>
            <a:endParaRPr lang="en-US" altLang="zh-CN" dirty="0"/>
          </a:p>
          <a:p>
            <a:pPr lvl="2"/>
            <a:r>
              <a:rPr lang="zh-CN" altLang="en-US" dirty="0"/>
              <a:t>规则调度</a:t>
            </a:r>
            <a:r>
              <a:rPr lang="en-US" altLang="zh-CN" dirty="0"/>
              <a:t>-</a:t>
            </a:r>
            <a:r>
              <a:rPr lang="zh-CN" altLang="en-US" dirty="0"/>
              <a:t>尚无较好解决方案</a:t>
            </a:r>
            <a:endParaRPr lang="en-US" altLang="zh-CN" dirty="0"/>
          </a:p>
          <a:p>
            <a:r>
              <a:rPr lang="zh-CN" altLang="en-US" dirty="0"/>
              <a:t>应用逻辑与执行操作的耦合性问题</a:t>
            </a:r>
            <a:endParaRPr lang="en-US" altLang="zh-CN" dirty="0"/>
          </a:p>
          <a:p>
            <a:pPr lvl="1"/>
            <a:r>
              <a:rPr lang="zh-CN" altLang="en-US" dirty="0"/>
              <a:t>规则引擎技术</a:t>
            </a:r>
            <a:endParaRPr lang="en-US" altLang="zh-CN" dirty="0"/>
          </a:p>
        </p:txBody>
      </p:sp>
      <p:sp>
        <p:nvSpPr>
          <p:cNvPr id="6" name="灯片编号占位符 4">
            <a:extLst>
              <a:ext uri="{FF2B5EF4-FFF2-40B4-BE49-F238E27FC236}">
                <a16:creationId xmlns:a16="http://schemas.microsoft.com/office/drawing/2014/main" id="{35EA89CC-9731-4456-A2A7-80B57FFB862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规则引擎</a:t>
            </a:r>
          </a:p>
        </p:txBody>
      </p:sp>
      <p:sp>
        <p:nvSpPr>
          <p:cNvPr id="3" name="内容占位符 2"/>
          <p:cNvSpPr>
            <a:spLocks noGrp="1"/>
          </p:cNvSpPr>
          <p:nvPr>
            <p:ph idx="1"/>
          </p:nvPr>
        </p:nvSpPr>
        <p:spPr/>
        <p:txBody>
          <a:bodyPr/>
          <a:lstStyle/>
          <a:p>
            <a:r>
              <a:rPr lang="zh-CN" altLang="en-US"/>
              <a:t>为了进一步解耦应用逻辑与执行操作，工业界的实际实现（称为规则引擎）不同于上述</a:t>
            </a:r>
            <a:r>
              <a:rPr lang="en-US" altLang="zh-CN"/>
              <a:t>IFTTT</a:t>
            </a:r>
            <a:r>
              <a:rPr lang="zh-CN" altLang="en-US"/>
              <a:t>规则的使用方法</a:t>
            </a:r>
            <a:endParaRPr lang="en-US" altLang="zh-CN"/>
          </a:p>
          <a:p>
            <a:pPr lvl="1"/>
            <a:r>
              <a:rPr lang="zh-CN" altLang="en-US"/>
              <a:t>以阿里云为例：</a:t>
            </a:r>
          </a:p>
          <a:p>
            <a:pPr lvl="2"/>
            <a:r>
              <a:rPr lang="zh-CN" altLang="en-US"/>
              <a:t>可以使用</a:t>
            </a:r>
            <a:r>
              <a:rPr lang="en-US" altLang="zh-CN"/>
              <a:t>SQL</a:t>
            </a:r>
            <a:r>
              <a:rPr lang="zh-CN" altLang="en-US"/>
              <a:t>语句提取传感数据</a:t>
            </a:r>
            <a:endParaRPr lang="en-US" altLang="zh-CN"/>
          </a:p>
          <a:p>
            <a:pPr lvl="1"/>
            <a:endParaRPr lang="en-US" altLang="zh-CN"/>
          </a:p>
          <a:p>
            <a:pPr lvl="1"/>
            <a:endParaRPr lang="en-US" altLang="zh-CN"/>
          </a:p>
          <a:p>
            <a:pPr lvl="1"/>
            <a:endParaRPr lang="en-US" altLang="zh-CN"/>
          </a:p>
          <a:p>
            <a:pPr lvl="1"/>
            <a:endParaRPr lang="en-US" altLang="zh-CN"/>
          </a:p>
          <a:p>
            <a:pPr lvl="1"/>
            <a:endParaRPr lang="zh-CN" altLang="en-US"/>
          </a:p>
          <a:p>
            <a:pPr lvl="2"/>
            <a:r>
              <a:rPr lang="zh-CN" altLang="en-US"/>
              <a:t>提供消息转发（至其它服务）的功能，例如：</a:t>
            </a:r>
            <a:endParaRPr lang="en-US" altLang="zh-CN"/>
          </a:p>
          <a:p>
            <a:pPr lvl="3"/>
            <a:r>
              <a:rPr lang="zh-CN" altLang="en-US"/>
              <a:t>将数据转发至时序数据库</a:t>
            </a:r>
            <a:endParaRPr lang="en-US" altLang="zh-CN"/>
          </a:p>
          <a:p>
            <a:pPr lvl="3"/>
            <a:r>
              <a:rPr lang="zh-CN" altLang="en-US"/>
              <a:t>结合函数计算进行全托管的计算服务</a:t>
            </a:r>
          </a:p>
          <a:p>
            <a:pPr lvl="3"/>
            <a:r>
              <a:rPr lang="zh-CN" altLang="en-US"/>
              <a:t>发送消息推送给所有的相关用户</a:t>
            </a:r>
          </a:p>
          <a:p>
            <a:pPr lvl="3"/>
            <a:r>
              <a:rPr lang="zh-CN" altLang="en-US"/>
              <a:t>将数据发送给云平台的机器学习服务</a:t>
            </a:r>
            <a:endParaRPr lang="zh-CN" altLang="en-US" dirty="0"/>
          </a:p>
        </p:txBody>
      </p:sp>
      <p:pic>
        <p:nvPicPr>
          <p:cNvPr id="5" name="图片 4"/>
          <p:cNvPicPr>
            <a:picLocks noChangeAspect="1"/>
          </p:cNvPicPr>
          <p:nvPr/>
        </p:nvPicPr>
        <p:blipFill>
          <a:blip r:embed="rId3"/>
          <a:stretch>
            <a:fillRect/>
          </a:stretch>
        </p:blipFill>
        <p:spPr>
          <a:xfrm>
            <a:off x="2515602" y="2682656"/>
            <a:ext cx="3998495" cy="1787518"/>
          </a:xfrm>
          <a:prstGeom prst="rect">
            <a:avLst/>
          </a:prstGeom>
        </p:spPr>
      </p:pic>
      <p:sp>
        <p:nvSpPr>
          <p:cNvPr id="11" name="灯片编号占位符 4">
            <a:extLst>
              <a:ext uri="{FF2B5EF4-FFF2-40B4-BE49-F238E27FC236}">
                <a16:creationId xmlns:a16="http://schemas.microsoft.com/office/drawing/2014/main" id="{1AF68CA6-D2CD-4D60-BC28-00F5658D574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1555" y="1853581"/>
            <a:ext cx="6720889" cy="4547219"/>
          </a:xfrm>
          <a:prstGeom prst="rect">
            <a:avLst/>
          </a:prstGeom>
        </p:spPr>
      </p:pic>
      <p:sp>
        <p:nvSpPr>
          <p:cNvPr id="2" name="标题 1"/>
          <p:cNvSpPr>
            <a:spLocks noGrp="1"/>
          </p:cNvSpPr>
          <p:nvPr>
            <p:ph type="title"/>
          </p:nvPr>
        </p:nvSpPr>
        <p:spPr/>
        <p:txBody>
          <a:bodyPr/>
          <a:lstStyle/>
          <a:p>
            <a:r>
              <a:rPr lang="zh-CN" altLang="en-US"/>
              <a:t>规则引擎</a:t>
            </a:r>
          </a:p>
        </p:txBody>
      </p:sp>
      <p:sp>
        <p:nvSpPr>
          <p:cNvPr id="7" name="内容占位符 6"/>
          <p:cNvSpPr>
            <a:spLocks noGrp="1"/>
          </p:cNvSpPr>
          <p:nvPr>
            <p:ph idx="1"/>
          </p:nvPr>
        </p:nvSpPr>
        <p:spPr/>
        <p:txBody>
          <a:bodyPr/>
          <a:lstStyle/>
          <a:p>
            <a:r>
              <a:rPr lang="zh-CN" altLang="en-US"/>
              <a:t>规则引擎在物联网云平台中的位置</a:t>
            </a:r>
          </a:p>
        </p:txBody>
      </p:sp>
      <p:sp>
        <p:nvSpPr>
          <p:cNvPr id="5" name="灯片编号占位符 4">
            <a:extLst>
              <a:ext uri="{FF2B5EF4-FFF2-40B4-BE49-F238E27FC236}">
                <a16:creationId xmlns:a16="http://schemas.microsoft.com/office/drawing/2014/main" id="{36CC1D86-66DD-4CDA-9102-BB1B7118148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规则引擎</a:t>
            </a:r>
            <a:r>
              <a:rPr lang="en-US" altLang="zh-CN"/>
              <a:t>-</a:t>
            </a:r>
            <a:r>
              <a:rPr lang="zh-CN" altLang="en-US"/>
              <a:t>案例</a:t>
            </a:r>
            <a:endParaRPr lang="zh-CN" altLang="en-US" dirty="0"/>
          </a:p>
        </p:txBody>
      </p:sp>
      <p:sp>
        <p:nvSpPr>
          <p:cNvPr id="3" name="内容占位符 2"/>
          <p:cNvSpPr>
            <a:spLocks noGrp="1"/>
          </p:cNvSpPr>
          <p:nvPr>
            <p:ph idx="1"/>
          </p:nvPr>
        </p:nvSpPr>
        <p:spPr/>
        <p:txBody>
          <a:bodyPr/>
          <a:lstStyle/>
          <a:p>
            <a:r>
              <a:rPr lang="zh-CN" altLang="en-US"/>
              <a:t>案例：使用智能手机控制智能灯泡</a:t>
            </a:r>
            <a:endParaRPr lang="en-US" altLang="zh-CN"/>
          </a:p>
        </p:txBody>
      </p:sp>
      <p:pic>
        <p:nvPicPr>
          <p:cNvPr id="4" name="图片 3"/>
          <p:cNvPicPr>
            <a:picLocks noChangeAspect="1"/>
          </p:cNvPicPr>
          <p:nvPr/>
        </p:nvPicPr>
        <p:blipFill>
          <a:blip r:embed="rId2"/>
          <a:stretch>
            <a:fillRect/>
          </a:stretch>
        </p:blipFill>
        <p:spPr>
          <a:xfrm>
            <a:off x="166900" y="1857674"/>
            <a:ext cx="8886399" cy="3838629"/>
          </a:xfrm>
          <a:prstGeom prst="rect">
            <a:avLst/>
          </a:prstGeom>
        </p:spPr>
      </p:pic>
      <p:sp>
        <p:nvSpPr>
          <p:cNvPr id="7" name="灯片编号占位符 4">
            <a:extLst>
              <a:ext uri="{FF2B5EF4-FFF2-40B4-BE49-F238E27FC236}">
                <a16:creationId xmlns:a16="http://schemas.microsoft.com/office/drawing/2014/main" id="{46170AF4-D16A-4C34-B7EA-80FE23C5978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规则引擎</a:t>
            </a:r>
            <a:r>
              <a:rPr lang="en-US" altLang="zh-CN"/>
              <a:t>-</a:t>
            </a:r>
            <a:r>
              <a:rPr lang="zh-CN" altLang="en-US"/>
              <a:t>案例</a:t>
            </a:r>
            <a:endParaRPr lang="zh-CN" altLang="en-US" dirty="0"/>
          </a:p>
        </p:txBody>
      </p:sp>
      <p:sp>
        <p:nvSpPr>
          <p:cNvPr id="3" name="内容占位符 2"/>
          <p:cNvSpPr>
            <a:spLocks noGrp="1"/>
          </p:cNvSpPr>
          <p:nvPr>
            <p:ph idx="1"/>
          </p:nvPr>
        </p:nvSpPr>
        <p:spPr/>
        <p:txBody>
          <a:bodyPr/>
          <a:lstStyle/>
          <a:p>
            <a:r>
              <a:rPr lang="zh-CN" altLang="en-US"/>
              <a:t>（</a:t>
            </a:r>
            <a:r>
              <a:rPr lang="en-US" altLang="zh-CN"/>
              <a:t>1</a:t>
            </a:r>
            <a:r>
              <a:rPr lang="zh-CN" altLang="en-US"/>
              <a:t>）智能手机将消息发布到</a:t>
            </a:r>
            <a:r>
              <a:rPr lang="en-US" altLang="zh-CN"/>
              <a:t>Topic1</a:t>
            </a:r>
          </a:p>
          <a:p>
            <a:pPr lvl="1"/>
            <a:r>
              <a:rPr lang="zh-CN" altLang="en-US"/>
              <a:t>手机</a:t>
            </a:r>
            <a:r>
              <a:rPr lang="en-US" altLang="zh-CN"/>
              <a:t>App</a:t>
            </a:r>
            <a:r>
              <a:rPr lang="zh-CN" altLang="en-US"/>
              <a:t>获取到智能灯泡的</a:t>
            </a:r>
            <a:r>
              <a:rPr lang="en-US" altLang="zh-CN"/>
              <a:t>deviceName</a:t>
            </a:r>
          </a:p>
          <a:p>
            <a:pPr lvl="1"/>
            <a:r>
              <a:rPr lang="zh-CN" altLang="en-US"/>
              <a:t>通过</a:t>
            </a:r>
            <a:r>
              <a:rPr lang="en-US" altLang="zh-CN"/>
              <a:t>MQTT</a:t>
            </a:r>
            <a:r>
              <a:rPr lang="zh-CN" altLang="en-US"/>
              <a:t>向物联网平台中的</a:t>
            </a:r>
            <a:r>
              <a:rPr lang="en-US" altLang="zh-CN"/>
              <a:t>Topic1</a:t>
            </a:r>
            <a:r>
              <a:rPr lang="zh-CN" altLang="en-US"/>
              <a:t>发布消息</a:t>
            </a:r>
            <a:endParaRPr lang="en-US" altLang="zh-CN"/>
          </a:p>
        </p:txBody>
      </p:sp>
      <p:pic>
        <p:nvPicPr>
          <p:cNvPr id="4" name="图片 3"/>
          <p:cNvPicPr>
            <a:picLocks noChangeAspect="1"/>
          </p:cNvPicPr>
          <p:nvPr/>
        </p:nvPicPr>
        <p:blipFill>
          <a:blip r:embed="rId3"/>
          <a:stretch>
            <a:fillRect/>
          </a:stretch>
        </p:blipFill>
        <p:spPr>
          <a:xfrm>
            <a:off x="138541" y="2544817"/>
            <a:ext cx="8885382" cy="3838190"/>
          </a:xfrm>
          <a:prstGeom prst="rect">
            <a:avLst/>
          </a:prstGeom>
        </p:spPr>
      </p:pic>
      <p:sp>
        <p:nvSpPr>
          <p:cNvPr id="5" name="矩形 4"/>
          <p:cNvSpPr/>
          <p:nvPr/>
        </p:nvSpPr>
        <p:spPr bwMode="auto">
          <a:xfrm>
            <a:off x="64655" y="4655127"/>
            <a:ext cx="6668654" cy="1745673"/>
          </a:xfrm>
          <a:prstGeom prst="rect">
            <a:avLst/>
          </a:prstGeom>
          <a:noFill/>
          <a:ln w="19050"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8" name="灯片编号占位符 4">
            <a:extLst>
              <a:ext uri="{FF2B5EF4-FFF2-40B4-BE49-F238E27FC236}">
                <a16:creationId xmlns:a16="http://schemas.microsoft.com/office/drawing/2014/main" id="{B8A5DD23-11EF-4AE8-BEF4-6153C6F7316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规则引擎</a:t>
            </a:r>
            <a:r>
              <a:rPr lang="en-US" altLang="zh-CN"/>
              <a:t>-</a:t>
            </a:r>
            <a:r>
              <a:rPr lang="zh-CN" altLang="en-US"/>
              <a:t>案例</a:t>
            </a:r>
            <a:endParaRPr lang="zh-CN" altLang="en-US" dirty="0"/>
          </a:p>
        </p:txBody>
      </p:sp>
      <p:sp>
        <p:nvSpPr>
          <p:cNvPr id="3" name="内容占位符 2"/>
          <p:cNvSpPr>
            <a:spLocks noGrp="1"/>
          </p:cNvSpPr>
          <p:nvPr>
            <p:ph idx="1"/>
          </p:nvPr>
        </p:nvSpPr>
        <p:spPr/>
        <p:txBody>
          <a:bodyPr/>
          <a:lstStyle/>
          <a:p>
            <a:r>
              <a:rPr lang="zh-CN" altLang="en-US"/>
              <a:t>（</a:t>
            </a:r>
            <a:r>
              <a:rPr lang="en-US" altLang="zh-CN"/>
              <a:t>2</a:t>
            </a:r>
            <a:r>
              <a:rPr lang="zh-CN" altLang="en-US"/>
              <a:t>）在规则引擎中配置规则并执行转发</a:t>
            </a:r>
            <a:endParaRPr lang="en-US" altLang="zh-CN"/>
          </a:p>
          <a:p>
            <a:pPr lvl="1"/>
            <a:r>
              <a:rPr lang="zh-CN" altLang="en-US"/>
              <a:t>配置规则从</a:t>
            </a:r>
            <a:r>
              <a:rPr lang="en-US" altLang="zh-CN"/>
              <a:t>Topic1: /pk1/controlApp/update/</a:t>
            </a:r>
            <a:r>
              <a:rPr lang="zh-CN" altLang="en-US"/>
              <a:t>筛选消息</a:t>
            </a:r>
            <a:endParaRPr lang="en-US" altLang="zh-CN"/>
          </a:p>
          <a:p>
            <a:pPr lvl="1"/>
            <a:r>
              <a:rPr lang="zh-CN" altLang="en-US"/>
              <a:t>将消息转发到</a:t>
            </a:r>
            <a:r>
              <a:rPr lang="en-US" altLang="zh-CN"/>
              <a:t>Topic2: /pk2/bulb/get</a:t>
            </a:r>
          </a:p>
          <a:p>
            <a:pPr lvl="1"/>
            <a:endParaRPr lang="en-US" altLang="zh-CN"/>
          </a:p>
        </p:txBody>
      </p:sp>
      <p:pic>
        <p:nvPicPr>
          <p:cNvPr id="8" name="图片 7"/>
          <p:cNvPicPr>
            <a:picLocks noChangeAspect="1"/>
          </p:cNvPicPr>
          <p:nvPr/>
        </p:nvPicPr>
        <p:blipFill>
          <a:blip r:embed="rId3"/>
          <a:stretch>
            <a:fillRect/>
          </a:stretch>
        </p:blipFill>
        <p:spPr>
          <a:xfrm>
            <a:off x="129309" y="2626578"/>
            <a:ext cx="8885382" cy="3838190"/>
          </a:xfrm>
          <a:prstGeom prst="rect">
            <a:avLst/>
          </a:prstGeom>
        </p:spPr>
      </p:pic>
      <p:sp>
        <p:nvSpPr>
          <p:cNvPr id="9" name="矩形 8"/>
          <p:cNvSpPr/>
          <p:nvPr/>
        </p:nvSpPr>
        <p:spPr bwMode="auto">
          <a:xfrm>
            <a:off x="7998695" y="3175944"/>
            <a:ext cx="1015996" cy="2547366"/>
          </a:xfrm>
          <a:prstGeom prst="rect">
            <a:avLst/>
          </a:prstGeom>
          <a:noFill/>
          <a:ln w="19050"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10" name="灯片编号占位符 4">
            <a:extLst>
              <a:ext uri="{FF2B5EF4-FFF2-40B4-BE49-F238E27FC236}">
                <a16:creationId xmlns:a16="http://schemas.microsoft.com/office/drawing/2014/main" id="{9EAD924A-28DF-48B0-9385-B75FACCE57A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规则引擎</a:t>
            </a:r>
            <a:r>
              <a:rPr lang="en-US" altLang="zh-CN"/>
              <a:t>-</a:t>
            </a:r>
            <a:r>
              <a:rPr lang="zh-CN" altLang="en-US"/>
              <a:t>案例</a:t>
            </a:r>
            <a:endParaRPr lang="zh-CN" altLang="en-US" dirty="0"/>
          </a:p>
        </p:txBody>
      </p:sp>
      <p:sp>
        <p:nvSpPr>
          <p:cNvPr id="3" name="内容占位符 2"/>
          <p:cNvSpPr>
            <a:spLocks noGrp="1"/>
          </p:cNvSpPr>
          <p:nvPr>
            <p:ph idx="1"/>
          </p:nvPr>
        </p:nvSpPr>
        <p:spPr/>
        <p:txBody>
          <a:bodyPr/>
          <a:lstStyle/>
          <a:p>
            <a:r>
              <a:rPr lang="zh-CN" altLang="en-US"/>
              <a:t>（</a:t>
            </a:r>
            <a:r>
              <a:rPr lang="en-US" altLang="zh-CN"/>
              <a:t>3</a:t>
            </a:r>
            <a:r>
              <a:rPr lang="zh-CN" altLang="en-US"/>
              <a:t>）智能灯泡根据接收到的消息修改状态</a:t>
            </a:r>
            <a:endParaRPr lang="en-US" altLang="zh-CN"/>
          </a:p>
          <a:p>
            <a:pPr lvl="1"/>
            <a:r>
              <a:rPr lang="zh-CN" altLang="en-US"/>
              <a:t>由于智能灯泡订阅了</a:t>
            </a:r>
            <a:r>
              <a:rPr lang="en-US" altLang="zh-CN"/>
              <a:t>Topic2</a:t>
            </a:r>
            <a:r>
              <a:rPr lang="zh-CN" altLang="en-US"/>
              <a:t>，就可以接收消息更改状态</a:t>
            </a:r>
          </a:p>
          <a:p>
            <a:endParaRPr lang="en-US" altLang="zh-CN"/>
          </a:p>
        </p:txBody>
      </p:sp>
      <p:pic>
        <p:nvPicPr>
          <p:cNvPr id="8" name="图片 7"/>
          <p:cNvPicPr>
            <a:picLocks noChangeAspect="1"/>
          </p:cNvPicPr>
          <p:nvPr/>
        </p:nvPicPr>
        <p:blipFill>
          <a:blip r:embed="rId2"/>
          <a:stretch>
            <a:fillRect/>
          </a:stretch>
        </p:blipFill>
        <p:spPr>
          <a:xfrm>
            <a:off x="138541" y="2544817"/>
            <a:ext cx="8885382" cy="3838190"/>
          </a:xfrm>
          <a:prstGeom prst="rect">
            <a:avLst/>
          </a:prstGeom>
        </p:spPr>
      </p:pic>
      <p:sp>
        <p:nvSpPr>
          <p:cNvPr id="10" name="矩形 9"/>
          <p:cNvSpPr/>
          <p:nvPr/>
        </p:nvSpPr>
        <p:spPr bwMode="auto">
          <a:xfrm>
            <a:off x="230909" y="2527024"/>
            <a:ext cx="6493164" cy="1518503"/>
          </a:xfrm>
          <a:prstGeom prst="rect">
            <a:avLst/>
          </a:prstGeom>
          <a:noFill/>
          <a:ln w="19050"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9" name="灯片编号占位符 4">
            <a:extLst>
              <a:ext uri="{FF2B5EF4-FFF2-40B4-BE49-F238E27FC236}">
                <a16:creationId xmlns:a16="http://schemas.microsoft.com/office/drawing/2014/main" id="{9FDA63DC-378C-496B-B6FB-D0497C4B444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规则引擎</a:t>
            </a:r>
            <a:r>
              <a:rPr lang="en-US" altLang="zh-CN"/>
              <a:t>-</a:t>
            </a:r>
            <a:r>
              <a:rPr lang="zh-CN" altLang="en-US"/>
              <a:t>案例</a:t>
            </a:r>
            <a:endParaRPr lang="zh-CN" altLang="en-US" dirty="0"/>
          </a:p>
        </p:txBody>
      </p:sp>
      <p:sp>
        <p:nvSpPr>
          <p:cNvPr id="2" name="内容占位符 1"/>
          <p:cNvSpPr>
            <a:spLocks noGrp="1"/>
          </p:cNvSpPr>
          <p:nvPr>
            <p:ph idx="1"/>
          </p:nvPr>
        </p:nvSpPr>
        <p:spPr/>
        <p:txBody>
          <a:bodyPr/>
          <a:lstStyle/>
          <a:p>
            <a:r>
              <a:rPr lang="zh-CN" altLang="en-US" dirty="0"/>
              <a:t>案例中的</a:t>
            </a:r>
            <a:r>
              <a:rPr lang="en-US" altLang="zh-CN" dirty="0"/>
              <a:t>Topic</a:t>
            </a:r>
            <a:r>
              <a:rPr lang="zh-CN" altLang="en-US" dirty="0"/>
              <a:t>为什么要分成两个</a:t>
            </a:r>
            <a:r>
              <a:rPr lang="en-US" altLang="zh-CN" dirty="0"/>
              <a:t>?</a:t>
            </a:r>
          </a:p>
          <a:p>
            <a:pPr lvl="1"/>
            <a:endParaRPr lang="en-US" altLang="zh-CN" dirty="0"/>
          </a:p>
          <a:p>
            <a:pPr lvl="1"/>
            <a:r>
              <a:rPr lang="zh-CN" altLang="en-US" dirty="0"/>
              <a:t>安全</a:t>
            </a:r>
            <a:endParaRPr lang="en-US" altLang="zh-CN" dirty="0"/>
          </a:p>
          <a:p>
            <a:pPr lvl="2"/>
            <a:r>
              <a:rPr lang="zh-CN" altLang="zh-CN" dirty="0"/>
              <a:t>限制物联网设备订阅特定的</a:t>
            </a:r>
            <a:r>
              <a:rPr lang="en-US" altLang="zh-CN" dirty="0"/>
              <a:t>Topic</a:t>
            </a:r>
            <a:r>
              <a:rPr lang="zh-CN" altLang="zh-CN" dirty="0"/>
              <a:t>可以避免设备被攻击后获取敏感信息</a:t>
            </a:r>
            <a:endParaRPr lang="en-US" altLang="zh-CN" dirty="0"/>
          </a:p>
          <a:p>
            <a:pPr lvl="1"/>
            <a:r>
              <a:rPr lang="zh-CN" altLang="en-US" dirty="0"/>
              <a:t>降低耦合</a:t>
            </a:r>
            <a:endParaRPr lang="en-US" altLang="zh-CN" dirty="0"/>
          </a:p>
          <a:p>
            <a:pPr lvl="2"/>
            <a:r>
              <a:rPr lang="zh-CN" altLang="en-US" dirty="0"/>
              <a:t>用不同的</a:t>
            </a:r>
            <a:r>
              <a:rPr lang="en-US" altLang="zh-CN" dirty="0"/>
              <a:t>Topic</a:t>
            </a:r>
            <a:r>
              <a:rPr lang="zh-CN" altLang="en-US" dirty="0"/>
              <a:t>隔离不同的设备，不同命令发送至不同</a:t>
            </a:r>
            <a:r>
              <a:rPr lang="en-US" altLang="zh-CN" dirty="0"/>
              <a:t>Topic</a:t>
            </a:r>
            <a:r>
              <a:rPr lang="zh-CN" altLang="en-US" dirty="0"/>
              <a:t>，不同设备订阅不同</a:t>
            </a:r>
            <a:r>
              <a:rPr lang="en-US" altLang="zh-CN" dirty="0"/>
              <a:t>Topic</a:t>
            </a:r>
            <a:r>
              <a:rPr lang="zh-CN" altLang="en-US" dirty="0"/>
              <a:t>，管理起来更方便</a:t>
            </a:r>
            <a:endParaRPr lang="en-US" altLang="zh-CN" dirty="0"/>
          </a:p>
          <a:p>
            <a:pPr lvl="1"/>
            <a:r>
              <a:rPr lang="zh-CN" altLang="en-US" dirty="0"/>
              <a:t>可扩展性</a:t>
            </a:r>
            <a:endParaRPr lang="en-US" altLang="zh-CN" dirty="0"/>
          </a:p>
          <a:p>
            <a:pPr lvl="2"/>
            <a:r>
              <a:rPr lang="zh-CN" altLang="en-US" dirty="0"/>
              <a:t>控制端不必为新加入的设备发送格式不同的命令消息，由规则引擎变更消息格式，并将其转发到目标</a:t>
            </a:r>
            <a:r>
              <a:rPr lang="en-US" altLang="zh-CN" dirty="0"/>
              <a:t>Topic</a:t>
            </a:r>
          </a:p>
        </p:txBody>
      </p:sp>
      <p:sp>
        <p:nvSpPr>
          <p:cNvPr id="6" name="灯片编号占位符 4">
            <a:extLst>
              <a:ext uri="{FF2B5EF4-FFF2-40B4-BE49-F238E27FC236}">
                <a16:creationId xmlns:a16="http://schemas.microsoft.com/office/drawing/2014/main" id="{2A9CC115-6527-4008-AEC9-9C5BBDAB886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t>设备连接</a:t>
            </a:r>
          </a:p>
          <a:p>
            <a:r>
              <a:rPr lang="zh-CN" altLang="en-US" dirty="0"/>
              <a:t>设备管理</a:t>
            </a:r>
          </a:p>
          <a:p>
            <a:r>
              <a:rPr lang="en-US" altLang="zh-CN" dirty="0"/>
              <a:t>IFTTT</a:t>
            </a:r>
            <a:r>
              <a:rPr lang="zh-CN" altLang="en-US" dirty="0"/>
              <a:t>与规则引擎</a:t>
            </a:r>
          </a:p>
          <a:p>
            <a:r>
              <a:rPr lang="zh-CN" altLang="en-US" dirty="0">
                <a:solidFill>
                  <a:srgbClr val="C00000"/>
                </a:solidFill>
              </a:rPr>
              <a:t>时序数据库与流计算</a:t>
            </a:r>
          </a:p>
          <a:p>
            <a:r>
              <a:rPr lang="zh-CN" altLang="en-US" dirty="0"/>
              <a:t>安全认证</a:t>
            </a:r>
          </a:p>
          <a:p>
            <a:r>
              <a:rPr lang="zh-CN" altLang="en-US" dirty="0"/>
              <a:t>无服务器计算</a:t>
            </a:r>
          </a:p>
          <a:p>
            <a:r>
              <a:rPr lang="zh-CN" altLang="en-US" dirty="0"/>
              <a:t>边缘计算</a:t>
            </a:r>
          </a:p>
          <a:p>
            <a:endParaRPr lang="zh-CN" altLang="en-US" dirty="0"/>
          </a:p>
        </p:txBody>
      </p:sp>
    </p:spTree>
    <p:extLst>
      <p:ext uri="{BB962C8B-B14F-4D97-AF65-F5344CB8AC3E}">
        <p14:creationId xmlns:p14="http://schemas.microsoft.com/office/powerpoint/2010/main" val="650494759"/>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时序数据库</a:t>
            </a:r>
          </a:p>
        </p:txBody>
      </p:sp>
      <p:sp>
        <p:nvSpPr>
          <p:cNvPr id="3" name="内容占位符 2"/>
          <p:cNvSpPr>
            <a:spLocks noGrp="1"/>
          </p:cNvSpPr>
          <p:nvPr>
            <p:ph idx="1"/>
          </p:nvPr>
        </p:nvSpPr>
        <p:spPr/>
        <p:txBody>
          <a:bodyPr/>
          <a:lstStyle/>
          <a:p>
            <a:r>
              <a:rPr lang="zh-CN" altLang="en-US"/>
              <a:t>时序数据（</a:t>
            </a:r>
            <a:r>
              <a:rPr lang="en-US" altLang="zh-CN"/>
              <a:t>Time Series Data</a:t>
            </a:r>
            <a:r>
              <a:rPr lang="zh-CN" altLang="en-US"/>
              <a:t>）</a:t>
            </a:r>
            <a:r>
              <a:rPr lang="en-US" altLang="zh-CN"/>
              <a:t>: </a:t>
            </a:r>
            <a:r>
              <a:rPr lang="zh-CN" altLang="en-US"/>
              <a:t>带有</a:t>
            </a:r>
            <a:r>
              <a:rPr lang="en-US" altLang="zh-CN"/>
              <a:t>timestamp</a:t>
            </a:r>
            <a:r>
              <a:rPr lang="zh-CN" altLang="en-US"/>
              <a:t>的数据</a:t>
            </a:r>
            <a:endParaRPr lang="en-US" altLang="zh-CN"/>
          </a:p>
          <a:p>
            <a:pPr lvl="1"/>
            <a:r>
              <a:rPr lang="zh-CN" altLang="en-US"/>
              <a:t>例：某工厂温度传感器每秒采集的室内温度</a:t>
            </a:r>
            <a:endParaRPr lang="en-US" altLang="zh-CN"/>
          </a:p>
          <a:p>
            <a:endParaRPr lang="en-US" altLang="zh-CN"/>
          </a:p>
          <a:p>
            <a:r>
              <a:rPr lang="zh-CN" altLang="en-US"/>
              <a:t>时序数据库（</a:t>
            </a:r>
            <a:r>
              <a:rPr lang="en-US" altLang="zh-CN"/>
              <a:t>Time Series Database</a:t>
            </a:r>
            <a:r>
              <a:rPr lang="zh-CN" altLang="en-US"/>
              <a:t>）</a:t>
            </a:r>
            <a:endParaRPr lang="en-US" altLang="zh-CN"/>
          </a:p>
          <a:p>
            <a:pPr lvl="1"/>
            <a:r>
              <a:rPr lang="zh-CN" altLang="en-US"/>
              <a:t>高效存取时序数据的数据管理系统</a:t>
            </a:r>
            <a:endParaRPr lang="en-US" altLang="zh-CN"/>
          </a:p>
          <a:p>
            <a:pPr lvl="2"/>
            <a:endParaRPr lang="en-US" altLang="zh-CN"/>
          </a:p>
          <a:p>
            <a:r>
              <a:rPr lang="zh-CN" altLang="en-US"/>
              <a:t>传统关系型数据库管理时序数据的问题</a:t>
            </a:r>
          </a:p>
          <a:p>
            <a:pPr lvl="1"/>
            <a:r>
              <a:rPr lang="zh-CN" altLang="en-US"/>
              <a:t>写入吞吐低：对频繁插入数据的效率不高</a:t>
            </a:r>
            <a:endParaRPr lang="en-US" altLang="zh-CN"/>
          </a:p>
          <a:p>
            <a:pPr lvl="1"/>
            <a:r>
              <a:rPr lang="zh-CN" altLang="en-US"/>
              <a:t>存储成本大：对于时序数据压缩不佳</a:t>
            </a:r>
            <a:endParaRPr lang="en-US" altLang="zh-CN"/>
          </a:p>
          <a:p>
            <a:pPr lvl="1"/>
            <a:r>
              <a:rPr lang="zh-CN" altLang="en-US"/>
              <a:t>维护成本高</a:t>
            </a:r>
            <a:endParaRPr lang="en-US" altLang="zh-CN"/>
          </a:p>
          <a:p>
            <a:pPr lvl="1"/>
            <a:r>
              <a:rPr lang="zh-CN" altLang="en-US"/>
              <a:t>查询性能差</a:t>
            </a:r>
            <a:endParaRPr lang="en-US" altLang="zh-CN"/>
          </a:p>
        </p:txBody>
      </p:sp>
      <p:sp>
        <p:nvSpPr>
          <p:cNvPr id="8" name="灯片编号占位符 4">
            <a:extLst>
              <a:ext uri="{FF2B5EF4-FFF2-40B4-BE49-F238E27FC236}">
                <a16:creationId xmlns:a16="http://schemas.microsoft.com/office/drawing/2014/main" id="{4B8376B0-9A58-4E51-B1B5-397EAEFE87C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典型时序数据库</a:t>
            </a:r>
          </a:p>
        </p:txBody>
      </p:sp>
      <p:sp>
        <p:nvSpPr>
          <p:cNvPr id="3" name="内容占位符 2"/>
          <p:cNvSpPr>
            <a:spLocks noGrp="1"/>
          </p:cNvSpPr>
          <p:nvPr>
            <p:ph idx="1"/>
          </p:nvPr>
        </p:nvSpPr>
        <p:spPr/>
        <p:txBody>
          <a:bodyPr/>
          <a:lstStyle/>
          <a:p>
            <a:r>
              <a:rPr lang="zh-CN" altLang="en-US"/>
              <a:t>开源产品</a:t>
            </a:r>
          </a:p>
          <a:p>
            <a:pPr lvl="1"/>
            <a:r>
              <a:rPr lang="en-US" altLang="zh-CN"/>
              <a:t>InfluxDB</a:t>
            </a:r>
          </a:p>
          <a:p>
            <a:pPr lvl="1"/>
            <a:r>
              <a:rPr lang="en-US" altLang="zh-CN"/>
              <a:t>KairosDB</a:t>
            </a:r>
          </a:p>
          <a:p>
            <a:pPr lvl="1"/>
            <a:r>
              <a:rPr lang="en-US" altLang="zh-CN"/>
              <a:t>OpenTSDB</a:t>
            </a:r>
          </a:p>
          <a:p>
            <a:pPr lvl="1"/>
            <a:r>
              <a:rPr lang="en-US" altLang="zh-CN"/>
              <a:t>Beringei</a:t>
            </a:r>
            <a:r>
              <a:rPr lang="zh-CN" altLang="en-US"/>
              <a:t>（</a:t>
            </a:r>
            <a:r>
              <a:rPr lang="en-US" altLang="zh-CN"/>
              <a:t>Facebook</a:t>
            </a:r>
            <a:r>
              <a:rPr lang="zh-CN" altLang="en-US"/>
              <a:t>）</a:t>
            </a:r>
            <a:endParaRPr lang="en-US" altLang="zh-CN"/>
          </a:p>
          <a:p>
            <a:pPr lvl="1"/>
            <a:r>
              <a:rPr lang="en-US" altLang="zh-CN"/>
              <a:t>TimeScaleDB</a:t>
            </a:r>
          </a:p>
          <a:p>
            <a:r>
              <a:rPr lang="en-US" altLang="zh-CN"/>
              <a:t>云厂商服务</a:t>
            </a:r>
          </a:p>
          <a:p>
            <a:pPr lvl="1"/>
            <a:r>
              <a:rPr lang="en-US" altLang="zh-CN"/>
              <a:t>AWS Timestream</a:t>
            </a:r>
          </a:p>
          <a:p>
            <a:pPr lvl="1"/>
            <a:r>
              <a:rPr lang="zh-CN" altLang="en-US"/>
              <a:t>阿里云</a:t>
            </a:r>
            <a:r>
              <a:rPr lang="en-US" altLang="zh-CN"/>
              <a:t>TSDB </a:t>
            </a:r>
            <a:endParaRPr lang="en-US" altLang="zh-CN" dirty="0"/>
          </a:p>
        </p:txBody>
      </p:sp>
      <p:sp>
        <p:nvSpPr>
          <p:cNvPr id="6" name="灯片编号占位符 4">
            <a:extLst>
              <a:ext uri="{FF2B5EF4-FFF2-40B4-BE49-F238E27FC236}">
                <a16:creationId xmlns:a16="http://schemas.microsoft.com/office/drawing/2014/main" id="{E6B5CA0E-6930-4876-96C7-DE2A566245C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时序数据库</a:t>
            </a:r>
            <a:r>
              <a:rPr lang="en-US" altLang="zh-CN" dirty="0"/>
              <a:t>-</a:t>
            </a:r>
            <a:r>
              <a:rPr lang="zh-CN" altLang="en-US" dirty="0"/>
              <a:t>特点</a:t>
            </a:r>
          </a:p>
        </p:txBody>
      </p:sp>
      <p:sp>
        <p:nvSpPr>
          <p:cNvPr id="3" name="内容占位符 2"/>
          <p:cNvSpPr>
            <a:spLocks noGrp="1"/>
          </p:cNvSpPr>
          <p:nvPr>
            <p:ph idx="1"/>
          </p:nvPr>
        </p:nvSpPr>
        <p:spPr/>
        <p:txBody>
          <a:bodyPr/>
          <a:lstStyle/>
          <a:p>
            <a:r>
              <a:rPr lang="zh-CN" altLang="en-US" dirty="0"/>
              <a:t>没有更新操作</a:t>
            </a:r>
            <a:endParaRPr lang="en-US" altLang="zh-CN" dirty="0"/>
          </a:p>
          <a:p>
            <a:pPr lvl="1"/>
            <a:r>
              <a:rPr lang="zh-CN" altLang="en-US" dirty="0"/>
              <a:t>一般只支持插入查询删除操作</a:t>
            </a:r>
            <a:endParaRPr lang="en-US" altLang="zh-CN" dirty="0"/>
          </a:p>
          <a:p>
            <a:r>
              <a:rPr lang="zh-CN" altLang="en-US" dirty="0"/>
              <a:t>支持高并发写入</a:t>
            </a:r>
            <a:endParaRPr lang="en-US" altLang="zh-CN" dirty="0"/>
          </a:p>
          <a:p>
            <a:pPr lvl="1"/>
            <a:r>
              <a:rPr lang="zh-CN" altLang="en-US" dirty="0"/>
              <a:t>时序数据库大部分时间都在写入</a:t>
            </a:r>
            <a:endParaRPr lang="en-US" altLang="zh-CN" dirty="0"/>
          </a:p>
          <a:p>
            <a:pPr lvl="1"/>
            <a:r>
              <a:rPr lang="zh-CN" altLang="en-US" dirty="0"/>
              <a:t>借助</a:t>
            </a:r>
            <a:r>
              <a:rPr lang="en-US" altLang="zh-CN" dirty="0"/>
              <a:t>LSM</a:t>
            </a:r>
            <a:r>
              <a:rPr lang="zh-CN" altLang="en-US" dirty="0"/>
              <a:t>树，先写内存再顺序写入磁盘</a:t>
            </a:r>
            <a:endParaRPr lang="en-US" altLang="zh-CN" dirty="0"/>
          </a:p>
          <a:p>
            <a:r>
              <a:rPr lang="zh-CN" altLang="en-US" dirty="0"/>
              <a:t>低查询延时，高查询并发</a:t>
            </a:r>
            <a:endParaRPr lang="en-US" altLang="zh-CN" dirty="0"/>
          </a:p>
          <a:p>
            <a:pPr lvl="1"/>
            <a:r>
              <a:rPr lang="zh-CN" altLang="en-US" dirty="0"/>
              <a:t>分布式查询</a:t>
            </a:r>
            <a:endParaRPr lang="en-US" altLang="zh-CN" dirty="0"/>
          </a:p>
          <a:p>
            <a:pPr lvl="1"/>
            <a:r>
              <a:rPr lang="zh-CN" altLang="en-US" dirty="0"/>
              <a:t>数据预处理：预先计算，查询时直接返回少量运算结果</a:t>
            </a:r>
            <a:endParaRPr lang="en-US" altLang="zh-CN" dirty="0"/>
          </a:p>
          <a:p>
            <a:r>
              <a:rPr lang="zh-CN" altLang="en-US" dirty="0"/>
              <a:t>存储成本低</a:t>
            </a:r>
            <a:endParaRPr lang="en-US" altLang="zh-CN" dirty="0"/>
          </a:p>
          <a:p>
            <a:pPr lvl="1"/>
            <a:r>
              <a:rPr lang="zh-CN" altLang="en-US" dirty="0"/>
              <a:t>分级存储：内存，固态硬盘，机械硬盘</a:t>
            </a:r>
            <a:endParaRPr lang="en-US" altLang="zh-CN" dirty="0"/>
          </a:p>
          <a:p>
            <a:pPr lvl="1"/>
            <a:r>
              <a:rPr lang="zh-CN" altLang="en-US" dirty="0"/>
              <a:t>合理选择编码压缩算法，提高数据压缩比</a:t>
            </a:r>
            <a:endParaRPr lang="en-US" altLang="zh-CN" dirty="0"/>
          </a:p>
        </p:txBody>
      </p:sp>
      <p:sp>
        <p:nvSpPr>
          <p:cNvPr id="6" name="灯片编号占位符 4">
            <a:extLst>
              <a:ext uri="{FF2B5EF4-FFF2-40B4-BE49-F238E27FC236}">
                <a16:creationId xmlns:a16="http://schemas.microsoft.com/office/drawing/2014/main" id="{712E4AA8-94D0-4B52-8A0F-1706894F24E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流计算</a:t>
            </a:r>
            <a:endParaRPr lang="zh-CN" altLang="en-US" dirty="0"/>
          </a:p>
        </p:txBody>
      </p:sp>
      <p:sp>
        <p:nvSpPr>
          <p:cNvPr id="3" name="内容占位符 2"/>
          <p:cNvSpPr>
            <a:spLocks noGrp="1"/>
          </p:cNvSpPr>
          <p:nvPr>
            <p:ph idx="1"/>
          </p:nvPr>
        </p:nvSpPr>
        <p:spPr/>
        <p:txBody>
          <a:bodyPr/>
          <a:lstStyle/>
          <a:p>
            <a:r>
              <a:rPr lang="zh-CN" altLang="en-US"/>
              <a:t>流计算</a:t>
            </a:r>
            <a:endParaRPr lang="en-US" altLang="zh-CN"/>
          </a:p>
          <a:p>
            <a:pPr lvl="1"/>
            <a:r>
              <a:rPr lang="zh-CN" altLang="en-US"/>
              <a:t>严格的定义：对数据流进行一次扫描，并对其特征进行计算</a:t>
            </a:r>
            <a:endParaRPr lang="en-US" altLang="zh-CN"/>
          </a:p>
          <a:p>
            <a:pPr lvl="1"/>
            <a:r>
              <a:rPr lang="zh-CN" altLang="en-US"/>
              <a:t>一般的定义：流算法只对每个数据在短时间内做数次简单计算，流算法使用的内存空间通常较少</a:t>
            </a:r>
            <a:endParaRPr lang="en-US" altLang="zh-CN"/>
          </a:p>
          <a:p>
            <a:r>
              <a:rPr lang="zh-CN" altLang="en-US"/>
              <a:t>流计算的实际案例</a:t>
            </a:r>
            <a:endParaRPr lang="en-US" altLang="zh-CN"/>
          </a:p>
          <a:p>
            <a:pPr lvl="1"/>
            <a:r>
              <a:rPr lang="zh-CN" altLang="en-US"/>
              <a:t>高速路由器上数据流特征统计</a:t>
            </a:r>
            <a:endParaRPr lang="en-US" altLang="zh-CN"/>
          </a:p>
          <a:p>
            <a:pPr lvl="1"/>
            <a:r>
              <a:rPr lang="zh-CN" altLang="en-US"/>
              <a:t>金融数据的实时分析</a:t>
            </a:r>
            <a:endParaRPr lang="en-US" altLang="zh-CN"/>
          </a:p>
          <a:p>
            <a:r>
              <a:rPr lang="zh-CN" altLang="en-US"/>
              <a:t>是否存在高效的流算法？</a:t>
            </a:r>
            <a:endParaRPr lang="en-US" altLang="zh-CN"/>
          </a:p>
          <a:p>
            <a:pPr lvl="1"/>
            <a:r>
              <a:rPr lang="zh-CN" altLang="en-US"/>
              <a:t>计算数据流的平均数？</a:t>
            </a:r>
            <a:endParaRPr lang="en-US" altLang="zh-CN"/>
          </a:p>
          <a:p>
            <a:pPr lvl="1"/>
            <a:r>
              <a:rPr lang="zh-CN" altLang="en-US"/>
              <a:t>计算数据流的中位数？</a:t>
            </a:r>
            <a:endParaRPr lang="en-US" altLang="zh-CN"/>
          </a:p>
          <a:p>
            <a:pPr lvl="1"/>
            <a:r>
              <a:rPr lang="en-US" altLang="zh-CN"/>
              <a:t>1 – 100 </a:t>
            </a:r>
            <a:r>
              <a:rPr lang="zh-CN" altLang="en-US"/>
              <a:t>（无重复）缺了</a:t>
            </a:r>
            <a:r>
              <a:rPr lang="en-US" altLang="zh-CN"/>
              <a:t>2</a:t>
            </a:r>
            <a:r>
              <a:rPr lang="zh-CN" altLang="en-US"/>
              <a:t>个数，如何快速找出两个数？</a:t>
            </a:r>
            <a:endParaRPr lang="en-US" altLang="zh-CN" dirty="0"/>
          </a:p>
        </p:txBody>
      </p:sp>
      <p:sp>
        <p:nvSpPr>
          <p:cNvPr id="4" name="灯片编号占位符 4">
            <a:extLst>
              <a:ext uri="{FF2B5EF4-FFF2-40B4-BE49-F238E27FC236}">
                <a16:creationId xmlns:a16="http://schemas.microsoft.com/office/drawing/2014/main" id="{C5C57F5C-1A79-4EC6-9F00-2ADA4A776CD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D0856-A94A-4633-9400-CE4287F64458}"/>
              </a:ext>
            </a:extLst>
          </p:cNvPr>
          <p:cNvSpPr>
            <a:spLocks noGrp="1"/>
          </p:cNvSpPr>
          <p:nvPr>
            <p:ph type="title"/>
          </p:nvPr>
        </p:nvSpPr>
        <p:spPr/>
        <p:txBody>
          <a:bodyPr/>
          <a:lstStyle/>
          <a:p>
            <a:r>
              <a:rPr lang="zh-CN" altLang="en-US"/>
              <a:t>思考题</a:t>
            </a:r>
            <a:endParaRPr lang="zh-CN" altLang="en-US" dirty="0"/>
          </a:p>
        </p:txBody>
      </p:sp>
      <p:sp>
        <p:nvSpPr>
          <p:cNvPr id="3" name="内容占位符 2">
            <a:extLst>
              <a:ext uri="{FF2B5EF4-FFF2-40B4-BE49-F238E27FC236}">
                <a16:creationId xmlns:a16="http://schemas.microsoft.com/office/drawing/2014/main" id="{4BD9F0A1-DB4C-4FF2-BBD4-FC9C93F367BE}"/>
              </a:ext>
            </a:extLst>
          </p:cNvPr>
          <p:cNvSpPr>
            <a:spLocks noGrp="1"/>
          </p:cNvSpPr>
          <p:nvPr>
            <p:ph idx="1"/>
          </p:nvPr>
        </p:nvSpPr>
        <p:spPr/>
        <p:txBody>
          <a:bodyPr/>
          <a:lstStyle/>
          <a:p>
            <a:r>
              <a:rPr lang="zh-CN" altLang="zh-CN"/>
              <a:t>对于问题“快速找出</a:t>
            </a:r>
            <a:r>
              <a:rPr lang="en-US" altLang="zh-CN"/>
              <a:t>1</a:t>
            </a:r>
            <a:r>
              <a:rPr lang="zh-CN" altLang="zh-CN"/>
              <a:t>～</a:t>
            </a:r>
            <a:r>
              <a:rPr lang="en-US" altLang="zh-CN"/>
              <a:t>100</a:t>
            </a:r>
            <a:r>
              <a:rPr lang="zh-CN" altLang="zh-CN"/>
              <a:t>（无重复）中缺失的</a:t>
            </a:r>
            <a:r>
              <a:rPr lang="en-US" altLang="zh-CN"/>
              <a:t>2</a:t>
            </a:r>
            <a:r>
              <a:rPr lang="zh-CN" altLang="zh-CN"/>
              <a:t>个数”，除了利用流计算思想一次遍历计算得到，还有其他算法可以实现</a:t>
            </a:r>
            <a:r>
              <a:rPr lang="zh-CN" altLang="en-US"/>
              <a:t>。</a:t>
            </a:r>
            <a:endParaRPr lang="en-US" altLang="zh-CN"/>
          </a:p>
          <a:p>
            <a:pPr lvl="1"/>
            <a:r>
              <a:rPr lang="zh-CN" altLang="en-US"/>
              <a:t>请再提出一种算法，并通过实际编程测试，给出两种算法的运行时长的比值。</a:t>
            </a:r>
            <a:endParaRPr lang="en-US" altLang="zh-CN" dirty="0"/>
          </a:p>
        </p:txBody>
      </p:sp>
    </p:spTree>
    <p:extLst>
      <p:ext uri="{BB962C8B-B14F-4D97-AF65-F5344CB8AC3E}">
        <p14:creationId xmlns:p14="http://schemas.microsoft.com/office/powerpoint/2010/main" val="1837750661"/>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典型流计算框架</a:t>
            </a:r>
          </a:p>
        </p:txBody>
      </p:sp>
      <p:sp>
        <p:nvSpPr>
          <p:cNvPr id="3" name="内容占位符 2"/>
          <p:cNvSpPr>
            <a:spLocks noGrp="1"/>
          </p:cNvSpPr>
          <p:nvPr>
            <p:ph idx="1"/>
          </p:nvPr>
        </p:nvSpPr>
        <p:spPr/>
        <p:txBody>
          <a:bodyPr/>
          <a:lstStyle/>
          <a:p>
            <a:r>
              <a:rPr lang="en-US" altLang="zh-CN"/>
              <a:t>开源框架</a:t>
            </a:r>
          </a:p>
          <a:p>
            <a:pPr lvl="1"/>
            <a:r>
              <a:rPr lang="en-US" altLang="zh-CN"/>
              <a:t>Apache Flink </a:t>
            </a:r>
          </a:p>
          <a:p>
            <a:pPr lvl="1"/>
            <a:r>
              <a:rPr lang="en-US" altLang="zh-CN"/>
              <a:t>Spark streaming</a:t>
            </a:r>
          </a:p>
          <a:p>
            <a:pPr lvl="1"/>
            <a:r>
              <a:rPr lang="en-US" altLang="zh-CN"/>
              <a:t>Apache Kafka (LinkedIn)</a:t>
            </a:r>
          </a:p>
          <a:p>
            <a:pPr lvl="1"/>
            <a:r>
              <a:rPr lang="en-US" altLang="zh-CN"/>
              <a:t>Apache Storm (Twitter)</a:t>
            </a:r>
          </a:p>
          <a:p>
            <a:pPr lvl="1"/>
            <a:r>
              <a:rPr lang="en-US" altLang="zh-CN"/>
              <a:t>Apache Samza</a:t>
            </a:r>
          </a:p>
          <a:p>
            <a:pPr lvl="1"/>
            <a:r>
              <a:rPr lang="en-US" altLang="zh-CN"/>
              <a:t>Heron</a:t>
            </a:r>
          </a:p>
          <a:p>
            <a:r>
              <a:rPr lang="en-US" altLang="zh-CN"/>
              <a:t>云厂商服务</a:t>
            </a:r>
          </a:p>
          <a:p>
            <a:pPr lvl="1"/>
            <a:r>
              <a:rPr lang="en-US" altLang="zh-CN"/>
              <a:t>AWS Kinesis</a:t>
            </a:r>
            <a:endParaRPr lang="en-US"/>
          </a:p>
          <a:p>
            <a:pPr lvl="1"/>
            <a:r>
              <a:rPr lang="en-US"/>
              <a:t>Azure </a:t>
            </a:r>
            <a:r>
              <a:rPr lang="zh-CN" altLang="en-US"/>
              <a:t>流分析</a:t>
            </a:r>
            <a:endParaRPr lang="en-US"/>
          </a:p>
          <a:p>
            <a:pPr lvl="1"/>
            <a:r>
              <a:rPr lang="en-US" altLang="zh-CN"/>
              <a:t>阿里云实时计算</a:t>
            </a:r>
          </a:p>
          <a:p>
            <a:endParaRPr lang="en-US" altLang="zh-CN" dirty="0"/>
          </a:p>
        </p:txBody>
      </p:sp>
      <p:sp>
        <p:nvSpPr>
          <p:cNvPr id="6" name="灯片编号占位符 4">
            <a:extLst>
              <a:ext uri="{FF2B5EF4-FFF2-40B4-BE49-F238E27FC236}">
                <a16:creationId xmlns:a16="http://schemas.microsoft.com/office/drawing/2014/main" id="{D04327E6-CCA8-41A2-A78F-6A2797B7E08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t>设备连接</a:t>
            </a:r>
          </a:p>
          <a:p>
            <a:r>
              <a:rPr lang="zh-CN" altLang="en-US" dirty="0"/>
              <a:t>设备管理</a:t>
            </a:r>
          </a:p>
          <a:p>
            <a:r>
              <a:rPr lang="en-US" altLang="zh-CN" dirty="0"/>
              <a:t>IFTTT</a:t>
            </a:r>
            <a:r>
              <a:rPr lang="zh-CN" altLang="en-US" dirty="0"/>
              <a:t>与规则引擎</a:t>
            </a:r>
          </a:p>
          <a:p>
            <a:r>
              <a:rPr lang="zh-CN" altLang="en-US" dirty="0"/>
              <a:t>时序数据库与流计算</a:t>
            </a:r>
          </a:p>
          <a:p>
            <a:r>
              <a:rPr lang="zh-CN" altLang="en-US" dirty="0">
                <a:solidFill>
                  <a:srgbClr val="C00000"/>
                </a:solidFill>
              </a:rPr>
              <a:t>安全认证</a:t>
            </a:r>
          </a:p>
          <a:p>
            <a:r>
              <a:rPr lang="zh-CN" altLang="en-US" dirty="0"/>
              <a:t>无服务器计算</a:t>
            </a:r>
          </a:p>
          <a:p>
            <a:r>
              <a:rPr lang="zh-CN" altLang="en-US" dirty="0"/>
              <a:t>边缘计算</a:t>
            </a:r>
          </a:p>
          <a:p>
            <a:endParaRPr lang="zh-CN" altLang="en-US" dirty="0"/>
          </a:p>
        </p:txBody>
      </p:sp>
    </p:spTree>
    <p:extLst>
      <p:ext uri="{BB962C8B-B14F-4D97-AF65-F5344CB8AC3E}">
        <p14:creationId xmlns:p14="http://schemas.microsoft.com/office/powerpoint/2010/main" val="2045419791"/>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设备认证</a:t>
            </a:r>
          </a:p>
        </p:txBody>
      </p:sp>
      <p:sp>
        <p:nvSpPr>
          <p:cNvPr id="3" name="内容占位符 2"/>
          <p:cNvSpPr>
            <a:spLocks noGrp="1"/>
          </p:cNvSpPr>
          <p:nvPr>
            <p:ph idx="1"/>
          </p:nvPr>
        </p:nvSpPr>
        <p:spPr/>
        <p:txBody>
          <a:bodyPr/>
          <a:lstStyle/>
          <a:p>
            <a:r>
              <a:rPr lang="zh-CN" altLang="en-US"/>
              <a:t>基于对称密钥的设备认证</a:t>
            </a:r>
            <a:endParaRPr lang="en-US" altLang="zh-CN"/>
          </a:p>
          <a:p>
            <a:pPr lvl="1"/>
            <a:r>
              <a:rPr lang="zh-CN" altLang="en-US"/>
              <a:t>云平台和设备共享对称密钥</a:t>
            </a:r>
            <a:endParaRPr lang="en-US" altLang="zh-CN"/>
          </a:p>
          <a:p>
            <a:pPr lvl="1"/>
            <a:r>
              <a:rPr lang="zh-CN" altLang="en-US"/>
              <a:t>物联网云平台在添加设备时，生成密钥，用户在编写设备端代码时，将密钥配置在设备上</a:t>
            </a:r>
            <a:endParaRPr lang="en-US" altLang="zh-CN"/>
          </a:p>
          <a:p>
            <a:pPr lvl="1"/>
            <a:r>
              <a:rPr lang="zh-CN" altLang="en-US"/>
              <a:t>在实际使用中，设备端通过令牌与云平台连接，令牌由设备密钥对设备标识、随机数或时间戳等加密生成</a:t>
            </a:r>
            <a:endParaRPr lang="en-US" altLang="zh-CN"/>
          </a:p>
          <a:p>
            <a:pPr lvl="1"/>
            <a:endParaRPr lang="en-US" altLang="zh-CN"/>
          </a:p>
          <a:p>
            <a:endParaRPr lang="en-US" altLang="zh-CN"/>
          </a:p>
          <a:p>
            <a:endParaRPr lang="en-US" altLang="zh-CN"/>
          </a:p>
          <a:p>
            <a:endParaRPr lang="en-US" altLang="zh-CN"/>
          </a:p>
          <a:p>
            <a:endParaRPr lang="en-US" altLang="zh-CN"/>
          </a:p>
          <a:p>
            <a:endParaRPr lang="en-US" altLang="zh-CN"/>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8188" y="3523219"/>
            <a:ext cx="4183824" cy="3188209"/>
          </a:xfrm>
          <a:prstGeom prst="rect">
            <a:avLst/>
          </a:prstGeom>
        </p:spPr>
      </p:pic>
      <p:sp>
        <p:nvSpPr>
          <p:cNvPr id="7" name="灯片编号占位符 4">
            <a:extLst>
              <a:ext uri="{FF2B5EF4-FFF2-40B4-BE49-F238E27FC236}">
                <a16:creationId xmlns:a16="http://schemas.microsoft.com/office/drawing/2014/main" id="{E8D2DF22-642C-45BA-9A56-AECB7B39AE1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设备认证</a:t>
            </a:r>
            <a:endParaRPr lang="zh-CN" altLang="en-US" dirty="0"/>
          </a:p>
        </p:txBody>
      </p:sp>
      <p:sp>
        <p:nvSpPr>
          <p:cNvPr id="3" name="内容占位符 2"/>
          <p:cNvSpPr>
            <a:spLocks noGrp="1"/>
          </p:cNvSpPr>
          <p:nvPr>
            <p:ph idx="1"/>
          </p:nvPr>
        </p:nvSpPr>
        <p:spPr/>
        <p:txBody>
          <a:bodyPr/>
          <a:lstStyle/>
          <a:p>
            <a:r>
              <a:rPr lang="zh-CN" altLang="en-US" dirty="0"/>
              <a:t>基于非对称密钥的设备认证</a:t>
            </a:r>
          </a:p>
          <a:p>
            <a:pPr lvl="1"/>
            <a:r>
              <a:rPr lang="zh-CN" altLang="en-US" dirty="0"/>
              <a:t>设备使用私钥进行签名，云平台获取公钥用于认证</a:t>
            </a:r>
            <a:endParaRPr lang="en-US" altLang="zh-CN" dirty="0"/>
          </a:p>
          <a:p>
            <a:r>
              <a:rPr lang="zh-CN" altLang="en-US" dirty="0"/>
              <a:t>为了管理公钥，使用基于</a:t>
            </a:r>
            <a:r>
              <a:rPr lang="en-US" altLang="zh-CN" dirty="0"/>
              <a:t>X.509</a:t>
            </a:r>
            <a:r>
              <a:rPr lang="zh-CN" altLang="en-US" dirty="0"/>
              <a:t>证书的</a:t>
            </a:r>
            <a:r>
              <a:rPr lang="en-US" altLang="zh-CN" dirty="0"/>
              <a:t>PKI</a:t>
            </a:r>
            <a:r>
              <a:rPr lang="zh-CN" altLang="en-US" dirty="0"/>
              <a:t>机制</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sp>
        <p:nvSpPr>
          <p:cNvPr id="5" name="Rectangle 1027"/>
          <p:cNvSpPr txBox="1">
            <a:spLocks noChangeArrowheads="1"/>
          </p:cNvSpPr>
          <p:nvPr/>
        </p:nvSpPr>
        <p:spPr bwMode="auto">
          <a:xfrm>
            <a:off x="748356" y="2505584"/>
            <a:ext cx="7577497" cy="1693862"/>
          </a:xfrm>
          <a:prstGeom prst="rect">
            <a:avLst/>
          </a:prstGeom>
          <a:noFill/>
          <a:ln w="9525">
            <a:noFill/>
            <a:miter lim="800000"/>
          </a:ln>
          <a:effectLst/>
        </p:spPr>
        <p:txBody>
          <a:bodyPr vert="horz" wrap="square" lIns="91440" tIns="45720" rIns="91440" bIns="45720" numCol="1" anchor="t" anchorCtr="0" compatLnSpc="1"/>
          <a:lstStyle>
            <a:lvl1pPr marL="342900" marR="0" indent="-342900" algn="l" defTabSz="914400" rtl="0" eaLnBrk="0" fontAlgn="base" latinLnBrk="0" hangingPunct="0">
              <a:lnSpc>
                <a:spcPct val="100000"/>
              </a:lnSpc>
              <a:spcBef>
                <a:spcPct val="20000"/>
              </a:spcBef>
              <a:spcAft>
                <a:spcPct val="0"/>
              </a:spcAft>
              <a:buClr>
                <a:srgbClr val="C0504D"/>
              </a:buClr>
              <a:buSzTx/>
              <a:buFont typeface="Wingdings" panose="05000000000000000000" pitchFamily="2" charset="2"/>
              <a:buChar char="q"/>
              <a:defRPr lang="zh-CN" altLang="en-US" sz="24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marR="0" indent="-28575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Char char="Ø"/>
              <a:defRPr sz="2400" b="1" baseline="0">
                <a:solidFill>
                  <a:schemeClr val="tx1"/>
                </a:solidFill>
                <a:effectLst>
                  <a:outerShdw blurRad="38100" dist="38100" dir="2700000" algn="tl">
                    <a:srgbClr val="C0C0C0"/>
                  </a:outerShdw>
                </a:effectLst>
                <a:latin typeface="Garamond" panose="02020404030301010803" pitchFamily="18" charset="0"/>
              </a:defRPr>
            </a:lvl2pPr>
            <a:lvl3pPr marL="1143000" marR="0" indent="-228600" algn="l" defTabSz="914400" rtl="0" eaLnBrk="0" fontAlgn="base" latinLnBrk="0" hangingPunct="0">
              <a:lnSpc>
                <a:spcPct val="100000"/>
              </a:lnSpc>
              <a:spcBef>
                <a:spcPct val="20000"/>
              </a:spcBef>
              <a:spcAft>
                <a:spcPct val="0"/>
              </a:spcAft>
              <a:buClr>
                <a:srgbClr val="000000"/>
              </a:buClr>
              <a:buSzTx/>
              <a:buFont typeface="Times New Roman" panose="02020603050405020304" pitchFamily="18" charset="0"/>
              <a:buChar char="–"/>
              <a:defRPr sz="2000" b="1" i="1" baseline="0">
                <a:solidFill>
                  <a:schemeClr val="tx1"/>
                </a:solidFill>
                <a:latin typeface="Times New Roman" panose="02020603050405020304" pitchFamily="18" charset="0"/>
              </a:defRPr>
            </a:lvl3pPr>
            <a:lvl4pPr marL="1600200" marR="0" indent="-228600" algn="l" defTabSz="914400" rtl="0" eaLnBrk="0" fontAlgn="base" latinLnBrk="0" hangingPunct="0">
              <a:lnSpc>
                <a:spcPct val="100000"/>
              </a:lnSpc>
              <a:spcBef>
                <a:spcPct val="20000"/>
              </a:spcBef>
              <a:spcAft>
                <a:spcPct val="0"/>
              </a:spcAft>
              <a:buClr>
                <a:srgbClr val="000000"/>
              </a:buClr>
              <a:buSzPct val="100000"/>
              <a:buFont typeface="Wingdings" panose="05000000000000000000" pitchFamily="2" charset="2"/>
              <a:buChar char="ü"/>
              <a:defRPr sz="2000" baseline="0">
                <a:solidFill>
                  <a:schemeClr val="tx1"/>
                </a:solidFill>
                <a:latin typeface="+mn-lt"/>
              </a:defRPr>
            </a:lvl4pPr>
            <a:lvl5pPr marL="2057400" marR="0" indent="-228600" algn="l" defTabSz="914400" rtl="0" eaLnBrk="0" fontAlgn="base" latinLnBrk="0" hangingPunct="0">
              <a:lnSpc>
                <a:spcPct val="100000"/>
              </a:lnSpc>
              <a:spcBef>
                <a:spcPct val="20000"/>
              </a:spcBef>
              <a:spcAft>
                <a:spcPct val="0"/>
              </a:spcAft>
              <a:buClr>
                <a:srgbClr val="000000"/>
              </a:buClr>
              <a:buSzPct val="100000"/>
              <a:buFont typeface="Wingdings" panose="05000000000000000000" pitchFamily="2" charset="2"/>
              <a:buChar char="ü"/>
              <a:defRPr sz="1600" b="1" i="1" baseline="0">
                <a:solidFill>
                  <a:schemeClr val="tx1"/>
                </a:solidFill>
                <a:latin typeface="+mn-lt"/>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pPr eaLnBrk="1" hangingPunct="1">
              <a:lnSpc>
                <a:spcPct val="90000"/>
              </a:lnSpc>
              <a:buFont typeface="Wingdings" panose="05000000000000000000" pitchFamily="2" charset="2"/>
              <a:buNone/>
              <a:defRPr/>
            </a:pPr>
            <a:r>
              <a:rPr lang="en-US" altLang="zh-CN" sz="2000" b="0" kern="0" dirty="0">
                <a:latin typeface="+mj-ea"/>
                <a:ea typeface="+mj-ea"/>
              </a:rPr>
              <a:t>A possible certificate and its signed hash.</a:t>
            </a:r>
          </a:p>
          <a:p>
            <a:pPr eaLnBrk="1" hangingPunct="1">
              <a:lnSpc>
                <a:spcPct val="90000"/>
              </a:lnSpc>
              <a:buFont typeface="Wingdings" panose="05000000000000000000" pitchFamily="2" charset="2"/>
              <a:buNone/>
              <a:defRPr/>
            </a:pPr>
            <a:r>
              <a:rPr lang="en-US" altLang="zh-CN" sz="2000" b="0" kern="0" dirty="0">
                <a:solidFill>
                  <a:srgbClr val="C00000"/>
                </a:solidFill>
                <a:latin typeface="+mj-ea"/>
                <a:ea typeface="+mj-ea"/>
              </a:rPr>
              <a:t>P</a:t>
            </a:r>
            <a:r>
              <a:rPr lang="en-US" altLang="zh-CN" sz="2000" b="0" kern="0" baseline="-25000" dirty="0">
                <a:solidFill>
                  <a:srgbClr val="C00000"/>
                </a:solidFill>
                <a:latin typeface="+mj-ea"/>
                <a:ea typeface="+mj-ea"/>
              </a:rPr>
              <a:t>B</a:t>
            </a:r>
            <a:r>
              <a:rPr lang="en-US" altLang="zh-CN" sz="2000" b="0" kern="0" dirty="0">
                <a:solidFill>
                  <a:srgbClr val="C00000"/>
                </a:solidFill>
                <a:latin typeface="+mj-ea"/>
                <a:ea typeface="+mj-ea"/>
              </a:rPr>
              <a:t> || D</a:t>
            </a:r>
            <a:r>
              <a:rPr lang="en-US" altLang="zh-CN" sz="2000" b="0" kern="0" baseline="-25000" dirty="0">
                <a:solidFill>
                  <a:srgbClr val="C00000"/>
                </a:solidFill>
                <a:latin typeface="+mj-ea"/>
                <a:ea typeface="+mj-ea"/>
              </a:rPr>
              <a:t>CA</a:t>
            </a:r>
            <a:r>
              <a:rPr lang="en-US" altLang="zh-CN" sz="2000" b="0" kern="0" dirty="0">
                <a:solidFill>
                  <a:srgbClr val="C00000"/>
                </a:solidFill>
                <a:latin typeface="+mj-ea"/>
                <a:ea typeface="+mj-ea"/>
              </a:rPr>
              <a:t> (SHA(P</a:t>
            </a:r>
            <a:r>
              <a:rPr lang="en-US" altLang="zh-CN" sz="2000" b="0" kern="0" baseline="-25000" dirty="0">
                <a:solidFill>
                  <a:srgbClr val="C00000"/>
                </a:solidFill>
                <a:latin typeface="+mj-ea"/>
                <a:ea typeface="+mj-ea"/>
              </a:rPr>
              <a:t>B</a:t>
            </a:r>
            <a:r>
              <a:rPr lang="en-US" altLang="zh-CN" sz="2000" b="0" kern="0" dirty="0">
                <a:solidFill>
                  <a:srgbClr val="C00000"/>
                </a:solidFill>
                <a:latin typeface="+mj-ea"/>
                <a:ea typeface="+mj-ea"/>
              </a:rPr>
              <a:t>))</a:t>
            </a:r>
          </a:p>
          <a:p>
            <a:pPr eaLnBrk="1" hangingPunct="1">
              <a:lnSpc>
                <a:spcPct val="90000"/>
              </a:lnSpc>
              <a:buFont typeface="Wingdings" panose="05000000000000000000" pitchFamily="2" charset="2"/>
              <a:buNone/>
              <a:defRPr/>
            </a:pPr>
            <a:endParaRPr lang="en-US" altLang="zh-CN" kern="0" dirty="0">
              <a:solidFill>
                <a:srgbClr val="FF0000"/>
              </a:solidFill>
              <a:latin typeface="Times New Roman" panose="02020603050405020304" pitchFamily="18" charset="0"/>
            </a:endParaRPr>
          </a:p>
          <a:p>
            <a:pPr eaLnBrk="1" hangingPunct="1">
              <a:lnSpc>
                <a:spcPct val="90000"/>
              </a:lnSpc>
              <a:buFont typeface="Wingdings" panose="05000000000000000000" pitchFamily="2" charset="2"/>
              <a:buNone/>
              <a:defRPr/>
            </a:pPr>
            <a:endParaRPr lang="en-US" altLang="zh-CN" kern="0" dirty="0">
              <a:solidFill>
                <a:srgbClr val="FF0000"/>
              </a:solidFill>
              <a:latin typeface="Times New Roman" panose="02020603050405020304" pitchFamily="18" charset="0"/>
            </a:endParaRPr>
          </a:p>
          <a:p>
            <a:pPr eaLnBrk="1" hangingPunct="1">
              <a:lnSpc>
                <a:spcPct val="90000"/>
              </a:lnSpc>
              <a:buFont typeface="Wingdings" panose="05000000000000000000" pitchFamily="2" charset="2"/>
              <a:buNone/>
              <a:defRPr/>
            </a:pPr>
            <a:endParaRPr lang="en-US" altLang="zh-CN" kern="0" dirty="0">
              <a:solidFill>
                <a:srgbClr val="FF0000"/>
              </a:solidFill>
              <a:latin typeface="Times New Roman" panose="02020603050405020304" pitchFamily="18" charset="0"/>
            </a:endParaRPr>
          </a:p>
          <a:p>
            <a:pPr eaLnBrk="1" hangingPunct="1">
              <a:lnSpc>
                <a:spcPct val="90000"/>
              </a:lnSpc>
              <a:buFont typeface="Wingdings" panose="05000000000000000000" pitchFamily="2" charset="2"/>
              <a:buNone/>
              <a:defRPr/>
            </a:pPr>
            <a:endParaRPr lang="en-US" altLang="zh-CN" kern="0" dirty="0">
              <a:solidFill>
                <a:srgbClr val="FF0000"/>
              </a:solidFill>
              <a:latin typeface="Times New Roman" panose="02020603050405020304" pitchFamily="18" charset="0"/>
            </a:endParaRPr>
          </a:p>
          <a:p>
            <a:pPr eaLnBrk="1" hangingPunct="1">
              <a:lnSpc>
                <a:spcPct val="90000"/>
              </a:lnSpc>
              <a:buFont typeface="Wingdings" panose="05000000000000000000" pitchFamily="2" charset="2"/>
              <a:buNone/>
              <a:defRPr/>
            </a:pPr>
            <a:endParaRPr lang="en-US" altLang="zh-CN" kern="0" dirty="0">
              <a:solidFill>
                <a:srgbClr val="FF0000"/>
              </a:solidFill>
              <a:latin typeface="Times New Roman" panose="02020603050405020304" pitchFamily="18" charset="0"/>
            </a:endParaRPr>
          </a:p>
          <a:p>
            <a:pPr eaLnBrk="1" hangingPunct="1">
              <a:lnSpc>
                <a:spcPct val="90000"/>
              </a:lnSpc>
              <a:buFont typeface="Wingdings" panose="05000000000000000000" pitchFamily="2" charset="2"/>
              <a:buNone/>
              <a:defRPr/>
            </a:pPr>
            <a:endParaRPr lang="en-US" altLang="zh-CN" kern="0" dirty="0">
              <a:solidFill>
                <a:srgbClr val="FF0000"/>
              </a:solidFill>
              <a:latin typeface="Times New Roman" panose="02020603050405020304" pitchFamily="18" charset="0"/>
            </a:endParaRPr>
          </a:p>
          <a:p>
            <a:pPr marL="0" eaLnBrk="1" hangingPunct="1">
              <a:lnSpc>
                <a:spcPct val="90000"/>
              </a:lnSpc>
              <a:buFont typeface="Wingdings" panose="05000000000000000000" pitchFamily="2" charset="2"/>
              <a:buNone/>
              <a:defRPr/>
            </a:pPr>
            <a:r>
              <a:rPr lang="en-US" altLang="zh-CN" kern="0" dirty="0">
                <a:latin typeface="Times New Roman" panose="02020603050405020304" pitchFamily="18" charset="0"/>
              </a:rPr>
              <a:t>It is assumed that everyone knows the CA’s public key</a:t>
            </a:r>
          </a:p>
        </p:txBody>
      </p:sp>
      <p:pic>
        <p:nvPicPr>
          <p:cNvPr id="6" name="Picture 1028" descr="8-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 y="3317046"/>
            <a:ext cx="851535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4">
            <a:extLst>
              <a:ext uri="{FF2B5EF4-FFF2-40B4-BE49-F238E27FC236}">
                <a16:creationId xmlns:a16="http://schemas.microsoft.com/office/drawing/2014/main" id="{E764E3DE-B424-42ED-8F86-2FBC40E63C4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zh-CN" altLang="en-US"/>
              <a:t>设备认证</a:t>
            </a:r>
          </a:p>
        </p:txBody>
      </p:sp>
      <p:sp>
        <p:nvSpPr>
          <p:cNvPr id="72707" name="Content Placeholder 2"/>
          <p:cNvSpPr>
            <a:spLocks noGrp="1"/>
          </p:cNvSpPr>
          <p:nvPr>
            <p:ph idx="1"/>
          </p:nvPr>
        </p:nvSpPr>
        <p:spPr/>
        <p:txBody>
          <a:bodyPr/>
          <a:lstStyle/>
          <a:p>
            <a:r>
              <a:rPr lang="en-US" altLang="zh-CN"/>
              <a:t>X.509</a:t>
            </a:r>
            <a:r>
              <a:rPr lang="zh-CN" altLang="en-US"/>
              <a:t>是否会被攻击？</a:t>
            </a:r>
            <a:endParaRPr lang="en-US" altLang="zh-CN"/>
          </a:p>
          <a:p>
            <a:r>
              <a:rPr lang="en-US" altLang="zh-CN"/>
              <a:t>What Trudy can do?</a:t>
            </a:r>
          </a:p>
          <a:p>
            <a:r>
              <a:rPr lang="en-US" altLang="zh-CN"/>
              <a:t>1. put  PT || DCA (SHA(PT)) on fake page. Alice will find since PT says it is Trudy!</a:t>
            </a:r>
          </a:p>
          <a:p>
            <a:r>
              <a:rPr lang="en-US" altLang="zh-CN"/>
              <a:t>2. modify PB to PB2  by replacing Trudy’s public key. But Trudy cannot generate the signed block: PB2 || DCA (SHA(PB)). Alice will find mismatch!</a:t>
            </a:r>
          </a:p>
          <a:p>
            <a:pPr lvl="1"/>
            <a:r>
              <a:rPr lang="en-US" altLang="zh-CN"/>
              <a:t>SHA(PB2) != ECA( DCA (SHA(PB)) ).</a:t>
            </a:r>
            <a:endParaRPr lang="zh-CN" altLang="en-US"/>
          </a:p>
          <a:p>
            <a:endParaRPr lang="zh-CN" altLang="en-US"/>
          </a:p>
          <a:p>
            <a:endParaRPr lang="en-US" altLang="zh-CN"/>
          </a:p>
          <a:p>
            <a:pPr lvl="1"/>
            <a:endParaRPr lang="zh-CN" altLang="en-US" dirty="0"/>
          </a:p>
        </p:txBody>
      </p:sp>
      <p:sp>
        <p:nvSpPr>
          <p:cNvPr id="8" name="灯片编号占位符 4">
            <a:extLst>
              <a:ext uri="{FF2B5EF4-FFF2-40B4-BE49-F238E27FC236}">
                <a16:creationId xmlns:a16="http://schemas.microsoft.com/office/drawing/2014/main" id="{DDA7E291-110B-4740-AC4F-29445B2FDBF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设备认证</a:t>
            </a:r>
          </a:p>
        </p:txBody>
      </p:sp>
      <p:sp>
        <p:nvSpPr>
          <p:cNvPr id="3" name="内容占位符 2"/>
          <p:cNvSpPr>
            <a:spLocks noGrp="1"/>
          </p:cNvSpPr>
          <p:nvPr>
            <p:ph idx="1"/>
          </p:nvPr>
        </p:nvSpPr>
        <p:spPr/>
        <p:txBody>
          <a:bodyPr/>
          <a:lstStyle/>
          <a:p>
            <a:r>
              <a:rPr lang="en-US" altLang="zh-CN"/>
              <a:t>X.509</a:t>
            </a:r>
            <a:r>
              <a:rPr lang="zh-CN" altLang="en-US"/>
              <a:t>证书的使用</a:t>
            </a:r>
            <a:endParaRPr lang="en-US" altLang="zh-CN"/>
          </a:p>
          <a:p>
            <a:pPr lvl="1"/>
            <a:endParaRPr lang="en-US" altLang="zh-CN"/>
          </a:p>
          <a:p>
            <a:pPr lvl="1"/>
            <a:endParaRPr lang="en-US" altLang="zh-CN"/>
          </a:p>
          <a:p>
            <a:pPr lvl="1"/>
            <a:endParaRPr lang="en-US" altLang="zh-CN"/>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360" y="1684915"/>
            <a:ext cx="5396005" cy="4951144"/>
          </a:xfrm>
          <a:prstGeom prst="rect">
            <a:avLst/>
          </a:prstGeom>
        </p:spPr>
      </p:pic>
      <p:sp>
        <p:nvSpPr>
          <p:cNvPr id="7" name="灯片编号占位符 4">
            <a:extLst>
              <a:ext uri="{FF2B5EF4-FFF2-40B4-BE49-F238E27FC236}">
                <a16:creationId xmlns:a16="http://schemas.microsoft.com/office/drawing/2014/main" id="{A9002481-C7E6-4A0C-9966-0F99D035BE9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设备认证</a:t>
            </a:r>
          </a:p>
        </p:txBody>
      </p:sp>
      <p:sp>
        <p:nvSpPr>
          <p:cNvPr id="3" name="内容占位符 2"/>
          <p:cNvSpPr>
            <a:spLocks noGrp="1"/>
          </p:cNvSpPr>
          <p:nvPr>
            <p:ph idx="1"/>
          </p:nvPr>
        </p:nvSpPr>
        <p:spPr/>
        <p:txBody>
          <a:bodyPr/>
          <a:lstStyle/>
          <a:p>
            <a:r>
              <a:rPr lang="en-US" altLang="zh-CN"/>
              <a:t>IBC</a:t>
            </a:r>
            <a:r>
              <a:rPr lang="zh-CN" altLang="en-US"/>
              <a:t>（</a:t>
            </a:r>
            <a:r>
              <a:rPr lang="en-US" altLang="zh-CN"/>
              <a:t>Identity-Based Cryptograph</a:t>
            </a:r>
            <a:r>
              <a:rPr lang="zh-CN" altLang="en-US"/>
              <a:t>）</a:t>
            </a:r>
            <a:endParaRPr lang="en-US" altLang="zh-CN"/>
          </a:p>
          <a:p>
            <a:pPr lvl="1"/>
            <a:r>
              <a:rPr lang="zh-CN" altLang="en-US"/>
              <a:t>将设备标识作为认证过程的公钥</a:t>
            </a:r>
            <a:endParaRPr lang="en-US" altLang="zh-CN"/>
          </a:p>
          <a:p>
            <a:pPr lvl="1"/>
            <a:r>
              <a:rPr lang="en-US" altLang="zh-CN"/>
              <a:t>IBC</a:t>
            </a:r>
            <a:r>
              <a:rPr lang="zh-CN" altLang="en-US"/>
              <a:t>特点</a:t>
            </a:r>
            <a:endParaRPr lang="en-US" altLang="zh-CN"/>
          </a:p>
          <a:p>
            <a:pPr lvl="2"/>
            <a:r>
              <a:rPr lang="en-US" altLang="zh-CN"/>
              <a:t>IoT</a:t>
            </a:r>
            <a:r>
              <a:rPr lang="zh-CN" altLang="en-US"/>
              <a:t>云平台一般知道设备标识</a:t>
            </a:r>
            <a:endParaRPr lang="en-US" altLang="zh-CN"/>
          </a:p>
          <a:p>
            <a:pPr lvl="2"/>
            <a:r>
              <a:rPr lang="zh-CN" altLang="en-US"/>
              <a:t>设备标识（公钥）无需</a:t>
            </a:r>
            <a:r>
              <a:rPr lang="en-US" altLang="zh-CN"/>
              <a:t>PKI</a:t>
            </a:r>
            <a:r>
              <a:rPr lang="zh-CN" altLang="en-US"/>
              <a:t>管理维护</a:t>
            </a:r>
            <a:endParaRPr lang="en-US" altLang="zh-CN"/>
          </a:p>
          <a:p>
            <a:pPr lvl="2"/>
            <a:r>
              <a:rPr lang="zh-CN" altLang="en-US"/>
              <a:t>仅支持</a:t>
            </a:r>
            <a:r>
              <a:rPr lang="en-US" altLang="zh-CN"/>
              <a:t>IoT</a:t>
            </a:r>
            <a:r>
              <a:rPr lang="zh-CN" altLang="en-US"/>
              <a:t>设备</a:t>
            </a:r>
            <a:r>
              <a:rPr lang="en-US" altLang="zh-CN"/>
              <a:t>&lt;-&gt;</a:t>
            </a:r>
            <a:r>
              <a:rPr lang="zh-CN" altLang="en-US"/>
              <a:t>云平台的认证</a:t>
            </a:r>
            <a:endParaRPr lang="en-US" altLang="zh-CN"/>
          </a:p>
          <a:p>
            <a:pPr lvl="1"/>
            <a:r>
              <a:rPr lang="en-US" altLang="zh-CN"/>
              <a:t>IBC</a:t>
            </a:r>
            <a:r>
              <a:rPr lang="zh-CN" altLang="en-US"/>
              <a:t>的使用</a:t>
            </a:r>
            <a:endParaRPr lang="en-US" altLang="zh-CN"/>
          </a:p>
          <a:p>
            <a:pPr lvl="1"/>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pPr lvl="1"/>
            <a:endParaRPr lang="en-US" altLang="zh-CN"/>
          </a:p>
          <a:p>
            <a:pPr lvl="1"/>
            <a:endParaRPr lang="en-US" altLang="zh-CN"/>
          </a:p>
          <a:p>
            <a:pPr lvl="1"/>
            <a:endParaRPr lang="en-US" altLang="zh-CN"/>
          </a:p>
          <a:p>
            <a:pPr lvl="1"/>
            <a:endParaRPr lang="en-US" altLang="zh-CN" dirty="0"/>
          </a:p>
        </p:txBody>
      </p:sp>
      <p:pic>
        <p:nvPicPr>
          <p:cNvPr id="4" name="图片 4" descr="图片包含 文字, 地图&#10;&#10;已生成极高可信度的说明"/>
          <p:cNvPicPr>
            <a:picLocks noChangeAspect="1"/>
          </p:cNvPicPr>
          <p:nvPr/>
        </p:nvPicPr>
        <p:blipFill>
          <a:blip r:embed="rId3"/>
          <a:stretch>
            <a:fillRect/>
          </a:stretch>
        </p:blipFill>
        <p:spPr>
          <a:xfrm>
            <a:off x="2779149" y="3609846"/>
            <a:ext cx="3178890" cy="3108588"/>
          </a:xfrm>
          <a:prstGeom prst="rect">
            <a:avLst/>
          </a:prstGeom>
        </p:spPr>
      </p:pic>
      <p:sp>
        <p:nvSpPr>
          <p:cNvPr id="7" name="灯片编号占位符 4">
            <a:extLst>
              <a:ext uri="{FF2B5EF4-FFF2-40B4-BE49-F238E27FC236}">
                <a16:creationId xmlns:a16="http://schemas.microsoft.com/office/drawing/2014/main" id="{AA54390A-0E62-48F4-AE42-EDE3737725E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权限认证</a:t>
            </a:r>
          </a:p>
        </p:txBody>
      </p:sp>
      <p:sp>
        <p:nvSpPr>
          <p:cNvPr id="3" name="内容占位符 2"/>
          <p:cNvSpPr>
            <a:spLocks noGrp="1"/>
          </p:cNvSpPr>
          <p:nvPr>
            <p:ph idx="1"/>
          </p:nvPr>
        </p:nvSpPr>
        <p:spPr/>
        <p:txBody>
          <a:bodyPr/>
          <a:lstStyle/>
          <a:p>
            <a:r>
              <a:rPr lang="zh-CN" altLang="en-US"/>
              <a:t>基于账号和密码的权限认证</a:t>
            </a:r>
            <a:endParaRPr lang="en-US" altLang="zh-CN"/>
          </a:p>
          <a:p>
            <a:pPr lvl="1"/>
            <a:r>
              <a:rPr lang="zh-CN" altLang="en-US"/>
              <a:t>用户或应用程序提供账号和密码与云平台进行连接</a:t>
            </a:r>
            <a:endParaRPr lang="en-US" altLang="zh-CN"/>
          </a:p>
          <a:p>
            <a:pPr lvl="1"/>
            <a:r>
              <a:rPr lang="zh-CN" altLang="en-US"/>
              <a:t>云平台赋予用户或应用程序预先分配的权限</a:t>
            </a:r>
            <a:endParaRPr lang="en-US" altLang="zh-CN"/>
          </a:p>
          <a:p>
            <a:pPr lvl="1"/>
            <a:endParaRPr lang="en-US" altLang="zh-CN"/>
          </a:p>
          <a:p>
            <a:r>
              <a:rPr lang="zh-CN" altLang="en-US"/>
              <a:t>基于令牌的权限认证</a:t>
            </a:r>
          </a:p>
          <a:p>
            <a:pPr lvl="1"/>
            <a:r>
              <a:rPr lang="zh-CN" altLang="en-US"/>
              <a:t>用户和应用程序通过令牌与云平台进行连接，获取权限</a:t>
            </a:r>
            <a:endParaRPr lang="en-US" altLang="zh-CN"/>
          </a:p>
          <a:p>
            <a:pPr lvl="1"/>
            <a:r>
              <a:rPr lang="zh-CN" altLang="en-US"/>
              <a:t>令牌的生成过程融入了权限策略</a:t>
            </a:r>
            <a:endParaRPr lang="en-US" altLang="zh-CN"/>
          </a:p>
          <a:p>
            <a:pPr lvl="2"/>
            <a:r>
              <a:rPr lang="zh-CN" altLang="en-US"/>
              <a:t>例如，用户端可生成包含权限密钥签名值字段、权限策略名称字段的令牌用于权限认证</a:t>
            </a:r>
            <a:endParaRPr lang="en-US" altLang="zh-CN"/>
          </a:p>
          <a:p>
            <a:pPr lvl="1"/>
            <a:endParaRPr lang="en-US" altLang="zh-CN"/>
          </a:p>
          <a:p>
            <a:pPr lvl="1"/>
            <a:endParaRPr lang="en-US" altLang="zh-CN"/>
          </a:p>
          <a:p>
            <a:endParaRPr lang="en-US" altLang="zh-CN"/>
          </a:p>
          <a:p>
            <a:endParaRPr lang="zh-CN" altLang="en-US"/>
          </a:p>
        </p:txBody>
      </p:sp>
      <p:sp>
        <p:nvSpPr>
          <p:cNvPr id="6" name="灯片编号占位符 4">
            <a:extLst>
              <a:ext uri="{FF2B5EF4-FFF2-40B4-BE49-F238E27FC236}">
                <a16:creationId xmlns:a16="http://schemas.microsoft.com/office/drawing/2014/main" id="{1D3C8EB2-35C3-4973-AF36-FA1FF7CE34E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t>设备连接</a:t>
            </a:r>
          </a:p>
          <a:p>
            <a:r>
              <a:rPr lang="zh-CN" altLang="en-US" dirty="0"/>
              <a:t>设备管理</a:t>
            </a:r>
          </a:p>
          <a:p>
            <a:r>
              <a:rPr lang="en-US" altLang="zh-CN" dirty="0"/>
              <a:t>IFTTT</a:t>
            </a:r>
            <a:r>
              <a:rPr lang="zh-CN" altLang="en-US" dirty="0"/>
              <a:t>与规则引擎</a:t>
            </a:r>
          </a:p>
          <a:p>
            <a:r>
              <a:rPr lang="zh-CN" altLang="en-US" dirty="0"/>
              <a:t>时序数据库与流计算</a:t>
            </a:r>
          </a:p>
          <a:p>
            <a:r>
              <a:rPr lang="zh-CN" altLang="en-US" dirty="0"/>
              <a:t>安全认证</a:t>
            </a:r>
          </a:p>
          <a:p>
            <a:r>
              <a:rPr lang="zh-CN" altLang="en-US" dirty="0">
                <a:solidFill>
                  <a:srgbClr val="C00000"/>
                </a:solidFill>
              </a:rPr>
              <a:t>无服务器计算</a:t>
            </a:r>
          </a:p>
          <a:p>
            <a:r>
              <a:rPr lang="zh-CN" altLang="en-US" dirty="0"/>
              <a:t>边缘计算</a:t>
            </a:r>
          </a:p>
          <a:p>
            <a:endParaRPr lang="zh-CN" altLang="en-US" dirty="0"/>
          </a:p>
        </p:txBody>
      </p:sp>
    </p:spTree>
    <p:extLst>
      <p:ext uri="{BB962C8B-B14F-4D97-AF65-F5344CB8AC3E}">
        <p14:creationId xmlns:p14="http://schemas.microsoft.com/office/powerpoint/2010/main" val="3828643818"/>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69D25-B025-4995-BE38-5482EBD7D405}"/>
              </a:ext>
            </a:extLst>
          </p:cNvPr>
          <p:cNvSpPr>
            <a:spLocks noGrp="1"/>
          </p:cNvSpPr>
          <p:nvPr>
            <p:ph type="title"/>
          </p:nvPr>
        </p:nvSpPr>
        <p:spPr/>
        <p:txBody>
          <a:bodyPr/>
          <a:lstStyle/>
          <a:p>
            <a:r>
              <a:rPr lang="zh-CN" altLang="en-US"/>
              <a:t>无服务计算</a:t>
            </a:r>
            <a:endParaRPr lang="zh-CN" altLang="en-US" dirty="0"/>
          </a:p>
        </p:txBody>
      </p:sp>
      <p:sp>
        <p:nvSpPr>
          <p:cNvPr id="3" name="内容占位符 2">
            <a:extLst>
              <a:ext uri="{FF2B5EF4-FFF2-40B4-BE49-F238E27FC236}">
                <a16:creationId xmlns:a16="http://schemas.microsoft.com/office/drawing/2014/main" id="{F0A67A17-7637-40C2-902D-2D3DF3AF7F4C}"/>
              </a:ext>
            </a:extLst>
          </p:cNvPr>
          <p:cNvSpPr>
            <a:spLocks noGrp="1"/>
          </p:cNvSpPr>
          <p:nvPr>
            <p:ph idx="1"/>
          </p:nvPr>
        </p:nvSpPr>
        <p:spPr/>
        <p:txBody>
          <a:bodyPr/>
          <a:lstStyle/>
          <a:p>
            <a:r>
              <a:rPr lang="zh-CN" altLang="en-US"/>
              <a:t>什么是无服务器计算？</a:t>
            </a:r>
            <a:endParaRPr lang="en-US" altLang="zh-CN"/>
          </a:p>
          <a:p>
            <a:pPr lvl="1"/>
            <a:r>
              <a:rPr lang="zh-CN" altLang="en-US"/>
              <a:t>无服务器计算</a:t>
            </a:r>
            <a:r>
              <a:rPr lang="en-US" altLang="zh-CN"/>
              <a:t>(Serverless</a:t>
            </a:r>
            <a:r>
              <a:rPr lang="zh-CN" altLang="en-US"/>
              <a:t> </a:t>
            </a:r>
            <a:r>
              <a:rPr lang="en-US" altLang="zh-CN"/>
              <a:t>Computing) </a:t>
            </a:r>
            <a:r>
              <a:rPr lang="zh-CN" altLang="en-US"/>
              <a:t>是一种全托管计算服务，免去人工管理、运维，例如管理服务器等基础设施的麻烦，用户唯一需要做的只是编写代码上传</a:t>
            </a:r>
            <a:endParaRPr lang="en-US" altLang="zh-CN"/>
          </a:p>
          <a:p>
            <a:pPr lvl="2"/>
            <a:r>
              <a:rPr lang="zh-CN" altLang="en-US"/>
              <a:t>事件驱动的编程模型</a:t>
            </a:r>
            <a:endParaRPr lang="en-US" altLang="zh-CN"/>
          </a:p>
          <a:p>
            <a:pPr lvl="2"/>
            <a:r>
              <a:rPr lang="zh-CN" altLang="en-US"/>
              <a:t>云服务器自助分配管理计算所需要的资源并保证计算的效率和准确性</a:t>
            </a:r>
            <a:endParaRPr lang="en-US" altLang="zh-CN"/>
          </a:p>
          <a:p>
            <a:pPr lvl="2"/>
            <a:r>
              <a:rPr lang="zh-CN" altLang="en-US"/>
              <a:t>服务提供商提供日志查询、性能监控等功能</a:t>
            </a:r>
            <a:endParaRPr lang="en-US" altLang="zh-CN"/>
          </a:p>
          <a:p>
            <a:r>
              <a:rPr lang="zh-CN" altLang="en-US"/>
              <a:t>它和传统</a:t>
            </a:r>
            <a:r>
              <a:rPr lang="en-US" altLang="zh-CN"/>
              <a:t>PaaS</a:t>
            </a:r>
            <a:r>
              <a:rPr lang="zh-CN" altLang="en-US"/>
              <a:t>模式构建应用有何区别？</a:t>
            </a:r>
            <a:endParaRPr lang="en-US" altLang="zh-CN"/>
          </a:p>
          <a:p>
            <a:pPr lvl="1"/>
            <a:r>
              <a:rPr lang="zh-CN" altLang="en-US"/>
              <a:t>我们用一个例子来看：</a:t>
            </a:r>
            <a:endParaRPr lang="en-US" altLang="zh-CN"/>
          </a:p>
          <a:p>
            <a:pPr lvl="2"/>
            <a:r>
              <a:rPr lang="zh-CN" altLang="en-US"/>
              <a:t>物联网场景中经常产生许多图像数据上传至云服务器进行分析。但是直接存储原分辨率图片既占用存储资源又降低了智能分析的响应速度</a:t>
            </a:r>
            <a:endParaRPr lang="en-US" altLang="zh-CN"/>
          </a:p>
          <a:p>
            <a:pPr lvl="2"/>
            <a:r>
              <a:rPr lang="zh-CN" altLang="en-US"/>
              <a:t>因此，我们要设计一个图片压缩应用，它接受用户上传的图片，生成其缩略图并存入云数据库</a:t>
            </a:r>
            <a:endParaRPr lang="en-US" altLang="zh-CN"/>
          </a:p>
          <a:p>
            <a:endParaRPr lang="zh-CN" altLang="en-US" dirty="0"/>
          </a:p>
        </p:txBody>
      </p:sp>
      <p:sp>
        <p:nvSpPr>
          <p:cNvPr id="4" name="灯片编号占位符 4">
            <a:extLst>
              <a:ext uri="{FF2B5EF4-FFF2-40B4-BE49-F238E27FC236}">
                <a16:creationId xmlns:a16="http://schemas.microsoft.com/office/drawing/2014/main" id="{08BBFB2E-3132-44DC-ADD9-78D7E556A21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86</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15582171"/>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a:t>
            </a:r>
          </a:p>
        </p:txBody>
      </p:sp>
      <p:sp>
        <p:nvSpPr>
          <p:cNvPr id="3" name="内容占位符 2"/>
          <p:cNvSpPr>
            <a:spLocks noGrp="1"/>
          </p:cNvSpPr>
          <p:nvPr>
            <p:ph idx="1"/>
          </p:nvPr>
        </p:nvSpPr>
        <p:spPr/>
        <p:txBody>
          <a:bodyPr/>
          <a:lstStyle/>
          <a:p>
            <a:r>
              <a:rPr lang="zh-CN" altLang="en-US"/>
              <a:t>无服务器计算模式构建应用 </a:t>
            </a:r>
            <a:r>
              <a:rPr lang="en-US" altLang="zh-CN"/>
              <a:t>v.s.</a:t>
            </a:r>
            <a:r>
              <a:rPr lang="zh-CN" altLang="en-US"/>
              <a:t> 传统</a:t>
            </a:r>
            <a:r>
              <a:rPr lang="en-US" altLang="zh-CN"/>
              <a:t>PaaS</a:t>
            </a:r>
            <a:r>
              <a:rPr lang="zh-CN" altLang="en-US"/>
              <a:t>模式构建应用</a:t>
            </a:r>
            <a:endParaRPr lang="en-US" altLang="zh-CN"/>
          </a:p>
          <a:p>
            <a:r>
              <a:rPr lang="zh-CN" altLang="en-US"/>
              <a:t>传统</a:t>
            </a:r>
            <a:r>
              <a:rPr lang="en-US" altLang="zh-CN"/>
              <a:t>PaaS</a:t>
            </a:r>
            <a:r>
              <a:rPr lang="zh-CN" altLang="en-US"/>
              <a:t>模式构建应用流程：</a:t>
            </a:r>
            <a:endParaRPr lang="en-US" altLang="zh-CN"/>
          </a:p>
          <a:p>
            <a:pPr lvl="1"/>
            <a:r>
              <a:rPr lang="zh-CN" altLang="en-US"/>
              <a:t>购买</a:t>
            </a:r>
            <a:r>
              <a:rPr lang="en-US" altLang="zh-CN"/>
              <a:t>/ </a:t>
            </a:r>
            <a:r>
              <a:rPr lang="zh-CN" altLang="en-US"/>
              <a:t>管理云主机：计算</a:t>
            </a:r>
            <a:r>
              <a:rPr lang="en-US" altLang="zh-CN"/>
              <a:t>/</a:t>
            </a:r>
            <a:r>
              <a:rPr lang="zh-CN" altLang="en-US"/>
              <a:t>网络资源、运维策略、安全补丁等</a:t>
            </a:r>
            <a:endParaRPr lang="en-US" altLang="zh-CN"/>
          </a:p>
          <a:p>
            <a:pPr lvl="1"/>
            <a:r>
              <a:rPr lang="zh-CN" altLang="en-US"/>
              <a:t>运行时与依赖的解决</a:t>
            </a:r>
            <a:endParaRPr lang="en-US" altLang="zh-CN"/>
          </a:p>
          <a:p>
            <a:pPr lvl="1"/>
            <a:r>
              <a:rPr lang="zh-CN" altLang="en-US"/>
              <a:t>使用云平台的对象存储和数据库服务</a:t>
            </a:r>
            <a:endParaRPr lang="en-US" altLang="zh-CN"/>
          </a:p>
          <a:p>
            <a:pPr lvl="1"/>
            <a:r>
              <a:rPr lang="zh-CN" altLang="en-US"/>
              <a:t>编写应用逻辑</a:t>
            </a:r>
          </a:p>
          <a:p>
            <a:pPr lvl="1"/>
            <a:r>
              <a:rPr lang="zh-CN" altLang="en-US"/>
              <a:t>手动配置公共云的</a:t>
            </a:r>
            <a:r>
              <a:rPr lang="en-US" altLang="zh-CN"/>
              <a:t>AutoScaling</a:t>
            </a:r>
            <a:r>
              <a:rPr lang="zh-CN" altLang="en-US"/>
              <a:t>策略，应对高峰访问量</a:t>
            </a:r>
            <a:endParaRPr lang="en-US" altLang="zh-CN"/>
          </a:p>
          <a:p>
            <a:pPr lvl="1"/>
            <a:endParaRPr lang="zh-CN" altLang="en-US"/>
          </a:p>
          <a:p>
            <a:endParaRPr lang="zh-CN" altLang="en-US" dirty="0"/>
          </a:p>
        </p:txBody>
      </p:sp>
      <p:pic>
        <p:nvPicPr>
          <p:cNvPr id="4" name="图片 3"/>
          <p:cNvPicPr>
            <a:picLocks noChangeAspect="1"/>
          </p:cNvPicPr>
          <p:nvPr/>
        </p:nvPicPr>
        <p:blipFill>
          <a:blip r:embed="rId3"/>
          <a:stretch>
            <a:fillRect/>
          </a:stretch>
        </p:blipFill>
        <p:spPr>
          <a:xfrm>
            <a:off x="592219" y="4396531"/>
            <a:ext cx="2674521" cy="2014639"/>
          </a:xfrm>
          <a:prstGeom prst="rect">
            <a:avLst/>
          </a:prstGeom>
        </p:spPr>
      </p:pic>
      <p:pic>
        <p:nvPicPr>
          <p:cNvPr id="5" name="图片 4"/>
          <p:cNvPicPr>
            <a:picLocks noChangeAspect="1"/>
          </p:cNvPicPr>
          <p:nvPr/>
        </p:nvPicPr>
        <p:blipFill>
          <a:blip r:embed="rId4"/>
          <a:stretch>
            <a:fillRect/>
          </a:stretch>
        </p:blipFill>
        <p:spPr>
          <a:xfrm>
            <a:off x="4452529" y="4396532"/>
            <a:ext cx="4089627" cy="1834806"/>
          </a:xfrm>
          <a:prstGeom prst="rect">
            <a:avLst/>
          </a:prstGeom>
        </p:spPr>
      </p:pic>
      <p:sp>
        <p:nvSpPr>
          <p:cNvPr id="8" name="右箭头 7"/>
          <p:cNvSpPr/>
          <p:nvPr/>
        </p:nvSpPr>
        <p:spPr bwMode="auto">
          <a:xfrm>
            <a:off x="3288986" y="5170820"/>
            <a:ext cx="1142172" cy="466060"/>
          </a:xfrm>
          <a:prstGeom prst="rightArrow">
            <a:avLst>
              <a:gd name="adj1" fmla="val 29347"/>
              <a:gd name="adj2" fmla="val 72718"/>
            </a:avLst>
          </a:prstGeom>
          <a:solidFill>
            <a:schemeClr val="bg1"/>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9" name="文本框 8"/>
          <p:cNvSpPr txBox="1"/>
          <p:nvPr/>
        </p:nvSpPr>
        <p:spPr>
          <a:xfrm>
            <a:off x="3461432" y="4505439"/>
            <a:ext cx="969726" cy="646331"/>
          </a:xfrm>
          <a:prstGeom prst="rect">
            <a:avLst/>
          </a:prstGeom>
          <a:noFill/>
        </p:spPr>
        <p:txBody>
          <a:bodyPr wrap="square" rtlCol="0">
            <a:spAutoFit/>
          </a:bodyPr>
          <a:lstStyle/>
          <a:p>
            <a:r>
              <a:rPr kumimoji="1" lang="zh-CN" altLang="en-US" sz="1800" b="1" baseline="0" dirty="0">
                <a:latin typeface="+mj-ea"/>
                <a:ea typeface="+mj-ea"/>
              </a:rPr>
              <a:t>手动配</a:t>
            </a:r>
            <a:endParaRPr kumimoji="1" lang="en-US" altLang="zh-CN" sz="1800" b="1" baseline="0" dirty="0">
              <a:latin typeface="+mj-ea"/>
              <a:ea typeface="+mj-ea"/>
            </a:endParaRPr>
          </a:p>
          <a:p>
            <a:r>
              <a:rPr kumimoji="1" lang="zh-CN" altLang="en-US" sz="1800" b="1" baseline="0" dirty="0">
                <a:latin typeface="+mj-ea"/>
                <a:ea typeface="+mj-ea"/>
              </a:rPr>
              <a:t>置扩容</a:t>
            </a:r>
          </a:p>
        </p:txBody>
      </p:sp>
      <p:sp>
        <p:nvSpPr>
          <p:cNvPr id="10" name="矩形 5"/>
          <p:cNvSpPr/>
          <p:nvPr/>
        </p:nvSpPr>
        <p:spPr bwMode="auto">
          <a:xfrm>
            <a:off x="434955" y="4283241"/>
            <a:ext cx="2831785" cy="2155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11" name="矩形 6"/>
          <p:cNvSpPr/>
          <p:nvPr/>
        </p:nvSpPr>
        <p:spPr bwMode="auto">
          <a:xfrm>
            <a:off x="4452529" y="4283241"/>
            <a:ext cx="4218096" cy="2155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6" name="矩形 6"/>
          <p:cNvSpPr/>
          <p:nvPr/>
        </p:nvSpPr>
        <p:spPr bwMode="auto">
          <a:xfrm>
            <a:off x="1063649" y="5181053"/>
            <a:ext cx="762736" cy="243889"/>
          </a:xfrm>
          <a:prstGeom prst="rect">
            <a:avLst/>
          </a:prstGeom>
          <a:solidFill>
            <a:srgbClr val="3C9F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1400" b="0" i="0" u="none" strike="noStrike" cap="none" normalizeH="0" baseline="-25000" dirty="0">
                <a:ln>
                  <a:noFill/>
                </a:ln>
                <a:solidFill>
                  <a:schemeClr val="tx1"/>
                </a:solidFill>
                <a:effectLst>
                  <a:outerShdw blurRad="38100" dist="38100" dir="2700000" algn="tl">
                    <a:srgbClr val="000000">
                      <a:alpha val="43137"/>
                    </a:srgbClr>
                  </a:outerShdw>
                </a:effectLst>
                <a:latin typeface="Arial" panose="020B0604020202020204" pitchFamily="34" charset="0"/>
              </a:rPr>
              <a:t>图片压缩应用</a:t>
            </a:r>
          </a:p>
        </p:txBody>
      </p:sp>
      <p:sp>
        <p:nvSpPr>
          <p:cNvPr id="12" name="矩形 14"/>
          <p:cNvSpPr/>
          <p:nvPr/>
        </p:nvSpPr>
        <p:spPr bwMode="auto">
          <a:xfrm>
            <a:off x="4888864" y="5244900"/>
            <a:ext cx="645459" cy="360083"/>
          </a:xfrm>
          <a:prstGeom prst="rect">
            <a:avLst/>
          </a:prstGeom>
          <a:solidFill>
            <a:srgbClr val="3C9F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1200" b="0" i="0" u="none" strike="noStrike" cap="none" normalizeH="0" baseline="-25000" dirty="0">
                <a:ln>
                  <a:noFill/>
                </a:ln>
                <a:solidFill>
                  <a:schemeClr val="tx1"/>
                </a:solidFill>
                <a:effectLst>
                  <a:outerShdw blurRad="38100" dist="38100" dir="2700000" algn="tl">
                    <a:srgbClr val="000000">
                      <a:alpha val="43137"/>
                    </a:srgbClr>
                  </a:outerShdw>
                </a:effectLst>
                <a:latin typeface="Arial" panose="020B0604020202020204" pitchFamily="34" charset="0"/>
              </a:rPr>
              <a:t>图片压缩应用</a:t>
            </a:r>
          </a:p>
        </p:txBody>
      </p:sp>
      <p:sp>
        <p:nvSpPr>
          <p:cNvPr id="13" name="矩形 15"/>
          <p:cNvSpPr/>
          <p:nvPr/>
        </p:nvSpPr>
        <p:spPr bwMode="auto">
          <a:xfrm>
            <a:off x="6174612" y="5244900"/>
            <a:ext cx="645459" cy="360083"/>
          </a:xfrm>
          <a:prstGeom prst="rect">
            <a:avLst/>
          </a:prstGeom>
          <a:solidFill>
            <a:srgbClr val="3C9F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1200" b="0" i="0" u="none" strike="noStrike" cap="none" normalizeH="0" baseline="-25000" dirty="0">
                <a:ln>
                  <a:noFill/>
                </a:ln>
                <a:solidFill>
                  <a:schemeClr val="tx1"/>
                </a:solidFill>
                <a:effectLst>
                  <a:outerShdw blurRad="38100" dist="38100" dir="2700000" algn="tl">
                    <a:srgbClr val="000000">
                      <a:alpha val="43137"/>
                    </a:srgbClr>
                  </a:outerShdw>
                </a:effectLst>
                <a:latin typeface="Arial" panose="020B0604020202020204" pitchFamily="34" charset="0"/>
              </a:rPr>
              <a:t>图片压缩应用</a:t>
            </a:r>
          </a:p>
        </p:txBody>
      </p:sp>
      <p:sp>
        <p:nvSpPr>
          <p:cNvPr id="14" name="矩形 16"/>
          <p:cNvSpPr/>
          <p:nvPr/>
        </p:nvSpPr>
        <p:spPr bwMode="auto">
          <a:xfrm>
            <a:off x="7602027" y="5244900"/>
            <a:ext cx="645459" cy="360083"/>
          </a:xfrm>
          <a:prstGeom prst="rect">
            <a:avLst/>
          </a:prstGeom>
          <a:solidFill>
            <a:srgbClr val="3C9F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zh-CN" altLang="en-US" sz="1200" b="0" i="0" u="none" strike="noStrike" cap="none" normalizeH="0" baseline="-25000" dirty="0">
                <a:ln>
                  <a:noFill/>
                </a:ln>
                <a:solidFill>
                  <a:schemeClr val="tx1"/>
                </a:solidFill>
                <a:effectLst>
                  <a:outerShdw blurRad="38100" dist="38100" dir="2700000" algn="tl">
                    <a:srgbClr val="000000">
                      <a:alpha val="43137"/>
                    </a:srgbClr>
                  </a:outerShdw>
                </a:effectLst>
                <a:latin typeface="Arial" panose="020B0604020202020204" pitchFamily="34" charset="0"/>
              </a:rPr>
              <a:t>图片压缩应用</a:t>
            </a:r>
          </a:p>
        </p:txBody>
      </p:sp>
      <p:sp>
        <p:nvSpPr>
          <p:cNvPr id="16" name="灯片编号占位符 4">
            <a:extLst>
              <a:ext uri="{FF2B5EF4-FFF2-40B4-BE49-F238E27FC236}">
                <a16:creationId xmlns:a16="http://schemas.microsoft.com/office/drawing/2014/main" id="{CD154246-CEDD-438A-9121-13DDF069AA0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a:t>
            </a:r>
          </a:p>
        </p:txBody>
      </p:sp>
      <p:sp>
        <p:nvSpPr>
          <p:cNvPr id="3" name="内容占位符 2"/>
          <p:cNvSpPr>
            <a:spLocks noGrp="1"/>
          </p:cNvSpPr>
          <p:nvPr>
            <p:ph idx="1"/>
          </p:nvPr>
        </p:nvSpPr>
        <p:spPr/>
        <p:txBody>
          <a:bodyPr/>
          <a:lstStyle/>
          <a:p>
            <a:r>
              <a:rPr lang="zh-CN" altLang="en-US" dirty="0"/>
              <a:t>使用无服务器计算构建应用</a:t>
            </a:r>
            <a:endParaRPr lang="en-US" altLang="zh-CN" dirty="0"/>
          </a:p>
          <a:p>
            <a:pPr lvl="1"/>
            <a:r>
              <a:rPr lang="zh-CN" altLang="en-US" dirty="0"/>
              <a:t>使用云平台的对象存储和数据库服务</a:t>
            </a:r>
            <a:endParaRPr lang="en-US" altLang="zh-CN" dirty="0"/>
          </a:p>
          <a:p>
            <a:pPr lvl="1"/>
            <a:r>
              <a:rPr lang="zh-CN" altLang="en-US" dirty="0"/>
              <a:t>编写应用逻辑</a:t>
            </a:r>
            <a:endParaRPr lang="en-US" altLang="zh-CN" dirty="0"/>
          </a:p>
          <a:p>
            <a:endParaRPr lang="en-US" altLang="zh-CN" dirty="0"/>
          </a:p>
          <a:p>
            <a:endParaRPr lang="en-US" altLang="zh-CN" dirty="0"/>
          </a:p>
          <a:p>
            <a:endParaRPr lang="en-US" altLang="zh-CN" dirty="0"/>
          </a:p>
          <a:p>
            <a:endParaRPr lang="en-US" altLang="zh-CN" dirty="0"/>
          </a:p>
          <a:p>
            <a:r>
              <a:rPr lang="zh-CN" altLang="en-US" dirty="0"/>
              <a:t>无服务器计算模式构建应用 </a:t>
            </a:r>
            <a:r>
              <a:rPr lang="en-US" altLang="zh-CN" dirty="0" err="1"/>
              <a:t>v.s</a:t>
            </a:r>
            <a:r>
              <a:rPr lang="en-US" altLang="zh-CN" dirty="0"/>
              <a:t>.</a:t>
            </a:r>
            <a:r>
              <a:rPr lang="zh-CN" altLang="en-US" dirty="0"/>
              <a:t> 传统</a:t>
            </a:r>
            <a:r>
              <a:rPr lang="en-US" altLang="zh-CN" dirty="0"/>
              <a:t>PaaS</a:t>
            </a:r>
            <a:r>
              <a:rPr lang="zh-CN" altLang="en-US" dirty="0"/>
              <a:t>模式构建应用</a:t>
            </a:r>
            <a:endParaRPr lang="en-US" altLang="zh-CN" dirty="0"/>
          </a:p>
          <a:p>
            <a:endParaRPr lang="en-US" altLang="zh-CN" dirty="0"/>
          </a:p>
          <a:p>
            <a:endParaRPr lang="zh-CN" altLang="en-US" dirty="0"/>
          </a:p>
        </p:txBody>
      </p:sp>
      <p:pic>
        <p:nvPicPr>
          <p:cNvPr id="4" name="图片 3"/>
          <p:cNvPicPr>
            <a:picLocks noChangeAspect="1"/>
          </p:cNvPicPr>
          <p:nvPr/>
        </p:nvPicPr>
        <p:blipFill>
          <a:blip r:embed="rId3"/>
          <a:stretch>
            <a:fillRect/>
          </a:stretch>
        </p:blipFill>
        <p:spPr>
          <a:xfrm>
            <a:off x="178452" y="2364648"/>
            <a:ext cx="4132964" cy="1824046"/>
          </a:xfrm>
          <a:prstGeom prst="rect">
            <a:avLst/>
          </a:prstGeom>
        </p:spPr>
      </p:pic>
      <p:pic>
        <p:nvPicPr>
          <p:cNvPr id="5" name="图片 4"/>
          <p:cNvPicPr>
            <a:picLocks noChangeAspect="1"/>
          </p:cNvPicPr>
          <p:nvPr/>
        </p:nvPicPr>
        <p:blipFill>
          <a:blip r:embed="rId4"/>
          <a:stretch>
            <a:fillRect/>
          </a:stretch>
        </p:blipFill>
        <p:spPr>
          <a:xfrm>
            <a:off x="4992529" y="2429950"/>
            <a:ext cx="4156057" cy="1824047"/>
          </a:xfrm>
          <a:prstGeom prst="rect">
            <a:avLst/>
          </a:prstGeom>
        </p:spPr>
      </p:pic>
      <p:graphicFrame>
        <p:nvGraphicFramePr>
          <p:cNvPr id="6" name="表格 9"/>
          <p:cNvGraphicFramePr>
            <a:graphicFrameLocks noGrp="1"/>
          </p:cNvGraphicFramePr>
          <p:nvPr>
            <p:extLst>
              <p:ext uri="{D42A27DB-BD31-4B8C-83A1-F6EECF244321}">
                <p14:modId xmlns:p14="http://schemas.microsoft.com/office/powerpoint/2010/main" val="3361096492"/>
              </p:ext>
            </p:extLst>
          </p:nvPr>
        </p:nvGraphicFramePr>
        <p:xfrm>
          <a:off x="207779" y="4426955"/>
          <a:ext cx="8614142" cy="1925320"/>
        </p:xfrm>
        <a:graphic>
          <a:graphicData uri="http://schemas.openxmlformats.org/drawingml/2006/table">
            <a:tbl>
              <a:tblPr firstRow="1" bandRow="1">
                <a:tableStyleId>{93296810-A885-4BE3-A3E7-6D5BEEA58F35}</a:tableStyleId>
              </a:tblPr>
              <a:tblGrid>
                <a:gridCol w="1274228">
                  <a:extLst>
                    <a:ext uri="{9D8B030D-6E8A-4147-A177-3AD203B41FA5}">
                      <a16:colId xmlns:a16="http://schemas.microsoft.com/office/drawing/2014/main" val="20000"/>
                    </a:ext>
                  </a:extLst>
                </a:gridCol>
                <a:gridCol w="1104175">
                  <a:extLst>
                    <a:ext uri="{9D8B030D-6E8A-4147-A177-3AD203B41FA5}">
                      <a16:colId xmlns:a16="http://schemas.microsoft.com/office/drawing/2014/main" val="20001"/>
                    </a:ext>
                  </a:extLst>
                </a:gridCol>
                <a:gridCol w="1444281">
                  <a:extLst>
                    <a:ext uri="{9D8B030D-6E8A-4147-A177-3AD203B41FA5}">
                      <a16:colId xmlns:a16="http://schemas.microsoft.com/office/drawing/2014/main" val="20002"/>
                    </a:ext>
                  </a:extLst>
                </a:gridCol>
                <a:gridCol w="1274228">
                  <a:extLst>
                    <a:ext uri="{9D8B030D-6E8A-4147-A177-3AD203B41FA5}">
                      <a16:colId xmlns:a16="http://schemas.microsoft.com/office/drawing/2014/main" val="20003"/>
                    </a:ext>
                  </a:extLst>
                </a:gridCol>
                <a:gridCol w="1274228">
                  <a:extLst>
                    <a:ext uri="{9D8B030D-6E8A-4147-A177-3AD203B41FA5}">
                      <a16:colId xmlns:a16="http://schemas.microsoft.com/office/drawing/2014/main" val="20004"/>
                    </a:ext>
                  </a:extLst>
                </a:gridCol>
                <a:gridCol w="2243002">
                  <a:extLst>
                    <a:ext uri="{9D8B030D-6E8A-4147-A177-3AD203B41FA5}">
                      <a16:colId xmlns:a16="http://schemas.microsoft.com/office/drawing/2014/main" val="20005"/>
                    </a:ext>
                  </a:extLst>
                </a:gridCol>
              </a:tblGrid>
              <a:tr h="370840">
                <a:tc>
                  <a:txBody>
                    <a:bodyPr/>
                    <a:lstStyle/>
                    <a:p>
                      <a:endParaRPr lang="zh-CN" altLang="en-US">
                        <a:latin typeface="+mj-ea"/>
                        <a:ea typeface="+mj-ea"/>
                      </a:endParaRPr>
                    </a:p>
                  </a:txBody>
                  <a:tcPr/>
                </a:tc>
                <a:tc>
                  <a:txBody>
                    <a:bodyPr/>
                    <a:lstStyle/>
                    <a:p>
                      <a:r>
                        <a:rPr lang="zh-CN" altLang="en-US">
                          <a:latin typeface="+mj-ea"/>
                          <a:ea typeface="+mj-ea"/>
                        </a:rPr>
                        <a:t>语言支持</a:t>
                      </a:r>
                    </a:p>
                  </a:txBody>
                  <a:tcPr/>
                </a:tc>
                <a:tc>
                  <a:txBody>
                    <a:bodyPr/>
                    <a:lstStyle/>
                    <a:p>
                      <a:r>
                        <a:rPr lang="zh-CN" altLang="en-US" dirty="0">
                          <a:latin typeface="+mj-ea"/>
                          <a:ea typeface="+mj-ea"/>
                        </a:rPr>
                        <a:t>运行时环境</a:t>
                      </a:r>
                    </a:p>
                  </a:txBody>
                  <a:tcPr/>
                </a:tc>
                <a:tc>
                  <a:txBody>
                    <a:bodyPr/>
                    <a:lstStyle/>
                    <a:p>
                      <a:r>
                        <a:rPr lang="zh-CN" altLang="en-US" dirty="0">
                          <a:latin typeface="+mj-ea"/>
                          <a:ea typeface="+mj-ea"/>
                        </a:rPr>
                        <a:t>安装依赖</a:t>
                      </a:r>
                    </a:p>
                  </a:txBody>
                  <a:tcPr/>
                </a:tc>
                <a:tc>
                  <a:txBody>
                    <a:bodyPr/>
                    <a:lstStyle/>
                    <a:p>
                      <a:r>
                        <a:rPr lang="zh-CN" altLang="en-US">
                          <a:latin typeface="+mj-ea"/>
                          <a:ea typeface="+mj-ea"/>
                        </a:rPr>
                        <a:t>运维</a:t>
                      </a:r>
                    </a:p>
                  </a:txBody>
                  <a:tcPr/>
                </a:tc>
                <a:tc>
                  <a:txBody>
                    <a:bodyPr/>
                    <a:lstStyle/>
                    <a:p>
                      <a:r>
                        <a:rPr lang="zh-CN" altLang="en-US">
                          <a:latin typeface="+mj-ea"/>
                          <a:ea typeface="+mj-ea"/>
                        </a:rPr>
                        <a:t>计费方式</a:t>
                      </a:r>
                    </a:p>
                  </a:txBody>
                  <a:tcPr/>
                </a:tc>
                <a:extLst>
                  <a:ext uri="{0D108BD9-81ED-4DB2-BD59-A6C34878D82A}">
                    <a16:rowId xmlns:a16="http://schemas.microsoft.com/office/drawing/2014/main" val="10000"/>
                  </a:ext>
                </a:extLst>
              </a:tr>
              <a:tr h="370840">
                <a:tc>
                  <a:txBody>
                    <a:bodyPr/>
                    <a:lstStyle/>
                    <a:p>
                      <a:r>
                        <a:rPr lang="zh-CN" altLang="en-US">
                          <a:latin typeface="+mj-ea"/>
                          <a:ea typeface="+mj-ea"/>
                        </a:rPr>
                        <a:t>无服务器计算</a:t>
                      </a:r>
                    </a:p>
                  </a:txBody>
                  <a:tcPr/>
                </a:tc>
                <a:tc>
                  <a:txBody>
                    <a:bodyPr/>
                    <a:lstStyle/>
                    <a:p>
                      <a:r>
                        <a:rPr lang="zh-CN" altLang="en-US">
                          <a:latin typeface="+mj-ea"/>
                          <a:ea typeface="+mj-ea"/>
                        </a:rPr>
                        <a:t>较少</a:t>
                      </a:r>
                    </a:p>
                  </a:txBody>
                  <a:tcPr/>
                </a:tc>
                <a:tc>
                  <a:txBody>
                    <a:bodyPr/>
                    <a:lstStyle/>
                    <a:p>
                      <a:r>
                        <a:rPr lang="zh-CN" altLang="en-US">
                          <a:latin typeface="+mj-ea"/>
                          <a:ea typeface="+mj-ea"/>
                        </a:rPr>
                        <a:t>自动搭建</a:t>
                      </a:r>
                    </a:p>
                  </a:txBody>
                  <a:tcPr/>
                </a:tc>
                <a:tc>
                  <a:txBody>
                    <a:bodyPr/>
                    <a:lstStyle/>
                    <a:p>
                      <a:r>
                        <a:rPr lang="zh-CN" altLang="en-US">
                          <a:latin typeface="+mj-ea"/>
                          <a:ea typeface="+mj-ea"/>
                        </a:rPr>
                        <a:t>受限</a:t>
                      </a:r>
                    </a:p>
                  </a:txBody>
                  <a:tcPr/>
                </a:tc>
                <a:tc>
                  <a:txBody>
                    <a:bodyPr/>
                    <a:lstStyle/>
                    <a:p>
                      <a:r>
                        <a:rPr lang="zh-CN" altLang="en-US">
                          <a:latin typeface="+mj-ea"/>
                          <a:ea typeface="+mj-ea"/>
                        </a:rPr>
                        <a:t>无需管理</a:t>
                      </a:r>
                    </a:p>
                  </a:txBody>
                  <a:tcPr/>
                </a:tc>
                <a:tc>
                  <a:txBody>
                    <a:bodyPr/>
                    <a:lstStyle/>
                    <a:p>
                      <a:r>
                        <a:rPr lang="zh-CN" altLang="en-US">
                          <a:latin typeface="+mj-ea"/>
                          <a:ea typeface="+mj-ea"/>
                        </a:rPr>
                        <a:t>按代码运行时间计费</a:t>
                      </a:r>
                    </a:p>
                  </a:txBody>
                  <a:tcPr/>
                </a:tc>
                <a:extLst>
                  <a:ext uri="{0D108BD9-81ED-4DB2-BD59-A6C34878D82A}">
                    <a16:rowId xmlns:a16="http://schemas.microsoft.com/office/drawing/2014/main" val="10001"/>
                  </a:ext>
                </a:extLst>
              </a:tr>
              <a:tr h="370840">
                <a:tc>
                  <a:txBody>
                    <a:bodyPr/>
                    <a:lstStyle/>
                    <a:p>
                      <a:r>
                        <a:rPr lang="en-US" altLang="zh-CN">
                          <a:latin typeface="+mj-ea"/>
                          <a:ea typeface="+mj-ea"/>
                        </a:rPr>
                        <a:t>PaaS</a:t>
                      </a:r>
                      <a:endParaRPr lang="zh-CN" altLang="en-US">
                        <a:latin typeface="+mj-ea"/>
                        <a:ea typeface="+mj-ea"/>
                      </a:endParaRPr>
                    </a:p>
                  </a:txBody>
                  <a:tcPr/>
                </a:tc>
                <a:tc>
                  <a:txBody>
                    <a:bodyPr/>
                    <a:lstStyle/>
                    <a:p>
                      <a:r>
                        <a:rPr lang="zh-CN" altLang="en-US">
                          <a:latin typeface="+mj-ea"/>
                          <a:ea typeface="+mj-ea"/>
                        </a:rPr>
                        <a:t>丰富</a:t>
                      </a:r>
                    </a:p>
                  </a:txBody>
                  <a:tcPr/>
                </a:tc>
                <a:tc>
                  <a:txBody>
                    <a:bodyPr/>
                    <a:lstStyle/>
                    <a:p>
                      <a:r>
                        <a:rPr lang="zh-CN" altLang="en-US">
                          <a:latin typeface="+mj-ea"/>
                          <a:ea typeface="+mj-ea"/>
                        </a:rPr>
                        <a:t>手动搭建</a:t>
                      </a:r>
                    </a:p>
                  </a:txBody>
                  <a:tcPr/>
                </a:tc>
                <a:tc>
                  <a:txBody>
                    <a:bodyPr/>
                    <a:lstStyle/>
                    <a:p>
                      <a:r>
                        <a:rPr lang="zh-CN" altLang="en-US">
                          <a:latin typeface="+mj-ea"/>
                          <a:ea typeface="+mj-ea"/>
                        </a:rPr>
                        <a:t>可任意手动安装</a:t>
                      </a:r>
                    </a:p>
                  </a:txBody>
                  <a:tcPr/>
                </a:tc>
                <a:tc>
                  <a:txBody>
                    <a:bodyPr/>
                    <a:lstStyle/>
                    <a:p>
                      <a:r>
                        <a:rPr lang="zh-CN" altLang="en-US">
                          <a:latin typeface="+mj-ea"/>
                          <a:ea typeface="+mj-ea"/>
                        </a:rPr>
                        <a:t>需要管理</a:t>
                      </a:r>
                    </a:p>
                  </a:txBody>
                  <a:tcPr/>
                </a:tc>
                <a:tc>
                  <a:txBody>
                    <a:bodyPr/>
                    <a:lstStyle/>
                    <a:p>
                      <a:r>
                        <a:rPr lang="zh-CN" altLang="en-US" dirty="0">
                          <a:latin typeface="+mj-ea"/>
                          <a:ea typeface="+mj-ea"/>
                        </a:rPr>
                        <a:t>按实例存在时长计费（代码空闲时可能仍在计费）</a:t>
                      </a:r>
                    </a:p>
                  </a:txBody>
                  <a:tcPr/>
                </a:tc>
                <a:extLst>
                  <a:ext uri="{0D108BD9-81ED-4DB2-BD59-A6C34878D82A}">
                    <a16:rowId xmlns:a16="http://schemas.microsoft.com/office/drawing/2014/main" val="10002"/>
                  </a:ext>
                </a:extLst>
              </a:tr>
            </a:tbl>
          </a:graphicData>
        </a:graphic>
      </p:graphicFrame>
      <p:sp>
        <p:nvSpPr>
          <p:cNvPr id="8" name="右箭头 7"/>
          <p:cNvSpPr/>
          <p:nvPr/>
        </p:nvSpPr>
        <p:spPr bwMode="auto">
          <a:xfrm>
            <a:off x="4121879" y="3097690"/>
            <a:ext cx="870650" cy="466060"/>
          </a:xfrm>
          <a:prstGeom prst="rightArrow">
            <a:avLst>
              <a:gd name="adj1" fmla="val 33478"/>
              <a:gd name="adj2" fmla="val 58261"/>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9" name="文本框 8"/>
          <p:cNvSpPr txBox="1"/>
          <p:nvPr/>
        </p:nvSpPr>
        <p:spPr>
          <a:xfrm>
            <a:off x="4129604" y="2491534"/>
            <a:ext cx="891800" cy="646331"/>
          </a:xfrm>
          <a:prstGeom prst="rect">
            <a:avLst/>
          </a:prstGeom>
          <a:noFill/>
        </p:spPr>
        <p:txBody>
          <a:bodyPr wrap="square" rtlCol="0">
            <a:spAutoFit/>
          </a:bodyPr>
          <a:lstStyle/>
          <a:p>
            <a:r>
              <a:rPr kumimoji="1" lang="zh-CN" altLang="en-US" sz="1800" b="1" baseline="0" dirty="0">
                <a:latin typeface="+mj-ea"/>
                <a:ea typeface="+mj-ea"/>
              </a:rPr>
              <a:t>自动弹</a:t>
            </a:r>
            <a:endParaRPr kumimoji="1" lang="en-US" altLang="zh-CN" sz="1800" b="1" baseline="0" dirty="0">
              <a:latin typeface="+mj-ea"/>
              <a:ea typeface="+mj-ea"/>
            </a:endParaRPr>
          </a:p>
          <a:p>
            <a:r>
              <a:rPr kumimoji="1" lang="zh-CN" altLang="en-US" sz="1800" b="1" baseline="0" dirty="0">
                <a:latin typeface="+mj-ea"/>
                <a:ea typeface="+mj-ea"/>
              </a:rPr>
              <a:t>性扩容</a:t>
            </a:r>
          </a:p>
        </p:txBody>
      </p:sp>
      <p:sp>
        <p:nvSpPr>
          <p:cNvPr id="7" name="矩形 11"/>
          <p:cNvSpPr/>
          <p:nvPr/>
        </p:nvSpPr>
        <p:spPr bwMode="auto">
          <a:xfrm>
            <a:off x="178452" y="2429950"/>
            <a:ext cx="3914552" cy="1758744"/>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10" name="矩形 12"/>
          <p:cNvSpPr/>
          <p:nvPr/>
        </p:nvSpPr>
        <p:spPr bwMode="auto">
          <a:xfrm>
            <a:off x="4992529" y="2429950"/>
            <a:ext cx="3914552" cy="1758744"/>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11" name="矩形 6"/>
          <p:cNvSpPr/>
          <p:nvPr/>
        </p:nvSpPr>
        <p:spPr bwMode="auto">
          <a:xfrm>
            <a:off x="1674046" y="2638996"/>
            <a:ext cx="923364" cy="360083"/>
          </a:xfrm>
          <a:prstGeom prst="rect">
            <a:avLst/>
          </a:prstGeom>
          <a:solidFill>
            <a:srgbClr val="F7B3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en-US" altLang="zh-CN" sz="1800">
                <a:effectLst>
                  <a:outerShdw blurRad="38100" dist="38100" dir="2700000" algn="tl">
                    <a:srgbClr val="000000">
                      <a:alpha val="43137"/>
                    </a:srgbClr>
                  </a:outerShdw>
                </a:effectLst>
                <a:latin typeface="Arial" panose="020B0604020202020204" pitchFamily="34" charset="0"/>
              </a:rPr>
              <a:t>Azure</a:t>
            </a:r>
            <a:r>
              <a:rPr lang="zh-CN" altLang="en-US" sz="1800">
                <a:effectLst>
                  <a:outerShdw blurRad="38100" dist="38100" dir="2700000" algn="tl">
                    <a:srgbClr val="000000">
                      <a:alpha val="43137"/>
                    </a:srgbClr>
                  </a:outerShdw>
                </a:effectLst>
                <a:latin typeface="Arial" panose="020B0604020202020204" pitchFamily="34" charset="0"/>
              </a:rPr>
              <a:t>改写后的</a:t>
            </a:r>
            <a:r>
              <a:rPr kumimoji="0" lang="zh-CN" altLang="en-US" sz="18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rPr>
              <a:t>应用</a:t>
            </a:r>
          </a:p>
        </p:txBody>
      </p:sp>
      <p:sp>
        <p:nvSpPr>
          <p:cNvPr id="12" name="矩形 6"/>
          <p:cNvSpPr/>
          <p:nvPr/>
        </p:nvSpPr>
        <p:spPr bwMode="auto">
          <a:xfrm>
            <a:off x="6488123" y="2682300"/>
            <a:ext cx="923364" cy="360083"/>
          </a:xfrm>
          <a:prstGeom prst="rect">
            <a:avLst/>
          </a:prstGeom>
          <a:solidFill>
            <a:srgbClr val="F7B3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en-US" altLang="zh-CN" sz="1800">
                <a:effectLst>
                  <a:outerShdw blurRad="38100" dist="38100" dir="2700000" algn="tl">
                    <a:srgbClr val="000000">
                      <a:alpha val="43137"/>
                    </a:srgbClr>
                  </a:outerShdw>
                </a:effectLst>
                <a:latin typeface="Arial" panose="020B0604020202020204" pitchFamily="34" charset="0"/>
              </a:rPr>
              <a:t>Azure</a:t>
            </a:r>
            <a:r>
              <a:rPr lang="zh-CN" altLang="en-US" sz="1800">
                <a:effectLst>
                  <a:outerShdw blurRad="38100" dist="38100" dir="2700000" algn="tl">
                    <a:srgbClr val="000000">
                      <a:alpha val="43137"/>
                    </a:srgbClr>
                  </a:outerShdw>
                </a:effectLst>
                <a:latin typeface="Arial" panose="020B0604020202020204" pitchFamily="34" charset="0"/>
              </a:rPr>
              <a:t>改写后的</a:t>
            </a:r>
            <a:r>
              <a:rPr kumimoji="0" lang="zh-CN" altLang="en-US" sz="18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rPr>
              <a:t>应用</a:t>
            </a:r>
          </a:p>
        </p:txBody>
      </p:sp>
      <p:sp>
        <p:nvSpPr>
          <p:cNvPr id="15" name="灯片编号占位符 4">
            <a:extLst>
              <a:ext uri="{FF2B5EF4-FFF2-40B4-BE49-F238E27FC236}">
                <a16:creationId xmlns:a16="http://schemas.microsoft.com/office/drawing/2014/main" id="{2CA0351D-2A4F-4141-A247-3A9F2F56589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a:t>
            </a:r>
          </a:p>
        </p:txBody>
      </p:sp>
      <p:sp>
        <p:nvSpPr>
          <p:cNvPr id="3" name="内容占位符 2"/>
          <p:cNvSpPr>
            <a:spLocks noGrp="1"/>
          </p:cNvSpPr>
          <p:nvPr>
            <p:ph idx="1"/>
          </p:nvPr>
        </p:nvSpPr>
        <p:spPr/>
        <p:txBody>
          <a:bodyPr/>
          <a:lstStyle/>
          <a:p>
            <a:pPr>
              <a:spcBef>
                <a:spcPts val="0"/>
              </a:spcBef>
            </a:pPr>
            <a:r>
              <a:rPr lang="zh-CN" altLang="en-US" dirty="0"/>
              <a:t>无服务器计算优势</a:t>
            </a:r>
            <a:endParaRPr lang="en-US" altLang="zh-CN" dirty="0"/>
          </a:p>
          <a:p>
            <a:pPr lvl="1">
              <a:spcBef>
                <a:spcPts val="0"/>
              </a:spcBef>
            </a:pPr>
            <a:r>
              <a:rPr lang="zh-CN" altLang="en-US" dirty="0"/>
              <a:t>工程效率提升</a:t>
            </a:r>
            <a:endParaRPr lang="en-US" altLang="zh-CN" dirty="0"/>
          </a:p>
          <a:p>
            <a:pPr lvl="2">
              <a:spcBef>
                <a:spcPts val="0"/>
              </a:spcBef>
            </a:pPr>
            <a:r>
              <a:rPr lang="zh-CN" altLang="en-US" dirty="0"/>
              <a:t>借助函数计算和其他云端服务的集成，用户只需要编写少量代码就可以串联多个服务完成复杂的功能。用户不需要负担服务器配置</a:t>
            </a:r>
            <a:r>
              <a:rPr lang="en-US" altLang="zh-CN" dirty="0"/>
              <a:t>/</a:t>
            </a:r>
            <a:r>
              <a:rPr lang="zh-CN" altLang="en-US" dirty="0"/>
              <a:t>升级，资源扩容</a:t>
            </a:r>
            <a:r>
              <a:rPr lang="en-US" altLang="zh-CN" dirty="0"/>
              <a:t>/</a:t>
            </a:r>
            <a:r>
              <a:rPr lang="zh-CN" altLang="en-US" dirty="0"/>
              <a:t>缩容等繁琐工作，运维成本大幅降低</a:t>
            </a:r>
          </a:p>
          <a:p>
            <a:pPr lvl="1">
              <a:spcBef>
                <a:spcPts val="0"/>
              </a:spcBef>
            </a:pPr>
            <a:r>
              <a:rPr lang="zh-CN" altLang="en-US" dirty="0"/>
              <a:t>可靠性提升</a:t>
            </a:r>
            <a:endParaRPr lang="en-US" altLang="zh-CN" dirty="0"/>
          </a:p>
          <a:p>
            <a:pPr lvl="2">
              <a:spcBef>
                <a:spcPts val="0"/>
              </a:spcBef>
            </a:pPr>
            <a:r>
              <a:rPr lang="zh-CN" altLang="en-US" dirty="0"/>
              <a:t>用户不需要购买或维护任何的服务器，不需要安装任何的软件，系统自动处理基础设施层各种错误，减少宕机、网络中断等危机情况发生，提升系统可靠性</a:t>
            </a:r>
          </a:p>
          <a:p>
            <a:pPr lvl="1">
              <a:spcBef>
                <a:spcPts val="0"/>
              </a:spcBef>
            </a:pPr>
            <a:r>
              <a:rPr lang="zh-CN" altLang="en-US" dirty="0"/>
              <a:t>弹性伸缩</a:t>
            </a:r>
            <a:endParaRPr lang="en-US" altLang="zh-CN" dirty="0"/>
          </a:p>
          <a:p>
            <a:pPr lvl="2">
              <a:spcBef>
                <a:spcPts val="0"/>
              </a:spcBef>
            </a:pPr>
            <a:r>
              <a:rPr lang="zh-CN" altLang="en-US" dirty="0"/>
              <a:t>应用程序所需计算资源的伸缩能在毫秒级别由无服务器计算平台自动完成，用户不需要负责增减服务器的数量</a:t>
            </a:r>
          </a:p>
          <a:p>
            <a:pPr lvl="1">
              <a:spcBef>
                <a:spcPts val="0"/>
              </a:spcBef>
            </a:pPr>
            <a:r>
              <a:rPr lang="zh-CN" altLang="en-US" dirty="0"/>
              <a:t>降低成本</a:t>
            </a:r>
            <a:endParaRPr lang="en-US" altLang="zh-CN" dirty="0"/>
          </a:p>
          <a:p>
            <a:pPr lvl="2">
              <a:spcBef>
                <a:spcPts val="0"/>
              </a:spcBef>
            </a:pPr>
            <a:r>
              <a:rPr lang="zh-CN" altLang="en-US" dirty="0"/>
              <a:t>研究数据表明，</a:t>
            </a:r>
            <a:r>
              <a:rPr lang="en-US" altLang="zh-CN" dirty="0">
                <a:solidFill>
                  <a:srgbClr val="C00000"/>
                </a:solidFill>
              </a:rPr>
              <a:t>70%</a:t>
            </a:r>
            <a:r>
              <a:rPr lang="zh-CN" altLang="en-US" dirty="0"/>
              <a:t>以上的服务器资源并未得到充分利用，函数计算采用无服务器计算模式，资源使用率达</a:t>
            </a:r>
            <a:r>
              <a:rPr lang="en-US" altLang="zh-CN" dirty="0">
                <a:solidFill>
                  <a:srgbClr val="C00000"/>
                </a:solidFill>
              </a:rPr>
              <a:t>100%</a:t>
            </a:r>
            <a:r>
              <a:rPr lang="zh-CN" altLang="en-US" dirty="0"/>
              <a:t>，通常能节省</a:t>
            </a:r>
            <a:r>
              <a:rPr lang="en-US" altLang="zh-CN" dirty="0">
                <a:solidFill>
                  <a:srgbClr val="C00000"/>
                </a:solidFill>
              </a:rPr>
              <a:t>10%-90%</a:t>
            </a:r>
            <a:r>
              <a:rPr lang="zh-CN" altLang="en-US" dirty="0"/>
              <a:t>的成本</a:t>
            </a:r>
          </a:p>
          <a:p>
            <a:pPr>
              <a:spcBef>
                <a:spcPts val="0"/>
              </a:spcBef>
            </a:pPr>
            <a:endParaRPr lang="zh-CN" altLang="en-US" dirty="0"/>
          </a:p>
        </p:txBody>
      </p:sp>
      <p:sp>
        <p:nvSpPr>
          <p:cNvPr id="6" name="灯片编号占位符 4">
            <a:extLst>
              <a:ext uri="{FF2B5EF4-FFF2-40B4-BE49-F238E27FC236}">
                <a16:creationId xmlns:a16="http://schemas.microsoft.com/office/drawing/2014/main" id="{28565F4D-8A24-4F6A-9054-34691139A64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a:t>
            </a:r>
          </a:p>
        </p:txBody>
      </p:sp>
      <p:sp>
        <p:nvSpPr>
          <p:cNvPr id="3" name="内容占位符 2"/>
          <p:cNvSpPr>
            <a:spLocks noGrp="1"/>
          </p:cNvSpPr>
          <p:nvPr>
            <p:ph idx="1"/>
          </p:nvPr>
        </p:nvSpPr>
        <p:spPr/>
        <p:txBody>
          <a:bodyPr/>
          <a:lstStyle/>
          <a:p>
            <a:r>
              <a:rPr lang="zh-CN" altLang="en-US" dirty="0"/>
              <a:t>典型无服务器计算服务</a:t>
            </a:r>
          </a:p>
          <a:p>
            <a:pPr lvl="1"/>
            <a:r>
              <a:rPr lang="en-US" altLang="zh-CN" dirty="0"/>
              <a:t>Microsoft</a:t>
            </a:r>
            <a:r>
              <a:rPr lang="zh-CN" altLang="en-US" dirty="0"/>
              <a:t> </a:t>
            </a:r>
            <a:r>
              <a:rPr lang="en-US" altLang="zh-CN" dirty="0"/>
              <a:t>Azure Functions</a:t>
            </a:r>
          </a:p>
          <a:p>
            <a:pPr lvl="1"/>
            <a:r>
              <a:rPr lang="en-US" altLang="zh-CN" dirty="0"/>
              <a:t>Amazon</a:t>
            </a:r>
            <a:r>
              <a:rPr lang="zh-CN" altLang="en-US" dirty="0"/>
              <a:t> </a:t>
            </a:r>
            <a:r>
              <a:rPr lang="en-US" altLang="zh-CN" dirty="0"/>
              <a:t>AWS Lambda</a:t>
            </a:r>
          </a:p>
          <a:p>
            <a:pPr lvl="1"/>
            <a:r>
              <a:rPr lang="zh-CN" altLang="en-US" dirty="0"/>
              <a:t>阿里云函数计算</a:t>
            </a:r>
            <a:endParaRPr lang="en-US" altLang="zh-CN" dirty="0"/>
          </a:p>
          <a:p>
            <a:pPr lvl="1"/>
            <a:r>
              <a:rPr lang="en-US" altLang="zh-CN" dirty="0"/>
              <a:t>Google Cloud Function</a:t>
            </a:r>
          </a:p>
          <a:p>
            <a:r>
              <a:rPr lang="zh-CN" altLang="en-US" dirty="0"/>
              <a:t>各平台语言支持</a:t>
            </a:r>
          </a:p>
        </p:txBody>
      </p:sp>
      <p:graphicFrame>
        <p:nvGraphicFramePr>
          <p:cNvPr id="6" name="表格 8"/>
          <p:cNvGraphicFramePr>
            <a:graphicFrameLocks noGrp="1"/>
          </p:cNvGraphicFramePr>
          <p:nvPr>
            <p:extLst>
              <p:ext uri="{D42A27DB-BD31-4B8C-83A1-F6EECF244321}">
                <p14:modId xmlns:p14="http://schemas.microsoft.com/office/powerpoint/2010/main" val="607579070"/>
              </p:ext>
            </p:extLst>
          </p:nvPr>
        </p:nvGraphicFramePr>
        <p:xfrm>
          <a:off x="852541" y="3774178"/>
          <a:ext cx="7438919" cy="2123440"/>
        </p:xfrm>
        <a:graphic>
          <a:graphicData uri="http://schemas.openxmlformats.org/drawingml/2006/table">
            <a:tbl>
              <a:tblPr firstRow="1" bandRow="1">
                <a:tableStyleId>{93296810-A885-4BE3-A3E7-6D5BEEA58F35}</a:tableStyleId>
              </a:tblPr>
              <a:tblGrid>
                <a:gridCol w="1944303">
                  <a:extLst>
                    <a:ext uri="{9D8B030D-6E8A-4147-A177-3AD203B41FA5}">
                      <a16:colId xmlns:a16="http://schemas.microsoft.com/office/drawing/2014/main" val="20000"/>
                    </a:ext>
                  </a:extLst>
                </a:gridCol>
                <a:gridCol w="1540042">
                  <a:extLst>
                    <a:ext uri="{9D8B030D-6E8A-4147-A177-3AD203B41FA5}">
                      <a16:colId xmlns:a16="http://schemas.microsoft.com/office/drawing/2014/main" val="20001"/>
                    </a:ext>
                  </a:extLst>
                </a:gridCol>
                <a:gridCol w="1078029">
                  <a:extLst>
                    <a:ext uri="{9D8B030D-6E8A-4147-A177-3AD203B41FA5}">
                      <a16:colId xmlns:a16="http://schemas.microsoft.com/office/drawing/2014/main" val="20002"/>
                    </a:ext>
                  </a:extLst>
                </a:gridCol>
                <a:gridCol w="760396">
                  <a:extLst>
                    <a:ext uri="{9D8B030D-6E8A-4147-A177-3AD203B41FA5}">
                      <a16:colId xmlns:a16="http://schemas.microsoft.com/office/drawing/2014/main" val="20003"/>
                    </a:ext>
                  </a:extLst>
                </a:gridCol>
                <a:gridCol w="704964">
                  <a:extLst>
                    <a:ext uri="{9D8B030D-6E8A-4147-A177-3AD203B41FA5}">
                      <a16:colId xmlns:a16="http://schemas.microsoft.com/office/drawing/2014/main" val="20004"/>
                    </a:ext>
                  </a:extLst>
                </a:gridCol>
                <a:gridCol w="782368">
                  <a:extLst>
                    <a:ext uri="{9D8B030D-6E8A-4147-A177-3AD203B41FA5}">
                      <a16:colId xmlns:a16="http://schemas.microsoft.com/office/drawing/2014/main" val="20005"/>
                    </a:ext>
                  </a:extLst>
                </a:gridCol>
                <a:gridCol w="628817">
                  <a:extLst>
                    <a:ext uri="{9D8B030D-6E8A-4147-A177-3AD203B41FA5}">
                      <a16:colId xmlns:a16="http://schemas.microsoft.com/office/drawing/2014/main" val="20006"/>
                    </a:ext>
                  </a:extLst>
                </a:gridCol>
              </a:tblGrid>
              <a:tr h="370840">
                <a:tc>
                  <a:txBody>
                    <a:bodyPr/>
                    <a:lstStyle/>
                    <a:p>
                      <a:endParaRPr lang="zh-CN" altLang="en-US" dirty="0">
                        <a:latin typeface="+mj-ea"/>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mj-ea"/>
                          <a:ea typeface="+mj-ea"/>
                        </a:rPr>
                        <a:t>JavaScript</a:t>
                      </a:r>
                      <a:endParaRPr lang="zh-CN" altLang="en-US" dirty="0">
                        <a:latin typeface="+mj-ea"/>
                        <a:ea typeface="+mj-ea"/>
                      </a:endParaRPr>
                    </a:p>
                  </a:txBody>
                  <a:tcPr/>
                </a:tc>
                <a:tc>
                  <a:txBody>
                    <a:bodyPr/>
                    <a:lstStyle/>
                    <a:p>
                      <a:pPr algn="ctr"/>
                      <a:r>
                        <a:rPr lang="en-US" altLang="zh-CN">
                          <a:latin typeface="+mj-ea"/>
                          <a:ea typeface="+mj-ea"/>
                        </a:rPr>
                        <a:t>Python</a:t>
                      </a:r>
                      <a:endParaRPr lang="zh-CN" altLang="en-US">
                        <a:latin typeface="+mj-ea"/>
                        <a:ea typeface="+mj-ea"/>
                      </a:endParaRPr>
                    </a:p>
                  </a:txBody>
                  <a:tcPr/>
                </a:tc>
                <a:tc>
                  <a:txBody>
                    <a:bodyPr/>
                    <a:lstStyle/>
                    <a:p>
                      <a:pPr algn="ctr"/>
                      <a:r>
                        <a:rPr lang="en-US" altLang="zh-CN">
                          <a:latin typeface="+mj-ea"/>
                          <a:ea typeface="+mj-ea"/>
                        </a:rPr>
                        <a:t>Java</a:t>
                      </a:r>
                      <a:endParaRPr lang="zh-CN" altLang="en-US">
                        <a:latin typeface="+mj-ea"/>
                        <a:ea typeface="+mj-ea"/>
                      </a:endParaRPr>
                    </a:p>
                  </a:txBody>
                  <a:tcPr/>
                </a:tc>
                <a:tc>
                  <a:txBody>
                    <a:bodyPr/>
                    <a:lstStyle/>
                    <a:p>
                      <a:pPr algn="ctr"/>
                      <a:r>
                        <a:rPr lang="en-US" altLang="zh-CN">
                          <a:latin typeface="+mj-ea"/>
                          <a:ea typeface="+mj-ea"/>
                        </a:rPr>
                        <a:t>C#</a:t>
                      </a:r>
                      <a:endParaRPr lang="zh-CN" altLang="en-US">
                        <a:latin typeface="+mj-ea"/>
                        <a:ea typeface="+mj-ea"/>
                      </a:endParaRPr>
                    </a:p>
                  </a:txBody>
                  <a:tcPr/>
                </a:tc>
                <a:tc>
                  <a:txBody>
                    <a:bodyPr/>
                    <a:lstStyle/>
                    <a:p>
                      <a:pPr algn="ctr"/>
                      <a:r>
                        <a:rPr lang="en-US" altLang="zh-CN">
                          <a:latin typeface="+mj-ea"/>
                          <a:ea typeface="+mj-ea"/>
                        </a:rPr>
                        <a:t>PHP</a:t>
                      </a:r>
                      <a:endParaRPr lang="zh-CN" altLang="en-US">
                        <a:latin typeface="+mj-ea"/>
                        <a:ea typeface="+mj-ea"/>
                      </a:endParaRPr>
                    </a:p>
                  </a:txBody>
                  <a:tcPr/>
                </a:tc>
                <a:tc>
                  <a:txBody>
                    <a:bodyPr/>
                    <a:lstStyle/>
                    <a:p>
                      <a:pPr algn="ctr"/>
                      <a:r>
                        <a:rPr lang="en-US" altLang="zh-CN">
                          <a:latin typeface="+mj-ea"/>
                          <a:ea typeface="+mj-ea"/>
                        </a:rPr>
                        <a:t>F#</a:t>
                      </a:r>
                      <a:endParaRPr lang="zh-CN" altLang="en-US">
                        <a:latin typeface="+mj-ea"/>
                        <a:ea typeface="+mj-ea"/>
                      </a:endParaRPr>
                    </a:p>
                  </a:txBody>
                  <a:tcPr/>
                </a:tc>
                <a:extLst>
                  <a:ext uri="{0D108BD9-81ED-4DB2-BD59-A6C34878D82A}">
                    <a16:rowId xmlns:a16="http://schemas.microsoft.com/office/drawing/2014/main" val="10000"/>
                  </a:ext>
                </a:extLst>
              </a:tr>
              <a:tr h="370840">
                <a:tc>
                  <a:txBody>
                    <a:bodyPr/>
                    <a:lstStyle/>
                    <a:p>
                      <a:r>
                        <a:rPr lang="en-US" altLang="zh-CN" dirty="0">
                          <a:latin typeface="+mj-ea"/>
                          <a:ea typeface="+mj-ea"/>
                        </a:rPr>
                        <a:t>Azure</a:t>
                      </a:r>
                      <a:r>
                        <a:rPr lang="zh-CN" altLang="en-US" dirty="0">
                          <a:latin typeface="+mj-ea"/>
                          <a:ea typeface="+mj-ea"/>
                        </a:rPr>
                        <a:t> </a:t>
                      </a:r>
                      <a:r>
                        <a:rPr lang="en-US" altLang="zh-CN" dirty="0">
                          <a:latin typeface="+mj-ea"/>
                          <a:ea typeface="+mj-ea"/>
                        </a:rPr>
                        <a:t>Function</a:t>
                      </a:r>
                      <a:endParaRPr lang="zh-CN" altLang="en-US" dirty="0">
                        <a:latin typeface="+mj-ea"/>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latin typeface="+mj-ea"/>
                          <a:ea typeface="+mj-ea"/>
                        </a:rPr>
                        <a:t>√</a:t>
                      </a:r>
                    </a:p>
                  </a:txBody>
                  <a:tcPr/>
                </a:tc>
                <a:tc>
                  <a:txBody>
                    <a:bodyPr/>
                    <a:lstStyle/>
                    <a:p>
                      <a:pPr algn="ctr"/>
                      <a:endParaRPr lang="zh-CN" altLang="en-US" dirty="0">
                        <a:latin typeface="+mj-ea"/>
                        <a:ea typeface="+mj-ea"/>
                      </a:endParaRPr>
                    </a:p>
                  </a:txBody>
                  <a:tcPr/>
                </a:tc>
                <a:tc>
                  <a:txBody>
                    <a:bodyPr/>
                    <a:lstStyle/>
                    <a:p>
                      <a:pPr algn="ctr"/>
                      <a:r>
                        <a:rPr lang="zh-CN" altLang="en-US">
                          <a:latin typeface="+mj-ea"/>
                          <a:ea typeface="+mj-ea"/>
                        </a:rPr>
                        <a:t>√</a:t>
                      </a:r>
                    </a:p>
                  </a:txBody>
                  <a:tcPr/>
                </a:tc>
                <a:tc>
                  <a:txBody>
                    <a:bodyPr/>
                    <a:lstStyle/>
                    <a:p>
                      <a:pPr algn="ctr"/>
                      <a:r>
                        <a:rPr lang="zh-CN" altLang="en-US">
                          <a:latin typeface="+mj-ea"/>
                          <a:ea typeface="+mj-ea"/>
                        </a:rPr>
                        <a:t>√</a:t>
                      </a:r>
                    </a:p>
                  </a:txBody>
                  <a:tcPr/>
                </a:tc>
                <a:tc>
                  <a:txBody>
                    <a:bodyPr/>
                    <a:lstStyle/>
                    <a:p>
                      <a:pPr algn="ctr"/>
                      <a:endParaRPr lang="zh-CN" altLang="en-US">
                        <a:latin typeface="+mj-ea"/>
                        <a:ea typeface="+mj-ea"/>
                      </a:endParaRPr>
                    </a:p>
                  </a:txBody>
                  <a:tcPr/>
                </a:tc>
                <a:tc>
                  <a:txBody>
                    <a:bodyPr/>
                    <a:lstStyle/>
                    <a:p>
                      <a:pPr algn="ctr"/>
                      <a:r>
                        <a:rPr lang="zh-CN" altLang="en-US">
                          <a:latin typeface="+mj-ea"/>
                          <a:ea typeface="+mj-ea"/>
                        </a:rPr>
                        <a:t>√</a:t>
                      </a:r>
                    </a:p>
                  </a:txBody>
                  <a:tcPr/>
                </a:tc>
                <a:extLst>
                  <a:ext uri="{0D108BD9-81ED-4DB2-BD59-A6C34878D82A}">
                    <a16:rowId xmlns:a16="http://schemas.microsoft.com/office/drawing/2014/main" val="10001"/>
                  </a:ext>
                </a:extLst>
              </a:tr>
              <a:tr h="370840">
                <a:tc>
                  <a:txBody>
                    <a:bodyPr/>
                    <a:lstStyle/>
                    <a:p>
                      <a:r>
                        <a:rPr lang="en-US" altLang="zh-CN" dirty="0">
                          <a:latin typeface="+mj-ea"/>
                          <a:ea typeface="+mj-ea"/>
                        </a:rPr>
                        <a:t>AWS</a:t>
                      </a:r>
                      <a:r>
                        <a:rPr lang="zh-CN" altLang="en-US" dirty="0">
                          <a:latin typeface="+mj-ea"/>
                          <a:ea typeface="+mj-ea"/>
                        </a:rPr>
                        <a:t> </a:t>
                      </a:r>
                      <a:r>
                        <a:rPr lang="en-US" altLang="zh-CN" dirty="0">
                          <a:latin typeface="+mj-ea"/>
                          <a:ea typeface="+mj-ea"/>
                        </a:rPr>
                        <a:t>Lambda</a:t>
                      </a:r>
                      <a:endParaRPr lang="zh-CN" altLang="en-US" dirty="0">
                        <a:latin typeface="+mj-ea"/>
                        <a:ea typeface="+mj-ea"/>
                      </a:endParaRPr>
                    </a:p>
                  </a:txBody>
                  <a:tcPr/>
                </a:tc>
                <a:tc>
                  <a:txBody>
                    <a:bodyPr/>
                    <a:lstStyle/>
                    <a:p>
                      <a:pPr algn="ctr"/>
                      <a:r>
                        <a:rPr lang="zh-CN" altLang="en-US" dirty="0">
                          <a:latin typeface="+mj-ea"/>
                          <a:ea typeface="+mj-ea"/>
                        </a:rPr>
                        <a:t>√</a:t>
                      </a:r>
                    </a:p>
                  </a:txBody>
                  <a:tcPr/>
                </a:tc>
                <a:tc>
                  <a:txBody>
                    <a:bodyPr/>
                    <a:lstStyle/>
                    <a:p>
                      <a:pPr algn="ctr"/>
                      <a:r>
                        <a:rPr lang="zh-CN" altLang="en-US" dirty="0">
                          <a:latin typeface="+mj-ea"/>
                          <a:ea typeface="+mj-ea"/>
                        </a:rPr>
                        <a:t>√</a:t>
                      </a:r>
                    </a:p>
                  </a:txBody>
                  <a:tcPr/>
                </a:tc>
                <a:tc>
                  <a:txBody>
                    <a:bodyPr/>
                    <a:lstStyle/>
                    <a:p>
                      <a:pPr algn="ctr"/>
                      <a:r>
                        <a:rPr lang="zh-CN" altLang="en-US">
                          <a:latin typeface="+mj-ea"/>
                          <a:ea typeface="+mj-ea"/>
                        </a:rPr>
                        <a:t>√</a:t>
                      </a:r>
                    </a:p>
                  </a:txBody>
                  <a:tcPr/>
                </a:tc>
                <a:tc>
                  <a:txBody>
                    <a:bodyPr/>
                    <a:lstStyle/>
                    <a:p>
                      <a:pPr algn="ctr"/>
                      <a:r>
                        <a:rPr lang="zh-CN" altLang="en-US">
                          <a:latin typeface="+mj-ea"/>
                          <a:ea typeface="+mj-ea"/>
                        </a:rPr>
                        <a:t>√</a:t>
                      </a:r>
                    </a:p>
                  </a:txBody>
                  <a:tcPr/>
                </a:tc>
                <a:tc>
                  <a:txBody>
                    <a:bodyPr/>
                    <a:lstStyle/>
                    <a:p>
                      <a:pPr algn="ctr"/>
                      <a:endParaRPr lang="zh-CN" altLang="en-US">
                        <a:latin typeface="+mj-ea"/>
                        <a:ea typeface="+mj-ea"/>
                      </a:endParaRPr>
                    </a:p>
                  </a:txBody>
                  <a:tcPr/>
                </a:tc>
                <a:tc>
                  <a:txBody>
                    <a:bodyPr/>
                    <a:lstStyle/>
                    <a:p>
                      <a:pPr algn="ctr"/>
                      <a:endParaRPr lang="zh-CN" altLang="en-US">
                        <a:latin typeface="+mj-ea"/>
                        <a:ea typeface="+mj-ea"/>
                      </a:endParaRPr>
                    </a:p>
                  </a:txBody>
                  <a:tcPr/>
                </a:tc>
                <a:extLst>
                  <a:ext uri="{0D108BD9-81ED-4DB2-BD59-A6C34878D82A}">
                    <a16:rowId xmlns:a16="http://schemas.microsoft.com/office/drawing/2014/main" val="10002"/>
                  </a:ext>
                </a:extLst>
              </a:tr>
              <a:tr h="370840">
                <a:tc>
                  <a:txBody>
                    <a:bodyPr/>
                    <a:lstStyle/>
                    <a:p>
                      <a:r>
                        <a:rPr lang="zh-CN" altLang="en-US">
                          <a:latin typeface="+mj-ea"/>
                          <a:ea typeface="+mj-ea"/>
                        </a:rPr>
                        <a:t>阿里云函数计算</a:t>
                      </a:r>
                    </a:p>
                  </a:txBody>
                  <a:tcPr/>
                </a:tc>
                <a:tc>
                  <a:txBody>
                    <a:bodyPr/>
                    <a:lstStyle/>
                    <a:p>
                      <a:pPr algn="ctr"/>
                      <a:r>
                        <a:rPr lang="zh-CN" altLang="en-US" dirty="0">
                          <a:latin typeface="+mj-ea"/>
                          <a:ea typeface="+mj-ea"/>
                        </a:rPr>
                        <a:t>√</a:t>
                      </a:r>
                    </a:p>
                  </a:txBody>
                  <a:tcPr/>
                </a:tc>
                <a:tc>
                  <a:txBody>
                    <a:bodyPr/>
                    <a:lstStyle/>
                    <a:p>
                      <a:pPr algn="ctr"/>
                      <a:r>
                        <a:rPr lang="zh-CN" altLang="en-US" dirty="0">
                          <a:latin typeface="+mj-ea"/>
                          <a:ea typeface="+mj-ea"/>
                        </a:rPr>
                        <a:t>√</a:t>
                      </a:r>
                    </a:p>
                  </a:txBody>
                  <a:tcPr/>
                </a:tc>
                <a:tc>
                  <a:txBody>
                    <a:bodyPr/>
                    <a:lstStyle/>
                    <a:p>
                      <a:pPr algn="ctr"/>
                      <a:r>
                        <a:rPr lang="zh-CN" altLang="en-US" dirty="0">
                          <a:latin typeface="+mj-ea"/>
                          <a:ea typeface="+mj-ea"/>
                        </a:rPr>
                        <a:t>√</a:t>
                      </a:r>
                    </a:p>
                  </a:txBody>
                  <a:tcPr/>
                </a:tc>
                <a:tc>
                  <a:txBody>
                    <a:bodyPr/>
                    <a:lstStyle/>
                    <a:p>
                      <a:pPr algn="ctr"/>
                      <a:endParaRPr lang="zh-CN" altLang="en-US">
                        <a:latin typeface="+mj-ea"/>
                        <a:ea typeface="+mj-ea"/>
                      </a:endParaRPr>
                    </a:p>
                  </a:txBody>
                  <a:tcPr/>
                </a:tc>
                <a:tc>
                  <a:txBody>
                    <a:bodyPr/>
                    <a:lstStyle/>
                    <a:p>
                      <a:pPr algn="ctr"/>
                      <a:r>
                        <a:rPr lang="zh-CN" altLang="en-US">
                          <a:latin typeface="+mj-ea"/>
                          <a:ea typeface="+mj-ea"/>
                        </a:rPr>
                        <a:t>√</a:t>
                      </a:r>
                    </a:p>
                  </a:txBody>
                  <a:tcPr/>
                </a:tc>
                <a:tc>
                  <a:txBody>
                    <a:bodyPr/>
                    <a:lstStyle/>
                    <a:p>
                      <a:pPr algn="ctr"/>
                      <a:endParaRPr lang="zh-CN" altLang="en-US">
                        <a:latin typeface="+mj-ea"/>
                        <a:ea typeface="+mj-ea"/>
                      </a:endParaRPr>
                    </a:p>
                  </a:txBody>
                  <a:tcPr/>
                </a:tc>
                <a:extLst>
                  <a:ext uri="{0D108BD9-81ED-4DB2-BD59-A6C34878D82A}">
                    <a16:rowId xmlns:a16="http://schemas.microsoft.com/office/drawing/2014/main" val="10003"/>
                  </a:ext>
                </a:extLst>
              </a:tr>
              <a:tr h="370840">
                <a:tc>
                  <a:txBody>
                    <a:bodyPr/>
                    <a:lstStyle/>
                    <a:p>
                      <a:r>
                        <a:rPr lang="en-US" altLang="zh-CN">
                          <a:latin typeface="+mj-ea"/>
                          <a:ea typeface="+mj-ea"/>
                        </a:rPr>
                        <a:t>Google</a:t>
                      </a:r>
                      <a:r>
                        <a:rPr lang="zh-CN" altLang="en-US">
                          <a:latin typeface="+mj-ea"/>
                          <a:ea typeface="+mj-ea"/>
                        </a:rPr>
                        <a:t> </a:t>
                      </a:r>
                      <a:r>
                        <a:rPr lang="en-US" altLang="zh-CN">
                          <a:latin typeface="+mj-ea"/>
                          <a:ea typeface="+mj-ea"/>
                        </a:rPr>
                        <a:t>Cloud</a:t>
                      </a:r>
                      <a:r>
                        <a:rPr lang="zh-CN" altLang="en-US">
                          <a:latin typeface="+mj-ea"/>
                          <a:ea typeface="+mj-ea"/>
                        </a:rPr>
                        <a:t> </a:t>
                      </a:r>
                      <a:r>
                        <a:rPr lang="en-US" altLang="zh-CN" err="1">
                          <a:latin typeface="+mj-ea"/>
                          <a:ea typeface="+mj-ea"/>
                        </a:rPr>
                        <a:t>Func</a:t>
                      </a:r>
                      <a:r>
                        <a:rPr lang="en-US" altLang="zh-CN">
                          <a:latin typeface="+mj-ea"/>
                          <a:ea typeface="+mj-ea"/>
                        </a:rPr>
                        <a:t>.</a:t>
                      </a:r>
                      <a:endParaRPr lang="zh-CN" altLang="en-US">
                        <a:latin typeface="+mj-ea"/>
                        <a:ea typeface="+mj-ea"/>
                      </a:endParaRPr>
                    </a:p>
                  </a:txBody>
                  <a:tcPr/>
                </a:tc>
                <a:tc>
                  <a:txBody>
                    <a:bodyPr/>
                    <a:lstStyle/>
                    <a:p>
                      <a:pPr algn="ctr"/>
                      <a:r>
                        <a:rPr lang="zh-CN" altLang="en-US" dirty="0">
                          <a:latin typeface="+mj-ea"/>
                          <a:ea typeface="+mj-ea"/>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latin typeface="+mj-ea"/>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latin typeface="+mj-ea"/>
                        <a:ea typeface="+mj-ea"/>
                      </a:endParaRPr>
                    </a:p>
                  </a:txBody>
                  <a:tcPr/>
                </a:tc>
                <a:tc>
                  <a:txBody>
                    <a:bodyPr/>
                    <a:lstStyle/>
                    <a:p>
                      <a:pPr algn="ctr"/>
                      <a:endParaRPr lang="zh-CN" altLang="en-US" dirty="0">
                        <a:latin typeface="+mj-ea"/>
                        <a:ea typeface="+mj-ea"/>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latin typeface="+mj-ea"/>
                        <a:ea typeface="+mj-ea"/>
                      </a:endParaRPr>
                    </a:p>
                  </a:txBody>
                  <a:tcPr/>
                </a:tc>
                <a:tc>
                  <a:txBody>
                    <a:bodyPr/>
                    <a:lstStyle/>
                    <a:p>
                      <a:pPr algn="ctr"/>
                      <a:endParaRPr lang="zh-CN" altLang="en-US" dirty="0">
                        <a:latin typeface="+mj-ea"/>
                        <a:ea typeface="+mj-ea"/>
                      </a:endParaRPr>
                    </a:p>
                  </a:txBody>
                  <a:tcPr/>
                </a:tc>
                <a:extLst>
                  <a:ext uri="{0D108BD9-81ED-4DB2-BD59-A6C34878D82A}">
                    <a16:rowId xmlns:a16="http://schemas.microsoft.com/office/drawing/2014/main" val="10004"/>
                  </a:ext>
                </a:extLst>
              </a:tr>
            </a:tbl>
          </a:graphicData>
        </a:graphic>
      </p:graphicFrame>
      <p:sp>
        <p:nvSpPr>
          <p:cNvPr id="7" name="灯片编号占位符 4">
            <a:extLst>
              <a:ext uri="{FF2B5EF4-FFF2-40B4-BE49-F238E27FC236}">
                <a16:creationId xmlns:a16="http://schemas.microsoft.com/office/drawing/2014/main" id="{CC08B5DD-582D-4EBB-B46B-CE43D0264D4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a:t>
            </a:r>
          </a:p>
        </p:txBody>
      </p:sp>
      <p:sp>
        <p:nvSpPr>
          <p:cNvPr id="3" name="内容占位符 2"/>
          <p:cNvSpPr>
            <a:spLocks noGrp="1"/>
          </p:cNvSpPr>
          <p:nvPr>
            <p:ph idx="1"/>
          </p:nvPr>
        </p:nvSpPr>
        <p:spPr/>
        <p:txBody>
          <a:bodyPr/>
          <a:lstStyle/>
          <a:p>
            <a:r>
              <a:rPr lang="zh-CN" altLang="en-US"/>
              <a:t>常见的几种使用无服务器计算实现的功能</a:t>
            </a:r>
            <a:endParaRPr lang="en-US" altLang="zh-CN"/>
          </a:p>
          <a:p>
            <a:pPr lvl="1"/>
            <a:r>
              <a:rPr lang="zh-CN" altLang="en-US"/>
              <a:t>可以使用</a:t>
            </a:r>
            <a:r>
              <a:rPr lang="en-US" altLang="zh-CN"/>
              <a:t>HTTP</a:t>
            </a:r>
            <a:r>
              <a:rPr lang="zh-CN" altLang="en-US"/>
              <a:t> </a:t>
            </a:r>
            <a:r>
              <a:rPr lang="en-US" altLang="zh-CN"/>
              <a:t>URL</a:t>
            </a:r>
            <a:r>
              <a:rPr lang="zh-CN" altLang="en-US"/>
              <a:t>形式访问的无服务器云端</a:t>
            </a:r>
            <a:r>
              <a:rPr lang="en-US" altLang="zh-CN"/>
              <a:t>API</a:t>
            </a:r>
          </a:p>
          <a:p>
            <a:pPr lvl="2"/>
            <a:r>
              <a:rPr lang="en-US" altLang="zh-CN"/>
              <a:t>E.g.</a:t>
            </a:r>
            <a:r>
              <a:rPr lang="zh-CN" altLang="en-US"/>
              <a:t>号码归属地查询、</a:t>
            </a:r>
            <a:r>
              <a:rPr lang="en-US" altLang="zh-CN"/>
              <a:t>API</a:t>
            </a:r>
            <a:r>
              <a:rPr lang="zh-CN" altLang="en-US"/>
              <a:t>地址查询、汇率转换、在线分词等</a:t>
            </a:r>
            <a:endParaRPr lang="en-US" altLang="zh-CN"/>
          </a:p>
          <a:p>
            <a:pPr lvl="1"/>
            <a:r>
              <a:rPr lang="zh-CN" altLang="en-US"/>
              <a:t>基于事件触发的服务</a:t>
            </a:r>
            <a:endParaRPr lang="en-US" altLang="zh-CN"/>
          </a:p>
          <a:p>
            <a:pPr lvl="2"/>
            <a:r>
              <a:rPr lang="en-US" altLang="zh-CN"/>
              <a:t>E.g. </a:t>
            </a:r>
            <a:r>
              <a:rPr lang="zh-CN" altLang="en-US"/>
              <a:t>基于对象存储的更新事件触发的图像缩略图生成</a:t>
            </a:r>
            <a:endParaRPr lang="en-US" altLang="zh-CN"/>
          </a:p>
          <a:p>
            <a:pPr lvl="1"/>
            <a:r>
              <a:rPr lang="zh-CN" altLang="en-US"/>
              <a:t>定时触发的服务</a:t>
            </a:r>
            <a:endParaRPr lang="en-US" altLang="zh-CN"/>
          </a:p>
          <a:p>
            <a:pPr lvl="2"/>
            <a:r>
              <a:rPr lang="en-US" altLang="zh-CN"/>
              <a:t>E.g. </a:t>
            </a:r>
            <a:r>
              <a:rPr lang="zh-CN" altLang="en-US"/>
              <a:t>定时刷新微博并对新微博进行情感分析</a:t>
            </a:r>
            <a:endParaRPr lang="en-US" altLang="zh-CN"/>
          </a:p>
          <a:p>
            <a:pPr lvl="1"/>
            <a:r>
              <a:rPr lang="zh-CN" altLang="en-US"/>
              <a:t>无服务器</a:t>
            </a:r>
            <a:r>
              <a:rPr lang="en-US" altLang="zh-CN"/>
              <a:t>Web</a:t>
            </a:r>
            <a:r>
              <a:rPr lang="zh-CN" altLang="en-US"/>
              <a:t>应用</a:t>
            </a:r>
            <a:endParaRPr lang="en-US" altLang="zh-CN"/>
          </a:p>
          <a:p>
            <a:pPr lvl="2"/>
            <a:r>
              <a:rPr lang="en-US" altLang="zh-CN"/>
              <a:t>E.g. </a:t>
            </a:r>
            <a:r>
              <a:rPr lang="zh-CN" altLang="en-US"/>
              <a:t>实现一个</a:t>
            </a:r>
            <a:r>
              <a:rPr lang="en-US" altLang="zh-CN"/>
              <a:t>Web</a:t>
            </a:r>
            <a:r>
              <a:rPr lang="zh-CN" altLang="en-US"/>
              <a:t>服务器</a:t>
            </a:r>
            <a:endParaRPr lang="en-US" altLang="zh-CN"/>
          </a:p>
          <a:p>
            <a:pPr lvl="3"/>
            <a:r>
              <a:rPr lang="zh-CN" altLang="en-US"/>
              <a:t>主要</a:t>
            </a:r>
            <a:r>
              <a:rPr lang="en-US" altLang="zh-CN"/>
              <a:t>Web</a:t>
            </a:r>
            <a:r>
              <a:rPr lang="zh-CN" altLang="en-US"/>
              <a:t>服务使用无服务器计算模式搭建</a:t>
            </a:r>
            <a:endParaRPr lang="en-US" altLang="zh-CN"/>
          </a:p>
          <a:p>
            <a:pPr lvl="3"/>
            <a:r>
              <a:rPr lang="zh-CN" altLang="en-US"/>
              <a:t>静态资源的存储使用对象存储服务</a:t>
            </a:r>
            <a:endParaRPr lang="zh-CN" altLang="en-US" dirty="0"/>
          </a:p>
        </p:txBody>
      </p:sp>
      <p:sp>
        <p:nvSpPr>
          <p:cNvPr id="8" name="灯片编号占位符 4">
            <a:extLst>
              <a:ext uri="{FF2B5EF4-FFF2-40B4-BE49-F238E27FC236}">
                <a16:creationId xmlns:a16="http://schemas.microsoft.com/office/drawing/2014/main" id="{86B2E214-40F4-4BE4-A25B-DFAE1535DB8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a:t>
            </a:r>
          </a:p>
        </p:txBody>
      </p:sp>
      <p:sp>
        <p:nvSpPr>
          <p:cNvPr id="3" name="内容占位符 2"/>
          <p:cNvSpPr>
            <a:spLocks noGrp="1"/>
          </p:cNvSpPr>
          <p:nvPr>
            <p:ph idx="1"/>
          </p:nvPr>
        </p:nvSpPr>
        <p:spPr/>
        <p:txBody>
          <a:bodyPr/>
          <a:lstStyle/>
          <a:p>
            <a:r>
              <a:rPr lang="zh-CN" altLang="en-US"/>
              <a:t>问题</a:t>
            </a:r>
            <a:endParaRPr lang="en-US" altLang="zh-CN"/>
          </a:p>
          <a:p>
            <a:pPr lvl="1"/>
            <a:r>
              <a:rPr lang="zh-CN" altLang="en-US"/>
              <a:t>云服务供应商锁定</a:t>
            </a:r>
            <a:endParaRPr lang="en-US" altLang="zh-CN"/>
          </a:p>
          <a:p>
            <a:pPr lvl="2"/>
            <a:r>
              <a:rPr lang="zh-CN" altLang="en-US"/>
              <a:t>云计算供应商之间支持的语言、提供的服务均各有特色，如果更换运行商则需要很大的迁移成本</a:t>
            </a:r>
            <a:endParaRPr lang="en-US" altLang="zh-CN"/>
          </a:p>
          <a:p>
            <a:pPr lvl="1"/>
            <a:r>
              <a:rPr lang="zh-CN" altLang="en-US"/>
              <a:t>服务的冷启动</a:t>
            </a:r>
            <a:endParaRPr lang="en-US" altLang="zh-CN"/>
          </a:p>
          <a:p>
            <a:pPr lvl="2"/>
            <a:r>
              <a:rPr lang="zh-CN" altLang="en-US"/>
              <a:t>在距离上一次调用已有一段时间的情况下，函数调用可能需要很长时间才能做出响应</a:t>
            </a:r>
            <a:endParaRPr lang="en-US" altLang="zh-CN"/>
          </a:p>
          <a:p>
            <a:pPr lvl="1"/>
            <a:r>
              <a:rPr lang="zh-CN" altLang="en-US"/>
              <a:t>工具链的缺少</a:t>
            </a:r>
            <a:endParaRPr lang="en-US" altLang="zh-CN"/>
          </a:p>
          <a:p>
            <a:pPr lvl="2"/>
            <a:r>
              <a:rPr lang="zh-CN" altLang="en-US"/>
              <a:t>监控、日志记录、开发和调试工具还不成熟</a:t>
            </a:r>
            <a:endParaRPr lang="zh-CN" altLang="en-US" dirty="0"/>
          </a:p>
        </p:txBody>
      </p:sp>
      <p:sp>
        <p:nvSpPr>
          <p:cNvPr id="8" name="灯片编号占位符 4">
            <a:extLst>
              <a:ext uri="{FF2B5EF4-FFF2-40B4-BE49-F238E27FC236}">
                <a16:creationId xmlns:a16="http://schemas.microsoft.com/office/drawing/2014/main" id="{F2BE92A1-6953-4A06-8EAA-9E0863406B4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D1221-21D3-4EA7-8A57-256ED509BA4A}"/>
              </a:ext>
            </a:extLst>
          </p:cNvPr>
          <p:cNvSpPr>
            <a:spLocks noGrp="1"/>
          </p:cNvSpPr>
          <p:nvPr>
            <p:ph type="title"/>
          </p:nvPr>
        </p:nvSpPr>
        <p:spPr/>
        <p:txBody>
          <a:bodyPr/>
          <a:lstStyle/>
          <a:p>
            <a:r>
              <a:rPr lang="zh-CN" altLang="en-US" dirty="0"/>
              <a:t>物联网云平台主要功能</a:t>
            </a:r>
          </a:p>
        </p:txBody>
      </p:sp>
      <p:sp>
        <p:nvSpPr>
          <p:cNvPr id="3" name="内容占位符 2">
            <a:extLst>
              <a:ext uri="{FF2B5EF4-FFF2-40B4-BE49-F238E27FC236}">
                <a16:creationId xmlns:a16="http://schemas.microsoft.com/office/drawing/2014/main" id="{11A36F0A-97D5-4BA2-AD23-B21787AD5047}"/>
              </a:ext>
            </a:extLst>
          </p:cNvPr>
          <p:cNvSpPr>
            <a:spLocks noGrp="1"/>
          </p:cNvSpPr>
          <p:nvPr>
            <p:ph idx="1"/>
          </p:nvPr>
        </p:nvSpPr>
        <p:spPr/>
        <p:txBody>
          <a:bodyPr/>
          <a:lstStyle/>
          <a:p>
            <a:endParaRPr lang="en-US" altLang="zh-CN" dirty="0"/>
          </a:p>
          <a:p>
            <a:r>
              <a:rPr lang="zh-CN" altLang="en-US" dirty="0"/>
              <a:t>设备连接</a:t>
            </a:r>
          </a:p>
          <a:p>
            <a:r>
              <a:rPr lang="zh-CN" altLang="en-US" dirty="0"/>
              <a:t>设备管理</a:t>
            </a:r>
          </a:p>
          <a:p>
            <a:r>
              <a:rPr lang="en-US" altLang="zh-CN" dirty="0"/>
              <a:t>IFTTT</a:t>
            </a:r>
            <a:r>
              <a:rPr lang="zh-CN" altLang="en-US" dirty="0"/>
              <a:t>与规则引擎</a:t>
            </a:r>
          </a:p>
          <a:p>
            <a:r>
              <a:rPr lang="zh-CN" altLang="en-US" dirty="0"/>
              <a:t>时序数据库与流计算</a:t>
            </a:r>
          </a:p>
          <a:p>
            <a:r>
              <a:rPr lang="zh-CN" altLang="en-US" dirty="0"/>
              <a:t>安全认证</a:t>
            </a:r>
          </a:p>
          <a:p>
            <a:r>
              <a:rPr lang="zh-CN" altLang="en-US" dirty="0"/>
              <a:t>无服务器计算</a:t>
            </a:r>
          </a:p>
          <a:p>
            <a:r>
              <a:rPr lang="zh-CN" altLang="en-US" dirty="0">
                <a:solidFill>
                  <a:srgbClr val="C00000"/>
                </a:solidFill>
              </a:rPr>
              <a:t>边缘计算</a:t>
            </a:r>
          </a:p>
          <a:p>
            <a:endParaRPr lang="zh-CN" altLang="en-US" dirty="0"/>
          </a:p>
        </p:txBody>
      </p:sp>
    </p:spTree>
    <p:extLst>
      <p:ext uri="{BB962C8B-B14F-4D97-AF65-F5344CB8AC3E}">
        <p14:creationId xmlns:p14="http://schemas.microsoft.com/office/powerpoint/2010/main" val="1709788265"/>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无服务器计算的下沉</a:t>
            </a:r>
            <a:r>
              <a:rPr lang="en-US" altLang="zh-CN"/>
              <a:t>-</a:t>
            </a:r>
            <a:r>
              <a:rPr lang="zh-CN" altLang="en-US"/>
              <a:t>边缘计算</a:t>
            </a:r>
            <a:endParaRPr lang="zh-CN" altLang="en-US" dirty="0"/>
          </a:p>
        </p:txBody>
      </p:sp>
      <p:sp>
        <p:nvSpPr>
          <p:cNvPr id="3" name="内容占位符 2"/>
          <p:cNvSpPr>
            <a:spLocks noGrp="1"/>
          </p:cNvSpPr>
          <p:nvPr>
            <p:ph idx="1"/>
          </p:nvPr>
        </p:nvSpPr>
        <p:spPr/>
        <p:txBody>
          <a:bodyPr/>
          <a:lstStyle/>
          <a:p>
            <a:pPr>
              <a:spcBef>
                <a:spcPts val="0"/>
              </a:spcBef>
            </a:pPr>
            <a:r>
              <a:rPr lang="zh-CN" altLang="en-US" dirty="0"/>
              <a:t>边缘计算的定义</a:t>
            </a:r>
            <a:endParaRPr lang="en-US" altLang="zh-CN" dirty="0"/>
          </a:p>
          <a:p>
            <a:pPr lvl="1">
              <a:spcBef>
                <a:spcPts val="0"/>
              </a:spcBef>
            </a:pPr>
            <a:r>
              <a:rPr lang="zh-CN" altLang="zh-CN" dirty="0"/>
              <a:t>在近用户端为用户提供使用无线接入网络的</a:t>
            </a:r>
            <a:r>
              <a:rPr lang="en-US" altLang="zh-CN" dirty="0"/>
              <a:t>IT</a:t>
            </a:r>
            <a:r>
              <a:rPr lang="zh-CN" altLang="zh-CN" dirty="0"/>
              <a:t>和云计算功能的技术</a:t>
            </a:r>
            <a:endParaRPr lang="en-US" altLang="zh-CN" dirty="0"/>
          </a:p>
          <a:p>
            <a:pPr>
              <a:spcBef>
                <a:spcPts val="0"/>
              </a:spcBef>
            </a:pPr>
            <a:r>
              <a:rPr lang="zh-CN" altLang="en-US" dirty="0"/>
              <a:t>下沉方法</a:t>
            </a:r>
            <a:endParaRPr lang="en-US" altLang="zh-CN" dirty="0"/>
          </a:p>
          <a:p>
            <a:pPr lvl="1">
              <a:spcBef>
                <a:spcPts val="0"/>
              </a:spcBef>
            </a:pPr>
            <a:r>
              <a:rPr lang="en-US" altLang="zh-CN" dirty="0"/>
              <a:t>RPC</a:t>
            </a:r>
          </a:p>
          <a:p>
            <a:pPr lvl="2">
              <a:spcBef>
                <a:spcPts val="0"/>
              </a:spcBef>
            </a:pPr>
            <a:r>
              <a:rPr lang="zh-CN" altLang="en-US" dirty="0"/>
              <a:t>轻量，但是</a:t>
            </a:r>
            <a:r>
              <a:rPr lang="en-US" altLang="zh-CN" dirty="0"/>
              <a:t>RPC</a:t>
            </a:r>
            <a:r>
              <a:rPr lang="zh-CN" altLang="en-US" dirty="0"/>
              <a:t>服务代码需要预置</a:t>
            </a:r>
            <a:endParaRPr lang="en-US" altLang="zh-CN" dirty="0"/>
          </a:p>
          <a:p>
            <a:pPr lvl="1">
              <a:spcBef>
                <a:spcPts val="0"/>
              </a:spcBef>
            </a:pPr>
            <a:r>
              <a:rPr lang="zh-CN" altLang="en-US" dirty="0"/>
              <a:t>容器</a:t>
            </a:r>
            <a:endParaRPr lang="en-US" altLang="zh-CN" dirty="0"/>
          </a:p>
          <a:p>
            <a:pPr lvl="2">
              <a:spcBef>
                <a:spcPts val="0"/>
              </a:spcBef>
            </a:pPr>
            <a:r>
              <a:rPr lang="zh-CN" altLang="en-US" dirty="0"/>
              <a:t>依赖底层宿主机的内核。</a:t>
            </a:r>
            <a:endParaRPr lang="en-US" altLang="zh-CN" dirty="0"/>
          </a:p>
          <a:p>
            <a:pPr lvl="2">
              <a:spcBef>
                <a:spcPts val="0"/>
              </a:spcBef>
            </a:pPr>
            <a:r>
              <a:rPr lang="zh-CN" altLang="en-US" dirty="0"/>
              <a:t>轻量级。</a:t>
            </a:r>
            <a:r>
              <a:rPr lang="en-US" altLang="zh-CN" dirty="0"/>
              <a:t>Azure</a:t>
            </a:r>
            <a:r>
              <a:rPr lang="zh-CN" altLang="en-US" dirty="0"/>
              <a:t> </a:t>
            </a:r>
            <a:r>
              <a:rPr lang="en-US" altLang="zh-CN" dirty="0"/>
              <a:t>IoT</a:t>
            </a:r>
            <a:r>
              <a:rPr lang="zh-CN" altLang="en-US" dirty="0"/>
              <a:t> </a:t>
            </a:r>
            <a:r>
              <a:rPr lang="en-US" altLang="zh-CN" dirty="0"/>
              <a:t>Edge </a:t>
            </a:r>
            <a:r>
              <a:rPr lang="zh-CN" altLang="en-US" dirty="0"/>
              <a:t>、</a:t>
            </a:r>
            <a:r>
              <a:rPr lang="en-US" altLang="zh-CN" dirty="0"/>
              <a:t>AWS</a:t>
            </a:r>
            <a:r>
              <a:rPr lang="zh-CN" altLang="en-US" dirty="0"/>
              <a:t> </a:t>
            </a:r>
            <a:r>
              <a:rPr lang="en-US" altLang="zh-CN" dirty="0"/>
              <a:t>Greengrass</a:t>
            </a:r>
            <a:r>
              <a:rPr lang="zh-CN" altLang="en-US" dirty="0"/>
              <a:t>、阿里云</a:t>
            </a:r>
            <a:r>
              <a:rPr lang="en-US" altLang="zh-CN" dirty="0"/>
              <a:t>Link</a:t>
            </a:r>
            <a:r>
              <a:rPr lang="zh-CN" altLang="en-US" dirty="0"/>
              <a:t> </a:t>
            </a:r>
            <a:r>
              <a:rPr lang="en-US" altLang="zh-CN" dirty="0"/>
              <a:t>Edge</a:t>
            </a:r>
            <a:r>
              <a:rPr lang="zh-CN" altLang="en-US" dirty="0"/>
              <a:t>均采用此方式</a:t>
            </a:r>
            <a:endParaRPr lang="en-US" altLang="zh-CN" dirty="0"/>
          </a:p>
          <a:p>
            <a:pPr lvl="1">
              <a:spcBef>
                <a:spcPts val="0"/>
              </a:spcBef>
            </a:pPr>
            <a:r>
              <a:rPr lang="zh-CN" altLang="en-US" dirty="0"/>
              <a:t>虚拟机</a:t>
            </a:r>
            <a:endParaRPr lang="en-US" altLang="zh-CN" dirty="0"/>
          </a:p>
          <a:p>
            <a:pPr lvl="2">
              <a:spcBef>
                <a:spcPts val="0"/>
              </a:spcBef>
            </a:pPr>
            <a:r>
              <a:rPr lang="zh-CN" altLang="en-US" dirty="0"/>
              <a:t>相较于容器技术，需要网络分发的数据量更大</a:t>
            </a:r>
            <a:endParaRPr lang="en-US" altLang="zh-CN" dirty="0"/>
          </a:p>
          <a:p>
            <a:pPr lvl="2">
              <a:spcBef>
                <a:spcPts val="0"/>
              </a:spcBef>
            </a:pPr>
            <a:r>
              <a:rPr lang="zh-CN" altLang="en-US" dirty="0"/>
              <a:t>更加灵活，屏蔽宿主机操作系统的异构性</a:t>
            </a:r>
            <a:endParaRPr lang="en-US" altLang="zh-CN" dirty="0"/>
          </a:p>
          <a:p>
            <a:pPr lvl="1">
              <a:spcBef>
                <a:spcPts val="0"/>
              </a:spcBef>
            </a:pPr>
            <a:r>
              <a:rPr lang="en-US" altLang="zh-CN" dirty="0"/>
              <a:t>OTA</a:t>
            </a:r>
          </a:p>
          <a:p>
            <a:pPr lvl="2">
              <a:spcBef>
                <a:spcPts val="0"/>
              </a:spcBef>
            </a:pPr>
            <a:r>
              <a:rPr lang="zh-CN" altLang="en-US" dirty="0"/>
              <a:t>整机的整体软件更新，开销大</a:t>
            </a:r>
            <a:endParaRPr lang="en-US" altLang="zh-CN" dirty="0"/>
          </a:p>
        </p:txBody>
      </p:sp>
      <p:sp>
        <p:nvSpPr>
          <p:cNvPr id="6" name="灯片编号占位符 4">
            <a:extLst>
              <a:ext uri="{FF2B5EF4-FFF2-40B4-BE49-F238E27FC236}">
                <a16:creationId xmlns:a16="http://schemas.microsoft.com/office/drawing/2014/main" id="{7EABC265-6DB1-4197-82CD-23796A7D1FD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边缘计算</a:t>
            </a:r>
          </a:p>
        </p:txBody>
      </p:sp>
      <p:sp>
        <p:nvSpPr>
          <p:cNvPr id="3" name="内容占位符 2"/>
          <p:cNvSpPr>
            <a:spLocks noGrp="1"/>
          </p:cNvSpPr>
          <p:nvPr>
            <p:ph idx="1"/>
          </p:nvPr>
        </p:nvSpPr>
        <p:spPr/>
        <p:txBody>
          <a:bodyPr/>
          <a:lstStyle/>
          <a:p>
            <a:r>
              <a:rPr lang="zh-CN" altLang="en-US" dirty="0"/>
              <a:t>以</a:t>
            </a:r>
            <a:r>
              <a:rPr lang="en-US" altLang="zh-CN" dirty="0"/>
              <a:t>Azure</a:t>
            </a:r>
            <a:r>
              <a:rPr lang="zh-CN" altLang="en-US" dirty="0"/>
              <a:t>的边缘计算服务架构为例进行说明</a:t>
            </a:r>
            <a:endParaRPr lang="en-US" altLang="zh-CN" dirty="0"/>
          </a:p>
          <a:p>
            <a:pPr lvl="1"/>
            <a:r>
              <a:rPr lang="zh-CN" altLang="en-US" dirty="0"/>
              <a:t>从图中可以看到，传统的物联网云计算模式都是把物联网节点的数据直接上传至云端进行分析与存储</a:t>
            </a:r>
            <a:endParaRPr lang="en-US" altLang="zh-CN" dirty="0"/>
          </a:p>
          <a:p>
            <a:pPr lvl="1"/>
            <a:r>
              <a:rPr lang="zh-CN" altLang="en-US" dirty="0"/>
              <a:t>但是在边缘计算模式下，数据的初步分析可以下发到边缘侧的路由器或是设备进行计算。</a:t>
            </a:r>
          </a:p>
          <a:p>
            <a:pPr lvl="1"/>
            <a:endParaRPr lang="zh-CN" altLang="en-US" dirty="0"/>
          </a:p>
          <a:p>
            <a:endParaRPr lang="zh-CN" altLang="en-US" dirty="0"/>
          </a:p>
        </p:txBody>
      </p:sp>
      <p:pic>
        <p:nvPicPr>
          <p:cNvPr id="4" name="图片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980" y="3227117"/>
            <a:ext cx="3780569" cy="2920752"/>
          </a:xfrm>
          <a:prstGeom prst="rect">
            <a:avLst/>
          </a:prstGeom>
          <a:noFill/>
          <a:ln>
            <a:noFill/>
          </a:ln>
        </p:spPr>
      </p:pic>
      <p:pic>
        <p:nvPicPr>
          <p:cNvPr id="5" name="图片 4"/>
          <p:cNvPicPr>
            <a:picLocks noChangeAspect="1"/>
          </p:cNvPicPr>
          <p:nvPr/>
        </p:nvPicPr>
        <p:blipFill>
          <a:blip r:embed="rId4"/>
          <a:stretch>
            <a:fillRect/>
          </a:stretch>
        </p:blipFill>
        <p:spPr>
          <a:xfrm>
            <a:off x="4283657" y="3227118"/>
            <a:ext cx="4639363" cy="2920751"/>
          </a:xfrm>
          <a:prstGeom prst="rect">
            <a:avLst/>
          </a:prstGeom>
        </p:spPr>
      </p:pic>
      <p:sp>
        <p:nvSpPr>
          <p:cNvPr id="6" name="灯片编号占位符 4">
            <a:extLst>
              <a:ext uri="{FF2B5EF4-FFF2-40B4-BE49-F238E27FC236}">
                <a16:creationId xmlns:a16="http://schemas.microsoft.com/office/drawing/2014/main" id="{DF4E0DE6-BF8A-4676-9A09-A4494B52EA6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边缘计算</a:t>
            </a:r>
          </a:p>
        </p:txBody>
      </p:sp>
      <p:sp>
        <p:nvSpPr>
          <p:cNvPr id="3" name="内容占位符 2"/>
          <p:cNvSpPr>
            <a:spLocks noGrp="1"/>
          </p:cNvSpPr>
          <p:nvPr>
            <p:ph idx="1"/>
          </p:nvPr>
        </p:nvSpPr>
        <p:spPr/>
        <p:txBody>
          <a:bodyPr/>
          <a:lstStyle/>
          <a:p>
            <a:r>
              <a:rPr lang="zh-CN" altLang="en-US"/>
              <a:t>科技厂商纷纷布局边缘计算</a:t>
            </a:r>
            <a:endParaRPr lang="en-US" altLang="zh-CN"/>
          </a:p>
          <a:p>
            <a:pPr lvl="1"/>
            <a:r>
              <a:rPr lang="en-US" altLang="zh-CN"/>
              <a:t>Amazon – Greengrass</a:t>
            </a:r>
          </a:p>
          <a:p>
            <a:pPr lvl="1"/>
            <a:r>
              <a:rPr lang="en-US" altLang="zh-CN"/>
              <a:t>Microsoft – Azure IoT Edge</a:t>
            </a:r>
          </a:p>
          <a:p>
            <a:pPr lvl="1"/>
            <a:r>
              <a:rPr lang="en-US" altLang="zh-CN"/>
              <a:t>IBM – Watson IoT Platform</a:t>
            </a:r>
          </a:p>
          <a:p>
            <a:pPr lvl="1"/>
            <a:r>
              <a:rPr lang="en-US" altLang="zh-CN"/>
              <a:t>Aliyun – Link Edge</a:t>
            </a:r>
          </a:p>
          <a:p>
            <a:pPr lvl="1"/>
            <a:r>
              <a:rPr lang="en-US" altLang="zh-CN"/>
              <a:t>Intel – Intel IoT Platform</a:t>
            </a:r>
          </a:p>
          <a:p>
            <a:pPr lvl="1"/>
            <a:r>
              <a:rPr lang="en-US" altLang="zh-CN"/>
              <a:t>Linux Foundation – EdgeX Foundry</a:t>
            </a:r>
          </a:p>
          <a:p>
            <a:pPr lvl="1"/>
            <a:r>
              <a:rPr lang="en-US" altLang="zh-CN"/>
              <a:t>Apache Foundation – Edgent</a:t>
            </a:r>
          </a:p>
          <a:p>
            <a:pPr lvl="1"/>
            <a:r>
              <a:rPr lang="en-US" altLang="zh-CN"/>
              <a:t>ARM – Mbed Edge</a:t>
            </a:r>
          </a:p>
          <a:p>
            <a:pPr lvl="1"/>
            <a:r>
              <a:rPr lang="en-US" altLang="zh-CN"/>
              <a:t>……</a:t>
            </a:r>
          </a:p>
          <a:p>
            <a:endParaRPr lang="zh-CN" altLang="en-US"/>
          </a:p>
          <a:p>
            <a:endParaRPr lang="zh-CN" altLang="en-US"/>
          </a:p>
        </p:txBody>
      </p:sp>
      <p:pic>
        <p:nvPicPr>
          <p:cNvPr id="4" name="Picture 2" descr="https://timgsa.baidu.com/timg?image&amp;quality=80&amp;size=b9999_10000&amp;sec=1535574703203&amp;di=e3faa834d8cfe6cbc1a8b07482f655fd&amp;imgtype=0&amp;src=http%3A%2F%2F5b0988e595225.cdn.sohucs.com%2Fimages%2F20180118%2Ff43b63beabb940f5be57afaa5652bebf.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1919" y="1145104"/>
            <a:ext cx="1401639" cy="9957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https://timgsa.baidu.com/timg?image&amp;quality=80&amp;size=b9999_10000&amp;sec=1535574739795&amp;di=fc60cc0cb5966d17e58eaf679cf367f9&amp;imgtype=0&amp;src=http%3A%2F%2Farticle.fd.zol-img.com.cn%2Ft_s501x2000%2Fg5%2FM00%2F06%2F04%2FChMkJ1kVfwCIOVr7AABbQZEmM_IAAcU2QCo5bwAAFtZ769.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4138" y="2341546"/>
            <a:ext cx="1702253" cy="71351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https://timgsa.baidu.com/timg?image&amp;quality=80&amp;size=b9999_10000&amp;sec=1535574784356&amp;di=3e3b8c1c0554c3d0f68441827e9828d4&amp;imgtype=0&amp;src=http%3A%2F%2F5b0988e595225.cdn.sohucs.com%2Fimages%2F20180105%2F5288d413d7194feeb340f0e2b4cd49e6.jpe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29005" y="2446971"/>
            <a:ext cx="1304426" cy="13044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https://timgsa.baidu.com/timg?image&amp;quality=80&amp;size=b9999_10000&amp;sec=1535574894322&amp;di=bd7a808e495097b7da5aa9a3bc22810f&amp;imgtype=0&amp;src=http%3A%2F%2Fcdn2.ettoday.net%2Fimages%2F135%2Fd13556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58463" y="3237807"/>
            <a:ext cx="1111886" cy="7338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https://timgsa.baidu.com/timg?image&amp;quality=80&amp;size=b9999_10000&amp;sec=1535574926638&amp;di=f21e9f2e2f9b134d0e06b26f033e5b96&amp;imgtype=jpg&amp;src=http%3A%2F%2Fimg3.imgtn.bdimg.com%2Fit%2Fu%3D594003193%2C2354148366%26fm%3D214%26gp%3D0.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28321" y="3860149"/>
            <a:ext cx="1444915" cy="7235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6" descr="https://ss2.bdstatic.com/70cFvnSh_Q1YnxGkpoWK1HF6hhy/it/u=2680368986,2288920714&amp;fm=26&amp;gp=0.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50666" y="4839545"/>
            <a:ext cx="968401" cy="7949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8" descr="https://timgsa.baidu.com/timg?image&amp;quality=80&amp;size=b9999_10000&amp;sec=1535574959457&amp;di=fa61e09dfce291fb79023c9ff28bda03&amp;imgtype=0&amp;src=http%3A%2F%2Fimg0.pconline.com.cn%2Fpconline%2F1207%2F24%2F2873775_2757367_13998570331165336644.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76404" y="4329522"/>
            <a:ext cx="968401" cy="7263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s://timgsa.baidu.com/timg?image&amp;quality=80&amp;size=b9999_10000&amp;sec=1535574719820&amp;di=a8442adf410e96156af1844527df1179&amp;imgtype=0&amp;src=http%3A%2F%2Fimage20.it168.com%2F201702_670x502%2F2798%2F520782e14d5ca88a.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466391" y="1395211"/>
            <a:ext cx="1444915" cy="825974"/>
          </a:xfrm>
          <a:prstGeom prst="rect">
            <a:avLst/>
          </a:prstGeom>
          <a:noFill/>
          <a:extLst>
            <a:ext uri="{909E8E84-426E-40DD-AFC4-6F175D3DCCD1}">
              <a14:hiddenFill xmlns:a14="http://schemas.microsoft.com/office/drawing/2010/main">
                <a:solidFill>
                  <a:srgbClr val="FFFFFF"/>
                </a:solidFill>
              </a14:hiddenFill>
            </a:ext>
          </a:extLst>
        </p:spPr>
      </p:pic>
      <p:sp>
        <p:nvSpPr>
          <p:cNvPr id="14" name="灯片编号占位符 4">
            <a:extLst>
              <a:ext uri="{FF2B5EF4-FFF2-40B4-BE49-F238E27FC236}">
                <a16:creationId xmlns:a16="http://schemas.microsoft.com/office/drawing/2014/main" id="{AFBC33B9-6AFA-46FE-9EAC-F19A11F5F55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边缘计算</a:t>
            </a:r>
          </a:p>
        </p:txBody>
      </p:sp>
      <p:sp>
        <p:nvSpPr>
          <p:cNvPr id="3" name="内容占位符 2"/>
          <p:cNvSpPr>
            <a:spLocks noGrp="1"/>
          </p:cNvSpPr>
          <p:nvPr>
            <p:ph idx="1"/>
          </p:nvPr>
        </p:nvSpPr>
        <p:spPr/>
        <p:txBody>
          <a:bodyPr/>
          <a:lstStyle/>
          <a:p>
            <a:pPr lvl="0"/>
            <a:r>
              <a:rPr lang="zh-CN" altLang="en-US"/>
              <a:t>边缘计算的优势</a:t>
            </a:r>
            <a:endParaRPr lang="en-US" altLang="zh-CN"/>
          </a:p>
          <a:p>
            <a:pPr lvl="1"/>
            <a:r>
              <a:rPr lang="zh-CN" altLang="en-US"/>
              <a:t>实时：</a:t>
            </a:r>
            <a:r>
              <a:rPr lang="zh-CN" altLang="zh-CN"/>
              <a:t>降低时延，达到高响应的云服务；</a:t>
            </a:r>
          </a:p>
          <a:p>
            <a:pPr lvl="1"/>
            <a:r>
              <a:rPr lang="zh-CN" altLang="en-US"/>
              <a:t>节省：</a:t>
            </a:r>
            <a:r>
              <a:rPr lang="zh-CN" altLang="zh-CN"/>
              <a:t>将物联网数据在边缘端即时处理，节省骨干网带宽；</a:t>
            </a:r>
          </a:p>
          <a:p>
            <a:pPr lvl="1"/>
            <a:r>
              <a:rPr lang="zh-CN" altLang="en-US"/>
              <a:t>安全：</a:t>
            </a:r>
            <a:r>
              <a:rPr lang="zh-CN" altLang="zh-CN"/>
              <a:t>数据分析不出户，边缘端处理数据，保证物联网数据的安全与隐私性；</a:t>
            </a:r>
          </a:p>
          <a:p>
            <a:pPr lvl="1"/>
            <a:r>
              <a:rPr lang="zh-CN" altLang="en-US"/>
              <a:t>稳定：</a:t>
            </a:r>
            <a:r>
              <a:rPr lang="zh-CN" altLang="zh-CN"/>
              <a:t>主干网断网仍可分析，具有较高的可用性。</a:t>
            </a:r>
          </a:p>
          <a:p>
            <a:endParaRPr lang="zh-CN" altLang="en-US"/>
          </a:p>
          <a:p>
            <a:endParaRPr lang="zh-CN" altLang="en-US"/>
          </a:p>
        </p:txBody>
      </p:sp>
      <p:pic>
        <p:nvPicPr>
          <p:cNvPr id="4" name="Picture 2" descr="âedge vs cloudâçå¾çæç´¢ç»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621" y="3695700"/>
            <a:ext cx="6372958" cy="2806743"/>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4">
            <a:extLst>
              <a:ext uri="{FF2B5EF4-FFF2-40B4-BE49-F238E27FC236}">
                <a16:creationId xmlns:a16="http://schemas.microsoft.com/office/drawing/2014/main" id="{209978A7-DF9B-4477-949D-286B16C892A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计算下沉</a:t>
            </a:r>
          </a:p>
        </p:txBody>
      </p:sp>
      <p:sp>
        <p:nvSpPr>
          <p:cNvPr id="3" name="内容占位符 2"/>
          <p:cNvSpPr>
            <a:spLocks noGrp="1"/>
          </p:cNvSpPr>
          <p:nvPr>
            <p:ph idx="1"/>
          </p:nvPr>
        </p:nvSpPr>
        <p:spPr/>
        <p:txBody>
          <a:bodyPr/>
          <a:lstStyle/>
          <a:p>
            <a:r>
              <a:rPr lang="zh-CN" altLang="en-US"/>
              <a:t>计算下沉的锚点</a:t>
            </a:r>
            <a:endParaRPr lang="en-US" altLang="zh-CN"/>
          </a:p>
          <a:p>
            <a:pPr lvl="1"/>
            <a:r>
              <a:rPr lang="zh-CN" altLang="en-US"/>
              <a:t>函数规则与</a:t>
            </a:r>
            <a:r>
              <a:rPr lang="en-US" altLang="zh-CN"/>
              <a:t>8</a:t>
            </a:r>
            <a:r>
              <a:rPr lang="zh-CN" altLang="en-US"/>
              <a:t>、</a:t>
            </a:r>
            <a:r>
              <a:rPr lang="en-US" altLang="zh-CN"/>
              <a:t>9</a:t>
            </a:r>
            <a:r>
              <a:rPr lang="zh-CN" altLang="en-US"/>
              <a:t>的功能相关</a:t>
            </a:r>
            <a:r>
              <a:rPr lang="en-US" altLang="zh-CN"/>
              <a:t>-&gt;</a:t>
            </a:r>
            <a:r>
              <a:rPr lang="zh-CN" altLang="en-US"/>
              <a:t> </a:t>
            </a:r>
            <a:r>
              <a:rPr lang="en-US" altLang="zh-CN"/>
              <a:t>E</a:t>
            </a:r>
          </a:p>
          <a:p>
            <a:pPr lvl="1"/>
            <a:r>
              <a:rPr lang="zh-CN" altLang="en-US"/>
              <a:t>函数规则与</a:t>
            </a:r>
            <a:r>
              <a:rPr lang="en-US" altLang="zh-CN"/>
              <a:t>7</a:t>
            </a:r>
            <a:r>
              <a:rPr lang="zh-CN" altLang="en-US"/>
              <a:t>、</a:t>
            </a:r>
            <a:r>
              <a:rPr lang="en-US" altLang="zh-CN"/>
              <a:t>9</a:t>
            </a:r>
            <a:r>
              <a:rPr lang="zh-CN" altLang="en-US"/>
              <a:t>的功能相关</a:t>
            </a:r>
            <a:r>
              <a:rPr lang="en-US" altLang="zh-CN"/>
              <a:t>-&gt;</a:t>
            </a:r>
            <a:r>
              <a:rPr lang="zh-CN" altLang="en-US"/>
              <a:t> </a:t>
            </a:r>
            <a:r>
              <a:rPr lang="en-US" altLang="zh-CN"/>
              <a:t>C</a:t>
            </a:r>
          </a:p>
          <a:p>
            <a:pPr lvl="1"/>
            <a:r>
              <a:rPr lang="zh-CN" altLang="en-US"/>
              <a:t>函数规则与</a:t>
            </a:r>
            <a:r>
              <a:rPr lang="en-US" altLang="zh-CN"/>
              <a:t>1</a:t>
            </a:r>
            <a:r>
              <a:rPr lang="zh-CN" altLang="en-US"/>
              <a:t>、</a:t>
            </a:r>
            <a:r>
              <a:rPr lang="en-US" altLang="zh-CN"/>
              <a:t>9</a:t>
            </a:r>
            <a:r>
              <a:rPr lang="zh-CN" altLang="en-US"/>
              <a:t>的功能相关</a:t>
            </a:r>
            <a:r>
              <a:rPr lang="en-US" altLang="zh-CN"/>
              <a:t>-&gt;</a:t>
            </a:r>
            <a:r>
              <a:rPr lang="zh-CN" altLang="en-US"/>
              <a:t> 无法下沉</a:t>
            </a:r>
            <a:endParaRPr lang="en-US" altLang="zh-CN"/>
          </a:p>
          <a:p>
            <a:r>
              <a:rPr lang="en-US" altLang="zh-CN"/>
              <a:t>=&gt;</a:t>
            </a:r>
            <a:r>
              <a:rPr lang="zh-CN" altLang="en-US"/>
              <a:t>寻找最近公共父节点问题</a:t>
            </a:r>
            <a:endParaRPr lang="en-US" altLang="zh-CN"/>
          </a:p>
          <a:p>
            <a:endParaRPr lang="en-US" altLang="zh-CN"/>
          </a:p>
        </p:txBody>
      </p:sp>
      <p:sp>
        <p:nvSpPr>
          <p:cNvPr id="4" name="矩形 3"/>
          <p:cNvSpPr/>
          <p:nvPr/>
        </p:nvSpPr>
        <p:spPr bwMode="auto">
          <a:xfrm>
            <a:off x="2043955" y="4182039"/>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A</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5" name="椭圆 4"/>
          <p:cNvSpPr/>
          <p:nvPr/>
        </p:nvSpPr>
        <p:spPr bwMode="auto">
          <a:xfrm>
            <a:off x="1613649" y="4938023"/>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a:ln>
                  <a:noFill/>
                </a:ln>
                <a:solidFill>
                  <a:schemeClr val="tx1"/>
                </a:solidFill>
                <a:latin typeface="Arial" panose="020B0604020202020204" pitchFamily="34" charset="0"/>
                <a:cs typeface="Arial" panose="020B0604020202020204" pitchFamily="34" charset="0"/>
              </a:rPr>
              <a:t>1</a:t>
            </a:r>
            <a:endParaRPr kumimoji="0" lang="zh-CN" altLang="en-US" sz="2400" b="0" i="0" u="none" strike="noStrike" cap="none" normalizeH="0">
              <a:ln>
                <a:noFill/>
              </a:ln>
              <a:solidFill>
                <a:schemeClr val="tx1"/>
              </a:solidFill>
              <a:latin typeface="Arial" panose="020B0604020202020204" pitchFamily="34" charset="0"/>
              <a:cs typeface="Arial" panose="020B0604020202020204" pitchFamily="34" charset="0"/>
            </a:endParaRPr>
          </a:p>
        </p:txBody>
      </p:sp>
      <p:sp>
        <p:nvSpPr>
          <p:cNvPr id="6" name="矩形 5"/>
          <p:cNvSpPr/>
          <p:nvPr/>
        </p:nvSpPr>
        <p:spPr bwMode="auto">
          <a:xfrm>
            <a:off x="4828615" y="4180918"/>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C</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7" name="矩形 6"/>
          <p:cNvSpPr/>
          <p:nvPr/>
        </p:nvSpPr>
        <p:spPr bwMode="auto">
          <a:xfrm>
            <a:off x="6113931" y="4985088"/>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E</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8" name="矩形 7"/>
          <p:cNvSpPr/>
          <p:nvPr/>
        </p:nvSpPr>
        <p:spPr bwMode="auto">
          <a:xfrm>
            <a:off x="2474261" y="4978364"/>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B</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9" name="椭圆 8"/>
          <p:cNvSpPr/>
          <p:nvPr/>
        </p:nvSpPr>
        <p:spPr bwMode="auto">
          <a:xfrm>
            <a:off x="2259108" y="5581240"/>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a:ln>
                  <a:noFill/>
                </a:ln>
                <a:solidFill>
                  <a:schemeClr val="tx1"/>
                </a:solidFill>
                <a:latin typeface="Arial" panose="020B0604020202020204" pitchFamily="34" charset="0"/>
                <a:cs typeface="Arial" panose="020B0604020202020204" pitchFamily="34" charset="0"/>
              </a:rPr>
              <a:t>2</a:t>
            </a:r>
            <a:endParaRPr kumimoji="0" lang="zh-CN" altLang="en-US" sz="2400" b="0" i="0" u="none" strike="noStrike" cap="none" normalizeH="0">
              <a:ln>
                <a:noFill/>
              </a:ln>
              <a:solidFill>
                <a:schemeClr val="tx1"/>
              </a:solidFill>
              <a:latin typeface="Arial" panose="020B0604020202020204" pitchFamily="34" charset="0"/>
              <a:cs typeface="Arial" panose="020B0604020202020204" pitchFamily="34" charset="0"/>
            </a:endParaRPr>
          </a:p>
        </p:txBody>
      </p:sp>
      <p:sp>
        <p:nvSpPr>
          <p:cNvPr id="10" name="椭圆 9"/>
          <p:cNvSpPr/>
          <p:nvPr/>
        </p:nvSpPr>
        <p:spPr bwMode="auto">
          <a:xfrm>
            <a:off x="3119720" y="5581240"/>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3</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1" name="矩形 10"/>
          <p:cNvSpPr/>
          <p:nvPr/>
        </p:nvSpPr>
        <p:spPr bwMode="auto">
          <a:xfrm>
            <a:off x="4294096" y="4985088"/>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D</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2" name="矩形 11"/>
          <p:cNvSpPr/>
          <p:nvPr/>
        </p:nvSpPr>
        <p:spPr bwMode="auto">
          <a:xfrm>
            <a:off x="3747251" y="5614858"/>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F</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3" name="矩形 12"/>
          <p:cNvSpPr/>
          <p:nvPr/>
        </p:nvSpPr>
        <p:spPr bwMode="auto">
          <a:xfrm>
            <a:off x="4885765" y="5626063"/>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G</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4" name="矩形 13"/>
          <p:cNvSpPr/>
          <p:nvPr/>
        </p:nvSpPr>
        <p:spPr bwMode="auto">
          <a:xfrm>
            <a:off x="6795249" y="5626062"/>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H</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5" name="椭圆 14"/>
          <p:cNvSpPr/>
          <p:nvPr/>
        </p:nvSpPr>
        <p:spPr bwMode="auto">
          <a:xfrm>
            <a:off x="5943602" y="5590204"/>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8</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6" name="椭圆 15"/>
          <p:cNvSpPr/>
          <p:nvPr/>
        </p:nvSpPr>
        <p:spPr bwMode="auto">
          <a:xfrm>
            <a:off x="3666567" y="6316343"/>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4</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7" name="椭圆 16"/>
          <p:cNvSpPr/>
          <p:nvPr/>
        </p:nvSpPr>
        <p:spPr bwMode="auto">
          <a:xfrm>
            <a:off x="4294096" y="6316343"/>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5</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8" name="椭圆 17"/>
          <p:cNvSpPr/>
          <p:nvPr/>
        </p:nvSpPr>
        <p:spPr bwMode="auto">
          <a:xfrm>
            <a:off x="4831977" y="6316343"/>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6</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19" name="椭圆 18"/>
          <p:cNvSpPr/>
          <p:nvPr/>
        </p:nvSpPr>
        <p:spPr bwMode="auto">
          <a:xfrm>
            <a:off x="5466791" y="6305135"/>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kumimoji="0" lang="en-US" altLang="zh-CN" sz="2400" b="0" i="0" u="none" strike="noStrike" cap="none" normalizeH="0" baseline="-25000">
                <a:ln>
                  <a:noFill/>
                </a:ln>
                <a:solidFill>
                  <a:schemeClr val="tx1"/>
                </a:solidFill>
                <a:latin typeface="Arial" panose="020B0604020202020204" pitchFamily="34" charset="0"/>
                <a:cs typeface="Arial" panose="020B0604020202020204" pitchFamily="34" charset="0"/>
              </a:rPr>
              <a:t>7</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cxnSp>
        <p:nvCxnSpPr>
          <p:cNvPr id="21" name="直线连接符 20"/>
          <p:cNvCxnSpPr>
            <a:stCxn id="4" idx="2"/>
            <a:endCxn id="5" idx="0"/>
          </p:cNvCxnSpPr>
          <p:nvPr/>
        </p:nvCxnSpPr>
        <p:spPr bwMode="auto">
          <a:xfrm flipH="1">
            <a:off x="1828802" y="4522698"/>
            <a:ext cx="645459" cy="415325"/>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22" name="直线连接符 21"/>
          <p:cNvCxnSpPr>
            <a:stCxn id="4" idx="2"/>
            <a:endCxn id="8" idx="0"/>
          </p:cNvCxnSpPr>
          <p:nvPr/>
        </p:nvCxnSpPr>
        <p:spPr bwMode="auto">
          <a:xfrm>
            <a:off x="2474261" y="4522698"/>
            <a:ext cx="430306" cy="455666"/>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26" name="直线连接符 25"/>
          <p:cNvCxnSpPr>
            <a:endCxn id="10" idx="0"/>
          </p:cNvCxnSpPr>
          <p:nvPr/>
        </p:nvCxnSpPr>
        <p:spPr bwMode="auto">
          <a:xfrm>
            <a:off x="2913535" y="5316782"/>
            <a:ext cx="421338" cy="264458"/>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29" name="直线连接符 28"/>
          <p:cNvCxnSpPr>
            <a:stCxn id="8" idx="2"/>
            <a:endCxn id="9" idx="0"/>
          </p:cNvCxnSpPr>
          <p:nvPr/>
        </p:nvCxnSpPr>
        <p:spPr bwMode="auto">
          <a:xfrm flipH="1">
            <a:off x="2474261" y="5319023"/>
            <a:ext cx="430306" cy="262217"/>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1" name="直线连接符 30"/>
          <p:cNvCxnSpPr>
            <a:stCxn id="6" idx="2"/>
            <a:endCxn id="11" idx="0"/>
          </p:cNvCxnSpPr>
          <p:nvPr/>
        </p:nvCxnSpPr>
        <p:spPr bwMode="auto">
          <a:xfrm flipH="1">
            <a:off x="4724402" y="4521577"/>
            <a:ext cx="534519" cy="463511"/>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2" name="直线连接符 31"/>
          <p:cNvCxnSpPr>
            <a:stCxn id="6" idx="2"/>
            <a:endCxn id="7" idx="0"/>
          </p:cNvCxnSpPr>
          <p:nvPr/>
        </p:nvCxnSpPr>
        <p:spPr bwMode="auto">
          <a:xfrm>
            <a:off x="5258921" y="4521577"/>
            <a:ext cx="1285316" cy="463511"/>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6" name="直线连接符 35"/>
          <p:cNvCxnSpPr>
            <a:stCxn id="7" idx="2"/>
            <a:endCxn id="14" idx="0"/>
          </p:cNvCxnSpPr>
          <p:nvPr/>
        </p:nvCxnSpPr>
        <p:spPr bwMode="auto">
          <a:xfrm>
            <a:off x="6544237" y="5325747"/>
            <a:ext cx="681318" cy="300315"/>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8" name="直线连接符 37"/>
          <p:cNvCxnSpPr>
            <a:stCxn id="7" idx="2"/>
            <a:endCxn id="15" idx="0"/>
          </p:cNvCxnSpPr>
          <p:nvPr/>
        </p:nvCxnSpPr>
        <p:spPr bwMode="auto">
          <a:xfrm flipH="1">
            <a:off x="6158755" y="5325747"/>
            <a:ext cx="385482" cy="264457"/>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1" name="直线连接符 40"/>
          <p:cNvCxnSpPr>
            <a:stCxn id="11" idx="2"/>
            <a:endCxn id="12" idx="0"/>
          </p:cNvCxnSpPr>
          <p:nvPr/>
        </p:nvCxnSpPr>
        <p:spPr bwMode="auto">
          <a:xfrm flipH="1">
            <a:off x="4177557" y="5325747"/>
            <a:ext cx="546845" cy="289111"/>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3" name="直线连接符 42"/>
          <p:cNvCxnSpPr>
            <a:stCxn id="11" idx="2"/>
            <a:endCxn id="13" idx="0"/>
          </p:cNvCxnSpPr>
          <p:nvPr/>
        </p:nvCxnSpPr>
        <p:spPr bwMode="auto">
          <a:xfrm>
            <a:off x="4724402" y="5325747"/>
            <a:ext cx="591669" cy="300316"/>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6" name="直线连接符 45"/>
          <p:cNvCxnSpPr>
            <a:stCxn id="13" idx="2"/>
            <a:endCxn id="19" idx="0"/>
          </p:cNvCxnSpPr>
          <p:nvPr/>
        </p:nvCxnSpPr>
        <p:spPr bwMode="auto">
          <a:xfrm>
            <a:off x="5316071" y="5966722"/>
            <a:ext cx="365873" cy="338413"/>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48" name="直线连接符 47"/>
          <p:cNvCxnSpPr>
            <a:stCxn id="13" idx="2"/>
            <a:endCxn id="18" idx="0"/>
          </p:cNvCxnSpPr>
          <p:nvPr/>
        </p:nvCxnSpPr>
        <p:spPr bwMode="auto">
          <a:xfrm flipH="1">
            <a:off x="5047130" y="5966722"/>
            <a:ext cx="268941" cy="349621"/>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51" name="直线连接符 50"/>
          <p:cNvCxnSpPr>
            <a:stCxn id="12" idx="2"/>
          </p:cNvCxnSpPr>
          <p:nvPr/>
        </p:nvCxnSpPr>
        <p:spPr bwMode="auto">
          <a:xfrm flipH="1">
            <a:off x="3872755" y="5955517"/>
            <a:ext cx="304802" cy="360826"/>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53" name="直线连接符 52"/>
          <p:cNvCxnSpPr>
            <a:stCxn id="12" idx="2"/>
            <a:endCxn id="17" idx="0"/>
          </p:cNvCxnSpPr>
          <p:nvPr/>
        </p:nvCxnSpPr>
        <p:spPr bwMode="auto">
          <a:xfrm>
            <a:off x="4177557" y="5955517"/>
            <a:ext cx="331692" cy="360826"/>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sp>
        <p:nvSpPr>
          <p:cNvPr id="58" name="云形 57"/>
          <p:cNvSpPr/>
          <p:nvPr/>
        </p:nvSpPr>
        <p:spPr bwMode="auto">
          <a:xfrm>
            <a:off x="3249710" y="3230957"/>
            <a:ext cx="1550891" cy="665630"/>
          </a:xfrm>
          <a:prstGeom prst="cloud">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zh-CN" altLang="en-US" b="1" dirty="0">
                <a:effectLst>
                  <a:outerShdw blurRad="38100" dist="38100" dir="2700000" algn="tl">
                    <a:srgbClr val="000000">
                      <a:alpha val="43137"/>
                    </a:srgbClr>
                  </a:outerShdw>
                </a:effectLst>
                <a:latin typeface="Arial" panose="020B0604020202020204" pitchFamily="34" charset="0"/>
              </a:rPr>
              <a:t>云服务器</a:t>
            </a:r>
            <a:endParaRPr kumimoji="0" lang="zh-CN" altLang="en-US" sz="2400" b="1" i="0" u="none" strike="noStrike" cap="none" normalizeH="0" baseline="-2500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cxnSp>
        <p:nvCxnSpPr>
          <p:cNvPr id="60" name="直线连接符 59"/>
          <p:cNvCxnSpPr>
            <a:stCxn id="58" idx="1"/>
            <a:endCxn id="4" idx="0"/>
          </p:cNvCxnSpPr>
          <p:nvPr/>
        </p:nvCxnSpPr>
        <p:spPr bwMode="auto">
          <a:xfrm flipH="1">
            <a:off x="2474261" y="3895878"/>
            <a:ext cx="1550895" cy="286161"/>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61" name="直线连接符 60"/>
          <p:cNvCxnSpPr>
            <a:stCxn id="58" idx="1"/>
            <a:endCxn id="6" idx="0"/>
          </p:cNvCxnSpPr>
          <p:nvPr/>
        </p:nvCxnSpPr>
        <p:spPr bwMode="auto">
          <a:xfrm>
            <a:off x="4025156" y="3895878"/>
            <a:ext cx="1233765" cy="285040"/>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sp>
        <p:nvSpPr>
          <p:cNvPr id="69" name="椭圆 68"/>
          <p:cNvSpPr/>
          <p:nvPr/>
        </p:nvSpPr>
        <p:spPr bwMode="auto">
          <a:xfrm>
            <a:off x="7010402" y="6316343"/>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r>
              <a:rPr lang="en-US" altLang="zh-CN">
                <a:latin typeface="Arial" panose="020B0604020202020204" pitchFamily="34" charset="0"/>
                <a:cs typeface="Arial" panose="020B0604020202020204" pitchFamily="34" charset="0"/>
              </a:rPr>
              <a:t>9</a:t>
            </a: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cxnSp>
        <p:nvCxnSpPr>
          <p:cNvPr id="74" name="直线连接符 73"/>
          <p:cNvCxnSpPr>
            <a:stCxn id="14" idx="2"/>
            <a:endCxn id="69" idx="0"/>
          </p:cNvCxnSpPr>
          <p:nvPr/>
        </p:nvCxnSpPr>
        <p:spPr bwMode="auto">
          <a:xfrm>
            <a:off x="7225555" y="5966721"/>
            <a:ext cx="0" cy="349622"/>
          </a:xfrm>
          <a:prstGeom prst="line">
            <a:avLst/>
          </a:prstGeom>
          <a:ln>
            <a:headEnd type="none" w="med" len="med"/>
            <a:tailEnd type="none" w="med" len="med"/>
          </a:ln>
        </p:spPr>
        <p:style>
          <a:lnRef idx="2">
            <a:schemeClr val="dk1"/>
          </a:lnRef>
          <a:fillRef idx="1">
            <a:schemeClr val="lt1"/>
          </a:fillRef>
          <a:effectRef idx="0">
            <a:schemeClr val="dk1"/>
          </a:effectRef>
          <a:fontRef idx="minor">
            <a:schemeClr val="dk1"/>
          </a:fontRef>
        </p:style>
      </p:cxnSp>
      <p:sp>
        <p:nvSpPr>
          <p:cNvPr id="82" name="矩形 81"/>
          <p:cNvSpPr/>
          <p:nvPr/>
        </p:nvSpPr>
        <p:spPr bwMode="auto">
          <a:xfrm>
            <a:off x="6454590" y="3685616"/>
            <a:ext cx="860612" cy="340659"/>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83" name="椭圆 82"/>
          <p:cNvSpPr/>
          <p:nvPr/>
        </p:nvSpPr>
        <p:spPr bwMode="auto">
          <a:xfrm>
            <a:off x="6669743" y="4196047"/>
            <a:ext cx="430306" cy="430306"/>
          </a:xfrm>
          <a:prstGeom prst="ellipse">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84" name="文本框 83"/>
          <p:cNvSpPr txBox="1"/>
          <p:nvPr/>
        </p:nvSpPr>
        <p:spPr>
          <a:xfrm>
            <a:off x="7423638" y="3601438"/>
            <a:ext cx="1005403"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1" lang="zh-CN" altLang="en-US" b="1">
                <a:latin typeface="Arial" panose="020B0604020202020204" pitchFamily="34" charset="0"/>
                <a:cs typeface="Arial" panose="020B0604020202020204" pitchFamily="34" charset="0"/>
              </a:rPr>
              <a:t>边缘网关</a:t>
            </a:r>
          </a:p>
        </p:txBody>
      </p:sp>
      <p:sp>
        <p:nvSpPr>
          <p:cNvPr id="85" name="文本框 84"/>
          <p:cNvSpPr txBox="1"/>
          <p:nvPr/>
        </p:nvSpPr>
        <p:spPr>
          <a:xfrm>
            <a:off x="7440708" y="4196047"/>
            <a:ext cx="1529586"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1" lang="zh-CN" altLang="en-US" b="1">
                <a:latin typeface="Arial" panose="020B0604020202020204" pitchFamily="34" charset="0"/>
                <a:cs typeface="Arial" panose="020B0604020202020204" pitchFamily="34" charset="0"/>
              </a:rPr>
              <a:t>传感器</a:t>
            </a:r>
            <a:r>
              <a:rPr kumimoji="1" lang="en-US" altLang="zh-CN" b="1">
                <a:latin typeface="Arial" panose="020B0604020202020204" pitchFamily="34" charset="0"/>
                <a:cs typeface="Arial" panose="020B0604020202020204" pitchFamily="34" charset="0"/>
              </a:rPr>
              <a:t>/</a:t>
            </a:r>
            <a:r>
              <a:rPr kumimoji="1" lang="zh-CN" altLang="en-US" b="1">
                <a:latin typeface="Arial" panose="020B0604020202020204" pitchFamily="34" charset="0"/>
                <a:cs typeface="Arial" panose="020B0604020202020204" pitchFamily="34" charset="0"/>
              </a:rPr>
              <a:t>执行器</a:t>
            </a:r>
          </a:p>
        </p:txBody>
      </p:sp>
      <p:sp>
        <p:nvSpPr>
          <p:cNvPr id="94" name="矩形 93"/>
          <p:cNvSpPr/>
          <p:nvPr/>
        </p:nvSpPr>
        <p:spPr bwMode="auto">
          <a:xfrm>
            <a:off x="6373908" y="3601438"/>
            <a:ext cx="2580356" cy="1106029"/>
          </a:xfrm>
          <a:prstGeom prst="rect">
            <a:avLst/>
          </a:prstGeom>
          <a:noFill/>
          <a:ln w="9525">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latin typeface="Arial" panose="020B0604020202020204" pitchFamily="34" charset="0"/>
              <a:cs typeface="Arial" panose="020B0604020202020204" pitchFamily="34" charset="0"/>
            </a:endParaRPr>
          </a:p>
        </p:txBody>
      </p:sp>
      <p:sp>
        <p:nvSpPr>
          <p:cNvPr id="47" name="灯片编号占位符 4">
            <a:extLst>
              <a:ext uri="{FF2B5EF4-FFF2-40B4-BE49-F238E27FC236}">
                <a16:creationId xmlns:a16="http://schemas.microsoft.com/office/drawing/2014/main" id="{EE2DC1F0-AA51-49AA-A501-07885996430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边缘计算</a:t>
            </a:r>
          </a:p>
        </p:txBody>
      </p:sp>
      <p:sp>
        <p:nvSpPr>
          <p:cNvPr id="3" name="内容占位符 2"/>
          <p:cNvSpPr>
            <a:spLocks noGrp="1"/>
          </p:cNvSpPr>
          <p:nvPr>
            <p:ph idx="1"/>
          </p:nvPr>
        </p:nvSpPr>
        <p:spPr/>
        <p:txBody>
          <a:bodyPr/>
          <a:lstStyle/>
          <a:p>
            <a:r>
              <a:rPr lang="zh-CN" altLang="en-US"/>
              <a:t>厂商对比</a:t>
            </a:r>
            <a:endParaRPr lang="zh-CN" altLang="en-US" dirty="0"/>
          </a:p>
        </p:txBody>
      </p:sp>
      <p:sp>
        <p:nvSpPr>
          <p:cNvPr id="5" name="灯片编号占位符 4">
            <a:extLst>
              <a:ext uri="{FF2B5EF4-FFF2-40B4-BE49-F238E27FC236}">
                <a16:creationId xmlns:a16="http://schemas.microsoft.com/office/drawing/2014/main" id="{9799DC4E-3A73-4370-BA94-406720C4B46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99</a:t>
            </a:fld>
            <a:endParaRPr lang="zh-CN" altLang="zh-CN" sz="1800" baseline="0" dirty="0">
              <a:solidFill>
                <a:schemeClr val="folHlink"/>
              </a:solidFill>
              <a:latin typeface="Monotype Corsiva" panose="03010101010201010101" pitchFamily="66" charset="0"/>
            </a:endParaRPr>
          </a:p>
        </p:txBody>
      </p:sp>
      <p:graphicFrame>
        <p:nvGraphicFramePr>
          <p:cNvPr id="6" name="表格 8">
            <a:extLst>
              <a:ext uri="{FF2B5EF4-FFF2-40B4-BE49-F238E27FC236}">
                <a16:creationId xmlns:a16="http://schemas.microsoft.com/office/drawing/2014/main" id="{CDF1F300-23DC-40A6-B4E5-30117FDB6211}"/>
              </a:ext>
            </a:extLst>
          </p:cNvPr>
          <p:cNvGraphicFramePr>
            <a:graphicFrameLocks noGrp="1"/>
          </p:cNvGraphicFramePr>
          <p:nvPr>
            <p:extLst>
              <p:ext uri="{D42A27DB-BD31-4B8C-83A1-F6EECF244321}">
                <p14:modId xmlns:p14="http://schemas.microsoft.com/office/powerpoint/2010/main" val="3833903973"/>
              </p:ext>
            </p:extLst>
          </p:nvPr>
        </p:nvGraphicFramePr>
        <p:xfrm>
          <a:off x="152400" y="1768322"/>
          <a:ext cx="8839200" cy="3461385"/>
        </p:xfrm>
        <a:graphic>
          <a:graphicData uri="http://schemas.openxmlformats.org/drawingml/2006/table">
            <a:tbl>
              <a:tblPr firstRow="1" bandRow="1">
                <a:tableStyleId>{93296810-A885-4BE3-A3E7-6D5BEEA58F35}</a:tableStyleId>
              </a:tblPr>
              <a:tblGrid>
                <a:gridCol w="1118135">
                  <a:extLst>
                    <a:ext uri="{9D8B030D-6E8A-4147-A177-3AD203B41FA5}">
                      <a16:colId xmlns:a16="http://schemas.microsoft.com/office/drawing/2014/main" val="20000"/>
                    </a:ext>
                  </a:extLst>
                </a:gridCol>
                <a:gridCol w="943276">
                  <a:extLst>
                    <a:ext uri="{9D8B030D-6E8A-4147-A177-3AD203B41FA5}">
                      <a16:colId xmlns:a16="http://schemas.microsoft.com/office/drawing/2014/main" val="20001"/>
                    </a:ext>
                  </a:extLst>
                </a:gridCol>
                <a:gridCol w="1087654">
                  <a:extLst>
                    <a:ext uri="{9D8B030D-6E8A-4147-A177-3AD203B41FA5}">
                      <a16:colId xmlns:a16="http://schemas.microsoft.com/office/drawing/2014/main" val="20002"/>
                    </a:ext>
                  </a:extLst>
                </a:gridCol>
                <a:gridCol w="808522">
                  <a:extLst>
                    <a:ext uri="{9D8B030D-6E8A-4147-A177-3AD203B41FA5}">
                      <a16:colId xmlns:a16="http://schemas.microsoft.com/office/drawing/2014/main" val="20003"/>
                    </a:ext>
                  </a:extLst>
                </a:gridCol>
                <a:gridCol w="587141">
                  <a:extLst>
                    <a:ext uri="{9D8B030D-6E8A-4147-A177-3AD203B41FA5}">
                      <a16:colId xmlns:a16="http://schemas.microsoft.com/office/drawing/2014/main" val="20004"/>
                    </a:ext>
                  </a:extLst>
                </a:gridCol>
                <a:gridCol w="866274">
                  <a:extLst>
                    <a:ext uri="{9D8B030D-6E8A-4147-A177-3AD203B41FA5}">
                      <a16:colId xmlns:a16="http://schemas.microsoft.com/office/drawing/2014/main" val="20005"/>
                    </a:ext>
                  </a:extLst>
                </a:gridCol>
                <a:gridCol w="1058779">
                  <a:extLst>
                    <a:ext uri="{9D8B030D-6E8A-4147-A177-3AD203B41FA5}">
                      <a16:colId xmlns:a16="http://schemas.microsoft.com/office/drawing/2014/main" val="20006"/>
                    </a:ext>
                  </a:extLst>
                </a:gridCol>
                <a:gridCol w="827773">
                  <a:extLst>
                    <a:ext uri="{9D8B030D-6E8A-4147-A177-3AD203B41FA5}">
                      <a16:colId xmlns:a16="http://schemas.microsoft.com/office/drawing/2014/main" val="2035354474"/>
                    </a:ext>
                  </a:extLst>
                </a:gridCol>
                <a:gridCol w="1541646">
                  <a:extLst>
                    <a:ext uri="{9D8B030D-6E8A-4147-A177-3AD203B41FA5}">
                      <a16:colId xmlns:a16="http://schemas.microsoft.com/office/drawing/2014/main" val="2779440299"/>
                    </a:ext>
                  </a:extLst>
                </a:gridCol>
              </a:tblGrid>
              <a:tr h="370840">
                <a:tc>
                  <a:txBody>
                    <a:bodyPr/>
                    <a:lstStyle/>
                    <a:p>
                      <a:pPr algn="ctr" fontAlgn="ctr"/>
                      <a:r>
                        <a:rPr lang="zh-CN" altLang="en-US" sz="1600" u="none" strike="noStrike" dirty="0">
                          <a:effectLst/>
                          <a:latin typeface="+mj-ea"/>
                          <a:ea typeface="+mj-ea"/>
                        </a:rPr>
                        <a:t>边缘计算平台</a:t>
                      </a:r>
                      <a:endParaRPr lang="zh-CN" altLang="en-US" sz="1600" b="1"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公司</a:t>
                      </a:r>
                      <a:endParaRPr lang="zh-CN" altLang="en-US" sz="1600" b="1"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提出时间</a:t>
                      </a:r>
                      <a:endParaRPr lang="zh-CN" altLang="en-US" sz="1600" b="1"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安全性</a:t>
                      </a:r>
                      <a:endParaRPr lang="zh-CN" altLang="en-US" sz="1600" b="1"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文档</a:t>
                      </a:r>
                      <a:endParaRPr lang="zh-CN" altLang="en-US" sz="1600" b="1"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支持中国区域</a:t>
                      </a:r>
                      <a:endParaRPr lang="zh-CN" altLang="en-US" sz="1600" b="1"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价格</a:t>
                      </a:r>
                      <a:endParaRPr lang="zh-CN" altLang="en-US" sz="1600" b="1"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底层技术</a:t>
                      </a:r>
                      <a:endParaRPr lang="zh-CN" altLang="en-US" sz="1600" b="1" i="0" u="none" strike="noStrike">
                        <a:solidFill>
                          <a:srgbClr val="000000"/>
                        </a:solidFill>
                        <a:effectLst/>
                        <a:latin typeface="+mj-ea"/>
                        <a:ea typeface="+mj-ea"/>
                      </a:endParaRPr>
                    </a:p>
                  </a:txBody>
                  <a:tcPr marL="9525" marR="9525" marT="9525" marB="0" anchor="ctr"/>
                </a:tc>
                <a:tc>
                  <a:txBody>
                    <a:bodyPr/>
                    <a:lstStyle/>
                    <a:p>
                      <a:pPr algn="ctr" fontAlgn="ctr"/>
                      <a:r>
                        <a:rPr lang="en-US" sz="1600" u="none" strike="noStrike">
                          <a:effectLst/>
                          <a:latin typeface="+mj-ea"/>
                          <a:ea typeface="+mj-ea"/>
                        </a:rPr>
                        <a:t>AI</a:t>
                      </a:r>
                      <a:endParaRPr lang="en-US" sz="1600" b="1" i="0" u="none" strike="noStrike">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10000"/>
                  </a:ext>
                </a:extLst>
              </a:tr>
              <a:tr h="370840">
                <a:tc>
                  <a:txBody>
                    <a:bodyPr/>
                    <a:lstStyle/>
                    <a:p>
                      <a:pPr algn="ctr" fontAlgn="ctr"/>
                      <a:r>
                        <a:rPr lang="en-US" sz="1600" u="none" strike="noStrike">
                          <a:effectLst/>
                          <a:latin typeface="+mj-ea"/>
                          <a:ea typeface="+mj-ea"/>
                        </a:rPr>
                        <a:t>AWS Greengrass</a:t>
                      </a:r>
                      <a:endParaRPr lang="en-US" sz="1600" b="1"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亚马逊</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en-US" altLang="zh-CN" sz="1600" u="none" strike="noStrike" dirty="0">
                          <a:effectLst/>
                          <a:latin typeface="+mj-ea"/>
                          <a:ea typeface="+mj-ea"/>
                        </a:rPr>
                        <a:t>2016.12</a:t>
                      </a:r>
                      <a:endParaRPr lang="en-US" altLang="zh-CN"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提及</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完善</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否</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按设备计费</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容器</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支持（</a:t>
                      </a:r>
                      <a:r>
                        <a:rPr lang="en-US" sz="1600" u="none" strike="noStrike">
                          <a:effectLst/>
                          <a:latin typeface="+mj-ea"/>
                          <a:ea typeface="+mj-ea"/>
                        </a:rPr>
                        <a:t>ML Interface）,    </a:t>
                      </a:r>
                    </a:p>
                    <a:p>
                      <a:pPr algn="ctr" fontAlgn="ctr"/>
                      <a:r>
                        <a:rPr lang="zh-CN" altLang="en-US" sz="1600" u="none" strike="noStrike">
                          <a:effectLst/>
                          <a:latin typeface="+mj-ea"/>
                          <a:ea typeface="+mj-ea"/>
                        </a:rPr>
                        <a:t>可与主流机器学习框架配合使用</a:t>
                      </a:r>
                      <a:endParaRPr lang="zh-CN" altLang="en-US" sz="1600" b="0" i="0" u="none" strike="noStrike">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10001"/>
                  </a:ext>
                </a:extLst>
              </a:tr>
              <a:tr h="370840">
                <a:tc>
                  <a:txBody>
                    <a:bodyPr/>
                    <a:lstStyle/>
                    <a:p>
                      <a:pPr algn="ctr" fontAlgn="ctr"/>
                      <a:r>
                        <a:rPr lang="en-US" sz="1600" u="none" strike="noStrike">
                          <a:effectLst/>
                          <a:latin typeface="+mj-ea"/>
                          <a:ea typeface="+mj-ea"/>
                        </a:rPr>
                        <a:t>Azure IoT Edge </a:t>
                      </a:r>
                      <a:endParaRPr lang="en-US" sz="1600" b="1"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微软</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en-US" altLang="zh-CN" sz="1600" u="none" strike="noStrike">
                          <a:effectLst/>
                          <a:latin typeface="+mj-ea"/>
                          <a:ea typeface="+mj-ea"/>
                        </a:rPr>
                        <a:t>2017.5</a:t>
                      </a:r>
                      <a:endParaRPr lang="en-US" altLang="zh-CN"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提及</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完善</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是</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免费</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容器</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支持</a:t>
                      </a:r>
                      <a:endParaRPr lang="en-US" altLang="zh-CN" sz="1600" u="none" strike="noStrike" dirty="0">
                        <a:effectLst/>
                        <a:latin typeface="+mj-ea"/>
                        <a:ea typeface="+mj-ea"/>
                      </a:endParaRPr>
                    </a:p>
                    <a:p>
                      <a:pPr algn="ctr" fontAlgn="ctr"/>
                      <a:r>
                        <a:rPr lang="zh-CN" altLang="en-US" sz="1600" u="none" strike="noStrike" dirty="0">
                          <a:effectLst/>
                          <a:latin typeface="+mj-ea"/>
                          <a:ea typeface="+mj-ea"/>
                        </a:rPr>
                        <a:t>（</a:t>
                      </a:r>
                      <a:r>
                        <a:rPr lang="en-US" sz="1600" u="none" strike="noStrike" dirty="0">
                          <a:effectLst/>
                          <a:latin typeface="+mj-ea"/>
                          <a:ea typeface="+mj-ea"/>
                        </a:rPr>
                        <a:t>AI Toolkit</a:t>
                      </a: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10002"/>
                  </a:ext>
                </a:extLst>
              </a:tr>
              <a:tr h="370840">
                <a:tc>
                  <a:txBody>
                    <a:bodyPr/>
                    <a:lstStyle/>
                    <a:p>
                      <a:pPr algn="ctr" fontAlgn="ctr"/>
                      <a:r>
                        <a:rPr lang="en-US" sz="1600" u="none" strike="noStrike">
                          <a:effectLst/>
                          <a:latin typeface="+mj-ea"/>
                          <a:ea typeface="+mj-ea"/>
                        </a:rPr>
                        <a:t>Watson IoT </a:t>
                      </a:r>
                      <a:r>
                        <a:rPr lang="en-US" altLang="zh-CN" sz="1600" u="none" strike="noStrike">
                          <a:effectLst/>
                          <a:latin typeface="+mj-ea"/>
                          <a:ea typeface="+mj-ea"/>
                        </a:rPr>
                        <a:t>Edge</a:t>
                      </a:r>
                      <a:r>
                        <a:rPr lang="zh-CN" altLang="en-US" sz="1600" u="none" strike="noStrike">
                          <a:effectLst/>
                          <a:latin typeface="+mj-ea"/>
                          <a:ea typeface="+mj-ea"/>
                        </a:rPr>
                        <a:t> </a:t>
                      </a:r>
                      <a:r>
                        <a:rPr lang="en-US" sz="1600" u="none" strike="noStrike">
                          <a:effectLst/>
                          <a:latin typeface="+mj-ea"/>
                          <a:ea typeface="+mj-ea"/>
                        </a:rPr>
                        <a:t>Platform</a:t>
                      </a:r>
                      <a:endParaRPr lang="en-US" sz="1600" b="1" i="0" u="none" strike="noStrike">
                        <a:solidFill>
                          <a:srgbClr val="000000"/>
                        </a:solidFill>
                        <a:effectLst/>
                        <a:latin typeface="+mj-ea"/>
                        <a:ea typeface="+mj-ea"/>
                      </a:endParaRPr>
                    </a:p>
                  </a:txBody>
                  <a:tcPr marL="9525" marR="9525" marT="9525" marB="0" anchor="ctr"/>
                </a:tc>
                <a:tc>
                  <a:txBody>
                    <a:bodyPr/>
                    <a:lstStyle/>
                    <a:p>
                      <a:pPr algn="ctr" fontAlgn="ctr"/>
                      <a:r>
                        <a:rPr lang="en-US" sz="1600" u="none" strike="noStrike">
                          <a:effectLst/>
                          <a:latin typeface="+mj-ea"/>
                          <a:ea typeface="+mj-ea"/>
                        </a:rPr>
                        <a:t>IBM</a:t>
                      </a:r>
                      <a:endParaRPr lang="en-US" sz="1600" b="0" i="0" u="none" strike="noStrike">
                        <a:solidFill>
                          <a:srgbClr val="000000"/>
                        </a:solidFill>
                        <a:effectLst/>
                        <a:latin typeface="+mj-ea"/>
                        <a:ea typeface="+mj-ea"/>
                      </a:endParaRPr>
                    </a:p>
                  </a:txBody>
                  <a:tcPr marL="9525" marR="9525" marT="9525" marB="0" anchor="ctr"/>
                </a:tc>
                <a:tc>
                  <a:txBody>
                    <a:bodyPr/>
                    <a:lstStyle/>
                    <a:p>
                      <a:pPr algn="ctr" fontAlgn="ctr"/>
                      <a:r>
                        <a:rPr lang="en-US" altLang="zh-CN" sz="1600" u="none" strike="noStrike">
                          <a:effectLst/>
                          <a:latin typeface="+mj-ea"/>
                          <a:ea typeface="+mj-ea"/>
                        </a:rPr>
                        <a:t>2016.7</a:t>
                      </a:r>
                      <a:endParaRPr lang="en-US" altLang="zh-CN"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提及</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完善</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是</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按流量计费</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容器</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提及</a:t>
                      </a:r>
                      <a:endParaRPr lang="zh-CN" altLang="en-US" sz="1600" b="0" i="0" u="none" strike="noStrike">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10003"/>
                  </a:ext>
                </a:extLst>
              </a:tr>
              <a:tr h="370840">
                <a:tc>
                  <a:txBody>
                    <a:bodyPr/>
                    <a:lstStyle/>
                    <a:p>
                      <a:pPr algn="ctr" fontAlgn="ctr"/>
                      <a:r>
                        <a:rPr lang="en-US" sz="1600" u="none" strike="noStrike" dirty="0">
                          <a:effectLst/>
                          <a:latin typeface="+mj-ea"/>
                          <a:ea typeface="+mj-ea"/>
                        </a:rPr>
                        <a:t>Link Edge</a:t>
                      </a:r>
                      <a:endParaRPr lang="en-US" sz="1600" b="1"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阿里巴巴</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en-US" altLang="zh-CN" sz="1600" u="none" strike="noStrike">
                          <a:effectLst/>
                          <a:latin typeface="+mj-ea"/>
                          <a:ea typeface="+mj-ea"/>
                        </a:rPr>
                        <a:t>2018.3</a:t>
                      </a:r>
                      <a:endParaRPr lang="en-US" altLang="zh-CN"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提及</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完善</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是</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a:effectLst/>
                          <a:latin typeface="+mj-ea"/>
                          <a:ea typeface="+mj-ea"/>
                        </a:rPr>
                        <a:t>免费（限制设备数与消息数）</a:t>
                      </a:r>
                      <a:endParaRPr lang="zh-CN" altLang="en-US" sz="1600" b="0" i="0" u="none" strike="noStrike">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容器</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暂无</a:t>
                      </a:r>
                      <a:endParaRPr lang="zh-CN" altLang="en-US" sz="1600" b="0" i="0" u="none" strike="noStrike" dirty="0">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p>
        </p:txBody>
      </p:sp>
      <p:sp>
        <p:nvSpPr>
          <p:cNvPr id="5" name="内容占位符 2"/>
          <p:cNvSpPr>
            <a:spLocks noGrp="1"/>
          </p:cNvSpPr>
          <p:nvPr>
            <p:ph idx="1"/>
          </p:nvPr>
        </p:nvSpPr>
        <p:spPr/>
        <p:txBody>
          <a:bodyPr/>
          <a:lstStyle/>
          <a:p>
            <a:endParaRPr lang="en-US" altLang="zh-CN" sz="2800" dirty="0"/>
          </a:p>
          <a:p>
            <a:r>
              <a:rPr lang="zh-CN" altLang="en-US" sz="2800" dirty="0"/>
              <a:t>物联网云平台概述</a:t>
            </a:r>
            <a:endParaRPr lang="en-US" altLang="zh-CN" sz="2800" dirty="0"/>
          </a:p>
          <a:p>
            <a:r>
              <a:rPr lang="zh-CN" altLang="en-US" sz="2800" dirty="0"/>
              <a:t>物联网云平台主要功能</a:t>
            </a:r>
            <a:endParaRPr lang="en-US" altLang="zh-CN" sz="2800" dirty="0"/>
          </a:p>
          <a:p>
            <a:r>
              <a:rPr lang="zh-CN" altLang="en-US" sz="2800" dirty="0">
                <a:solidFill>
                  <a:srgbClr val="C00000"/>
                </a:solidFill>
              </a:rPr>
              <a:t>主要的物联网云平台</a:t>
            </a:r>
            <a:endParaRPr lang="en-US" altLang="zh-CN" sz="2800" dirty="0">
              <a:solidFill>
                <a:srgbClr val="C00000"/>
              </a:solidFill>
            </a:endParaRPr>
          </a:p>
          <a:p>
            <a:pPr lvl="1"/>
            <a:r>
              <a:rPr lang="en-US" altLang="zh-CN" dirty="0"/>
              <a:t>Amazon AWS IoT</a:t>
            </a:r>
          </a:p>
          <a:p>
            <a:pPr lvl="1"/>
            <a:r>
              <a:rPr lang="en-US" altLang="zh-CN" dirty="0"/>
              <a:t>Microsoft Azure IoT</a:t>
            </a:r>
          </a:p>
          <a:p>
            <a:pPr lvl="1"/>
            <a:r>
              <a:rPr lang="zh-CN" altLang="en-US" dirty="0"/>
              <a:t>阿里云</a:t>
            </a:r>
            <a:r>
              <a:rPr lang="en-US" altLang="zh-CN" dirty="0"/>
              <a:t>IoT</a:t>
            </a:r>
            <a:endParaRPr lang="en-US" altLang="zh-CN" dirty="0">
              <a:solidFill>
                <a:srgbClr val="C00000"/>
              </a:solidFill>
            </a:endParaRPr>
          </a:p>
          <a:p>
            <a:r>
              <a:rPr lang="zh-CN" altLang="en-US" sz="2800" dirty="0"/>
              <a:t>总结与展望</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Amazon AWS IoT</a:t>
            </a:r>
            <a:r>
              <a:rPr lang="zh-CN" altLang="en-US"/>
              <a:t>概述</a:t>
            </a:r>
          </a:p>
        </p:txBody>
      </p:sp>
      <p:sp>
        <p:nvSpPr>
          <p:cNvPr id="3" name="内容占位符 2"/>
          <p:cNvSpPr>
            <a:spLocks noGrp="1"/>
          </p:cNvSpPr>
          <p:nvPr>
            <p:ph idx="1"/>
          </p:nvPr>
        </p:nvSpPr>
        <p:spPr/>
        <p:txBody>
          <a:bodyPr/>
          <a:lstStyle/>
          <a:p>
            <a:r>
              <a:rPr lang="zh-CN" altLang="en-US"/>
              <a:t>时间点</a:t>
            </a:r>
            <a:endParaRPr lang="en-US" altLang="zh-CN"/>
          </a:p>
          <a:p>
            <a:pPr lvl="1"/>
            <a:r>
              <a:rPr lang="en-US" altLang="zh-CN"/>
              <a:t>2002</a:t>
            </a:r>
            <a:r>
              <a:rPr lang="zh-CN" altLang="en-US"/>
              <a:t>年：</a:t>
            </a:r>
            <a:r>
              <a:rPr lang="en-US" altLang="zh-CN"/>
              <a:t>AWS</a:t>
            </a:r>
            <a:r>
              <a:rPr lang="zh-CN" altLang="en-US"/>
              <a:t>推出，先发优势，深耕国际市场</a:t>
            </a:r>
            <a:endParaRPr lang="en-US" altLang="zh-CN"/>
          </a:p>
          <a:p>
            <a:pPr lvl="1"/>
            <a:r>
              <a:rPr lang="en-US" altLang="zh-CN"/>
              <a:t>2015</a:t>
            </a:r>
            <a:r>
              <a:rPr lang="zh-CN" altLang="en-US"/>
              <a:t>年</a:t>
            </a:r>
            <a:r>
              <a:rPr lang="en-US" altLang="zh-CN"/>
              <a:t>10</a:t>
            </a:r>
            <a:r>
              <a:rPr lang="zh-CN" altLang="en-US"/>
              <a:t>月：</a:t>
            </a:r>
            <a:r>
              <a:rPr lang="en-US" altLang="zh-CN"/>
              <a:t>AWS IoT</a:t>
            </a:r>
            <a:r>
              <a:rPr lang="zh-CN" altLang="en-US"/>
              <a:t>开放测试</a:t>
            </a:r>
            <a:endParaRPr lang="en-US" altLang="zh-CN"/>
          </a:p>
          <a:p>
            <a:pPr lvl="1"/>
            <a:r>
              <a:rPr lang="en-US" altLang="zh-CN"/>
              <a:t>2015</a:t>
            </a:r>
            <a:r>
              <a:rPr lang="zh-CN" altLang="en-US"/>
              <a:t>年</a:t>
            </a:r>
            <a:r>
              <a:rPr lang="en-US" altLang="zh-CN"/>
              <a:t>12</a:t>
            </a:r>
            <a:r>
              <a:rPr lang="zh-CN" altLang="en-US"/>
              <a:t>月：</a:t>
            </a:r>
            <a:r>
              <a:rPr lang="en-US" altLang="zh-CN"/>
              <a:t>AWS IoT</a:t>
            </a:r>
            <a:r>
              <a:rPr lang="zh-CN" altLang="en-US"/>
              <a:t>正式商用</a:t>
            </a:r>
            <a:endParaRPr lang="en-US" altLang="zh-CN"/>
          </a:p>
          <a:p>
            <a:r>
              <a:rPr lang="zh-CN" altLang="en-US"/>
              <a:t>概述</a:t>
            </a:r>
            <a:endParaRPr lang="en-US" altLang="zh-CN"/>
          </a:p>
          <a:p>
            <a:pPr lvl="1"/>
            <a:r>
              <a:rPr lang="en-US" altLang="zh-CN"/>
              <a:t>AWS IoT</a:t>
            </a:r>
            <a:r>
              <a:rPr lang="zh-CN" altLang="en-US"/>
              <a:t>是一款托管的云平台，使互联设备可以轻松安全地与云应用程序及其他设备交互</a:t>
            </a:r>
          </a:p>
          <a:p>
            <a:pPr lvl="1"/>
            <a:r>
              <a:rPr lang="en-US" altLang="zh-CN"/>
              <a:t>AWS IoT</a:t>
            </a:r>
            <a:r>
              <a:rPr lang="zh-CN" altLang="en-US"/>
              <a:t>可支持数十亿台设备和数万亿条消息，并且可以对这些消息进行处理并将其安全可靠地路由至 </a:t>
            </a:r>
            <a:r>
              <a:rPr lang="en-US" altLang="zh-CN"/>
              <a:t>AWS </a:t>
            </a:r>
            <a:r>
              <a:rPr lang="zh-CN" altLang="en-US"/>
              <a:t>终端节点和其他设备</a:t>
            </a:r>
            <a:endParaRPr lang="en-US" altLang="zh-CN"/>
          </a:p>
          <a:p>
            <a:pPr lvl="1"/>
            <a:r>
              <a:rPr lang="zh-CN" altLang="en-US"/>
              <a:t>使用</a:t>
            </a:r>
            <a:r>
              <a:rPr lang="en-US" altLang="zh-CN"/>
              <a:t>AWS</a:t>
            </a:r>
            <a:r>
              <a:rPr lang="zh-CN" altLang="en-US"/>
              <a:t>丰富的服务来构建</a:t>
            </a:r>
            <a:r>
              <a:rPr lang="en-US" altLang="zh-CN"/>
              <a:t>IoT</a:t>
            </a:r>
            <a:r>
              <a:rPr lang="zh-CN" altLang="en-US"/>
              <a:t>应用程序，能够收集、处理和分析互连设备生成的数据并对其执行操作，且无需管理任何基础设施</a:t>
            </a:r>
            <a:endParaRPr lang="en-US" altLang="zh-CN"/>
          </a:p>
        </p:txBody>
      </p:sp>
      <p:pic>
        <p:nvPicPr>
          <p:cNvPr id="5" name="图片 4"/>
          <p:cNvPicPr>
            <a:picLocks noChangeAspect="1"/>
          </p:cNvPicPr>
          <p:nvPr/>
        </p:nvPicPr>
        <p:blipFill>
          <a:blip r:embed="rId3"/>
          <a:stretch>
            <a:fillRect/>
          </a:stretch>
        </p:blipFill>
        <p:spPr>
          <a:xfrm>
            <a:off x="6692509" y="147338"/>
            <a:ext cx="1943491" cy="695924"/>
          </a:xfrm>
          <a:prstGeom prst="rect">
            <a:avLst/>
          </a:prstGeom>
        </p:spPr>
      </p:pic>
      <p:sp>
        <p:nvSpPr>
          <p:cNvPr id="7" name="灯片编号占位符 4">
            <a:extLst>
              <a:ext uri="{FF2B5EF4-FFF2-40B4-BE49-F238E27FC236}">
                <a16:creationId xmlns:a16="http://schemas.microsoft.com/office/drawing/2014/main" id="{59DD75F2-D316-4AFA-9D0B-4FD84359C64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Amazon AWS IoT</a:t>
            </a:r>
            <a:r>
              <a:rPr lang="zh-CN" altLang="en-US"/>
              <a:t>架构</a:t>
            </a:r>
          </a:p>
        </p:txBody>
      </p:sp>
      <p:sp>
        <p:nvSpPr>
          <p:cNvPr id="4" name="内容占位符 3">
            <a:extLst>
              <a:ext uri="{FF2B5EF4-FFF2-40B4-BE49-F238E27FC236}">
                <a16:creationId xmlns:a16="http://schemas.microsoft.com/office/drawing/2014/main" id="{7F9D48E3-E3FC-4FFE-BA12-895317E1AC49}"/>
              </a:ext>
            </a:extLst>
          </p:cNvPr>
          <p:cNvSpPr>
            <a:spLocks noGrp="1"/>
          </p:cNvSpPr>
          <p:nvPr>
            <p:ph idx="1"/>
          </p:nvPr>
        </p:nvSpPr>
        <p:spPr/>
        <p:txBody>
          <a:bodyPr/>
          <a:lstStyle/>
          <a:p>
            <a:endParaRPr lang="zh-CN" altLang="en-US"/>
          </a:p>
        </p:txBody>
      </p:sp>
      <p:pic>
        <p:nvPicPr>
          <p:cNvPr id="5" name="图片 4"/>
          <p:cNvPicPr>
            <a:picLocks noChangeAspect="1"/>
          </p:cNvPicPr>
          <p:nvPr/>
        </p:nvPicPr>
        <p:blipFill>
          <a:blip r:embed="rId3"/>
          <a:stretch>
            <a:fillRect/>
          </a:stretch>
        </p:blipFill>
        <p:spPr>
          <a:xfrm>
            <a:off x="6692509" y="147338"/>
            <a:ext cx="1943491" cy="695924"/>
          </a:xfrm>
          <a:prstGeom prst="rect">
            <a:avLst/>
          </a:prstGeom>
        </p:spPr>
      </p:pic>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p:nvPr/>
        </p:nvPicPr>
        <p:blipFill>
          <a:blip r:embed="rId4" cstate="print">
            <a:extLst>
              <a:ext uri="{28A0092B-C50C-407E-A947-70E740481C1C}">
                <a14:useLocalDpi xmlns:a14="http://schemas.microsoft.com/office/drawing/2010/main" val="0"/>
              </a:ext>
            </a:extLst>
          </a:blip>
          <a:stretch>
            <a:fillRect/>
          </a:stretch>
        </p:blipFill>
        <p:spPr>
          <a:xfrm>
            <a:off x="381001" y="1773798"/>
            <a:ext cx="8381999" cy="3843804"/>
          </a:xfrm>
          <a:prstGeom prst="rect">
            <a:avLst/>
          </a:prstGeom>
          <a:noFill/>
          <a:ln>
            <a:noFill/>
          </a:ln>
        </p:spPr>
      </p:pic>
      <p:sp>
        <p:nvSpPr>
          <p:cNvPr id="10" name="灯片编号占位符 4">
            <a:extLst>
              <a:ext uri="{FF2B5EF4-FFF2-40B4-BE49-F238E27FC236}">
                <a16:creationId xmlns:a16="http://schemas.microsoft.com/office/drawing/2014/main" id="{15EA11E4-06B4-4793-B666-DB5AC5A6B76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AWS IoT</a:t>
            </a:r>
            <a:r>
              <a:rPr lang="zh-CN" altLang="en-US"/>
              <a:t>功能概述</a:t>
            </a:r>
          </a:p>
        </p:txBody>
      </p:sp>
      <p:sp>
        <p:nvSpPr>
          <p:cNvPr id="3" name="内容占位符 2"/>
          <p:cNvSpPr>
            <a:spLocks noGrp="1"/>
          </p:cNvSpPr>
          <p:nvPr>
            <p:ph idx="1"/>
          </p:nvPr>
        </p:nvSpPr>
        <p:spPr/>
        <p:txBody>
          <a:bodyPr/>
          <a:lstStyle/>
          <a:p>
            <a:r>
              <a:rPr lang="zh-CN" altLang="en-US"/>
              <a:t>设备通信</a:t>
            </a:r>
            <a:endParaRPr lang="en-US" altLang="zh-CN"/>
          </a:p>
          <a:p>
            <a:pPr lvl="1"/>
            <a:r>
              <a:rPr lang="zh-CN" altLang="en-US"/>
              <a:t>支持 </a:t>
            </a:r>
            <a:r>
              <a:rPr lang="en-US" altLang="zh-CN"/>
              <a:t>MQTT</a:t>
            </a:r>
            <a:r>
              <a:rPr lang="zh-CN" altLang="en-US"/>
              <a:t>、</a:t>
            </a:r>
            <a:r>
              <a:rPr lang="en-US" altLang="zh-CN"/>
              <a:t>WebSockets </a:t>
            </a:r>
            <a:r>
              <a:rPr lang="zh-CN" altLang="en-US"/>
              <a:t>和 </a:t>
            </a:r>
            <a:r>
              <a:rPr lang="en-US" altLang="zh-CN"/>
              <a:t>HTTP 1.1 </a:t>
            </a:r>
            <a:r>
              <a:rPr lang="zh-CN" altLang="en-US"/>
              <a:t>协议</a:t>
            </a:r>
            <a:endParaRPr lang="en-US" altLang="zh-CN"/>
          </a:p>
          <a:p>
            <a:pPr lvl="1"/>
            <a:r>
              <a:rPr lang="zh-CN" altLang="en-US"/>
              <a:t>支持设备安全高效地与</a:t>
            </a:r>
            <a:r>
              <a:rPr lang="en-US" altLang="zh-CN"/>
              <a:t>AWS IoT</a:t>
            </a:r>
            <a:r>
              <a:rPr lang="zh-CN" altLang="en-US"/>
              <a:t>进行通信</a:t>
            </a:r>
            <a:endParaRPr lang="en-US" altLang="zh-CN"/>
          </a:p>
          <a:p>
            <a:r>
              <a:rPr lang="zh-CN" altLang="en-US"/>
              <a:t>设备影子</a:t>
            </a:r>
            <a:endParaRPr lang="en-US" altLang="zh-CN"/>
          </a:p>
          <a:p>
            <a:pPr lvl="1"/>
            <a:r>
              <a:rPr lang="zh-CN" altLang="en-US"/>
              <a:t>可以创建每台设备的“设备影子”，包含设备的最新状态</a:t>
            </a:r>
            <a:endParaRPr lang="en-US" altLang="zh-CN"/>
          </a:p>
          <a:p>
            <a:pPr lvl="1"/>
            <a:r>
              <a:rPr lang="zh-CN" altLang="en-US"/>
              <a:t>应用程序或其他设备可以读取消息并与此设备进行交互</a:t>
            </a:r>
            <a:endParaRPr lang="en-US" altLang="zh-CN"/>
          </a:p>
          <a:p>
            <a:pPr lvl="1"/>
            <a:r>
              <a:rPr lang="zh-CN" altLang="en-US"/>
              <a:t>可以在设备离线时保证与其他设备的通信</a:t>
            </a:r>
            <a:endParaRPr lang="en-US" altLang="zh-CN"/>
          </a:p>
          <a:p>
            <a:r>
              <a:rPr lang="zh-CN" altLang="en-US"/>
              <a:t>规则引擎</a:t>
            </a:r>
            <a:endParaRPr lang="en-US" altLang="zh-CN"/>
          </a:p>
          <a:p>
            <a:pPr lvl="1"/>
            <a:r>
              <a:rPr lang="zh-CN" altLang="en-US"/>
              <a:t>规则引擎评估发布到 </a:t>
            </a:r>
            <a:r>
              <a:rPr lang="en-US" altLang="zh-CN"/>
              <a:t>AWS IoT Core </a:t>
            </a:r>
            <a:r>
              <a:rPr lang="zh-CN" altLang="en-US"/>
              <a:t>的入站消息，根据定义的业务规则转换这些消息并将它们传输到另一个设备或云服务</a:t>
            </a:r>
            <a:endParaRPr lang="en-US" altLang="zh-CN"/>
          </a:p>
        </p:txBody>
      </p:sp>
      <p:pic>
        <p:nvPicPr>
          <p:cNvPr id="5" name="图片 4"/>
          <p:cNvPicPr>
            <a:picLocks noChangeAspect="1"/>
          </p:cNvPicPr>
          <p:nvPr/>
        </p:nvPicPr>
        <p:blipFill>
          <a:blip r:embed="rId3"/>
          <a:stretch>
            <a:fillRect/>
          </a:stretch>
        </p:blipFill>
        <p:spPr>
          <a:xfrm>
            <a:off x="6692509" y="147338"/>
            <a:ext cx="1943491" cy="695924"/>
          </a:xfrm>
          <a:prstGeom prst="rect">
            <a:avLst/>
          </a:prstGeom>
        </p:spPr>
      </p:pic>
      <p:sp>
        <p:nvSpPr>
          <p:cNvPr id="7" name="灯片编号占位符 4">
            <a:extLst>
              <a:ext uri="{FF2B5EF4-FFF2-40B4-BE49-F238E27FC236}">
                <a16:creationId xmlns:a16="http://schemas.microsoft.com/office/drawing/2014/main" id="{8512CD87-4FF3-4FE2-BDCD-E026A6BB268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AWS IoT</a:t>
            </a:r>
            <a:r>
              <a:rPr lang="zh-CN" altLang="en-US"/>
              <a:t>功能概述</a:t>
            </a:r>
          </a:p>
        </p:txBody>
      </p:sp>
      <p:sp>
        <p:nvSpPr>
          <p:cNvPr id="3" name="内容占位符 2"/>
          <p:cNvSpPr>
            <a:spLocks noGrp="1"/>
          </p:cNvSpPr>
          <p:nvPr>
            <p:ph idx="1"/>
          </p:nvPr>
        </p:nvSpPr>
        <p:spPr/>
        <p:txBody>
          <a:bodyPr/>
          <a:lstStyle/>
          <a:p>
            <a:r>
              <a:rPr lang="zh-CN" altLang="en-US"/>
              <a:t>身份验证和授权</a:t>
            </a:r>
            <a:endParaRPr lang="en-US" altLang="zh-CN"/>
          </a:p>
          <a:p>
            <a:pPr lvl="1"/>
            <a:r>
              <a:rPr lang="en-US" altLang="zh-CN"/>
              <a:t>AWS IoT </a:t>
            </a:r>
            <a:r>
              <a:rPr lang="zh-CN" altLang="en-US"/>
              <a:t>在所有连接点处提供身份验证和加密，在没有验证身份的情况下，数据绝不会在设备和 </a:t>
            </a:r>
            <a:r>
              <a:rPr lang="en-US" altLang="zh-CN"/>
              <a:t>AWS IoT Core </a:t>
            </a:r>
            <a:r>
              <a:rPr lang="zh-CN" altLang="en-US"/>
              <a:t>之间进行交换</a:t>
            </a:r>
            <a:endParaRPr lang="en-US" altLang="zh-CN"/>
          </a:p>
          <a:p>
            <a:pPr lvl="1"/>
            <a:r>
              <a:rPr lang="en-US" altLang="zh-CN"/>
              <a:t>AWS IoT Core </a:t>
            </a:r>
            <a:r>
              <a:rPr lang="zh-CN" altLang="en-US"/>
              <a:t>支持 </a:t>
            </a:r>
            <a:r>
              <a:rPr lang="en-US" altLang="zh-CN"/>
              <a:t>AWS </a:t>
            </a:r>
            <a:r>
              <a:rPr lang="zh-CN" altLang="en-US"/>
              <a:t>的身份验证方法 </a:t>
            </a:r>
            <a:r>
              <a:rPr lang="en-US" altLang="zh-CN"/>
              <a:t>(</a:t>
            </a:r>
            <a:r>
              <a:rPr lang="zh-CN" altLang="en-US"/>
              <a:t>称为“</a:t>
            </a:r>
            <a:r>
              <a:rPr lang="en-US" altLang="zh-CN"/>
              <a:t>SigV4”)</a:t>
            </a:r>
            <a:r>
              <a:rPr lang="zh-CN" altLang="en-US"/>
              <a:t>、基于 </a:t>
            </a:r>
            <a:r>
              <a:rPr lang="en-US" altLang="zh-CN"/>
              <a:t>X.509 </a:t>
            </a:r>
            <a:r>
              <a:rPr lang="zh-CN" altLang="en-US"/>
              <a:t>证书的身份验证和基于客户创建的令牌的身份验证</a:t>
            </a:r>
            <a:endParaRPr lang="en-US" altLang="zh-CN"/>
          </a:p>
          <a:p>
            <a:r>
              <a:rPr lang="zh-CN" altLang="en-US"/>
              <a:t>注册表</a:t>
            </a:r>
            <a:endParaRPr lang="en-US" altLang="zh-CN"/>
          </a:p>
          <a:p>
            <a:pPr lvl="1"/>
            <a:r>
              <a:rPr lang="zh-CN" altLang="en-US"/>
              <a:t>为设备创建一个身份并跟踪元数据，如属性和功能</a:t>
            </a:r>
            <a:endParaRPr lang="en-US" altLang="zh-CN"/>
          </a:p>
          <a:p>
            <a:pPr lvl="1"/>
            <a:r>
              <a:rPr lang="zh-CN" altLang="en-US"/>
              <a:t>注册表向格式一致的每台设备分配唯一的标识，而不管设备的类型和连接方式为何</a:t>
            </a:r>
            <a:endParaRPr lang="en-US" altLang="zh-CN"/>
          </a:p>
          <a:p>
            <a:r>
              <a:rPr lang="zh-CN" altLang="en-US"/>
              <a:t>可利用包括</a:t>
            </a:r>
            <a:r>
              <a:rPr lang="en-US" altLang="zh-CN"/>
              <a:t>Lambda</a:t>
            </a:r>
            <a:r>
              <a:rPr lang="zh-CN" altLang="en-US"/>
              <a:t>在内的</a:t>
            </a:r>
            <a:r>
              <a:rPr lang="en-US" altLang="zh-CN"/>
              <a:t>AWS</a:t>
            </a:r>
            <a:r>
              <a:rPr lang="zh-CN" altLang="en-US"/>
              <a:t>各个服务</a:t>
            </a:r>
            <a:endParaRPr lang="en-US" altLang="zh-CN"/>
          </a:p>
          <a:p>
            <a:pPr lvl="1"/>
            <a:endParaRPr lang="zh-CN" altLang="en-US"/>
          </a:p>
        </p:txBody>
      </p:sp>
      <p:pic>
        <p:nvPicPr>
          <p:cNvPr id="5" name="图片 4"/>
          <p:cNvPicPr>
            <a:picLocks noChangeAspect="1"/>
          </p:cNvPicPr>
          <p:nvPr/>
        </p:nvPicPr>
        <p:blipFill>
          <a:blip r:embed="rId3"/>
          <a:stretch>
            <a:fillRect/>
          </a:stretch>
        </p:blipFill>
        <p:spPr>
          <a:xfrm>
            <a:off x="6692509" y="147338"/>
            <a:ext cx="1943491" cy="695924"/>
          </a:xfrm>
          <a:prstGeom prst="rect">
            <a:avLst/>
          </a:prstGeom>
        </p:spPr>
      </p:pic>
      <p:sp>
        <p:nvSpPr>
          <p:cNvPr id="7" name="灯片编号占位符 4">
            <a:extLst>
              <a:ext uri="{FF2B5EF4-FFF2-40B4-BE49-F238E27FC236}">
                <a16:creationId xmlns:a16="http://schemas.microsoft.com/office/drawing/2014/main" id="{FC58A550-6027-4C7C-97AC-812340B5DFF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AWS IoT</a:t>
            </a:r>
            <a:r>
              <a:rPr lang="zh-CN" altLang="en-US"/>
              <a:t>特点：</a:t>
            </a:r>
            <a:r>
              <a:rPr lang="en-US" altLang="zh-CN"/>
              <a:t>Lambda</a:t>
            </a:r>
            <a:endParaRPr lang="zh-CN" altLang="en-US"/>
          </a:p>
        </p:txBody>
      </p:sp>
      <p:sp>
        <p:nvSpPr>
          <p:cNvPr id="3" name="内容占位符 2"/>
          <p:cNvSpPr>
            <a:spLocks noGrp="1"/>
          </p:cNvSpPr>
          <p:nvPr>
            <p:ph idx="1"/>
          </p:nvPr>
        </p:nvSpPr>
        <p:spPr/>
        <p:txBody>
          <a:bodyPr/>
          <a:lstStyle/>
          <a:p>
            <a:r>
              <a:rPr lang="zh-CN" altLang="en-US"/>
              <a:t>无服务器计算</a:t>
            </a:r>
            <a:endParaRPr lang="en-US" altLang="zh-CN"/>
          </a:p>
          <a:p>
            <a:pPr lvl="1"/>
            <a:r>
              <a:rPr lang="zh-CN" altLang="en-US"/>
              <a:t>无需考虑服务器，即可构建和运行应用程序与服务</a:t>
            </a:r>
            <a:endParaRPr lang="en-US" altLang="zh-CN"/>
          </a:p>
          <a:p>
            <a:pPr lvl="1"/>
            <a:r>
              <a:rPr lang="zh-CN" altLang="en-US"/>
              <a:t>应用程序仍在服务器上运行，但所有服务器管理工作均由 </a:t>
            </a:r>
            <a:r>
              <a:rPr lang="en-US" altLang="zh-CN"/>
              <a:t>AWS </a:t>
            </a:r>
            <a:r>
              <a:rPr lang="zh-CN" altLang="en-US"/>
              <a:t>来完成</a:t>
            </a:r>
            <a:endParaRPr lang="en-US" altLang="zh-CN"/>
          </a:p>
          <a:p>
            <a:pPr lvl="1"/>
            <a:r>
              <a:rPr lang="en-US" altLang="zh-CN"/>
              <a:t>AWS Lambda </a:t>
            </a:r>
            <a:r>
              <a:rPr lang="zh-CN" altLang="en-US"/>
              <a:t>是无服务器计算的核心</a:t>
            </a:r>
            <a:endParaRPr lang="en-US" altLang="zh-CN"/>
          </a:p>
          <a:p>
            <a:r>
              <a:rPr lang="en-US" altLang="zh-CN"/>
              <a:t>AWS Lambda</a:t>
            </a:r>
          </a:p>
          <a:p>
            <a:pPr lvl="1"/>
            <a:r>
              <a:rPr lang="zh-CN" altLang="en-US"/>
              <a:t>无需配置或管理服务器即可运行代码</a:t>
            </a:r>
            <a:endParaRPr lang="en-US" altLang="zh-CN"/>
          </a:p>
          <a:p>
            <a:pPr lvl="1"/>
            <a:r>
              <a:rPr lang="zh-CN" altLang="en-US"/>
              <a:t>持续扩展</a:t>
            </a:r>
            <a:endParaRPr lang="en-US" altLang="zh-CN"/>
          </a:p>
          <a:p>
            <a:pPr lvl="2"/>
            <a:r>
              <a:rPr lang="en-US" altLang="zh-CN"/>
              <a:t>AWS Lambda </a:t>
            </a:r>
            <a:r>
              <a:rPr lang="zh-CN" altLang="en-US"/>
              <a:t>可通过运行代码自动扩展应用程序</a:t>
            </a:r>
            <a:endParaRPr lang="en-US" altLang="zh-CN"/>
          </a:p>
          <a:p>
            <a:pPr lvl="1"/>
            <a:r>
              <a:rPr lang="zh-CN" altLang="en-US"/>
              <a:t>只需上传代码，</a:t>
            </a:r>
            <a:r>
              <a:rPr lang="en-US" altLang="zh-CN"/>
              <a:t>Lambda </a:t>
            </a:r>
            <a:r>
              <a:rPr lang="zh-CN" altLang="en-US"/>
              <a:t>会处理运行和扩展高可用性代码所需的一切工作</a:t>
            </a:r>
            <a:endParaRPr lang="en-US" altLang="zh-CN"/>
          </a:p>
        </p:txBody>
      </p:sp>
      <p:pic>
        <p:nvPicPr>
          <p:cNvPr id="5" name="图片 4"/>
          <p:cNvPicPr>
            <a:picLocks noChangeAspect="1"/>
          </p:cNvPicPr>
          <p:nvPr/>
        </p:nvPicPr>
        <p:blipFill>
          <a:blip r:embed="rId3"/>
          <a:stretch>
            <a:fillRect/>
          </a:stretch>
        </p:blipFill>
        <p:spPr>
          <a:xfrm>
            <a:off x="6692509" y="147338"/>
            <a:ext cx="1943491" cy="695924"/>
          </a:xfrm>
          <a:prstGeom prst="rect">
            <a:avLst/>
          </a:prstGeom>
        </p:spPr>
      </p:pic>
      <p:sp>
        <p:nvSpPr>
          <p:cNvPr id="7" name="灯片编号占位符 4">
            <a:extLst>
              <a:ext uri="{FF2B5EF4-FFF2-40B4-BE49-F238E27FC236}">
                <a16:creationId xmlns:a16="http://schemas.microsoft.com/office/drawing/2014/main" id="{9A90CE1A-D2DD-4E3A-A46B-05DDA0ACEC6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AWS Lambda</a:t>
            </a:r>
            <a:r>
              <a:rPr lang="zh-CN" altLang="en-US"/>
              <a:t>案例</a:t>
            </a:r>
          </a:p>
        </p:txBody>
      </p:sp>
      <p:sp>
        <p:nvSpPr>
          <p:cNvPr id="3" name="内容占位符 2"/>
          <p:cNvSpPr>
            <a:spLocks noGrp="1"/>
          </p:cNvSpPr>
          <p:nvPr>
            <p:ph idx="1"/>
          </p:nvPr>
        </p:nvSpPr>
        <p:spPr/>
        <p:txBody>
          <a:bodyPr/>
          <a:lstStyle/>
          <a:p>
            <a:r>
              <a:rPr lang="zh-CN" altLang="en-US"/>
              <a:t>案例：图形化展示网站访客信息</a:t>
            </a:r>
            <a:endParaRPr lang="en-US" altLang="zh-CN"/>
          </a:p>
          <a:p>
            <a:pPr lvl="1"/>
            <a:r>
              <a:rPr lang="zh-CN" altLang="en-US"/>
              <a:t>流计算服务</a:t>
            </a:r>
            <a:r>
              <a:rPr lang="en-US" altLang="zh-CN"/>
              <a:t>Kinesis</a:t>
            </a:r>
            <a:r>
              <a:rPr lang="zh-CN" altLang="en-US"/>
              <a:t>收集处理原始用户访问数据</a:t>
            </a:r>
            <a:endParaRPr lang="en-US" altLang="zh-CN"/>
          </a:p>
          <a:p>
            <a:pPr lvl="1"/>
            <a:r>
              <a:rPr lang="en-US" altLang="zh-CN"/>
              <a:t>Lambda </a:t>
            </a:r>
            <a:r>
              <a:rPr lang="zh-CN" altLang="en-US"/>
              <a:t>轮询流并在检测到流中的新记录时执行</a:t>
            </a:r>
            <a:endParaRPr lang="en-US" altLang="zh-CN"/>
          </a:p>
          <a:p>
            <a:pPr lvl="2"/>
            <a:r>
              <a:rPr lang="zh-CN" altLang="en-US"/>
              <a:t>输入：时间、事件</a:t>
            </a:r>
            <a:endParaRPr lang="en-US" altLang="zh-CN"/>
          </a:p>
          <a:p>
            <a:pPr lvl="2"/>
            <a:r>
              <a:rPr lang="zh-CN" altLang="en-US"/>
              <a:t>输出：将时间、事件、统计的数量存储到</a:t>
            </a:r>
            <a:r>
              <a:rPr lang="en-US" altLang="zh-CN"/>
              <a:t>DynamoDB</a:t>
            </a:r>
            <a:r>
              <a:rPr lang="zh-CN" altLang="en-US"/>
              <a:t>中</a:t>
            </a:r>
            <a:endParaRPr lang="en-US" altLang="zh-CN"/>
          </a:p>
          <a:p>
            <a:pPr lvl="1"/>
            <a:r>
              <a:rPr lang="zh-CN" altLang="en-US"/>
              <a:t>根据数据库数据进行可视化展示 </a:t>
            </a:r>
            <a:endParaRPr lang="en-US" altLang="zh-CN"/>
          </a:p>
          <a:p>
            <a:endParaRPr lang="en-US" altLang="zh-CN" dirty="0"/>
          </a:p>
        </p:txBody>
      </p:sp>
      <p:pic>
        <p:nvPicPr>
          <p:cNvPr id="6" name="图片 5"/>
          <p:cNvPicPr>
            <a:picLocks noChangeAspect="1"/>
          </p:cNvPicPr>
          <p:nvPr/>
        </p:nvPicPr>
        <p:blipFill>
          <a:blip r:embed="rId3"/>
          <a:stretch>
            <a:fillRect/>
          </a:stretch>
        </p:blipFill>
        <p:spPr>
          <a:xfrm>
            <a:off x="1979412" y="3614588"/>
            <a:ext cx="4277010" cy="3023627"/>
          </a:xfrm>
          <a:prstGeom prst="rect">
            <a:avLst/>
          </a:prstGeom>
        </p:spPr>
      </p:pic>
      <p:pic>
        <p:nvPicPr>
          <p:cNvPr id="5" name="图片 4"/>
          <p:cNvPicPr>
            <a:picLocks noChangeAspect="1"/>
          </p:cNvPicPr>
          <p:nvPr/>
        </p:nvPicPr>
        <p:blipFill>
          <a:blip r:embed="rId4"/>
          <a:stretch>
            <a:fillRect/>
          </a:stretch>
        </p:blipFill>
        <p:spPr>
          <a:xfrm>
            <a:off x="6692509" y="147338"/>
            <a:ext cx="1943491" cy="695924"/>
          </a:xfrm>
          <a:prstGeom prst="rect">
            <a:avLst/>
          </a:prstGeom>
        </p:spPr>
      </p:pic>
      <p:sp>
        <p:nvSpPr>
          <p:cNvPr id="8" name="灯片编号占位符 4">
            <a:extLst>
              <a:ext uri="{FF2B5EF4-FFF2-40B4-BE49-F238E27FC236}">
                <a16:creationId xmlns:a16="http://schemas.microsoft.com/office/drawing/2014/main" id="{3DA6D3FB-4BAA-40F3-8931-82E4596EDCA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Azure IoT</a:t>
            </a:r>
            <a:r>
              <a:rPr lang="zh-CN" altLang="en-US"/>
              <a:t>概述</a:t>
            </a:r>
          </a:p>
        </p:txBody>
      </p:sp>
      <p:sp>
        <p:nvSpPr>
          <p:cNvPr id="3" name="内容占位符 2"/>
          <p:cNvSpPr>
            <a:spLocks noGrp="1"/>
          </p:cNvSpPr>
          <p:nvPr>
            <p:ph idx="1"/>
          </p:nvPr>
        </p:nvSpPr>
        <p:spPr/>
        <p:txBody>
          <a:bodyPr/>
          <a:lstStyle/>
          <a:p>
            <a:r>
              <a:rPr lang="en-US" altLang="zh-CN"/>
              <a:t>Azure IoT</a:t>
            </a:r>
            <a:r>
              <a:rPr lang="zh-CN" altLang="en-US"/>
              <a:t>是微软提出的物联网云平台</a:t>
            </a:r>
          </a:p>
          <a:p>
            <a:endParaRPr lang="en-US" altLang="zh-CN"/>
          </a:p>
          <a:p>
            <a:r>
              <a:rPr lang="zh-CN" altLang="en-US"/>
              <a:t>平台特点</a:t>
            </a:r>
          </a:p>
          <a:p>
            <a:pPr lvl="1"/>
            <a:r>
              <a:rPr lang="zh-CN" altLang="en-US"/>
              <a:t>可用于管理数十亿物联网设备；</a:t>
            </a:r>
          </a:p>
          <a:p>
            <a:pPr lvl="1"/>
            <a:r>
              <a:rPr lang="zh-CN" altLang="en-US"/>
              <a:t>提供可靠和安全的云端与设备之间的双向通信支持；</a:t>
            </a:r>
          </a:p>
          <a:p>
            <a:pPr lvl="1"/>
            <a:r>
              <a:rPr lang="zh-CN" altLang="en-US"/>
              <a:t>每月可处理数以万亿计消息；</a:t>
            </a:r>
          </a:p>
          <a:p>
            <a:pPr lvl="1"/>
            <a:r>
              <a:rPr lang="zh-CN" altLang="en-US"/>
              <a:t>简化了与其他</a:t>
            </a:r>
            <a:r>
              <a:rPr lang="en-US" altLang="zh-CN"/>
              <a:t>Azure</a:t>
            </a:r>
            <a:r>
              <a:rPr lang="zh-CN" altLang="en-US"/>
              <a:t>服务之间的集成。</a:t>
            </a:r>
          </a:p>
          <a:p>
            <a:endParaRPr lang="zh-CN" altLang="en-US"/>
          </a:p>
          <a:p>
            <a:endParaRPr lang="zh-CN" altLang="en-US" dirty="0"/>
          </a:p>
        </p:txBody>
      </p:sp>
      <p:sp>
        <p:nvSpPr>
          <p:cNvPr id="6" name="灯片编号占位符 4">
            <a:extLst>
              <a:ext uri="{FF2B5EF4-FFF2-40B4-BE49-F238E27FC236}">
                <a16:creationId xmlns:a16="http://schemas.microsoft.com/office/drawing/2014/main" id="{E235685E-CCB4-475B-B3D2-AA1A3D330B3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Azure IoT</a:t>
            </a:r>
            <a:r>
              <a:rPr lang="zh-CN" altLang="en-US"/>
              <a:t>架构</a:t>
            </a:r>
          </a:p>
        </p:txBody>
      </p:sp>
      <p:sp>
        <p:nvSpPr>
          <p:cNvPr id="3" name="内容占位符 2"/>
          <p:cNvSpPr>
            <a:spLocks noGrp="1"/>
          </p:cNvSpPr>
          <p:nvPr>
            <p:ph idx="1"/>
          </p:nvPr>
        </p:nvSpPr>
        <p:spPr/>
        <p:txBody>
          <a:bodyPr/>
          <a:lstStyle/>
          <a:p>
            <a:endParaRPr lang="zh-CN" altLang="en-US"/>
          </a:p>
          <a:p>
            <a:endParaRPr lang="zh-CN" altLang="en-US"/>
          </a:p>
        </p:txBody>
      </p:sp>
      <p:pic>
        <p:nvPicPr>
          <p:cNvPr id="9" name="图片 9" descr="图片包含 屏幕截图&#10;&#10;已生成极高可信度的说明"/>
          <p:cNvPicPr>
            <a:picLocks noChangeAspect="1"/>
          </p:cNvPicPr>
          <p:nvPr/>
        </p:nvPicPr>
        <p:blipFill>
          <a:blip r:embed="rId2"/>
          <a:stretch>
            <a:fillRect/>
          </a:stretch>
        </p:blipFill>
        <p:spPr>
          <a:xfrm>
            <a:off x="302938" y="1198992"/>
            <a:ext cx="8423823" cy="4797588"/>
          </a:xfrm>
          <a:prstGeom prst="rect">
            <a:avLst/>
          </a:prstGeom>
        </p:spPr>
      </p:pic>
      <p:sp>
        <p:nvSpPr>
          <p:cNvPr id="7" name="灯片编号占位符 4">
            <a:extLst>
              <a:ext uri="{FF2B5EF4-FFF2-40B4-BE49-F238E27FC236}">
                <a16:creationId xmlns:a16="http://schemas.microsoft.com/office/drawing/2014/main" id="{92B81CE3-86AF-437C-AC44-EE56441AA7A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Azure IoT</a:t>
            </a:r>
            <a:r>
              <a:rPr lang="zh-CN" altLang="en-US"/>
              <a:t>功能概述</a:t>
            </a:r>
          </a:p>
        </p:txBody>
      </p:sp>
      <p:sp>
        <p:nvSpPr>
          <p:cNvPr id="3" name="内容占位符 2"/>
          <p:cNvSpPr>
            <a:spLocks noGrp="1"/>
          </p:cNvSpPr>
          <p:nvPr>
            <p:ph idx="1"/>
          </p:nvPr>
        </p:nvSpPr>
        <p:spPr/>
        <p:txBody>
          <a:bodyPr/>
          <a:lstStyle/>
          <a:p>
            <a:r>
              <a:rPr lang="zh-CN" altLang="en-US"/>
              <a:t>设备连接</a:t>
            </a:r>
            <a:endParaRPr lang="en-US" altLang="zh-CN"/>
          </a:p>
          <a:p>
            <a:pPr lvl="1"/>
            <a:r>
              <a:rPr lang="en-US" altLang="zh-CN"/>
              <a:t>MQTT</a:t>
            </a:r>
            <a:r>
              <a:rPr lang="zh-CN" altLang="en-US"/>
              <a:t>、</a:t>
            </a:r>
            <a:r>
              <a:rPr lang="en-US" altLang="zh-CN"/>
              <a:t>HTTPS</a:t>
            </a:r>
            <a:r>
              <a:rPr lang="zh-CN" altLang="en-US"/>
              <a:t>、</a:t>
            </a:r>
            <a:r>
              <a:rPr lang="en-US" altLang="zh-CN"/>
              <a:t>AMQP</a:t>
            </a:r>
            <a:r>
              <a:rPr lang="zh-CN" altLang="en-US"/>
              <a:t>*</a:t>
            </a:r>
          </a:p>
          <a:p>
            <a:r>
              <a:rPr lang="zh-CN" altLang="en-US"/>
              <a:t>设备管理</a:t>
            </a:r>
            <a:endParaRPr lang="en-US" altLang="zh-CN"/>
          </a:p>
          <a:p>
            <a:pPr lvl="1"/>
            <a:r>
              <a:rPr lang="zh-CN" altLang="en-US"/>
              <a:t>直接管理、设备影子、智能网关</a:t>
            </a:r>
          </a:p>
          <a:p>
            <a:r>
              <a:rPr lang="zh-CN" altLang="en-US"/>
              <a:t>数据存储</a:t>
            </a:r>
            <a:endParaRPr lang="en-US" altLang="zh-CN"/>
          </a:p>
          <a:p>
            <a:pPr lvl="1"/>
            <a:r>
              <a:rPr lang="zh-CN" altLang="en-US"/>
              <a:t>使用传统数据库</a:t>
            </a:r>
            <a:endParaRPr lang="en-US" altLang="zh-CN"/>
          </a:p>
          <a:p>
            <a:pPr lvl="1"/>
            <a:r>
              <a:rPr lang="en-US" altLang="zh-CN"/>
              <a:t>Cosmos DB/MySQL/PostgreSQL/MariaDB</a:t>
            </a:r>
            <a:endParaRPr lang="zh-CN" altLang="en-US"/>
          </a:p>
          <a:p>
            <a:r>
              <a:rPr lang="zh-CN" altLang="en-US"/>
              <a:t>设备与身份认证</a:t>
            </a:r>
            <a:endParaRPr lang="en-US" altLang="zh-CN"/>
          </a:p>
          <a:p>
            <a:pPr lvl="1"/>
            <a:r>
              <a:rPr lang="zh-CN" altLang="en-US"/>
              <a:t>应用层：设备身份认证，客户端</a:t>
            </a:r>
            <a:r>
              <a:rPr lang="en-US" altLang="zh-CN"/>
              <a:t>/</a:t>
            </a:r>
            <a:r>
              <a:rPr lang="zh-CN" altLang="en-US"/>
              <a:t>服务器端认证</a:t>
            </a:r>
            <a:endParaRPr lang="en-US" altLang="zh-CN"/>
          </a:p>
          <a:p>
            <a:pPr lvl="1"/>
            <a:r>
              <a:rPr lang="zh-CN" altLang="en-US"/>
              <a:t>传输层：</a:t>
            </a:r>
            <a:r>
              <a:rPr lang="en-US" altLang="zh-CN"/>
              <a:t>HTTPS</a:t>
            </a:r>
          </a:p>
          <a:p>
            <a:pPr lvl="1"/>
            <a:r>
              <a:rPr lang="zh-CN" altLang="en-US"/>
              <a:t>网络层 ：</a:t>
            </a:r>
            <a:r>
              <a:rPr lang="en-US" altLang="zh-CN"/>
              <a:t>VPN</a:t>
            </a:r>
            <a:r>
              <a:rPr lang="zh-CN" altLang="en-US"/>
              <a:t>技术（隧道技术和加密技术）</a:t>
            </a:r>
          </a:p>
          <a:p>
            <a:pPr lvl="1"/>
            <a:endParaRPr lang="zh-CN" altLang="en-US"/>
          </a:p>
          <a:p>
            <a:endParaRPr lang="zh-CN" altLang="en-US"/>
          </a:p>
          <a:p>
            <a:endParaRPr lang="zh-CN" altLang="en-US"/>
          </a:p>
        </p:txBody>
      </p:sp>
      <p:graphicFrame>
        <p:nvGraphicFramePr>
          <p:cNvPr id="4" name="表格 3"/>
          <p:cNvGraphicFramePr>
            <a:graphicFrameLocks noGrp="1"/>
          </p:cNvGraphicFramePr>
          <p:nvPr>
            <p:extLst>
              <p:ext uri="{D42A27DB-BD31-4B8C-83A1-F6EECF244321}">
                <p14:modId xmlns:p14="http://schemas.microsoft.com/office/powerpoint/2010/main" val="1315304775"/>
              </p:ext>
            </p:extLst>
          </p:nvPr>
        </p:nvGraphicFramePr>
        <p:xfrm>
          <a:off x="5082139" y="942073"/>
          <a:ext cx="3946839" cy="2565400"/>
        </p:xfrm>
        <a:graphic>
          <a:graphicData uri="http://schemas.openxmlformats.org/drawingml/2006/table">
            <a:tbl>
              <a:tblPr firstRow="1" bandRow="1">
                <a:tableStyleId>{93296810-A885-4BE3-A3E7-6D5BEEA58F35}</a:tableStyleId>
              </a:tblPr>
              <a:tblGrid>
                <a:gridCol w="2089503">
                  <a:extLst>
                    <a:ext uri="{9D8B030D-6E8A-4147-A177-3AD203B41FA5}">
                      <a16:colId xmlns:a16="http://schemas.microsoft.com/office/drawing/2014/main" val="20000"/>
                    </a:ext>
                  </a:extLst>
                </a:gridCol>
                <a:gridCol w="1857336">
                  <a:extLst>
                    <a:ext uri="{9D8B030D-6E8A-4147-A177-3AD203B41FA5}">
                      <a16:colId xmlns:a16="http://schemas.microsoft.com/office/drawing/2014/main" val="20001"/>
                    </a:ext>
                  </a:extLst>
                </a:gridCol>
              </a:tblGrid>
              <a:tr h="370840">
                <a:tc>
                  <a:txBody>
                    <a:bodyPr/>
                    <a:lstStyle/>
                    <a:p>
                      <a:r>
                        <a:rPr lang="en-US" altLang="zh-CN" sz="1800" dirty="0">
                          <a:latin typeface="+mj-ea"/>
                          <a:ea typeface="+mj-ea"/>
                        </a:rPr>
                        <a:t>MQTT</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bg1"/>
                          </a:solidFill>
                          <a:latin typeface="+mj-ea"/>
                          <a:ea typeface="+mj-ea"/>
                          <a:cs typeface="+mn-cs"/>
                        </a:rPr>
                        <a:t>消息队列遥测传输</a:t>
                      </a:r>
                    </a:p>
                  </a:txBody>
                  <a:tcPr/>
                </a:tc>
                <a:tc>
                  <a:txBody>
                    <a:bodyPr/>
                    <a:lstStyle/>
                    <a:p>
                      <a:r>
                        <a:rPr lang="en-US" altLang="zh-CN" sz="1800">
                          <a:latin typeface="+mj-ea"/>
                          <a:ea typeface="+mj-ea"/>
                        </a:rPr>
                        <a:t>AMQP</a:t>
                      </a:r>
                    </a:p>
                    <a:p>
                      <a:r>
                        <a:rPr lang="zh-CN" altLang="en-US" sz="1800">
                          <a:latin typeface="+mj-ea"/>
                          <a:ea typeface="+mj-ea"/>
                        </a:rPr>
                        <a:t>高级消息队列协议</a:t>
                      </a:r>
                    </a:p>
                  </a:txBody>
                  <a:tcPr/>
                </a:tc>
                <a:extLst>
                  <a:ext uri="{0D108BD9-81ED-4DB2-BD59-A6C34878D82A}">
                    <a16:rowId xmlns:a16="http://schemas.microsoft.com/office/drawing/2014/main" val="10000"/>
                  </a:ext>
                </a:extLst>
              </a:tr>
              <a:tr h="370840">
                <a:tc>
                  <a:txBody>
                    <a:bodyPr/>
                    <a:lstStyle/>
                    <a:p>
                      <a:r>
                        <a:rPr lang="zh-CN" altLang="en-US" sz="1800">
                          <a:latin typeface="+mj-ea"/>
                          <a:ea typeface="+mj-ea"/>
                        </a:rPr>
                        <a:t>轻量级</a:t>
                      </a:r>
                    </a:p>
                  </a:txBody>
                  <a:tcPr/>
                </a:tc>
                <a:tc>
                  <a:txBody>
                    <a:bodyPr/>
                    <a:lstStyle/>
                    <a:p>
                      <a:r>
                        <a:rPr lang="zh-CN" altLang="en-US" sz="1800">
                          <a:latin typeface="+mj-ea"/>
                          <a:ea typeface="+mj-ea"/>
                        </a:rPr>
                        <a:t>重量级</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i="0" kern="1200" dirty="0">
                          <a:solidFill>
                            <a:schemeClr val="dk1"/>
                          </a:solidFill>
                          <a:effectLst/>
                          <a:latin typeface="+mj-ea"/>
                          <a:ea typeface="+mj-ea"/>
                          <a:cs typeface="+mn-cs"/>
                        </a:rPr>
                        <a:t>不确保安全性</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a:latin typeface="+mj-ea"/>
                          <a:ea typeface="+mj-ea"/>
                        </a:rPr>
                        <a:t>使用</a:t>
                      </a:r>
                      <a:r>
                        <a:rPr lang="en-US" altLang="zh-CN" sz="1800">
                          <a:latin typeface="+mj-ea"/>
                          <a:ea typeface="+mj-ea"/>
                        </a:rPr>
                        <a:t>SASL</a:t>
                      </a:r>
                      <a:r>
                        <a:rPr lang="zh-CN" altLang="en-US" sz="1800">
                          <a:latin typeface="+mj-ea"/>
                          <a:ea typeface="+mj-ea"/>
                        </a:rPr>
                        <a:t>和</a:t>
                      </a:r>
                      <a:r>
                        <a:rPr lang="en-US" altLang="zh-CN" sz="1800">
                          <a:latin typeface="+mj-ea"/>
                          <a:ea typeface="+mj-ea"/>
                        </a:rPr>
                        <a:t>TLS</a:t>
                      </a:r>
                      <a:r>
                        <a:rPr lang="zh-CN" altLang="en-US" sz="1800">
                          <a:latin typeface="+mj-ea"/>
                          <a:ea typeface="+mj-ea"/>
                        </a:rPr>
                        <a:t>确保安全性</a:t>
                      </a:r>
                    </a:p>
                  </a:txBody>
                  <a:tcPr/>
                </a:tc>
                <a:extLst>
                  <a:ext uri="{0D108BD9-81ED-4DB2-BD59-A6C34878D82A}">
                    <a16:rowId xmlns:a16="http://schemas.microsoft.com/office/drawing/2014/main" val="10002"/>
                  </a:ext>
                </a:extLst>
              </a:tr>
              <a:tr h="370840">
                <a:tc>
                  <a:txBody>
                    <a:bodyPr/>
                    <a:lstStyle/>
                    <a:p>
                      <a:r>
                        <a:rPr lang="zh-CN" altLang="en-US" sz="1800">
                          <a:latin typeface="+mj-ea"/>
                          <a:ea typeface="+mj-ea"/>
                        </a:rPr>
                        <a:t>客户端和服务端不对称</a:t>
                      </a:r>
                    </a:p>
                  </a:txBody>
                  <a:tcPr/>
                </a:tc>
                <a:tc>
                  <a:txBody>
                    <a:bodyPr/>
                    <a:lstStyle/>
                    <a:p>
                      <a:r>
                        <a:rPr lang="zh-CN" altLang="en-US" sz="1800" dirty="0">
                          <a:latin typeface="+mj-ea"/>
                          <a:ea typeface="+mj-ea"/>
                        </a:rPr>
                        <a:t>客户端和服务端对等</a:t>
                      </a:r>
                    </a:p>
                  </a:txBody>
                  <a:tcPr/>
                </a:tc>
                <a:extLst>
                  <a:ext uri="{0D108BD9-81ED-4DB2-BD59-A6C34878D82A}">
                    <a16:rowId xmlns:a16="http://schemas.microsoft.com/office/drawing/2014/main" val="10003"/>
                  </a:ext>
                </a:extLst>
              </a:tr>
            </a:tbl>
          </a:graphicData>
        </a:graphic>
      </p:graphicFrame>
      <p:cxnSp>
        <p:nvCxnSpPr>
          <p:cNvPr id="6" name="直接箭头连接符 5"/>
          <p:cNvCxnSpPr/>
          <p:nvPr/>
        </p:nvCxnSpPr>
        <p:spPr bwMode="auto">
          <a:xfrm>
            <a:off x="4321262" y="1703671"/>
            <a:ext cx="664464" cy="0"/>
          </a:xfrm>
          <a:prstGeom prst="straightConnector1">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sp>
        <p:nvSpPr>
          <p:cNvPr id="8" name="灯片编号占位符 4">
            <a:extLst>
              <a:ext uri="{FF2B5EF4-FFF2-40B4-BE49-F238E27FC236}">
                <a16:creationId xmlns:a16="http://schemas.microsoft.com/office/drawing/2014/main" id="{8754880D-289A-4B30-AF6E-2CC0FA6692A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109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Azure IoT</a:t>
            </a:r>
            <a:r>
              <a:rPr lang="zh-CN" altLang="en-US"/>
              <a:t>功能概述</a:t>
            </a:r>
          </a:p>
        </p:txBody>
      </p:sp>
      <p:sp>
        <p:nvSpPr>
          <p:cNvPr id="3" name="内容占位符 2"/>
          <p:cNvSpPr>
            <a:spLocks noGrp="1"/>
          </p:cNvSpPr>
          <p:nvPr>
            <p:ph idx="1"/>
          </p:nvPr>
        </p:nvSpPr>
        <p:spPr/>
        <p:txBody>
          <a:bodyPr/>
          <a:lstStyle/>
          <a:p>
            <a:r>
              <a:rPr lang="zh-CN" altLang="en-US"/>
              <a:t>无服务器计算</a:t>
            </a:r>
            <a:endParaRPr lang="en-US" altLang="zh-CN"/>
          </a:p>
          <a:p>
            <a:pPr lvl="1"/>
            <a:r>
              <a:rPr lang="en-US" altLang="zh-CN"/>
              <a:t>Azure Functions </a:t>
            </a:r>
          </a:p>
          <a:p>
            <a:pPr lvl="1"/>
            <a:r>
              <a:rPr lang="zh-CN" altLang="en-US"/>
              <a:t>完全托管的计算平台</a:t>
            </a:r>
            <a:endParaRPr lang="en-US" altLang="zh-CN"/>
          </a:p>
          <a:p>
            <a:pPr lvl="1"/>
            <a:r>
              <a:rPr lang="zh-CN" altLang="en-US"/>
              <a:t>提供可根据需要进行缩放的简单无服务器函数</a:t>
            </a:r>
            <a:endParaRPr lang="en-US" altLang="zh-CN"/>
          </a:p>
          <a:p>
            <a:pPr lvl="1"/>
            <a:r>
              <a:rPr lang="zh-CN" altLang="en-US"/>
              <a:t>可自行选择编程语言，无需担心服务器或基础结构</a:t>
            </a:r>
            <a:endParaRPr lang="en-US" altLang="zh-CN"/>
          </a:p>
          <a:p>
            <a:pPr lvl="1"/>
            <a:r>
              <a:rPr lang="zh-CN" altLang="en-US"/>
              <a:t>轻松生成所需应用</a:t>
            </a:r>
            <a:endParaRPr lang="en-US" altLang="zh-CN"/>
          </a:p>
          <a:p>
            <a:r>
              <a:rPr lang="zh-CN" altLang="en-US"/>
              <a:t>边缘计算</a:t>
            </a:r>
            <a:endParaRPr lang="en-US" altLang="zh-CN"/>
          </a:p>
          <a:p>
            <a:pPr lvl="1"/>
            <a:r>
              <a:rPr lang="zh-CN" altLang="en-US"/>
              <a:t>将机器学习、高级分析及</a:t>
            </a:r>
            <a:r>
              <a:rPr lang="en-US" altLang="zh-CN"/>
              <a:t>AI</a:t>
            </a:r>
            <a:r>
              <a:rPr lang="zh-CN" altLang="en-US"/>
              <a:t>服务，推向更靠近数据源的网关或</a:t>
            </a:r>
            <a:r>
              <a:rPr lang="en-US" altLang="zh-CN"/>
              <a:t>IoT</a:t>
            </a:r>
            <a:r>
              <a:rPr lang="zh-CN" altLang="en-US"/>
              <a:t>设备上</a:t>
            </a:r>
            <a:endParaRPr lang="en-US" altLang="zh-CN"/>
          </a:p>
          <a:p>
            <a:pPr lvl="1"/>
            <a:r>
              <a:rPr lang="en-US" altLang="zh-CN"/>
              <a:t>Azure IoT</a:t>
            </a:r>
            <a:r>
              <a:rPr lang="zh-CN" altLang="en-US"/>
              <a:t>中通过无服务器计算下沉实现边缘计算</a:t>
            </a:r>
            <a:endParaRPr lang="en-US" altLang="zh-CN"/>
          </a:p>
          <a:p>
            <a:pPr lvl="1"/>
            <a:r>
              <a:rPr lang="zh-CN" altLang="en-US"/>
              <a:t>适应未来需要更多即时分析和处理能力的</a:t>
            </a:r>
            <a:r>
              <a:rPr lang="en-US" altLang="zh-CN"/>
              <a:t>IoT</a:t>
            </a:r>
            <a:r>
              <a:rPr lang="zh-CN" altLang="en-US"/>
              <a:t>应用，如自驾车、</a:t>
            </a:r>
            <a:r>
              <a:rPr lang="en-US" altLang="zh-CN"/>
              <a:t>AR</a:t>
            </a:r>
            <a:r>
              <a:rPr lang="zh-CN" altLang="en-US"/>
              <a:t>应用等</a:t>
            </a:r>
            <a:endParaRPr lang="en-US" altLang="zh-CN"/>
          </a:p>
          <a:p>
            <a:pPr lvl="1"/>
            <a:endParaRPr lang="zh-CN" altLang="en-US"/>
          </a:p>
          <a:p>
            <a:endParaRPr lang="en-US" altLang="zh-CN"/>
          </a:p>
          <a:p>
            <a:endParaRPr lang="zh-CN" altLang="en-US"/>
          </a:p>
        </p:txBody>
      </p:sp>
      <p:sp>
        <p:nvSpPr>
          <p:cNvPr id="6" name="灯片编号占位符 4">
            <a:extLst>
              <a:ext uri="{FF2B5EF4-FFF2-40B4-BE49-F238E27FC236}">
                <a16:creationId xmlns:a16="http://schemas.microsoft.com/office/drawing/2014/main" id="{1C56AFBA-75BD-44BF-886A-B1D3EE2881E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Azure IoT</a:t>
            </a:r>
            <a:r>
              <a:rPr lang="zh-CN" altLang="en-US"/>
              <a:t>特点：机器学习服务</a:t>
            </a:r>
          </a:p>
        </p:txBody>
      </p:sp>
      <p:sp>
        <p:nvSpPr>
          <p:cNvPr id="3" name="内容占位符 2"/>
          <p:cNvSpPr>
            <a:spLocks noGrp="1"/>
          </p:cNvSpPr>
          <p:nvPr>
            <p:ph idx="1"/>
          </p:nvPr>
        </p:nvSpPr>
        <p:spPr/>
        <p:txBody>
          <a:bodyPr/>
          <a:lstStyle/>
          <a:p>
            <a:r>
              <a:rPr lang="zh-CN" altLang="en-US"/>
              <a:t>机器学习服务</a:t>
            </a:r>
            <a:endParaRPr lang="en-US" altLang="zh-CN"/>
          </a:p>
          <a:p>
            <a:pPr lvl="1"/>
            <a:r>
              <a:rPr lang="zh-CN" altLang="en-US"/>
              <a:t>提供了一个基于云的环境</a:t>
            </a:r>
            <a:endParaRPr lang="en-US" altLang="zh-CN"/>
          </a:p>
          <a:p>
            <a:pPr lvl="1"/>
            <a:r>
              <a:rPr lang="zh-CN" altLang="en-US"/>
              <a:t>开发者使用这一环境来开发、培训、测试、部署、管理和跟踪机器学习模型</a:t>
            </a:r>
            <a:endParaRPr lang="en-US" altLang="zh-CN"/>
          </a:p>
          <a:p>
            <a:pPr lvl="1"/>
            <a:r>
              <a:rPr lang="zh-CN" altLang="en-US"/>
              <a:t>完全支持开放源代码技术（</a:t>
            </a:r>
            <a:r>
              <a:rPr lang="en-US" altLang="zh-CN"/>
              <a:t>Python</a:t>
            </a:r>
            <a:r>
              <a:rPr lang="zh-CN" altLang="en-US"/>
              <a:t>、</a:t>
            </a:r>
            <a:r>
              <a:rPr lang="en-US" altLang="zh-CN"/>
              <a:t>TensorFlow</a:t>
            </a:r>
            <a:r>
              <a:rPr lang="zh-CN" altLang="en-US"/>
              <a:t>）</a:t>
            </a:r>
            <a:endParaRPr lang="en-US" altLang="zh-CN"/>
          </a:p>
          <a:p>
            <a:pPr lvl="1"/>
            <a:r>
              <a:rPr lang="zh-CN" altLang="en-US"/>
              <a:t>支持丰富的工具，可以交互式地轻松探索数据、转换数据，然后开发和测试模型</a:t>
            </a:r>
            <a:endParaRPr lang="en-US" altLang="zh-CN"/>
          </a:p>
          <a:p>
            <a:pPr lvl="1"/>
            <a:r>
              <a:rPr lang="zh-CN" altLang="en-US"/>
              <a:t>自动化模型生成和优化</a:t>
            </a:r>
            <a:endParaRPr lang="en-US" altLang="zh-CN"/>
          </a:p>
          <a:p>
            <a:pPr lvl="1"/>
            <a:r>
              <a:rPr lang="zh-CN" altLang="en-US"/>
              <a:t>提供认知服务：是在 机器学习 </a:t>
            </a:r>
            <a:r>
              <a:rPr lang="en-US" altLang="zh-CN"/>
              <a:t>API </a:t>
            </a:r>
            <a:r>
              <a:rPr lang="zh-CN" altLang="en-US"/>
              <a:t>产品组合基础上的拓展，可让开发人员轻松地在其应用程序中添加认知功能 </a:t>
            </a:r>
            <a:endParaRPr lang="en-US" altLang="zh-CN"/>
          </a:p>
          <a:p>
            <a:pPr lvl="2"/>
            <a:r>
              <a:rPr lang="zh-CN" altLang="en-US"/>
              <a:t>情绪和视频检测</a:t>
            </a:r>
            <a:endParaRPr lang="en-US" altLang="zh-CN"/>
          </a:p>
          <a:p>
            <a:pPr lvl="2"/>
            <a:r>
              <a:rPr lang="zh-CN" altLang="en-US"/>
              <a:t>面部、语音与视觉识别</a:t>
            </a:r>
            <a:endParaRPr lang="en-US" altLang="zh-CN"/>
          </a:p>
          <a:p>
            <a:pPr lvl="2"/>
            <a:r>
              <a:rPr lang="zh-CN" altLang="en-US"/>
              <a:t>语音与语言理解</a:t>
            </a:r>
            <a:endParaRPr lang="en-US" altLang="zh-CN" dirty="0"/>
          </a:p>
        </p:txBody>
      </p:sp>
      <p:sp>
        <p:nvSpPr>
          <p:cNvPr id="6" name="灯片编号占位符 4">
            <a:extLst>
              <a:ext uri="{FF2B5EF4-FFF2-40B4-BE49-F238E27FC236}">
                <a16:creationId xmlns:a16="http://schemas.microsoft.com/office/drawing/2014/main" id="{8ACDA01B-7AFB-4342-B386-CF8D2E51CAB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阿里云</a:t>
            </a:r>
            <a:r>
              <a:rPr lang="en-US" altLang="zh-CN"/>
              <a:t>IoT</a:t>
            </a:r>
            <a:endParaRPr lang="zh-CN" altLang="en-US"/>
          </a:p>
        </p:txBody>
      </p:sp>
      <p:sp>
        <p:nvSpPr>
          <p:cNvPr id="3" name="内容占位符 2"/>
          <p:cNvSpPr>
            <a:spLocks noGrp="1"/>
          </p:cNvSpPr>
          <p:nvPr>
            <p:ph idx="1"/>
          </p:nvPr>
        </p:nvSpPr>
        <p:spPr/>
        <p:txBody>
          <a:bodyPr/>
          <a:lstStyle/>
          <a:p>
            <a:r>
              <a:rPr lang="en-US" altLang="zh-CN"/>
              <a:t>2018</a:t>
            </a:r>
            <a:r>
              <a:rPr lang="zh-CN" altLang="en-US"/>
              <a:t>年</a:t>
            </a:r>
            <a:r>
              <a:rPr lang="en-US" altLang="zh-CN"/>
              <a:t>3</a:t>
            </a:r>
            <a:r>
              <a:rPr lang="zh-CN" altLang="en-US"/>
              <a:t>月</a:t>
            </a:r>
            <a:r>
              <a:rPr lang="en-US" altLang="zh-CN"/>
              <a:t>28</a:t>
            </a:r>
            <a:r>
              <a:rPr lang="zh-CN" altLang="en-US"/>
              <a:t>日在云栖大会</a:t>
            </a:r>
            <a:r>
              <a:rPr lang="en-US" altLang="zh-CN"/>
              <a:t>·</a:t>
            </a:r>
            <a:r>
              <a:rPr lang="zh-CN" altLang="en-US"/>
              <a:t>深圳峰会上，阿里巴巴宣布</a:t>
            </a:r>
            <a:r>
              <a:rPr lang="en-US" altLang="zh-CN"/>
              <a:t>“</a:t>
            </a:r>
            <a:r>
              <a:rPr lang="zh-CN" altLang="en-US"/>
              <a:t>全面进军</a:t>
            </a:r>
            <a:r>
              <a:rPr lang="en-US" altLang="zh-CN"/>
              <a:t>IoT”,IoT</a:t>
            </a:r>
            <a:r>
              <a:rPr lang="zh-CN" altLang="en-US"/>
              <a:t>成为阿里</a:t>
            </a:r>
            <a:r>
              <a:rPr lang="en-US" altLang="zh-CN"/>
              <a:t>“</a:t>
            </a:r>
            <a:r>
              <a:rPr lang="zh-CN" altLang="en-US"/>
              <a:t>一条新的主赛道”</a:t>
            </a:r>
            <a:endParaRPr lang="en-US" altLang="zh-CN"/>
          </a:p>
          <a:p>
            <a:r>
              <a:rPr lang="zh-CN" altLang="en-US"/>
              <a:t>阿里云</a:t>
            </a:r>
            <a:r>
              <a:rPr lang="en-US" altLang="zh-CN"/>
              <a:t>IoT</a:t>
            </a:r>
            <a:r>
              <a:rPr lang="zh-CN" altLang="en-US"/>
              <a:t>提供物联网领域内的平台型、基础型和应用服务型产品服务，赋予行业伙伴与开发人员快速搭建物联网的能力</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28" y="3429000"/>
            <a:ext cx="8514144" cy="2694973"/>
          </a:xfrm>
          <a:prstGeom prst="rect">
            <a:avLst/>
          </a:prstGeom>
        </p:spPr>
      </p:pic>
      <p:sp>
        <p:nvSpPr>
          <p:cNvPr id="7" name="灯片编号占位符 4">
            <a:extLst>
              <a:ext uri="{FF2B5EF4-FFF2-40B4-BE49-F238E27FC236}">
                <a16:creationId xmlns:a16="http://schemas.microsoft.com/office/drawing/2014/main" id="{8DC55FCB-12C4-49D0-85C8-FDAD64C1671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阿里云</a:t>
            </a:r>
            <a:r>
              <a:rPr lang="en-US" altLang="zh-CN"/>
              <a:t>IoT</a:t>
            </a:r>
            <a:endParaRPr lang="zh-CN" altLang="en-US"/>
          </a:p>
        </p:txBody>
      </p:sp>
      <p:sp>
        <p:nvSpPr>
          <p:cNvPr id="3" name="内容占位符 2"/>
          <p:cNvSpPr>
            <a:spLocks noGrp="1"/>
          </p:cNvSpPr>
          <p:nvPr>
            <p:ph idx="1"/>
          </p:nvPr>
        </p:nvSpPr>
        <p:spPr/>
        <p:txBody>
          <a:bodyPr/>
          <a:lstStyle/>
          <a:p>
            <a:r>
              <a:rPr lang="zh-CN" altLang="en-US"/>
              <a:t>阿里云的“云</a:t>
            </a:r>
            <a:r>
              <a:rPr lang="en-US" altLang="zh-CN"/>
              <a:t>-</a:t>
            </a:r>
            <a:r>
              <a:rPr lang="zh-CN" altLang="en-US"/>
              <a:t>网</a:t>
            </a:r>
            <a:r>
              <a:rPr lang="en-US" altLang="zh-CN"/>
              <a:t>-</a:t>
            </a:r>
            <a:r>
              <a:rPr lang="zh-CN" altLang="en-US"/>
              <a:t>边</a:t>
            </a:r>
            <a:r>
              <a:rPr lang="en-US" altLang="zh-CN"/>
              <a:t>-</a:t>
            </a:r>
            <a:r>
              <a:rPr lang="zh-CN" altLang="en-US"/>
              <a:t>端”产品架构</a:t>
            </a:r>
            <a:endParaRPr lang="zh-CN" altLang="en-US" dirty="0"/>
          </a:p>
        </p:txBody>
      </p:sp>
      <p:sp>
        <p:nvSpPr>
          <p:cNvPr id="23" name="灯片编号占位符 4">
            <a:extLst>
              <a:ext uri="{FF2B5EF4-FFF2-40B4-BE49-F238E27FC236}">
                <a16:creationId xmlns:a16="http://schemas.microsoft.com/office/drawing/2014/main" id="{8A7A256F-FF3B-48A2-832F-56937AFB0C3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113</a:t>
            </a:fld>
            <a:endParaRPr lang="zh-CN" altLang="zh-CN" sz="1800" baseline="0" dirty="0">
              <a:solidFill>
                <a:schemeClr val="folHlink"/>
              </a:solidFill>
              <a:latin typeface="Monotype Corsiva" panose="03010101010201010101" pitchFamily="66" charset="0"/>
            </a:endParaRPr>
          </a:p>
        </p:txBody>
      </p:sp>
      <p:pic>
        <p:nvPicPr>
          <p:cNvPr id="21" name="图片 20">
            <a:extLst>
              <a:ext uri="{FF2B5EF4-FFF2-40B4-BE49-F238E27FC236}">
                <a16:creationId xmlns:a16="http://schemas.microsoft.com/office/drawing/2014/main" id="{A85DC884-5531-41E5-BC61-0D21DE9BB472}"/>
              </a:ext>
            </a:extLst>
          </p:cNvPr>
          <p:cNvPicPr>
            <a:picLocks noChangeAspect="1"/>
          </p:cNvPicPr>
          <p:nvPr/>
        </p:nvPicPr>
        <p:blipFill>
          <a:blip r:embed="rId3"/>
          <a:stretch>
            <a:fillRect/>
          </a:stretch>
        </p:blipFill>
        <p:spPr>
          <a:xfrm>
            <a:off x="0" y="2156366"/>
            <a:ext cx="9144000" cy="3078668"/>
          </a:xfrm>
          <a:prstGeom prst="rect">
            <a:avLst/>
          </a:prstGeom>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阿里云</a:t>
            </a:r>
            <a:r>
              <a:rPr lang="en-US" altLang="zh-CN"/>
              <a:t>IoT</a:t>
            </a:r>
            <a:r>
              <a:rPr lang="zh-CN" altLang="en-US"/>
              <a:t>功能概述</a:t>
            </a:r>
          </a:p>
        </p:txBody>
      </p:sp>
      <p:sp>
        <p:nvSpPr>
          <p:cNvPr id="3" name="内容占位符 2"/>
          <p:cNvSpPr>
            <a:spLocks noGrp="1"/>
          </p:cNvSpPr>
          <p:nvPr>
            <p:ph idx="1"/>
          </p:nvPr>
        </p:nvSpPr>
        <p:spPr/>
        <p:txBody>
          <a:bodyPr/>
          <a:lstStyle/>
          <a:p>
            <a:pPr>
              <a:spcBef>
                <a:spcPts val="0"/>
              </a:spcBef>
            </a:pPr>
            <a:r>
              <a:rPr lang="zh-CN" altLang="en-US" dirty="0"/>
              <a:t>设备通信</a:t>
            </a:r>
            <a:endParaRPr lang="en-US" altLang="zh-CN" dirty="0"/>
          </a:p>
          <a:p>
            <a:pPr lvl="1">
              <a:spcBef>
                <a:spcPts val="0"/>
              </a:spcBef>
            </a:pPr>
            <a:r>
              <a:rPr lang="en-US" altLang="zh-CN" dirty="0"/>
              <a:t>MQTT/</a:t>
            </a:r>
            <a:r>
              <a:rPr lang="en-US" altLang="zh-CN" dirty="0" err="1"/>
              <a:t>CoAP</a:t>
            </a:r>
            <a:r>
              <a:rPr lang="en-US" altLang="zh-CN" dirty="0"/>
              <a:t>/HTTPS</a:t>
            </a:r>
          </a:p>
          <a:p>
            <a:pPr>
              <a:spcBef>
                <a:spcPts val="0"/>
              </a:spcBef>
            </a:pPr>
            <a:r>
              <a:rPr lang="zh-CN" altLang="en-US" dirty="0"/>
              <a:t>设备管理</a:t>
            </a:r>
            <a:endParaRPr lang="en-US" altLang="zh-CN" dirty="0"/>
          </a:p>
          <a:p>
            <a:pPr lvl="1">
              <a:spcBef>
                <a:spcPts val="0"/>
              </a:spcBef>
            </a:pPr>
            <a:r>
              <a:rPr lang="zh-CN" altLang="en-US" dirty="0"/>
              <a:t>支持直接管理与设备影子</a:t>
            </a:r>
            <a:endParaRPr lang="en-US" altLang="zh-CN" dirty="0"/>
          </a:p>
          <a:p>
            <a:pPr lvl="1">
              <a:spcBef>
                <a:spcPts val="0"/>
              </a:spcBef>
            </a:pPr>
            <a:r>
              <a:rPr lang="zh-CN" altLang="en-US" dirty="0"/>
              <a:t>支持网关子设备和</a:t>
            </a:r>
            <a:r>
              <a:rPr lang="en-US" altLang="zh-CN" dirty="0"/>
              <a:t>OTA</a:t>
            </a:r>
            <a:r>
              <a:rPr lang="zh-CN" altLang="en-US" dirty="0"/>
              <a:t>升级</a:t>
            </a:r>
            <a:endParaRPr lang="en-US" altLang="zh-CN" dirty="0"/>
          </a:p>
          <a:p>
            <a:pPr>
              <a:spcBef>
                <a:spcPts val="0"/>
              </a:spcBef>
            </a:pPr>
            <a:r>
              <a:rPr lang="zh-CN" altLang="en-US" dirty="0"/>
              <a:t>时序存储</a:t>
            </a:r>
          </a:p>
          <a:p>
            <a:pPr lvl="1">
              <a:spcBef>
                <a:spcPts val="0"/>
              </a:spcBef>
            </a:pPr>
            <a:r>
              <a:rPr lang="zh-CN" altLang="en-US" dirty="0"/>
              <a:t>阿里云</a:t>
            </a:r>
            <a:r>
              <a:rPr lang="en-US" altLang="zh-CN" dirty="0"/>
              <a:t>TSDB(Time</a:t>
            </a:r>
            <a:r>
              <a:rPr lang="zh-CN" altLang="en-US" dirty="0"/>
              <a:t> </a:t>
            </a:r>
            <a:r>
              <a:rPr lang="en-US" altLang="zh-CN" dirty="0"/>
              <a:t>Series</a:t>
            </a:r>
            <a:r>
              <a:rPr lang="zh-CN" altLang="en-US" dirty="0"/>
              <a:t> </a:t>
            </a:r>
            <a:r>
              <a:rPr lang="en-US" altLang="zh-CN" dirty="0"/>
              <a:t>Database)</a:t>
            </a:r>
            <a:r>
              <a:rPr lang="zh-CN" altLang="en-US" dirty="0"/>
              <a:t>服务</a:t>
            </a:r>
            <a:endParaRPr lang="en-US" altLang="zh-CN" dirty="0"/>
          </a:p>
          <a:p>
            <a:pPr>
              <a:spcBef>
                <a:spcPts val="0"/>
              </a:spcBef>
            </a:pPr>
            <a:r>
              <a:rPr lang="zh-CN" altLang="en-US" dirty="0"/>
              <a:t>规则引擎</a:t>
            </a:r>
            <a:endParaRPr lang="en-US" altLang="zh-CN" dirty="0"/>
          </a:p>
          <a:p>
            <a:pPr lvl="1">
              <a:spcBef>
                <a:spcPts val="0"/>
              </a:spcBef>
            </a:pPr>
            <a:r>
              <a:rPr lang="zh-CN" altLang="en-US" dirty="0"/>
              <a:t>可以使用规则引擎将处理后的数据：</a:t>
            </a:r>
            <a:endParaRPr lang="en-US" altLang="zh-CN" dirty="0"/>
          </a:p>
          <a:p>
            <a:pPr lvl="2">
              <a:spcBef>
                <a:spcPts val="0"/>
              </a:spcBef>
            </a:pPr>
            <a:r>
              <a:rPr lang="zh-CN" altLang="en-US" dirty="0"/>
              <a:t>转发到存储服务（</a:t>
            </a:r>
            <a:r>
              <a:rPr lang="en-US" altLang="zh-CN" dirty="0"/>
              <a:t>RDS</a:t>
            </a:r>
            <a:r>
              <a:rPr lang="zh-CN" altLang="en-US" dirty="0"/>
              <a:t>、表格存储、</a:t>
            </a:r>
            <a:r>
              <a:rPr lang="en-US" altLang="zh-CN" dirty="0"/>
              <a:t>TSDB</a:t>
            </a:r>
            <a:r>
              <a:rPr lang="zh-CN" altLang="en-US" dirty="0"/>
              <a:t>）进行存储</a:t>
            </a:r>
            <a:endParaRPr lang="en-US" altLang="zh-CN" dirty="0"/>
          </a:p>
          <a:p>
            <a:pPr lvl="2">
              <a:spcBef>
                <a:spcPts val="0"/>
              </a:spcBef>
            </a:pPr>
            <a:r>
              <a:rPr lang="zh-CN" altLang="en-US" dirty="0"/>
              <a:t>转发到</a:t>
            </a:r>
            <a:r>
              <a:rPr lang="en-US" altLang="zh-CN" dirty="0" err="1"/>
              <a:t>DataHub</a:t>
            </a:r>
            <a:r>
              <a:rPr lang="zh-CN" altLang="en-US" dirty="0"/>
              <a:t>进行流计算或大规模离线计算</a:t>
            </a:r>
            <a:endParaRPr lang="en-US" altLang="zh-CN" dirty="0"/>
          </a:p>
          <a:p>
            <a:pPr lvl="2">
              <a:spcBef>
                <a:spcPts val="0"/>
              </a:spcBef>
            </a:pPr>
            <a:r>
              <a:rPr lang="zh-CN" altLang="en-US" dirty="0"/>
              <a:t>转发到函数计算进行事件计算</a:t>
            </a:r>
            <a:endParaRPr lang="en-US" altLang="zh-CN" dirty="0"/>
          </a:p>
          <a:p>
            <a:pPr lvl="2">
              <a:spcBef>
                <a:spcPts val="0"/>
              </a:spcBef>
            </a:pPr>
            <a:r>
              <a:rPr lang="zh-CN" altLang="en-US" dirty="0"/>
              <a:t>转发到另一个</a:t>
            </a:r>
            <a:r>
              <a:rPr lang="en-US" altLang="zh-CN" dirty="0"/>
              <a:t>Topic</a:t>
            </a:r>
            <a:r>
              <a:rPr lang="zh-CN" altLang="en-US" dirty="0"/>
              <a:t>实现</a:t>
            </a:r>
            <a:r>
              <a:rPr lang="en-US" altLang="zh-CN" dirty="0"/>
              <a:t>M2M</a:t>
            </a:r>
            <a:r>
              <a:rPr lang="zh-CN" altLang="en-US" dirty="0"/>
              <a:t>通信</a:t>
            </a:r>
            <a:endParaRPr lang="en-US" altLang="zh-CN" dirty="0"/>
          </a:p>
          <a:p>
            <a:pPr lvl="2">
              <a:spcBef>
                <a:spcPts val="0"/>
              </a:spcBef>
            </a:pPr>
            <a:r>
              <a:rPr lang="zh-CN" altLang="en-US" dirty="0"/>
              <a:t>转发到消息队列</a:t>
            </a:r>
            <a:r>
              <a:rPr lang="en-US" altLang="zh-CN" dirty="0"/>
              <a:t>MQ</a:t>
            </a:r>
            <a:r>
              <a:rPr lang="zh-CN" altLang="en-US" dirty="0"/>
              <a:t>或消息服务实现高可靠消费数据</a:t>
            </a:r>
            <a:endParaRPr lang="en-US" altLang="zh-CN" dirty="0"/>
          </a:p>
          <a:p>
            <a:pPr lvl="1">
              <a:spcBef>
                <a:spcPts val="0"/>
              </a:spcBef>
            </a:pPr>
            <a:endParaRPr lang="zh-CN" altLang="en-US" dirty="0"/>
          </a:p>
        </p:txBody>
      </p:sp>
      <p:sp>
        <p:nvSpPr>
          <p:cNvPr id="6" name="灯片编号占位符 4">
            <a:extLst>
              <a:ext uri="{FF2B5EF4-FFF2-40B4-BE49-F238E27FC236}">
                <a16:creationId xmlns:a16="http://schemas.microsoft.com/office/drawing/2014/main" id="{750958D1-C4E8-46CB-807B-D76F26FE20F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4"/>
          <p:cNvPicPr>
            <a:picLocks noChangeAspect="1"/>
          </p:cNvPicPr>
          <p:nvPr/>
        </p:nvPicPr>
        <p:blipFill>
          <a:blip r:embed="rId2"/>
          <a:stretch>
            <a:fillRect/>
          </a:stretch>
        </p:blipFill>
        <p:spPr>
          <a:xfrm>
            <a:off x="2367170" y="3302000"/>
            <a:ext cx="6510130" cy="2010481"/>
          </a:xfrm>
          <a:prstGeom prst="rect">
            <a:avLst/>
          </a:prstGeom>
        </p:spPr>
      </p:pic>
      <p:sp>
        <p:nvSpPr>
          <p:cNvPr id="2" name="标题 1"/>
          <p:cNvSpPr>
            <a:spLocks noGrp="1"/>
          </p:cNvSpPr>
          <p:nvPr>
            <p:ph type="title"/>
          </p:nvPr>
        </p:nvSpPr>
        <p:spPr/>
        <p:txBody>
          <a:bodyPr/>
          <a:lstStyle/>
          <a:p>
            <a:r>
              <a:rPr lang="zh-CN" altLang="en-US"/>
              <a:t>阿里云</a:t>
            </a:r>
            <a:r>
              <a:rPr lang="en-US" altLang="zh-CN"/>
              <a:t>IoT</a:t>
            </a:r>
            <a:r>
              <a:rPr lang="zh-CN" altLang="en-US"/>
              <a:t>功能概述</a:t>
            </a:r>
          </a:p>
        </p:txBody>
      </p:sp>
      <p:sp>
        <p:nvSpPr>
          <p:cNvPr id="3" name="内容占位符 2"/>
          <p:cNvSpPr>
            <a:spLocks noGrp="1"/>
          </p:cNvSpPr>
          <p:nvPr>
            <p:ph idx="1"/>
          </p:nvPr>
        </p:nvSpPr>
        <p:spPr/>
        <p:txBody>
          <a:bodyPr/>
          <a:lstStyle/>
          <a:p>
            <a:r>
              <a:rPr lang="zh-CN" altLang="en-US"/>
              <a:t>设备与身份认证</a:t>
            </a:r>
            <a:endParaRPr lang="en-US" altLang="zh-CN"/>
          </a:p>
          <a:p>
            <a:pPr lvl="1"/>
            <a:r>
              <a:rPr lang="zh-CN" altLang="en-US"/>
              <a:t>提供芯片级安全存储方案（</a:t>
            </a:r>
            <a:r>
              <a:rPr lang="en-US" altLang="zh-CN"/>
              <a:t>ID²</a:t>
            </a:r>
            <a:r>
              <a:rPr lang="zh-CN" altLang="en-US"/>
              <a:t>）及设备密钥安全管理机制</a:t>
            </a:r>
            <a:endParaRPr lang="en-US" altLang="zh-CN"/>
          </a:p>
          <a:p>
            <a:pPr lvl="1"/>
            <a:r>
              <a:rPr lang="zh-CN" altLang="en-US"/>
              <a:t>提供一机一密的设备认证机制</a:t>
            </a:r>
            <a:endParaRPr lang="en-US" altLang="zh-CN"/>
          </a:p>
          <a:p>
            <a:r>
              <a:rPr lang="zh-CN" altLang="en-US"/>
              <a:t>函数计算</a:t>
            </a:r>
          </a:p>
          <a:p>
            <a:pPr lvl="1"/>
            <a:r>
              <a:rPr lang="zh-CN" altLang="en-US"/>
              <a:t>支持语言：</a:t>
            </a:r>
            <a:endParaRPr lang="en-US" altLang="zh-CN"/>
          </a:p>
          <a:p>
            <a:pPr lvl="2"/>
            <a:r>
              <a:rPr lang="en-US" altLang="zh-CN"/>
              <a:t>Python</a:t>
            </a:r>
          </a:p>
          <a:p>
            <a:pPr lvl="2"/>
            <a:r>
              <a:rPr lang="en-US" altLang="zh-CN"/>
              <a:t>PHP</a:t>
            </a:r>
          </a:p>
          <a:p>
            <a:pPr lvl="2"/>
            <a:r>
              <a:rPr lang="en-US" altLang="zh-CN"/>
              <a:t>Java</a:t>
            </a:r>
          </a:p>
          <a:p>
            <a:pPr lvl="2"/>
            <a:r>
              <a:rPr lang="en-US" altLang="zh-CN"/>
              <a:t>.NET</a:t>
            </a:r>
          </a:p>
          <a:p>
            <a:pPr lvl="2"/>
            <a:r>
              <a:rPr lang="en-US" altLang="zh-CN"/>
              <a:t>Go</a:t>
            </a:r>
            <a:r>
              <a:rPr lang="zh-CN" altLang="en-US"/>
              <a:t>语言</a:t>
            </a:r>
            <a:endParaRPr lang="en-US" altLang="zh-CN"/>
          </a:p>
          <a:p>
            <a:pPr lvl="1"/>
            <a:r>
              <a:rPr lang="zh-CN" altLang="en-US"/>
              <a:t>计费方式：</a:t>
            </a:r>
            <a:endParaRPr lang="en-US" altLang="zh-CN"/>
          </a:p>
          <a:p>
            <a:pPr lvl="2"/>
            <a:r>
              <a:rPr lang="zh-CN" altLang="en-US"/>
              <a:t>调用次数费用</a:t>
            </a:r>
            <a:r>
              <a:rPr lang="en-US" altLang="zh-CN"/>
              <a:t>+</a:t>
            </a:r>
            <a:r>
              <a:rPr lang="zh-CN" altLang="en-US"/>
              <a:t>执行时间费用</a:t>
            </a:r>
            <a:r>
              <a:rPr lang="en-US" altLang="zh-CN"/>
              <a:t>+</a:t>
            </a:r>
            <a:r>
              <a:rPr lang="zh-CN" altLang="en-US"/>
              <a:t>公网流量费用</a:t>
            </a:r>
            <a:endParaRPr lang="en-US" altLang="zh-CN"/>
          </a:p>
          <a:p>
            <a:endParaRPr lang="zh-CN" altLang="en-US" dirty="0"/>
          </a:p>
        </p:txBody>
      </p:sp>
      <p:sp>
        <p:nvSpPr>
          <p:cNvPr id="7" name="灯片编号占位符 4">
            <a:extLst>
              <a:ext uri="{FF2B5EF4-FFF2-40B4-BE49-F238E27FC236}">
                <a16:creationId xmlns:a16="http://schemas.microsoft.com/office/drawing/2014/main" id="{8FAFA27A-30CA-44A7-B4DE-3243C946666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阿里云</a:t>
            </a:r>
            <a:r>
              <a:rPr lang="en-US" altLang="zh-CN"/>
              <a:t>IoT</a:t>
            </a:r>
            <a:r>
              <a:rPr lang="zh-CN" altLang="en-US"/>
              <a:t>功能概述</a:t>
            </a:r>
          </a:p>
        </p:txBody>
      </p:sp>
      <p:sp>
        <p:nvSpPr>
          <p:cNvPr id="2" name="内容占位符 1"/>
          <p:cNvSpPr>
            <a:spLocks noGrp="1"/>
          </p:cNvSpPr>
          <p:nvPr>
            <p:ph idx="1"/>
          </p:nvPr>
        </p:nvSpPr>
        <p:spPr/>
        <p:txBody>
          <a:bodyPr/>
          <a:lstStyle/>
          <a:p>
            <a:r>
              <a:rPr lang="zh-CN" altLang="en-US" dirty="0"/>
              <a:t>边缘计算</a:t>
            </a:r>
            <a:endParaRPr lang="en-US" altLang="zh-CN" dirty="0"/>
          </a:p>
          <a:p>
            <a:pPr lvl="1"/>
            <a:r>
              <a:rPr lang="zh-CN" altLang="en-US" dirty="0"/>
              <a:t>功能</a:t>
            </a:r>
            <a:endParaRPr lang="en-US" altLang="zh-CN" dirty="0"/>
          </a:p>
          <a:p>
            <a:pPr lvl="2"/>
            <a:r>
              <a:rPr lang="zh-CN" altLang="en-US" dirty="0"/>
              <a:t>设备接入</a:t>
            </a:r>
            <a:endParaRPr lang="en-US" altLang="zh-CN" dirty="0"/>
          </a:p>
          <a:p>
            <a:pPr lvl="2"/>
            <a:r>
              <a:rPr lang="zh-CN" altLang="en-US" dirty="0"/>
              <a:t>边缘函数计算（将函数计算下沉至边缘端）</a:t>
            </a:r>
            <a:endParaRPr lang="en-US" altLang="zh-CN" dirty="0"/>
          </a:p>
          <a:p>
            <a:pPr lvl="2"/>
            <a:r>
              <a:rPr lang="zh-CN" altLang="en-US" dirty="0"/>
              <a:t>消息路由（将规则引擎下沉至边缘端）</a:t>
            </a:r>
            <a:endParaRPr lang="en-US" altLang="zh-CN" dirty="0"/>
          </a:p>
          <a:p>
            <a:pPr lvl="2"/>
            <a:r>
              <a:rPr lang="zh-CN" altLang="en-US" dirty="0"/>
              <a:t>断网续传（断网后将数据保存在边缘设备上，网络恢复后再同步至云端）</a:t>
            </a:r>
            <a:endParaRPr lang="en-US" altLang="zh-CN" dirty="0"/>
          </a:p>
          <a:p>
            <a:pPr lvl="2"/>
            <a:endParaRPr lang="en-US" altLang="zh-CN" dirty="0"/>
          </a:p>
          <a:p>
            <a:pPr lvl="1"/>
            <a:r>
              <a:rPr lang="zh-CN" altLang="en-US" dirty="0"/>
              <a:t>案例</a:t>
            </a:r>
            <a:endParaRPr lang="en-US" altLang="zh-CN" dirty="0"/>
          </a:p>
          <a:p>
            <a:pPr lvl="2"/>
            <a:r>
              <a:rPr lang="zh-CN" altLang="en-US" dirty="0"/>
              <a:t>在本地对设备数据做单位换算</a:t>
            </a:r>
          </a:p>
          <a:p>
            <a:pPr lvl="2"/>
            <a:r>
              <a:rPr lang="zh-CN" altLang="en-US" dirty="0"/>
              <a:t>在本地对数据进行过滤</a:t>
            </a:r>
          </a:p>
          <a:p>
            <a:pPr lvl="2"/>
            <a:r>
              <a:rPr lang="zh-CN" altLang="en-US" dirty="0"/>
              <a:t>在本地将数据转发至本地存储</a:t>
            </a:r>
            <a:r>
              <a:rPr lang="en-US" altLang="zh-CN" dirty="0"/>
              <a:t>/</a:t>
            </a:r>
            <a:r>
              <a:rPr lang="zh-CN" altLang="en-US" dirty="0"/>
              <a:t>应用</a:t>
            </a:r>
          </a:p>
          <a:p>
            <a:pPr lvl="2"/>
            <a:r>
              <a:rPr lang="zh-CN" altLang="en-US" dirty="0"/>
              <a:t>在本地访问其他服务接口</a:t>
            </a:r>
          </a:p>
          <a:p>
            <a:endParaRPr lang="zh-CN" altLang="en-US" dirty="0"/>
          </a:p>
        </p:txBody>
      </p:sp>
      <p:sp>
        <p:nvSpPr>
          <p:cNvPr id="6" name="灯片编号占位符 4">
            <a:extLst>
              <a:ext uri="{FF2B5EF4-FFF2-40B4-BE49-F238E27FC236}">
                <a16:creationId xmlns:a16="http://schemas.microsoft.com/office/drawing/2014/main" id="{7E17EC32-50C5-46F6-A07C-B8F31C7076C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阿里云</a:t>
            </a:r>
            <a:r>
              <a:rPr lang="en-US" altLang="zh-CN"/>
              <a:t>IoT</a:t>
            </a:r>
            <a:r>
              <a:rPr lang="zh-CN" altLang="en-US"/>
              <a:t>特色功能</a:t>
            </a:r>
          </a:p>
        </p:txBody>
      </p:sp>
      <p:sp>
        <p:nvSpPr>
          <p:cNvPr id="3" name="内容占位符 2"/>
          <p:cNvSpPr>
            <a:spLocks noGrp="1"/>
          </p:cNvSpPr>
          <p:nvPr>
            <p:ph idx="1"/>
          </p:nvPr>
        </p:nvSpPr>
        <p:spPr/>
        <p:txBody>
          <a:bodyPr/>
          <a:lstStyle/>
          <a:p>
            <a:r>
              <a:rPr lang="zh-CN" altLang="en-US" dirty="0"/>
              <a:t>设备认证平台</a:t>
            </a:r>
            <a:r>
              <a:rPr lang="en-US" altLang="zh-CN" dirty="0"/>
              <a:t>ID</a:t>
            </a:r>
            <a:r>
              <a:rPr lang="en-US" altLang="zh-CN" baseline="30000" dirty="0"/>
              <a:t>2</a:t>
            </a:r>
          </a:p>
          <a:p>
            <a:pPr lvl="1"/>
            <a:r>
              <a:rPr lang="zh-CN" altLang="en-US" dirty="0"/>
              <a:t>一站式的软硬结合测试</a:t>
            </a:r>
            <a:r>
              <a:rPr lang="en-US" altLang="zh-CN" dirty="0"/>
              <a:t>&amp;</a:t>
            </a:r>
            <a:r>
              <a:rPr lang="zh-CN" altLang="en-US" dirty="0"/>
              <a:t>标准化认证服务</a:t>
            </a:r>
            <a:endParaRPr lang="en-US" altLang="zh-CN" dirty="0"/>
          </a:p>
          <a:p>
            <a:r>
              <a:rPr lang="zh-CN" altLang="en-US" dirty="0"/>
              <a:t>一站式开发平台</a:t>
            </a:r>
            <a:r>
              <a:rPr lang="en-US" altLang="zh-CN" dirty="0"/>
              <a:t>IoT</a:t>
            </a:r>
            <a:r>
              <a:rPr lang="zh-CN" altLang="en-US" dirty="0"/>
              <a:t> </a:t>
            </a:r>
            <a:r>
              <a:rPr lang="en-US" altLang="zh-CN" dirty="0"/>
              <a:t>Studio</a:t>
            </a:r>
          </a:p>
          <a:p>
            <a:pPr lvl="1"/>
            <a:r>
              <a:rPr lang="zh-CN" altLang="en-US" dirty="0"/>
              <a:t>以物联网开发者为中心，覆盖设备端、数据上云、数据分析、</a:t>
            </a:r>
            <a:r>
              <a:rPr lang="en-US" altLang="zh-CN" dirty="0"/>
              <a:t>Web</a:t>
            </a:r>
            <a:r>
              <a:rPr lang="zh-CN" altLang="en-US" dirty="0"/>
              <a:t>应用、移动应用、服务开发等物联网开发的全部链路，实现一个平台解决全栈开发</a:t>
            </a:r>
            <a:endParaRPr lang="en-US" altLang="zh-CN" dirty="0"/>
          </a:p>
          <a:p>
            <a:pPr lvl="1"/>
            <a:r>
              <a:rPr lang="zh-CN" altLang="en-US" b="1" dirty="0"/>
              <a:t>设备开发</a:t>
            </a:r>
            <a:endParaRPr lang="en-US" altLang="zh-CN" b="1" dirty="0"/>
          </a:p>
          <a:p>
            <a:pPr lvl="2"/>
            <a:r>
              <a:rPr lang="zh-CN" altLang="en-US" dirty="0"/>
              <a:t>支持多种开发方式（嵌入式</a:t>
            </a:r>
            <a:r>
              <a:rPr lang="en-US" altLang="zh-CN" dirty="0"/>
              <a:t>JavaScript</a:t>
            </a:r>
            <a:r>
              <a:rPr lang="zh-CN" altLang="en-US" dirty="0"/>
              <a:t>开发、嵌入式</a:t>
            </a:r>
            <a:r>
              <a:rPr lang="en-US" altLang="zh-CN" dirty="0"/>
              <a:t>C</a:t>
            </a:r>
            <a:r>
              <a:rPr lang="zh-CN" altLang="en-US" dirty="0"/>
              <a:t>开发、基于</a:t>
            </a:r>
            <a:r>
              <a:rPr lang="en-US" altLang="zh-CN" dirty="0" err="1"/>
              <a:t>AliOS</a:t>
            </a:r>
            <a:r>
              <a:rPr lang="en-US" altLang="zh-CN" dirty="0"/>
              <a:t>-Things</a:t>
            </a:r>
            <a:r>
              <a:rPr lang="zh-CN" altLang="en-US" dirty="0"/>
              <a:t>的开发、基于</a:t>
            </a:r>
            <a:r>
              <a:rPr lang="en-US" altLang="zh-CN" dirty="0"/>
              <a:t>SDK</a:t>
            </a:r>
            <a:r>
              <a:rPr lang="zh-CN" altLang="en-US" dirty="0"/>
              <a:t>的开发）</a:t>
            </a:r>
          </a:p>
          <a:p>
            <a:pPr lvl="1"/>
            <a:r>
              <a:rPr lang="zh-CN" altLang="en-US" b="1" dirty="0"/>
              <a:t>服务开发</a:t>
            </a:r>
            <a:endParaRPr lang="en-US" altLang="zh-CN" b="1" dirty="0"/>
          </a:p>
          <a:p>
            <a:pPr lvl="2"/>
            <a:r>
              <a:rPr lang="zh-CN" altLang="en-US" dirty="0"/>
              <a:t>支持流式服务编排，可与应用无缝集成</a:t>
            </a:r>
            <a:endParaRPr lang="en-US" altLang="zh-CN" dirty="0"/>
          </a:p>
          <a:p>
            <a:pPr lvl="1"/>
            <a:r>
              <a:rPr lang="zh-CN" altLang="en-US" b="1" dirty="0"/>
              <a:t>应用开发</a:t>
            </a:r>
            <a:endParaRPr lang="en-US" altLang="zh-CN" b="1" dirty="0"/>
          </a:p>
          <a:p>
            <a:pPr lvl="2"/>
            <a:r>
              <a:rPr lang="zh-CN" altLang="en-US" dirty="0"/>
              <a:t>支持可视化应用搭建，通过拖拽的方式即可生成</a:t>
            </a:r>
            <a:r>
              <a:rPr lang="en-US" altLang="zh-CN" dirty="0"/>
              <a:t>Web</a:t>
            </a:r>
            <a:r>
              <a:rPr lang="zh-CN" altLang="en-US" dirty="0"/>
              <a:t>应用与移动应用</a:t>
            </a:r>
            <a:endParaRPr lang="en-US" altLang="zh-CN" dirty="0"/>
          </a:p>
          <a:p>
            <a:pPr lvl="1"/>
            <a:endParaRPr lang="en-US" altLang="zh-CN" dirty="0"/>
          </a:p>
          <a:p>
            <a:pPr lvl="1"/>
            <a:endParaRPr lang="en-US" altLang="zh-CN" dirty="0"/>
          </a:p>
          <a:p>
            <a:endParaRPr lang="zh-CN" altLang="en-US" dirty="0"/>
          </a:p>
        </p:txBody>
      </p:sp>
      <p:sp>
        <p:nvSpPr>
          <p:cNvPr id="6" name="灯片编号占位符 4">
            <a:extLst>
              <a:ext uri="{FF2B5EF4-FFF2-40B4-BE49-F238E27FC236}">
                <a16:creationId xmlns:a16="http://schemas.microsoft.com/office/drawing/2014/main" id="{89FC98AE-6A05-49C5-971C-08FBD20DB6A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696963-5430-4B53-9A01-BE6C7D6FDE69}"/>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50F2ACF3-3A37-4E66-A153-942A3BB24C6F}"/>
              </a:ext>
            </a:extLst>
          </p:cNvPr>
          <p:cNvSpPr>
            <a:spLocks noGrp="1"/>
          </p:cNvSpPr>
          <p:nvPr>
            <p:ph idx="1"/>
          </p:nvPr>
        </p:nvSpPr>
        <p:spPr/>
        <p:txBody>
          <a:bodyPr/>
          <a:lstStyle/>
          <a:p>
            <a:r>
              <a:rPr lang="zh-CN" altLang="en-US" dirty="0"/>
              <a:t>简述</a:t>
            </a:r>
            <a:r>
              <a:rPr lang="en-US" altLang="zh-CN" dirty="0"/>
              <a:t>Amazon AWS IoT</a:t>
            </a:r>
            <a:r>
              <a:rPr lang="zh-CN" altLang="en-US" dirty="0"/>
              <a:t>、</a:t>
            </a:r>
            <a:r>
              <a:rPr lang="en-US" altLang="zh-CN" dirty="0"/>
              <a:t>Microsoft Azure IoT</a:t>
            </a:r>
            <a:r>
              <a:rPr lang="zh-CN" altLang="en-US" dirty="0"/>
              <a:t>、阿里云</a:t>
            </a:r>
            <a:r>
              <a:rPr lang="en-US" altLang="zh-CN" dirty="0"/>
              <a:t>IoT</a:t>
            </a:r>
            <a:r>
              <a:rPr lang="zh-CN" altLang="en-US" dirty="0"/>
              <a:t>的功能</a:t>
            </a:r>
            <a:endParaRPr lang="en-US" altLang="zh-CN" dirty="0"/>
          </a:p>
          <a:p>
            <a:endParaRPr lang="zh-CN" altLang="en-US" dirty="0"/>
          </a:p>
        </p:txBody>
      </p:sp>
    </p:spTree>
    <p:extLst>
      <p:ext uri="{BB962C8B-B14F-4D97-AF65-F5344CB8AC3E}">
        <p14:creationId xmlns:p14="http://schemas.microsoft.com/office/powerpoint/2010/main" val="2834109044"/>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如何选择云平台</a:t>
            </a:r>
          </a:p>
        </p:txBody>
      </p:sp>
      <p:sp>
        <p:nvSpPr>
          <p:cNvPr id="6" name="内容占位符 5">
            <a:extLst>
              <a:ext uri="{FF2B5EF4-FFF2-40B4-BE49-F238E27FC236}">
                <a16:creationId xmlns:a16="http://schemas.microsoft.com/office/drawing/2014/main" id="{2EABF208-A264-4DE7-9C78-84B3E4A4FEE8}"/>
              </a:ext>
            </a:extLst>
          </p:cNvPr>
          <p:cNvSpPr>
            <a:spLocks noGrp="1"/>
          </p:cNvSpPr>
          <p:nvPr>
            <p:ph idx="1"/>
          </p:nvPr>
        </p:nvSpPr>
        <p:spPr/>
        <p:txBody>
          <a:bodyPr/>
          <a:lstStyle/>
          <a:p>
            <a:endParaRPr lang="zh-CN" altLang="en-US"/>
          </a:p>
        </p:txBody>
      </p:sp>
      <p:graphicFrame>
        <p:nvGraphicFramePr>
          <p:cNvPr id="4" name="内容占位符 3"/>
          <p:cNvGraphicFramePr/>
          <p:nvPr>
            <p:extLst>
              <p:ext uri="{D42A27DB-BD31-4B8C-83A1-F6EECF244321}">
                <p14:modId xmlns:p14="http://schemas.microsoft.com/office/powerpoint/2010/main" val="3615792849"/>
              </p:ext>
            </p:extLst>
          </p:nvPr>
        </p:nvGraphicFramePr>
        <p:xfrm>
          <a:off x="1" y="1279750"/>
          <a:ext cx="9143999" cy="5027945"/>
        </p:xfrm>
        <a:graphic>
          <a:graphicData uri="http://schemas.openxmlformats.org/drawingml/2006/table">
            <a:tbl>
              <a:tblPr firstRow="1" firstCol="1" bandRow="1">
                <a:tableStyleId>{93296810-A885-4BE3-A3E7-6D5BEEA58F35}</a:tableStyleId>
              </a:tblPr>
              <a:tblGrid>
                <a:gridCol w="1156025">
                  <a:extLst>
                    <a:ext uri="{9D8B030D-6E8A-4147-A177-3AD203B41FA5}">
                      <a16:colId xmlns:a16="http://schemas.microsoft.com/office/drawing/2014/main" val="20000"/>
                    </a:ext>
                  </a:extLst>
                </a:gridCol>
                <a:gridCol w="464265">
                  <a:extLst>
                    <a:ext uri="{9D8B030D-6E8A-4147-A177-3AD203B41FA5}">
                      <a16:colId xmlns:a16="http://schemas.microsoft.com/office/drawing/2014/main" val="20001"/>
                    </a:ext>
                  </a:extLst>
                </a:gridCol>
                <a:gridCol w="464265">
                  <a:extLst>
                    <a:ext uri="{9D8B030D-6E8A-4147-A177-3AD203B41FA5}">
                      <a16:colId xmlns:a16="http://schemas.microsoft.com/office/drawing/2014/main" val="20002"/>
                    </a:ext>
                  </a:extLst>
                </a:gridCol>
                <a:gridCol w="648011">
                  <a:extLst>
                    <a:ext uri="{9D8B030D-6E8A-4147-A177-3AD203B41FA5}">
                      <a16:colId xmlns:a16="http://schemas.microsoft.com/office/drawing/2014/main" val="20003"/>
                    </a:ext>
                  </a:extLst>
                </a:gridCol>
                <a:gridCol w="499731">
                  <a:extLst>
                    <a:ext uri="{9D8B030D-6E8A-4147-A177-3AD203B41FA5}">
                      <a16:colId xmlns:a16="http://schemas.microsoft.com/office/drawing/2014/main" val="20004"/>
                    </a:ext>
                  </a:extLst>
                </a:gridCol>
                <a:gridCol w="553290">
                  <a:extLst>
                    <a:ext uri="{9D8B030D-6E8A-4147-A177-3AD203B41FA5}">
                      <a16:colId xmlns:a16="http://schemas.microsoft.com/office/drawing/2014/main" val="20005"/>
                    </a:ext>
                  </a:extLst>
                </a:gridCol>
                <a:gridCol w="621930">
                  <a:extLst>
                    <a:ext uri="{9D8B030D-6E8A-4147-A177-3AD203B41FA5}">
                      <a16:colId xmlns:a16="http://schemas.microsoft.com/office/drawing/2014/main" val="20006"/>
                    </a:ext>
                  </a:extLst>
                </a:gridCol>
                <a:gridCol w="621930">
                  <a:extLst>
                    <a:ext uri="{9D8B030D-6E8A-4147-A177-3AD203B41FA5}">
                      <a16:colId xmlns:a16="http://schemas.microsoft.com/office/drawing/2014/main" val="20007"/>
                    </a:ext>
                  </a:extLst>
                </a:gridCol>
                <a:gridCol w="621930">
                  <a:extLst>
                    <a:ext uri="{9D8B030D-6E8A-4147-A177-3AD203B41FA5}">
                      <a16:colId xmlns:a16="http://schemas.microsoft.com/office/drawing/2014/main" val="20008"/>
                    </a:ext>
                  </a:extLst>
                </a:gridCol>
                <a:gridCol w="850515">
                  <a:extLst>
                    <a:ext uri="{9D8B030D-6E8A-4147-A177-3AD203B41FA5}">
                      <a16:colId xmlns:a16="http://schemas.microsoft.com/office/drawing/2014/main" val="20009"/>
                    </a:ext>
                  </a:extLst>
                </a:gridCol>
                <a:gridCol w="850515">
                  <a:extLst>
                    <a:ext uri="{9D8B030D-6E8A-4147-A177-3AD203B41FA5}">
                      <a16:colId xmlns:a16="http://schemas.microsoft.com/office/drawing/2014/main" val="20010"/>
                    </a:ext>
                  </a:extLst>
                </a:gridCol>
                <a:gridCol w="621930">
                  <a:extLst>
                    <a:ext uri="{9D8B030D-6E8A-4147-A177-3AD203B41FA5}">
                      <a16:colId xmlns:a16="http://schemas.microsoft.com/office/drawing/2014/main" val="20011"/>
                    </a:ext>
                  </a:extLst>
                </a:gridCol>
                <a:gridCol w="584831">
                  <a:extLst>
                    <a:ext uri="{9D8B030D-6E8A-4147-A177-3AD203B41FA5}">
                      <a16:colId xmlns:a16="http://schemas.microsoft.com/office/drawing/2014/main" val="20012"/>
                    </a:ext>
                  </a:extLst>
                </a:gridCol>
                <a:gridCol w="584831">
                  <a:extLst>
                    <a:ext uri="{9D8B030D-6E8A-4147-A177-3AD203B41FA5}">
                      <a16:colId xmlns:a16="http://schemas.microsoft.com/office/drawing/2014/main" val="20013"/>
                    </a:ext>
                  </a:extLst>
                </a:gridCol>
              </a:tblGrid>
              <a:tr h="264845">
                <a:tc rowSpan="3">
                  <a:txBody>
                    <a:bodyPr/>
                    <a:lstStyle/>
                    <a:p>
                      <a:pPr indent="0" algn="ctr">
                        <a:spcAft>
                          <a:spcPts val="0"/>
                        </a:spcAft>
                      </a:pPr>
                      <a:r>
                        <a:rPr lang="zh-CN" sz="1300" kern="100" dirty="0">
                          <a:effectLst/>
                          <a:latin typeface="+mj-ea"/>
                          <a:ea typeface="+mj-ea"/>
                        </a:rPr>
                        <a:t>服务</a:t>
                      </a:r>
                    </a:p>
                    <a:p>
                      <a:pPr indent="0" algn="ctr">
                        <a:spcAft>
                          <a:spcPts val="0"/>
                        </a:spcAft>
                      </a:pPr>
                      <a:r>
                        <a:rPr lang="zh-CN" sz="1300" kern="100" dirty="0">
                          <a:effectLst/>
                          <a:latin typeface="+mj-ea"/>
                          <a:ea typeface="+mj-ea"/>
                        </a:rPr>
                        <a:t>平台</a:t>
                      </a:r>
                      <a:endParaRPr lang="zh-CN" sz="1300" kern="100" dirty="0">
                        <a:effectLst/>
                        <a:latin typeface="+mj-ea"/>
                        <a:ea typeface="+mj-ea"/>
                        <a:cs typeface="Arial" panose="020B0604020202020204" pitchFamily="34" charset="0"/>
                      </a:endParaRPr>
                    </a:p>
                  </a:txBody>
                  <a:tcPr marL="67758" marR="67758" marT="0" marB="0" anchor="ctr"/>
                </a:tc>
                <a:tc gridSpan="5">
                  <a:txBody>
                    <a:bodyPr/>
                    <a:lstStyle/>
                    <a:p>
                      <a:pPr indent="0" algn="ctr">
                        <a:spcAft>
                          <a:spcPts val="0"/>
                        </a:spcAft>
                      </a:pPr>
                      <a:r>
                        <a:rPr lang="zh-CN" sz="1300" kern="100">
                          <a:effectLst/>
                          <a:latin typeface="+mj-ea"/>
                          <a:ea typeface="+mj-ea"/>
                        </a:rPr>
                        <a:t>设备托管</a:t>
                      </a:r>
                      <a:endParaRPr lang="zh-CN" sz="1300" kern="100">
                        <a:effectLst/>
                        <a:latin typeface="+mj-ea"/>
                        <a:ea typeface="+mj-ea"/>
                        <a:cs typeface="Arial" panose="020B0604020202020204" pitchFamily="34" charset="0"/>
                      </a:endParaRPr>
                    </a:p>
                  </a:txBody>
                  <a:tcPr marL="67758" marR="67758"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3">
                  <a:txBody>
                    <a:bodyPr/>
                    <a:lstStyle/>
                    <a:p>
                      <a:pPr indent="0" algn="ctr">
                        <a:spcAft>
                          <a:spcPts val="0"/>
                        </a:spcAft>
                      </a:pPr>
                      <a:r>
                        <a:rPr lang="zh-CN" sz="1300" kern="100">
                          <a:effectLst/>
                          <a:latin typeface="+mj-ea"/>
                          <a:ea typeface="+mj-ea"/>
                        </a:rPr>
                        <a:t>设备端应用开发</a:t>
                      </a:r>
                      <a:endParaRPr lang="zh-CN" sz="1300" kern="100">
                        <a:effectLst/>
                        <a:latin typeface="+mj-ea"/>
                        <a:ea typeface="+mj-ea"/>
                        <a:cs typeface="Arial" panose="020B0604020202020204" pitchFamily="34" charset="0"/>
                      </a:endParaRPr>
                    </a:p>
                  </a:txBody>
                  <a:tcPr marL="67758" marR="67758" marT="0" marB="0" anchor="ctr"/>
                </a:tc>
                <a:tc hMerge="1">
                  <a:txBody>
                    <a:bodyPr/>
                    <a:lstStyle/>
                    <a:p>
                      <a:endParaRPr lang="zh-CN"/>
                    </a:p>
                  </a:txBody>
                  <a:tcPr/>
                </a:tc>
                <a:tc hMerge="1">
                  <a:txBody>
                    <a:bodyPr/>
                    <a:lstStyle/>
                    <a:p>
                      <a:endParaRPr lang="zh-CN"/>
                    </a:p>
                  </a:txBody>
                  <a:tcPr/>
                </a:tc>
                <a:tc gridSpan="5">
                  <a:txBody>
                    <a:bodyPr/>
                    <a:lstStyle/>
                    <a:p>
                      <a:pPr indent="0" algn="ctr">
                        <a:spcAft>
                          <a:spcPts val="0"/>
                        </a:spcAft>
                      </a:pPr>
                      <a:r>
                        <a:rPr lang="zh-CN" sz="1300" kern="100">
                          <a:effectLst/>
                          <a:latin typeface="+mj-ea"/>
                          <a:ea typeface="+mj-ea"/>
                        </a:rPr>
                        <a:t>用户端应用开发</a:t>
                      </a:r>
                      <a:endParaRPr lang="zh-CN" sz="1300" kern="100">
                        <a:effectLst/>
                        <a:latin typeface="+mj-ea"/>
                        <a:ea typeface="+mj-ea"/>
                        <a:cs typeface="Arial" panose="020B0604020202020204" pitchFamily="34" charset="0"/>
                      </a:endParaRPr>
                    </a:p>
                  </a:txBody>
                  <a:tcPr marL="67758" marR="67758"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64845">
                <a:tc vMerge="1">
                  <a:txBody>
                    <a:bodyPr/>
                    <a:lstStyle/>
                    <a:p>
                      <a:endParaRPr lang="zh-CN"/>
                    </a:p>
                  </a:txBody>
                  <a:tcPr/>
                </a:tc>
                <a:tc rowSpan="2">
                  <a:txBody>
                    <a:bodyPr/>
                    <a:lstStyle/>
                    <a:p>
                      <a:pPr indent="0" algn="ctr">
                        <a:spcAft>
                          <a:spcPts val="0"/>
                        </a:spcAft>
                      </a:pPr>
                      <a:r>
                        <a:rPr lang="zh-CN" sz="1300" kern="100">
                          <a:effectLst/>
                          <a:latin typeface="+mj-ea"/>
                          <a:ea typeface="+mj-ea"/>
                        </a:rPr>
                        <a:t>存储</a:t>
                      </a:r>
                      <a:endParaRPr lang="zh-CN" sz="1300" kern="100">
                        <a:effectLst/>
                        <a:latin typeface="+mj-ea"/>
                        <a:ea typeface="+mj-ea"/>
                        <a:cs typeface="Arial" panose="020B0604020202020204" pitchFamily="34" charset="0"/>
                      </a:endParaRPr>
                    </a:p>
                  </a:txBody>
                  <a:tcPr marL="67758" marR="67758" marT="0" marB="0" anchor="ctr"/>
                </a:tc>
                <a:tc rowSpan="2">
                  <a:txBody>
                    <a:bodyPr/>
                    <a:lstStyle/>
                    <a:p>
                      <a:pPr indent="0" algn="ctr">
                        <a:spcAft>
                          <a:spcPts val="0"/>
                        </a:spcAft>
                      </a:pPr>
                      <a:r>
                        <a:rPr lang="zh-CN" sz="1300" kern="100" dirty="0">
                          <a:effectLst/>
                          <a:latin typeface="+mj-ea"/>
                          <a:ea typeface="+mj-ea"/>
                        </a:rPr>
                        <a:t>可视化</a:t>
                      </a:r>
                      <a:endParaRPr lang="zh-CN" sz="1300" kern="100" dirty="0">
                        <a:effectLst/>
                        <a:latin typeface="+mj-ea"/>
                        <a:ea typeface="+mj-ea"/>
                        <a:cs typeface="Arial" panose="020B0604020202020204" pitchFamily="34" charset="0"/>
                      </a:endParaRPr>
                    </a:p>
                  </a:txBody>
                  <a:tcPr marL="67758" marR="67758" marT="0" marB="0" anchor="ctr"/>
                </a:tc>
                <a:tc gridSpan="3">
                  <a:txBody>
                    <a:bodyPr/>
                    <a:lstStyle/>
                    <a:p>
                      <a:pPr indent="0" algn="ctr">
                        <a:spcAft>
                          <a:spcPts val="0"/>
                        </a:spcAft>
                      </a:pPr>
                      <a:r>
                        <a:rPr lang="zh-CN" sz="1300" kern="100">
                          <a:effectLst/>
                          <a:latin typeface="+mj-ea"/>
                          <a:ea typeface="+mj-ea"/>
                        </a:rPr>
                        <a:t>协议</a:t>
                      </a:r>
                      <a:endParaRPr lang="zh-CN" sz="1300" kern="100">
                        <a:effectLst/>
                        <a:latin typeface="+mj-ea"/>
                        <a:ea typeface="+mj-ea"/>
                        <a:cs typeface="Arial" panose="020B0604020202020204" pitchFamily="34" charset="0"/>
                      </a:endParaRPr>
                    </a:p>
                  </a:txBody>
                  <a:tcPr marL="67758" marR="67758" marT="0" marB="0" anchor="ctr"/>
                </a:tc>
                <a:tc hMerge="1">
                  <a:txBody>
                    <a:bodyPr/>
                    <a:lstStyle/>
                    <a:p>
                      <a:endParaRPr lang="zh-CN"/>
                    </a:p>
                  </a:txBody>
                  <a:tcPr/>
                </a:tc>
                <a:tc hMerge="1">
                  <a:txBody>
                    <a:bodyPr/>
                    <a:lstStyle/>
                    <a:p>
                      <a:endParaRPr lang="zh-CN"/>
                    </a:p>
                  </a:txBody>
                  <a:tcPr/>
                </a:tc>
                <a:tc rowSpan="2">
                  <a:txBody>
                    <a:bodyPr/>
                    <a:lstStyle/>
                    <a:p>
                      <a:pPr indent="0" algn="ctr">
                        <a:spcAft>
                          <a:spcPts val="0"/>
                        </a:spcAft>
                      </a:pPr>
                      <a:r>
                        <a:rPr lang="zh-CN" sz="1300" kern="100">
                          <a:effectLst/>
                          <a:latin typeface="+mj-ea"/>
                          <a:ea typeface="+mj-ea"/>
                        </a:rPr>
                        <a:t>统一</a:t>
                      </a:r>
                      <a:r>
                        <a:rPr lang="en-US" sz="1300" kern="100">
                          <a:effectLst/>
                          <a:latin typeface="+mj-ea"/>
                          <a:ea typeface="+mj-ea"/>
                        </a:rPr>
                        <a:t>API</a:t>
                      </a:r>
                      <a:endParaRPr lang="zh-CN" sz="1300" kern="100">
                        <a:effectLst/>
                        <a:latin typeface="+mj-ea"/>
                        <a:ea typeface="+mj-ea"/>
                        <a:cs typeface="Arial" panose="020B0604020202020204"/>
                      </a:endParaRPr>
                    </a:p>
                  </a:txBody>
                  <a:tcPr marL="67758" marR="67758" marT="0" marB="0" anchor="ctr"/>
                </a:tc>
                <a:tc rowSpan="2">
                  <a:txBody>
                    <a:bodyPr/>
                    <a:lstStyle/>
                    <a:p>
                      <a:pPr indent="0" algn="ctr">
                        <a:spcAft>
                          <a:spcPts val="0"/>
                        </a:spcAft>
                      </a:pPr>
                      <a:r>
                        <a:rPr lang="zh-CN" sz="1300" kern="100">
                          <a:effectLst/>
                          <a:latin typeface="+mj-ea"/>
                          <a:ea typeface="+mj-ea"/>
                        </a:rPr>
                        <a:t>平台接入</a:t>
                      </a:r>
                      <a:r>
                        <a:rPr lang="en-US" sz="1300" kern="100">
                          <a:effectLst/>
                          <a:latin typeface="+mj-ea"/>
                          <a:ea typeface="+mj-ea"/>
                        </a:rPr>
                        <a:t>SDK</a:t>
                      </a:r>
                      <a:endParaRPr lang="zh-CN" sz="1300" kern="100">
                        <a:effectLst/>
                        <a:latin typeface="+mj-ea"/>
                        <a:ea typeface="+mj-ea"/>
                        <a:cs typeface="Arial" panose="020B0604020202020204"/>
                      </a:endParaRPr>
                    </a:p>
                  </a:txBody>
                  <a:tcPr marL="67758" marR="67758" marT="0" marB="0" anchor="ctr"/>
                </a:tc>
                <a:tc rowSpan="2">
                  <a:txBody>
                    <a:bodyPr/>
                    <a:lstStyle/>
                    <a:p>
                      <a:pPr indent="0" algn="ctr">
                        <a:spcAft>
                          <a:spcPts val="0"/>
                        </a:spcAft>
                      </a:pPr>
                      <a:r>
                        <a:rPr lang="zh-CN" sz="1300" kern="100">
                          <a:effectLst/>
                          <a:latin typeface="+mj-ea"/>
                          <a:ea typeface="+mj-ea"/>
                        </a:rPr>
                        <a:t>平台交互</a:t>
                      </a:r>
                      <a:r>
                        <a:rPr lang="en-US" sz="1300" kern="100">
                          <a:effectLst/>
                          <a:latin typeface="+mj-ea"/>
                          <a:ea typeface="+mj-ea"/>
                        </a:rPr>
                        <a:t>SDK</a:t>
                      </a:r>
                      <a:endParaRPr lang="zh-CN" sz="1300" kern="100">
                        <a:effectLst/>
                        <a:latin typeface="+mj-ea"/>
                        <a:ea typeface="+mj-ea"/>
                        <a:cs typeface="Arial" panose="020B0604020202020204"/>
                      </a:endParaRPr>
                    </a:p>
                  </a:txBody>
                  <a:tcPr marL="67758" marR="67758" marT="0" marB="0" anchor="ctr"/>
                </a:tc>
                <a:tc gridSpan="3">
                  <a:txBody>
                    <a:bodyPr/>
                    <a:lstStyle/>
                    <a:p>
                      <a:pPr indent="0" algn="ctr">
                        <a:spcAft>
                          <a:spcPts val="0"/>
                        </a:spcAft>
                      </a:pPr>
                      <a:r>
                        <a:rPr lang="zh-CN" sz="1300" kern="100">
                          <a:effectLst/>
                          <a:latin typeface="+mj-ea"/>
                          <a:ea typeface="+mj-ea"/>
                        </a:rPr>
                        <a:t>前端 </a:t>
                      </a:r>
                      <a:endParaRPr lang="zh-CN" sz="1300" kern="100">
                        <a:effectLst/>
                        <a:latin typeface="+mj-ea"/>
                        <a:ea typeface="+mj-ea"/>
                        <a:cs typeface="Arial" panose="020B0604020202020204" pitchFamily="34" charset="0"/>
                      </a:endParaRPr>
                    </a:p>
                  </a:txBody>
                  <a:tcPr marL="67758" marR="67758" marT="0" marB="0" anchor="ctr"/>
                </a:tc>
                <a:tc hMerge="1">
                  <a:txBody>
                    <a:bodyPr/>
                    <a:lstStyle/>
                    <a:p>
                      <a:endParaRPr lang="zh-CN"/>
                    </a:p>
                  </a:txBody>
                  <a:tcPr/>
                </a:tc>
                <a:tc hMerge="1">
                  <a:txBody>
                    <a:bodyPr/>
                    <a:lstStyle/>
                    <a:p>
                      <a:endParaRPr lang="zh-CN"/>
                    </a:p>
                  </a:txBody>
                  <a:tcPr/>
                </a:tc>
                <a:tc gridSpan="2">
                  <a:txBody>
                    <a:bodyPr/>
                    <a:lstStyle/>
                    <a:p>
                      <a:pPr indent="0" algn="ctr">
                        <a:spcAft>
                          <a:spcPts val="0"/>
                        </a:spcAft>
                      </a:pPr>
                      <a:r>
                        <a:rPr lang="zh-CN" sz="1300" kern="100">
                          <a:effectLst/>
                          <a:latin typeface="+mj-ea"/>
                          <a:ea typeface="+mj-ea"/>
                        </a:rPr>
                        <a:t>后台</a:t>
                      </a:r>
                      <a:endParaRPr lang="zh-CN" sz="1300" kern="100">
                        <a:effectLst/>
                        <a:latin typeface="+mj-ea"/>
                        <a:ea typeface="+mj-ea"/>
                        <a:cs typeface="Arial" panose="020B0604020202020204" pitchFamily="34" charset="0"/>
                      </a:endParaRPr>
                    </a:p>
                  </a:txBody>
                  <a:tcPr marL="67758" marR="67758" marT="0" marB="0" anchor="ctr"/>
                </a:tc>
                <a:tc hMerge="1">
                  <a:txBody>
                    <a:bodyPr/>
                    <a:lstStyle/>
                    <a:p>
                      <a:endParaRPr lang="zh-CN"/>
                    </a:p>
                  </a:txBody>
                  <a:tcPr/>
                </a:tc>
                <a:extLst>
                  <a:ext uri="{0D108BD9-81ED-4DB2-BD59-A6C34878D82A}">
                    <a16:rowId xmlns:a16="http://schemas.microsoft.com/office/drawing/2014/main" val="10001"/>
                  </a:ext>
                </a:extLst>
              </a:tr>
              <a:tr h="457601">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indent="0" algn="ctr">
                        <a:spcAft>
                          <a:spcPts val="0"/>
                        </a:spcAft>
                      </a:pPr>
                      <a:r>
                        <a:rPr lang="en-US" sz="1300" kern="100">
                          <a:effectLst/>
                          <a:latin typeface="+mj-ea"/>
                          <a:ea typeface="+mj-ea"/>
                        </a:rPr>
                        <a:t>MQTT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en-US" sz="1300" kern="100" err="1">
                          <a:effectLst/>
                          <a:latin typeface="+mj-ea"/>
                          <a:ea typeface="+mj-ea"/>
                        </a:rPr>
                        <a:t>CoAP</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en-US" sz="1300" kern="100">
                          <a:effectLst/>
                          <a:latin typeface="+mj-ea"/>
                          <a:ea typeface="+mj-ea"/>
                        </a:rPr>
                        <a:t>HTTP</a:t>
                      </a:r>
                      <a:endParaRPr lang="zh-CN" sz="1300" kern="100">
                        <a:effectLst/>
                        <a:latin typeface="+mj-ea"/>
                        <a:ea typeface="+mj-ea"/>
                        <a:cs typeface="Arial" panose="020B0604020202020204"/>
                      </a:endParaRPr>
                    </a:p>
                  </a:txBody>
                  <a:tcPr marL="67758" marR="67758" marT="0" marB="0" anchor="ct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indent="0" algn="ctr">
                        <a:spcAft>
                          <a:spcPts val="0"/>
                        </a:spcAft>
                      </a:pPr>
                      <a:r>
                        <a:rPr lang="en-US" sz="1300" kern="100">
                          <a:effectLst/>
                          <a:latin typeface="+mj-ea"/>
                          <a:ea typeface="+mj-ea"/>
                        </a:rPr>
                        <a:t>Drag and Drop</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dirty="0">
                          <a:effectLst/>
                          <a:latin typeface="+mj-ea"/>
                          <a:ea typeface="+mj-ea"/>
                        </a:rPr>
                        <a:t>平台接入</a:t>
                      </a:r>
                      <a:r>
                        <a:rPr lang="en-US" sz="1300" kern="100" dirty="0">
                          <a:effectLst/>
                          <a:latin typeface="+mj-ea"/>
                          <a:ea typeface="+mj-ea"/>
                        </a:rPr>
                        <a:t>SDK</a:t>
                      </a:r>
                      <a:endParaRPr lang="zh-CN" sz="1300" kern="100" dirty="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统一</a:t>
                      </a:r>
                      <a:r>
                        <a:rPr lang="en-US" sz="1300" kern="100">
                          <a:effectLst/>
                          <a:latin typeface="+mj-ea"/>
                          <a:ea typeface="+mj-ea"/>
                        </a:rPr>
                        <a:t>API</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en-US" sz="1300" kern="100">
                          <a:effectLst/>
                          <a:latin typeface="+mj-ea"/>
                          <a:ea typeface="+mj-ea"/>
                        </a:rPr>
                        <a:t>IFTTT</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统一</a:t>
                      </a:r>
                      <a:r>
                        <a:rPr lang="en-US" sz="1300" kern="100">
                          <a:effectLst/>
                          <a:latin typeface="+mj-ea"/>
                          <a:ea typeface="+mj-ea"/>
                        </a:rPr>
                        <a:t>API</a:t>
                      </a:r>
                      <a:endParaRPr lang="zh-CN" sz="1300" kern="100">
                        <a:effectLst/>
                        <a:latin typeface="+mj-ea"/>
                        <a:ea typeface="+mj-ea"/>
                        <a:cs typeface="Arial" panose="020B0604020202020204"/>
                      </a:endParaRPr>
                    </a:p>
                  </a:txBody>
                  <a:tcPr marL="67758" marR="67758" marT="0" marB="0" anchor="ctr"/>
                </a:tc>
                <a:extLst>
                  <a:ext uri="{0D108BD9-81ED-4DB2-BD59-A6C34878D82A}">
                    <a16:rowId xmlns:a16="http://schemas.microsoft.com/office/drawing/2014/main" val="10002"/>
                  </a:ext>
                </a:extLst>
              </a:tr>
              <a:tr h="264845">
                <a:tc>
                  <a:txBody>
                    <a:bodyPr/>
                    <a:lstStyle/>
                    <a:p>
                      <a:pPr indent="0" algn="ctr">
                        <a:spcAft>
                          <a:spcPts val="0"/>
                        </a:spcAft>
                      </a:pPr>
                      <a:r>
                        <a:rPr lang="en-US" sz="1300" kern="100">
                          <a:effectLst/>
                          <a:latin typeface="+mj-ea"/>
                          <a:ea typeface="+mj-ea"/>
                        </a:rPr>
                        <a:t>AWS IoT</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3"/>
                  </a:ext>
                </a:extLst>
              </a:tr>
              <a:tr h="264845">
                <a:tc>
                  <a:txBody>
                    <a:bodyPr/>
                    <a:lstStyle/>
                    <a:p>
                      <a:pPr indent="0" algn="ctr">
                        <a:spcAft>
                          <a:spcPts val="0"/>
                        </a:spcAft>
                      </a:pPr>
                      <a:r>
                        <a:rPr lang="en-US" sz="1300" kern="100">
                          <a:effectLst/>
                          <a:latin typeface="+mj-ea"/>
                          <a:ea typeface="+mj-ea"/>
                        </a:rPr>
                        <a:t>Azure IoT</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4"/>
                  </a:ext>
                </a:extLst>
              </a:tr>
              <a:tr h="264845">
                <a:tc>
                  <a:txBody>
                    <a:bodyPr/>
                    <a:lstStyle/>
                    <a:p>
                      <a:pPr indent="0" algn="ctr">
                        <a:spcAft>
                          <a:spcPts val="0"/>
                        </a:spcAft>
                      </a:pPr>
                      <a:r>
                        <a:rPr lang="zh-CN" sz="1300" kern="100">
                          <a:effectLst/>
                          <a:latin typeface="+mj-ea"/>
                          <a:ea typeface="+mj-ea"/>
                        </a:rPr>
                        <a:t>百度</a:t>
                      </a:r>
                      <a:r>
                        <a:rPr lang="en-US" sz="1300" kern="100">
                          <a:effectLst/>
                          <a:latin typeface="+mj-ea"/>
                          <a:ea typeface="+mj-ea"/>
                        </a:rPr>
                        <a:t>IoT Hub</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5"/>
                  </a:ext>
                </a:extLst>
              </a:tr>
              <a:tr h="529690">
                <a:tc>
                  <a:txBody>
                    <a:bodyPr/>
                    <a:lstStyle/>
                    <a:p>
                      <a:pPr indent="0" algn="ctr">
                        <a:spcAft>
                          <a:spcPts val="0"/>
                        </a:spcAft>
                      </a:pPr>
                      <a:r>
                        <a:rPr lang="zh-CN" sz="1300" kern="100">
                          <a:effectLst/>
                          <a:latin typeface="+mj-ea"/>
                          <a:ea typeface="+mj-ea"/>
                        </a:rPr>
                        <a:t>阿里物联网套件</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6"/>
                  </a:ext>
                </a:extLst>
              </a:tr>
              <a:tr h="264845">
                <a:tc>
                  <a:txBody>
                    <a:bodyPr/>
                    <a:lstStyle/>
                    <a:p>
                      <a:pPr indent="0" algn="ctr">
                        <a:spcAft>
                          <a:spcPts val="0"/>
                        </a:spcAft>
                      </a:pPr>
                      <a:r>
                        <a:rPr lang="zh-CN" sz="1300" kern="100">
                          <a:effectLst/>
                          <a:latin typeface="+mj-ea"/>
                          <a:ea typeface="+mj-ea"/>
                        </a:rPr>
                        <a:t>中移</a:t>
                      </a:r>
                      <a:r>
                        <a:rPr lang="en-US" sz="1300" kern="100">
                          <a:effectLst/>
                          <a:latin typeface="+mj-ea"/>
                          <a:ea typeface="+mj-ea"/>
                        </a:rPr>
                        <a:t>OneNet</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7"/>
                  </a:ext>
                </a:extLst>
              </a:tr>
              <a:tr h="264845">
                <a:tc>
                  <a:txBody>
                    <a:bodyPr/>
                    <a:lstStyle/>
                    <a:p>
                      <a:pPr indent="0" algn="ctr">
                        <a:spcAft>
                          <a:spcPts val="0"/>
                        </a:spcAft>
                      </a:pPr>
                      <a:r>
                        <a:rPr lang="en-US" sz="1300" kern="100">
                          <a:effectLst/>
                          <a:latin typeface="+mj-ea"/>
                          <a:ea typeface="+mj-ea"/>
                        </a:rPr>
                        <a:t>IBM Watson</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8"/>
                  </a:ext>
                </a:extLst>
              </a:tr>
              <a:tr h="529690">
                <a:tc>
                  <a:txBody>
                    <a:bodyPr/>
                    <a:lstStyle/>
                    <a:p>
                      <a:pPr indent="0" algn="ctr">
                        <a:spcAft>
                          <a:spcPts val="0"/>
                        </a:spcAft>
                      </a:pPr>
                      <a:r>
                        <a:rPr lang="en-US" sz="1300" kern="100">
                          <a:effectLst/>
                          <a:latin typeface="+mj-ea"/>
                          <a:ea typeface="+mj-ea"/>
                        </a:rPr>
                        <a:t>Samsung SmartThings</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09"/>
                  </a:ext>
                </a:extLst>
              </a:tr>
              <a:tr h="264845">
                <a:tc>
                  <a:txBody>
                    <a:bodyPr/>
                    <a:lstStyle/>
                    <a:p>
                      <a:pPr indent="0" algn="ctr">
                        <a:spcAft>
                          <a:spcPts val="0"/>
                        </a:spcAft>
                      </a:pPr>
                      <a:r>
                        <a:rPr lang="en-US" sz="1300" kern="100">
                          <a:effectLst/>
                          <a:latin typeface="+mj-ea"/>
                          <a:ea typeface="+mj-ea"/>
                        </a:rPr>
                        <a:t>ARM Mbed</a:t>
                      </a:r>
                      <a:endParaRPr lang="zh-CN" sz="1300" kern="100" err="1">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10"/>
                  </a:ext>
                </a:extLst>
              </a:tr>
              <a:tr h="264845">
                <a:tc>
                  <a:txBody>
                    <a:bodyPr/>
                    <a:lstStyle/>
                    <a:p>
                      <a:pPr indent="0" algn="ctr">
                        <a:spcAft>
                          <a:spcPts val="0"/>
                        </a:spcAft>
                      </a:pPr>
                      <a:r>
                        <a:rPr lang="en-US" sz="1300" kern="100">
                          <a:effectLst/>
                          <a:latin typeface="+mj-ea"/>
                          <a:ea typeface="+mj-ea"/>
                        </a:rPr>
                        <a:t>AliOS Things</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11"/>
                  </a:ext>
                </a:extLst>
              </a:tr>
              <a:tr h="264845">
                <a:tc>
                  <a:txBody>
                    <a:bodyPr/>
                    <a:lstStyle/>
                    <a:p>
                      <a:pPr indent="0" algn="ctr">
                        <a:spcAft>
                          <a:spcPts val="0"/>
                        </a:spcAft>
                      </a:pPr>
                      <a:r>
                        <a:rPr lang="zh-CN" sz="1300" kern="100">
                          <a:effectLst/>
                          <a:latin typeface="+mj-ea"/>
                          <a:ea typeface="+mj-ea"/>
                        </a:rPr>
                        <a:t>机智云</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12"/>
                  </a:ext>
                </a:extLst>
              </a:tr>
              <a:tr h="264845">
                <a:tc>
                  <a:txBody>
                    <a:bodyPr/>
                    <a:lstStyle/>
                    <a:p>
                      <a:pPr indent="0" algn="ctr">
                        <a:spcAft>
                          <a:spcPts val="0"/>
                        </a:spcAft>
                      </a:pPr>
                      <a:r>
                        <a:rPr lang="zh-CN" sz="1300" kern="100">
                          <a:effectLst/>
                          <a:latin typeface="+mj-ea"/>
                          <a:ea typeface="+mj-ea"/>
                        </a:rPr>
                        <a:t>阿里</a:t>
                      </a:r>
                      <a:r>
                        <a:rPr lang="en-US" sz="1300" kern="100">
                          <a:effectLst/>
                          <a:latin typeface="+mj-ea"/>
                          <a:ea typeface="+mj-ea"/>
                        </a:rPr>
                        <a:t>Link</a:t>
                      </a:r>
                      <a:r>
                        <a:rPr lang="zh-CN" sz="1300" kern="100">
                          <a:effectLst/>
                          <a:latin typeface="+mj-ea"/>
                          <a:ea typeface="+mj-ea"/>
                        </a:rPr>
                        <a:t>平台</a:t>
                      </a:r>
                      <a:endParaRPr lang="zh-CN" sz="1300" kern="100">
                        <a:effectLst/>
                        <a:latin typeface="+mj-ea"/>
                        <a:ea typeface="+mj-ea"/>
                        <a:cs typeface="Arial" panose="020B0604020202020204"/>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13"/>
                  </a:ext>
                </a:extLst>
              </a:tr>
              <a:tr h="264845">
                <a:tc>
                  <a:txBody>
                    <a:bodyPr/>
                    <a:lstStyle/>
                    <a:p>
                      <a:pPr indent="0" algn="ctr">
                        <a:spcAft>
                          <a:spcPts val="0"/>
                        </a:spcAft>
                      </a:pPr>
                      <a:r>
                        <a:rPr lang="zh-CN" sz="1300" kern="100">
                          <a:effectLst/>
                          <a:latin typeface="+mj-ea"/>
                          <a:ea typeface="+mj-ea"/>
                        </a:rPr>
                        <a:t>京东微联</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a:effectLst/>
                          <a:latin typeface="+mj-ea"/>
                          <a:ea typeface="+mj-ea"/>
                        </a:rPr>
                        <a:t>×</a:t>
                      </a:r>
                      <a:endParaRPr lang="zh-CN" sz="1300" kern="100">
                        <a:effectLst/>
                        <a:latin typeface="+mj-ea"/>
                        <a:ea typeface="+mj-ea"/>
                        <a:cs typeface="Arial" panose="020B0604020202020204" pitchFamily="34" charset="0"/>
                      </a:endParaRPr>
                    </a:p>
                  </a:txBody>
                  <a:tcPr marL="67758" marR="67758" marT="0" marB="0" anchor="ctr"/>
                </a:tc>
                <a:tc>
                  <a:txBody>
                    <a:bodyPr/>
                    <a:lstStyle/>
                    <a:p>
                      <a:pPr indent="0" algn="ctr">
                        <a:spcAft>
                          <a:spcPts val="0"/>
                        </a:spcAft>
                      </a:pPr>
                      <a:r>
                        <a:rPr lang="zh-CN" sz="1300" kern="100" dirty="0">
                          <a:effectLst/>
                          <a:latin typeface="+mj-ea"/>
                          <a:ea typeface="+mj-ea"/>
                        </a:rPr>
                        <a:t>×</a:t>
                      </a:r>
                      <a:endParaRPr lang="zh-CN" sz="1300" kern="100" dirty="0">
                        <a:effectLst/>
                        <a:latin typeface="+mj-ea"/>
                        <a:ea typeface="+mj-ea"/>
                        <a:cs typeface="Arial" panose="020B0604020202020204" pitchFamily="34" charset="0"/>
                      </a:endParaRPr>
                    </a:p>
                  </a:txBody>
                  <a:tcPr marL="67758" marR="67758" marT="0" marB="0" anchor="ctr"/>
                </a:tc>
                <a:extLst>
                  <a:ext uri="{0D108BD9-81ED-4DB2-BD59-A6C34878D82A}">
                    <a16:rowId xmlns:a16="http://schemas.microsoft.com/office/drawing/2014/main" val="10014"/>
                  </a:ext>
                </a:extLst>
              </a:tr>
            </a:tbl>
          </a:graphicData>
        </a:graphic>
      </p:graphicFrame>
      <p:sp>
        <p:nvSpPr>
          <p:cNvPr id="5" name="灯片编号占位符 4">
            <a:extLst>
              <a:ext uri="{FF2B5EF4-FFF2-40B4-BE49-F238E27FC236}">
                <a16:creationId xmlns:a16="http://schemas.microsoft.com/office/drawing/2014/main" id="{1EE369C7-C0C4-4669-93DA-2E1A35B7FFA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119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p>
        </p:txBody>
      </p:sp>
      <p:sp>
        <p:nvSpPr>
          <p:cNvPr id="5" name="内容占位符 2"/>
          <p:cNvSpPr>
            <a:spLocks noGrp="1"/>
          </p:cNvSpPr>
          <p:nvPr>
            <p:ph idx="1"/>
          </p:nvPr>
        </p:nvSpPr>
        <p:spPr/>
        <p:txBody>
          <a:bodyPr/>
          <a:lstStyle/>
          <a:p>
            <a:endParaRPr lang="en-US" altLang="zh-CN" sz="2800" dirty="0"/>
          </a:p>
          <a:p>
            <a:r>
              <a:rPr lang="zh-CN" altLang="en-US" sz="2800" dirty="0"/>
              <a:t>概述</a:t>
            </a:r>
            <a:endParaRPr lang="en-US" altLang="zh-CN" sz="2800" dirty="0"/>
          </a:p>
          <a:p>
            <a:r>
              <a:rPr lang="zh-CN" altLang="en-US" sz="2800" dirty="0"/>
              <a:t>物联网云平台主要功能</a:t>
            </a:r>
            <a:endParaRPr lang="en-US" altLang="zh-CN" sz="2800" dirty="0"/>
          </a:p>
          <a:p>
            <a:r>
              <a:rPr lang="zh-CN" altLang="en-US" sz="2800" dirty="0"/>
              <a:t>典型物联网云平台</a:t>
            </a:r>
            <a:endParaRPr lang="en-US" altLang="zh-CN" sz="2800" dirty="0"/>
          </a:p>
          <a:p>
            <a:r>
              <a:rPr lang="zh-CN" altLang="en-US" sz="2800" dirty="0">
                <a:solidFill>
                  <a:srgbClr val="C00000"/>
                </a:solidFill>
              </a:rPr>
              <a:t>总结与展望</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总结与展望</a:t>
            </a:r>
          </a:p>
        </p:txBody>
      </p:sp>
      <p:sp>
        <p:nvSpPr>
          <p:cNvPr id="3" name="内容占位符 2"/>
          <p:cNvSpPr>
            <a:spLocks noGrp="1"/>
          </p:cNvSpPr>
          <p:nvPr>
            <p:ph idx="1"/>
          </p:nvPr>
        </p:nvSpPr>
        <p:spPr/>
        <p:txBody>
          <a:bodyPr/>
          <a:lstStyle/>
          <a:p>
            <a:r>
              <a:rPr lang="zh-CN" altLang="zh-CN"/>
              <a:t>云</a:t>
            </a:r>
            <a:r>
              <a:rPr lang="en-US" altLang="zh-CN"/>
              <a:t>-</a:t>
            </a:r>
            <a:r>
              <a:rPr lang="zh-CN" altLang="zh-CN"/>
              <a:t>端一体化开发</a:t>
            </a:r>
            <a:endParaRPr lang="en-US" altLang="zh-CN"/>
          </a:p>
          <a:p>
            <a:pPr lvl="1"/>
            <a:r>
              <a:rPr lang="zh-CN" altLang="zh-CN"/>
              <a:t>平台无关的代码（或语言）描述物联网应用场景的业务逻辑</a:t>
            </a:r>
            <a:r>
              <a:rPr lang="zh-CN" altLang="en-US"/>
              <a:t>，</a:t>
            </a:r>
            <a:r>
              <a:rPr lang="zh-CN" altLang="zh-CN"/>
              <a:t>云平台会自动生成对应的设备端应用程序、云端服务和移动端应用程序</a:t>
            </a:r>
            <a:endParaRPr lang="en-US" altLang="zh-CN"/>
          </a:p>
          <a:p>
            <a:pPr lvl="1"/>
            <a:r>
              <a:rPr lang="zh-CN" altLang="zh-CN"/>
              <a:t>开发不再受设备异构、网络异构等问题的困扰，开发者只要关注应用的业务逻辑、数据流向、服务调用</a:t>
            </a:r>
            <a:endParaRPr lang="zh-CN" altLang="en-US"/>
          </a:p>
          <a:p>
            <a:endParaRPr lang="zh-CN" altLang="en-US"/>
          </a:p>
        </p:txBody>
      </p:sp>
      <p:sp>
        <p:nvSpPr>
          <p:cNvPr id="6" name="灯片编号占位符 4">
            <a:extLst>
              <a:ext uri="{FF2B5EF4-FFF2-40B4-BE49-F238E27FC236}">
                <a16:creationId xmlns:a16="http://schemas.microsoft.com/office/drawing/2014/main" id="{ED361BE1-8B29-49D0-933A-A9B67C845F9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121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4"/>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dirty="0">
                <a:solidFill>
                  <a:schemeClr val="folHlink"/>
                </a:solidFill>
                <a:latin typeface="Monotype Corsiva" panose="03010101010201010101" pitchFamily="66" charset="0"/>
              </a:rPr>
              <a:t>122</a:t>
            </a:fld>
            <a:endParaRPr lang="zh-CN" altLang="zh-CN" sz="1800" baseline="0">
              <a:solidFill>
                <a:schemeClr val="folHlink"/>
              </a:solidFill>
              <a:latin typeface="Monotype Corsiva" panose="03010101010201010101" pitchFamily="66" charset="0"/>
            </a:endParaRPr>
          </a:p>
        </p:txBody>
      </p:sp>
      <p:sp>
        <p:nvSpPr>
          <p:cNvPr id="5" name="Text Box 2"/>
          <p:cNvSpPr txBox="1">
            <a:spLocks noChangeArrowheads="1"/>
          </p:cNvSpPr>
          <p:nvPr/>
        </p:nvSpPr>
        <p:spPr bwMode="auto">
          <a:xfrm>
            <a:off x="403225" y="2598420"/>
            <a:ext cx="8532813" cy="92333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aseline="-25000">
                <a:solidFill>
                  <a:schemeClr val="tx1"/>
                </a:solidFill>
                <a:latin typeface="Arial" panose="020B0604020202020204" pitchFamily="34" charset="0"/>
                <a:ea typeface="宋体" panose="02010600030101010101" pitchFamily="2" charset="-122"/>
              </a:defRPr>
            </a:lvl1pPr>
            <a:lvl2pPr marL="742950" indent="-285750" eaLnBrk="0" hangingPunct="0">
              <a:defRPr sz="2400" baseline="-25000">
                <a:solidFill>
                  <a:schemeClr val="tx1"/>
                </a:solidFill>
                <a:latin typeface="Arial" panose="020B0604020202020204" pitchFamily="34" charset="0"/>
                <a:ea typeface="宋体" panose="02010600030101010101" pitchFamily="2" charset="-122"/>
              </a:defRPr>
            </a:lvl2pPr>
            <a:lvl3pPr marL="1143000" indent="-228600" eaLnBrk="0" hangingPunct="0">
              <a:defRPr sz="2400" baseline="-25000">
                <a:solidFill>
                  <a:schemeClr val="tx1"/>
                </a:solidFill>
                <a:latin typeface="Arial" panose="020B0604020202020204" pitchFamily="34" charset="0"/>
                <a:ea typeface="宋体" panose="02010600030101010101" pitchFamily="2" charset="-122"/>
              </a:defRPr>
            </a:lvl3pPr>
            <a:lvl4pPr marL="1600200" indent="-228600" eaLnBrk="0" hangingPunct="0">
              <a:defRPr sz="2400" baseline="-25000">
                <a:solidFill>
                  <a:schemeClr val="tx1"/>
                </a:solidFill>
                <a:latin typeface="Arial" panose="020B0604020202020204" pitchFamily="34" charset="0"/>
                <a:ea typeface="宋体" panose="02010600030101010101" pitchFamily="2" charset="-122"/>
              </a:defRPr>
            </a:lvl4pPr>
            <a:lvl5pPr marL="2057400" indent="-228600" eaLnBrk="0" hangingPunct="0">
              <a:defRPr sz="2400"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pPr>
            <a:r>
              <a:rPr lang="zh-CN" altLang="en-US" sz="5400" b="1" baseline="0" dirty="0">
                <a:solidFill>
                  <a:srgbClr val="C00000"/>
                </a:solidFill>
                <a:latin typeface="黑体" panose="02010609060101010101" pitchFamily="49" charset="-122"/>
                <a:ea typeface="黑体" panose="02010609060101010101" pitchFamily="49" charset="-122"/>
              </a:rPr>
              <a:t>谢谢！</a:t>
            </a:r>
            <a:endParaRPr lang="en-US" altLang="zh-CN" sz="5400" b="1" baseline="0" dirty="0">
              <a:solidFill>
                <a:srgbClr val="C00000"/>
              </a:solidFill>
              <a:latin typeface="黑体" panose="02010609060101010101" pitchFamily="49" charset="-122"/>
              <a:ea typeface="黑体" panose="02010609060101010101" pitchFamily="49"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200"/>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0eed326-c502-421e-a670-745a0c538a93}"/>
</p:tagLst>
</file>

<file path=ppt/theme/theme1.xml><?xml version="1.0" encoding="utf-8"?>
<a:theme xmlns:a="http://schemas.openxmlformats.org/drawingml/2006/main" name="1_NCSU-CS">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自定义 1">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
            <a:schemeClr val="bg1"/>
          </a:buClr>
          <a:buSzPct val="100000"/>
          <a:buFontTx/>
          <a:buNone/>
          <a:defRPr kumimoji="0" lang="en-US" alt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
            <a:schemeClr val="bg1"/>
          </a:buClr>
          <a:buSzPct val="100000"/>
          <a:buFontTx/>
          <a:buNone/>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panose="020B0604020202020204" pitchFamily="34" charset="0"/>
          </a:defRPr>
        </a:defPPr>
      </a:lstStyle>
    </a:lnDef>
  </a:objectDefaults>
  <a:extraClrSchemeLst>
    <a:extraClrScheme>
      <a:clrScheme name="NCSU-CS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NCSU-CS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NCSU-CS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NCSU-CS 4">
        <a:dk1>
          <a:srgbClr val="000000"/>
        </a:dk1>
        <a:lt1>
          <a:srgbClr val="FFFFFF"/>
        </a:lt1>
        <a:dk2>
          <a:srgbClr val="000000"/>
        </a:dk2>
        <a:lt2>
          <a:srgbClr val="777777"/>
        </a:lt2>
        <a:accent1>
          <a:srgbClr val="00CCCC"/>
        </a:accent1>
        <a:accent2>
          <a:srgbClr val="6666FF"/>
        </a:accent2>
        <a:accent3>
          <a:srgbClr val="FFFFFF"/>
        </a:accent3>
        <a:accent4>
          <a:srgbClr val="000000"/>
        </a:accent4>
        <a:accent5>
          <a:srgbClr val="AAE2E2"/>
        </a:accent5>
        <a:accent6>
          <a:srgbClr val="5C5CE7"/>
        </a:accent6>
        <a:hlink>
          <a:srgbClr val="CCCCFF"/>
        </a:hlink>
        <a:folHlink>
          <a:srgbClr val="CC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3779</TotalTime>
  <Words>9761</Words>
  <Application>Microsoft Office PowerPoint</Application>
  <PresentationFormat>全屏显示(4:3)</PresentationFormat>
  <Paragraphs>1841</Paragraphs>
  <Slides>122</Slides>
  <Notes>61</Notes>
  <HiddenSlides>2</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122</vt:i4>
      </vt:variant>
    </vt:vector>
  </HeadingPairs>
  <TitlesOfParts>
    <vt:vector size="136" baseType="lpstr">
      <vt:lpstr>Monaco</vt:lpstr>
      <vt:lpstr>黑体</vt:lpstr>
      <vt:lpstr>宋体</vt:lpstr>
      <vt:lpstr>微软雅黑</vt:lpstr>
      <vt:lpstr>Arial</vt:lpstr>
      <vt:lpstr>Calibri</vt:lpstr>
      <vt:lpstr>Cambria Math</vt:lpstr>
      <vt:lpstr>Courier New</vt:lpstr>
      <vt:lpstr>Franklin Gothic Book</vt:lpstr>
      <vt:lpstr>Monotype Corsiva</vt:lpstr>
      <vt:lpstr>Times</vt:lpstr>
      <vt:lpstr>Times New Roman</vt:lpstr>
      <vt:lpstr>Wingdings</vt:lpstr>
      <vt:lpstr>1_NCSU-CS</vt:lpstr>
      <vt:lpstr>第六章：物联网云平台</vt:lpstr>
      <vt:lpstr>学习目标</vt:lpstr>
      <vt:lpstr>目录</vt:lpstr>
      <vt:lpstr>云平台是物联网应用的关键一环</vt:lpstr>
      <vt:lpstr>云平台是物联网应用的关键一环</vt:lpstr>
      <vt:lpstr>物联网云平台与传统云平台的区别</vt:lpstr>
      <vt:lpstr>物联网云平台：各公司的重点发展方向</vt:lpstr>
      <vt:lpstr>物联网云平台分类</vt:lpstr>
      <vt:lpstr>连接管理平台CMP</vt:lpstr>
      <vt:lpstr>设备管理平台DMP</vt:lpstr>
      <vt:lpstr>应用使能平台AEP</vt:lpstr>
      <vt:lpstr>业务分析平台BAP</vt:lpstr>
      <vt:lpstr>目录</vt:lpstr>
      <vt:lpstr>物联网云平台主要功能</vt:lpstr>
      <vt:lpstr>设备连接</vt:lpstr>
      <vt:lpstr>设备连接</vt:lpstr>
      <vt:lpstr>HTTP</vt:lpstr>
      <vt:lpstr>HTTP</vt:lpstr>
      <vt:lpstr>HTTP</vt:lpstr>
      <vt:lpstr>HTTP</vt:lpstr>
      <vt:lpstr>HTTP</vt:lpstr>
      <vt:lpstr>HTTP</vt:lpstr>
      <vt:lpstr>CoAP</vt:lpstr>
      <vt:lpstr>CoAP</vt:lpstr>
      <vt:lpstr>CoAP</vt:lpstr>
      <vt:lpstr>CoAP</vt:lpstr>
      <vt:lpstr>CoAP</vt:lpstr>
      <vt:lpstr>CoAP</vt:lpstr>
      <vt:lpstr>CoAP</vt:lpstr>
      <vt:lpstr>MQTT</vt:lpstr>
      <vt:lpstr>MQTT</vt:lpstr>
      <vt:lpstr>MQTT</vt:lpstr>
      <vt:lpstr>MQTT</vt:lpstr>
      <vt:lpstr>MQTT</vt:lpstr>
      <vt:lpstr>MQTT</vt:lpstr>
      <vt:lpstr>MQTT</vt:lpstr>
      <vt:lpstr>MQTT</vt:lpstr>
      <vt:lpstr>MQTT</vt:lpstr>
      <vt:lpstr>MQTT</vt:lpstr>
      <vt:lpstr>MQTT特点</vt:lpstr>
      <vt:lpstr>思考题</vt:lpstr>
      <vt:lpstr>设备连接</vt:lpstr>
      <vt:lpstr>设备连接</vt:lpstr>
      <vt:lpstr>物联网云平台主要功能</vt:lpstr>
      <vt:lpstr>设备管理</vt:lpstr>
      <vt:lpstr>设备管理</vt:lpstr>
      <vt:lpstr>管理对象</vt:lpstr>
      <vt:lpstr>管理方式</vt:lpstr>
      <vt:lpstr>管理服务</vt:lpstr>
      <vt:lpstr>管理服务</vt:lpstr>
      <vt:lpstr>管理服务</vt:lpstr>
      <vt:lpstr>思考题</vt:lpstr>
      <vt:lpstr>物联网云平台主要功能</vt:lpstr>
      <vt:lpstr>IFTTT与规则引擎</vt:lpstr>
      <vt:lpstr>IFTTT的问题</vt:lpstr>
      <vt:lpstr>IFTTT-规则冲突</vt:lpstr>
      <vt:lpstr>IFTTT-规则冲突</vt:lpstr>
      <vt:lpstr>IFTTT-规则冲突检测</vt:lpstr>
      <vt:lpstr>IFTTT-规则冲突</vt:lpstr>
      <vt:lpstr>IFTTT-规则冲突检测SMT</vt:lpstr>
      <vt:lpstr>IFTTT-实时性 vs. 能耗</vt:lpstr>
      <vt:lpstr>IFTTT-实时性 vs. 能耗</vt:lpstr>
      <vt:lpstr>IFTTT</vt:lpstr>
      <vt:lpstr>规则引擎</vt:lpstr>
      <vt:lpstr>规则引擎</vt:lpstr>
      <vt:lpstr>规则引擎-案例</vt:lpstr>
      <vt:lpstr>规则引擎-案例</vt:lpstr>
      <vt:lpstr>规则引擎-案例</vt:lpstr>
      <vt:lpstr>规则引擎-案例</vt:lpstr>
      <vt:lpstr>规则引擎-案例</vt:lpstr>
      <vt:lpstr>物联网云平台主要功能</vt:lpstr>
      <vt:lpstr>时序数据库</vt:lpstr>
      <vt:lpstr>典型时序数据库</vt:lpstr>
      <vt:lpstr>时序数据库-特点</vt:lpstr>
      <vt:lpstr>流计算</vt:lpstr>
      <vt:lpstr>思考题</vt:lpstr>
      <vt:lpstr>典型流计算框架</vt:lpstr>
      <vt:lpstr>物联网云平台主要功能</vt:lpstr>
      <vt:lpstr>设备认证</vt:lpstr>
      <vt:lpstr>设备认证</vt:lpstr>
      <vt:lpstr>设备认证</vt:lpstr>
      <vt:lpstr>设备认证</vt:lpstr>
      <vt:lpstr>设备认证</vt:lpstr>
      <vt:lpstr>权限认证</vt:lpstr>
      <vt:lpstr>物联网云平台主要功能</vt:lpstr>
      <vt:lpstr>无服务计算</vt:lpstr>
      <vt:lpstr>无服务器计算</vt:lpstr>
      <vt:lpstr>无服务器计算</vt:lpstr>
      <vt:lpstr>无服务器计算</vt:lpstr>
      <vt:lpstr>无服务器计算</vt:lpstr>
      <vt:lpstr>无服务器计算</vt:lpstr>
      <vt:lpstr>无服务器计算</vt:lpstr>
      <vt:lpstr>物联网云平台主要功能</vt:lpstr>
      <vt:lpstr>无服务器计算的下沉-边缘计算</vt:lpstr>
      <vt:lpstr>边缘计算</vt:lpstr>
      <vt:lpstr>边缘计算</vt:lpstr>
      <vt:lpstr>边缘计算</vt:lpstr>
      <vt:lpstr>计算下沉</vt:lpstr>
      <vt:lpstr>边缘计算</vt:lpstr>
      <vt:lpstr>目录</vt:lpstr>
      <vt:lpstr>Amazon AWS IoT概述</vt:lpstr>
      <vt:lpstr>Amazon AWS IoT架构</vt:lpstr>
      <vt:lpstr>AWS IoT功能概述</vt:lpstr>
      <vt:lpstr>AWS IoT功能概述</vt:lpstr>
      <vt:lpstr>AWS IoT特点：Lambda</vt:lpstr>
      <vt:lpstr>AWS Lambda案例</vt:lpstr>
      <vt:lpstr>Azure IoT概述</vt:lpstr>
      <vt:lpstr>Azure IoT架构</vt:lpstr>
      <vt:lpstr>Azure IoT功能概述</vt:lpstr>
      <vt:lpstr>Azure IoT功能概述</vt:lpstr>
      <vt:lpstr>Azure IoT特点：机器学习服务</vt:lpstr>
      <vt:lpstr>阿里云IoT</vt:lpstr>
      <vt:lpstr>阿里云IoT</vt:lpstr>
      <vt:lpstr>阿里云IoT功能概述</vt:lpstr>
      <vt:lpstr>阿里云IoT功能概述</vt:lpstr>
      <vt:lpstr>阿里云IoT功能概述</vt:lpstr>
      <vt:lpstr>阿里云IoT特色功能</vt:lpstr>
      <vt:lpstr>思考题</vt:lpstr>
      <vt:lpstr>如何选择云平台</vt:lpstr>
      <vt:lpstr>目录</vt:lpstr>
      <vt:lpstr>总结与展望</vt:lpstr>
      <vt:lpstr>PowerPoint 演示文稿</vt:lpstr>
    </vt:vector>
  </TitlesOfParts>
  <Company>NCSU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Centric Storage</dc:title>
  <dc:creator>Jayush R Luniya</dc:creator>
  <cp:lastModifiedBy>野 蔓</cp:lastModifiedBy>
  <cp:revision>3231</cp:revision>
  <cp:lastPrinted>2009-04-22T19:24:00Z</cp:lastPrinted>
  <dcterms:created xsi:type="dcterms:W3CDTF">2005-04-16T16:23:00Z</dcterms:created>
  <dcterms:modified xsi:type="dcterms:W3CDTF">2022-05-15T13:19:18Z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